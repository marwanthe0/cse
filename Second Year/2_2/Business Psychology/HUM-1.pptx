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Roboto" charset="0"/>
      <p:regular r:id="rId19"/>
      <p:bold r:id="rId20"/>
      <p:italic r:id="rId21"/>
      <p:boldItalic r:id="rId22"/>
    </p:embeddedFont>
    <p:embeddedFont>
      <p:font typeface="Georgia" pitchFamily="18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dKw6Egjdh/8T16LBkyJQ4g2O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10052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24"/>
          <p:cNvSpPr/>
          <p:nvPr/>
        </p:nvSpPr>
        <p:spPr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2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24"/>
          <p:cNvSpPr/>
          <p:nvPr/>
        </p:nvSpPr>
        <p:spPr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24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24"/>
          <p:cNvSpPr txBox="1"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3" name="Google Shape;33;p24"/>
          <p:cNvCxnSpPr/>
          <p:nvPr/>
        </p:nvCxnSpPr>
        <p:spPr>
          <a:xfrm>
            <a:off x="155448" y="2420112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4" name="Google Shape;34;p24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24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24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eorgia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  <a:defRPr>
                <a:solidFill>
                  <a:srgbClr val="7A97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26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" name="Google Shape;48;p26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" name="Google Shape;49;p26"/>
          <p:cNvSpPr/>
          <p:nvPr/>
        </p:nvSpPr>
        <p:spPr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" name="Google Shape;50;p26"/>
          <p:cNvSpPr/>
          <p:nvPr/>
        </p:nvSpPr>
        <p:spPr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" name="Google Shape;51;p26"/>
          <p:cNvSpPr/>
          <p:nvPr/>
        </p:nvSpPr>
        <p:spPr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Font typeface="Georgia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" name="Google Shape;54;p26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26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26"/>
          <p:cNvCxnSpPr/>
          <p:nvPr/>
        </p:nvCxnSpPr>
        <p:spPr>
          <a:xfrm>
            <a:off x="152400" y="2438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8" name="Google Shape;58;p26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26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26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  <a:defRPr sz="42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chemeClr val="lt2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dt" idx="10"/>
          </p:nvPr>
        </p:nvSpPr>
        <p:spPr>
          <a:xfrm>
            <a:off x="5791200" y="640994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7" name="Google Shape;67;p27"/>
          <p:cNvCxnSpPr/>
          <p:nvPr/>
        </p:nvCxnSpPr>
        <p:spPr>
          <a:xfrm rot="10800000" flipH="1">
            <a:off x="4563080" y="1575652"/>
            <a:ext cx="8921" cy="48195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301752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3537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3537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solidFill>
          <a:schemeClr val="lt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28"/>
          <p:cNvCxnSpPr/>
          <p:nvPr/>
        </p:nvCxnSpPr>
        <p:spPr>
          <a:xfrm rot="10800000">
            <a:off x="4572000" y="2200275"/>
            <a:ext cx="0" cy="41879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2" name="Google Shape;72;p28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28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28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28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28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28"/>
          <p:cNvSpPr/>
          <p:nvPr/>
        </p:nvSpPr>
        <p:spPr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28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body" idx="2"/>
          </p:nvPr>
        </p:nvSpPr>
        <p:spPr>
          <a:xfrm>
            <a:off x="4791330" y="1524000"/>
            <a:ext cx="4041775" cy="731520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ftr" idx="11"/>
          </p:nvPr>
        </p:nvSpPr>
        <p:spPr>
          <a:xfrm>
            <a:off x="304800" y="6409944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2" name="Google Shape;82;p28"/>
          <p:cNvCxnSpPr/>
          <p:nvPr/>
        </p:nvCxnSpPr>
        <p:spPr>
          <a:xfrm>
            <a:off x="152400" y="128016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3" name="Google Shape;83;p28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28"/>
          <p:cNvSpPr txBox="1">
            <a:spLocks noGrp="1"/>
          </p:cNvSpPr>
          <p:nvPr>
            <p:ph type="body" idx="3"/>
          </p:nvPr>
        </p:nvSpPr>
        <p:spPr>
          <a:xfrm>
            <a:off x="301752" y="2471383"/>
            <a:ext cx="4041648" cy="381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4"/>
          </p:nvPr>
        </p:nvSpPr>
        <p:spPr>
          <a:xfrm>
            <a:off x="4800600" y="2471383"/>
            <a:ext cx="4038600" cy="382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28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4343400" y="1042416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sldNum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30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30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3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30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30"/>
          <p:cNvSpPr/>
          <p:nvPr/>
        </p:nvSpPr>
        <p:spPr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>
            <a:off x="4267200" y="6324600"/>
            <a:ext cx="609600" cy="44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/>
          <p:nvPr/>
        </p:nvSpPr>
        <p:spPr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31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31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31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3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31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  <a:defRPr sz="2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body" idx="1"/>
          </p:nvPr>
        </p:nvSpPr>
        <p:spPr>
          <a:xfrm>
            <a:off x="381000" y="1981200"/>
            <a:ext cx="2362200" cy="414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/>
          <p:nvPr/>
        </p:nvSpPr>
        <p:spPr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5" name="Google Shape;115;p31"/>
          <p:cNvCxnSpPr/>
          <p:nvPr/>
        </p:nvCxnSpPr>
        <p:spPr>
          <a:xfrm>
            <a:off x="152400" y="533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" name="Google Shape;116;p31"/>
          <p:cNvSpPr txBox="1">
            <a:spLocks noGrp="1"/>
          </p:cNvSpPr>
          <p:nvPr>
            <p:ph type="body" idx="2"/>
          </p:nvPr>
        </p:nvSpPr>
        <p:spPr>
          <a:xfrm>
            <a:off x="3124200" y="685800"/>
            <a:ext cx="5638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31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31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31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31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ftr" idx="11"/>
          </p:nvPr>
        </p:nvSpPr>
        <p:spPr>
          <a:xfrm>
            <a:off x="301752" y="641084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32"/>
          <p:cNvCxnSpPr/>
          <p:nvPr/>
        </p:nvCxnSpPr>
        <p:spPr>
          <a:xfrm>
            <a:off x="152400" y="533400"/>
            <a:ext cx="8833104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5" name="Google Shape;125;p3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32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32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3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2"/>
          <p:cNvSpPr/>
          <p:nvPr/>
        </p:nvSpPr>
        <p:spPr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3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32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3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3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32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>
            <a:spLocks noGrp="1"/>
          </p:cNvSpPr>
          <p:nvPr>
            <p:ph type="pic" idx="2"/>
          </p:nvPr>
        </p:nvSpPr>
        <p:spPr>
          <a:xfrm>
            <a:off x="3000375" y="609600"/>
            <a:ext cx="5867400" cy="42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32"/>
          <p:cNvSpPr txBox="1">
            <a:spLocks noGrp="1"/>
          </p:cNvSpPr>
          <p:nvPr>
            <p:ph type="body" idx="1"/>
          </p:nvPr>
        </p:nvSpPr>
        <p:spPr>
          <a:xfrm>
            <a:off x="381000" y="990600"/>
            <a:ext cx="2438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Font typeface="Georgia"/>
              <a:buNone/>
              <a:defRPr sz="1600">
                <a:solidFill>
                  <a:srgbClr val="FFFFFF"/>
                </a:solidFill>
              </a:defRPr>
            </a:lvl1pPr>
            <a:lvl2pPr marL="914400" lvl="1" indent="-281940" algn="l">
              <a:spcBef>
                <a:spcPts val="1000"/>
              </a:spcBef>
              <a:spcAft>
                <a:spcPts val="0"/>
              </a:spcAft>
              <a:buSzPts val="840"/>
              <a:buChar char="⚪"/>
              <a:defRPr sz="1200"/>
            </a:lvl2pPr>
            <a:lvl3pPr marL="1371600" lvl="2" indent="-276225" algn="l">
              <a:spcBef>
                <a:spcPts val="200"/>
              </a:spcBef>
              <a:spcAft>
                <a:spcPts val="0"/>
              </a:spcAft>
              <a:buSzPts val="750"/>
              <a:buChar char="⯍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🞆"/>
              <a:defRPr sz="900"/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Char char="•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32"/>
          <p:cNvSpPr txBox="1">
            <a:spLocks noGrp="1"/>
          </p:cNvSpPr>
          <p:nvPr>
            <p:ph type="dt" idx="10"/>
          </p:nvPr>
        </p:nvSpPr>
        <p:spPr>
          <a:xfrm>
            <a:off x="5788152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2"/>
          <p:cNvSpPr txBox="1">
            <a:spLocks noGrp="1"/>
          </p:cNvSpPr>
          <p:nvPr>
            <p:ph type="ftr" idx="11"/>
          </p:nvPr>
        </p:nvSpPr>
        <p:spPr>
          <a:xfrm>
            <a:off x="301752" y="6410848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lt2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3"/>
          <p:cNvSpPr txBox="1">
            <a:spLocks noGrp="1"/>
          </p:cNvSpPr>
          <p:nvPr>
            <p:ph type="body" idx="1"/>
          </p:nvPr>
        </p:nvSpPr>
        <p:spPr>
          <a:xfrm rot="5400000">
            <a:off x="2269236" y="-443484"/>
            <a:ext cx="4599432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33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34"/>
          <p:cNvSpPr/>
          <p:nvPr/>
        </p:nvSpPr>
        <p:spPr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34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3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34"/>
          <p:cNvSpPr/>
          <p:nvPr/>
        </p:nvSpPr>
        <p:spPr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34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4" name="Google Shape;154;p34"/>
          <p:cNvCxnSpPr/>
          <p:nvPr/>
        </p:nvCxnSpPr>
        <p:spPr>
          <a:xfrm rot="5400000">
            <a:off x="4021836" y="3278124"/>
            <a:ext cx="6245352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5" name="Google Shape;155;p34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3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34"/>
          <p:cNvSpPr txBox="1">
            <a:spLocks noGrp="1"/>
          </p:cNvSpPr>
          <p:nvPr>
            <p:ph type="sldNum" idx="12"/>
          </p:nvPr>
        </p:nvSpPr>
        <p:spPr>
          <a:xfrm>
            <a:off x="6915912" y="3009901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34"/>
          <p:cNvSpPr txBox="1">
            <a:spLocks noGrp="1"/>
          </p:cNvSpPr>
          <p:nvPr>
            <p:ph type="body" idx="1"/>
          </p:nvPr>
        </p:nvSpPr>
        <p:spPr>
          <a:xfrm rot="5400000">
            <a:off x="670717" y="-61117"/>
            <a:ext cx="5821366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4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4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4"/>
          <p:cNvSpPr txBox="1">
            <a:spLocks noGrp="1"/>
          </p:cNvSpPr>
          <p:nvPr>
            <p:ph type="title"/>
          </p:nvPr>
        </p:nvSpPr>
        <p:spPr>
          <a:xfrm rot="5400000">
            <a:off x="5189538" y="2506664"/>
            <a:ext cx="5851525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23"/>
          <p:cNvSpPr/>
          <p:nvPr/>
        </p:nvSpPr>
        <p:spPr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2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23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23"/>
          <p:cNvSpPr/>
          <p:nvPr/>
        </p:nvSpPr>
        <p:spPr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23"/>
          <p:cNvSpPr txBox="1">
            <a:spLocks noGrp="1"/>
          </p:cNvSpPr>
          <p:nvPr>
            <p:ph type="dt" idx="10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ftr" idx="11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7" name="Google Shape;17;p23"/>
          <p:cNvSpPr/>
          <p:nvPr/>
        </p:nvSpPr>
        <p:spPr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8" name="Google Shape;18;p23"/>
          <p:cNvCxnSpPr/>
          <p:nvPr/>
        </p:nvCxnSpPr>
        <p:spPr>
          <a:xfrm>
            <a:off x="152400" y="1276743"/>
            <a:ext cx="8833104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" name="Google Shape;19;p23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23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23"/>
          <p:cNvSpPr txBox="1">
            <a:spLocks noGrp="1"/>
          </p:cNvSpPr>
          <p:nvPr>
            <p:ph type="sldNum" idx="12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 rtl="0">
              <a:spcBef>
                <a:spcPts val="0"/>
              </a:spcBef>
              <a:buNone/>
              <a:defRPr sz="16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  <a:defRPr sz="33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4332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Char char="⚫"/>
              <a:defRPr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26390" algn="l" rtl="0"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40"/>
              <a:buFont typeface="Noto Sans Symbols"/>
              <a:buChar char="⚪"/>
              <a:defRPr sz="2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⯍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oto Sans Symbols"/>
              <a:buChar char="🞆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Georgia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20039" algn="l" rtl="0">
              <a:spcBef>
                <a:spcPts val="320"/>
              </a:spcBef>
              <a:spcAft>
                <a:spcPts val="0"/>
              </a:spcAft>
              <a:buClr>
                <a:srgbClr val="B75640"/>
              </a:buClr>
              <a:buSzPts val="144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7A6B62"/>
              </a:buClr>
              <a:buSzPts val="160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08609" algn="l" rtl="0">
              <a:spcBef>
                <a:spcPts val="280"/>
              </a:spcBef>
              <a:spcAft>
                <a:spcPts val="0"/>
              </a:spcAft>
              <a:buClr>
                <a:srgbClr val="B29D00"/>
              </a:buClr>
              <a:buSzPts val="1260"/>
              <a:buFont typeface="Georgia"/>
              <a:buChar char="•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ubTitle" idx="1"/>
          </p:nvPr>
        </p:nvSpPr>
        <p:spPr>
          <a:xfrm>
            <a:off x="527537" y="2672863"/>
            <a:ext cx="8305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1700"/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(HUM 2201)</a:t>
            </a:r>
            <a:endParaRPr lang="en-US" sz="3600" b="1" cap="none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2000" b="1" cap="none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000" b="1" cap="none" dirty="0" err="1" smtClean="0">
                <a:solidFill>
                  <a:schemeClr val="accent1">
                    <a:lumMod val="75000"/>
                  </a:schemeClr>
                </a:solidFill>
              </a:rPr>
              <a:t>Maeen</a:t>
            </a:r>
            <a:r>
              <a:rPr lang="en-US" sz="2000" b="1" cap="none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cap="none" dirty="0" err="1">
                <a:solidFill>
                  <a:schemeClr val="accent1">
                    <a:lumMod val="75000"/>
                  </a:schemeClr>
                </a:solidFill>
              </a:rPr>
              <a:t>Uddin</a:t>
            </a:r>
            <a:endParaRPr sz="2000" b="1" cap="none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 b="1" cap="none" dirty="0">
                <a:solidFill>
                  <a:schemeClr val="accent1">
                    <a:lumMod val="75000"/>
                  </a:schemeClr>
                </a:solidFill>
              </a:rPr>
              <a:t>Lecturer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 b="1" cap="none" dirty="0">
                <a:solidFill>
                  <a:schemeClr val="accent1">
                    <a:lumMod val="75000"/>
                  </a:schemeClr>
                </a:solidFill>
              </a:rPr>
              <a:t>Department of Management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 b="1" cap="none" dirty="0" err="1">
                <a:solidFill>
                  <a:schemeClr val="accent1">
                    <a:lumMod val="75000"/>
                  </a:schemeClr>
                </a:solidFill>
              </a:rPr>
              <a:t>Jashore</a:t>
            </a:r>
            <a:r>
              <a:rPr lang="en-US" sz="2000" b="1" cap="none" dirty="0">
                <a:solidFill>
                  <a:schemeClr val="accent1">
                    <a:lumMod val="75000"/>
                  </a:schemeClr>
                </a:solidFill>
              </a:rPr>
              <a:t> University of Science And Technology</a:t>
            </a:r>
            <a:endParaRPr sz="2000" b="1" cap="non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7" name="Google Shape;167;p1"/>
          <p:cNvSpPr txBox="1">
            <a:spLocks noGrp="1"/>
          </p:cNvSpPr>
          <p:nvPr>
            <p:ph type="sldNum" idx="12"/>
          </p:nvPr>
        </p:nvSpPr>
        <p:spPr>
          <a:xfrm>
            <a:off x="4343400" y="219945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68" name="Google Shape;168;p1"/>
          <p:cNvSpPr txBox="1">
            <a:spLocks noGrp="1"/>
          </p:cNvSpPr>
          <p:nvPr>
            <p:ph type="ctrTitle"/>
          </p:nvPr>
        </p:nvSpPr>
        <p:spPr>
          <a:xfrm>
            <a:off x="346365" y="533400"/>
            <a:ext cx="8312726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Georgia"/>
              <a:buNone/>
            </a:pPr>
            <a:r>
              <a:rPr lang="en-US" sz="5400" b="1" dirty="0"/>
              <a:t>Business </a:t>
            </a:r>
            <a:r>
              <a:rPr lang="en-US" sz="5400" b="1" dirty="0" smtClean="0"/>
              <a:t>Psychology</a:t>
            </a:r>
            <a:endParaRPr sz="5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What is Business Psychology?</a:t>
            </a:r>
            <a:endParaRPr sz="3600" dirty="0"/>
          </a:p>
        </p:txBody>
      </p:sp>
      <p:sp>
        <p:nvSpPr>
          <p:cNvPr id="174" name="Google Shape;174;p2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75" name="Google Shape;175;p2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8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8"/>
              <a:buFont typeface="Roboto"/>
              <a:buChar char="●"/>
            </a:pPr>
            <a: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Definition:</a:t>
            </a:r>
            <a:b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2508" i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"The study of </a:t>
            </a:r>
            <a:r>
              <a:rPr lang="en-US" sz="2508" b="1" i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human behavior </a:t>
            </a:r>
            <a:r>
              <a:rPr lang="en-US" sz="2508" i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in business settings to improve productivity, leadership, and employee well-being."</a:t>
            </a:r>
            <a:endParaRPr sz="2508" i="1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78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8"/>
              <a:buFont typeface="Roboto"/>
              <a:buChar char="●"/>
            </a:pPr>
            <a: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Combines </a:t>
            </a:r>
            <a:r>
              <a:rPr lang="en-US" sz="2508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psychology</a:t>
            </a:r>
            <a: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lang="en-US" sz="2508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business principles</a:t>
            </a:r>
            <a:endParaRPr sz="2508" b="1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78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8"/>
              <a:buFont typeface="Roboto"/>
              <a:buChar char="●"/>
            </a:pPr>
            <a: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Key Focus Areas:</a:t>
            </a:r>
            <a:endParaRPr sz="2508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78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8"/>
              <a:buFont typeface="Roboto"/>
              <a:buChar char="○"/>
            </a:pPr>
            <a: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Employee motivation</a:t>
            </a:r>
            <a:endParaRPr sz="2508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78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8"/>
              <a:buFont typeface="Roboto"/>
              <a:buChar char="○"/>
            </a:pPr>
            <a: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Leadership styles</a:t>
            </a:r>
            <a:endParaRPr sz="2508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78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8"/>
              <a:buFont typeface="Roboto"/>
              <a:buChar char="○"/>
            </a:pPr>
            <a: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Workplace culture</a:t>
            </a:r>
            <a:endParaRPr sz="2508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78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8"/>
              <a:buFont typeface="Roboto"/>
              <a:buChar char="○"/>
            </a:pPr>
            <a:r>
              <a:rPr lang="en-US" sz="2508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Decision-making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36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Importance of Business </a:t>
            </a:r>
            <a:r>
              <a:rPr lang="en-US" sz="3600" b="1" dirty="0" smtClean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Psychology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400050">
              <a:lnSpc>
                <a:spcPct val="115000"/>
              </a:lnSpc>
              <a:spcBef>
                <a:spcPts val="400"/>
              </a:spcBef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Enhances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employee performance</a:t>
            </a:r>
          </a:p>
          <a:p>
            <a:pPr lvl="0" indent="-400050">
              <a:lnSpc>
                <a:spcPct val="115000"/>
              </a:lnSpc>
              <a:spcBef>
                <a:spcPts val="0"/>
              </a:spcBef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Improves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team dynamics</a:t>
            </a:r>
          </a:p>
          <a:p>
            <a:pPr lvl="0" indent="-400050">
              <a:lnSpc>
                <a:spcPct val="115000"/>
              </a:lnSpc>
              <a:spcBef>
                <a:spcPts val="0"/>
              </a:spcBef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Optimizes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organizational structure</a:t>
            </a:r>
          </a:p>
          <a:p>
            <a:pPr lvl="0" indent="-400050">
              <a:lnSpc>
                <a:spcPct val="115000"/>
              </a:lnSpc>
              <a:spcBef>
                <a:spcPts val="0"/>
              </a:spcBef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Helps in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conflict resolution</a:t>
            </a:r>
          </a:p>
          <a:p>
            <a:pPr lvl="0" indent="-400050">
              <a:lnSpc>
                <a:spcPct val="115000"/>
              </a:lnSpc>
              <a:spcBef>
                <a:spcPts val="0"/>
              </a:spcBef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Boosts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customer satisfaction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68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Key Areas of Business Psychology</a:t>
            </a:r>
            <a:endParaRPr sz="4400" dirty="0"/>
          </a:p>
        </p:txBody>
      </p:sp>
      <p:sp>
        <p:nvSpPr>
          <p:cNvPr id="187" name="Google Shape;187;p4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88" name="Google Shape;188;p4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04040"/>
              </a:buClr>
              <a:buSzPts val="2500"/>
              <a:buFont typeface="Roboto"/>
              <a:buAutoNum type="arabicPeriod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Organizational Behavior</a:t>
            </a:r>
            <a:endParaRPr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0"/>
              <a:buFont typeface="Roboto"/>
              <a:buAutoNum type="arabicPeriod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Leadership &amp; Management Psychology</a:t>
            </a:r>
            <a:endParaRPr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0"/>
              <a:buFont typeface="Roboto"/>
              <a:buAutoNum type="arabicPeriod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Consumer Behavior</a:t>
            </a:r>
            <a:endParaRPr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0"/>
              <a:buFont typeface="Roboto"/>
              <a:buAutoNum type="arabicPeriod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Workplace Motivation</a:t>
            </a:r>
            <a:endParaRPr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500"/>
              <a:buFont typeface="Roboto"/>
              <a:buAutoNum type="arabicPeriod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Talent Recruitment &amp; Development</a:t>
            </a:r>
            <a:endParaRPr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540"/>
              </a:spcBef>
              <a:spcAft>
                <a:spcPts val="0"/>
              </a:spcAft>
              <a:buSzPts val="2295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r>
              <a:rPr lang="en-US"/>
              <a:t>Organizational Behavior</a:t>
            </a:r>
            <a:endParaRPr/>
          </a:p>
        </p:txBody>
      </p:sp>
      <p:sp>
        <p:nvSpPr>
          <p:cNvPr id="194" name="Google Shape;194;p6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Study of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individual &amp; group behavior</a:t>
            </a: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in organizations</a:t>
            </a:r>
            <a:endParaRPr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Topics include:</a:t>
            </a:r>
            <a:endParaRPr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○"/>
            </a:pPr>
            <a:r>
              <a:rPr lang="en-US" sz="27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Team dynamics</a:t>
            </a:r>
            <a:endParaRPr sz="27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○"/>
            </a:pPr>
            <a:r>
              <a:rPr lang="en-US" sz="27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Communication patterns</a:t>
            </a:r>
            <a:endParaRPr sz="27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○"/>
            </a:pPr>
            <a:r>
              <a:rPr lang="en-US" sz="27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Workplace culture</a:t>
            </a:r>
            <a:endParaRPr sz="27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○"/>
            </a:pPr>
            <a:r>
              <a:rPr lang="en-US" sz="27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Change management</a:t>
            </a:r>
            <a:endParaRPr sz="27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r>
              <a:rPr lang="en-US"/>
              <a:t>Leadership and Management Psychology</a:t>
            </a:r>
            <a:endParaRPr/>
          </a:p>
        </p:txBody>
      </p:sp>
      <p:sp>
        <p:nvSpPr>
          <p:cNvPr id="201" name="Google Shape;201;p7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Different </a:t>
            </a:r>
            <a:r>
              <a:rPr lang="en-US" sz="28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leadership styles</a:t>
            </a: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(Autocratic, Democratic, Transformational)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Psychological traits of effective leaders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Employee motivation techniques (Maslow’s Hierarchy, Herzberg’s Theory)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 sz="43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r>
              <a:rPr lang="en-US"/>
              <a:t>Consumer Behavior in Business Psychology</a:t>
            </a:r>
            <a:endParaRPr/>
          </a:p>
        </p:txBody>
      </p:sp>
      <p:sp>
        <p:nvSpPr>
          <p:cNvPr id="208" name="Google Shape;208;p8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09" name="Google Shape;209;p8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How psychology influences </a:t>
            </a:r>
            <a:r>
              <a:rPr lang="en-US" sz="28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buying decisions</a:t>
            </a:r>
            <a:endParaRPr sz="28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Role of </a:t>
            </a:r>
            <a:r>
              <a:rPr lang="en-US" sz="28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emotions, perception, and attitudes</a:t>
            </a: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in marketing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Neuromarketing &amp; behavioral economics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 sz="43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r>
              <a:rPr lang="en-US"/>
              <a:t>Workplace Motivation &amp; Well-being</a:t>
            </a:r>
            <a:endParaRPr/>
          </a:p>
        </p:txBody>
      </p:sp>
      <p:sp>
        <p:nvSpPr>
          <p:cNvPr id="215" name="Google Shape;215;p10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16" name="Google Shape;216;p10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Theories: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○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Maslow’s Hierarchy of Needs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○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Herzberg’s Two-Factor Theory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○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Expectancy Theory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Importance of </a:t>
            </a:r>
            <a:r>
              <a:rPr lang="en-US" sz="28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work-life balance</a:t>
            </a:r>
            <a:r>
              <a:rPr lang="en-US" sz="28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&amp; mental health</a:t>
            </a:r>
            <a:endParaRPr sz="28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540"/>
              </a:spcBef>
              <a:spcAft>
                <a:spcPts val="0"/>
              </a:spcAft>
              <a:buNone/>
            </a:pPr>
            <a:endParaRPr sz="4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r>
              <a:rPr lang="en-US"/>
              <a:t>Applications of Business Psychology</a:t>
            </a:r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00050">
              <a:lnSpc>
                <a:spcPct val="115000"/>
              </a:lnSpc>
              <a:spcBef>
                <a:spcPts val="0"/>
              </a:spcBef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Management: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Conflict resolution &amp; team-building</a:t>
            </a:r>
          </a:p>
          <a:p>
            <a:pPr lvl="0" indent="-400050">
              <a:lnSpc>
                <a:spcPct val="115000"/>
              </a:lnSpc>
              <a:spcBef>
                <a:spcPts val="0"/>
              </a:spcBef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Entrepreneurship: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Decision-making &amp; innovation</a:t>
            </a: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 smtClean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HR</a:t>
            </a: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Recruitment &amp; training</a:t>
            </a:r>
            <a:endParaRPr b="1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Marketing: </a:t>
            </a:r>
            <a:r>
              <a:rPr lang="en-US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Consumer insights</a:t>
            </a:r>
            <a:endParaRPr b="1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540"/>
              </a:spcBef>
              <a:spcAft>
                <a:spcPts val="0"/>
              </a:spcAft>
              <a:buSzPts val="2295"/>
              <a:buNone/>
            </a:pPr>
            <a:endParaRPr sz="4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3300"/>
              <a:buFont typeface="Georgia"/>
              <a:buNone/>
            </a:pPr>
            <a:r>
              <a:rPr lang="en-US"/>
              <a:t>Conclusion &amp; Key Takeaways</a:t>
            </a:r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Business Psychology bridges </a:t>
            </a:r>
            <a:r>
              <a:rPr lang="en-US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human behavior</a:t>
            </a:r>
            <a:r>
              <a:rPr lang="en-US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organizational success</a:t>
            </a:r>
            <a:endParaRPr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Helps in </a:t>
            </a:r>
            <a:r>
              <a:rPr lang="en-US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improving productivity, leadership, and workplace culture</a:t>
            </a:r>
            <a:endParaRPr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Roboto"/>
              <a:buChar char="●"/>
            </a:pPr>
            <a:r>
              <a:rPr lang="en-US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Future trends: </a:t>
            </a:r>
            <a:r>
              <a:rPr lang="en-US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AI in HR, Emotional Intelligence (EQ) training</a:t>
            </a:r>
            <a:endParaRPr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329461" y="124691"/>
            <a:ext cx="8534400" cy="959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ct val="100000"/>
              <a:buFont typeface="Georgia"/>
              <a:buNone/>
            </a:pPr>
            <a:r>
              <a:rPr lang="en-US" dirty="0"/>
              <a:t>How Business Psychology Benefits CSE Students?</a:t>
            </a:r>
            <a:endParaRPr dirty="0"/>
          </a:p>
        </p:txBody>
      </p:sp>
      <p:sp>
        <p:nvSpPr>
          <p:cNvPr id="236" name="Google Shape;236;p16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1. Enhances Soft Skills for Tech Roles</a:t>
            </a:r>
            <a:endParaRPr sz="2600" b="1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31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Roboto"/>
              <a:buChar char="●"/>
            </a:pPr>
            <a:r>
              <a:rPr lang="en-US" sz="26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Improves </a:t>
            </a:r>
            <a:r>
              <a:rPr lang="en-US" sz="26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communication, teamwork, and leadership</a:t>
            </a:r>
            <a:r>
              <a:rPr lang="en-US" sz="26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in agile/remote teams.</a:t>
            </a:r>
            <a:endParaRPr sz="26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31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Roboto"/>
              <a:buChar char="●"/>
            </a:pPr>
            <a:r>
              <a:rPr lang="en-US" sz="26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Helps in </a:t>
            </a:r>
            <a:r>
              <a:rPr lang="en-US" sz="26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collaborating with non-technical stakeholders</a:t>
            </a:r>
            <a:r>
              <a:rPr lang="en-US" sz="26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(clients, managers).</a:t>
            </a:r>
            <a:endParaRPr sz="26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26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lang="en-US" sz="26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2. User-Centric Product Development</a:t>
            </a:r>
            <a:endParaRPr sz="2600" b="1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31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Roboto"/>
              <a:buChar char="●"/>
            </a:pPr>
            <a:r>
              <a:rPr lang="en-US" sz="26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Understanding </a:t>
            </a:r>
            <a:r>
              <a:rPr lang="en-US" sz="26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consumer psychology</a:t>
            </a:r>
            <a:r>
              <a:rPr lang="en-US" sz="26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improves UI/UX design.</a:t>
            </a:r>
            <a:endParaRPr sz="26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31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Roboto"/>
              <a:buChar char="●"/>
            </a:pPr>
            <a:r>
              <a:rPr lang="en-US" sz="26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Applies behavioral insights to </a:t>
            </a:r>
            <a:r>
              <a:rPr lang="en-US" sz="26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AI, </a:t>
            </a:r>
            <a:r>
              <a:rPr lang="en-US" sz="2600" b="1" dirty="0" err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chatbots</a:t>
            </a:r>
            <a:r>
              <a:rPr lang="en-US" sz="2600" b="1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, and human-computer interaction</a:t>
            </a:r>
            <a:r>
              <a:rPr lang="en-US" sz="2600" dirty="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600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>
            <a:spLocks noGrp="1"/>
          </p:cNvSpPr>
          <p:nvPr>
            <p:ph type="sldNum" idx="12"/>
          </p:nvPr>
        </p:nvSpPr>
        <p:spPr>
          <a:xfrm>
            <a:off x="4361688" y="1026372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43" name="Google Shape;243;p17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3. Effective Project &amp; Product Management</a:t>
            </a:r>
            <a:endParaRPr sz="26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Uses </a:t>
            </a:r>
            <a:r>
              <a:rPr lang="en-US" sz="26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motivation theories</a:t>
            </a:r>
            <a:r>
              <a:rPr lang="en-US" sz="26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to lead developer teams efficiently.</a:t>
            </a:r>
            <a:endParaRPr sz="26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Reduces burnout via </a:t>
            </a:r>
            <a:r>
              <a:rPr lang="en-US" sz="26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stress management techniques</a:t>
            </a:r>
            <a:r>
              <a:rPr lang="en-US" sz="26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6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4. Startup &amp; Entrepreneurship Edge</a:t>
            </a:r>
            <a:endParaRPr sz="2600" b="1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Decodes </a:t>
            </a:r>
            <a:r>
              <a:rPr lang="en-US" sz="26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customer behavior</a:t>
            </a:r>
            <a:r>
              <a:rPr lang="en-US" sz="26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for tech startups.</a:t>
            </a:r>
            <a:endParaRPr sz="26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Optimizes </a:t>
            </a:r>
            <a:r>
              <a:rPr lang="en-US" sz="2600" b="1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pitching, negotiation, and investor relations</a:t>
            </a:r>
            <a:r>
              <a:rPr lang="en-US" sz="26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3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vic">
  <a:themeElements>
    <a:clrScheme name="Civic">
      <a:dk1>
        <a:srgbClr val="000000"/>
      </a:dk1>
      <a:lt1>
        <a:srgbClr val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337</Words>
  <Application>Microsoft Office PowerPoint</Application>
  <PresentationFormat>On-screen Show (4:3)</PresentationFormat>
  <Paragraphs>86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Noto Sans Symbols</vt:lpstr>
      <vt:lpstr>Calibri</vt:lpstr>
      <vt:lpstr>Roboto</vt:lpstr>
      <vt:lpstr>Georgia</vt:lpstr>
      <vt:lpstr>Civic</vt:lpstr>
      <vt:lpstr>Business Psychology</vt:lpstr>
      <vt:lpstr>What is Business Psychology?</vt:lpstr>
      <vt:lpstr>Importance of Business Psychology</vt:lpstr>
      <vt:lpstr>Key Areas of Business Psychology</vt:lpstr>
      <vt:lpstr>Organizational Behavior</vt:lpstr>
      <vt:lpstr>Leadership and Management Psychology</vt:lpstr>
      <vt:lpstr>Consumer Behavior in Business Psychology</vt:lpstr>
      <vt:lpstr>Workplace Motivation &amp; Well-being</vt:lpstr>
      <vt:lpstr>Applications of Business Psychology</vt:lpstr>
      <vt:lpstr>Conclusion &amp; Key Takeaways</vt:lpstr>
      <vt:lpstr>How Business Psychology Benefits CSE Students?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Psychology (HUM 2201)</dc:title>
  <dc:creator>user</dc:creator>
  <cp:lastModifiedBy>user</cp:lastModifiedBy>
  <cp:revision>2</cp:revision>
  <dcterms:created xsi:type="dcterms:W3CDTF">2006-08-16T00:00:00Z</dcterms:created>
  <dcterms:modified xsi:type="dcterms:W3CDTF">2025-04-20T05:27:41Z</dcterms:modified>
</cp:coreProperties>
</file>