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497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497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497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012" y="6356603"/>
            <a:ext cx="1578864" cy="35356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522" y="6423085"/>
            <a:ext cx="90543" cy="6987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4525" y="6529591"/>
            <a:ext cx="156947" cy="21098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1098" y="6637463"/>
            <a:ext cx="120732" cy="9226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6347" y="6356603"/>
            <a:ext cx="196515" cy="25508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1394" y="6453609"/>
            <a:ext cx="150233" cy="200132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95895" y="6455892"/>
            <a:ext cx="99695" cy="195580"/>
          </a:xfrm>
          <a:custGeom>
            <a:avLst/>
            <a:gdLst/>
            <a:ahLst/>
            <a:cxnLst/>
            <a:rect l="l" t="t" r="r" b="b"/>
            <a:pathLst>
              <a:path w="99694" h="195579">
                <a:moveTo>
                  <a:pt x="99250" y="173672"/>
                </a:moveTo>
                <a:lnTo>
                  <a:pt x="26149" y="173672"/>
                </a:lnTo>
                <a:lnTo>
                  <a:pt x="26149" y="105981"/>
                </a:lnTo>
                <a:lnTo>
                  <a:pt x="89192" y="105981"/>
                </a:lnTo>
                <a:lnTo>
                  <a:pt x="89192" y="84277"/>
                </a:lnTo>
                <a:lnTo>
                  <a:pt x="26149" y="84277"/>
                </a:lnTo>
                <a:lnTo>
                  <a:pt x="26149" y="21704"/>
                </a:lnTo>
                <a:lnTo>
                  <a:pt x="93802" y="21704"/>
                </a:lnTo>
                <a:lnTo>
                  <a:pt x="93802" y="0"/>
                </a:lnTo>
                <a:lnTo>
                  <a:pt x="0" y="0"/>
                </a:lnTo>
                <a:lnTo>
                  <a:pt x="0" y="21704"/>
                </a:lnTo>
                <a:lnTo>
                  <a:pt x="0" y="84277"/>
                </a:lnTo>
                <a:lnTo>
                  <a:pt x="0" y="105981"/>
                </a:lnTo>
                <a:lnTo>
                  <a:pt x="0" y="173672"/>
                </a:lnTo>
                <a:lnTo>
                  <a:pt x="0" y="195376"/>
                </a:lnTo>
                <a:lnTo>
                  <a:pt x="99250" y="195376"/>
                </a:lnTo>
                <a:lnTo>
                  <a:pt x="99250" y="173672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38086" y="6455652"/>
            <a:ext cx="164323" cy="195376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40671" y="6453609"/>
            <a:ext cx="162973" cy="200132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32431" y="6453609"/>
            <a:ext cx="343379" cy="200132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2022830" y="6455892"/>
            <a:ext cx="99060" cy="195580"/>
          </a:xfrm>
          <a:custGeom>
            <a:avLst/>
            <a:gdLst/>
            <a:ahLst/>
            <a:cxnLst/>
            <a:rect l="l" t="t" r="r" b="b"/>
            <a:pathLst>
              <a:path w="99060" h="195579">
                <a:moveTo>
                  <a:pt x="98602" y="173672"/>
                </a:moveTo>
                <a:lnTo>
                  <a:pt x="26098" y="173672"/>
                </a:lnTo>
                <a:lnTo>
                  <a:pt x="26098" y="105981"/>
                </a:lnTo>
                <a:lnTo>
                  <a:pt x="89128" y="105981"/>
                </a:lnTo>
                <a:lnTo>
                  <a:pt x="89128" y="84277"/>
                </a:lnTo>
                <a:lnTo>
                  <a:pt x="26098" y="84277"/>
                </a:lnTo>
                <a:lnTo>
                  <a:pt x="26098" y="21704"/>
                </a:lnTo>
                <a:lnTo>
                  <a:pt x="93472" y="21704"/>
                </a:lnTo>
                <a:lnTo>
                  <a:pt x="93472" y="0"/>
                </a:lnTo>
                <a:lnTo>
                  <a:pt x="0" y="0"/>
                </a:lnTo>
                <a:lnTo>
                  <a:pt x="0" y="21704"/>
                </a:lnTo>
                <a:lnTo>
                  <a:pt x="0" y="84277"/>
                </a:lnTo>
                <a:lnTo>
                  <a:pt x="0" y="105981"/>
                </a:lnTo>
                <a:lnTo>
                  <a:pt x="0" y="173672"/>
                </a:lnTo>
                <a:lnTo>
                  <a:pt x="0" y="195376"/>
                </a:lnTo>
                <a:lnTo>
                  <a:pt x="98602" y="195376"/>
                </a:lnTo>
                <a:lnTo>
                  <a:pt x="98602" y="173672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7012" y="6356603"/>
            <a:ext cx="1578864" cy="3535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3900" y="141808"/>
            <a:ext cx="10944199" cy="1068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497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93925" y="1174750"/>
            <a:ext cx="8140700" cy="405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60802" y="6403130"/>
            <a:ext cx="9716770" cy="319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urdueglobal.edu/education-partnerships/generational-workforce-differences-infographic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91454" y="1880108"/>
            <a:ext cx="5996940" cy="4059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4105"/>
              </a:lnSpc>
              <a:spcBef>
                <a:spcPts val="100"/>
              </a:spcBef>
            </a:pPr>
            <a:r>
              <a:rPr sz="3600" spc="-75" dirty="0">
                <a:solidFill>
                  <a:srgbClr val="FFFFFF"/>
                </a:solidFill>
                <a:latin typeface="Arial"/>
                <a:cs typeface="Arial"/>
              </a:rPr>
              <a:t>PART</a:t>
            </a:r>
            <a:r>
              <a:rPr sz="3600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  <a:p>
            <a:pPr marL="12700" marR="5080" algn="ctr">
              <a:lnSpc>
                <a:spcPts val="3890"/>
              </a:lnSpc>
              <a:spcBef>
                <a:spcPts val="270"/>
              </a:spcBef>
            </a:pP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r>
              <a:rPr sz="3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3600" spc="-10" dirty="0">
                <a:solidFill>
                  <a:srgbClr val="FFFFFF"/>
                </a:solidFill>
                <a:latin typeface="Arial"/>
                <a:cs typeface="Arial"/>
              </a:rPr>
              <a:t> Organizational Behavior</a:t>
            </a:r>
            <a:endParaRPr sz="36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2625"/>
              </a:spcBef>
            </a:pP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CHAPTER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  <a:p>
            <a:pPr marL="1461135" marR="1453515" indent="100330" algn="just">
              <a:lnSpc>
                <a:spcPct val="90000"/>
              </a:lnSpc>
              <a:spcBef>
                <a:spcPts val="994"/>
              </a:spcBef>
            </a:pP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3600" spc="-10" dirty="0">
                <a:solidFill>
                  <a:srgbClr val="FFFFFF"/>
                </a:solidFill>
                <a:latin typeface="Arial"/>
                <a:cs typeface="Arial"/>
              </a:rPr>
              <a:t>Changing </a:t>
            </a: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r>
              <a:rPr sz="36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3600" spc="-10" dirty="0">
                <a:solidFill>
                  <a:srgbClr val="FFFFFF"/>
                </a:solidFill>
                <a:latin typeface="Arial"/>
                <a:cs typeface="Arial"/>
              </a:rPr>
              <a:t>Organizations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291" y="1042416"/>
            <a:ext cx="4456176" cy="45582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algn="ctr">
              <a:lnSpc>
                <a:spcPts val="4105"/>
              </a:lnSpc>
              <a:spcBef>
                <a:spcPts val="100"/>
              </a:spcBef>
            </a:pPr>
            <a:r>
              <a:rPr dirty="0"/>
              <a:t>Chapter Learning</a:t>
            </a:r>
            <a:r>
              <a:rPr spc="-10" dirty="0"/>
              <a:t> Objectives</a:t>
            </a:r>
          </a:p>
          <a:p>
            <a:pPr marL="10795" algn="ctr">
              <a:lnSpc>
                <a:spcPts val="4105"/>
              </a:lnSpc>
            </a:pPr>
            <a:r>
              <a:rPr dirty="0"/>
              <a:t>After</a:t>
            </a:r>
            <a:r>
              <a:rPr spc="-80" dirty="0"/>
              <a:t> </a:t>
            </a:r>
            <a:r>
              <a:rPr dirty="0"/>
              <a:t>studying</a:t>
            </a:r>
            <a:r>
              <a:rPr spc="-50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spc="-10" dirty="0"/>
              <a:t>chapter,</a:t>
            </a:r>
            <a:r>
              <a:rPr spc="-70" dirty="0"/>
              <a:t> </a:t>
            </a:r>
            <a:r>
              <a:rPr dirty="0"/>
              <a:t>you</a:t>
            </a:r>
            <a:r>
              <a:rPr spc="-65" dirty="0"/>
              <a:t> </a:t>
            </a:r>
            <a:r>
              <a:rPr dirty="0"/>
              <a:t>should</a:t>
            </a:r>
            <a:r>
              <a:rPr spc="-60" dirty="0"/>
              <a:t> </a:t>
            </a:r>
            <a:r>
              <a:rPr dirty="0"/>
              <a:t>be</a:t>
            </a:r>
            <a:r>
              <a:rPr spc="-65" dirty="0"/>
              <a:t> </a:t>
            </a:r>
            <a:r>
              <a:rPr dirty="0"/>
              <a:t>able</a:t>
            </a:r>
            <a:r>
              <a:rPr spc="-50" dirty="0"/>
              <a:t> </a:t>
            </a:r>
            <a:r>
              <a:rPr spc="-25" dirty="0"/>
              <a:t>to: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540738"/>
            <a:ext cx="10615295" cy="40506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17830" indent="-405765">
              <a:lnSpc>
                <a:spcPct val="100000"/>
              </a:lnSpc>
              <a:spcBef>
                <a:spcPts val="700"/>
              </a:spcBef>
              <a:buClr>
                <a:srgbClr val="004978"/>
              </a:buClr>
              <a:buAutoNum type="arabicPeriod"/>
              <a:tabLst>
                <a:tab pos="418465" algn="l"/>
              </a:tabLst>
            </a:pPr>
            <a:r>
              <a:rPr sz="2600" dirty="0">
                <a:latin typeface="Arial"/>
                <a:cs typeface="Arial"/>
              </a:rPr>
              <a:t>Describe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 nature of diversity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 </a:t>
            </a:r>
            <a:r>
              <a:rPr sz="2600" spc="-10" dirty="0">
                <a:latin typeface="Arial"/>
                <a:cs typeface="Arial"/>
              </a:rPr>
              <a:t>organizations.</a:t>
            </a:r>
            <a:endParaRPr sz="2600">
              <a:latin typeface="Arial"/>
              <a:cs typeface="Arial"/>
            </a:endParaRPr>
          </a:p>
          <a:p>
            <a:pPr marL="417830" marR="253365" indent="-405765">
              <a:lnSpc>
                <a:spcPct val="100000"/>
              </a:lnSpc>
              <a:spcBef>
                <a:spcPts val="605"/>
              </a:spcBef>
              <a:buClr>
                <a:srgbClr val="004978"/>
              </a:buClr>
              <a:buAutoNum type="arabicPeriod"/>
              <a:tabLst>
                <a:tab pos="418465" algn="l"/>
              </a:tabLst>
            </a:pPr>
            <a:r>
              <a:rPr sz="2600" dirty="0">
                <a:latin typeface="Arial"/>
                <a:cs typeface="Arial"/>
              </a:rPr>
              <a:t>Describe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different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types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diversity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barriers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to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inclusion</a:t>
            </a:r>
            <a:r>
              <a:rPr sz="2600" spc="-20" dirty="0">
                <a:latin typeface="Arial"/>
                <a:cs typeface="Arial"/>
              </a:rPr>
              <a:t> that </a:t>
            </a:r>
            <a:r>
              <a:rPr sz="2600" dirty="0">
                <a:latin typeface="Arial"/>
                <a:cs typeface="Arial"/>
              </a:rPr>
              <a:t>exist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workplace.</a:t>
            </a:r>
            <a:endParaRPr sz="2600">
              <a:latin typeface="Arial"/>
              <a:cs typeface="Arial"/>
            </a:endParaRPr>
          </a:p>
          <a:p>
            <a:pPr marL="417830" marR="31115" indent="-405765">
              <a:lnSpc>
                <a:spcPct val="100000"/>
              </a:lnSpc>
              <a:spcBef>
                <a:spcPts val="600"/>
              </a:spcBef>
              <a:buClr>
                <a:srgbClr val="004978"/>
              </a:buClr>
              <a:buAutoNum type="arabicPeriod"/>
              <a:tabLst>
                <a:tab pos="418465" algn="l"/>
              </a:tabLst>
            </a:pPr>
            <a:r>
              <a:rPr sz="2600" dirty="0">
                <a:latin typeface="Arial"/>
                <a:cs typeface="Arial"/>
              </a:rPr>
              <a:t>Discuss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emergence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globalization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 cross-cultural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differences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similarities.</a:t>
            </a:r>
            <a:endParaRPr sz="2600">
              <a:latin typeface="Arial"/>
              <a:cs typeface="Arial"/>
            </a:endParaRPr>
          </a:p>
          <a:p>
            <a:pPr marL="417830" marR="1367155" indent="-405765">
              <a:lnSpc>
                <a:spcPct val="100000"/>
              </a:lnSpc>
              <a:spcBef>
                <a:spcPts val="600"/>
              </a:spcBef>
              <a:buClr>
                <a:srgbClr val="004978"/>
              </a:buClr>
              <a:buAutoNum type="arabicPeriod"/>
              <a:tabLst>
                <a:tab pos="418465" algn="l"/>
              </a:tabLst>
            </a:pPr>
            <a:r>
              <a:rPr sz="2600" dirty="0">
                <a:latin typeface="Arial"/>
                <a:cs typeface="Arial"/>
              </a:rPr>
              <a:t>Discuss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changing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nature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technology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its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impact</a:t>
            </a:r>
            <a:r>
              <a:rPr sz="2600" spc="-25" dirty="0">
                <a:latin typeface="Arial"/>
                <a:cs typeface="Arial"/>
              </a:rPr>
              <a:t> on </a:t>
            </a:r>
            <a:r>
              <a:rPr sz="2600" spc="-10" dirty="0">
                <a:latin typeface="Arial"/>
                <a:cs typeface="Arial"/>
              </a:rPr>
              <a:t>business.</a:t>
            </a:r>
            <a:endParaRPr sz="2600">
              <a:latin typeface="Arial"/>
              <a:cs typeface="Arial"/>
            </a:endParaRPr>
          </a:p>
          <a:p>
            <a:pPr marL="417830" indent="-405765">
              <a:lnSpc>
                <a:spcPct val="100000"/>
              </a:lnSpc>
              <a:spcBef>
                <a:spcPts val="600"/>
              </a:spcBef>
              <a:buClr>
                <a:srgbClr val="004978"/>
              </a:buClr>
              <a:buAutoNum type="arabicPeriod"/>
              <a:tabLst>
                <a:tab pos="418465" algn="l"/>
              </a:tabLst>
            </a:pPr>
            <a:r>
              <a:rPr sz="2600" dirty="0">
                <a:latin typeface="Arial"/>
                <a:cs typeface="Arial"/>
              </a:rPr>
              <a:t>Describe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emerging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perspectives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on ethics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corporate </a:t>
            </a:r>
            <a:r>
              <a:rPr sz="2600" spc="-10" dirty="0">
                <a:latin typeface="Arial"/>
                <a:cs typeface="Arial"/>
              </a:rPr>
              <a:t>governance.</a:t>
            </a:r>
            <a:endParaRPr sz="2600">
              <a:latin typeface="Arial"/>
              <a:cs typeface="Arial"/>
            </a:endParaRPr>
          </a:p>
          <a:p>
            <a:pPr marL="417830" indent="-405765">
              <a:lnSpc>
                <a:spcPct val="100000"/>
              </a:lnSpc>
              <a:spcBef>
                <a:spcPts val="605"/>
              </a:spcBef>
              <a:buClr>
                <a:srgbClr val="004978"/>
              </a:buClr>
              <a:buAutoNum type="arabicPeriod"/>
              <a:tabLst>
                <a:tab pos="418465" algn="l"/>
              </a:tabLst>
            </a:pPr>
            <a:r>
              <a:rPr sz="2600" dirty="0">
                <a:latin typeface="Arial"/>
                <a:cs typeface="Arial"/>
              </a:rPr>
              <a:t>Discuss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key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issues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new employment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relationships.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8629" y="374650"/>
            <a:ext cx="871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35" dirty="0"/>
              <a:t> </a:t>
            </a:r>
            <a:r>
              <a:rPr dirty="0"/>
              <a:t>Changing</a:t>
            </a:r>
            <a:r>
              <a:rPr spc="-145" dirty="0"/>
              <a:t> </a:t>
            </a:r>
            <a:r>
              <a:rPr dirty="0"/>
              <a:t>Environment</a:t>
            </a:r>
            <a:r>
              <a:rPr spc="-130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spc="-10" dirty="0"/>
              <a:t>Business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5622" y="1274063"/>
            <a:ext cx="4997450" cy="4129404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2.1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changing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environment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business presents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opportunities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challenges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managers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today.</a:t>
            </a:r>
            <a:endParaRPr sz="2400">
              <a:latin typeface="Arial"/>
              <a:cs typeface="Arial"/>
            </a:endParaRPr>
          </a:p>
          <a:p>
            <a:pPr marL="12700" marR="121920">
              <a:lnSpc>
                <a:spcPct val="120000"/>
              </a:lnSpc>
            </a:pPr>
            <a:r>
              <a:rPr sz="2400" dirty="0">
                <a:latin typeface="Arial"/>
                <a:cs typeface="Arial"/>
              </a:rPr>
              <a:t>Five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important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environmental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forces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globalization,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diversity, </a:t>
            </a:r>
            <a:r>
              <a:rPr sz="2400" dirty="0">
                <a:latin typeface="Arial"/>
                <a:cs typeface="Arial"/>
              </a:rPr>
              <a:t>technology,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ethics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corporate </a:t>
            </a:r>
            <a:r>
              <a:rPr sz="2400" dirty="0">
                <a:latin typeface="Arial"/>
                <a:cs typeface="Arial"/>
              </a:rPr>
              <a:t>governance,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employment relationships.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2888" y="1373124"/>
            <a:ext cx="5045964" cy="47274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138" y="285064"/>
            <a:ext cx="6680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Diversity</a:t>
            </a:r>
            <a:r>
              <a:rPr spc="-2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(1</a:t>
            </a:r>
            <a:r>
              <a:rPr spc="-5" dirty="0"/>
              <a:t> </a:t>
            </a:r>
            <a:r>
              <a:rPr dirty="0"/>
              <a:t>of </a:t>
            </a:r>
            <a:r>
              <a:rPr spc="-25" dirty="0"/>
              <a:t>7)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701" y="1053299"/>
            <a:ext cx="10078085" cy="447738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15"/>
              </a:spcBef>
              <a:buClr>
                <a:srgbClr val="004978"/>
              </a:buClr>
              <a:buChar char="•"/>
              <a:tabLst>
                <a:tab pos="354965" algn="l"/>
                <a:tab pos="356235" algn="l"/>
              </a:tabLst>
            </a:pPr>
            <a:r>
              <a:rPr sz="2400" spc="-10" dirty="0">
                <a:latin typeface="Arial"/>
                <a:cs typeface="Arial"/>
              </a:rPr>
              <a:t>Diversity</a:t>
            </a:r>
            <a:endParaRPr sz="2400" dirty="0">
              <a:latin typeface="Arial"/>
              <a:cs typeface="Arial"/>
            </a:endParaRPr>
          </a:p>
          <a:p>
            <a:pPr marL="927100" marR="337185" lvl="1" indent="-450215">
              <a:lnSpc>
                <a:spcPts val="2380"/>
              </a:lnSpc>
              <a:spcBef>
                <a:spcPts val="1035"/>
              </a:spcBef>
              <a:buClr>
                <a:srgbClr val="004978"/>
              </a:buClr>
              <a:buChar char="–"/>
              <a:tabLst>
                <a:tab pos="927100" algn="l"/>
                <a:tab pos="927735" algn="l"/>
              </a:tabLst>
            </a:pPr>
            <a:r>
              <a:rPr sz="2200" dirty="0">
                <a:latin typeface="Arial"/>
                <a:cs typeface="Arial"/>
              </a:rPr>
              <a:t>The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variety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observable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unobservable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similarities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differences </a:t>
            </a:r>
            <a:r>
              <a:rPr sz="2200" dirty="0">
                <a:latin typeface="Arial"/>
                <a:cs typeface="Arial"/>
              </a:rPr>
              <a:t>among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people</a:t>
            </a:r>
            <a:endParaRPr sz="2200" dirty="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60"/>
              </a:spcBef>
              <a:buClr>
                <a:srgbClr val="004978"/>
              </a:buClr>
              <a:buChar char="•"/>
              <a:tabLst>
                <a:tab pos="354965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Types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diversity</a:t>
            </a:r>
            <a:endParaRPr sz="2400" dirty="0">
              <a:latin typeface="Arial"/>
              <a:cs typeface="Arial"/>
            </a:endParaRPr>
          </a:p>
          <a:p>
            <a:pPr marL="927100" lvl="1" indent="-450215">
              <a:lnSpc>
                <a:spcPts val="2510"/>
              </a:lnSpc>
              <a:spcBef>
                <a:spcPts val="740"/>
              </a:spcBef>
              <a:buClr>
                <a:srgbClr val="004978"/>
              </a:buClr>
              <a:buChar char="–"/>
              <a:tabLst>
                <a:tab pos="927100" algn="l"/>
                <a:tab pos="927735" algn="l"/>
              </a:tabLst>
            </a:pPr>
            <a:r>
              <a:rPr sz="2200" spc="-10" dirty="0">
                <a:latin typeface="Arial"/>
                <a:cs typeface="Arial"/>
              </a:rPr>
              <a:t>Surface-</a:t>
            </a:r>
            <a:r>
              <a:rPr sz="2200" dirty="0">
                <a:latin typeface="Arial"/>
                <a:cs typeface="Arial"/>
              </a:rPr>
              <a:t>level: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Observable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differences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people,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including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race,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age,</a:t>
            </a:r>
            <a:endParaRPr sz="2200" dirty="0">
              <a:latin typeface="Arial"/>
              <a:cs typeface="Arial"/>
            </a:endParaRPr>
          </a:p>
          <a:p>
            <a:pPr marL="927100">
              <a:lnSpc>
                <a:spcPts val="2510"/>
              </a:lnSpc>
            </a:pPr>
            <a:r>
              <a:rPr sz="2200" spc="-20" dirty="0">
                <a:latin typeface="Arial"/>
                <a:cs typeface="Arial"/>
              </a:rPr>
              <a:t>ethnicity,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physical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abilities,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physical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characteristics,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gender</a:t>
            </a:r>
            <a:endParaRPr sz="2200" dirty="0">
              <a:latin typeface="Arial"/>
              <a:cs typeface="Arial"/>
            </a:endParaRPr>
          </a:p>
          <a:p>
            <a:pPr marL="927100" marR="296545" lvl="1" indent="-450215">
              <a:lnSpc>
                <a:spcPts val="2380"/>
              </a:lnSpc>
              <a:spcBef>
                <a:spcPts val="1045"/>
              </a:spcBef>
              <a:buClr>
                <a:srgbClr val="004978"/>
              </a:buClr>
              <a:buChar char="–"/>
              <a:tabLst>
                <a:tab pos="927100" algn="l"/>
                <a:tab pos="927735" algn="l"/>
              </a:tabLst>
            </a:pPr>
            <a:r>
              <a:rPr sz="2200" spc="-20" dirty="0">
                <a:latin typeface="Arial"/>
                <a:cs typeface="Arial"/>
              </a:rPr>
              <a:t>Deep-</a:t>
            </a:r>
            <a:r>
              <a:rPr sz="2200" dirty="0">
                <a:latin typeface="Arial"/>
                <a:cs typeface="Arial"/>
              </a:rPr>
              <a:t>level: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Individual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differences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that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cannot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seen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directly,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including </a:t>
            </a:r>
            <a:r>
              <a:rPr sz="2200" dirty="0">
                <a:latin typeface="Arial"/>
                <a:cs typeface="Arial"/>
              </a:rPr>
              <a:t>goals,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values,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personalities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decision-</a:t>
            </a:r>
            <a:r>
              <a:rPr sz="2200" dirty="0">
                <a:latin typeface="Arial"/>
                <a:cs typeface="Arial"/>
              </a:rPr>
              <a:t>making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styles,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knowledge,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skills, </a:t>
            </a:r>
            <a:r>
              <a:rPr sz="2200" dirty="0">
                <a:latin typeface="Arial"/>
                <a:cs typeface="Arial"/>
              </a:rPr>
              <a:t>abilities,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 smtClean="0">
                <a:latin typeface="Arial"/>
                <a:cs typeface="Arial"/>
              </a:rPr>
              <a:t>attitudes</a:t>
            </a:r>
          </a:p>
          <a:p>
            <a:pPr marL="927100" marR="5080" lvl="1" indent="-450215">
              <a:lnSpc>
                <a:spcPct val="90000"/>
              </a:lnSpc>
              <a:spcBef>
                <a:spcPts val="950"/>
              </a:spcBef>
              <a:buClr>
                <a:srgbClr val="004978"/>
              </a:buClr>
              <a:buChar char="–"/>
              <a:tabLst>
                <a:tab pos="927100" algn="l"/>
                <a:tab pos="927735" algn="l"/>
              </a:tabLst>
            </a:pPr>
            <a:r>
              <a:rPr sz="2200" dirty="0" smtClean="0">
                <a:latin typeface="Arial"/>
                <a:cs typeface="Arial"/>
              </a:rPr>
              <a:t>Separation:</a:t>
            </a:r>
            <a:r>
              <a:rPr sz="2200" spc="-60" dirty="0" smtClean="0">
                <a:latin typeface="Arial"/>
                <a:cs typeface="Arial"/>
              </a:rPr>
              <a:t> </a:t>
            </a:r>
            <a:r>
              <a:rPr sz="2200" spc="-10" dirty="0" smtClean="0">
                <a:latin typeface="Arial"/>
                <a:cs typeface="Arial"/>
              </a:rPr>
              <a:t>Differences</a:t>
            </a:r>
            <a:r>
              <a:rPr sz="2200" spc="-75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in</a:t>
            </a:r>
            <a:r>
              <a:rPr sz="2200" spc="-75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position</a:t>
            </a:r>
            <a:r>
              <a:rPr sz="2200" spc="-70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or</a:t>
            </a:r>
            <a:r>
              <a:rPr sz="2200" spc="-70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opinion</a:t>
            </a:r>
            <a:r>
              <a:rPr sz="2200" spc="-75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among</a:t>
            </a:r>
            <a:r>
              <a:rPr sz="2200" spc="-60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group</a:t>
            </a:r>
            <a:r>
              <a:rPr sz="2200" spc="-55" dirty="0" smtClean="0">
                <a:latin typeface="Arial"/>
                <a:cs typeface="Arial"/>
              </a:rPr>
              <a:t> </a:t>
            </a:r>
            <a:r>
              <a:rPr sz="2200" spc="-10" dirty="0" smtClean="0">
                <a:latin typeface="Arial"/>
                <a:cs typeface="Arial"/>
              </a:rPr>
              <a:t>members </a:t>
            </a:r>
            <a:r>
              <a:rPr sz="2200" dirty="0" smtClean="0">
                <a:latin typeface="Arial"/>
                <a:cs typeface="Arial"/>
              </a:rPr>
              <a:t>reflecting</a:t>
            </a:r>
            <a:r>
              <a:rPr sz="2200" spc="-60" dirty="0" smtClean="0">
                <a:latin typeface="Arial"/>
                <a:cs typeface="Arial"/>
              </a:rPr>
              <a:t> </a:t>
            </a:r>
            <a:r>
              <a:rPr sz="2200" spc="-10" dirty="0" smtClean="0">
                <a:latin typeface="Arial"/>
                <a:cs typeface="Arial"/>
              </a:rPr>
              <a:t>disagreement</a:t>
            </a:r>
            <a:r>
              <a:rPr sz="2200" spc="-45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or</a:t>
            </a:r>
            <a:r>
              <a:rPr sz="2200" spc="-40" dirty="0" smtClean="0">
                <a:latin typeface="Arial"/>
                <a:cs typeface="Arial"/>
              </a:rPr>
              <a:t> </a:t>
            </a:r>
            <a:r>
              <a:rPr sz="2200" spc="-10" dirty="0" smtClean="0">
                <a:latin typeface="Arial"/>
                <a:cs typeface="Arial"/>
              </a:rPr>
              <a:t>opposition—</a:t>
            </a:r>
            <a:r>
              <a:rPr sz="2200" dirty="0" smtClean="0">
                <a:latin typeface="Arial"/>
                <a:cs typeface="Arial"/>
              </a:rPr>
              <a:t>dissimilarity</a:t>
            </a:r>
            <a:r>
              <a:rPr sz="2200" spc="-55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in</a:t>
            </a:r>
            <a:r>
              <a:rPr sz="2200" spc="-55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an</a:t>
            </a:r>
            <a:r>
              <a:rPr sz="2200" spc="-50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attitude</a:t>
            </a:r>
            <a:r>
              <a:rPr sz="2200" spc="-55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or</a:t>
            </a:r>
            <a:r>
              <a:rPr sz="2200" spc="-60" dirty="0" smtClean="0">
                <a:latin typeface="Arial"/>
                <a:cs typeface="Arial"/>
              </a:rPr>
              <a:t> </a:t>
            </a:r>
            <a:r>
              <a:rPr sz="2200" spc="-10" dirty="0" smtClean="0">
                <a:latin typeface="Arial"/>
                <a:cs typeface="Arial"/>
              </a:rPr>
              <a:t>value, </a:t>
            </a:r>
            <a:r>
              <a:rPr sz="2200" dirty="0" smtClean="0">
                <a:latin typeface="Arial"/>
                <a:cs typeface="Arial"/>
              </a:rPr>
              <a:t>for</a:t>
            </a:r>
            <a:r>
              <a:rPr sz="2200" spc="-50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example,</a:t>
            </a:r>
            <a:r>
              <a:rPr sz="2200" spc="-50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especially</a:t>
            </a:r>
            <a:r>
              <a:rPr sz="2200" spc="-60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with</a:t>
            </a:r>
            <a:r>
              <a:rPr sz="2200" spc="-65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regard</a:t>
            </a:r>
            <a:r>
              <a:rPr sz="2200" spc="-50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to</a:t>
            </a:r>
            <a:r>
              <a:rPr sz="2200" spc="-60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group</a:t>
            </a:r>
            <a:r>
              <a:rPr sz="2200" spc="-50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goals</a:t>
            </a:r>
            <a:r>
              <a:rPr sz="2200" spc="-55" dirty="0" smtClean="0">
                <a:latin typeface="Arial"/>
                <a:cs typeface="Arial"/>
              </a:rPr>
              <a:t> </a:t>
            </a:r>
            <a:r>
              <a:rPr sz="2200" dirty="0" smtClean="0">
                <a:latin typeface="Arial"/>
                <a:cs typeface="Arial"/>
              </a:rPr>
              <a:t>or</a:t>
            </a:r>
            <a:r>
              <a:rPr sz="2200" spc="-60" dirty="0" smtClean="0">
                <a:latin typeface="Arial"/>
                <a:cs typeface="Arial"/>
              </a:rPr>
              <a:t> </a:t>
            </a:r>
            <a:r>
              <a:rPr sz="2200" spc="-10" dirty="0" smtClean="0">
                <a:latin typeface="Arial"/>
                <a:cs typeface="Arial"/>
              </a:rPr>
              <a:t>processes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138" y="285064"/>
            <a:ext cx="6680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Diversity</a:t>
            </a:r>
            <a:r>
              <a:rPr spc="-2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(2</a:t>
            </a:r>
            <a:r>
              <a:rPr spc="-5" dirty="0"/>
              <a:t> </a:t>
            </a:r>
            <a:r>
              <a:rPr dirty="0"/>
              <a:t>of </a:t>
            </a:r>
            <a:r>
              <a:rPr spc="-25" dirty="0"/>
              <a:t>7)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266520"/>
            <a:ext cx="10725785" cy="490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indent="-450215">
              <a:lnSpc>
                <a:spcPts val="2740"/>
              </a:lnSpc>
              <a:spcBef>
                <a:spcPts val="10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spc="-10" dirty="0">
                <a:latin typeface="Arial"/>
                <a:cs typeface="Arial"/>
              </a:rPr>
              <a:t>Variety: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Differences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certain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category,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including </a:t>
            </a:r>
            <a:r>
              <a:rPr sz="2400" spc="-10" dirty="0">
                <a:latin typeface="Arial"/>
                <a:cs typeface="Arial"/>
              </a:rPr>
              <a:t>group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ts val="2740"/>
              </a:lnSpc>
            </a:pPr>
            <a:r>
              <a:rPr sz="2400" dirty="0">
                <a:latin typeface="Arial"/>
                <a:cs typeface="Arial"/>
              </a:rPr>
              <a:t>members’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expertise,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knowledge,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functional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background</a:t>
            </a:r>
            <a:endParaRPr sz="2400" dirty="0">
              <a:latin typeface="Arial"/>
              <a:cs typeface="Arial"/>
            </a:endParaRPr>
          </a:p>
          <a:p>
            <a:pPr marL="927100" marR="5080" indent="-449580">
              <a:lnSpc>
                <a:spcPts val="2590"/>
              </a:lnSpc>
              <a:spcBef>
                <a:spcPts val="103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Disparity: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Differences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concentration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valuable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social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assets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or </a:t>
            </a:r>
            <a:r>
              <a:rPr sz="2400" dirty="0">
                <a:latin typeface="Arial"/>
                <a:cs typeface="Arial"/>
              </a:rPr>
              <a:t>resources—dissimilarity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rank,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pay,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decisionmaking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authority,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status,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10" dirty="0">
                <a:latin typeface="Arial"/>
                <a:cs typeface="Arial"/>
              </a:rPr>
              <a:t> example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004978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Trends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Diversity</a:t>
            </a:r>
            <a:endParaRPr sz="2400" dirty="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projected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become </a:t>
            </a:r>
            <a:r>
              <a:rPr sz="2400" spc="-10" dirty="0">
                <a:latin typeface="Arial"/>
                <a:cs typeface="Arial"/>
              </a:rPr>
              <a:t>older.</a:t>
            </a:r>
            <a:endParaRPr sz="2400" dirty="0">
              <a:latin typeface="Arial"/>
              <a:cs typeface="Arial"/>
            </a:endParaRPr>
          </a:p>
          <a:p>
            <a:pPr marL="927100" marR="215900" lvl="1" indent="-449580">
              <a:lnSpc>
                <a:spcPts val="2590"/>
              </a:lnSpc>
              <a:spcBef>
                <a:spcPts val="103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By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2050,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total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population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forecasted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282.1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million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2000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419.9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million,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49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percent</a:t>
            </a:r>
            <a:r>
              <a:rPr sz="2400" spc="-10" dirty="0">
                <a:latin typeface="Arial"/>
                <a:cs typeface="Arial"/>
              </a:rPr>
              <a:t> increase.</a:t>
            </a:r>
            <a:endParaRPr sz="2400" dirty="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spc="-20" dirty="0">
                <a:latin typeface="Arial"/>
                <a:cs typeface="Arial"/>
              </a:rPr>
              <a:t>Non-</a:t>
            </a:r>
            <a:r>
              <a:rPr sz="2400" dirty="0">
                <a:latin typeface="Arial"/>
                <a:cs typeface="Arial"/>
              </a:rPr>
              <a:t>Hispanic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Whites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expected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decrease.</a:t>
            </a:r>
            <a:endParaRPr sz="2400" dirty="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Proportion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Blacks,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Asians,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Hispanics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increase.</a:t>
            </a:r>
            <a:endParaRPr sz="2400" dirty="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0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spc="-30" dirty="0">
                <a:latin typeface="Arial"/>
                <a:cs typeface="Arial"/>
              </a:rPr>
              <a:t>Talent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shortages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forecast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rise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globally.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5973" y="285064"/>
            <a:ext cx="70211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Table</a:t>
            </a:r>
            <a:r>
              <a:rPr spc="-110" dirty="0"/>
              <a:t> </a:t>
            </a:r>
            <a:r>
              <a:rPr dirty="0"/>
              <a:t>2.1</a:t>
            </a:r>
            <a:r>
              <a:rPr spc="-95" dirty="0"/>
              <a:t> </a:t>
            </a:r>
            <a:r>
              <a:rPr dirty="0"/>
              <a:t>Five</a:t>
            </a:r>
            <a:r>
              <a:rPr spc="-95" dirty="0"/>
              <a:t> </a:t>
            </a:r>
            <a:r>
              <a:rPr spc="-10" dirty="0"/>
              <a:t>Types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Diversity</a:t>
            </a:r>
          </a:p>
        </p:txBody>
      </p:sp>
      <p:sp>
        <p:nvSpPr>
          <p:cNvPr id="3" name="object 3"/>
          <p:cNvSpPr/>
          <p:nvPr/>
        </p:nvSpPr>
        <p:spPr>
          <a:xfrm>
            <a:off x="1896745" y="1651000"/>
            <a:ext cx="8917305" cy="3247390"/>
          </a:xfrm>
          <a:custGeom>
            <a:avLst/>
            <a:gdLst/>
            <a:ahLst/>
            <a:cxnLst/>
            <a:rect l="l" t="t" r="r" b="b"/>
            <a:pathLst>
              <a:path w="8917305" h="3247390">
                <a:moveTo>
                  <a:pt x="6350" y="0"/>
                </a:moveTo>
                <a:lnTo>
                  <a:pt x="6350" y="3247390"/>
                </a:lnTo>
              </a:path>
              <a:path w="8917305" h="3247390">
                <a:moveTo>
                  <a:pt x="8910955" y="0"/>
                </a:moveTo>
                <a:lnTo>
                  <a:pt x="8910955" y="3247390"/>
                </a:lnTo>
              </a:path>
              <a:path w="8917305" h="3247390">
                <a:moveTo>
                  <a:pt x="0" y="6350"/>
                </a:moveTo>
                <a:lnTo>
                  <a:pt x="8917305" y="6350"/>
                </a:lnTo>
              </a:path>
              <a:path w="8917305" h="3247390">
                <a:moveTo>
                  <a:pt x="0" y="3241040"/>
                </a:moveTo>
                <a:lnTo>
                  <a:pt x="8917305" y="324104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78914" y="1916683"/>
            <a:ext cx="869378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06755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latin typeface="Arial"/>
                <a:cs typeface="Arial"/>
              </a:rPr>
              <a:t>Surface-</a:t>
            </a:r>
            <a:r>
              <a:rPr sz="1600" dirty="0">
                <a:latin typeface="Arial"/>
                <a:cs typeface="Arial"/>
              </a:rPr>
              <a:t>level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diversity: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observable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differences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people,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including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gender,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race,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age, </a:t>
            </a:r>
            <a:r>
              <a:rPr sz="1600" spc="-10" dirty="0">
                <a:latin typeface="Arial"/>
                <a:cs typeface="Arial"/>
              </a:rPr>
              <a:t>ethnicity,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physical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abilities</a:t>
            </a:r>
            <a:endParaRPr sz="16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20" dirty="0">
                <a:latin typeface="Arial"/>
                <a:cs typeface="Arial"/>
              </a:rPr>
              <a:t>Deep-</a:t>
            </a:r>
            <a:r>
              <a:rPr sz="1600" dirty="0">
                <a:latin typeface="Arial"/>
                <a:cs typeface="Arial"/>
              </a:rPr>
              <a:t>level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diversity: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individual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differences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cannot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seen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directly,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including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goals,</a:t>
            </a:r>
            <a:endParaRPr sz="16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values,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personalities,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decision-</a:t>
            </a:r>
            <a:r>
              <a:rPr sz="1600" dirty="0">
                <a:latin typeface="Arial"/>
                <a:cs typeface="Arial"/>
              </a:rPr>
              <a:t>making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styles,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knowledge,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attitudes</a:t>
            </a:r>
            <a:endParaRPr sz="1600" dirty="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buAutoNum type="arabicPeriod" startAt="3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Separation: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differences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position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opinion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among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group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members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reflecting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disagreement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opposition,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especially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regard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group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goals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processes—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dissimilarity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attitude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value,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example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(a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deep-</a:t>
            </a:r>
            <a:r>
              <a:rPr sz="1600" dirty="0">
                <a:latin typeface="Arial"/>
                <a:cs typeface="Arial"/>
              </a:rPr>
              <a:t>level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diversity)</a:t>
            </a:r>
            <a:endParaRPr sz="1600" dirty="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buAutoNum type="arabicPeriod" startAt="3"/>
              <a:tabLst>
                <a:tab pos="355600" algn="l"/>
              </a:tabLst>
            </a:pPr>
            <a:r>
              <a:rPr sz="1600" spc="-20" dirty="0">
                <a:latin typeface="Arial"/>
                <a:cs typeface="Arial"/>
              </a:rPr>
              <a:t>Variety: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differences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certain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category, including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group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members’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expertise,</a:t>
            </a:r>
            <a:endParaRPr sz="1600" dirty="0">
              <a:latin typeface="Arial"/>
              <a:cs typeface="Arial"/>
            </a:endParaRPr>
          </a:p>
          <a:p>
            <a:pPr marL="355600" algn="just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knowledge,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functional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background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deep-</a:t>
            </a:r>
            <a:r>
              <a:rPr sz="1600" dirty="0">
                <a:latin typeface="Arial"/>
                <a:cs typeface="Arial"/>
              </a:rPr>
              <a:t>level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diversity)</a:t>
            </a:r>
            <a:endParaRPr sz="1600" dirty="0">
              <a:latin typeface="Arial"/>
              <a:cs typeface="Arial"/>
            </a:endParaRPr>
          </a:p>
          <a:p>
            <a:pPr marL="355600" marR="96520" indent="-342900" algn="just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355600" algn="l"/>
              </a:tabLst>
            </a:pPr>
            <a:r>
              <a:rPr sz="1600" dirty="0">
                <a:latin typeface="Arial"/>
                <a:cs typeface="Arial"/>
              </a:rPr>
              <a:t>Disparity: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differences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concentration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valuable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social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assets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resources—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including dissimilarity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rank,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pay,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decision-</a:t>
            </a:r>
            <a:r>
              <a:rPr sz="1600" dirty="0">
                <a:latin typeface="Arial"/>
                <a:cs typeface="Arial"/>
              </a:rPr>
              <a:t>making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authority,</a:t>
            </a:r>
            <a:r>
              <a:rPr sz="1600" dirty="0">
                <a:latin typeface="Arial"/>
                <a:cs typeface="Arial"/>
              </a:rPr>
              <a:t> or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status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type of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deep-</a:t>
            </a:r>
            <a:r>
              <a:rPr sz="1600" dirty="0">
                <a:latin typeface="Arial"/>
                <a:cs typeface="Arial"/>
              </a:rPr>
              <a:t>level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diversity)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138" y="285064"/>
            <a:ext cx="6680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Diversity</a:t>
            </a:r>
            <a:r>
              <a:rPr spc="-2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(3</a:t>
            </a:r>
            <a:r>
              <a:rPr spc="-5" dirty="0"/>
              <a:t> </a:t>
            </a:r>
            <a:r>
              <a:rPr dirty="0"/>
              <a:t>of </a:t>
            </a:r>
            <a:r>
              <a:rPr spc="-25" dirty="0"/>
              <a:t>7)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62958"/>
            <a:ext cx="10789920" cy="213804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Clr>
                <a:srgbClr val="004978"/>
              </a:buClr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Generational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diversity</a:t>
            </a:r>
            <a:endParaRPr sz="2600">
              <a:latin typeface="Arial"/>
              <a:cs typeface="Arial"/>
            </a:endParaRPr>
          </a:p>
          <a:p>
            <a:pPr marL="931544" lvl="1" indent="-45656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31544" algn="l"/>
                <a:tab pos="932180" algn="l"/>
              </a:tabLst>
            </a:pPr>
            <a:r>
              <a:rPr sz="2400" dirty="0">
                <a:latin typeface="Arial"/>
                <a:cs typeface="Arial"/>
              </a:rPr>
              <a:t>Age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diversity</a:t>
            </a:r>
            <a:endParaRPr sz="24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40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200" dirty="0">
                <a:latin typeface="Arial"/>
                <a:cs typeface="Arial"/>
              </a:rPr>
              <a:t>May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result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younger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managers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supervising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older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workers</a:t>
            </a:r>
            <a:endParaRPr sz="2200">
              <a:latin typeface="Arial"/>
              <a:cs typeface="Arial"/>
            </a:endParaRPr>
          </a:p>
          <a:p>
            <a:pPr marL="1390015" lvl="2" indent="-463550">
              <a:lnSpc>
                <a:spcPts val="2510"/>
              </a:lnSpc>
              <a:spcBef>
                <a:spcPts val="730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200" dirty="0">
                <a:latin typeface="Arial"/>
                <a:cs typeface="Arial"/>
              </a:rPr>
              <a:t>Reverse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mentoring: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pairing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junior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employee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with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senior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employee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to</a:t>
            </a:r>
            <a:endParaRPr sz="2200">
              <a:latin typeface="Arial"/>
              <a:cs typeface="Arial"/>
            </a:endParaRPr>
          </a:p>
          <a:p>
            <a:pPr marL="1390015">
              <a:lnSpc>
                <a:spcPts val="2510"/>
              </a:lnSpc>
            </a:pPr>
            <a:r>
              <a:rPr sz="2200" dirty="0">
                <a:latin typeface="Arial"/>
                <a:cs typeface="Arial"/>
              </a:rPr>
              <a:t>transfer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technical/computer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skills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from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junior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employee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senior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one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037080" marR="5080" indent="-1682750">
              <a:lnSpc>
                <a:spcPts val="3890"/>
              </a:lnSpc>
              <a:spcBef>
                <a:spcPts val="585"/>
              </a:spcBef>
            </a:pPr>
            <a:r>
              <a:rPr dirty="0"/>
              <a:t>Projected</a:t>
            </a:r>
            <a:r>
              <a:rPr spc="-90" dirty="0"/>
              <a:t> </a:t>
            </a:r>
            <a:r>
              <a:rPr dirty="0"/>
              <a:t>Percentage</a:t>
            </a:r>
            <a:r>
              <a:rPr spc="-100" dirty="0"/>
              <a:t> </a:t>
            </a:r>
            <a:r>
              <a:rPr dirty="0"/>
              <a:t>Change</a:t>
            </a:r>
            <a:r>
              <a:rPr spc="-85" dirty="0"/>
              <a:t> </a:t>
            </a:r>
            <a:r>
              <a:rPr dirty="0"/>
              <a:t>in</a:t>
            </a:r>
            <a:r>
              <a:rPr spc="-9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U.S.</a:t>
            </a:r>
            <a:r>
              <a:rPr spc="-90" dirty="0"/>
              <a:t> </a:t>
            </a:r>
            <a:r>
              <a:rPr spc="-10" dirty="0"/>
              <a:t>Labor </a:t>
            </a:r>
            <a:r>
              <a:rPr dirty="0"/>
              <a:t>Force</a:t>
            </a:r>
            <a:r>
              <a:rPr spc="-65" dirty="0"/>
              <a:t> </a:t>
            </a:r>
            <a:r>
              <a:rPr dirty="0"/>
              <a:t>by</a:t>
            </a:r>
            <a:r>
              <a:rPr spc="-195" dirty="0"/>
              <a:t> </a:t>
            </a:r>
            <a:r>
              <a:rPr dirty="0"/>
              <a:t>Age</a:t>
            </a:r>
            <a:r>
              <a:rPr spc="-60" dirty="0"/>
              <a:t> </a:t>
            </a:r>
            <a:r>
              <a:rPr dirty="0"/>
              <a:t>from</a:t>
            </a:r>
            <a:r>
              <a:rPr spc="-65" dirty="0"/>
              <a:t> </a:t>
            </a:r>
            <a:r>
              <a:rPr dirty="0"/>
              <a:t>2006</a:t>
            </a:r>
            <a:r>
              <a:rPr spc="-6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20" dirty="0"/>
              <a:t>2016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5622" y="1278026"/>
            <a:ext cx="4898390" cy="460502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200" dirty="0">
                <a:latin typeface="Arial"/>
                <a:cs typeface="Arial"/>
              </a:rPr>
              <a:t>Figure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2.2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605"/>
              </a:spcBef>
            </a:pPr>
            <a:r>
              <a:rPr sz="2200" dirty="0">
                <a:latin typeface="Arial"/>
                <a:cs typeface="Arial"/>
              </a:rPr>
              <a:t>The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labor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force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United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States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 </a:t>
            </a:r>
            <a:r>
              <a:rPr sz="2200" dirty="0">
                <a:latin typeface="Arial"/>
                <a:cs typeface="Arial"/>
              </a:rPr>
              <a:t>getting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older.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For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example,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as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shown </a:t>
            </a:r>
            <a:r>
              <a:rPr sz="2200" dirty="0">
                <a:latin typeface="Arial"/>
                <a:cs typeface="Arial"/>
              </a:rPr>
              <a:t>here,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between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2006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2016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dirty="0">
                <a:latin typeface="Arial"/>
                <a:cs typeface="Arial"/>
              </a:rPr>
              <a:t>number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U.S.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workers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between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dirty="0">
                <a:latin typeface="Arial"/>
                <a:cs typeface="Arial"/>
              </a:rPr>
              <a:t>ages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65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74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grew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by</a:t>
            </a:r>
            <a:r>
              <a:rPr sz="2200" spc="-20" dirty="0">
                <a:latin typeface="Arial"/>
                <a:cs typeface="Arial"/>
              </a:rPr>
              <a:t> 83.4 </a:t>
            </a:r>
            <a:r>
              <a:rPr sz="2200" dirty="0">
                <a:latin typeface="Arial"/>
                <a:cs typeface="Arial"/>
              </a:rPr>
              <a:t>percent,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percentage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workers </a:t>
            </a:r>
            <a:r>
              <a:rPr sz="2200" dirty="0">
                <a:latin typeface="Arial"/>
                <a:cs typeface="Arial"/>
              </a:rPr>
              <a:t>75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older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grew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by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84.3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percent.</a:t>
            </a:r>
            <a:r>
              <a:rPr sz="2200" spc="-25" dirty="0">
                <a:latin typeface="Arial"/>
                <a:cs typeface="Arial"/>
              </a:rPr>
              <a:t> In </a:t>
            </a:r>
            <a:r>
              <a:rPr sz="2200" dirty="0">
                <a:latin typeface="Arial"/>
                <a:cs typeface="Arial"/>
              </a:rPr>
              <a:t>contrast,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number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workers </a:t>
            </a:r>
            <a:r>
              <a:rPr sz="2200" dirty="0">
                <a:latin typeface="Arial"/>
                <a:cs typeface="Arial"/>
              </a:rPr>
              <a:t>between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ages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25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54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grew </a:t>
            </a:r>
            <a:r>
              <a:rPr sz="2200" dirty="0">
                <a:latin typeface="Arial"/>
                <a:cs typeface="Arial"/>
              </a:rPr>
              <a:t>only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by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2.4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percent.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9676" y="1711451"/>
            <a:ext cx="5967983" cy="43159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138" y="285064"/>
            <a:ext cx="6680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Diversity</a:t>
            </a:r>
            <a:r>
              <a:rPr spc="-2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(4</a:t>
            </a:r>
            <a:r>
              <a:rPr spc="-5" dirty="0"/>
              <a:t> </a:t>
            </a:r>
            <a:r>
              <a:rPr dirty="0"/>
              <a:t>of </a:t>
            </a:r>
            <a:r>
              <a:rPr spc="-25" dirty="0"/>
              <a:t>7)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4308" y="1162801"/>
            <a:ext cx="9987915" cy="4219104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467995" indent="-455930">
              <a:lnSpc>
                <a:spcPct val="100000"/>
              </a:lnSpc>
              <a:spcBef>
                <a:spcPts val="920"/>
              </a:spcBef>
              <a:buClr>
                <a:srgbClr val="004978"/>
              </a:buClr>
              <a:buChar char="–"/>
              <a:tabLst>
                <a:tab pos="467995" algn="l"/>
                <a:tab pos="468630" algn="l"/>
              </a:tabLst>
            </a:pPr>
            <a:r>
              <a:rPr sz="2400" dirty="0">
                <a:latin typeface="Arial"/>
                <a:cs typeface="Arial"/>
              </a:rPr>
              <a:t>Generations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(by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birth</a:t>
            </a:r>
            <a:r>
              <a:rPr sz="2400" spc="-10" dirty="0">
                <a:latin typeface="Arial"/>
                <a:cs typeface="Arial"/>
              </a:rPr>
              <a:t> year)</a:t>
            </a:r>
            <a:endParaRPr sz="2400" dirty="0">
              <a:latin typeface="Arial"/>
              <a:cs typeface="Arial"/>
            </a:endParaRPr>
          </a:p>
          <a:p>
            <a:pPr marL="932815" lvl="1" indent="-469900">
              <a:lnSpc>
                <a:spcPct val="100000"/>
              </a:lnSpc>
              <a:spcBef>
                <a:spcPts val="740"/>
              </a:spcBef>
              <a:buClr>
                <a:srgbClr val="004978"/>
              </a:buClr>
              <a:buFont typeface="Wingdings"/>
              <a:buChar char=""/>
              <a:tabLst>
                <a:tab pos="932815" algn="l"/>
                <a:tab pos="933450" algn="l"/>
              </a:tabLst>
            </a:pPr>
            <a:r>
              <a:rPr sz="2200" dirty="0">
                <a:latin typeface="Arial"/>
                <a:cs typeface="Arial"/>
              </a:rPr>
              <a:t>Seniors: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1922–1943</a:t>
            </a:r>
            <a:endParaRPr sz="2200" dirty="0">
              <a:latin typeface="Arial"/>
              <a:cs typeface="Arial"/>
            </a:endParaRPr>
          </a:p>
          <a:p>
            <a:pPr marL="932815" lvl="1" indent="-469900">
              <a:lnSpc>
                <a:spcPct val="100000"/>
              </a:lnSpc>
              <a:spcBef>
                <a:spcPts val="735"/>
              </a:spcBef>
              <a:buClr>
                <a:srgbClr val="004978"/>
              </a:buClr>
              <a:buFont typeface="Wingdings"/>
              <a:buChar char=""/>
              <a:tabLst>
                <a:tab pos="932815" algn="l"/>
                <a:tab pos="933450" algn="l"/>
              </a:tabLst>
            </a:pPr>
            <a:r>
              <a:rPr sz="2200" dirty="0">
                <a:latin typeface="Arial"/>
                <a:cs typeface="Arial"/>
              </a:rPr>
              <a:t>Baby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boomers: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1943–1963</a:t>
            </a:r>
            <a:endParaRPr sz="2200" dirty="0">
              <a:latin typeface="Arial"/>
              <a:cs typeface="Arial"/>
            </a:endParaRPr>
          </a:p>
          <a:p>
            <a:pPr marL="932815" lvl="1" indent="-469900">
              <a:lnSpc>
                <a:spcPct val="100000"/>
              </a:lnSpc>
              <a:spcBef>
                <a:spcPts val="730"/>
              </a:spcBef>
              <a:buClr>
                <a:srgbClr val="004978"/>
              </a:buClr>
              <a:buFont typeface="Wingdings"/>
              <a:buChar char=""/>
              <a:tabLst>
                <a:tab pos="932815" algn="l"/>
                <a:tab pos="933450" algn="l"/>
              </a:tabLst>
            </a:pPr>
            <a:r>
              <a:rPr sz="2200" dirty="0">
                <a:latin typeface="Arial"/>
                <a:cs typeface="Arial"/>
              </a:rPr>
              <a:t>Generation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X: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1964–1980</a:t>
            </a:r>
            <a:endParaRPr sz="2200" dirty="0">
              <a:latin typeface="Arial"/>
              <a:cs typeface="Arial"/>
            </a:endParaRPr>
          </a:p>
          <a:p>
            <a:pPr marL="932815" lvl="1" indent="-469900">
              <a:lnSpc>
                <a:spcPct val="100000"/>
              </a:lnSpc>
              <a:spcBef>
                <a:spcPts val="745"/>
              </a:spcBef>
              <a:buClr>
                <a:srgbClr val="004978"/>
              </a:buClr>
              <a:buFont typeface="Wingdings"/>
              <a:buChar char=""/>
              <a:tabLst>
                <a:tab pos="932815" algn="l"/>
                <a:tab pos="933450" algn="l"/>
              </a:tabLst>
            </a:pPr>
            <a:r>
              <a:rPr sz="2200" dirty="0">
                <a:latin typeface="Arial"/>
                <a:cs typeface="Arial"/>
              </a:rPr>
              <a:t>Generation</a:t>
            </a:r>
            <a:r>
              <a:rPr sz="2200" spc="-1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Y/Millennials: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-10" dirty="0" smtClean="0">
                <a:latin typeface="Arial"/>
                <a:cs typeface="Arial"/>
              </a:rPr>
              <a:t>1980–2000</a:t>
            </a:r>
            <a:endParaRPr lang="en-US" sz="2200" spc="-10" dirty="0" smtClean="0">
              <a:latin typeface="Arial"/>
              <a:cs typeface="Arial"/>
            </a:endParaRPr>
          </a:p>
          <a:p>
            <a:pPr marL="932815" lvl="1" indent="-469900">
              <a:lnSpc>
                <a:spcPct val="100000"/>
              </a:lnSpc>
              <a:spcBef>
                <a:spcPts val="745"/>
              </a:spcBef>
              <a:buClr>
                <a:srgbClr val="004978"/>
              </a:buClr>
              <a:buFont typeface="Wingdings"/>
              <a:buChar char=""/>
              <a:tabLst>
                <a:tab pos="932815" algn="l"/>
                <a:tab pos="933450" algn="l"/>
              </a:tabLst>
            </a:pPr>
            <a:r>
              <a:rPr lang="en-US" sz="2200" spc="-10" dirty="0" smtClean="0">
                <a:latin typeface="Arial"/>
                <a:cs typeface="Arial"/>
              </a:rPr>
              <a:t>Generation Z: 2000-</a:t>
            </a:r>
            <a:endParaRPr sz="2200" dirty="0">
              <a:latin typeface="Arial"/>
              <a:cs typeface="Arial"/>
            </a:endParaRPr>
          </a:p>
          <a:p>
            <a:pPr marL="467995" marR="5080" indent="-455930">
              <a:lnSpc>
                <a:spcPts val="2590"/>
              </a:lnSpc>
              <a:spcBef>
                <a:spcPts val="1030"/>
              </a:spcBef>
              <a:buClr>
                <a:srgbClr val="004978"/>
              </a:buClr>
              <a:buChar char="–"/>
              <a:tabLst>
                <a:tab pos="467995" algn="l"/>
                <a:tab pos="468630" algn="l"/>
              </a:tabLst>
            </a:pPr>
            <a:r>
              <a:rPr sz="2400" dirty="0">
                <a:latin typeface="Arial"/>
                <a:cs typeface="Arial"/>
              </a:rPr>
              <a:t>Older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better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performance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need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mentoring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adopt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technology</a:t>
            </a:r>
            <a:r>
              <a:rPr sz="2400" spc="-10" dirty="0" smtClean="0">
                <a:latin typeface="Arial"/>
                <a:cs typeface="Arial"/>
              </a:rPr>
              <a:t>.</a:t>
            </a:r>
            <a:endParaRPr lang="en-US" sz="2400" spc="-10" dirty="0" smtClean="0">
              <a:latin typeface="Arial"/>
              <a:cs typeface="Arial"/>
            </a:endParaRPr>
          </a:p>
          <a:p>
            <a:pPr marL="467995" marR="5080" indent="-455930">
              <a:lnSpc>
                <a:spcPts val="2590"/>
              </a:lnSpc>
              <a:spcBef>
                <a:spcPts val="1030"/>
              </a:spcBef>
              <a:buClr>
                <a:srgbClr val="004978"/>
              </a:buClr>
              <a:buChar char="–"/>
              <a:tabLst>
                <a:tab pos="467995" algn="l"/>
                <a:tab pos="468630" algn="l"/>
              </a:tabLst>
            </a:pPr>
            <a:r>
              <a:rPr lang="en-US" sz="2400" dirty="0" smtClean="0">
                <a:latin typeface="Arial"/>
                <a:cs typeface="Arial"/>
                <a:hlinkClick r:id="rId2"/>
              </a:rPr>
              <a:t>https://www.purdueglobal.edu/education-partnerships/generational-workforce-differences-infographic/</a:t>
            </a:r>
            <a:r>
              <a:rPr lang="en-US" sz="2400" dirty="0" smtClean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138" y="285064"/>
            <a:ext cx="6680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Diversity</a:t>
            </a:r>
            <a:r>
              <a:rPr spc="-2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(5</a:t>
            </a:r>
            <a:r>
              <a:rPr spc="-5" dirty="0"/>
              <a:t> </a:t>
            </a:r>
            <a:r>
              <a:rPr dirty="0"/>
              <a:t>of </a:t>
            </a:r>
            <a:r>
              <a:rPr spc="-25" dirty="0"/>
              <a:t>7)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62958"/>
            <a:ext cx="10259060" cy="40830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Clr>
                <a:srgbClr val="004978"/>
              </a:buClr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Diversity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issues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for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managers</a:t>
            </a:r>
            <a:endParaRPr sz="2600" dirty="0">
              <a:latin typeface="Arial"/>
              <a:cs typeface="Arial"/>
            </a:endParaRPr>
          </a:p>
          <a:p>
            <a:pPr marL="931544" lvl="1" indent="-45656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31544" algn="l"/>
                <a:tab pos="93218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business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case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10" dirty="0">
                <a:latin typeface="Arial"/>
                <a:cs typeface="Arial"/>
              </a:rPr>
              <a:t>diversity</a:t>
            </a:r>
            <a:endParaRPr sz="2400" dirty="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0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200" dirty="0">
                <a:latin typeface="Arial"/>
                <a:cs typeface="Arial"/>
              </a:rPr>
              <a:t>Diversity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also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fosters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greater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creativity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innovation.</a:t>
            </a:r>
            <a:endParaRPr sz="2200" dirty="0">
              <a:latin typeface="Arial"/>
              <a:cs typeface="Arial"/>
            </a:endParaRPr>
          </a:p>
          <a:p>
            <a:pPr marL="1390015" lvl="2" indent="-463550">
              <a:lnSpc>
                <a:spcPts val="2510"/>
              </a:lnSpc>
              <a:spcBef>
                <a:spcPts val="740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200" dirty="0">
                <a:latin typeface="Arial"/>
                <a:cs typeface="Arial"/>
              </a:rPr>
              <a:t>Organizational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performance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increases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when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employees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have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positive</a:t>
            </a:r>
            <a:endParaRPr sz="2200" dirty="0">
              <a:latin typeface="Arial"/>
              <a:cs typeface="Arial"/>
            </a:endParaRPr>
          </a:p>
          <a:p>
            <a:pPr marL="1390015">
              <a:lnSpc>
                <a:spcPts val="2510"/>
              </a:lnSpc>
            </a:pPr>
            <a:r>
              <a:rPr sz="2200" dirty="0">
                <a:latin typeface="Arial"/>
                <a:cs typeface="Arial"/>
              </a:rPr>
              <a:t>attitude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toward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diversity.</a:t>
            </a:r>
            <a:endParaRPr sz="2200" dirty="0">
              <a:latin typeface="Arial"/>
              <a:cs typeface="Arial"/>
            </a:endParaRPr>
          </a:p>
          <a:p>
            <a:pPr marL="1390015" marR="1219200" lvl="2" indent="-463550">
              <a:lnSpc>
                <a:spcPts val="2380"/>
              </a:lnSpc>
              <a:spcBef>
                <a:spcPts val="104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200" dirty="0">
                <a:latin typeface="Arial"/>
                <a:cs typeface="Arial"/>
              </a:rPr>
              <a:t>Culturally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diverse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teams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make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better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decisions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over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time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than </a:t>
            </a:r>
            <a:r>
              <a:rPr sz="2200" dirty="0">
                <a:latin typeface="Arial"/>
                <a:cs typeface="Arial"/>
              </a:rPr>
              <a:t>homogeneous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ones.</a:t>
            </a:r>
            <a:endParaRPr sz="2200" dirty="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690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200" dirty="0">
                <a:latin typeface="Arial"/>
                <a:cs typeface="Arial"/>
              </a:rPr>
              <a:t>Women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top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management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results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more</a:t>
            </a:r>
            <a:r>
              <a:rPr sz="2200" spc="-3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innovation.</a:t>
            </a:r>
            <a:endParaRPr sz="2200" dirty="0">
              <a:latin typeface="Arial"/>
              <a:cs typeface="Arial"/>
            </a:endParaRPr>
          </a:p>
          <a:p>
            <a:pPr marL="1390015" lvl="2" indent="-463550">
              <a:lnSpc>
                <a:spcPts val="2745"/>
              </a:lnSpc>
              <a:spcBef>
                <a:spcPts val="71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200" dirty="0">
                <a:latin typeface="Arial"/>
                <a:cs typeface="Arial"/>
              </a:rPr>
              <a:t>Title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VII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Civil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Rights</a:t>
            </a:r>
            <a:r>
              <a:rPr sz="2200" spc="-1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Act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1964</a:t>
            </a:r>
            <a:r>
              <a:rPr sz="2200" spc="-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prohibits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employment</a:t>
            </a:r>
            <a:endParaRPr sz="2400" dirty="0">
              <a:latin typeface="Arial"/>
              <a:cs typeface="Arial"/>
            </a:endParaRPr>
          </a:p>
          <a:p>
            <a:pPr marL="1390015">
              <a:lnSpc>
                <a:spcPts val="2505"/>
              </a:lnSpc>
            </a:pPr>
            <a:r>
              <a:rPr sz="2200" dirty="0">
                <a:latin typeface="Arial"/>
                <a:cs typeface="Arial"/>
              </a:rPr>
              <a:t>discrimination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based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on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race,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color,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religion,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sex,</a:t>
            </a:r>
            <a:r>
              <a:rPr sz="2200" spc="-5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or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national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origin.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7433" y="285064"/>
            <a:ext cx="651890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Table</a:t>
            </a:r>
            <a:r>
              <a:rPr spc="-80" dirty="0"/>
              <a:t> </a:t>
            </a:r>
            <a:r>
              <a:rPr dirty="0"/>
              <a:t>2.2</a:t>
            </a:r>
            <a:r>
              <a:rPr spc="-55" dirty="0"/>
              <a:t> </a:t>
            </a:r>
            <a:r>
              <a:rPr dirty="0"/>
              <a:t>Barriers</a:t>
            </a:r>
            <a:r>
              <a:rPr spc="-65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Inclusion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44345" y="1327150"/>
          <a:ext cx="8903970" cy="4773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3300"/>
                <a:gridCol w="6630670"/>
              </a:tblGrid>
              <a:tr h="742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“like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me”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bias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marR="80899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prefer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associate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others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perceive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like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themselves.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Stereotypes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marR="19431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belief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about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 individual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group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based on the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idea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that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everyone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particular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group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behave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same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characteristics.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Prejudice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Outright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bigotry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intolerance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groups.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 marL="88265" marR="4083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Perceived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threat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loss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marR="5607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employees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perceive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direct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threat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own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career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opportunities,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feel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protect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own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prospects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impeding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diversity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efforts.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Ethnocentrism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belief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one’s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own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language,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native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country,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cultural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rules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norms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superior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others.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88265" marR="4984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Unequal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organizational networks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 marR="4318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Women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minorities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often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excluded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organizational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networks,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important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job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performance,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mentoring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opportunities,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seen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candidate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promotion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5138" y="285064"/>
            <a:ext cx="6680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Diversity</a:t>
            </a:r>
            <a:r>
              <a:rPr spc="-2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(6</a:t>
            </a:r>
            <a:r>
              <a:rPr spc="-5" dirty="0"/>
              <a:t> </a:t>
            </a:r>
            <a:r>
              <a:rPr dirty="0"/>
              <a:t>of </a:t>
            </a:r>
            <a:r>
              <a:rPr spc="-25" dirty="0"/>
              <a:t>7)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62958"/>
            <a:ext cx="10148570" cy="36645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Clr>
                <a:srgbClr val="004978"/>
              </a:buClr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Managing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diversity</a:t>
            </a:r>
            <a:endParaRPr sz="2600">
              <a:latin typeface="Arial"/>
              <a:cs typeface="Arial"/>
            </a:endParaRPr>
          </a:p>
          <a:p>
            <a:pPr marL="931544" lvl="1" indent="-45656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31544" algn="l"/>
                <a:tab pos="932180" algn="l"/>
              </a:tabLst>
            </a:pPr>
            <a:r>
              <a:rPr sz="2400" spc="-65" dirty="0">
                <a:latin typeface="Arial"/>
                <a:cs typeface="Arial"/>
              </a:rPr>
              <a:t>Top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management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support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diversity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diversity </a:t>
            </a:r>
            <a:r>
              <a:rPr sz="2400" spc="-10" dirty="0">
                <a:latin typeface="Arial"/>
                <a:cs typeface="Arial"/>
              </a:rPr>
              <a:t>initiatives.</a:t>
            </a:r>
            <a:endParaRPr sz="2400">
              <a:latin typeface="Arial"/>
              <a:cs typeface="Arial"/>
            </a:endParaRPr>
          </a:p>
          <a:p>
            <a:pPr marL="931544" marR="5080" lvl="1" indent="-455930">
              <a:lnSpc>
                <a:spcPts val="2590"/>
              </a:lnSpc>
              <a:spcBef>
                <a:spcPts val="1035"/>
              </a:spcBef>
              <a:buClr>
                <a:srgbClr val="004978"/>
              </a:buClr>
              <a:buChar char="–"/>
              <a:tabLst>
                <a:tab pos="931544" algn="l"/>
                <a:tab pos="932180" algn="l"/>
              </a:tabLst>
            </a:pPr>
            <a:r>
              <a:rPr sz="2400" dirty="0">
                <a:latin typeface="Arial"/>
                <a:cs typeface="Arial"/>
              </a:rPr>
              <a:t>Reciprocal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mentoring: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matches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senior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employees with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diverse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junior </a:t>
            </a:r>
            <a:r>
              <a:rPr sz="2400" dirty="0">
                <a:latin typeface="Arial"/>
                <a:cs typeface="Arial"/>
              </a:rPr>
              <a:t>employees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allow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individuals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learn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about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different group.</a:t>
            </a:r>
            <a:endParaRPr sz="2400">
              <a:latin typeface="Arial"/>
              <a:cs typeface="Arial"/>
            </a:endParaRPr>
          </a:p>
          <a:p>
            <a:pPr marL="931544" marR="121285" lvl="1" indent="-455930">
              <a:lnSpc>
                <a:spcPts val="2590"/>
              </a:lnSpc>
              <a:spcBef>
                <a:spcPts val="1015"/>
              </a:spcBef>
              <a:buClr>
                <a:srgbClr val="004978"/>
              </a:buClr>
              <a:buChar char="–"/>
              <a:tabLst>
                <a:tab pos="931544" algn="l"/>
                <a:tab pos="932180" algn="l"/>
              </a:tabLst>
            </a:pPr>
            <a:r>
              <a:rPr sz="2400" dirty="0">
                <a:latin typeface="Arial"/>
                <a:cs typeface="Arial"/>
              </a:rPr>
              <a:t>Older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adults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benefit</a:t>
            </a:r>
            <a:r>
              <a:rPr sz="2400" spc="-10" dirty="0">
                <a:latin typeface="Arial"/>
                <a:cs typeface="Arial"/>
              </a:rPr>
              <a:t> fromself-</a:t>
            </a:r>
            <a:r>
              <a:rPr sz="2400" dirty="0">
                <a:latin typeface="Arial"/>
                <a:cs typeface="Arial"/>
              </a:rPr>
              <a:t>paced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learning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environments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spc="-10" dirty="0">
                <a:latin typeface="Arial"/>
                <a:cs typeface="Arial"/>
              </a:rPr>
              <a:t>confidence-</a:t>
            </a:r>
            <a:r>
              <a:rPr sz="2400" dirty="0">
                <a:latin typeface="Arial"/>
                <a:cs typeface="Arial"/>
              </a:rPr>
              <a:t>boosting</a:t>
            </a:r>
            <a:r>
              <a:rPr sz="2400" spc="1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interventions.</a:t>
            </a:r>
            <a:endParaRPr sz="2400">
              <a:latin typeface="Arial"/>
              <a:cs typeface="Arial"/>
            </a:endParaRPr>
          </a:p>
          <a:p>
            <a:pPr marL="931544" marR="43815" lvl="1" indent="-455930">
              <a:lnSpc>
                <a:spcPts val="2590"/>
              </a:lnSpc>
              <a:spcBef>
                <a:spcPts val="1000"/>
              </a:spcBef>
              <a:buClr>
                <a:srgbClr val="004978"/>
              </a:buClr>
              <a:buChar char="–"/>
              <a:tabLst>
                <a:tab pos="931544" algn="l"/>
                <a:tab pos="932180" algn="l"/>
              </a:tabLst>
            </a:pPr>
            <a:r>
              <a:rPr sz="2400" dirty="0">
                <a:latin typeface="Arial"/>
                <a:cs typeface="Arial"/>
              </a:rPr>
              <a:t>It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realistic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claim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topursue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“I’m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totally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unbiased”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stance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regard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diversity.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5745" y="285064"/>
            <a:ext cx="7620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Globalization and</a:t>
            </a:r>
            <a:r>
              <a:rPr spc="-2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(1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29644"/>
            <a:ext cx="10146030" cy="36169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0"/>
              </a:spcBef>
              <a:buClr>
                <a:srgbClr val="004978"/>
              </a:buClr>
              <a:buChar char="•"/>
              <a:tabLst>
                <a:tab pos="354965" algn="l"/>
                <a:tab pos="355600" algn="l"/>
              </a:tabLst>
            </a:pPr>
            <a:r>
              <a:rPr sz="2600" spc="-10" dirty="0">
                <a:latin typeface="Arial"/>
                <a:cs typeface="Arial"/>
              </a:rPr>
              <a:t>Globalization</a:t>
            </a:r>
            <a:endParaRPr sz="2600">
              <a:latin typeface="Arial"/>
              <a:cs typeface="Arial"/>
            </a:endParaRPr>
          </a:p>
          <a:p>
            <a:pPr marL="927100" marR="7620" lvl="1" indent="-449580">
              <a:lnSpc>
                <a:spcPts val="2590"/>
              </a:lnSpc>
              <a:spcBef>
                <a:spcPts val="104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internationalization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business activities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shift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toward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 </a:t>
            </a:r>
            <a:r>
              <a:rPr sz="2400" dirty="0">
                <a:latin typeface="Arial"/>
                <a:cs typeface="Arial"/>
              </a:rPr>
              <a:t>integrated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global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economy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40"/>
              </a:spcBef>
              <a:buClr>
                <a:srgbClr val="004978"/>
              </a:buClr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Factors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increasing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globalization</a:t>
            </a:r>
            <a:endParaRPr sz="26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3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Advances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communication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transportation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1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Businesses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expanded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internationally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their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markets.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1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Control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distribution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distribution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costs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Increased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international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competition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5745" y="285064"/>
            <a:ext cx="7620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Globalization and</a:t>
            </a:r>
            <a:r>
              <a:rPr spc="-2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(2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62958"/>
            <a:ext cx="10467340" cy="434784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885"/>
              </a:spcBef>
              <a:buClr>
                <a:srgbClr val="004978"/>
              </a:buClr>
              <a:buChar char="•"/>
              <a:tabLst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Cultural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competence</a:t>
            </a:r>
            <a:endParaRPr sz="2600">
              <a:latin typeface="Arial"/>
              <a:cs typeface="Arial"/>
            </a:endParaRPr>
          </a:p>
          <a:p>
            <a:pPr marL="475615" algn="just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solidFill>
                  <a:srgbClr val="004978"/>
                </a:solidFill>
                <a:latin typeface="Arial"/>
                <a:cs typeface="Arial"/>
              </a:rPr>
              <a:t>–</a:t>
            </a:r>
            <a:r>
              <a:rPr sz="2400" spc="450" dirty="0">
                <a:solidFill>
                  <a:srgbClr val="004978"/>
                </a:solidFill>
                <a:latin typeface="Arial"/>
                <a:cs typeface="Arial"/>
              </a:rPr>
              <a:t>  </a:t>
            </a:r>
            <a:r>
              <a:rPr sz="2400" spc="-10" dirty="0">
                <a:latin typeface="Arial"/>
                <a:cs typeface="Arial"/>
              </a:rPr>
              <a:t>Culture</a:t>
            </a:r>
            <a:endParaRPr sz="2400">
              <a:latin typeface="Arial"/>
              <a:cs typeface="Arial"/>
            </a:endParaRPr>
          </a:p>
          <a:p>
            <a:pPr marL="1841500" marR="5080" indent="-451484" algn="just">
              <a:lnSpc>
                <a:spcPts val="2160"/>
              </a:lnSpc>
              <a:spcBef>
                <a:spcPts val="1040"/>
              </a:spcBef>
            </a:pPr>
            <a:r>
              <a:rPr sz="2000" dirty="0">
                <a:solidFill>
                  <a:srgbClr val="004978"/>
                </a:solidFill>
                <a:latin typeface="Courier New"/>
                <a:cs typeface="Courier New"/>
              </a:rPr>
              <a:t>o</a:t>
            </a:r>
            <a:r>
              <a:rPr sz="2000" spc="-45" dirty="0">
                <a:solidFill>
                  <a:srgbClr val="004978"/>
                </a:solidFill>
                <a:latin typeface="Courier New"/>
                <a:cs typeface="Courier New"/>
              </a:rPr>
              <a:t> 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shared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values,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often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taken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granted,that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help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people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group, </a:t>
            </a:r>
            <a:r>
              <a:rPr sz="2000" dirty="0">
                <a:latin typeface="Arial"/>
                <a:cs typeface="Arial"/>
              </a:rPr>
              <a:t>organization,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society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understand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which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actions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considered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acceptable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which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deemed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unacceptable</a:t>
            </a:r>
            <a:endParaRPr sz="2000">
              <a:latin typeface="Arial"/>
              <a:cs typeface="Arial"/>
            </a:endParaRPr>
          </a:p>
          <a:p>
            <a:pPr marL="355600" marR="675005" indent="-342900">
              <a:lnSpc>
                <a:spcPts val="2640"/>
              </a:lnSpc>
              <a:spcBef>
                <a:spcPts val="1130"/>
              </a:spcBef>
              <a:buClr>
                <a:srgbClr val="004978"/>
              </a:buClr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Cultural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competence: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ability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interact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effectively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cultures</a:t>
            </a:r>
            <a:endParaRPr sz="2400">
              <a:latin typeface="Arial"/>
              <a:cs typeface="Arial"/>
            </a:endParaRPr>
          </a:p>
          <a:p>
            <a:pPr marL="1841500" lvl="1" indent="-452120">
              <a:lnSpc>
                <a:spcPct val="100000"/>
              </a:lnSpc>
              <a:spcBef>
                <a:spcPts val="715"/>
              </a:spcBef>
              <a:buClr>
                <a:srgbClr val="004978"/>
              </a:buClr>
              <a:buFont typeface="Courier New"/>
              <a:buChar char="o"/>
              <a:tabLst>
                <a:tab pos="1841500" algn="l"/>
                <a:tab pos="1842135" algn="l"/>
              </a:tabLst>
            </a:pPr>
            <a:r>
              <a:rPr sz="2000" dirty="0">
                <a:latin typeface="Arial"/>
                <a:cs typeface="Arial"/>
              </a:rPr>
              <a:t>Awareness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worldview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our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reactions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people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who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different</a:t>
            </a:r>
            <a:endParaRPr sz="2000">
              <a:latin typeface="Arial"/>
              <a:cs typeface="Arial"/>
            </a:endParaRPr>
          </a:p>
          <a:p>
            <a:pPr marL="1841500" lvl="1" indent="-452120">
              <a:lnSpc>
                <a:spcPct val="100000"/>
              </a:lnSpc>
              <a:spcBef>
                <a:spcPts val="765"/>
              </a:spcBef>
              <a:buClr>
                <a:srgbClr val="004978"/>
              </a:buClr>
              <a:buFont typeface="Courier New"/>
              <a:buChar char="o"/>
              <a:tabLst>
                <a:tab pos="1841500" algn="l"/>
                <a:tab pos="1842135" algn="l"/>
              </a:tabLst>
            </a:pPr>
            <a:r>
              <a:rPr sz="2000" dirty="0">
                <a:latin typeface="Arial"/>
                <a:cs typeface="Arial"/>
              </a:rPr>
              <a:t>Our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attitude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toward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cultural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differences</a:t>
            </a:r>
            <a:endParaRPr sz="2000">
              <a:latin typeface="Arial"/>
              <a:cs typeface="Arial"/>
            </a:endParaRPr>
          </a:p>
          <a:p>
            <a:pPr marL="1841500" lvl="1" indent="-452120">
              <a:lnSpc>
                <a:spcPct val="100000"/>
              </a:lnSpc>
              <a:spcBef>
                <a:spcPts val="760"/>
              </a:spcBef>
              <a:buClr>
                <a:srgbClr val="004978"/>
              </a:buClr>
              <a:buFont typeface="Courier New"/>
              <a:buChar char="o"/>
              <a:tabLst>
                <a:tab pos="1841500" algn="l"/>
                <a:tab pos="1842135" algn="l"/>
              </a:tabLst>
            </a:pPr>
            <a:r>
              <a:rPr sz="2000" dirty="0">
                <a:latin typeface="Arial"/>
                <a:cs typeface="Arial"/>
              </a:rPr>
              <a:t>Knowledge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worldviews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cultural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practices</a:t>
            </a:r>
            <a:endParaRPr sz="2000">
              <a:latin typeface="Arial"/>
              <a:cs typeface="Arial"/>
            </a:endParaRPr>
          </a:p>
          <a:p>
            <a:pPr marL="1841500" lvl="1" indent="-452120">
              <a:lnSpc>
                <a:spcPct val="100000"/>
              </a:lnSpc>
              <a:spcBef>
                <a:spcPts val="755"/>
              </a:spcBef>
              <a:buClr>
                <a:srgbClr val="004978"/>
              </a:buClr>
              <a:buFont typeface="Courier New"/>
              <a:buChar char="o"/>
              <a:tabLst>
                <a:tab pos="1841500" algn="l"/>
                <a:tab pos="1842135" algn="l"/>
              </a:tabLst>
            </a:pPr>
            <a:r>
              <a:rPr sz="2000" dirty="0">
                <a:latin typeface="Arial"/>
                <a:cs typeface="Arial"/>
              </a:rPr>
              <a:t>Cross-cultural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skills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5745" y="285064"/>
            <a:ext cx="7620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Globalization and</a:t>
            </a:r>
            <a:r>
              <a:rPr spc="-2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(3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1603" y="1162958"/>
            <a:ext cx="9177655" cy="393636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85"/>
              </a:spcBef>
              <a:buClr>
                <a:srgbClr val="004978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dirty="0">
                <a:latin typeface="Arial"/>
                <a:cs typeface="Arial"/>
              </a:rPr>
              <a:t>Cross-Cultural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Differences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Similarities</a:t>
            </a:r>
            <a:endParaRPr sz="2600">
              <a:latin typeface="Arial"/>
              <a:cs typeface="Arial"/>
            </a:endParaRPr>
          </a:p>
          <a:p>
            <a:pPr marL="931544" lvl="1" indent="-45656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31544" algn="l"/>
                <a:tab pos="932180" algn="l"/>
              </a:tabLst>
            </a:pPr>
            <a:r>
              <a:rPr sz="2400" dirty="0">
                <a:latin typeface="Arial"/>
                <a:cs typeface="Arial"/>
              </a:rPr>
              <a:t>General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observations</a:t>
            </a:r>
            <a:endParaRPr sz="24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70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dirty="0">
                <a:latin typeface="Arial"/>
                <a:cs typeface="Arial"/>
              </a:rPr>
              <a:t>Cultural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national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boundaries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coincide</a:t>
            </a:r>
            <a:endParaRPr sz="20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5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dirty="0">
                <a:latin typeface="Arial"/>
                <a:cs typeface="Arial"/>
              </a:rPr>
              <a:t>Behavior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organizational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settings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varies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across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cultures</a:t>
            </a:r>
            <a:endParaRPr sz="20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5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dirty="0">
                <a:latin typeface="Arial"/>
                <a:cs typeface="Arial"/>
              </a:rPr>
              <a:t>Culture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major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cause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this </a:t>
            </a:r>
            <a:r>
              <a:rPr sz="2000" spc="-10" dirty="0">
                <a:latin typeface="Arial"/>
                <a:cs typeface="Arial"/>
              </a:rPr>
              <a:t>variation</a:t>
            </a:r>
            <a:endParaRPr sz="2000">
              <a:latin typeface="Arial"/>
              <a:cs typeface="Arial"/>
            </a:endParaRPr>
          </a:p>
          <a:p>
            <a:pPr marL="1390015" marR="137795" lvl="2" indent="-463550">
              <a:lnSpc>
                <a:spcPts val="2160"/>
              </a:lnSpc>
              <a:spcBef>
                <a:spcPts val="104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dirty="0">
                <a:latin typeface="Arial"/>
                <a:cs typeface="Arial"/>
              </a:rPr>
              <a:t>Organizations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way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are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structured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appear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growing </a:t>
            </a:r>
            <a:r>
              <a:rPr sz="2000" dirty="0">
                <a:latin typeface="Arial"/>
                <a:cs typeface="Arial"/>
              </a:rPr>
              <a:t>increasingly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similar.</a:t>
            </a:r>
            <a:endParaRPr sz="20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2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dirty="0">
                <a:latin typeface="Arial"/>
                <a:cs typeface="Arial"/>
              </a:rPr>
              <a:t>The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same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individual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behaves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differently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different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cultural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settings.</a:t>
            </a:r>
            <a:endParaRPr sz="2000">
              <a:latin typeface="Arial"/>
              <a:cs typeface="Arial"/>
            </a:endParaRPr>
          </a:p>
          <a:p>
            <a:pPr marL="1390015" lvl="2" indent="-463550">
              <a:lnSpc>
                <a:spcPts val="2280"/>
              </a:lnSpc>
              <a:spcBef>
                <a:spcPts val="75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dirty="0">
                <a:latin typeface="Arial"/>
                <a:cs typeface="Arial"/>
              </a:rPr>
              <a:t>Cultural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diversity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important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source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synergy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10" dirty="0">
                <a:latin typeface="Arial"/>
                <a:cs typeface="Arial"/>
              </a:rPr>
              <a:t> enhancing</a:t>
            </a:r>
            <a:endParaRPr sz="2000">
              <a:latin typeface="Arial"/>
              <a:cs typeface="Arial"/>
            </a:endParaRPr>
          </a:p>
          <a:p>
            <a:pPr marL="1390015">
              <a:lnSpc>
                <a:spcPts val="2280"/>
              </a:lnSpc>
            </a:pPr>
            <a:r>
              <a:rPr sz="2000" dirty="0">
                <a:latin typeface="Arial"/>
                <a:cs typeface="Arial"/>
              </a:rPr>
              <a:t>organizational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effectiveness.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5745" y="285064"/>
            <a:ext cx="7620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Globalization and</a:t>
            </a:r>
            <a:r>
              <a:rPr spc="-2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(4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05612"/>
            <a:ext cx="9986010" cy="495935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40"/>
              </a:spcBef>
              <a:buClr>
                <a:srgbClr val="004978"/>
              </a:buClr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Specific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Cultural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Issues</a:t>
            </a:r>
            <a:endParaRPr sz="2800">
              <a:latin typeface="Arial"/>
              <a:cs typeface="Arial"/>
            </a:endParaRPr>
          </a:p>
          <a:p>
            <a:pPr marL="931544" lvl="1" indent="-456565">
              <a:lnSpc>
                <a:spcPct val="100000"/>
              </a:lnSpc>
              <a:spcBef>
                <a:spcPts val="725"/>
              </a:spcBef>
              <a:buClr>
                <a:srgbClr val="004978"/>
              </a:buClr>
              <a:buChar char="–"/>
              <a:tabLst>
                <a:tab pos="931544" algn="l"/>
                <a:tab pos="932180" algn="l"/>
              </a:tabLst>
            </a:pPr>
            <a:r>
              <a:rPr sz="2400" dirty="0">
                <a:latin typeface="Arial"/>
                <a:cs typeface="Arial"/>
              </a:rPr>
              <a:t>Geert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Hofstede’s</a:t>
            </a:r>
            <a:r>
              <a:rPr sz="2400" spc="-10" dirty="0">
                <a:latin typeface="Arial"/>
                <a:cs typeface="Arial"/>
              </a:rPr>
              <a:t> research</a:t>
            </a:r>
            <a:endParaRPr sz="2400">
              <a:latin typeface="Arial"/>
              <a:cs typeface="Arial"/>
            </a:endParaRPr>
          </a:p>
          <a:p>
            <a:pPr marL="1390015" lvl="2" indent="-463550">
              <a:lnSpc>
                <a:spcPts val="2280"/>
              </a:lnSpc>
              <a:spcBef>
                <a:spcPts val="770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dirty="0">
                <a:latin typeface="Arial"/>
                <a:cs typeface="Arial"/>
              </a:rPr>
              <a:t>Attitudes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behaviors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differ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significantly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because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beliefs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that</a:t>
            </a:r>
            <a:endParaRPr sz="2000">
              <a:latin typeface="Arial"/>
              <a:cs typeface="Arial"/>
            </a:endParaRPr>
          </a:p>
          <a:p>
            <a:pPr marL="1390015">
              <a:lnSpc>
                <a:spcPts val="2280"/>
              </a:lnSpc>
            </a:pPr>
            <a:r>
              <a:rPr sz="2000" dirty="0">
                <a:latin typeface="Arial"/>
                <a:cs typeface="Arial"/>
              </a:rPr>
              <a:t>characterize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those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countries</a:t>
            </a:r>
            <a:endParaRPr sz="2000">
              <a:latin typeface="Arial"/>
              <a:cs typeface="Arial"/>
            </a:endParaRPr>
          </a:p>
          <a:p>
            <a:pPr marL="931544" lvl="1" indent="-456565">
              <a:lnSpc>
                <a:spcPct val="100000"/>
              </a:lnSpc>
              <a:spcBef>
                <a:spcPts val="705"/>
              </a:spcBef>
              <a:buClr>
                <a:srgbClr val="004978"/>
              </a:buClr>
              <a:buChar char="–"/>
              <a:tabLst>
                <a:tab pos="931544" algn="l"/>
                <a:tab pos="932180" algn="l"/>
              </a:tabLst>
            </a:pPr>
            <a:r>
              <a:rPr sz="2400" dirty="0">
                <a:latin typeface="Arial"/>
                <a:cs typeface="Arial"/>
              </a:rPr>
              <a:t>Hofstede’s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Categories</a:t>
            </a:r>
            <a:endParaRPr sz="24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60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spc="-10" dirty="0">
                <a:latin typeface="Arial"/>
                <a:cs typeface="Arial"/>
              </a:rPr>
              <a:t>Individualism</a:t>
            </a:r>
            <a:endParaRPr sz="20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70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spc="-10" dirty="0">
                <a:latin typeface="Arial"/>
                <a:cs typeface="Arial"/>
              </a:rPr>
              <a:t>Collectivism</a:t>
            </a:r>
            <a:endParaRPr sz="20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5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dirty="0">
                <a:latin typeface="Arial"/>
                <a:cs typeface="Arial"/>
              </a:rPr>
              <a:t>Power</a:t>
            </a:r>
            <a:r>
              <a:rPr sz="2000" spc="-10" dirty="0">
                <a:latin typeface="Arial"/>
                <a:cs typeface="Arial"/>
              </a:rPr>
              <a:t> distance</a:t>
            </a:r>
            <a:endParaRPr sz="20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60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dirty="0">
                <a:latin typeface="Arial"/>
                <a:cs typeface="Arial"/>
              </a:rPr>
              <a:t>Uncertainty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avoidance</a:t>
            </a:r>
            <a:endParaRPr sz="20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6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spc="-10" dirty="0">
                <a:latin typeface="Arial"/>
                <a:cs typeface="Arial"/>
              </a:rPr>
              <a:t>Masculinity</a:t>
            </a:r>
            <a:endParaRPr sz="20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60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spc="-10" dirty="0">
                <a:latin typeface="Arial"/>
                <a:cs typeface="Arial"/>
              </a:rPr>
              <a:t>Long-</a:t>
            </a:r>
            <a:r>
              <a:rPr sz="2000" dirty="0">
                <a:latin typeface="Arial"/>
                <a:cs typeface="Arial"/>
              </a:rPr>
              <a:t>term</a:t>
            </a:r>
            <a:r>
              <a:rPr sz="2000" spc="-10" dirty="0">
                <a:latin typeface="Arial"/>
                <a:cs typeface="Arial"/>
              </a:rPr>
              <a:t> orientation</a:t>
            </a:r>
            <a:endParaRPr sz="2000">
              <a:latin typeface="Arial"/>
              <a:cs typeface="Arial"/>
            </a:endParaRPr>
          </a:p>
          <a:p>
            <a:pPr marL="1390015" lvl="2" indent="-463550">
              <a:lnSpc>
                <a:spcPct val="100000"/>
              </a:lnSpc>
              <a:spcBef>
                <a:spcPts val="75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000" spc="-10" dirty="0">
                <a:latin typeface="Arial"/>
                <a:cs typeface="Arial"/>
              </a:rPr>
              <a:t>Short-</a:t>
            </a:r>
            <a:r>
              <a:rPr sz="2000" dirty="0">
                <a:latin typeface="Arial"/>
                <a:cs typeface="Arial"/>
              </a:rPr>
              <a:t>term</a:t>
            </a:r>
            <a:r>
              <a:rPr sz="2000" spc="-10" dirty="0">
                <a:latin typeface="Arial"/>
                <a:cs typeface="Arial"/>
              </a:rPr>
              <a:t> orientation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9982" y="285064"/>
            <a:ext cx="68929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Hofstede’s</a:t>
            </a:r>
            <a:r>
              <a:rPr spc="-95" dirty="0"/>
              <a:t> </a:t>
            </a:r>
            <a:r>
              <a:rPr dirty="0"/>
              <a:t>Primary</a:t>
            </a:r>
            <a:r>
              <a:rPr spc="-110" dirty="0"/>
              <a:t> </a:t>
            </a:r>
            <a:r>
              <a:rPr spc="-10" dirty="0"/>
              <a:t>Dimensions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7250" y="1279144"/>
          <a:ext cx="10604500" cy="4857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3915"/>
                <a:gridCol w="8490585"/>
              </a:tblGrid>
              <a:tr h="6769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Individualism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841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Exists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extent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people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culture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define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themselves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primarily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individuals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rather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than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part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one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more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groups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organizations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654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Collectivism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Characterized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tight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social</a:t>
                      </a:r>
                      <a:r>
                        <a:rPr sz="16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frameworks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which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people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tend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base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their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identities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the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group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organization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which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they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belong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Power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distance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extent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which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people</a:t>
                      </a:r>
                      <a:r>
                        <a:rPr sz="16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accept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normal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unequal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distribution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power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91440" marR="5930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Uncertainty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avoidance</a:t>
                      </a:r>
                      <a:r>
                        <a:rPr sz="16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(also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preference</a:t>
                      </a:r>
                      <a:r>
                        <a:rPr sz="16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stability)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933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extent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which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people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feel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threatened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unknown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situations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prefer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clear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6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unambiguous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situations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91440" marR="514350" algn="just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Masculinity</a:t>
                      </a:r>
                      <a:r>
                        <a:rPr sz="16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(also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assertiveness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or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materialism)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27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extent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which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dominant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values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society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emphasize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aggressiveness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acquisition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money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other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possessions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opposed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concern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people,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relationships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among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people,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overall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quality</a:t>
                      </a:r>
                      <a:r>
                        <a:rPr sz="16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life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Long-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term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Values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257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Include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focusing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future,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working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on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projects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have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distant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payoff,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persistence,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thrift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73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Short-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term</a:t>
                      </a:r>
                      <a:r>
                        <a:rPr sz="16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Values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552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More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oriented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toward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past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present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include</a:t>
                      </a:r>
                      <a:r>
                        <a:rPr sz="16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respect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traditions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social obligations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048" y="289636"/>
            <a:ext cx="1044765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30" dirty="0"/>
              <a:t>Table</a:t>
            </a:r>
            <a:r>
              <a:rPr sz="3400" spc="-105" dirty="0"/>
              <a:t> </a:t>
            </a:r>
            <a:r>
              <a:rPr sz="3400" dirty="0"/>
              <a:t>2.3</a:t>
            </a:r>
            <a:r>
              <a:rPr sz="3400" spc="-100" dirty="0"/>
              <a:t> </a:t>
            </a:r>
            <a:r>
              <a:rPr sz="3400" spc="-40" dirty="0"/>
              <a:t>Work-</a:t>
            </a:r>
            <a:r>
              <a:rPr sz="3400" dirty="0"/>
              <a:t>Related</a:t>
            </a:r>
            <a:r>
              <a:rPr sz="3400" spc="-60" dirty="0"/>
              <a:t> </a:t>
            </a:r>
            <a:r>
              <a:rPr sz="3400" dirty="0"/>
              <a:t>Differences</a:t>
            </a:r>
            <a:r>
              <a:rPr sz="3400" spc="-75" dirty="0"/>
              <a:t> </a:t>
            </a:r>
            <a:r>
              <a:rPr sz="3400" dirty="0"/>
              <a:t>in</a:t>
            </a:r>
            <a:r>
              <a:rPr sz="3400" spc="-105" dirty="0"/>
              <a:t> </a:t>
            </a:r>
            <a:r>
              <a:rPr sz="3400" dirty="0"/>
              <a:t>10</a:t>
            </a:r>
            <a:r>
              <a:rPr sz="3400" spc="-100" dirty="0"/>
              <a:t> </a:t>
            </a:r>
            <a:r>
              <a:rPr sz="3400" spc="-10" dirty="0"/>
              <a:t>Countries</a:t>
            </a:r>
            <a:endParaRPr sz="3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193925" y="1174750"/>
          <a:ext cx="8129904" cy="405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025"/>
                <a:gridCol w="1366520"/>
                <a:gridCol w="1355090"/>
                <a:gridCol w="1355089"/>
                <a:gridCol w="1355090"/>
                <a:gridCol w="1355090"/>
              </a:tblGrid>
              <a:tr h="641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33464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Country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Individualism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/Collectivism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6070" marR="298450" indent="1016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Power Distance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315" marR="176530" indent="-4445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Uncertainty Avoidance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Masculinity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 marR="193675" indent="1778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Long-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Term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Orientation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CANADA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GERMANY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ISRAEL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(no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ITALY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(no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JAPAN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MEXICO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(no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PAKISTAN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37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SWEDEN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106680" marR="5632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UNITED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STATES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VENEZUELA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37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(no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data)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63600" y="5404484"/>
            <a:ext cx="10091420" cy="66548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84455">
              <a:lnSpc>
                <a:spcPts val="1080"/>
              </a:lnSpc>
              <a:spcBef>
                <a:spcPts val="229"/>
              </a:spcBef>
            </a:pPr>
            <a:r>
              <a:rPr sz="1000" i="1" dirty="0">
                <a:latin typeface="Arial"/>
                <a:cs typeface="Arial"/>
              </a:rPr>
              <a:t>Note: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high;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10" dirty="0">
                <a:latin typeface="Arial"/>
                <a:cs typeface="Arial"/>
              </a:rPr>
              <a:t> moderate;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low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INDIVIDUALISM/COLLECTIVISM.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High</a:t>
            </a:r>
            <a:r>
              <a:rPr sz="1000" spc="-10" dirty="0">
                <a:latin typeface="Arial"/>
                <a:cs typeface="Arial"/>
              </a:rPr>
              <a:t> Individualism, </a:t>
            </a:r>
            <a:r>
              <a:rPr sz="1000" dirty="0">
                <a:latin typeface="Arial"/>
                <a:cs typeface="Arial"/>
              </a:rPr>
              <a:t>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High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Collectivism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balance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individualism</a:t>
            </a:r>
            <a:r>
              <a:rPr sz="1000" spc="2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and </a:t>
            </a:r>
            <a:r>
              <a:rPr sz="1000" spc="-10" dirty="0">
                <a:latin typeface="Arial"/>
                <a:cs typeface="Arial"/>
              </a:rPr>
              <a:t>collectivism.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These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only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10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more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than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60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countries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Hofstede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others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have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studied.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080"/>
              </a:lnSpc>
              <a:spcBef>
                <a:spcPts val="600"/>
              </a:spcBef>
            </a:pPr>
            <a:r>
              <a:rPr sz="1000" i="1" dirty="0">
                <a:latin typeface="Arial"/>
                <a:cs typeface="Arial"/>
              </a:rPr>
              <a:t>References:</a:t>
            </a:r>
            <a:r>
              <a:rPr sz="1000" i="1" spc="-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Adapted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Geert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Hofstede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Michael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Harris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Bond,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“The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Confucius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Connection: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Cultural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Roots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Economic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Growth,”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Organizational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Dynamics,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Spring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1988, </a:t>
            </a:r>
            <a:r>
              <a:rPr sz="1000" dirty="0">
                <a:latin typeface="Arial"/>
                <a:cs typeface="Arial"/>
              </a:rPr>
              <a:t>pp.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5–21;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Geert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Hofstede,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“Motivation,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Leadership,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Organization: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American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Theories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Apply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Abroad?” </a:t>
            </a:r>
            <a:r>
              <a:rPr sz="1000" i="1" spc="-10" dirty="0">
                <a:latin typeface="Arial"/>
                <a:cs typeface="Arial"/>
              </a:rPr>
              <a:t>Organizational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Dynamics, </a:t>
            </a:r>
            <a:r>
              <a:rPr sz="1000" dirty="0">
                <a:latin typeface="Arial"/>
                <a:cs typeface="Arial"/>
              </a:rPr>
              <a:t>Summer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1980,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pp.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42–63.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5745" y="285064"/>
            <a:ext cx="7620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Globalization and</a:t>
            </a:r>
            <a:r>
              <a:rPr spc="-2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(5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4308" y="1206880"/>
            <a:ext cx="9886315" cy="14681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67995" indent="-455930">
              <a:lnSpc>
                <a:spcPct val="100000"/>
              </a:lnSpc>
              <a:spcBef>
                <a:spcPts val="305"/>
              </a:spcBef>
              <a:buClr>
                <a:srgbClr val="004978"/>
              </a:buClr>
              <a:buChar char="–"/>
              <a:tabLst>
                <a:tab pos="467995" algn="l"/>
                <a:tab pos="468630" algn="l"/>
              </a:tabLst>
            </a:pPr>
            <a:r>
              <a:rPr sz="2400" dirty="0">
                <a:latin typeface="Arial"/>
                <a:cs typeface="Arial"/>
              </a:rPr>
              <a:t>Global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Perspective</a:t>
            </a:r>
            <a:endParaRPr sz="2400">
              <a:latin typeface="Arial"/>
              <a:cs typeface="Arial"/>
            </a:endParaRPr>
          </a:p>
          <a:p>
            <a:pPr marL="806450" marR="5080" lvl="1" indent="-449580">
              <a:lnSpc>
                <a:spcPts val="2590"/>
              </a:lnSpc>
              <a:spcBef>
                <a:spcPts val="535"/>
              </a:spcBef>
              <a:buFont typeface="Wingdings"/>
              <a:buChar char=""/>
              <a:tabLst>
                <a:tab pos="806450" algn="l"/>
                <a:tab pos="807085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willingness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open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learn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alternative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systems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meanings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cultures,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 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capacity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0" dirty="0">
                <a:latin typeface="Arial"/>
                <a:cs typeface="Arial"/>
              </a:rPr>
              <a:t> avoid </a:t>
            </a:r>
            <a:r>
              <a:rPr sz="2400" dirty="0">
                <a:latin typeface="Arial"/>
                <a:cs typeface="Arial"/>
              </a:rPr>
              <a:t>assuming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everywhere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same.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4910" y="285064"/>
            <a:ext cx="72815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Technology</a:t>
            </a:r>
            <a:r>
              <a:rPr spc="-4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Business</a:t>
            </a:r>
            <a:r>
              <a:rPr spc="-40" dirty="0"/>
              <a:t> </a:t>
            </a:r>
            <a:r>
              <a:rPr dirty="0"/>
              <a:t>(1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25" dirty="0"/>
              <a:t>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29644"/>
            <a:ext cx="10717530" cy="38455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88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spc="-10" dirty="0">
                <a:latin typeface="Arial"/>
                <a:cs typeface="Arial"/>
              </a:rPr>
              <a:t>Technology</a:t>
            </a:r>
            <a:endParaRPr sz="2600">
              <a:latin typeface="Arial"/>
              <a:cs typeface="Arial"/>
            </a:endParaRPr>
          </a:p>
          <a:p>
            <a:pPr marL="927100" marR="277495" lvl="1" indent="-449580">
              <a:lnSpc>
                <a:spcPts val="2590"/>
              </a:lnSpc>
              <a:spcBef>
                <a:spcPts val="104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Refers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methods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products,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including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physical </a:t>
            </a:r>
            <a:r>
              <a:rPr sz="2400" dirty="0">
                <a:latin typeface="Arial"/>
                <a:cs typeface="Arial"/>
              </a:rPr>
              <a:t>goods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intangible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services</a:t>
            </a:r>
            <a:endParaRPr sz="2400">
              <a:latin typeface="Arial"/>
              <a:cs typeface="Arial"/>
            </a:endParaRPr>
          </a:p>
          <a:p>
            <a:pPr marL="481965" indent="-469900">
              <a:lnSpc>
                <a:spcPct val="100000"/>
              </a:lnSpc>
              <a:spcBef>
                <a:spcPts val="64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spc="-10" dirty="0">
                <a:latin typeface="Arial"/>
                <a:cs typeface="Arial"/>
              </a:rPr>
              <a:t>Manufacturing</a:t>
            </a:r>
            <a:endParaRPr sz="2600">
              <a:latin typeface="Arial"/>
              <a:cs typeface="Arial"/>
            </a:endParaRPr>
          </a:p>
          <a:p>
            <a:pPr marL="927100" lvl="1" indent="-450215">
              <a:lnSpc>
                <a:spcPts val="2740"/>
              </a:lnSpc>
              <a:spcBef>
                <a:spcPts val="73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business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combines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transforms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resources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tangible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ts val="2740"/>
              </a:lnSpc>
            </a:pPr>
            <a:r>
              <a:rPr sz="2400" dirty="0">
                <a:latin typeface="Arial"/>
                <a:cs typeface="Arial"/>
              </a:rPr>
              <a:t>outcomes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sold 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others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Service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organization</a:t>
            </a:r>
            <a:endParaRPr sz="2600">
              <a:latin typeface="Arial"/>
              <a:cs typeface="Arial"/>
            </a:endParaRPr>
          </a:p>
          <a:p>
            <a:pPr marL="927100" marR="5080" lvl="1" indent="-449580">
              <a:lnSpc>
                <a:spcPts val="2590"/>
              </a:lnSpc>
              <a:spcBef>
                <a:spcPts val="104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One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transforms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resources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intangible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output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time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place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utility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customers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4910" y="285064"/>
            <a:ext cx="72815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Technology</a:t>
            </a:r>
            <a:r>
              <a:rPr spc="-4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Business</a:t>
            </a:r>
            <a:r>
              <a:rPr spc="-40" dirty="0"/>
              <a:t> </a:t>
            </a:r>
            <a:r>
              <a:rPr dirty="0"/>
              <a:t>(2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25" dirty="0"/>
              <a:t>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17563"/>
            <a:ext cx="10620375" cy="451612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944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800" spc="-35" dirty="0">
                <a:latin typeface="Arial"/>
                <a:cs typeface="Arial"/>
              </a:rPr>
              <a:t>Technology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Competition</a:t>
            </a:r>
            <a:endParaRPr sz="2800">
              <a:latin typeface="Arial"/>
              <a:cs typeface="Arial"/>
            </a:endParaRPr>
          </a:p>
          <a:p>
            <a:pPr marL="927100" marR="5080" lvl="1" indent="-449580">
              <a:lnSpc>
                <a:spcPts val="2590"/>
              </a:lnSpc>
              <a:spcBef>
                <a:spcPts val="105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Maintaining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leadership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position: technology is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basis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competition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some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firms</a:t>
            </a:r>
            <a:endParaRPr sz="2400">
              <a:latin typeface="Arial"/>
              <a:cs typeface="Arial"/>
            </a:endParaRPr>
          </a:p>
          <a:p>
            <a:pPr marL="927100" marR="232410" lvl="1" indent="-449580">
              <a:lnSpc>
                <a:spcPct val="90100"/>
              </a:lnSpc>
              <a:spcBef>
                <a:spcPts val="95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Coping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decreasing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cycle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takes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accomplish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some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recurring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activity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function,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e.g.,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making</a:t>
            </a:r>
            <a:r>
              <a:rPr sz="2400" spc="-10" dirty="0">
                <a:latin typeface="Arial"/>
                <a:cs typeface="Arial"/>
              </a:rPr>
              <a:t> deliveries, </a:t>
            </a:r>
            <a:r>
              <a:rPr sz="2400" dirty="0">
                <a:latin typeface="Arial"/>
                <a:cs typeface="Arial"/>
              </a:rPr>
              <a:t>processing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credit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payments)</a:t>
            </a:r>
            <a:endParaRPr sz="2400">
              <a:latin typeface="Arial"/>
              <a:cs typeface="Arial"/>
            </a:endParaRPr>
          </a:p>
          <a:p>
            <a:pPr marL="475615" indent="-463550">
              <a:lnSpc>
                <a:spcPct val="100000"/>
              </a:lnSpc>
              <a:spcBef>
                <a:spcPts val="690"/>
              </a:spcBef>
              <a:buClr>
                <a:srgbClr val="004978"/>
              </a:buClr>
              <a:buChar char="•"/>
              <a:tabLst>
                <a:tab pos="475615" algn="l"/>
                <a:tab pos="476250" algn="l"/>
              </a:tabLst>
            </a:pPr>
            <a:r>
              <a:rPr sz="2600" dirty="0">
                <a:latin typeface="Arial"/>
                <a:cs typeface="Arial"/>
              </a:rPr>
              <a:t>Information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technology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 social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media</a:t>
            </a:r>
            <a:endParaRPr sz="2600">
              <a:latin typeface="Arial"/>
              <a:cs typeface="Arial"/>
            </a:endParaRPr>
          </a:p>
          <a:p>
            <a:pPr marL="927100" marR="1259205" lvl="1" indent="-449580">
              <a:lnSpc>
                <a:spcPts val="2590"/>
              </a:lnSpc>
              <a:spcBef>
                <a:spcPts val="104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Advantages: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leaner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flexible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organizations,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increased </a:t>
            </a:r>
            <a:r>
              <a:rPr sz="2400" dirty="0">
                <a:latin typeface="Arial"/>
                <a:cs typeface="Arial"/>
              </a:rPr>
              <a:t>collaboration,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improved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management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processes/systems</a:t>
            </a:r>
            <a:endParaRPr sz="2400">
              <a:latin typeface="Arial"/>
              <a:cs typeface="Arial"/>
            </a:endParaRPr>
          </a:p>
          <a:p>
            <a:pPr marL="927100" marR="666750" lvl="1" indent="-449580">
              <a:lnSpc>
                <a:spcPts val="2590"/>
              </a:lnSpc>
              <a:spcBef>
                <a:spcPts val="100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Disadvantages: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less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personal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communication,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less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“down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time,”</a:t>
            </a:r>
            <a:r>
              <a:rPr sz="2400" spc="-25" dirty="0">
                <a:latin typeface="Arial"/>
                <a:cs typeface="Arial"/>
              </a:rPr>
              <a:t> an </a:t>
            </a:r>
            <a:r>
              <a:rPr sz="2400" dirty="0">
                <a:latin typeface="Arial"/>
                <a:cs typeface="Arial"/>
              </a:rPr>
              <a:t>increased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sense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communication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decision-</a:t>
            </a:r>
            <a:r>
              <a:rPr sz="2400" dirty="0">
                <a:latin typeface="Arial"/>
                <a:cs typeface="Arial"/>
              </a:rPr>
              <a:t>making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urgency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038" y="285064"/>
            <a:ext cx="9043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Ethics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Corporate</a:t>
            </a:r>
            <a:r>
              <a:rPr spc="-5" dirty="0"/>
              <a:t> </a:t>
            </a:r>
            <a:r>
              <a:rPr dirty="0"/>
              <a:t>Governance</a:t>
            </a:r>
            <a:r>
              <a:rPr spc="-25" dirty="0"/>
              <a:t> </a:t>
            </a:r>
            <a:r>
              <a:rPr dirty="0"/>
              <a:t>(1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29644"/>
            <a:ext cx="10344785" cy="427545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88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spc="-10" dirty="0">
                <a:latin typeface="Arial"/>
                <a:cs typeface="Arial"/>
              </a:rPr>
              <a:t>Ethics</a:t>
            </a:r>
            <a:endParaRPr sz="26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person’s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beliefs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regarding what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right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wrong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given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situation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Framing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ethical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issues</a:t>
            </a:r>
            <a:endParaRPr sz="2600">
              <a:latin typeface="Arial"/>
              <a:cs typeface="Arial"/>
            </a:endParaRPr>
          </a:p>
          <a:p>
            <a:pPr marL="927100" marR="557530" lvl="1" indent="-449580">
              <a:lnSpc>
                <a:spcPts val="2590"/>
              </a:lnSpc>
              <a:spcBef>
                <a:spcPts val="105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Treatment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employees (hiring,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firing,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wages,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working </a:t>
            </a:r>
            <a:r>
              <a:rPr sz="2400" spc="-10" dirty="0">
                <a:latin typeface="Arial"/>
                <a:cs typeface="Arial"/>
              </a:rPr>
              <a:t>conditions, </a:t>
            </a:r>
            <a:r>
              <a:rPr sz="2400" dirty="0">
                <a:latin typeface="Arial"/>
                <a:cs typeface="Arial"/>
              </a:rPr>
              <a:t>respect,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privacy)</a:t>
            </a:r>
            <a:endParaRPr sz="2400">
              <a:latin typeface="Arial"/>
              <a:cs typeface="Arial"/>
            </a:endParaRPr>
          </a:p>
          <a:p>
            <a:pPr marL="927100" marR="299720" lvl="1" indent="-449580">
              <a:lnSpc>
                <a:spcPts val="2590"/>
              </a:lnSpc>
              <a:spcBef>
                <a:spcPts val="100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How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employees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treat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(conflicts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secrecy, confidentiality,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personal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internet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unacceptable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absenteeism)</a:t>
            </a:r>
            <a:endParaRPr sz="2400">
              <a:latin typeface="Arial"/>
              <a:cs typeface="Arial"/>
            </a:endParaRPr>
          </a:p>
          <a:p>
            <a:pPr marL="927100" marR="5080" lvl="1" indent="-449580">
              <a:lnSpc>
                <a:spcPts val="2590"/>
              </a:lnSpc>
              <a:spcBef>
                <a:spcPts val="100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Treatment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economic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agents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(customers,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competitors,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stockholders, </a:t>
            </a:r>
            <a:r>
              <a:rPr sz="2400" dirty="0">
                <a:latin typeface="Arial"/>
                <a:cs typeface="Arial"/>
              </a:rPr>
              <a:t>suppliers,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dealers,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unions)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68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spc="-10" dirty="0">
                <a:latin typeface="Arial"/>
                <a:cs typeface="Arial"/>
              </a:rPr>
              <a:t>Variations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ethical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legal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business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practices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across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countries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0834" y="374650"/>
            <a:ext cx="3910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Managerial</a:t>
            </a:r>
            <a:r>
              <a:rPr spc="-190" dirty="0"/>
              <a:t> </a:t>
            </a:r>
            <a:r>
              <a:rPr spc="-10" dirty="0"/>
              <a:t>Ethics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401" y="1364995"/>
            <a:ext cx="5163820" cy="412877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2.3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Managers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face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variety of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ethical </a:t>
            </a:r>
            <a:r>
              <a:rPr sz="2400" dirty="0">
                <a:latin typeface="Arial"/>
                <a:cs typeface="Arial"/>
              </a:rPr>
              <a:t>situations. In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most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cases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these </a:t>
            </a:r>
            <a:r>
              <a:rPr sz="2400" dirty="0">
                <a:latin typeface="Arial"/>
                <a:cs typeface="Arial"/>
              </a:rPr>
              <a:t>situations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involve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organization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treats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employees,</a:t>
            </a:r>
            <a:r>
              <a:rPr sz="2400" spc="2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employees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treat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r>
              <a:rPr sz="2400" spc="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employees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organizations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treat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economic agents.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9379" y="1328927"/>
            <a:ext cx="5126735" cy="48478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038" y="285064"/>
            <a:ext cx="9043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Ethics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Corporate</a:t>
            </a:r>
            <a:r>
              <a:rPr spc="-5" dirty="0"/>
              <a:t> </a:t>
            </a:r>
            <a:r>
              <a:rPr dirty="0"/>
              <a:t>Governance</a:t>
            </a:r>
            <a:r>
              <a:rPr spc="-25" dirty="0"/>
              <a:t> </a:t>
            </a:r>
            <a:r>
              <a:rPr dirty="0"/>
              <a:t>(2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29644"/>
            <a:ext cx="10341610" cy="39738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88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dirty="0">
                <a:latin typeface="Arial"/>
                <a:cs typeface="Arial"/>
              </a:rPr>
              <a:t>Corporate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governance</a:t>
            </a:r>
            <a:endParaRPr sz="26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Refers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oversight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public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corporation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board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0" dirty="0">
                <a:latin typeface="Arial"/>
                <a:cs typeface="Arial"/>
              </a:rPr>
              <a:t> directors</a:t>
            </a:r>
            <a:endParaRPr sz="2400">
              <a:latin typeface="Arial"/>
              <a:cs typeface="Arial"/>
            </a:endParaRPr>
          </a:p>
          <a:p>
            <a:pPr marL="475615" indent="-463550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•"/>
              <a:tabLst>
                <a:tab pos="475615" algn="l"/>
                <a:tab pos="476250" algn="l"/>
              </a:tabLst>
            </a:pPr>
            <a:r>
              <a:rPr sz="2600" dirty="0">
                <a:latin typeface="Arial"/>
                <a:cs typeface="Arial"/>
              </a:rPr>
              <a:t>Governance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issues</a:t>
            </a:r>
            <a:endParaRPr sz="2600">
              <a:latin typeface="Arial"/>
              <a:cs typeface="Arial"/>
            </a:endParaRPr>
          </a:p>
          <a:p>
            <a:pPr marL="927100" marR="1426845" lvl="1" indent="-449580">
              <a:lnSpc>
                <a:spcPts val="2590"/>
              </a:lnSpc>
              <a:spcBef>
                <a:spcPts val="105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Proper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management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business 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best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interests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shareholders and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stakeholders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Independence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board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business</a:t>
            </a:r>
            <a:endParaRPr sz="2400">
              <a:latin typeface="Arial"/>
              <a:cs typeface="Arial"/>
            </a:endParaRPr>
          </a:p>
          <a:p>
            <a:pPr marL="481965" indent="-469900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dirty="0">
                <a:latin typeface="Arial"/>
                <a:cs typeface="Arial"/>
              </a:rPr>
              <a:t>Ethical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Issues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 Information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Technology</a:t>
            </a:r>
            <a:endParaRPr sz="2600">
              <a:latin typeface="Arial"/>
              <a:cs typeface="Arial"/>
            </a:endParaRPr>
          </a:p>
          <a:p>
            <a:pPr marL="927100" marR="728345" lvl="1" indent="-449580">
              <a:lnSpc>
                <a:spcPts val="2590"/>
              </a:lnSpc>
              <a:spcBef>
                <a:spcPts val="106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individual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rights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privacy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potential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abuse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information </a:t>
            </a:r>
            <a:r>
              <a:rPr sz="2400" dirty="0">
                <a:latin typeface="Arial"/>
                <a:cs typeface="Arial"/>
              </a:rPr>
              <a:t>technology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companies.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4038" y="285064"/>
            <a:ext cx="9043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Ethics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Corporate</a:t>
            </a:r>
            <a:r>
              <a:rPr spc="-5" dirty="0"/>
              <a:t> </a:t>
            </a:r>
            <a:r>
              <a:rPr dirty="0"/>
              <a:t>Governance</a:t>
            </a:r>
            <a:r>
              <a:rPr spc="-25" dirty="0"/>
              <a:t> </a:t>
            </a:r>
            <a:r>
              <a:rPr dirty="0"/>
              <a:t>(3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29644"/>
            <a:ext cx="10690225" cy="320802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88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dirty="0">
                <a:latin typeface="Arial"/>
                <a:cs typeface="Arial"/>
              </a:rPr>
              <a:t>Social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responsibility</a:t>
            </a:r>
            <a:endParaRPr sz="2600">
              <a:latin typeface="Arial"/>
              <a:cs typeface="Arial"/>
            </a:endParaRPr>
          </a:p>
          <a:p>
            <a:pPr marL="927100" marR="922019" lvl="1" indent="-449580">
              <a:lnSpc>
                <a:spcPts val="2590"/>
              </a:lnSpc>
              <a:spcBef>
                <a:spcPts val="104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Businesses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living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working together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common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good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valuing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human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dignity</a:t>
            </a:r>
            <a:endParaRPr sz="2400">
              <a:latin typeface="Arial"/>
              <a:cs typeface="Arial"/>
            </a:endParaRPr>
          </a:p>
          <a:p>
            <a:pPr marL="927100" marR="5080" lvl="1" indent="-449580">
              <a:lnSpc>
                <a:spcPts val="2590"/>
              </a:lnSpc>
              <a:spcBef>
                <a:spcPts val="100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have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lasting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effects,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social responsibility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efforts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should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integrated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into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culture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organization</a:t>
            </a:r>
            <a:endParaRPr sz="2400">
              <a:latin typeface="Arial"/>
              <a:cs typeface="Arial"/>
            </a:endParaRPr>
          </a:p>
          <a:p>
            <a:pPr marL="927100" marR="265430" lvl="1" indent="-449580">
              <a:lnSpc>
                <a:spcPts val="2590"/>
              </a:lnSpc>
              <a:spcBef>
                <a:spcPts val="101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International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Standardization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(ISO)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variety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standards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help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gain </a:t>
            </a:r>
            <a:r>
              <a:rPr sz="2400" spc="-10" dirty="0">
                <a:latin typeface="Arial"/>
                <a:cs typeface="Arial"/>
              </a:rPr>
              <a:t>international </a:t>
            </a:r>
            <a:r>
              <a:rPr sz="2400" dirty="0">
                <a:latin typeface="Arial"/>
                <a:cs typeface="Arial"/>
              </a:rPr>
              <a:t>acceptance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their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practices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outcomes.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2638" y="285064"/>
            <a:ext cx="8585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New</a:t>
            </a:r>
            <a:r>
              <a:rPr spc="-15" dirty="0"/>
              <a:t> </a:t>
            </a:r>
            <a:r>
              <a:rPr dirty="0"/>
              <a:t>Employment</a:t>
            </a:r>
            <a:r>
              <a:rPr spc="-10" dirty="0"/>
              <a:t> </a:t>
            </a:r>
            <a:r>
              <a:rPr dirty="0"/>
              <a:t>Relationships</a:t>
            </a:r>
            <a:r>
              <a:rPr spc="-15" dirty="0"/>
              <a:t> </a:t>
            </a:r>
            <a:r>
              <a:rPr dirty="0"/>
              <a:t>(1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5" dirty="0"/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48336"/>
            <a:ext cx="10292080" cy="44450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100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dirty="0">
                <a:latin typeface="Arial"/>
                <a:cs typeface="Arial"/>
              </a:rPr>
              <a:t>Management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knowledge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workers</a:t>
            </a:r>
            <a:endParaRPr sz="2600">
              <a:latin typeface="Arial"/>
              <a:cs typeface="Arial"/>
            </a:endParaRPr>
          </a:p>
          <a:p>
            <a:pPr marL="927100" marR="5080" lvl="1" indent="-451484">
              <a:lnSpc>
                <a:spcPts val="2380"/>
              </a:lnSpc>
              <a:spcBef>
                <a:spcPts val="104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200" dirty="0">
                <a:latin typeface="Arial"/>
                <a:cs typeface="Arial"/>
              </a:rPr>
              <a:t>Those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employees</a:t>
            </a:r>
            <a:r>
              <a:rPr sz="2200" spc="-4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who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add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value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organization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simply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because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what </a:t>
            </a:r>
            <a:r>
              <a:rPr sz="2200" dirty="0">
                <a:latin typeface="Arial"/>
                <a:cs typeface="Arial"/>
              </a:rPr>
              <a:t>they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know</a:t>
            </a:r>
            <a:endParaRPr sz="2200">
              <a:latin typeface="Arial"/>
              <a:cs typeface="Arial"/>
            </a:endParaRPr>
          </a:p>
          <a:p>
            <a:pPr marL="1390015" lvl="2" indent="-463550">
              <a:lnSpc>
                <a:spcPts val="2510"/>
              </a:lnSpc>
              <a:spcBef>
                <a:spcPts val="69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200" dirty="0">
                <a:latin typeface="Arial"/>
                <a:cs typeface="Arial"/>
              </a:rPr>
              <a:t>Examples: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computer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scientists,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physical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scientists,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engineers,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product</a:t>
            </a:r>
            <a:endParaRPr sz="2200">
              <a:latin typeface="Arial"/>
              <a:cs typeface="Arial"/>
            </a:endParaRPr>
          </a:p>
          <a:p>
            <a:pPr marL="1390015">
              <a:lnSpc>
                <a:spcPts val="2510"/>
              </a:lnSpc>
            </a:pPr>
            <a:r>
              <a:rPr sz="2200" dirty="0">
                <a:latin typeface="Arial"/>
                <a:cs typeface="Arial"/>
              </a:rPr>
              <a:t>designers,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video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game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developers</a:t>
            </a:r>
            <a:endParaRPr sz="2200">
              <a:latin typeface="Arial"/>
              <a:cs typeface="Arial"/>
            </a:endParaRPr>
          </a:p>
          <a:p>
            <a:pPr marL="475615" indent="-463550">
              <a:lnSpc>
                <a:spcPct val="100000"/>
              </a:lnSpc>
              <a:spcBef>
                <a:spcPts val="730"/>
              </a:spcBef>
              <a:buClr>
                <a:srgbClr val="004978"/>
              </a:buClr>
              <a:buChar char="•"/>
              <a:tabLst>
                <a:tab pos="475615" algn="l"/>
                <a:tab pos="476250" algn="l"/>
              </a:tabLst>
            </a:pPr>
            <a:r>
              <a:rPr sz="2200" dirty="0">
                <a:latin typeface="Arial"/>
                <a:cs typeface="Arial"/>
              </a:rPr>
              <a:t>Knowledge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worker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employment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issues</a:t>
            </a:r>
            <a:endParaRPr sz="2200">
              <a:latin typeface="Arial"/>
              <a:cs typeface="Arial"/>
            </a:endParaRPr>
          </a:p>
          <a:p>
            <a:pPr marL="927100" lvl="1" indent="-451484">
              <a:lnSpc>
                <a:spcPct val="100000"/>
              </a:lnSpc>
              <a:spcBef>
                <a:spcPts val="74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200" dirty="0">
                <a:latin typeface="Arial"/>
                <a:cs typeface="Arial"/>
              </a:rPr>
              <a:t>Unique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working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arrangements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and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performance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motivation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requirements</a:t>
            </a:r>
            <a:endParaRPr sz="2200">
              <a:latin typeface="Arial"/>
              <a:cs typeface="Arial"/>
            </a:endParaRPr>
          </a:p>
          <a:p>
            <a:pPr marL="1390015" lvl="2" indent="-463550">
              <a:lnSpc>
                <a:spcPts val="2510"/>
              </a:lnSpc>
              <a:spcBef>
                <a:spcPts val="735"/>
              </a:spcBef>
              <a:buClr>
                <a:srgbClr val="004978"/>
              </a:buClr>
              <a:buFont typeface="Wingdings"/>
              <a:buChar char=""/>
              <a:tabLst>
                <a:tab pos="1390015" algn="l"/>
                <a:tab pos="1390650" algn="l"/>
              </a:tabLst>
            </a:pPr>
            <a:r>
              <a:rPr sz="2200" dirty="0">
                <a:latin typeface="Arial"/>
                <a:cs typeface="Arial"/>
              </a:rPr>
              <a:t>Autonomous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work,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strong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identification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with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professional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standard,</a:t>
            </a:r>
            <a:endParaRPr sz="2200">
              <a:latin typeface="Arial"/>
              <a:cs typeface="Arial"/>
            </a:endParaRPr>
          </a:p>
          <a:p>
            <a:pPr marL="1390015">
              <a:lnSpc>
                <a:spcPts val="2510"/>
              </a:lnSpc>
            </a:pPr>
            <a:r>
              <a:rPr sz="2200" dirty="0">
                <a:latin typeface="Arial"/>
                <a:cs typeface="Arial"/>
              </a:rPr>
              <a:t>continual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updating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of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skills</a:t>
            </a:r>
            <a:endParaRPr sz="2200">
              <a:latin typeface="Arial"/>
              <a:cs typeface="Arial"/>
            </a:endParaRPr>
          </a:p>
          <a:p>
            <a:pPr marL="450850" marR="2245360" lvl="1" indent="-450850" algn="r">
              <a:lnSpc>
                <a:spcPct val="100000"/>
              </a:lnSpc>
              <a:spcBef>
                <a:spcPts val="730"/>
              </a:spcBef>
              <a:buClr>
                <a:srgbClr val="004978"/>
              </a:buClr>
              <a:buChar char="–"/>
              <a:tabLst>
                <a:tab pos="450850" algn="l"/>
                <a:tab pos="927100" algn="l"/>
              </a:tabLst>
            </a:pPr>
            <a:r>
              <a:rPr sz="2200" dirty="0">
                <a:latin typeface="Arial"/>
                <a:cs typeface="Arial"/>
              </a:rPr>
              <a:t>Specifically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(individually)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tailored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compensation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packages</a:t>
            </a:r>
            <a:endParaRPr sz="2200">
              <a:latin typeface="Arial"/>
              <a:cs typeface="Arial"/>
            </a:endParaRPr>
          </a:p>
          <a:p>
            <a:pPr marL="462915" marR="2263775" lvl="2" indent="-463550" algn="r">
              <a:lnSpc>
                <a:spcPct val="100000"/>
              </a:lnSpc>
              <a:spcBef>
                <a:spcPts val="745"/>
              </a:spcBef>
              <a:buClr>
                <a:srgbClr val="004978"/>
              </a:buClr>
              <a:buFont typeface="Wingdings"/>
              <a:buChar char=""/>
              <a:tabLst>
                <a:tab pos="462915" algn="l"/>
                <a:tab pos="463550" algn="l"/>
              </a:tabLst>
            </a:pPr>
            <a:r>
              <a:rPr sz="2200" dirty="0">
                <a:latin typeface="Arial"/>
                <a:cs typeface="Arial"/>
              </a:rPr>
              <a:t>Growth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opportunities,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profit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sharing,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less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bureaucracy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2638" y="285064"/>
            <a:ext cx="8585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New</a:t>
            </a:r>
            <a:r>
              <a:rPr spc="-15" dirty="0"/>
              <a:t> </a:t>
            </a:r>
            <a:r>
              <a:rPr dirty="0"/>
              <a:t>Employment</a:t>
            </a:r>
            <a:r>
              <a:rPr spc="-10" dirty="0"/>
              <a:t> </a:t>
            </a:r>
            <a:r>
              <a:rPr dirty="0"/>
              <a:t>Relationships</a:t>
            </a:r>
            <a:r>
              <a:rPr spc="-15" dirty="0"/>
              <a:t> </a:t>
            </a:r>
            <a:r>
              <a:rPr dirty="0"/>
              <a:t>(2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5" dirty="0"/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29644"/>
            <a:ext cx="10648315" cy="47586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88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spc="-10" dirty="0">
                <a:latin typeface="Arial"/>
                <a:cs typeface="Arial"/>
              </a:rPr>
              <a:t>Outsourcing</a:t>
            </a:r>
            <a:endParaRPr sz="2600">
              <a:latin typeface="Arial"/>
              <a:cs typeface="Arial"/>
            </a:endParaRPr>
          </a:p>
          <a:p>
            <a:pPr marL="927100" marR="5080" lvl="1" indent="-449580">
              <a:lnSpc>
                <a:spcPts val="2590"/>
              </a:lnSpc>
              <a:spcBef>
                <a:spcPts val="104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practice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hiring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firms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previously performed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organization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itself;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moved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overseas,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often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called offshoring</a:t>
            </a:r>
            <a:endParaRPr sz="2400">
              <a:latin typeface="Arial"/>
              <a:cs typeface="Arial"/>
            </a:endParaRPr>
          </a:p>
          <a:p>
            <a:pPr marL="475615" indent="-463550">
              <a:lnSpc>
                <a:spcPct val="100000"/>
              </a:lnSpc>
              <a:spcBef>
                <a:spcPts val="645"/>
              </a:spcBef>
              <a:buClr>
                <a:srgbClr val="004978"/>
              </a:buClr>
              <a:buChar char="•"/>
              <a:tabLst>
                <a:tab pos="475615" algn="l"/>
                <a:tab pos="476250" algn="l"/>
              </a:tabLst>
            </a:pPr>
            <a:r>
              <a:rPr sz="2600" dirty="0">
                <a:latin typeface="Arial"/>
                <a:cs typeface="Arial"/>
              </a:rPr>
              <a:t>Advantages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10" dirty="0">
                <a:latin typeface="Arial"/>
                <a:cs typeface="Arial"/>
              </a:rPr>
              <a:t> outsourcing</a:t>
            </a:r>
            <a:endParaRPr sz="26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3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Helps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firms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focus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core</a:t>
            </a:r>
            <a:r>
              <a:rPr sz="2400" spc="-10" dirty="0">
                <a:latin typeface="Arial"/>
                <a:cs typeface="Arial"/>
              </a:rPr>
              <a:t> activities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1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Lowers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costs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through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exportation of</a:t>
            </a:r>
            <a:r>
              <a:rPr sz="2400" spc="-20" dirty="0">
                <a:latin typeface="Arial"/>
                <a:cs typeface="Arial"/>
              </a:rPr>
              <a:t> work</a:t>
            </a:r>
            <a:endParaRPr sz="2400">
              <a:latin typeface="Arial"/>
              <a:cs typeface="Arial"/>
            </a:endParaRPr>
          </a:p>
          <a:p>
            <a:pPr marL="475615" indent="-463550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•"/>
              <a:tabLst>
                <a:tab pos="475615" algn="l"/>
                <a:tab pos="476250" algn="l"/>
              </a:tabLst>
            </a:pPr>
            <a:r>
              <a:rPr sz="2600" dirty="0">
                <a:latin typeface="Arial"/>
                <a:cs typeface="Arial"/>
              </a:rPr>
              <a:t>Disadvantages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3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outsourcing</a:t>
            </a:r>
            <a:endParaRPr sz="2600">
              <a:latin typeface="Arial"/>
              <a:cs typeface="Arial"/>
            </a:endParaRPr>
          </a:p>
          <a:p>
            <a:pPr marL="927100" marR="365760" lvl="1" indent="-449580">
              <a:lnSpc>
                <a:spcPts val="2590"/>
              </a:lnSpc>
              <a:spcBef>
                <a:spcPts val="105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Disaffected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employees: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out-of-job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used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train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newly </a:t>
            </a:r>
            <a:r>
              <a:rPr sz="2400" dirty="0">
                <a:latin typeface="Arial"/>
                <a:cs typeface="Arial"/>
              </a:rPr>
              <a:t>hired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foreign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replacements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Reduction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domestic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opportunities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2638" y="285064"/>
            <a:ext cx="8585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New</a:t>
            </a:r>
            <a:r>
              <a:rPr spc="-15" dirty="0"/>
              <a:t> </a:t>
            </a:r>
            <a:r>
              <a:rPr dirty="0"/>
              <a:t>Employment</a:t>
            </a:r>
            <a:r>
              <a:rPr spc="-10" dirty="0"/>
              <a:t> </a:t>
            </a:r>
            <a:r>
              <a:rPr dirty="0"/>
              <a:t>Relationships</a:t>
            </a:r>
            <a:r>
              <a:rPr spc="-15" dirty="0"/>
              <a:t> </a:t>
            </a:r>
            <a:r>
              <a:rPr dirty="0"/>
              <a:t>(3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5" dirty="0"/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29644"/>
            <a:ext cx="6598284" cy="33147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88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spc="-10" dirty="0">
                <a:latin typeface="Arial"/>
                <a:cs typeface="Arial"/>
              </a:rPr>
              <a:t>Offshoring</a:t>
            </a:r>
            <a:endParaRPr sz="26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Outsourcing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workers in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another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country</a:t>
            </a:r>
            <a:endParaRPr sz="2400">
              <a:latin typeface="Arial"/>
              <a:cs typeface="Arial"/>
            </a:endParaRPr>
          </a:p>
          <a:p>
            <a:pPr marL="475615" indent="-463550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•"/>
              <a:tabLst>
                <a:tab pos="475615" algn="l"/>
                <a:tab pos="476250" algn="l"/>
              </a:tabLst>
            </a:pPr>
            <a:r>
              <a:rPr sz="2600" dirty="0">
                <a:latin typeface="Arial"/>
                <a:cs typeface="Arial"/>
              </a:rPr>
              <a:t>Advantages</a:t>
            </a:r>
            <a:r>
              <a:rPr sz="2600" spc="-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offshoring</a:t>
            </a:r>
            <a:endParaRPr sz="26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3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Lower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labor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costs</a:t>
            </a:r>
            <a:endParaRPr sz="2400">
              <a:latin typeface="Arial"/>
              <a:cs typeface="Arial"/>
            </a:endParaRPr>
          </a:p>
          <a:p>
            <a:pPr marL="475615" indent="-463550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•"/>
              <a:tabLst>
                <a:tab pos="475615" algn="l"/>
                <a:tab pos="476250" algn="l"/>
              </a:tabLst>
            </a:pPr>
            <a:r>
              <a:rPr sz="2600" dirty="0">
                <a:latin typeface="Arial"/>
                <a:cs typeface="Arial"/>
              </a:rPr>
              <a:t>Disadvantages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offshoring</a:t>
            </a:r>
            <a:endParaRPr sz="26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Results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home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country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2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Controversial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issue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2638" y="285064"/>
            <a:ext cx="8585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New</a:t>
            </a:r>
            <a:r>
              <a:rPr spc="-15" dirty="0"/>
              <a:t> </a:t>
            </a:r>
            <a:r>
              <a:rPr dirty="0"/>
              <a:t>Employment</a:t>
            </a:r>
            <a:r>
              <a:rPr spc="-10" dirty="0"/>
              <a:t> </a:t>
            </a:r>
            <a:r>
              <a:rPr dirty="0"/>
              <a:t>Relationships</a:t>
            </a:r>
            <a:r>
              <a:rPr spc="-15" dirty="0"/>
              <a:t> </a:t>
            </a:r>
            <a:r>
              <a:rPr dirty="0"/>
              <a:t>(4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5" dirty="0"/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29644"/>
            <a:ext cx="10359390" cy="48056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88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spc="-50" dirty="0">
                <a:latin typeface="Arial"/>
                <a:cs typeface="Arial"/>
              </a:rPr>
              <a:t>Temp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contingency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workers</a:t>
            </a:r>
            <a:endParaRPr sz="2600">
              <a:latin typeface="Arial"/>
              <a:cs typeface="Arial"/>
            </a:endParaRPr>
          </a:p>
          <a:p>
            <a:pPr marL="927100" marR="5080" lvl="1" indent="-449580">
              <a:lnSpc>
                <a:spcPts val="2590"/>
              </a:lnSpc>
              <a:spcBef>
                <a:spcPts val="104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Work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something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permanent or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full- </a:t>
            </a:r>
            <a:r>
              <a:rPr sz="2400" dirty="0">
                <a:latin typeface="Arial"/>
                <a:cs typeface="Arial"/>
              </a:rPr>
              <a:t>time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basis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independent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contractors,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on-call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workers,</a:t>
            </a:r>
            <a:r>
              <a:rPr sz="2400" spc="-10" dirty="0">
                <a:latin typeface="Arial"/>
                <a:cs typeface="Arial"/>
              </a:rPr>
              <a:t> temporary </a:t>
            </a:r>
            <a:r>
              <a:rPr sz="2400" dirty="0">
                <a:latin typeface="Arial"/>
                <a:cs typeface="Arial"/>
              </a:rPr>
              <a:t>employees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(usually hired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through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outside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agencies),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contract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leased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employees</a:t>
            </a:r>
            <a:endParaRPr sz="2400">
              <a:latin typeface="Arial"/>
              <a:cs typeface="Arial"/>
            </a:endParaRPr>
          </a:p>
          <a:p>
            <a:pPr marL="927100" marR="1103630" lvl="1" indent="-449580">
              <a:lnSpc>
                <a:spcPts val="2590"/>
              </a:lnSpc>
              <a:spcBef>
                <a:spcPts val="101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contingent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worker: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 </a:t>
            </a:r>
            <a:r>
              <a:rPr sz="2400" spc="-25" dirty="0">
                <a:latin typeface="Arial"/>
                <a:cs typeface="Arial"/>
              </a:rPr>
              <a:t>on </a:t>
            </a:r>
            <a:r>
              <a:rPr sz="2400" dirty="0">
                <a:latin typeface="Arial"/>
                <a:cs typeface="Arial"/>
              </a:rPr>
              <a:t>something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permanent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full-time </a:t>
            </a:r>
            <a:r>
              <a:rPr sz="2400" spc="-10" dirty="0">
                <a:latin typeface="Arial"/>
                <a:cs typeface="Arial"/>
              </a:rPr>
              <a:t>basis</a:t>
            </a:r>
            <a:endParaRPr sz="2400">
              <a:latin typeface="Arial"/>
              <a:cs typeface="Arial"/>
            </a:endParaRPr>
          </a:p>
          <a:p>
            <a:pPr marL="481965" indent="-469900">
              <a:lnSpc>
                <a:spcPct val="100000"/>
              </a:lnSpc>
              <a:spcBef>
                <a:spcPts val="65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dirty="0">
                <a:latin typeface="Arial"/>
                <a:cs typeface="Arial"/>
              </a:rPr>
              <a:t>Tiered</a:t>
            </a:r>
            <a:r>
              <a:rPr sz="2600" spc="-1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workforce</a:t>
            </a:r>
            <a:endParaRPr sz="2600">
              <a:latin typeface="Arial"/>
              <a:cs typeface="Arial"/>
            </a:endParaRPr>
          </a:p>
          <a:p>
            <a:pPr marL="927100" marR="311785" lvl="1" indent="-449580">
              <a:lnSpc>
                <a:spcPct val="90000"/>
              </a:lnSpc>
              <a:spcBef>
                <a:spcPts val="100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When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group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organization’s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workforce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contractual </a:t>
            </a:r>
            <a:r>
              <a:rPr sz="2400" dirty="0">
                <a:latin typeface="Arial"/>
                <a:cs typeface="Arial"/>
              </a:rPr>
              <a:t>arrangement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 objectively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another </a:t>
            </a:r>
            <a:r>
              <a:rPr sz="2400" dirty="0">
                <a:latin typeface="Arial"/>
                <a:cs typeface="Arial"/>
              </a:rPr>
              <a:t>group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performing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same</a:t>
            </a:r>
            <a:r>
              <a:rPr sz="2400" spc="-20" dirty="0">
                <a:latin typeface="Arial"/>
                <a:cs typeface="Arial"/>
              </a:rPr>
              <a:t> jobs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71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Occurs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contracts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negotiated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times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2638" y="285064"/>
            <a:ext cx="8585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New</a:t>
            </a:r>
            <a:r>
              <a:rPr spc="-15" dirty="0"/>
              <a:t> </a:t>
            </a:r>
            <a:r>
              <a:rPr dirty="0"/>
              <a:t>Employment</a:t>
            </a:r>
            <a:r>
              <a:rPr spc="-10" dirty="0"/>
              <a:t> </a:t>
            </a:r>
            <a:r>
              <a:rPr dirty="0"/>
              <a:t>Relationships</a:t>
            </a:r>
            <a:r>
              <a:rPr spc="-15" dirty="0"/>
              <a:t> </a:t>
            </a:r>
            <a:r>
              <a:rPr dirty="0"/>
              <a:t>(5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5" dirty="0"/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29644"/>
            <a:ext cx="10714355" cy="28790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88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dirty="0">
                <a:latin typeface="Arial"/>
                <a:cs typeface="Arial"/>
              </a:rPr>
              <a:t>Psychological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contract</a:t>
            </a:r>
            <a:endParaRPr sz="2600">
              <a:latin typeface="Arial"/>
              <a:cs typeface="Arial"/>
            </a:endParaRPr>
          </a:p>
          <a:p>
            <a:pPr marL="927100" marR="5080" lvl="1" indent="-449580">
              <a:lnSpc>
                <a:spcPts val="2590"/>
              </a:lnSpc>
              <a:spcBef>
                <a:spcPts val="104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A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person’s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expectations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regarding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what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 contribute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an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what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organization,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return,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provide 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0" dirty="0">
                <a:latin typeface="Arial"/>
                <a:cs typeface="Arial"/>
              </a:rPr>
              <a:t>individual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Individuals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contribute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effort,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skills,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ability,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time,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loyalty</a:t>
            </a:r>
            <a:endParaRPr sz="2400">
              <a:latin typeface="Arial"/>
              <a:cs typeface="Arial"/>
            </a:endParaRPr>
          </a:p>
          <a:p>
            <a:pPr marL="927100" marR="596265" lvl="1" indent="-449580">
              <a:lnSpc>
                <a:spcPts val="2590"/>
              </a:lnSpc>
              <a:spcBef>
                <a:spcPts val="1050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Organizations provide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inducements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tangible/intangible rewards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129" y="374650"/>
            <a:ext cx="6045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10" dirty="0"/>
              <a:t> </a:t>
            </a:r>
            <a:r>
              <a:rPr spc="-10" dirty="0"/>
              <a:t>Psychological</a:t>
            </a:r>
            <a:r>
              <a:rPr spc="-95" dirty="0"/>
              <a:t> </a:t>
            </a:r>
            <a:r>
              <a:rPr spc="-10" dirty="0"/>
              <a:t>Contract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401" y="1102613"/>
            <a:ext cx="10319385" cy="193421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dirty="0">
                <a:latin typeface="Arial"/>
                <a:cs typeface="Arial"/>
              </a:rPr>
              <a:t>Figure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2.4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Psychological contracts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govern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basic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relationship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between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people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organizations.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Individuals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contribute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such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things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effort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loyalty.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turn, </a:t>
            </a:r>
            <a:r>
              <a:rPr sz="2400" dirty="0">
                <a:latin typeface="Arial"/>
                <a:cs typeface="Arial"/>
              </a:rPr>
              <a:t>organizations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offer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such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inducements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job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security.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2051" y="3357192"/>
            <a:ext cx="6870192" cy="28104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7566" y="285064"/>
            <a:ext cx="89744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Organizational</a:t>
            </a:r>
            <a:r>
              <a:rPr spc="-10" dirty="0"/>
              <a:t> </a:t>
            </a:r>
            <a:r>
              <a:rPr dirty="0"/>
              <a:t>Behavior</a:t>
            </a:r>
            <a:r>
              <a:rPr spc="-20" dirty="0"/>
              <a:t> </a:t>
            </a:r>
            <a:r>
              <a:rPr dirty="0"/>
              <a:t>in</a:t>
            </a:r>
            <a:r>
              <a:rPr spc="-140" dirty="0"/>
              <a:t> </a:t>
            </a:r>
            <a:r>
              <a:rPr dirty="0"/>
              <a:t>Action</a:t>
            </a:r>
            <a:r>
              <a:rPr spc="-20" dirty="0"/>
              <a:t> </a:t>
            </a:r>
            <a:r>
              <a:rPr dirty="0"/>
              <a:t>(1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1012" y="1129644"/>
            <a:ext cx="10627995" cy="477837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880"/>
              </a:spcBef>
              <a:buClr>
                <a:srgbClr val="004978"/>
              </a:buClr>
              <a:buChar char="•"/>
              <a:tabLst>
                <a:tab pos="481965" algn="l"/>
                <a:tab pos="482600" algn="l"/>
              </a:tabLst>
            </a:pPr>
            <a:r>
              <a:rPr sz="2600" dirty="0">
                <a:latin typeface="Arial"/>
                <a:cs typeface="Arial"/>
              </a:rPr>
              <a:t>After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reading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chapter:</a:t>
            </a:r>
            <a:endParaRPr sz="2600">
              <a:latin typeface="Arial"/>
              <a:cs typeface="Arial"/>
            </a:endParaRPr>
          </a:p>
          <a:p>
            <a:pPr marL="927100" marR="508634" lvl="1" indent="-449580">
              <a:lnSpc>
                <a:spcPts val="2590"/>
              </a:lnSpc>
              <a:spcBef>
                <a:spcPts val="104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Which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think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important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team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performance,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surface- </a:t>
            </a:r>
            <a:r>
              <a:rPr sz="2400" dirty="0">
                <a:latin typeface="Arial"/>
                <a:cs typeface="Arial"/>
              </a:rPr>
              <a:t>level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10" dirty="0">
                <a:latin typeface="Arial"/>
                <a:cs typeface="Arial"/>
              </a:rPr>
              <a:t> deep-</a:t>
            </a:r>
            <a:r>
              <a:rPr sz="2400" dirty="0">
                <a:latin typeface="Arial"/>
                <a:cs typeface="Arial"/>
              </a:rPr>
              <a:t>level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diversity?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Why?</a:t>
            </a:r>
            <a:endParaRPr sz="2400">
              <a:latin typeface="Arial"/>
              <a:cs typeface="Arial"/>
            </a:endParaRPr>
          </a:p>
          <a:p>
            <a:pPr marL="927100" lvl="1" indent="-450215">
              <a:lnSpc>
                <a:spcPct val="100000"/>
              </a:lnSpc>
              <a:spcBef>
                <a:spcPts val="67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How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diversity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create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competitive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advantage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firm?</a:t>
            </a:r>
            <a:endParaRPr sz="2400">
              <a:latin typeface="Arial"/>
              <a:cs typeface="Arial"/>
            </a:endParaRPr>
          </a:p>
          <a:p>
            <a:pPr marL="927100" marR="175895" lvl="1" indent="-449580">
              <a:lnSpc>
                <a:spcPct val="90100"/>
              </a:lnSpc>
              <a:spcBef>
                <a:spcPts val="100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If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subordinate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came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said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they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felt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company’s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new </a:t>
            </a:r>
            <a:r>
              <a:rPr sz="2400" dirty="0">
                <a:latin typeface="Arial"/>
                <a:cs typeface="Arial"/>
              </a:rPr>
              <a:t>diversity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hiring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initiative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unfair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compromise</a:t>
            </a:r>
            <a:r>
              <a:rPr sz="2400" spc="-10" dirty="0">
                <a:latin typeface="Arial"/>
                <a:cs typeface="Arial"/>
              </a:rPr>
              <a:t> their </a:t>
            </a:r>
            <a:r>
              <a:rPr sz="2400" dirty="0">
                <a:latin typeface="Arial"/>
                <a:cs typeface="Arial"/>
              </a:rPr>
              <a:t>welldeserved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opportunities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advancement,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would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respond?</a:t>
            </a:r>
            <a:endParaRPr sz="2400">
              <a:latin typeface="Arial"/>
              <a:cs typeface="Arial"/>
            </a:endParaRPr>
          </a:p>
          <a:p>
            <a:pPr marL="927100" marR="200025" lvl="1" indent="-449580">
              <a:lnSpc>
                <a:spcPct val="90000"/>
              </a:lnSpc>
              <a:spcBef>
                <a:spcPts val="994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leaders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effective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team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members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from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cultures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expectations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about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leader </a:t>
            </a:r>
            <a:r>
              <a:rPr sz="2400" dirty="0">
                <a:latin typeface="Arial"/>
                <a:cs typeface="Arial"/>
              </a:rPr>
              <a:t>should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behave?</a:t>
            </a:r>
            <a:endParaRPr sz="2400">
              <a:latin typeface="Arial"/>
              <a:cs typeface="Arial"/>
            </a:endParaRPr>
          </a:p>
          <a:p>
            <a:pPr marL="927100" marR="5080" lvl="1" indent="-449580">
              <a:lnSpc>
                <a:spcPts val="2590"/>
              </a:lnSpc>
              <a:spcBef>
                <a:spcPts val="1035"/>
              </a:spcBef>
              <a:buClr>
                <a:srgbClr val="004978"/>
              </a:buClr>
              <a:buChar char="–"/>
              <a:tabLst>
                <a:tab pos="926465" algn="l"/>
                <a:tab pos="927100" algn="l"/>
              </a:tabLst>
            </a:pPr>
            <a:r>
              <a:rPr sz="2400" dirty="0">
                <a:latin typeface="Arial"/>
                <a:cs typeface="Arial"/>
              </a:rPr>
              <a:t>Identify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least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three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ways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which 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globalization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business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affects </a:t>
            </a:r>
            <a:r>
              <a:rPr sz="2400" dirty="0">
                <a:latin typeface="Arial"/>
                <a:cs typeface="Arial"/>
              </a:rPr>
              <a:t>businesses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community.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7566" y="285064"/>
            <a:ext cx="89744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Organizational</a:t>
            </a:r>
            <a:r>
              <a:rPr spc="-10" dirty="0"/>
              <a:t> </a:t>
            </a:r>
            <a:r>
              <a:rPr dirty="0"/>
              <a:t>Behavior</a:t>
            </a:r>
            <a:r>
              <a:rPr spc="-20" dirty="0"/>
              <a:t> </a:t>
            </a:r>
            <a:r>
              <a:rPr dirty="0"/>
              <a:t>in</a:t>
            </a:r>
            <a:r>
              <a:rPr spc="-140" dirty="0"/>
              <a:t> </a:t>
            </a:r>
            <a:r>
              <a:rPr dirty="0"/>
              <a:t>Action</a:t>
            </a:r>
            <a:r>
              <a:rPr spc="-20" dirty="0"/>
              <a:t> </a:t>
            </a:r>
            <a:r>
              <a:rPr dirty="0"/>
              <a:t>(2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25" dirty="0"/>
              <a:t>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164" marR="5080" indent="-2070100">
              <a:lnSpc>
                <a:spcPct val="100000"/>
              </a:lnSpc>
            </a:pPr>
            <a:r>
              <a:rPr dirty="0"/>
              <a:t>Ricky</a:t>
            </a:r>
            <a:r>
              <a:rPr spc="-40" dirty="0"/>
              <a:t> </a:t>
            </a:r>
            <a:r>
              <a:rPr dirty="0"/>
              <a:t>W.</a:t>
            </a:r>
            <a:r>
              <a:rPr spc="-50" dirty="0"/>
              <a:t> </a:t>
            </a:r>
            <a:r>
              <a:rPr spc="-10" dirty="0"/>
              <a:t>Griffin/Jean</a:t>
            </a:r>
            <a:r>
              <a:rPr spc="-40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spc="-10" dirty="0"/>
              <a:t>Phillips/Stanley</a:t>
            </a:r>
            <a:r>
              <a:rPr spc="5" dirty="0"/>
              <a:t> </a:t>
            </a:r>
            <a:r>
              <a:rPr dirty="0"/>
              <a:t>M.</a:t>
            </a:r>
            <a:r>
              <a:rPr spc="-5" dirty="0"/>
              <a:t> </a:t>
            </a:r>
            <a:r>
              <a:rPr dirty="0"/>
              <a:t>Gully,</a:t>
            </a:r>
            <a:r>
              <a:rPr spc="15" dirty="0"/>
              <a:t> </a:t>
            </a:r>
            <a:r>
              <a:rPr spc="-10" dirty="0"/>
              <a:t>Organizational</a:t>
            </a:r>
            <a:r>
              <a:rPr dirty="0"/>
              <a:t> </a:t>
            </a:r>
            <a:r>
              <a:rPr spc="-10" dirty="0"/>
              <a:t>Behavior:</a:t>
            </a:r>
            <a:r>
              <a:rPr spc="-5" dirty="0"/>
              <a:t> </a:t>
            </a:r>
            <a:r>
              <a:rPr spc="-10" dirty="0"/>
              <a:t>Managing </a:t>
            </a:r>
            <a:r>
              <a:rPr dirty="0"/>
              <a:t>People</a:t>
            </a:r>
            <a:r>
              <a:rPr spc="-1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Organizations,</a:t>
            </a:r>
            <a:r>
              <a:rPr spc="5" dirty="0"/>
              <a:t> </a:t>
            </a:r>
            <a:r>
              <a:rPr dirty="0"/>
              <a:t>Twelfth</a:t>
            </a:r>
            <a:r>
              <a:rPr spc="-30" dirty="0"/>
              <a:t> </a:t>
            </a:r>
            <a:r>
              <a:rPr dirty="0"/>
              <a:t>Edition.</a:t>
            </a:r>
            <a:r>
              <a:rPr spc="-10" dirty="0"/>
              <a:t> </a:t>
            </a:r>
            <a:r>
              <a:rPr dirty="0"/>
              <a:t>©</a:t>
            </a:r>
            <a:r>
              <a:rPr spc="-5" dirty="0"/>
              <a:t> </a:t>
            </a:r>
            <a:r>
              <a:rPr dirty="0"/>
              <a:t>2017</a:t>
            </a:r>
            <a:r>
              <a:rPr spc="-30" dirty="0"/>
              <a:t> </a:t>
            </a:r>
            <a:r>
              <a:rPr spc="-10" dirty="0"/>
              <a:t>Cengage.</a:t>
            </a:r>
            <a:r>
              <a:rPr spc="-30" dirty="0"/>
              <a:t> </a:t>
            </a:r>
            <a:r>
              <a:rPr dirty="0"/>
              <a:t>All Rights</a:t>
            </a:r>
            <a:r>
              <a:rPr spc="-10" dirty="0"/>
              <a:t> Reserved.</a:t>
            </a:r>
            <a:r>
              <a:rPr spc="-15" dirty="0"/>
              <a:t> </a:t>
            </a:r>
            <a:r>
              <a:rPr spc="-25" dirty="0"/>
              <a:t>May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scanned,</a:t>
            </a:r>
            <a:r>
              <a:rPr spc="-50" dirty="0"/>
              <a:t> </a:t>
            </a:r>
            <a:r>
              <a:rPr dirty="0"/>
              <a:t>copied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spc="-10" dirty="0"/>
              <a:t>duplicated,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posted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publicly</a:t>
            </a:r>
            <a:r>
              <a:rPr spc="-5" dirty="0"/>
              <a:t> </a:t>
            </a:r>
            <a:r>
              <a:rPr spc="-10" dirty="0"/>
              <a:t>accessible</a:t>
            </a:r>
            <a:r>
              <a:rPr spc="-45" dirty="0"/>
              <a:t> </a:t>
            </a:r>
            <a:r>
              <a:rPr dirty="0"/>
              <a:t>website,</a:t>
            </a:r>
            <a:r>
              <a:rPr spc="-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whole</a:t>
            </a:r>
            <a:r>
              <a:rPr spc="-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part.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5832" y="1142873"/>
            <a:ext cx="10185400" cy="238061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462280" indent="-449580">
              <a:lnSpc>
                <a:spcPct val="100000"/>
              </a:lnSpc>
              <a:spcBef>
                <a:spcPts val="810"/>
              </a:spcBef>
              <a:buClr>
                <a:srgbClr val="004978"/>
              </a:buClr>
              <a:buChar char="–"/>
              <a:tabLst>
                <a:tab pos="461645" algn="l"/>
                <a:tab pos="462280" algn="l"/>
              </a:tabLst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roles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changing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technologies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daily </a:t>
            </a:r>
            <a:r>
              <a:rPr sz="2400" spc="-10" dirty="0">
                <a:latin typeface="Arial"/>
                <a:cs typeface="Arial"/>
              </a:rPr>
              <a:t>activities?</a:t>
            </a:r>
            <a:endParaRPr sz="2400">
              <a:latin typeface="Arial"/>
              <a:cs typeface="Arial"/>
            </a:endParaRPr>
          </a:p>
          <a:p>
            <a:pPr marL="462280" marR="410209" indent="-449580">
              <a:lnSpc>
                <a:spcPts val="2590"/>
              </a:lnSpc>
              <a:spcBef>
                <a:spcPts val="1035"/>
              </a:spcBef>
              <a:buClr>
                <a:srgbClr val="004978"/>
              </a:buClr>
              <a:buChar char="–"/>
              <a:tabLst>
                <a:tab pos="461645" algn="l"/>
                <a:tab pos="462280" algn="l"/>
              </a:tabLst>
            </a:pPr>
            <a:r>
              <a:rPr sz="2400" dirty="0">
                <a:latin typeface="Arial"/>
                <a:cs typeface="Arial"/>
              </a:rPr>
              <a:t>Do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 think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concerns regarding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ethics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become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more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less </a:t>
            </a:r>
            <a:r>
              <a:rPr sz="2400" dirty="0">
                <a:latin typeface="Arial"/>
                <a:cs typeface="Arial"/>
              </a:rPr>
              <a:t>important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business?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Why?</a:t>
            </a:r>
            <a:endParaRPr sz="2400">
              <a:latin typeface="Arial"/>
              <a:cs typeface="Arial"/>
            </a:endParaRPr>
          </a:p>
          <a:p>
            <a:pPr marL="462280" marR="5080" indent="-449580">
              <a:lnSpc>
                <a:spcPts val="2590"/>
              </a:lnSpc>
              <a:spcBef>
                <a:spcPts val="1000"/>
              </a:spcBef>
              <a:buClr>
                <a:srgbClr val="004978"/>
              </a:buClr>
              <a:buChar char="–"/>
              <a:tabLst>
                <a:tab pos="461645" algn="l"/>
                <a:tab pos="462280" algn="l"/>
              </a:tabLst>
            </a:pPr>
            <a:r>
              <a:rPr sz="2400" dirty="0">
                <a:latin typeface="Arial"/>
                <a:cs typeface="Arial"/>
              </a:rPr>
              <a:t>What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personal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opinions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about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international outsourcing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garment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industry?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think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lower prices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are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worth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sending </a:t>
            </a:r>
            <a:r>
              <a:rPr sz="2400" spc="-20" dirty="0">
                <a:latin typeface="Arial"/>
                <a:cs typeface="Arial"/>
              </a:rPr>
              <a:t>U.S. </a:t>
            </a:r>
            <a:r>
              <a:rPr sz="2400" dirty="0">
                <a:latin typeface="Arial"/>
                <a:cs typeface="Arial"/>
              </a:rPr>
              <a:t>jobs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countries?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Explain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answer.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4410</Words>
  <Application>Microsoft Office PowerPoint</Application>
  <PresentationFormat>Custom</PresentationFormat>
  <Paragraphs>348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PowerPoint Presentation</vt:lpstr>
      <vt:lpstr>Chapter Learning Objectives After studying this chapter, you should be able to:</vt:lpstr>
      <vt:lpstr>The Changing Environment of Business</vt:lpstr>
      <vt:lpstr>Diversity and Business (1 of 7)</vt:lpstr>
      <vt:lpstr>Diversity and Business (2 of 7)</vt:lpstr>
      <vt:lpstr>Table 2.1 Five Types of Diversity</vt:lpstr>
      <vt:lpstr>Diversity and Business (3 of 7)</vt:lpstr>
      <vt:lpstr>Projected Percentage Change in the U.S. Labor Force by Age from 2006 to 2016</vt:lpstr>
      <vt:lpstr>Diversity and Business (4 of 7)</vt:lpstr>
      <vt:lpstr>Diversity and Business (5 of 7)</vt:lpstr>
      <vt:lpstr>Table 2.2 Barriers to Inclusion</vt:lpstr>
      <vt:lpstr>Diversity and Business (6 of 7)</vt:lpstr>
      <vt:lpstr>Globalization and Business (1 of 5)</vt:lpstr>
      <vt:lpstr>Globalization and Business (2 of 5)</vt:lpstr>
      <vt:lpstr>Globalization and Business (3 of 5)</vt:lpstr>
      <vt:lpstr>Globalization and Business (4 of 5)</vt:lpstr>
      <vt:lpstr>Hofstede’s Primary Dimensions</vt:lpstr>
      <vt:lpstr>Table 2.3 Work-Related Differences in 10 Countries</vt:lpstr>
      <vt:lpstr>Globalization and Business (5 of 5)</vt:lpstr>
      <vt:lpstr>Technology and Business (1 of 2)</vt:lpstr>
      <vt:lpstr>Technology and Business (2 of 2)</vt:lpstr>
      <vt:lpstr>Ethics and Corporate Governance (1 of 3)</vt:lpstr>
      <vt:lpstr>Managerial Ethics</vt:lpstr>
      <vt:lpstr>Ethics and Corporate Governance (2 of 3)</vt:lpstr>
      <vt:lpstr>Ethics and Corporate Governance (3 of 3)</vt:lpstr>
      <vt:lpstr>New Employment Relationships (1 of 5)</vt:lpstr>
      <vt:lpstr>New Employment Relationships (2 of 5)</vt:lpstr>
      <vt:lpstr>New Employment Relationships (3 of 5)</vt:lpstr>
      <vt:lpstr>New Employment Relationships (4 of 5)</vt:lpstr>
      <vt:lpstr>New Employment Relationships (5 of 5)</vt:lpstr>
      <vt:lpstr>The Psychological Contract</vt:lpstr>
      <vt:lpstr>Organizational Behavior in Action (1 of 2)</vt:lpstr>
      <vt:lpstr>Organizational Behavior in Action (2 of 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The Changing Environment of Organizations</dc:title>
  <dc:creator>Griffin</dc:creator>
  <cp:lastModifiedBy>user</cp:lastModifiedBy>
  <cp:revision>2</cp:revision>
  <dcterms:created xsi:type="dcterms:W3CDTF">2025-04-27T05:00:24Z</dcterms:created>
  <dcterms:modified xsi:type="dcterms:W3CDTF">2025-04-27T05:28:53Z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2025-04-27T00:00:00Z</vt:filetime>
  </property>
</Properties>
</file>