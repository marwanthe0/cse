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6"/>
  </p:notesMasterIdLst>
  <p:sldIdLst>
    <p:sldId id="415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39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/>
              <a:t>13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2547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Throw statement</a:t>
            </a:r>
          </a:p>
          <a:p>
            <a:r>
              <a:rPr lang="en-US" sz="2300" noProof="1" smtClean="0"/>
              <a:t>Finally statement</a:t>
            </a:r>
          </a:p>
          <a:p>
            <a:r>
              <a:rPr lang="en-US" sz="2300" noProof="1" smtClean="0"/>
              <a:t>User defined exception</a:t>
            </a:r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Representing Exceptions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90600" y="2009775"/>
          <a:ext cx="7621588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hoto Editor Photo" r:id="rId3" imgW="7621064" imgH="3933333" progId="">
                  <p:embed/>
                </p:oleObj>
              </mc:Choice>
              <mc:Fallback>
                <p:oleObj name="Photo Editor Photo" r:id="rId3" imgW="7621064" imgH="3933333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09775"/>
                        <a:ext cx="7621588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524000"/>
            <a:ext cx="7924800" cy="99060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1800" smtClean="0">
                <a:latin typeface="Times New Roman" pitchFamily="18" charset="0"/>
              </a:rPr>
              <a:t>Two types of Exceptions: 1. Checked Exception 2. Unchecked Exception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30" name="AutoShape 2"/>
          <p:cNvCxnSpPr>
            <a:cxnSpLocks noChangeShapeType="1"/>
            <a:stCxn id="13317" idx="1"/>
            <a:endCxn id="13315" idx="3"/>
          </p:cNvCxnSpPr>
          <p:nvPr/>
        </p:nvCxnSpPr>
        <p:spPr bwMode="auto">
          <a:xfrm flipH="1">
            <a:off x="863600" y="4198938"/>
            <a:ext cx="296863" cy="0"/>
          </a:xfrm>
          <a:prstGeom prst="straightConnector1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</p:spPr>
      </p:cxn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152400" y="4040188"/>
            <a:ext cx="700088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/>
              <a:t>Object</a:t>
            </a:r>
          </a:p>
        </p:txBody>
      </p:sp>
      <p:sp>
        <p:nvSpPr>
          <p:cNvPr id="13316" name="AutoShape 4"/>
          <p:cNvSpPr>
            <a:spLocks noChangeArrowheads="1"/>
          </p:cNvSpPr>
          <p:nvPr/>
        </p:nvSpPr>
        <p:spPr bwMode="auto">
          <a:xfrm>
            <a:off x="2711450" y="5338763"/>
            <a:ext cx="596900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Error</a:t>
            </a:r>
          </a:p>
        </p:txBody>
      </p:sp>
      <p:sp>
        <p:nvSpPr>
          <p:cNvPr id="13317" name="AutoShape 5"/>
          <p:cNvSpPr>
            <a:spLocks noChangeArrowheads="1"/>
          </p:cNvSpPr>
          <p:nvPr/>
        </p:nvSpPr>
        <p:spPr bwMode="auto">
          <a:xfrm>
            <a:off x="1171575" y="4040188"/>
            <a:ext cx="989013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 i="1">
                <a:solidFill>
                  <a:srgbClr val="FF6600"/>
                </a:solidFill>
              </a:rPr>
              <a:t>Throwable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2711450" y="2627313"/>
            <a:ext cx="954088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Exception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4200525" y="4692650"/>
            <a:ext cx="1173163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LinkageError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200525" y="5105400"/>
            <a:ext cx="1731963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VirtualMachoneError</a:t>
            </a:r>
          </a:p>
        </p:txBody>
      </p:sp>
      <p:sp>
        <p:nvSpPr>
          <p:cNvPr id="13321" name="AutoShape 9"/>
          <p:cNvSpPr>
            <a:spLocks noChangeArrowheads="1"/>
          </p:cNvSpPr>
          <p:nvPr/>
        </p:nvSpPr>
        <p:spPr bwMode="auto">
          <a:xfrm>
            <a:off x="4200525" y="2070100"/>
            <a:ext cx="2081213" cy="3159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ClassNotFoundException</a:t>
            </a:r>
          </a:p>
        </p:txBody>
      </p:sp>
      <p:sp>
        <p:nvSpPr>
          <p:cNvPr id="13322" name="AutoShape 10"/>
          <p:cNvSpPr>
            <a:spLocks noChangeArrowheads="1"/>
          </p:cNvSpPr>
          <p:nvPr/>
        </p:nvSpPr>
        <p:spPr bwMode="auto">
          <a:xfrm>
            <a:off x="4200525" y="2497138"/>
            <a:ext cx="2395538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CloneNotSupportedException</a:t>
            </a:r>
          </a:p>
        </p:txBody>
      </p:sp>
      <p:sp>
        <p:nvSpPr>
          <p:cNvPr id="13323" name="AutoShape 11"/>
          <p:cNvSpPr>
            <a:spLocks noChangeArrowheads="1"/>
          </p:cNvSpPr>
          <p:nvPr/>
        </p:nvSpPr>
        <p:spPr bwMode="auto">
          <a:xfrm>
            <a:off x="4200525" y="2922588"/>
            <a:ext cx="1116013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IOException</a:t>
            </a:r>
          </a:p>
        </p:txBody>
      </p:sp>
      <p:cxnSp>
        <p:nvCxnSpPr>
          <p:cNvPr id="22540" name="AutoShape 12"/>
          <p:cNvCxnSpPr>
            <a:cxnSpLocks noChangeShapeType="1"/>
            <a:stCxn id="13316" idx="1"/>
            <a:endCxn id="13317" idx="3"/>
          </p:cNvCxnSpPr>
          <p:nvPr/>
        </p:nvCxnSpPr>
        <p:spPr bwMode="auto">
          <a:xfrm rot="10800000">
            <a:off x="2171700" y="4198938"/>
            <a:ext cx="528638" cy="1298575"/>
          </a:xfrm>
          <a:prstGeom prst="bentConnector3">
            <a:avLst>
              <a:gd name="adj1" fmla="val 50148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1" name="AutoShape 13"/>
          <p:cNvCxnSpPr>
            <a:cxnSpLocks noChangeShapeType="1"/>
            <a:stCxn id="13320" idx="1"/>
            <a:endCxn id="13316" idx="3"/>
          </p:cNvCxnSpPr>
          <p:nvPr/>
        </p:nvCxnSpPr>
        <p:spPr bwMode="auto">
          <a:xfrm rot="10800000" flipV="1">
            <a:off x="3319463" y="5264150"/>
            <a:ext cx="869950" cy="233363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2" name="AutoShape 14"/>
          <p:cNvCxnSpPr>
            <a:cxnSpLocks noChangeShapeType="1"/>
            <a:stCxn id="13322" idx="1"/>
            <a:endCxn id="13318" idx="3"/>
          </p:cNvCxnSpPr>
          <p:nvPr/>
        </p:nvCxnSpPr>
        <p:spPr bwMode="auto">
          <a:xfrm rot="10800000" flipV="1">
            <a:off x="3676650" y="2655888"/>
            <a:ext cx="512763" cy="130175"/>
          </a:xfrm>
          <a:prstGeom prst="bentConnector3">
            <a:avLst>
              <a:gd name="adj1" fmla="val 5015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3" name="AutoShape 15"/>
          <p:cNvCxnSpPr>
            <a:cxnSpLocks noChangeShapeType="1"/>
            <a:stCxn id="13335" idx="1"/>
            <a:endCxn id="13316" idx="3"/>
          </p:cNvCxnSpPr>
          <p:nvPr/>
        </p:nvCxnSpPr>
        <p:spPr bwMode="auto">
          <a:xfrm rot="10800000">
            <a:off x="3319463" y="5497513"/>
            <a:ext cx="869950" cy="203200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4" name="AutoShape 16"/>
          <p:cNvCxnSpPr>
            <a:cxnSpLocks noChangeShapeType="1"/>
            <a:stCxn id="13319" idx="1"/>
            <a:endCxn id="13316" idx="3"/>
          </p:cNvCxnSpPr>
          <p:nvPr/>
        </p:nvCxnSpPr>
        <p:spPr bwMode="auto">
          <a:xfrm rot="10800000" flipV="1">
            <a:off x="3319463" y="4851400"/>
            <a:ext cx="869950" cy="646113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5" name="AutoShape 17"/>
          <p:cNvCxnSpPr>
            <a:cxnSpLocks noChangeShapeType="1"/>
            <a:stCxn id="22552" idx="1"/>
            <a:endCxn id="13316" idx="3"/>
          </p:cNvCxnSpPr>
          <p:nvPr/>
        </p:nvCxnSpPr>
        <p:spPr bwMode="auto">
          <a:xfrm rot="10800000">
            <a:off x="3319463" y="5497513"/>
            <a:ext cx="881062" cy="658812"/>
          </a:xfrm>
          <a:prstGeom prst="bentConnector3">
            <a:avLst>
              <a:gd name="adj1" fmla="val 5063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6" name="AutoShape 18"/>
          <p:cNvCxnSpPr>
            <a:cxnSpLocks noChangeShapeType="1"/>
            <a:stCxn id="13321" idx="1"/>
            <a:endCxn id="13318" idx="3"/>
          </p:cNvCxnSpPr>
          <p:nvPr/>
        </p:nvCxnSpPr>
        <p:spPr bwMode="auto">
          <a:xfrm rot="10800000" flipV="1">
            <a:off x="3676650" y="2228850"/>
            <a:ext cx="512763" cy="557213"/>
          </a:xfrm>
          <a:prstGeom prst="bentConnector3">
            <a:avLst>
              <a:gd name="adj1" fmla="val 5015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7" name="AutoShape 19"/>
          <p:cNvCxnSpPr>
            <a:cxnSpLocks noChangeShapeType="1"/>
            <a:stCxn id="13323" idx="1"/>
            <a:endCxn id="13318" idx="3"/>
          </p:cNvCxnSpPr>
          <p:nvPr/>
        </p:nvCxnSpPr>
        <p:spPr bwMode="auto">
          <a:xfrm rot="10800000">
            <a:off x="3676650" y="2786063"/>
            <a:ext cx="512763" cy="295275"/>
          </a:xfrm>
          <a:prstGeom prst="bentConnector3">
            <a:avLst>
              <a:gd name="adj1" fmla="val 5015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8" name="AutoShape 20"/>
          <p:cNvCxnSpPr>
            <a:cxnSpLocks noChangeShapeType="1"/>
            <a:stCxn id="13345" idx="1"/>
            <a:endCxn id="13338" idx="3"/>
          </p:cNvCxnSpPr>
          <p:nvPr/>
        </p:nvCxnSpPr>
        <p:spPr bwMode="auto">
          <a:xfrm rot="10800000" flipV="1">
            <a:off x="5775325" y="3328988"/>
            <a:ext cx="614363" cy="596900"/>
          </a:xfrm>
          <a:prstGeom prst="bentConnector3">
            <a:avLst>
              <a:gd name="adj1" fmla="val 5013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49" name="AutoShape 21"/>
          <p:cNvCxnSpPr>
            <a:cxnSpLocks noChangeShapeType="1"/>
            <a:stCxn id="13346" idx="1"/>
            <a:endCxn id="13338" idx="3"/>
          </p:cNvCxnSpPr>
          <p:nvPr/>
        </p:nvCxnSpPr>
        <p:spPr bwMode="auto">
          <a:xfrm rot="10800000" flipV="1">
            <a:off x="5775325" y="3744913"/>
            <a:ext cx="614363" cy="180975"/>
          </a:xfrm>
          <a:prstGeom prst="bentConnector3">
            <a:avLst>
              <a:gd name="adj1" fmla="val 5013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50" name="AutoShape 22"/>
          <p:cNvCxnSpPr>
            <a:cxnSpLocks noChangeShapeType="1"/>
            <a:stCxn id="13318" idx="1"/>
            <a:endCxn id="13317" idx="3"/>
          </p:cNvCxnSpPr>
          <p:nvPr/>
        </p:nvCxnSpPr>
        <p:spPr bwMode="auto">
          <a:xfrm rot="10800000" flipV="1">
            <a:off x="2171700" y="2786063"/>
            <a:ext cx="528638" cy="1412875"/>
          </a:xfrm>
          <a:prstGeom prst="bentConnector3">
            <a:avLst>
              <a:gd name="adj1" fmla="val 50148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sp>
        <p:nvSpPr>
          <p:cNvPr id="13335" name="AutoShape 23"/>
          <p:cNvSpPr>
            <a:spLocks noChangeArrowheads="1"/>
          </p:cNvSpPr>
          <p:nvPr/>
        </p:nvSpPr>
        <p:spPr bwMode="auto">
          <a:xfrm>
            <a:off x="4200525" y="5541963"/>
            <a:ext cx="944563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AWTError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4200525" y="5988050"/>
            <a:ext cx="387350" cy="336550"/>
          </a:xfrm>
          <a:prstGeom prst="rect">
            <a:avLst/>
          </a:prstGeom>
          <a:noFill/>
          <a:ln w="222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>
                <a:solidFill>
                  <a:srgbClr val="FF6600"/>
                </a:solidFill>
              </a:rPr>
              <a:t>…</a:t>
            </a:r>
          </a:p>
        </p:txBody>
      </p:sp>
      <p:sp>
        <p:nvSpPr>
          <p:cNvPr id="13337" name="AutoShape 25"/>
          <p:cNvSpPr>
            <a:spLocks noChangeArrowheads="1"/>
          </p:cNvSpPr>
          <p:nvPr/>
        </p:nvSpPr>
        <p:spPr bwMode="auto">
          <a:xfrm>
            <a:off x="4200525" y="3344863"/>
            <a:ext cx="1301750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AWTException</a:t>
            </a:r>
          </a:p>
        </p:txBody>
      </p:sp>
      <p:sp>
        <p:nvSpPr>
          <p:cNvPr id="13338" name="AutoShape 26"/>
          <p:cNvSpPr>
            <a:spLocks noChangeArrowheads="1"/>
          </p:cNvSpPr>
          <p:nvPr/>
        </p:nvSpPr>
        <p:spPr bwMode="auto">
          <a:xfrm>
            <a:off x="4200525" y="3767138"/>
            <a:ext cx="1563688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RuntimeException</a:t>
            </a:r>
          </a:p>
        </p:txBody>
      </p:sp>
      <p:cxnSp>
        <p:nvCxnSpPr>
          <p:cNvPr id="22555" name="AutoShape 27"/>
          <p:cNvCxnSpPr>
            <a:cxnSpLocks noChangeShapeType="1"/>
            <a:stCxn id="13350" idx="1"/>
            <a:endCxn id="13338" idx="3"/>
          </p:cNvCxnSpPr>
          <p:nvPr/>
        </p:nvCxnSpPr>
        <p:spPr bwMode="auto">
          <a:xfrm rot="10800000">
            <a:off x="5775325" y="3925888"/>
            <a:ext cx="614363" cy="728662"/>
          </a:xfrm>
          <a:prstGeom prst="bentConnector3">
            <a:avLst>
              <a:gd name="adj1" fmla="val 5013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56" name="AutoShape 28"/>
          <p:cNvCxnSpPr>
            <a:cxnSpLocks noChangeShapeType="1"/>
            <a:stCxn id="13347" idx="1"/>
            <a:endCxn id="13338" idx="3"/>
          </p:cNvCxnSpPr>
          <p:nvPr/>
        </p:nvCxnSpPr>
        <p:spPr bwMode="auto">
          <a:xfrm rot="10800000">
            <a:off x="5775325" y="3925888"/>
            <a:ext cx="614363" cy="252412"/>
          </a:xfrm>
          <a:prstGeom prst="bentConnector3">
            <a:avLst>
              <a:gd name="adj1" fmla="val 50130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4200525" y="4203700"/>
            <a:ext cx="387350" cy="336550"/>
          </a:xfrm>
          <a:prstGeom prst="rect">
            <a:avLst/>
          </a:prstGeom>
          <a:noFill/>
          <a:ln w="222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22558" name="AutoShape 30"/>
          <p:cNvCxnSpPr>
            <a:cxnSpLocks noChangeShapeType="1"/>
            <a:stCxn id="13337" idx="1"/>
            <a:endCxn id="13318" idx="3"/>
          </p:cNvCxnSpPr>
          <p:nvPr/>
        </p:nvCxnSpPr>
        <p:spPr bwMode="auto">
          <a:xfrm rot="10800000">
            <a:off x="3676650" y="2786063"/>
            <a:ext cx="512763" cy="717550"/>
          </a:xfrm>
          <a:prstGeom prst="bentConnector3">
            <a:avLst>
              <a:gd name="adj1" fmla="val 5015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59" name="AutoShape 31"/>
          <p:cNvCxnSpPr>
            <a:cxnSpLocks noChangeShapeType="1"/>
            <a:stCxn id="13338" idx="1"/>
            <a:endCxn id="13318" idx="3"/>
          </p:cNvCxnSpPr>
          <p:nvPr/>
        </p:nvCxnSpPr>
        <p:spPr bwMode="auto">
          <a:xfrm rot="10800000">
            <a:off x="3676650" y="2786063"/>
            <a:ext cx="512763" cy="1139825"/>
          </a:xfrm>
          <a:prstGeom prst="bentConnector3">
            <a:avLst>
              <a:gd name="adj1" fmla="val 5015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cxnSp>
        <p:nvCxnSpPr>
          <p:cNvPr id="22560" name="AutoShape 32"/>
          <p:cNvCxnSpPr>
            <a:cxnSpLocks noChangeShapeType="1"/>
            <a:stCxn id="22557" idx="1"/>
            <a:endCxn id="13318" idx="3"/>
          </p:cNvCxnSpPr>
          <p:nvPr/>
        </p:nvCxnSpPr>
        <p:spPr bwMode="auto">
          <a:xfrm rot="10800000">
            <a:off x="3676650" y="2786063"/>
            <a:ext cx="523875" cy="1585912"/>
          </a:xfrm>
          <a:prstGeom prst="bentConnector3">
            <a:avLst>
              <a:gd name="adj1" fmla="val 51213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sp>
        <p:nvSpPr>
          <p:cNvPr id="13345" name="AutoShape 33"/>
          <p:cNvSpPr>
            <a:spLocks noChangeArrowheads="1"/>
          </p:cNvSpPr>
          <p:nvPr/>
        </p:nvSpPr>
        <p:spPr bwMode="auto">
          <a:xfrm>
            <a:off x="6400800" y="3170238"/>
            <a:ext cx="1706563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ArithmeticException</a:t>
            </a:r>
          </a:p>
        </p:txBody>
      </p:sp>
      <p:sp>
        <p:nvSpPr>
          <p:cNvPr id="13346" name="AutoShape 34"/>
          <p:cNvSpPr>
            <a:spLocks noChangeArrowheads="1"/>
          </p:cNvSpPr>
          <p:nvPr/>
        </p:nvSpPr>
        <p:spPr bwMode="auto">
          <a:xfrm>
            <a:off x="6400800" y="3586163"/>
            <a:ext cx="1768475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NullPointerException</a:t>
            </a:r>
          </a:p>
        </p:txBody>
      </p:sp>
      <p:sp>
        <p:nvSpPr>
          <p:cNvPr id="13347" name="AutoShape 35"/>
          <p:cNvSpPr>
            <a:spLocks noChangeArrowheads="1"/>
          </p:cNvSpPr>
          <p:nvPr/>
        </p:nvSpPr>
        <p:spPr bwMode="auto">
          <a:xfrm>
            <a:off x="6400800" y="4019550"/>
            <a:ext cx="2354263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IndexOutOfBoundsException</a:t>
            </a:r>
          </a:p>
        </p:txBody>
      </p:sp>
      <p:sp>
        <p:nvSpPr>
          <p:cNvPr id="13348" name="AutoShape 36"/>
          <p:cNvSpPr>
            <a:spLocks noChangeArrowheads="1"/>
          </p:cNvSpPr>
          <p:nvPr/>
        </p:nvSpPr>
        <p:spPr bwMode="auto">
          <a:xfrm>
            <a:off x="6964363" y="6161088"/>
            <a:ext cx="1036637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Unchecked</a:t>
            </a:r>
          </a:p>
        </p:txBody>
      </p:sp>
      <p:sp>
        <p:nvSpPr>
          <p:cNvPr id="13349" name="AutoShape 37"/>
          <p:cNvSpPr>
            <a:spLocks noChangeArrowheads="1"/>
          </p:cNvSpPr>
          <p:nvPr/>
        </p:nvSpPr>
        <p:spPr bwMode="auto">
          <a:xfrm>
            <a:off x="6964363" y="5764213"/>
            <a:ext cx="858837" cy="315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2225" algn="ctr">
            <a:solidFill>
              <a:srgbClr val="FF6600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Checked</a:t>
            </a:r>
          </a:p>
        </p:txBody>
      </p:sp>
      <p:sp>
        <p:nvSpPr>
          <p:cNvPr id="13350" name="AutoShape 38"/>
          <p:cNvSpPr>
            <a:spLocks noChangeArrowheads="1"/>
          </p:cNvSpPr>
          <p:nvPr/>
        </p:nvSpPr>
        <p:spPr bwMode="auto">
          <a:xfrm>
            <a:off x="6400800" y="4495800"/>
            <a:ext cx="2122488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algn="ctr">
            <a:solidFill>
              <a:srgbClr val="FFCC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200" b="1">
                <a:solidFill>
                  <a:srgbClr val="FF6600"/>
                </a:solidFill>
              </a:rPr>
              <a:t>NoSuchElementException</a:t>
            </a:r>
          </a:p>
        </p:txBody>
      </p:sp>
      <p:sp>
        <p:nvSpPr>
          <p:cNvPr id="22567" name="Text Box 39"/>
          <p:cNvSpPr txBox="1">
            <a:spLocks noChangeArrowheads="1"/>
          </p:cNvSpPr>
          <p:nvPr/>
        </p:nvSpPr>
        <p:spPr bwMode="auto">
          <a:xfrm>
            <a:off x="6400800" y="4953000"/>
            <a:ext cx="387350" cy="336550"/>
          </a:xfrm>
          <a:prstGeom prst="rect">
            <a:avLst/>
          </a:prstGeom>
          <a:noFill/>
          <a:ln w="222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 b="1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22568" name="AutoShape 40"/>
          <p:cNvCxnSpPr>
            <a:cxnSpLocks noChangeShapeType="1"/>
            <a:stCxn id="22567" idx="1"/>
            <a:endCxn id="13338" idx="3"/>
          </p:cNvCxnSpPr>
          <p:nvPr/>
        </p:nvCxnSpPr>
        <p:spPr bwMode="auto">
          <a:xfrm rot="10800000">
            <a:off x="5775325" y="3925888"/>
            <a:ext cx="625475" cy="1195387"/>
          </a:xfrm>
          <a:prstGeom prst="bentConnector3">
            <a:avLst>
              <a:gd name="adj1" fmla="val 51014"/>
            </a:avLst>
          </a:prstGeom>
          <a:noFill/>
          <a:ln w="22225">
            <a:solidFill>
              <a:srgbClr val="FF6600"/>
            </a:solidFill>
            <a:miter lim="800000"/>
            <a:headEnd/>
            <a:tailEnd type="triangle" w="lg" len="lg"/>
          </a:ln>
        </p:spPr>
      </p:cxnSp>
      <p:sp>
        <p:nvSpPr>
          <p:cNvPr id="13353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Representing Exceptions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</a:rPr>
              <a:t>Example</a:t>
            </a:r>
          </a:p>
        </p:txBody>
      </p:sp>
      <p:pic>
        <p:nvPicPr>
          <p:cNvPr id="1843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95400"/>
            <a:ext cx="7391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 Box 7"/>
          <p:cNvSpPr txBox="1">
            <a:spLocks noChangeArrowheads="1"/>
          </p:cNvSpPr>
          <p:nvPr/>
        </p:nvSpPr>
        <p:spPr bwMode="auto">
          <a:xfrm>
            <a:off x="838200" y="4572000"/>
            <a:ext cx="7162800" cy="167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Division by zero.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After catch statement.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Throw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far we see exceptions are thrown by the java run-time system.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statement allows an exception to be thrown explicitly.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 Form: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		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ThrowableInstance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ThrowableInstance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must be an object of type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throwable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a subclass 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throwable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 -throw Statements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1066800" y="1371600"/>
          <a:ext cx="67818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Bitmap Image" r:id="rId3" imgW="4161905" imgH="2438095" progId="PBrush">
                  <p:embed/>
                </p:oleObj>
              </mc:Choice>
              <mc:Fallback>
                <p:oleObj name="Bitmap Image" r:id="rId3" imgW="4161905" imgH="243809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71600"/>
                        <a:ext cx="67818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990600" y="5334000"/>
            <a:ext cx="6858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Caught inside demoproc.</a:t>
            </a:r>
          </a:p>
          <a:p>
            <a:pPr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Recaught: java.lang.NullPointerException: demo</a:t>
            </a:r>
            <a:endParaRPr lang="en-US" sz="240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throws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If a method is capable of causing an exception that it does not handle, it must specify this behavior so that callers of the method can guard themselves against that exception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ü"/>
            </a:pPr>
            <a:r>
              <a:rPr lang="en-US" sz="1800" i="1" dirty="0" smtClean="0">
                <a:latin typeface="Times New Roman" pitchFamily="18" charset="0"/>
              </a:rPr>
              <a:t>type method-name (parameter-list)</a:t>
            </a:r>
            <a:r>
              <a:rPr lang="en-US" sz="1800" dirty="0" smtClean="0">
                <a:latin typeface="Times New Roman" pitchFamily="18" charset="0"/>
              </a:rPr>
              <a:t> throws </a:t>
            </a:r>
            <a:r>
              <a:rPr lang="en-US" sz="1800" i="1" dirty="0" smtClean="0">
                <a:latin typeface="Times New Roman" pitchFamily="18" charset="0"/>
              </a:rPr>
              <a:t>exception-list</a:t>
            </a:r>
          </a:p>
          <a:p>
            <a:pPr marL="1027113" lvl="1" indent="-455613">
              <a:lnSpc>
                <a:spcPct val="130000"/>
              </a:lnSpc>
              <a:buSzTx/>
              <a:buFont typeface="Wingdings" pitchFamily="2" charset="2"/>
              <a:buNone/>
            </a:pPr>
            <a:r>
              <a:rPr lang="en-US" sz="1700" dirty="0" smtClean="0">
                <a:latin typeface="Times New Roman" pitchFamily="18" charset="0"/>
              </a:rPr>
              <a:t>{</a:t>
            </a:r>
          </a:p>
          <a:p>
            <a:pPr marL="1027113" lvl="1" indent="-455613">
              <a:lnSpc>
                <a:spcPct val="130000"/>
              </a:lnSpc>
              <a:buSzTx/>
              <a:buFont typeface="Wingdings" pitchFamily="2" charset="2"/>
              <a:buNone/>
            </a:pPr>
            <a:r>
              <a:rPr lang="en-US" sz="1700" dirty="0" smtClean="0">
                <a:latin typeface="Times New Roman" pitchFamily="18" charset="0"/>
              </a:rPr>
              <a:t>	// body of method</a:t>
            </a:r>
          </a:p>
          <a:p>
            <a:pPr marL="1027113" lvl="1" indent="-455613">
              <a:lnSpc>
                <a:spcPct val="130000"/>
              </a:lnSpc>
              <a:buSzTx/>
              <a:buFont typeface="Wingdings" pitchFamily="2" charset="2"/>
              <a:buNone/>
            </a:pPr>
            <a:r>
              <a:rPr lang="en-US" sz="1700" dirty="0" smtClean="0">
                <a:latin typeface="Times New Roman" pitchFamily="18" charset="0"/>
              </a:rPr>
              <a:t>}</a:t>
            </a:r>
          </a:p>
          <a:p>
            <a:pPr marL="457200" indent="-457200">
              <a:lnSpc>
                <a:spcPct val="130000"/>
              </a:lnSpc>
              <a:buSzTx/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</a:rPr>
              <a:t>It is not applicable for </a:t>
            </a:r>
            <a:r>
              <a:rPr lang="en-US" b="1" dirty="0" smtClean="0">
                <a:latin typeface="Times New Roman" pitchFamily="18" charset="0"/>
              </a:rPr>
              <a:t>Error</a:t>
            </a:r>
            <a:r>
              <a:rPr lang="en-US" dirty="0" smtClean="0">
                <a:latin typeface="Times New Roman" pitchFamily="18" charset="0"/>
              </a:rPr>
              <a:t> or </a:t>
            </a:r>
            <a:r>
              <a:rPr lang="en-US" b="1" dirty="0" err="1" smtClean="0">
                <a:latin typeface="Times New Roman" pitchFamily="18" charset="0"/>
              </a:rPr>
              <a:t>RuntimeException</a:t>
            </a:r>
            <a:r>
              <a:rPr lang="en-US" b="1" dirty="0" smtClean="0">
                <a:latin typeface="Times New Roman" pitchFamily="18" charset="0"/>
              </a:rPr>
              <a:t>,</a:t>
            </a:r>
            <a:r>
              <a:rPr lang="en-US" dirty="0" smtClean="0">
                <a:latin typeface="Times New Roman" pitchFamily="18" charset="0"/>
              </a:rPr>
              <a:t> or any of their subclasses</a:t>
            </a:r>
            <a:endParaRPr 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Example: incorrect program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914400" y="1524000"/>
          <a:ext cx="7620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Bitmap Image" r:id="rId3" imgW="4296375" imgH="1400000" progId="PBrush">
                  <p:embed/>
                </p:oleObj>
              </mc:Choice>
              <mc:Fallback>
                <p:oleObj name="Bitmap Image" r:id="rId3" imgW="4296375" imgH="140000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76200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Example: corrected version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914400" y="1524000"/>
          <a:ext cx="76962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Bitmap Image" r:id="rId3" imgW="4420217" imgH="1876190" progId="PBrush">
                  <p:embed/>
                </p:oleObj>
              </mc:Choice>
              <mc:Fallback>
                <p:oleObj name="Bitmap Image" r:id="rId3" imgW="4420217" imgH="187619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76962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914400" y="5181600"/>
            <a:ext cx="73152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Times New Roman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Inside </a:t>
            </a:r>
            <a:r>
              <a:rPr lang="en-US" sz="2400" dirty="0" err="1">
                <a:latin typeface="Times New Roman" pitchFamily="18" charset="0"/>
              </a:rPr>
              <a:t>throwOne</a:t>
            </a:r>
            <a:r>
              <a:rPr lang="en-US" sz="2400" dirty="0">
                <a:latin typeface="Times New Roman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Caught </a:t>
            </a:r>
            <a:r>
              <a:rPr lang="en-US" sz="2400" dirty="0" err="1">
                <a:latin typeface="Times New Roman" pitchFamily="18" charset="0"/>
              </a:rPr>
              <a:t>java.lang.IllegalAccessException</a:t>
            </a:r>
            <a:r>
              <a:rPr lang="en-US" sz="2400" dirty="0">
                <a:latin typeface="Times New Roman" pitchFamily="18" charset="0"/>
              </a:rPr>
              <a:t>: demo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Checked/Unchecked Exceptions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7467600" cy="4873752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RuntimeException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need not be included in any method’s throw list. These are unchecked exceptions.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Checked Exceptions must be included in throws list.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ClassNotFoundException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IllegalAccessException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etc.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600" b="1" dirty="0">
                <a:latin typeface="Times New Roman" pitchFamily="18" charset="0"/>
                <a:cs typeface="Times New Roman" pitchFamily="18" charset="0"/>
              </a:rPr>
              <a:t>Finally Statement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229600" cy="5330825"/>
          </a:xfrm>
        </p:spPr>
        <p:txBody>
          <a:bodyPr>
            <a:normAutofit fontScale="92500" lnSpcReduction="20000"/>
          </a:bodyPr>
          <a:lstStyle/>
          <a:p>
            <a:pPr marL="274320" indent="-274320" fontAlgn="auto">
              <a:lnSpc>
                <a:spcPct val="13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b="1" dirty="0">
                <a:latin typeface="Times New Roman" pitchFamily="18" charset="0"/>
              </a:rPr>
              <a:t>finally</a:t>
            </a:r>
            <a:r>
              <a:rPr lang="en-US" dirty="0">
                <a:latin typeface="Times New Roman" pitchFamily="18" charset="0"/>
              </a:rPr>
              <a:t> creates a block of code that will be executed after a </a:t>
            </a:r>
            <a:r>
              <a:rPr lang="en-US" b="1" dirty="0">
                <a:latin typeface="Times New Roman" pitchFamily="18" charset="0"/>
              </a:rPr>
              <a:t>try/catch</a:t>
            </a:r>
            <a:r>
              <a:rPr lang="en-US" dirty="0">
                <a:latin typeface="Times New Roman" pitchFamily="18" charset="0"/>
              </a:rPr>
              <a:t> block has completed and before the code following the </a:t>
            </a:r>
            <a:r>
              <a:rPr lang="en-US" b="1" dirty="0">
                <a:latin typeface="Times New Roman" pitchFamily="18" charset="0"/>
              </a:rPr>
              <a:t>try/catch</a:t>
            </a:r>
            <a:r>
              <a:rPr lang="en-US" dirty="0">
                <a:latin typeface="Times New Roman" pitchFamily="18" charset="0"/>
              </a:rPr>
              <a:t> block.</a:t>
            </a:r>
          </a:p>
          <a:p>
            <a:pPr marL="274320" indent="-274320" fontAlgn="auto">
              <a:lnSpc>
                <a:spcPct val="13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b="1" dirty="0">
                <a:latin typeface="Times New Roman" pitchFamily="18" charset="0"/>
              </a:rPr>
              <a:t>finally</a:t>
            </a:r>
            <a:r>
              <a:rPr lang="en-US" dirty="0">
                <a:latin typeface="Times New Roman" pitchFamily="18" charset="0"/>
              </a:rPr>
              <a:t> block will be executed whether or not an exception is thrown.</a:t>
            </a:r>
          </a:p>
          <a:p>
            <a:pPr marL="274320" indent="-274320" fontAlgn="auto">
              <a:lnSpc>
                <a:spcPct val="13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Any time a method is about to return to the caller from inside a try/catch block, via an uncaught exception or an explicit return statement, the finally clause is also executed just before the method returns.</a:t>
            </a:r>
          </a:p>
          <a:p>
            <a:pPr marL="274320" indent="-274320" fontAlgn="auto">
              <a:lnSpc>
                <a:spcPct val="13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</a:rPr>
              <a:t>Each try clause requires at least one catch or finally clause.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graphicFrame>
        <p:nvGraphicFramePr>
          <p:cNvPr id="7170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38200" y="304799"/>
          <a:ext cx="6857999" cy="6400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Bitmap Image" r:id="rId3" imgW="3629532" imgH="5133333" progId="PBrush">
                  <p:embed/>
                </p:oleObj>
              </mc:Choice>
              <mc:Fallback>
                <p:oleObj name="Bitmap Image" r:id="rId3" imgW="3629532" imgH="5133333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799"/>
                        <a:ext cx="6857999" cy="6400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762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Output 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inside procA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procA's finally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Exception caught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inside procB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procB's finally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inside procC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procC's finally</a:t>
            </a:r>
          </a:p>
          <a:p>
            <a:pPr marL="457200" indent="-457200"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User Defined Exception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838200"/>
            <a:ext cx="8229600" cy="1066800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dirty="0">
                <a:latin typeface="Times New Roman" pitchFamily="18" charset="0"/>
              </a:rPr>
              <a:t>Define a subclass of the Exception class.</a:t>
            </a:r>
          </a:p>
          <a:p>
            <a:pPr marL="274320" indent="-274320" fontAlgn="auto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dirty="0">
                <a:latin typeface="Times New Roman" pitchFamily="18" charset="0"/>
              </a:rPr>
              <a:t>The new subclass inherits all the methods of Exception and can override them.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990600" y="1918186"/>
            <a:ext cx="75438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extends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Exception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int a;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(int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	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return “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[“ + a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+”]”;	</a:t>
            </a:r>
          </a:p>
          <a:p>
            <a:pPr>
              <a:spcBef>
                <a:spcPct val="50000"/>
              </a:spcBef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Continuation of the Example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class test{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	static void compute 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a) throws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		if(a&gt;10) throw new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(“Normal Exit”);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	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public static void main(String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[]){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try{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compute(1);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compute(20);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	}catch(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MyException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e){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(“Caught “ +e);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Example-2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6200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InvalidRadiusException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extends Exception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private double r;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   public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InvalidRadiusException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(double radius){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 r = radius;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public void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printError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("Radius [" +  r + "] is not valid");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Continuation of Example-2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class Circle   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double x, y, 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public Circle (double </a:t>
            </a:r>
            <a:r>
              <a:rPr lang="en-US" sz="2000" dirty="0" err="1" smtClean="0">
                <a:latin typeface="Times New Roman" pitchFamily="18" charset="0"/>
              </a:rPr>
              <a:t>centreX</a:t>
            </a:r>
            <a:r>
              <a:rPr lang="en-US" sz="2000" dirty="0" smtClean="0">
                <a:latin typeface="Times New Roman" pitchFamily="18" charset="0"/>
              </a:rPr>
              <a:t>, double </a:t>
            </a:r>
            <a:r>
              <a:rPr lang="en-US" sz="2000" dirty="0" err="1" smtClean="0">
                <a:latin typeface="Times New Roman" pitchFamily="18" charset="0"/>
              </a:rPr>
              <a:t>centreY</a:t>
            </a:r>
            <a:r>
              <a:rPr lang="en-US" sz="2000" dirty="0" smtClean="0">
                <a:latin typeface="Times New Roman" pitchFamily="18" charset="0"/>
              </a:rPr>
              <a:t>, double radius ) </a:t>
            </a:r>
            <a:r>
              <a:rPr lang="en-US" sz="2000" dirty="0" smtClean="0">
                <a:solidFill>
                  <a:schemeClr val="hlink"/>
                </a:solidFill>
                <a:latin typeface="Times New Roman" pitchFamily="18" charset="0"/>
              </a:rPr>
              <a:t>throws </a:t>
            </a:r>
            <a:r>
              <a:rPr lang="en-US" sz="2000" dirty="0" err="1" smtClean="0">
                <a:solidFill>
                  <a:schemeClr val="hlink"/>
                </a:solidFill>
                <a:latin typeface="Times New Roman" pitchFamily="18" charset="0"/>
              </a:rPr>
              <a:t>InvalidRadiusException</a:t>
            </a:r>
            <a:r>
              <a:rPr lang="en-US" sz="2000" dirty="0" smtClean="0">
                <a:latin typeface="Times New Roman" pitchFamily="18" charset="0"/>
              </a:rPr>
              <a:t>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if (r &lt;= 0 )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        throw new </a:t>
            </a:r>
            <a:r>
              <a:rPr lang="en-US" sz="2000" dirty="0" err="1" smtClean="0">
                <a:latin typeface="Times New Roman" pitchFamily="18" charset="0"/>
              </a:rPr>
              <a:t>InvalidRadiusException</a:t>
            </a:r>
            <a:r>
              <a:rPr lang="en-US" sz="2000" dirty="0" smtClean="0">
                <a:latin typeface="Times New Roman" pitchFamily="18" charset="0"/>
              </a:rPr>
              <a:t>(radius);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else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        x = </a:t>
            </a:r>
            <a:r>
              <a:rPr lang="en-US" sz="2000" dirty="0" err="1" smtClean="0">
                <a:latin typeface="Times New Roman" pitchFamily="18" charset="0"/>
              </a:rPr>
              <a:t>centreX</a:t>
            </a:r>
            <a:r>
              <a:rPr lang="en-US" sz="2000" dirty="0" smtClean="0">
                <a:latin typeface="Times New Roman" pitchFamily="18" charset="0"/>
              </a:rPr>
              <a:t> ; y = </a:t>
            </a:r>
            <a:r>
              <a:rPr lang="en-US" sz="2000" dirty="0" err="1" smtClean="0">
                <a:latin typeface="Times New Roman" pitchFamily="18" charset="0"/>
              </a:rPr>
              <a:t>centreY</a:t>
            </a:r>
            <a:r>
              <a:rPr lang="en-US" sz="2000" dirty="0" smtClean="0">
                <a:latin typeface="Times New Roman" pitchFamily="18" charset="0"/>
              </a:rPr>
              <a:t>;  r = radius;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 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Continuation of Example-2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CircleTest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 smtClean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try{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    Circle c1 = new Circle(10, 10, -1);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("Circle created");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 smtClean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catch(</a:t>
            </a:r>
            <a:r>
              <a:rPr lang="en-US" sz="2000" dirty="0" err="1" smtClean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InvalidRadiusException</a:t>
            </a:r>
            <a:r>
              <a:rPr lang="en-US" sz="2000" dirty="0" smtClean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e.printError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Chained Exceptions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Allows you to associate one exception with another. The second exception is the cause of the first exception.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Example- an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ArithmeticException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can be generated due to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IOException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test_chain</a:t>
            </a: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static void demo()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NullPointerException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e= new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NullPointerException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("Top layer");</a:t>
            </a:r>
          </a:p>
          <a:p>
            <a:pPr>
              <a:buNone/>
            </a:pP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e.initCause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ArithmeticException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("cause"));</a:t>
            </a:r>
          </a:p>
          <a:p>
            <a:pPr>
              <a:buNone/>
            </a:pP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throw e;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buNone/>
            </a:pP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public static void main(String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try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{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        demo();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}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catch(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NullPointerException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{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("Caught: "+e);</a:t>
            </a:r>
          </a:p>
          <a:p>
            <a:pPr>
              <a:buNone/>
            </a:pP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("Original Cause: "+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e.getCause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        }</a:t>
            </a: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438400"/>
            <a:ext cx="678179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2050</TotalTime>
  <Words>784</Words>
  <Application>Microsoft Office PowerPoint</Application>
  <PresentationFormat>On-screen Show (4:3)</PresentationFormat>
  <Paragraphs>177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Photo Editor Photo</vt:lpstr>
      <vt:lpstr>Bitmap Image</vt:lpstr>
      <vt:lpstr> Object Oriented Programming CSE 2101  Lecture - 13 </vt:lpstr>
      <vt:lpstr>Outline</vt:lpstr>
      <vt:lpstr>Representing Exceptions</vt:lpstr>
      <vt:lpstr>Representing Exceptions</vt:lpstr>
      <vt:lpstr>Example</vt:lpstr>
      <vt:lpstr>Throw</vt:lpstr>
      <vt:lpstr>Example -throw Statements</vt:lpstr>
      <vt:lpstr>throws</vt:lpstr>
      <vt:lpstr>Example: incorrect program</vt:lpstr>
      <vt:lpstr>Example: corrected version</vt:lpstr>
      <vt:lpstr>Checked/Unchecked Exceptions</vt:lpstr>
      <vt:lpstr>Finally Statement</vt:lpstr>
      <vt:lpstr>Example</vt:lpstr>
      <vt:lpstr>Output </vt:lpstr>
      <vt:lpstr>User Defined Exception</vt:lpstr>
      <vt:lpstr>Continuation of the Example</vt:lpstr>
      <vt:lpstr>Example-2</vt:lpstr>
      <vt:lpstr>Continuation of Example-2</vt:lpstr>
      <vt:lpstr>Continuation of Example-2</vt:lpstr>
      <vt:lpstr>Chained Exceptions</vt:lpstr>
      <vt:lpstr>Example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1099</cp:revision>
  <dcterms:created xsi:type="dcterms:W3CDTF">2015-05-03T19:01:06Z</dcterms:created>
  <dcterms:modified xsi:type="dcterms:W3CDTF">2024-12-21T08:32:43Z</dcterms:modified>
</cp:coreProperties>
</file>