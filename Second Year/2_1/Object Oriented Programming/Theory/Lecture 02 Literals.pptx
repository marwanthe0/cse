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51" r:id="rId2"/>
  </p:sldMasterIdLst>
  <p:notesMasterIdLst>
    <p:notesMasterId r:id="rId26"/>
  </p:notesMasterIdLst>
  <p:sldIdLst>
    <p:sldId id="485" r:id="rId3"/>
    <p:sldId id="257" r:id="rId4"/>
    <p:sldId id="465" r:id="rId5"/>
    <p:sldId id="466" r:id="rId6"/>
    <p:sldId id="467" r:id="rId7"/>
    <p:sldId id="468" r:id="rId8"/>
    <p:sldId id="469" r:id="rId9"/>
    <p:sldId id="470" r:id="rId10"/>
    <p:sldId id="471" r:id="rId11"/>
    <p:sldId id="472" r:id="rId12"/>
    <p:sldId id="473" r:id="rId13"/>
    <p:sldId id="474" r:id="rId14"/>
    <p:sldId id="475" r:id="rId15"/>
    <p:sldId id="476" r:id="rId16"/>
    <p:sldId id="477" r:id="rId17"/>
    <p:sldId id="478" r:id="rId18"/>
    <p:sldId id="479" r:id="rId19"/>
    <p:sldId id="480" r:id="rId20"/>
    <p:sldId id="481" r:id="rId21"/>
    <p:sldId id="482" r:id="rId22"/>
    <p:sldId id="483" r:id="rId23"/>
    <p:sldId id="484" r:id="rId24"/>
    <p:sldId id="394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4069"/>
    <a:srgbClr val="CACACA"/>
    <a:srgbClr val="0066CC"/>
    <a:srgbClr val="0099CC"/>
    <a:srgbClr val="3864A9"/>
    <a:srgbClr val="273691"/>
    <a:srgbClr val="2737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0" autoAdjust="0"/>
    <p:restoredTop sz="99821" autoAdjust="0"/>
  </p:normalViewPr>
  <p:slideViewPr>
    <p:cSldViewPr>
      <p:cViewPr varScale="1">
        <p:scale>
          <a:sx n="73" d="100"/>
          <a:sy n="73" d="100"/>
        </p:scale>
        <p:origin x="1302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E9439C-4193-43FD-B7ED-FDDC753C38E4}" type="datetimeFigureOut">
              <a:rPr lang="en-US" smtClean="0"/>
              <a:pPr/>
              <a:t>10/26/2024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FFEB6-3655-496E-AF33-E2CC2D71E3D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838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3FFEB6-3655-496E-AF33-E2CC2D71E3D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34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0" name="Picture 30" descr="background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51B2EE7-5072-467A-9223-02257C03FF2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2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5123" grpId="0" build="p">
        <p:tmplLst>
          <p:tmpl lvl="1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12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12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1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 sz="1600" i="0"/>
            </a:lvl1pPr>
          </a:lstStyle>
          <a:p>
            <a:fld id="{F0065440-4C8F-497D-8DC5-47855554306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826E5F-98C7-427D-BD7E-0BE0F1A9683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69F05A-DCBD-4B85-B11F-DDBCF8E9200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4C1862-9D7D-4867-B015-B11771DE47F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BD6026-5CE8-486A-9BC0-1C41C23FE7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5884D9-B953-4650-A00D-DBE79B42910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D01A79-9865-49FA-B323-8C97083EEA8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AFD685-CBDA-4730-95DC-3E6CBC63D80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CFE8F2-027C-4C57-9B26-E402534C899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88913"/>
            <a:ext cx="20574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88913"/>
            <a:ext cx="60198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CFE25D-8A1D-46F6-BEBF-C85E3072F9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76800" y="1600200"/>
            <a:ext cx="38100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876800" y="3941763"/>
            <a:ext cx="38100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914400" y="6251575"/>
            <a:ext cx="1981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352800" y="6248400"/>
            <a:ext cx="2971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781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A480CA-1230-4D74-9836-5D415F61BE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hyperlink" Target="http://www.m62.net/" TargetMode="Externa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21" Type="http://schemas.openxmlformats.org/officeDocument/2006/relationships/image" Target="../media/image7.png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17" Type="http://schemas.openxmlformats.org/officeDocument/2006/relationships/hyperlink" Target="http://www.m62.net/powerpoint-slides/" TargetMode="Externa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4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hyperlink" Target="http://www.m62.net/presentation-theory/bullet-points-dont-work/beyond-bullet-points/" TargetMode="External"/><Relationship Id="rId10" Type="http://schemas.openxmlformats.org/officeDocument/2006/relationships/slideLayout" Target="../slideLayouts/slideLayout22.xml"/><Relationship Id="rId19" Type="http://schemas.openxmlformats.org/officeDocument/2006/relationships/hyperlink" Target="http://www.m62.net/powerpoint-training/" TargetMode="Externa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2" name="Picture 38" descr="background2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916" y="14844"/>
            <a:ext cx="9144000" cy="6858000"/>
          </a:xfrm>
          <a:prstGeom prst="rect">
            <a:avLst/>
          </a:prstGeom>
          <a:noFill/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8913"/>
            <a:ext cx="8218488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507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84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33400" y="62484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D7511D7-B783-4CDA-BF26-3E6D5B8F4FFE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73" r:id="rId12"/>
  </p:sldLayoutIdLst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2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40"/>
                            </p:stCondLst>
                            <p:childTnLst>
                              <p:par>
                                <p:cTn id="1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740"/>
                            </p:stCondLst>
                            <p:childTnLst>
                              <p:par>
                                <p:cTn id="2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420"/>
                            </p:stCondLst>
                            <p:childTnLst>
                              <p:par>
                                <p:cTn id="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120"/>
                            </p:stCondLst>
                            <p:childTnLst>
                              <p:par>
                                <p:cTn id="3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  <p:bldP spid="1027" grpId="0" build="p">
        <p:tmplLst>
          <p:tmpl lvl="1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53" presetClass="entr" presetSubtype="0" fill="hold" nodeType="afterEffect">
                  <p:stCondLst>
                    <p:cond delay="0"/>
                  </p:stCondLst>
                  <p:iterate type="lt">
                    <p:tmPct val="4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2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102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D9D9D9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dirty="0"/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-93663" y="6453188"/>
            <a:ext cx="8532813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r"/>
            <a:r>
              <a:rPr lang="en-US" sz="1200" dirty="0">
                <a:solidFill>
                  <a:srgbClr val="4D4D4D"/>
                </a:solidFill>
                <a:latin typeface="Neo Sans" pitchFamily="34" charset="0"/>
              </a:rPr>
              <a:t>m62 </a:t>
            </a:r>
            <a:r>
              <a:rPr lang="en-US" sz="1200" dirty="0" err="1">
                <a:solidFill>
                  <a:srgbClr val="4D4D4D"/>
                </a:solidFill>
                <a:latin typeface="Neo Sans" pitchFamily="34" charset="0"/>
              </a:rPr>
              <a:t>visualcommunications</a:t>
            </a:r>
            <a:r>
              <a:rPr lang="en-US" sz="1200" dirty="0">
                <a:solidFill>
                  <a:srgbClr val="4D4D4D"/>
                </a:solidFill>
                <a:latin typeface="Neo Sans" pitchFamily="34" charset="0"/>
              </a:rPr>
              <a:t> is the global leader in presentation effectiveness, from offices in the UK, USA, and Singapore</a:t>
            </a:r>
          </a:p>
        </p:txBody>
      </p:sp>
      <p:pic>
        <p:nvPicPr>
          <p:cNvPr id="7172" name="Picture 4" descr="m62-logo">
            <a:hlinkClick r:id="rId13"/>
          </p:cNvPr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02650" y="6484938"/>
            <a:ext cx="381000" cy="257175"/>
          </a:xfrm>
          <a:prstGeom prst="rect">
            <a:avLst/>
          </a:prstGeom>
          <a:noFill/>
        </p:spPr>
      </p:pic>
      <p:pic>
        <p:nvPicPr>
          <p:cNvPr id="7173" name="Picture 5" descr="1">
            <a:hlinkClick r:id="rId15"/>
          </p:cNvPr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260350" y="777875"/>
            <a:ext cx="2000250" cy="1457325"/>
          </a:xfrm>
          <a:prstGeom prst="rect">
            <a:avLst/>
          </a:prstGeom>
          <a:noFill/>
        </p:spPr>
      </p:pic>
      <p:pic>
        <p:nvPicPr>
          <p:cNvPr id="7174" name="Picture 6" descr="2">
            <a:hlinkClick r:id="rId17"/>
          </p:cNvPr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287338" y="2673350"/>
            <a:ext cx="2000250" cy="1457325"/>
          </a:xfrm>
          <a:prstGeom prst="rect">
            <a:avLst/>
          </a:prstGeom>
          <a:noFill/>
        </p:spPr>
      </p:pic>
      <p:pic>
        <p:nvPicPr>
          <p:cNvPr id="7175" name="Picture 7" descr="3">
            <a:hlinkClick r:id="rId19"/>
          </p:cNvPr>
          <p:cNvPicPr>
            <a:picLocks noChangeAspect="1" noChangeArrowheads="1"/>
          </p:cNvPicPr>
          <p:nvPr/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287338" y="4568825"/>
            <a:ext cx="2000250" cy="1457325"/>
          </a:xfrm>
          <a:prstGeom prst="rect">
            <a:avLst/>
          </a:prstGeom>
          <a:noFill/>
        </p:spPr>
      </p:pic>
      <p:sp>
        <p:nvSpPr>
          <p:cNvPr id="7176" name="Text Box 8">
            <a:hlinkClick r:id="rId15"/>
          </p:cNvPr>
          <p:cNvSpPr txBox="1">
            <a:spLocks noChangeArrowheads="1"/>
          </p:cNvSpPr>
          <p:nvPr/>
        </p:nvSpPr>
        <p:spPr bwMode="auto">
          <a:xfrm>
            <a:off x="379413" y="2290763"/>
            <a:ext cx="1636712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Beyond Bullet Points</a:t>
            </a:r>
          </a:p>
        </p:txBody>
      </p:sp>
      <p:sp>
        <p:nvSpPr>
          <p:cNvPr id="7177" name="Text Box 9">
            <a:hlinkClick r:id="rId17"/>
          </p:cNvPr>
          <p:cNvSpPr txBox="1">
            <a:spLocks noChangeArrowheads="1"/>
          </p:cNvSpPr>
          <p:nvPr/>
        </p:nvSpPr>
        <p:spPr bwMode="auto">
          <a:xfrm>
            <a:off x="379413" y="4189413"/>
            <a:ext cx="1417637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PowerPoint Slides</a:t>
            </a:r>
          </a:p>
        </p:txBody>
      </p:sp>
      <p:sp>
        <p:nvSpPr>
          <p:cNvPr id="7178" name="Text Box 10">
            <a:hlinkClick r:id="rId19"/>
          </p:cNvPr>
          <p:cNvSpPr txBox="1">
            <a:spLocks noChangeArrowheads="1"/>
          </p:cNvSpPr>
          <p:nvPr/>
        </p:nvSpPr>
        <p:spPr bwMode="auto">
          <a:xfrm>
            <a:off x="379413" y="6084888"/>
            <a:ext cx="1598612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/>
          <a:p>
            <a:r>
              <a:rPr lang="en-US" sz="1400">
                <a:solidFill>
                  <a:srgbClr val="135971"/>
                </a:solidFill>
                <a:latin typeface="Neo Sans" pitchFamily="34" charset="0"/>
              </a:rPr>
              <a:t>PowerPoint Training</a:t>
            </a:r>
          </a:p>
        </p:txBody>
      </p:sp>
      <p:pic>
        <p:nvPicPr>
          <p:cNvPr id="7179" name="Picture 11" descr="bg"/>
          <p:cNvPicPr>
            <a:picLocks noChangeAspect="1" noChangeArrowheads="1"/>
          </p:cNvPicPr>
          <p:nvPr/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2520950" y="777875"/>
            <a:ext cx="6362700" cy="5248275"/>
          </a:xfrm>
          <a:prstGeom prst="rect">
            <a:avLst/>
          </a:prstGeom>
          <a:noFill/>
        </p:spPr>
      </p:pic>
      <p:sp>
        <p:nvSpPr>
          <p:cNvPr id="7180" name="Text Box 12"/>
          <p:cNvSpPr txBox="1">
            <a:spLocks noChangeArrowheads="1"/>
          </p:cNvSpPr>
          <p:nvPr/>
        </p:nvSpPr>
        <p:spPr bwMode="auto">
          <a:xfrm>
            <a:off x="28575" y="188913"/>
            <a:ext cx="9115425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algn="ctr"/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It’s not the </a:t>
            </a:r>
            <a:r>
              <a:rPr lang="en-US" sz="2100" b="1">
                <a:solidFill>
                  <a:srgbClr val="333333"/>
                </a:solidFill>
                <a:latin typeface="Neo Sans" pitchFamily="34" charset="0"/>
              </a:rPr>
              <a:t>design</a:t>
            </a:r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 of your template, it’s what you </a:t>
            </a:r>
            <a:r>
              <a:rPr lang="en-US" sz="2100" b="1">
                <a:solidFill>
                  <a:srgbClr val="333333"/>
                </a:solidFill>
                <a:latin typeface="Neo Sans" pitchFamily="34" charset="0"/>
              </a:rPr>
              <a:t>do with it</a:t>
            </a:r>
            <a:r>
              <a:rPr lang="en-US" sz="2100">
                <a:solidFill>
                  <a:srgbClr val="333333"/>
                </a:solidFill>
                <a:latin typeface="Neo Sans" pitchFamily="34" charset="0"/>
              </a:rPr>
              <a:t> that counts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000">
          <a:solidFill>
            <a:srgbClr val="333333"/>
          </a:solidFill>
          <a:latin typeface="Neo Sans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676400"/>
            <a:ext cx="8382000" cy="1470025"/>
          </a:xfrm>
        </p:spPr>
        <p:txBody>
          <a:bodyPr/>
          <a:lstStyle/>
          <a:p>
            <a:r>
              <a:rPr lang="en-US" sz="4400" b="1" dirty="0"/>
              <a:t/>
            </a:r>
            <a:br>
              <a:rPr lang="en-US" sz="4400" b="1" dirty="0"/>
            </a:br>
            <a:r>
              <a:rPr lang="en-US" sz="4200" b="1" dirty="0" smtClean="0">
                <a:solidFill>
                  <a:srgbClr val="024069"/>
                </a:solidFill>
              </a:rPr>
              <a:t>Object Oriented Programming</a:t>
            </a:r>
            <a:r>
              <a:rPr lang="en-US" sz="4200" b="1" dirty="0">
                <a:solidFill>
                  <a:srgbClr val="024069"/>
                </a:solidFill>
              </a:rPr>
              <a:t/>
            </a:r>
            <a:br>
              <a:rPr lang="en-US" sz="4200" b="1" dirty="0">
                <a:solidFill>
                  <a:srgbClr val="024069"/>
                </a:solidFill>
              </a:rPr>
            </a:br>
            <a:r>
              <a:rPr lang="en-US" sz="4200" b="1" dirty="0">
                <a:solidFill>
                  <a:srgbClr val="024069"/>
                </a:solidFill>
              </a:rPr>
              <a:t>CSE </a:t>
            </a:r>
            <a:r>
              <a:rPr lang="en-US" sz="4200" b="1" dirty="0" smtClean="0">
                <a:solidFill>
                  <a:srgbClr val="024069"/>
                </a:solidFill>
              </a:rPr>
              <a:t>2101</a:t>
            </a:r>
            <a:r>
              <a:rPr lang="en-US" sz="4400" b="1" dirty="0">
                <a:solidFill>
                  <a:srgbClr val="024069"/>
                </a:solidFill>
              </a:rPr>
              <a:t/>
            </a:r>
            <a:br>
              <a:rPr lang="en-US" sz="4400" b="1" dirty="0">
                <a:solidFill>
                  <a:srgbClr val="024069"/>
                </a:solidFill>
              </a:rPr>
            </a:br>
            <a:r>
              <a:rPr lang="en-US" sz="4400" b="1" dirty="0">
                <a:solidFill>
                  <a:srgbClr val="024069"/>
                </a:solidFill>
              </a:rPr>
              <a:t/>
            </a:r>
            <a:br>
              <a:rPr lang="en-US" sz="4400" b="1" dirty="0">
                <a:solidFill>
                  <a:srgbClr val="024069"/>
                </a:solidFill>
              </a:rPr>
            </a:br>
            <a:r>
              <a:rPr lang="en-US" sz="2800" b="1" dirty="0">
                <a:solidFill>
                  <a:srgbClr val="024069"/>
                </a:solidFill>
              </a:rPr>
              <a:t>Lecture </a:t>
            </a:r>
            <a:r>
              <a:rPr lang="en-US" sz="2800" b="1">
                <a:solidFill>
                  <a:srgbClr val="024069"/>
                </a:solidFill>
              </a:rPr>
              <a:t>- </a:t>
            </a:r>
            <a:r>
              <a:rPr lang="en-US" sz="2800" b="1" smtClean="0">
                <a:solidFill>
                  <a:srgbClr val="024069"/>
                </a:solidFill>
              </a:rPr>
              <a:t>02</a:t>
            </a:r>
            <a:r>
              <a:rPr lang="en-US" sz="3200" b="1" dirty="0"/>
              <a:t/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934200" cy="1752600"/>
          </a:xfrm>
        </p:spPr>
        <p:txBody>
          <a:bodyPr/>
          <a:lstStyle/>
          <a:p>
            <a:r>
              <a:rPr lang="en-US" dirty="0"/>
              <a:t>Jubayer Al Mahmud</a:t>
            </a:r>
          </a:p>
          <a:p>
            <a:r>
              <a:rPr lang="en-US" sz="2400" dirty="0" smtClean="0"/>
              <a:t>Lecturer</a:t>
            </a:r>
            <a:endParaRPr lang="en-US" sz="2400" dirty="0"/>
          </a:p>
          <a:p>
            <a:r>
              <a:rPr lang="en-US" sz="2400" dirty="0" smtClean="0"/>
              <a:t>Jashore </a:t>
            </a:r>
            <a:r>
              <a:rPr lang="en-US" sz="2400" dirty="0"/>
              <a:t>University of </a:t>
            </a:r>
            <a:r>
              <a:rPr lang="en-US" sz="2400" dirty="0" smtClean="0"/>
              <a:t>Science </a:t>
            </a:r>
            <a:r>
              <a:rPr lang="en-US" sz="2400" dirty="0"/>
              <a:t>&amp; Technology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078" name="AutoShape 30"/>
          <p:cNvSpPr>
            <a:spLocks noChangeAspect="1" noChangeArrowheads="1" noTextEdit="1"/>
          </p:cNvSpPr>
          <p:nvPr/>
        </p:nvSpPr>
        <p:spPr bwMode="auto">
          <a:xfrm>
            <a:off x="468313" y="6367463"/>
            <a:ext cx="95885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115" name="Group 67"/>
          <p:cNvGrpSpPr>
            <a:grpSpLocks/>
          </p:cNvGrpSpPr>
          <p:nvPr/>
        </p:nvGrpSpPr>
        <p:grpSpPr bwMode="auto">
          <a:xfrm>
            <a:off x="228600" y="1371600"/>
            <a:ext cx="431800" cy="430213"/>
            <a:chOff x="5129" y="3937"/>
            <a:chExt cx="349" cy="348"/>
          </a:xfrm>
        </p:grpSpPr>
        <p:sp>
          <p:nvSpPr>
            <p:cNvPr id="2116" name="Freeform 68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7" name="Freeform 69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8" name="Freeform 70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19" name="Freeform 71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0" name="Freeform 72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1" name="Freeform 73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22" name="Group 74"/>
          <p:cNvGrpSpPr>
            <a:grpSpLocks/>
          </p:cNvGrpSpPr>
          <p:nvPr/>
        </p:nvGrpSpPr>
        <p:grpSpPr bwMode="auto">
          <a:xfrm>
            <a:off x="457200" y="1143000"/>
            <a:ext cx="219075" cy="219075"/>
            <a:chOff x="5114" y="3685"/>
            <a:chExt cx="246" cy="246"/>
          </a:xfrm>
        </p:grpSpPr>
        <p:sp>
          <p:nvSpPr>
            <p:cNvPr id="2123" name="Freeform 75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4" name="Freeform 76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5" name="Freeform 77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6" name="Freeform 78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7" name="Freeform 79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8" name="Freeform 80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591541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1000" fill="hold"/>
                                        <p:tgtEl>
                                          <p:spTgt spid="21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1000" fill="hold"/>
                                        <p:tgtEl>
                                          <p:spTgt spid="21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651750" cy="1143001"/>
          </a:xfrm>
        </p:spPr>
        <p:txBody>
          <a:bodyPr/>
          <a:lstStyle/>
          <a:p>
            <a:r>
              <a:rPr lang="en-US" sz="4400" dirty="0">
                <a:solidFill>
                  <a:schemeClr val="accent6"/>
                </a:solidFill>
              </a:rPr>
              <a:t>Outline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1296987"/>
            <a:ext cx="8229600" cy="4495801"/>
          </a:xfrm>
        </p:spPr>
        <p:txBody>
          <a:bodyPr/>
          <a:lstStyle/>
          <a:p>
            <a:r>
              <a:rPr lang="en-US" sz="2400" noProof="1"/>
              <a:t>Example of a Java program</a:t>
            </a:r>
          </a:p>
          <a:p>
            <a:r>
              <a:rPr lang="en-US" sz="2400" noProof="1"/>
              <a:t>JRE &amp; JDK</a:t>
            </a:r>
          </a:p>
          <a:p>
            <a:r>
              <a:rPr lang="en-US" sz="2400" noProof="1"/>
              <a:t>Implementing a Java program</a:t>
            </a:r>
          </a:p>
          <a:p>
            <a:r>
              <a:rPr lang="en-US" sz="2400" noProof="1"/>
              <a:t>Java data types and literals</a:t>
            </a:r>
          </a:p>
          <a:p>
            <a:endParaRPr lang="en-US" sz="2400" noProof="1"/>
          </a:p>
          <a:p>
            <a:endParaRPr lang="en-US" sz="2400" noProof="1"/>
          </a:p>
          <a:p>
            <a:endParaRPr lang="en-US" sz="2400" noProof="1"/>
          </a:p>
        </p:txBody>
      </p:sp>
      <p:grpSp>
        <p:nvGrpSpPr>
          <p:cNvPr id="4107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24" name="Group 28"/>
          <p:cNvGrpSpPr>
            <a:grpSpLocks/>
          </p:cNvGrpSpPr>
          <p:nvPr/>
        </p:nvGrpSpPr>
        <p:grpSpPr bwMode="auto">
          <a:xfrm>
            <a:off x="8494713" y="5792788"/>
            <a:ext cx="554037" cy="552450"/>
            <a:chOff x="5369" y="3667"/>
            <a:chExt cx="349" cy="348"/>
          </a:xfrm>
        </p:grpSpPr>
        <p:sp>
          <p:nvSpPr>
            <p:cNvPr id="4125" name="Freeform 29"/>
            <p:cNvSpPr>
              <a:spLocks/>
            </p:cNvSpPr>
            <p:nvPr/>
          </p:nvSpPr>
          <p:spPr bwMode="auto">
            <a:xfrm>
              <a:off x="5396" y="3667"/>
              <a:ext cx="138" cy="112"/>
            </a:xfrm>
            <a:custGeom>
              <a:avLst/>
              <a:gdLst/>
              <a:ahLst/>
              <a:cxnLst>
                <a:cxn ang="0">
                  <a:pos x="182" y="86"/>
                </a:cxn>
                <a:cxn ang="0">
                  <a:pos x="182" y="0"/>
                </a:cxn>
                <a:cxn ang="0">
                  <a:pos x="182" y="0"/>
                </a:cxn>
                <a:cxn ang="0">
                  <a:pos x="154" y="2"/>
                </a:cxn>
                <a:cxn ang="0">
                  <a:pos x="128" y="10"/>
                </a:cxn>
                <a:cxn ang="0">
                  <a:pos x="102" y="18"/>
                </a:cxn>
                <a:cxn ang="0">
                  <a:pos x="78" y="30"/>
                </a:cxn>
                <a:cxn ang="0">
                  <a:pos x="56" y="46"/>
                </a:cxn>
                <a:cxn ang="0">
                  <a:pos x="36" y="64"/>
                </a:cxn>
                <a:cxn ang="0">
                  <a:pos x="16" y="82"/>
                </a:cxn>
                <a:cxn ang="0">
                  <a:pos x="0" y="104"/>
                </a:cxn>
                <a:cxn ang="0">
                  <a:pos x="76" y="148"/>
                </a:cxn>
                <a:cxn ang="0">
                  <a:pos x="76" y="148"/>
                </a:cxn>
                <a:cxn ang="0">
                  <a:pos x="86" y="136"/>
                </a:cxn>
                <a:cxn ang="0">
                  <a:pos x="96" y="124"/>
                </a:cxn>
                <a:cxn ang="0">
                  <a:pos x="108" y="114"/>
                </a:cxn>
                <a:cxn ang="0">
                  <a:pos x="122" y="104"/>
                </a:cxn>
                <a:cxn ang="0">
                  <a:pos x="136" y="98"/>
                </a:cxn>
                <a:cxn ang="0">
                  <a:pos x="150" y="92"/>
                </a:cxn>
                <a:cxn ang="0">
                  <a:pos x="166" y="88"/>
                </a:cxn>
                <a:cxn ang="0">
                  <a:pos x="182" y="86"/>
                </a:cxn>
                <a:cxn ang="0">
                  <a:pos x="182" y="86"/>
                </a:cxn>
              </a:cxnLst>
              <a:rect l="0" t="0" r="r" b="b"/>
              <a:pathLst>
                <a:path w="182" h="148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auto">
            <a:xfrm>
              <a:off x="5642" y="3761"/>
              <a:ext cx="76" cy="160"/>
            </a:xfrm>
            <a:custGeom>
              <a:avLst/>
              <a:gdLst/>
              <a:ahLst/>
              <a:cxnLst>
                <a:cxn ang="0">
                  <a:pos x="14" y="106"/>
                </a:cxn>
                <a:cxn ang="0">
                  <a:pos x="14" y="106"/>
                </a:cxn>
                <a:cxn ang="0">
                  <a:pos x="14" y="122"/>
                </a:cxn>
                <a:cxn ang="0">
                  <a:pos x="10" y="138"/>
                </a:cxn>
                <a:cxn ang="0">
                  <a:pos x="6" y="152"/>
                </a:cxn>
                <a:cxn ang="0">
                  <a:pos x="0" y="168"/>
                </a:cxn>
                <a:cxn ang="0">
                  <a:pos x="74" y="210"/>
                </a:cxn>
                <a:cxn ang="0">
                  <a:pos x="74" y="210"/>
                </a:cxn>
                <a:cxn ang="0">
                  <a:pos x="86" y="186"/>
                </a:cxn>
                <a:cxn ang="0">
                  <a:pos x="94" y="160"/>
                </a:cxn>
                <a:cxn ang="0">
                  <a:pos x="98" y="134"/>
                </a:cxn>
                <a:cxn ang="0">
                  <a:pos x="100" y="106"/>
                </a:cxn>
                <a:cxn ang="0">
                  <a:pos x="100" y="106"/>
                </a:cxn>
                <a:cxn ang="0">
                  <a:pos x="98" y="78"/>
                </a:cxn>
                <a:cxn ang="0">
                  <a:pos x="94" y="50"/>
                </a:cxn>
                <a:cxn ang="0">
                  <a:pos x="86" y="24"/>
                </a:cxn>
                <a:cxn ang="0">
                  <a:pos x="74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6" y="58"/>
                </a:cxn>
                <a:cxn ang="0">
                  <a:pos x="10" y="72"/>
                </a:cxn>
                <a:cxn ang="0">
                  <a:pos x="14" y="88"/>
                </a:cxn>
                <a:cxn ang="0">
                  <a:pos x="14" y="106"/>
                </a:cxn>
                <a:cxn ang="0">
                  <a:pos x="14" y="106"/>
                </a:cxn>
              </a:cxnLst>
              <a:rect l="0" t="0" r="r" b="b"/>
              <a:pathLst>
                <a:path w="100" h="21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auto">
            <a:xfrm>
              <a:off x="5369" y="3761"/>
              <a:ext cx="76" cy="160"/>
            </a:xfrm>
            <a:custGeom>
              <a:avLst/>
              <a:gdLst/>
              <a:ahLst/>
              <a:cxnLst>
                <a:cxn ang="0">
                  <a:pos x="86" y="106"/>
                </a:cxn>
                <a:cxn ang="0">
                  <a:pos x="86" y="106"/>
                </a:cxn>
                <a:cxn ang="0">
                  <a:pos x="86" y="88"/>
                </a:cxn>
                <a:cxn ang="0">
                  <a:pos x="90" y="72"/>
                </a:cxn>
                <a:cxn ang="0">
                  <a:pos x="94" y="58"/>
                </a:cxn>
                <a:cxn ang="0">
                  <a:pos x="100" y="44"/>
                </a:cxn>
                <a:cxn ang="0">
                  <a:pos x="26" y="0"/>
                </a:cxn>
                <a:cxn ang="0">
                  <a:pos x="26" y="0"/>
                </a:cxn>
                <a:cxn ang="0">
                  <a:pos x="14" y="24"/>
                </a:cxn>
                <a:cxn ang="0">
                  <a:pos x="6" y="50"/>
                </a:cxn>
                <a:cxn ang="0">
                  <a:pos x="2" y="78"/>
                </a:cxn>
                <a:cxn ang="0">
                  <a:pos x="0" y="106"/>
                </a:cxn>
                <a:cxn ang="0">
                  <a:pos x="0" y="106"/>
                </a:cxn>
                <a:cxn ang="0">
                  <a:pos x="2" y="134"/>
                </a:cxn>
                <a:cxn ang="0">
                  <a:pos x="6" y="160"/>
                </a:cxn>
                <a:cxn ang="0">
                  <a:pos x="14" y="186"/>
                </a:cxn>
                <a:cxn ang="0">
                  <a:pos x="26" y="210"/>
                </a:cxn>
                <a:cxn ang="0">
                  <a:pos x="100" y="168"/>
                </a:cxn>
                <a:cxn ang="0">
                  <a:pos x="100" y="168"/>
                </a:cxn>
                <a:cxn ang="0">
                  <a:pos x="94" y="152"/>
                </a:cxn>
                <a:cxn ang="0">
                  <a:pos x="90" y="138"/>
                </a:cxn>
                <a:cxn ang="0">
                  <a:pos x="86" y="122"/>
                </a:cxn>
                <a:cxn ang="0">
                  <a:pos x="86" y="106"/>
                </a:cxn>
                <a:cxn ang="0">
                  <a:pos x="86" y="106"/>
                </a:cxn>
              </a:cxnLst>
              <a:rect l="0" t="0" r="r" b="b"/>
              <a:pathLst>
                <a:path w="100" h="21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auto">
            <a:xfrm>
              <a:off x="5396" y="3902"/>
              <a:ext cx="138" cy="11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16" y="66"/>
                </a:cxn>
                <a:cxn ang="0">
                  <a:pos x="36" y="84"/>
                </a:cxn>
                <a:cxn ang="0">
                  <a:pos x="56" y="102"/>
                </a:cxn>
                <a:cxn ang="0">
                  <a:pos x="78" y="118"/>
                </a:cxn>
                <a:cxn ang="0">
                  <a:pos x="102" y="130"/>
                </a:cxn>
                <a:cxn ang="0">
                  <a:pos x="128" y="138"/>
                </a:cxn>
                <a:cxn ang="0">
                  <a:pos x="154" y="146"/>
                </a:cxn>
                <a:cxn ang="0">
                  <a:pos x="182" y="148"/>
                </a:cxn>
                <a:cxn ang="0">
                  <a:pos x="182" y="62"/>
                </a:cxn>
                <a:cxn ang="0">
                  <a:pos x="182" y="62"/>
                </a:cxn>
                <a:cxn ang="0">
                  <a:pos x="166" y="60"/>
                </a:cxn>
                <a:cxn ang="0">
                  <a:pos x="150" y="56"/>
                </a:cxn>
                <a:cxn ang="0">
                  <a:pos x="136" y="50"/>
                </a:cxn>
                <a:cxn ang="0">
                  <a:pos x="122" y="44"/>
                </a:cxn>
                <a:cxn ang="0">
                  <a:pos x="108" y="34"/>
                </a:cxn>
                <a:cxn ang="0">
                  <a:pos x="96" y="24"/>
                </a:cxn>
                <a:cxn ang="0">
                  <a:pos x="86" y="14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182" h="148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auto">
            <a:xfrm>
              <a:off x="5553" y="3667"/>
              <a:ext cx="138" cy="112"/>
            </a:xfrm>
            <a:custGeom>
              <a:avLst/>
              <a:gdLst/>
              <a:ahLst/>
              <a:cxnLst>
                <a:cxn ang="0">
                  <a:pos x="106" y="148"/>
                </a:cxn>
                <a:cxn ang="0">
                  <a:pos x="182" y="104"/>
                </a:cxn>
                <a:cxn ang="0">
                  <a:pos x="182" y="104"/>
                </a:cxn>
                <a:cxn ang="0">
                  <a:pos x="166" y="82"/>
                </a:cxn>
                <a:cxn ang="0">
                  <a:pos x="148" y="64"/>
                </a:cxn>
                <a:cxn ang="0">
                  <a:pos x="126" y="46"/>
                </a:cxn>
                <a:cxn ang="0">
                  <a:pos x="104" y="30"/>
                </a:cxn>
                <a:cxn ang="0">
                  <a:pos x="80" y="18"/>
                </a:cxn>
                <a:cxn ang="0">
                  <a:pos x="54" y="10"/>
                </a:cxn>
                <a:cxn ang="0">
                  <a:pos x="28" y="2"/>
                </a:cxn>
                <a:cxn ang="0">
                  <a:pos x="0" y="0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16" y="88"/>
                </a:cxn>
                <a:cxn ang="0">
                  <a:pos x="32" y="92"/>
                </a:cxn>
                <a:cxn ang="0">
                  <a:pos x="46" y="98"/>
                </a:cxn>
                <a:cxn ang="0">
                  <a:pos x="60" y="104"/>
                </a:cxn>
                <a:cxn ang="0">
                  <a:pos x="74" y="114"/>
                </a:cxn>
                <a:cxn ang="0">
                  <a:pos x="86" y="124"/>
                </a:cxn>
                <a:cxn ang="0">
                  <a:pos x="98" y="136"/>
                </a:cxn>
                <a:cxn ang="0">
                  <a:pos x="106" y="148"/>
                </a:cxn>
                <a:cxn ang="0">
                  <a:pos x="106" y="148"/>
                </a:cxn>
              </a:cxnLst>
              <a:rect l="0" t="0" r="r" b="b"/>
              <a:pathLst>
                <a:path w="182" h="148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auto">
            <a:xfrm>
              <a:off x="5553" y="3902"/>
              <a:ext cx="138" cy="113"/>
            </a:xfrm>
            <a:custGeom>
              <a:avLst/>
              <a:gdLst/>
              <a:ahLst/>
              <a:cxnLst>
                <a:cxn ang="0">
                  <a:pos x="0" y="62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28" y="146"/>
                </a:cxn>
                <a:cxn ang="0">
                  <a:pos x="54" y="138"/>
                </a:cxn>
                <a:cxn ang="0">
                  <a:pos x="80" y="130"/>
                </a:cxn>
                <a:cxn ang="0">
                  <a:pos x="104" y="118"/>
                </a:cxn>
                <a:cxn ang="0">
                  <a:pos x="126" y="102"/>
                </a:cxn>
                <a:cxn ang="0">
                  <a:pos x="148" y="84"/>
                </a:cxn>
                <a:cxn ang="0">
                  <a:pos x="166" y="66"/>
                </a:cxn>
                <a:cxn ang="0">
                  <a:pos x="182" y="44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98" y="14"/>
                </a:cxn>
                <a:cxn ang="0">
                  <a:pos x="86" y="24"/>
                </a:cxn>
                <a:cxn ang="0">
                  <a:pos x="74" y="34"/>
                </a:cxn>
                <a:cxn ang="0">
                  <a:pos x="60" y="44"/>
                </a:cxn>
                <a:cxn ang="0">
                  <a:pos x="46" y="50"/>
                </a:cxn>
                <a:cxn ang="0">
                  <a:pos x="32" y="56"/>
                </a:cxn>
                <a:cxn ang="0">
                  <a:pos x="16" y="60"/>
                </a:cxn>
                <a:cxn ang="0">
                  <a:pos x="0" y="62"/>
                </a:cxn>
                <a:cxn ang="0">
                  <a:pos x="0" y="62"/>
                </a:cxn>
              </a:cxnLst>
              <a:rect l="0" t="0" r="r" b="b"/>
              <a:pathLst>
                <a:path w="182" h="148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31" name="Group 35"/>
          <p:cNvGrpSpPr>
            <a:grpSpLocks/>
          </p:cNvGrpSpPr>
          <p:nvPr/>
        </p:nvGrpSpPr>
        <p:grpSpPr bwMode="auto">
          <a:xfrm>
            <a:off x="8113713" y="6221413"/>
            <a:ext cx="554037" cy="552450"/>
            <a:chOff x="5129" y="3937"/>
            <a:chExt cx="349" cy="348"/>
          </a:xfrm>
        </p:grpSpPr>
        <p:sp>
          <p:nvSpPr>
            <p:cNvPr id="4132" name="Freeform 36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138" name="Group 42"/>
          <p:cNvGrpSpPr>
            <a:grpSpLocks/>
          </p:cNvGrpSpPr>
          <p:nvPr/>
        </p:nvGrpSpPr>
        <p:grpSpPr bwMode="auto">
          <a:xfrm>
            <a:off x="8089900" y="5821363"/>
            <a:ext cx="390525" cy="390525"/>
            <a:chOff x="5114" y="3685"/>
            <a:chExt cx="246" cy="246"/>
          </a:xfrm>
        </p:grpSpPr>
        <p:sp>
          <p:nvSpPr>
            <p:cNvPr id="4139" name="Freeform 43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5440-4C8F-497D-8DC5-47855554306F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0191 -0.00185 L -2.77778E-6 5.78035E-7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100" y="10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500" fill="hold"/>
                                        <p:tgtEl>
                                          <p:spTgt spid="41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500" fill="hold"/>
                                        <p:tgtEl>
                                          <p:spTgt spid="41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" dur="1000" fill="hold"/>
                                        <p:tgtEl>
                                          <p:spTgt spid="41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17" dur="5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3200" dirty="0">
                <a:solidFill>
                  <a:srgbClr val="024069"/>
                </a:solidFill>
              </a:rPr>
              <a:t>Java Program</a:t>
            </a:r>
          </a:p>
        </p:txBody>
      </p:sp>
      <p:sp>
        <p:nvSpPr>
          <p:cNvPr id="10243" name="Oval 4"/>
          <p:cNvSpPr>
            <a:spLocks noChangeArrowheads="1"/>
          </p:cNvSpPr>
          <p:nvPr/>
        </p:nvSpPr>
        <p:spPr bwMode="auto">
          <a:xfrm>
            <a:off x="3581400" y="990600"/>
            <a:ext cx="1600200" cy="838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>
                <a:latin typeface="Times New Roman" pitchFamily="18" charset="0"/>
              </a:rPr>
              <a:t>Java Source </a:t>
            </a:r>
          </a:p>
          <a:p>
            <a:pPr algn="ctr" eaLnBrk="0" hangingPunct="0"/>
            <a:r>
              <a:rPr lang="en-US">
                <a:latin typeface="Times New Roman" pitchFamily="18" charset="0"/>
              </a:rPr>
              <a:t>Code</a:t>
            </a:r>
          </a:p>
        </p:txBody>
      </p:sp>
      <p:sp>
        <p:nvSpPr>
          <p:cNvPr id="10244" name="Line 5"/>
          <p:cNvSpPr>
            <a:spLocks noChangeShapeType="1"/>
          </p:cNvSpPr>
          <p:nvPr/>
        </p:nvSpPr>
        <p:spPr bwMode="auto">
          <a:xfrm>
            <a:off x="4343400" y="1828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245" name="Rectangle 6"/>
          <p:cNvSpPr>
            <a:spLocks noChangeArrowheads="1"/>
          </p:cNvSpPr>
          <p:nvPr/>
        </p:nvSpPr>
        <p:spPr bwMode="auto">
          <a:xfrm>
            <a:off x="3124200" y="2209800"/>
            <a:ext cx="2667000" cy="762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>
                <a:latin typeface="Times New Roman" pitchFamily="18" charset="0"/>
              </a:rPr>
              <a:t>Java Compiler</a:t>
            </a:r>
          </a:p>
        </p:txBody>
      </p:sp>
      <p:sp>
        <p:nvSpPr>
          <p:cNvPr id="10246" name="Oval 7"/>
          <p:cNvSpPr>
            <a:spLocks noChangeArrowheads="1"/>
          </p:cNvSpPr>
          <p:nvPr/>
        </p:nvSpPr>
        <p:spPr bwMode="auto">
          <a:xfrm>
            <a:off x="990600" y="4038600"/>
            <a:ext cx="2209800" cy="685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>
                <a:latin typeface="Times New Roman" pitchFamily="18" charset="0"/>
              </a:rPr>
              <a:t>Java Enabled </a:t>
            </a:r>
          </a:p>
          <a:p>
            <a:pPr algn="ctr" eaLnBrk="0" hangingPunct="0"/>
            <a:r>
              <a:rPr lang="en-US">
                <a:latin typeface="Times New Roman" pitchFamily="18" charset="0"/>
              </a:rPr>
              <a:t>Browser</a:t>
            </a:r>
          </a:p>
        </p:txBody>
      </p:sp>
      <p:sp>
        <p:nvSpPr>
          <p:cNvPr id="10247" name="Oval 8"/>
          <p:cNvSpPr>
            <a:spLocks noChangeArrowheads="1"/>
          </p:cNvSpPr>
          <p:nvPr/>
        </p:nvSpPr>
        <p:spPr bwMode="auto">
          <a:xfrm>
            <a:off x="4953000" y="4114800"/>
            <a:ext cx="2971800" cy="762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Times New Roman" pitchFamily="18" charset="0"/>
              </a:rPr>
              <a:t>Java Interpreter</a:t>
            </a:r>
          </a:p>
        </p:txBody>
      </p:sp>
      <p:sp>
        <p:nvSpPr>
          <p:cNvPr id="10248" name="Line 9"/>
          <p:cNvSpPr>
            <a:spLocks noChangeShapeType="1"/>
          </p:cNvSpPr>
          <p:nvPr/>
        </p:nvSpPr>
        <p:spPr bwMode="auto">
          <a:xfrm flipH="1">
            <a:off x="2438400" y="2971800"/>
            <a:ext cx="1066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249" name="Line 10"/>
          <p:cNvSpPr>
            <a:spLocks noChangeShapeType="1"/>
          </p:cNvSpPr>
          <p:nvPr/>
        </p:nvSpPr>
        <p:spPr bwMode="auto">
          <a:xfrm>
            <a:off x="5181600" y="2971800"/>
            <a:ext cx="11430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250" name="Text Box 11"/>
          <p:cNvSpPr txBox="1">
            <a:spLocks noChangeArrowheads="1"/>
          </p:cNvSpPr>
          <p:nvPr/>
        </p:nvSpPr>
        <p:spPr bwMode="auto">
          <a:xfrm>
            <a:off x="6248400" y="2971800"/>
            <a:ext cx="2362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Application Type</a:t>
            </a:r>
          </a:p>
        </p:txBody>
      </p:sp>
      <p:sp>
        <p:nvSpPr>
          <p:cNvPr id="10251" name="Text Box 14"/>
          <p:cNvSpPr txBox="1">
            <a:spLocks noChangeArrowheads="1"/>
          </p:cNvSpPr>
          <p:nvPr/>
        </p:nvSpPr>
        <p:spPr bwMode="auto">
          <a:xfrm>
            <a:off x="1295400" y="3048000"/>
            <a:ext cx="1447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>
                <a:latin typeface="Times New Roman" pitchFamily="18" charset="0"/>
              </a:rPr>
              <a:t>Applet Type</a:t>
            </a:r>
          </a:p>
        </p:txBody>
      </p:sp>
      <p:sp>
        <p:nvSpPr>
          <p:cNvPr id="10252" name="Line 15"/>
          <p:cNvSpPr>
            <a:spLocks noChangeShapeType="1"/>
          </p:cNvSpPr>
          <p:nvPr/>
        </p:nvSpPr>
        <p:spPr bwMode="auto">
          <a:xfrm>
            <a:off x="2057400" y="47244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253" name="Line 16"/>
          <p:cNvSpPr>
            <a:spLocks noChangeShapeType="1"/>
          </p:cNvSpPr>
          <p:nvPr/>
        </p:nvSpPr>
        <p:spPr bwMode="auto">
          <a:xfrm>
            <a:off x="6477000" y="4876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254" name="Rectangle 17"/>
          <p:cNvSpPr>
            <a:spLocks noChangeArrowheads="1"/>
          </p:cNvSpPr>
          <p:nvPr/>
        </p:nvSpPr>
        <p:spPr bwMode="auto">
          <a:xfrm>
            <a:off x="1219200" y="5029200"/>
            <a:ext cx="17526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>
                <a:latin typeface="Times New Roman" pitchFamily="18" charset="0"/>
              </a:rPr>
              <a:t>Output</a:t>
            </a:r>
          </a:p>
        </p:txBody>
      </p:sp>
      <p:sp>
        <p:nvSpPr>
          <p:cNvPr id="10255" name="Rectangle 18"/>
          <p:cNvSpPr>
            <a:spLocks noChangeArrowheads="1"/>
          </p:cNvSpPr>
          <p:nvPr/>
        </p:nvSpPr>
        <p:spPr bwMode="auto">
          <a:xfrm>
            <a:off x="5410200" y="5181600"/>
            <a:ext cx="21336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>
                <a:latin typeface="Times New Roman" pitchFamily="18" charset="0"/>
              </a:rPr>
              <a:t>Output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24069"/>
                </a:solidFill>
              </a:rPr>
              <a:t>Simple Java Program-Example 1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1600200"/>
            <a:ext cx="8534400" cy="487362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000" dirty="0">
                <a:latin typeface="Times New Roman" pitchFamily="18" charset="0"/>
              </a:rPr>
              <a:t>/*This is a simple java program*/ </a:t>
            </a:r>
          </a:p>
          <a:p>
            <a:pPr>
              <a:buFont typeface="Wingdings" pitchFamily="2" charset="2"/>
              <a:buNone/>
            </a:pPr>
            <a:endParaRPr lang="en-US" sz="2000" dirty="0"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sz="2000" dirty="0">
                <a:latin typeface="Consolas" pitchFamily="49" charset="0"/>
              </a:rPr>
              <a:t>Public class Example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latin typeface="Consolas" pitchFamily="49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latin typeface="Consolas" pitchFamily="49" charset="0"/>
              </a:rPr>
              <a:t>	public static void main (String </a:t>
            </a:r>
            <a:r>
              <a:rPr lang="en-US" sz="2000" dirty="0" err="1">
                <a:latin typeface="Consolas" pitchFamily="49" charset="0"/>
              </a:rPr>
              <a:t>args</a:t>
            </a:r>
            <a:r>
              <a:rPr lang="en-US" sz="2000" dirty="0">
                <a:latin typeface="Consolas" pitchFamily="49" charset="0"/>
              </a:rPr>
              <a:t>[])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latin typeface="Consolas" pitchFamily="49" charset="0"/>
              </a:rPr>
              <a:t>	{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latin typeface="Consolas" pitchFamily="49" charset="0"/>
              </a:rPr>
              <a:t>		</a:t>
            </a:r>
            <a:r>
              <a:rPr lang="en-US" sz="2000" dirty="0" err="1">
                <a:latin typeface="Consolas" pitchFamily="49" charset="0"/>
              </a:rPr>
              <a:t>System.out.println</a:t>
            </a:r>
            <a:r>
              <a:rPr lang="en-US" sz="2000" dirty="0">
                <a:latin typeface="Consolas" pitchFamily="49" charset="0"/>
              </a:rPr>
              <a:t> (“This is a simple Java program”);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latin typeface="Consolas" pitchFamily="49" charset="0"/>
              </a:rPr>
              <a:t>	}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latin typeface="Consolas" pitchFamily="49" charset="0"/>
              </a:rPr>
              <a:t>}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3050"/>
            <a:ext cx="8218488" cy="565150"/>
          </a:xfrm>
        </p:spPr>
        <p:txBody>
          <a:bodyPr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24069"/>
                </a:solidFill>
              </a:rPr>
              <a:t>Simple Java Program-Some important points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533400" y="1143000"/>
            <a:ext cx="8305800" cy="4873625"/>
          </a:xfrm>
        </p:spPr>
        <p:txBody>
          <a:bodyPr/>
          <a:lstStyle/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b="1" dirty="0"/>
              <a:t>public</a:t>
            </a:r>
            <a:endParaRPr lang="en-US" sz="2400" dirty="0"/>
          </a:p>
          <a:p>
            <a:pPr lvl="1">
              <a:lnSpc>
                <a:spcPct val="90000"/>
              </a:lnSpc>
              <a:buFont typeface="Arial" pitchFamily="34" charset="0"/>
              <a:buChar char="•"/>
            </a:pPr>
            <a:r>
              <a:rPr lang="en-US" sz="2000" dirty="0"/>
              <a:t>Access specifier. main() must be made public, since it must be called by code defined outside it’s class.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b="1" dirty="0"/>
              <a:t>Static</a:t>
            </a:r>
          </a:p>
          <a:p>
            <a:pPr lvl="1">
              <a:lnSpc>
                <a:spcPct val="90000"/>
              </a:lnSpc>
              <a:buFont typeface="Arial" pitchFamily="34" charset="0"/>
              <a:buChar char="•"/>
            </a:pPr>
            <a:r>
              <a:rPr lang="en-US" sz="2000" dirty="0"/>
              <a:t>It is required because main() is called without creating an object of it’s class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b="1" dirty="0"/>
              <a:t>String </a:t>
            </a:r>
            <a:r>
              <a:rPr lang="en-US" sz="2400" b="1" dirty="0" err="1"/>
              <a:t>args</a:t>
            </a:r>
            <a:r>
              <a:rPr lang="en-US" sz="2400" b="1" dirty="0"/>
              <a:t>[ ]</a:t>
            </a:r>
          </a:p>
          <a:p>
            <a:pPr lvl="1">
              <a:lnSpc>
                <a:spcPct val="90000"/>
              </a:lnSpc>
              <a:buFont typeface="Arial" pitchFamily="34" charset="0"/>
              <a:buChar char="•"/>
            </a:pPr>
            <a:r>
              <a:rPr lang="en-US" sz="2000" dirty="0"/>
              <a:t>An array of objects of type String class. Each object of type string contains a character string. It is used to manipulate command line argument.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>
                <a:solidFill>
                  <a:srgbClr val="024069"/>
                </a:solidFill>
              </a:rPr>
              <a:t>Java is case sensitive.</a:t>
            </a:r>
          </a:p>
          <a:p>
            <a:pPr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/>
              <a:t>System           predefined class that refers to system.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out           It is static data member of System class</a:t>
            </a:r>
          </a:p>
          <a:p>
            <a:pPr>
              <a:lnSpc>
                <a:spcPct val="90000"/>
              </a:lnSpc>
            </a:pPr>
            <a:r>
              <a:rPr lang="en-US" sz="2400" dirty="0" err="1"/>
              <a:t>println</a:t>
            </a:r>
            <a:r>
              <a:rPr lang="en-US" sz="2400" dirty="0"/>
              <a:t>()      It is a member of out object </a:t>
            </a:r>
            <a:endParaRPr lang="en-US" sz="2400" b="1" dirty="0"/>
          </a:p>
        </p:txBody>
      </p:sp>
      <p:sp>
        <p:nvSpPr>
          <p:cNvPr id="12292" name="Line 4"/>
          <p:cNvSpPr>
            <a:spLocks noChangeShapeType="1"/>
          </p:cNvSpPr>
          <p:nvPr/>
        </p:nvSpPr>
        <p:spPr bwMode="auto">
          <a:xfrm>
            <a:off x="2133600" y="5029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293" name="Line 8"/>
          <p:cNvSpPr>
            <a:spLocks noChangeShapeType="1"/>
          </p:cNvSpPr>
          <p:nvPr/>
        </p:nvSpPr>
        <p:spPr bwMode="auto">
          <a:xfrm>
            <a:off x="1447800" y="54864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294" name="Line 10"/>
          <p:cNvSpPr>
            <a:spLocks noChangeShapeType="1"/>
          </p:cNvSpPr>
          <p:nvPr/>
        </p:nvSpPr>
        <p:spPr bwMode="auto">
          <a:xfrm>
            <a:off x="2057400" y="58674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3200" dirty="0">
                <a:solidFill>
                  <a:srgbClr val="024069"/>
                </a:solidFill>
              </a:rPr>
              <a:t>JRE and JDK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914400" y="1600200"/>
            <a:ext cx="7467600" cy="4530725"/>
          </a:xfrm>
        </p:spPr>
        <p:txBody>
          <a:bodyPr>
            <a:normAutofit/>
          </a:bodyPr>
          <a:lstStyle/>
          <a:p>
            <a:pPr marL="1074420" lvl="2" indent="-274320"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b="1" dirty="0"/>
              <a:t>JRE: Java Runtime Environment</a:t>
            </a:r>
          </a:p>
          <a:p>
            <a:pPr marL="1497330" lvl="3" indent="-274320"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en-US" sz="1600" dirty="0"/>
              <a:t>provides </a:t>
            </a:r>
          </a:p>
          <a:p>
            <a:pPr lvl="4" indent="-182880" fontAlgn="auto">
              <a:lnSpc>
                <a:spcPct val="8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libraries, </a:t>
            </a:r>
          </a:p>
          <a:p>
            <a:pPr lvl="4" indent="-182880" fontAlgn="auto">
              <a:lnSpc>
                <a:spcPct val="8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Java virtual machine, </a:t>
            </a:r>
          </a:p>
          <a:p>
            <a:pPr lvl="4" indent="-182880" fontAlgn="auto">
              <a:lnSpc>
                <a:spcPct val="8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dirty="0"/>
              <a:t>other components necessary for you to run applets and applications</a:t>
            </a:r>
          </a:p>
          <a:p>
            <a:pPr marL="274320" indent="-274320" fontAlgn="auto">
              <a:lnSpc>
                <a:spcPct val="80000"/>
              </a:lnSpc>
              <a:spcAft>
                <a:spcPts val="0"/>
              </a:spcAft>
              <a:buSzTx/>
              <a:buFont typeface="Wingdings" pitchFamily="2" charset="2"/>
              <a:buChar char="ü"/>
              <a:defRPr/>
            </a:pPr>
            <a:r>
              <a:rPr lang="en-US" b="1" dirty="0"/>
              <a:t>JDK: Java Development Kit</a:t>
            </a:r>
          </a:p>
          <a:p>
            <a:pPr marL="640080" lvl="1" indent="-274320" fontAlgn="auto">
              <a:lnSpc>
                <a:spcPct val="80000"/>
              </a:lnSpc>
              <a:spcAft>
                <a:spcPts val="0"/>
              </a:spcAft>
              <a:buSzTx/>
              <a:buFont typeface="Wingdings" pitchFamily="2" charset="2"/>
              <a:buChar char="ü"/>
              <a:defRPr/>
            </a:pPr>
            <a:r>
              <a:rPr lang="en-US" sz="2400" dirty="0"/>
              <a:t>includes </a:t>
            </a:r>
          </a:p>
          <a:p>
            <a:pPr lvl="2" indent="-182880" fontAlgn="auto">
              <a:lnSpc>
                <a:spcPct val="80000"/>
              </a:lnSpc>
              <a:spcAft>
                <a:spcPts val="0"/>
              </a:spcAft>
              <a:buSzTx/>
              <a:buFont typeface="Arial" pitchFamily="34" charset="0"/>
              <a:buChar char="•"/>
              <a:defRPr/>
            </a:pPr>
            <a:r>
              <a:rPr lang="en-US" sz="2400" dirty="0"/>
              <a:t>JRE </a:t>
            </a:r>
          </a:p>
          <a:p>
            <a:pPr lvl="2" indent="-182880" fontAlgn="auto">
              <a:lnSpc>
                <a:spcPct val="80000"/>
              </a:lnSpc>
              <a:spcAft>
                <a:spcPts val="0"/>
              </a:spcAft>
              <a:buSzTx/>
              <a:buFont typeface="Arial" pitchFamily="34" charset="0"/>
              <a:buChar char="•"/>
              <a:defRPr/>
            </a:pPr>
            <a:r>
              <a:rPr lang="en-US" sz="2400" dirty="0"/>
              <a:t>command-line development tools such as compilers and debuggers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3200" dirty="0">
                <a:solidFill>
                  <a:srgbClr val="024069"/>
                </a:solidFill>
              </a:rPr>
              <a:t>Implementing a Java Program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990600"/>
            <a:ext cx="8305800" cy="5483225"/>
          </a:xfrm>
        </p:spPr>
        <p:txBody>
          <a:bodyPr/>
          <a:lstStyle/>
          <a:p>
            <a:pPr marL="533400" indent="-533400">
              <a:buFont typeface="Wingdings" pitchFamily="2" charset="2"/>
              <a:buAutoNum type="arabicPeriod"/>
            </a:pPr>
            <a:r>
              <a:rPr lang="en-US" sz="2800" dirty="0"/>
              <a:t>Creating a java program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sz="2800" dirty="0"/>
              <a:t>Compiling a java program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sz="2800" dirty="0"/>
              <a:t>Running the program</a:t>
            </a:r>
          </a:p>
          <a:p>
            <a:pPr marL="533400" indent="-533400">
              <a:buFont typeface="Wingdings" pitchFamily="2" charset="2"/>
              <a:buNone/>
            </a:pPr>
            <a:endParaRPr lang="en-US" sz="2800" dirty="0"/>
          </a:p>
          <a:p>
            <a:pPr marL="533400" indent="-533400">
              <a:buFont typeface="Wingdings" pitchFamily="2" charset="2"/>
              <a:buNone/>
            </a:pPr>
            <a:r>
              <a:rPr lang="en-US" sz="2800" b="1" u="sng" dirty="0"/>
              <a:t>Creating a Java Program: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sz="2800" dirty="0"/>
              <a:t>All java source file has an extension </a:t>
            </a:r>
            <a:r>
              <a:rPr lang="en-US" sz="2800" b="1" dirty="0"/>
              <a:t>.java</a:t>
            </a:r>
            <a:r>
              <a:rPr lang="en-US" sz="2800" dirty="0"/>
              <a:t>.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sz="2800" dirty="0"/>
              <a:t>If a program contains multiple classes, the file name must be the class name of the class containing the </a:t>
            </a:r>
            <a:r>
              <a:rPr lang="en-US" sz="2800" b="1" dirty="0"/>
              <a:t>main</a:t>
            </a:r>
            <a:r>
              <a:rPr lang="en-US" sz="2800" dirty="0"/>
              <a:t> method. 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3200" dirty="0">
                <a:solidFill>
                  <a:srgbClr val="024069"/>
                </a:solidFill>
              </a:rPr>
              <a:t>Implementing a Java Program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990600"/>
            <a:ext cx="8382000" cy="548322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800" b="1" u="sng" dirty="0"/>
              <a:t>Compiling a Java Program: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To compile a java program, execute the java compiler </a:t>
            </a:r>
            <a:r>
              <a:rPr lang="en-US" sz="2800" b="1" dirty="0" err="1"/>
              <a:t>javac</a:t>
            </a:r>
            <a:r>
              <a:rPr lang="en-US" sz="2800" dirty="0"/>
              <a:t>, specifying the name of the source file on the command line.   C:\&gt; </a:t>
            </a:r>
            <a:r>
              <a:rPr lang="en-US" sz="2800" dirty="0" err="1"/>
              <a:t>javac</a:t>
            </a:r>
            <a:r>
              <a:rPr lang="en-US" sz="2800" dirty="0"/>
              <a:t> Example.java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When java source code is compiled, each individual class is put into it’s own output file named after the class and using the </a:t>
            </a:r>
            <a:r>
              <a:rPr lang="en-US" sz="2800" b="1" dirty="0"/>
              <a:t>.class</a:t>
            </a:r>
            <a:r>
              <a:rPr lang="en-US" sz="2800" dirty="0"/>
              <a:t> extension.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Each file with </a:t>
            </a:r>
            <a:r>
              <a:rPr lang="en-US" sz="2800" b="1" dirty="0"/>
              <a:t>.class</a:t>
            </a:r>
            <a:r>
              <a:rPr lang="en-US" sz="2800" dirty="0"/>
              <a:t> extension contains the </a:t>
            </a:r>
            <a:r>
              <a:rPr lang="en-US" sz="2800" dirty="0" err="1"/>
              <a:t>bytecode</a:t>
            </a:r>
            <a:r>
              <a:rPr lang="en-US" sz="2800" dirty="0"/>
              <a:t> corresponding to that class</a:t>
            </a:r>
          </a:p>
          <a:p>
            <a:pPr>
              <a:buFont typeface="Wingdings" pitchFamily="2" charset="2"/>
              <a:buChar char="ü"/>
            </a:pPr>
            <a:endParaRPr lang="en-US" sz="2800" dirty="0"/>
          </a:p>
          <a:p>
            <a:pPr>
              <a:buFont typeface="Wingdings" pitchFamily="2" charset="2"/>
              <a:buChar char="ü"/>
            </a:pPr>
            <a:endParaRPr lang="en-US" sz="2800" b="1" u="sng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rgbClr val="024069"/>
                </a:solidFill>
              </a:rPr>
              <a:t>Implementing a Java Program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990600"/>
            <a:ext cx="8458200" cy="5483225"/>
          </a:xfrm>
        </p:spPr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sz="2800" b="1" u="sng" dirty="0"/>
              <a:t>Running a Java Program: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To run the program, interpreter </a:t>
            </a:r>
            <a:r>
              <a:rPr lang="en-US" sz="2800" b="1" dirty="0"/>
              <a:t>java</a:t>
            </a:r>
            <a:r>
              <a:rPr lang="en-US" sz="2800" dirty="0"/>
              <a:t> is used the name of the class that contains the </a:t>
            </a:r>
            <a:r>
              <a:rPr lang="en-US" sz="2800" b="1" dirty="0"/>
              <a:t>main</a:t>
            </a:r>
            <a:r>
              <a:rPr lang="en-US" sz="2800" dirty="0"/>
              <a:t> function.</a:t>
            </a:r>
          </a:p>
          <a:p>
            <a:pPr marL="514350" indent="-514350">
              <a:buNone/>
            </a:pPr>
            <a:r>
              <a:rPr lang="en-US" sz="2800" dirty="0"/>
              <a:t>	c:\&gt; java Example</a:t>
            </a:r>
          </a:p>
          <a:p>
            <a:pPr marL="514350" indent="-514350">
              <a:buFont typeface="+mj-lt"/>
              <a:buAutoNum type="arabicPeriod" startAt="2"/>
            </a:pPr>
            <a:r>
              <a:rPr lang="en-US" sz="2800" dirty="0"/>
              <a:t>Actually it searches for </a:t>
            </a:r>
            <a:r>
              <a:rPr lang="en-US" sz="2800" b="1" dirty="0"/>
              <a:t>Example. class</a:t>
            </a:r>
            <a:r>
              <a:rPr lang="en-US" sz="2800" dirty="0"/>
              <a:t> file.</a:t>
            </a:r>
          </a:p>
          <a:p>
            <a:pPr>
              <a:buFont typeface="Wingdings" pitchFamily="2" charset="2"/>
              <a:buNone/>
            </a:pPr>
            <a:endParaRPr lang="en-US" sz="28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sz="3200" dirty="0">
                <a:solidFill>
                  <a:srgbClr val="024069"/>
                </a:solidFill>
              </a:rPr>
              <a:t>Simple Java Program – Example 2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457200" y="990600"/>
            <a:ext cx="8305800" cy="548322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 dirty="0">
                <a:latin typeface="Consolas" pitchFamily="49" charset="0"/>
              </a:rPr>
              <a:t>import </a:t>
            </a:r>
            <a:r>
              <a:rPr lang="en-US" sz="2400" dirty="0" err="1">
                <a:latin typeface="Consolas" pitchFamily="49" charset="0"/>
              </a:rPr>
              <a:t>java.lang.Math</a:t>
            </a:r>
            <a:endParaRPr lang="en-US" sz="2400" dirty="0">
              <a:latin typeface="Consolas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Consolas" pitchFamily="49" charset="0"/>
              </a:rPr>
              <a:t>class </a:t>
            </a:r>
            <a:r>
              <a:rPr lang="en-US" sz="2400" dirty="0" err="1">
                <a:latin typeface="Consolas" pitchFamily="49" charset="0"/>
              </a:rPr>
              <a:t>SquareRoot</a:t>
            </a:r>
            <a:endParaRPr lang="en-US" sz="2400" dirty="0">
              <a:latin typeface="Consolas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Consolas" pitchFamily="49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Consolas" pitchFamily="49" charset="0"/>
              </a:rPr>
              <a:t>	public static void main (String </a:t>
            </a:r>
            <a:r>
              <a:rPr lang="en-US" sz="2400" dirty="0" err="1">
                <a:latin typeface="Consolas" pitchFamily="49" charset="0"/>
              </a:rPr>
              <a:t>args</a:t>
            </a:r>
            <a:r>
              <a:rPr lang="en-US" sz="2400" dirty="0">
                <a:latin typeface="Consolas" pitchFamily="49" charset="0"/>
              </a:rPr>
              <a:t> [])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Consolas" pitchFamily="49" charset="0"/>
              </a:rPr>
              <a:t>	{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Consolas" pitchFamily="49" charset="0"/>
              </a:rPr>
              <a:t>		double x=5, y;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Consolas" pitchFamily="49" charset="0"/>
              </a:rPr>
              <a:t>		y = </a:t>
            </a:r>
            <a:r>
              <a:rPr lang="en-US" sz="2400" dirty="0" err="1">
                <a:latin typeface="Consolas" pitchFamily="49" charset="0"/>
              </a:rPr>
              <a:t>Math.sqrt</a:t>
            </a:r>
            <a:r>
              <a:rPr lang="en-US" sz="2400" dirty="0">
                <a:latin typeface="Consolas" pitchFamily="49" charset="0"/>
              </a:rPr>
              <a:t>(x);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Consolas" pitchFamily="49" charset="0"/>
              </a:rPr>
              <a:t>		</a:t>
            </a:r>
            <a:r>
              <a:rPr lang="en-US" sz="2400" dirty="0" err="1">
                <a:latin typeface="Consolas" pitchFamily="49" charset="0"/>
              </a:rPr>
              <a:t>System.out.println</a:t>
            </a:r>
            <a:r>
              <a:rPr lang="en-US" sz="2400" dirty="0">
                <a:latin typeface="Consolas" pitchFamily="49" charset="0"/>
              </a:rPr>
              <a:t>(“y = ”+y);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Consolas" pitchFamily="49" charset="0"/>
              </a:rPr>
              <a:t>	}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Consolas" pitchFamily="49" charset="0"/>
              </a:rPr>
              <a:t>}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800" dirty="0">
                <a:solidFill>
                  <a:srgbClr val="024069"/>
                </a:solidFill>
              </a:rPr>
              <a:t>A Java Program with Multiple Classes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600200"/>
            <a:ext cx="3581400" cy="495300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Consolas" pitchFamily="49" charset="0"/>
              </a:rPr>
              <a:t>class Room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Consolas" pitchFamily="49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Consolas" pitchFamily="49" charset="0"/>
              </a:rPr>
              <a:t>	float length;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Consolas" pitchFamily="49" charset="0"/>
              </a:rPr>
              <a:t>	float breadth;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Consolas" pitchFamily="49" charset="0"/>
              </a:rPr>
              <a:t>	void </a:t>
            </a:r>
            <a:r>
              <a:rPr lang="en-US" sz="2000" dirty="0" err="1">
                <a:latin typeface="Consolas" pitchFamily="49" charset="0"/>
              </a:rPr>
              <a:t>getdata</a:t>
            </a:r>
            <a:r>
              <a:rPr lang="en-US" sz="2000" dirty="0">
                <a:latin typeface="Consolas" pitchFamily="49" charset="0"/>
              </a:rPr>
              <a:t> (float a, float b)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Consolas" pitchFamily="49" charset="0"/>
              </a:rPr>
              <a:t>	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Consolas" pitchFamily="49" charset="0"/>
              </a:rPr>
              <a:t>		length = a;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Consolas" pitchFamily="49" charset="0"/>
              </a:rPr>
              <a:t>		breadth = b;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Consolas" pitchFamily="49" charset="0"/>
              </a:rPr>
              <a:t>	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Consolas" pitchFamily="49" charset="0"/>
              </a:rPr>
              <a:t>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2000" dirty="0">
              <a:latin typeface="Consolas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0" y="1676400"/>
            <a:ext cx="5334000" cy="384720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74320" indent="-274320"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nsolas" pitchFamily="49" charset="0"/>
              </a:rPr>
              <a:t>Class </a:t>
            </a:r>
            <a:r>
              <a:rPr lang="en-US" sz="2000" dirty="0" err="1">
                <a:latin typeface="Consolas" pitchFamily="49" charset="0"/>
              </a:rPr>
              <a:t>RoomArea</a:t>
            </a:r>
            <a:endParaRPr lang="en-US" sz="2000" dirty="0">
              <a:latin typeface="Consolas" pitchFamily="49" charset="0"/>
            </a:endParaRPr>
          </a:p>
          <a:p>
            <a:pPr marL="274320" indent="-274320"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nsolas" pitchFamily="49" charset="0"/>
              </a:rPr>
              <a:t>{</a:t>
            </a:r>
          </a:p>
          <a:p>
            <a:pPr marL="274320" indent="-274320"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nsolas" pitchFamily="49" charset="0"/>
              </a:rPr>
              <a:t>	public static void main (String </a:t>
            </a:r>
            <a:r>
              <a:rPr lang="en-US" sz="2000" dirty="0" err="1">
                <a:latin typeface="Consolas" pitchFamily="49" charset="0"/>
              </a:rPr>
              <a:t>args</a:t>
            </a:r>
            <a:r>
              <a:rPr lang="en-US" sz="2000" dirty="0">
                <a:latin typeface="Consolas" pitchFamily="49" charset="0"/>
              </a:rPr>
              <a:t>[])</a:t>
            </a:r>
          </a:p>
          <a:p>
            <a:pPr marL="274320" indent="-274320"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nsolas" pitchFamily="49" charset="0"/>
              </a:rPr>
              <a:t>	{</a:t>
            </a:r>
          </a:p>
          <a:p>
            <a:pPr marL="274320" indent="-274320"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nsolas" pitchFamily="49" charset="0"/>
              </a:rPr>
              <a:t>		float area;</a:t>
            </a:r>
          </a:p>
          <a:p>
            <a:pPr marL="274320" indent="-274320"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nsolas" pitchFamily="49" charset="0"/>
              </a:rPr>
              <a:t>		Room room1 = new Room();</a:t>
            </a:r>
          </a:p>
          <a:p>
            <a:pPr marL="274320" indent="-274320"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nsolas" pitchFamily="49" charset="0"/>
              </a:rPr>
              <a:t>		room1. </a:t>
            </a:r>
            <a:r>
              <a:rPr lang="en-US" sz="2000" dirty="0" err="1">
                <a:latin typeface="Consolas" pitchFamily="49" charset="0"/>
              </a:rPr>
              <a:t>getdata</a:t>
            </a:r>
            <a:r>
              <a:rPr lang="en-US" sz="2000" dirty="0">
                <a:latin typeface="Consolas" pitchFamily="49" charset="0"/>
              </a:rPr>
              <a:t>(14, 10);</a:t>
            </a:r>
          </a:p>
          <a:p>
            <a:pPr marL="274320" indent="-274320"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nsolas" pitchFamily="49" charset="0"/>
              </a:rPr>
              <a:t>		area = room1. length * room1.breadth;</a:t>
            </a:r>
          </a:p>
          <a:p>
            <a:pPr marL="274320" indent="-274320"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nsolas" pitchFamily="49" charset="0"/>
              </a:rPr>
              <a:t>		</a:t>
            </a:r>
            <a:r>
              <a:rPr lang="en-US" sz="2000" dirty="0" err="1">
                <a:latin typeface="Consolas" pitchFamily="49" charset="0"/>
              </a:rPr>
              <a:t>System.out.println</a:t>
            </a:r>
            <a:r>
              <a:rPr lang="en-US" sz="2000" dirty="0">
                <a:latin typeface="Consolas" pitchFamily="49" charset="0"/>
              </a:rPr>
              <a:t> (“Area =“ + area);	</a:t>
            </a:r>
          </a:p>
          <a:p>
            <a:pPr marL="274320" indent="-274320"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nsolas" pitchFamily="49" charset="0"/>
              </a:rPr>
              <a:t>	}</a:t>
            </a:r>
          </a:p>
          <a:p>
            <a:pPr marL="274320" indent="-274320" fontAlgn="auto">
              <a:lnSpc>
                <a:spcPct val="80000"/>
              </a:lnSpc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en-US" sz="2000" dirty="0">
                <a:latin typeface="Consolas" pitchFamily="49" charset="0"/>
              </a:rPr>
              <a:t>}</a:t>
            </a:r>
          </a:p>
          <a:p>
            <a:pPr>
              <a:defRPr/>
            </a:pPr>
            <a:endParaRPr lang="en-US" sz="2000" dirty="0">
              <a:latin typeface="Consolas" pitchFamily="49" charset="0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200" dirty="0">
                <a:solidFill>
                  <a:srgbClr val="024069"/>
                </a:solidFill>
              </a:rPr>
              <a:t>Java is a Strongly typed Language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458200" cy="5407025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sz="2800" dirty="0"/>
              <a:t>Every variable and expression has a strongly defined type.</a:t>
            </a:r>
          </a:p>
          <a:p>
            <a:pPr>
              <a:buFont typeface="Arial" pitchFamily="34" charset="0"/>
              <a:buChar char="•"/>
            </a:pPr>
            <a:endParaRPr lang="en-US" sz="2800" dirty="0"/>
          </a:p>
          <a:p>
            <a:pPr>
              <a:buFont typeface="Arial" pitchFamily="34" charset="0"/>
              <a:buChar char="•"/>
            </a:pPr>
            <a:r>
              <a:rPr lang="en-US" sz="2800" dirty="0"/>
              <a:t>All assignments are checked for type compatibility.</a:t>
            </a:r>
          </a:p>
          <a:p>
            <a:pPr>
              <a:buFont typeface="Arial" pitchFamily="34" charset="0"/>
              <a:buChar char="•"/>
            </a:pPr>
            <a:endParaRPr lang="en-US" sz="2800" dirty="0"/>
          </a:p>
          <a:p>
            <a:pPr>
              <a:buFont typeface="Arial" pitchFamily="34" charset="0"/>
              <a:buChar char="•"/>
            </a:pPr>
            <a:r>
              <a:rPr lang="en-US" sz="2800" dirty="0"/>
              <a:t>Java compiler checks all expressions and parameters to ensure that the types are compatible.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200" dirty="0">
                <a:solidFill>
                  <a:srgbClr val="024069"/>
                </a:solidFill>
              </a:rPr>
              <a:t>The Primitive Types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382000" cy="5483225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60000"/>
              </a:spcBef>
              <a:buSzTx/>
              <a:buFont typeface="Wingdings" pitchFamily="2" charset="2"/>
              <a:buChar char="ü"/>
            </a:pPr>
            <a:r>
              <a:rPr lang="en-US" sz="2800" dirty="0"/>
              <a:t>There are exactly eight primitive data types in Java</a:t>
            </a:r>
          </a:p>
          <a:p>
            <a:pPr>
              <a:lnSpc>
                <a:spcPct val="80000"/>
              </a:lnSpc>
              <a:spcBef>
                <a:spcPct val="60000"/>
              </a:spcBef>
              <a:buSzTx/>
              <a:buFont typeface="Wingdings" pitchFamily="2" charset="2"/>
              <a:buChar char="ü"/>
            </a:pPr>
            <a:r>
              <a:rPr lang="en-US" sz="2800" dirty="0"/>
              <a:t>Four of them represent whole valued signed numbers:</a:t>
            </a:r>
          </a:p>
          <a:p>
            <a:pPr lvl="1">
              <a:lnSpc>
                <a:spcPct val="80000"/>
              </a:lnSpc>
              <a:spcBef>
                <a:spcPct val="60000"/>
              </a:spcBef>
              <a:buSzTx/>
              <a:buFont typeface="Wingdings" pitchFamily="2" charset="2"/>
              <a:buChar char="ü"/>
            </a:pPr>
            <a:r>
              <a:rPr lang="en-US" sz="2000" dirty="0"/>
              <a:t>byte, short, int, long</a:t>
            </a:r>
          </a:p>
          <a:p>
            <a:pPr>
              <a:lnSpc>
                <a:spcPct val="80000"/>
              </a:lnSpc>
              <a:spcBef>
                <a:spcPct val="60000"/>
              </a:spcBef>
              <a:buSzTx/>
              <a:buFont typeface="Wingdings" pitchFamily="2" charset="2"/>
              <a:buChar char="ü"/>
            </a:pPr>
            <a:r>
              <a:rPr lang="en-US" sz="2800" dirty="0"/>
              <a:t>Two of them represent floating point numbers:</a:t>
            </a:r>
          </a:p>
          <a:p>
            <a:pPr lvl="1">
              <a:lnSpc>
                <a:spcPct val="80000"/>
              </a:lnSpc>
              <a:spcBef>
                <a:spcPct val="60000"/>
              </a:spcBef>
              <a:buSzTx/>
              <a:buFont typeface="Wingdings" pitchFamily="2" charset="2"/>
              <a:buChar char="ü"/>
            </a:pPr>
            <a:r>
              <a:rPr lang="en-US" sz="2000" dirty="0"/>
              <a:t>float, double</a:t>
            </a:r>
          </a:p>
          <a:p>
            <a:pPr>
              <a:lnSpc>
                <a:spcPct val="80000"/>
              </a:lnSpc>
              <a:spcBef>
                <a:spcPct val="60000"/>
              </a:spcBef>
              <a:buSzTx/>
              <a:buFont typeface="Wingdings" pitchFamily="2" charset="2"/>
              <a:buChar char="ü"/>
            </a:pPr>
            <a:r>
              <a:rPr lang="en-US" sz="2800" dirty="0"/>
              <a:t>One of them represents characters:</a:t>
            </a:r>
          </a:p>
          <a:p>
            <a:pPr lvl="1">
              <a:lnSpc>
                <a:spcPct val="80000"/>
              </a:lnSpc>
              <a:spcBef>
                <a:spcPct val="60000"/>
              </a:spcBef>
              <a:buSzTx/>
              <a:buFont typeface="Wingdings" pitchFamily="2" charset="2"/>
              <a:buChar char="ü"/>
            </a:pPr>
            <a:r>
              <a:rPr lang="en-US" sz="2000" dirty="0"/>
              <a:t>char</a:t>
            </a:r>
          </a:p>
          <a:p>
            <a:pPr>
              <a:lnSpc>
                <a:spcPct val="80000"/>
              </a:lnSpc>
              <a:spcBef>
                <a:spcPct val="60000"/>
              </a:spcBef>
              <a:buSzTx/>
              <a:buFont typeface="Wingdings" pitchFamily="2" charset="2"/>
              <a:buChar char="ü"/>
            </a:pPr>
            <a:r>
              <a:rPr lang="en-US" sz="2800" dirty="0"/>
              <a:t>And one of them represents boolean values:</a:t>
            </a:r>
          </a:p>
          <a:p>
            <a:pPr lvl="1">
              <a:lnSpc>
                <a:spcPct val="80000"/>
              </a:lnSpc>
              <a:spcBef>
                <a:spcPct val="60000"/>
              </a:spcBef>
              <a:buSzTx/>
              <a:buFont typeface="Wingdings" pitchFamily="2" charset="2"/>
              <a:buChar char="ü"/>
            </a:pPr>
            <a:r>
              <a:rPr lang="en-US" sz="2000" dirty="0"/>
              <a:t>boolean</a:t>
            </a:r>
          </a:p>
          <a:p>
            <a:pPr>
              <a:lnSpc>
                <a:spcPct val="80000"/>
              </a:lnSpc>
              <a:buFont typeface="Wingdings" pitchFamily="2" charset="2"/>
              <a:buChar char="ü"/>
            </a:pP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200" dirty="0">
                <a:solidFill>
                  <a:srgbClr val="024069"/>
                </a:solidFill>
              </a:rPr>
              <a:t>Numeric Primitive Types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382000" cy="5483225"/>
          </a:xfrm>
        </p:spPr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sz="2800" dirty="0"/>
              <a:t>The difference between the various numeric primitive types is their size, and therefore the values they can store:</a:t>
            </a:r>
          </a:p>
          <a:p>
            <a:pPr>
              <a:buFont typeface="Wingdings" pitchFamily="2" charset="2"/>
              <a:buNone/>
            </a:pPr>
            <a:endParaRPr lang="en-US" sz="2800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62000" y="3352800"/>
            <a:ext cx="6430963" cy="2835275"/>
            <a:chOff x="749" y="1767"/>
            <a:chExt cx="4051" cy="1786"/>
          </a:xfrm>
        </p:grpSpPr>
        <p:sp>
          <p:nvSpPr>
            <p:cNvPr id="21509" name="Rectangle 5"/>
            <p:cNvSpPr>
              <a:spLocks noChangeArrowheads="1"/>
            </p:cNvSpPr>
            <p:nvPr/>
          </p:nvSpPr>
          <p:spPr bwMode="auto">
            <a:xfrm>
              <a:off x="749" y="1767"/>
              <a:ext cx="578" cy="17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000" b="1" u="sng" dirty="0">
                  <a:solidFill>
                    <a:schemeClr val="hlink"/>
                  </a:solidFill>
                  <a:latin typeface="Times New Roman" pitchFamily="18" charset="0"/>
                </a:rPr>
                <a:t>Type</a:t>
              </a:r>
            </a:p>
            <a:p>
              <a:pPr eaLnBrk="0" hangingPunct="0"/>
              <a:endParaRPr lang="en-US" sz="2000" b="1" dirty="0">
                <a:solidFill>
                  <a:schemeClr val="hlink"/>
                </a:solidFill>
                <a:latin typeface="Times New Roman" pitchFamily="18" charset="0"/>
              </a:endParaRPr>
            </a:p>
            <a:p>
              <a:pPr eaLnBrk="0" hangingPunct="0"/>
              <a:r>
                <a:rPr lang="en-US" sz="2000" b="1" dirty="0">
                  <a:latin typeface="Times New Roman" pitchFamily="18" charset="0"/>
                </a:rPr>
                <a:t>byte</a:t>
              </a:r>
            </a:p>
            <a:p>
              <a:pPr eaLnBrk="0" hangingPunct="0"/>
              <a:r>
                <a:rPr lang="en-US" sz="2000" b="1" dirty="0">
                  <a:latin typeface="Times New Roman" pitchFamily="18" charset="0"/>
                </a:rPr>
                <a:t>short</a:t>
              </a:r>
            </a:p>
            <a:p>
              <a:pPr eaLnBrk="0" hangingPunct="0"/>
              <a:r>
                <a:rPr lang="en-US" sz="2000" b="1" dirty="0">
                  <a:latin typeface="Times New Roman" pitchFamily="18" charset="0"/>
                </a:rPr>
                <a:t>int</a:t>
              </a:r>
            </a:p>
            <a:p>
              <a:pPr eaLnBrk="0" hangingPunct="0"/>
              <a:r>
                <a:rPr lang="en-US" sz="2000" b="1" dirty="0">
                  <a:latin typeface="Times New Roman" pitchFamily="18" charset="0"/>
                </a:rPr>
                <a:t>long</a:t>
              </a:r>
            </a:p>
            <a:p>
              <a:pPr eaLnBrk="0" hangingPunct="0"/>
              <a:endParaRPr lang="en-US" sz="2000" b="1" dirty="0">
                <a:latin typeface="Times New Roman" pitchFamily="18" charset="0"/>
              </a:endParaRPr>
            </a:p>
            <a:p>
              <a:pPr eaLnBrk="0" hangingPunct="0"/>
              <a:r>
                <a:rPr lang="en-US" sz="2000" b="1" dirty="0">
                  <a:latin typeface="Times New Roman" pitchFamily="18" charset="0"/>
                </a:rPr>
                <a:t>float</a:t>
              </a:r>
            </a:p>
            <a:p>
              <a:pPr eaLnBrk="0" hangingPunct="0"/>
              <a:r>
                <a:rPr lang="en-US" sz="2000" b="1" dirty="0">
                  <a:latin typeface="Times New Roman" pitchFamily="18" charset="0"/>
                </a:rPr>
                <a:t>double</a:t>
              </a:r>
            </a:p>
          </p:txBody>
        </p:sp>
        <p:sp>
          <p:nvSpPr>
            <p:cNvPr id="21510" name="Rectangle 6"/>
            <p:cNvSpPr>
              <a:spLocks noChangeArrowheads="1"/>
            </p:cNvSpPr>
            <p:nvPr/>
          </p:nvSpPr>
          <p:spPr bwMode="auto">
            <a:xfrm>
              <a:off x="1499" y="1767"/>
              <a:ext cx="640" cy="17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000" b="1" u="sng">
                  <a:solidFill>
                    <a:schemeClr val="hlink"/>
                  </a:solidFill>
                  <a:latin typeface="Times New Roman" pitchFamily="18" charset="0"/>
                </a:rPr>
                <a:t>Storage</a:t>
              </a:r>
            </a:p>
            <a:p>
              <a:pPr eaLnBrk="0" hangingPunct="0"/>
              <a:endParaRPr lang="en-US" sz="2000" b="1">
                <a:solidFill>
                  <a:schemeClr val="hlink"/>
                </a:solidFill>
                <a:latin typeface="Times New Roman" pitchFamily="18" charset="0"/>
              </a:endParaRPr>
            </a:p>
            <a:p>
              <a:pPr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8 bits</a:t>
              </a:r>
            </a:p>
            <a:p>
              <a:pPr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16 bits</a:t>
              </a:r>
            </a:p>
            <a:p>
              <a:pPr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32 bits</a:t>
              </a:r>
            </a:p>
            <a:p>
              <a:pPr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64 bits</a:t>
              </a:r>
            </a:p>
            <a:p>
              <a:pPr eaLnBrk="0" hangingPunct="0"/>
              <a:endParaRPr lang="en-US" sz="2000" b="1">
                <a:solidFill>
                  <a:schemeClr val="hlink"/>
                </a:solidFill>
                <a:latin typeface="Times New Roman" pitchFamily="18" charset="0"/>
              </a:endParaRPr>
            </a:p>
            <a:p>
              <a:pPr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32 bits</a:t>
              </a:r>
            </a:p>
            <a:p>
              <a:pPr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64 bits</a:t>
              </a:r>
            </a:p>
          </p:txBody>
        </p:sp>
        <p:sp>
          <p:nvSpPr>
            <p:cNvPr id="21511" name="Rectangle 7"/>
            <p:cNvSpPr>
              <a:spLocks noChangeArrowheads="1"/>
            </p:cNvSpPr>
            <p:nvPr/>
          </p:nvSpPr>
          <p:spPr bwMode="auto">
            <a:xfrm>
              <a:off x="2359" y="1767"/>
              <a:ext cx="1100" cy="14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000" b="1" u="sng" dirty="0">
                  <a:solidFill>
                    <a:schemeClr val="hlink"/>
                  </a:solidFill>
                  <a:latin typeface="Times New Roman" pitchFamily="18" charset="0"/>
                </a:rPr>
                <a:t>Min Value</a:t>
              </a:r>
            </a:p>
            <a:p>
              <a:pPr eaLnBrk="0" hangingPunct="0"/>
              <a:endParaRPr lang="en-US" sz="2000" b="1" dirty="0">
                <a:solidFill>
                  <a:schemeClr val="hlink"/>
                </a:solidFill>
                <a:latin typeface="Times New Roman" pitchFamily="18" charset="0"/>
              </a:endParaRPr>
            </a:p>
            <a:p>
              <a:pPr eaLnBrk="0" hangingPunct="0"/>
              <a:r>
                <a:rPr lang="en-US" sz="2000" b="1" dirty="0">
                  <a:solidFill>
                    <a:schemeClr val="hlink"/>
                  </a:solidFill>
                  <a:latin typeface="Times New Roman" pitchFamily="18" charset="0"/>
                </a:rPr>
                <a:t>-128</a:t>
              </a:r>
            </a:p>
            <a:p>
              <a:pPr eaLnBrk="0" hangingPunct="0"/>
              <a:r>
                <a:rPr lang="en-US" sz="2000" b="1" dirty="0">
                  <a:solidFill>
                    <a:schemeClr val="hlink"/>
                  </a:solidFill>
                  <a:latin typeface="Times New Roman" pitchFamily="18" charset="0"/>
                </a:rPr>
                <a:t>-32,768</a:t>
              </a:r>
            </a:p>
            <a:p>
              <a:pPr eaLnBrk="0" hangingPunct="0"/>
              <a:r>
                <a:rPr lang="en-US" sz="2000" b="1" dirty="0">
                  <a:solidFill>
                    <a:schemeClr val="hlink"/>
                  </a:solidFill>
                  <a:latin typeface="Times New Roman" pitchFamily="18" charset="0"/>
                </a:rPr>
                <a:t>-2,147,483,648</a:t>
              </a:r>
            </a:p>
            <a:p>
              <a:pPr eaLnBrk="0" hangingPunct="0"/>
              <a:r>
                <a:rPr lang="en-US" sz="2000" b="1" dirty="0">
                  <a:solidFill>
                    <a:schemeClr val="hlink"/>
                  </a:solidFill>
                  <a:latin typeface="Times New Roman" pitchFamily="18" charset="0"/>
                </a:rPr>
                <a:t>&lt; -9 x 10</a:t>
              </a:r>
              <a:r>
                <a:rPr lang="en-US" sz="2000" b="1" baseline="30000" dirty="0">
                  <a:solidFill>
                    <a:schemeClr val="hlink"/>
                  </a:solidFill>
                  <a:latin typeface="Times New Roman" pitchFamily="18" charset="0"/>
                </a:rPr>
                <a:t>18</a:t>
              </a:r>
              <a:endParaRPr lang="en-US" sz="2000" b="1" dirty="0">
                <a:solidFill>
                  <a:schemeClr val="hlink"/>
                </a:solidFill>
                <a:latin typeface="Times New Roman" pitchFamily="18" charset="0"/>
              </a:endParaRPr>
            </a:p>
            <a:p>
              <a:pPr eaLnBrk="0" hangingPunct="0"/>
              <a:endParaRPr lang="en-US" sz="2000" b="1" dirty="0">
                <a:solidFill>
                  <a:schemeClr val="hlink"/>
                </a:solidFill>
                <a:latin typeface="Times New Roman" pitchFamily="18" charset="0"/>
              </a:endParaRPr>
            </a:p>
          </p:txBody>
        </p:sp>
        <p:sp>
          <p:nvSpPr>
            <p:cNvPr id="21512" name="Rectangle 8"/>
            <p:cNvSpPr>
              <a:spLocks noChangeArrowheads="1"/>
            </p:cNvSpPr>
            <p:nvPr/>
          </p:nvSpPr>
          <p:spPr bwMode="auto">
            <a:xfrm>
              <a:off x="3764" y="1767"/>
              <a:ext cx="1036" cy="1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000" b="1" u="sng">
                  <a:solidFill>
                    <a:schemeClr val="hlink"/>
                  </a:solidFill>
                  <a:latin typeface="Times New Roman" pitchFamily="18" charset="0"/>
                </a:rPr>
                <a:t>Max Value</a:t>
              </a:r>
              <a:endParaRPr lang="en-US" sz="2000" b="1">
                <a:solidFill>
                  <a:schemeClr val="hlink"/>
                </a:solidFill>
                <a:latin typeface="Times New Roman" pitchFamily="18" charset="0"/>
              </a:endParaRPr>
            </a:p>
            <a:p>
              <a:pPr eaLnBrk="0" hangingPunct="0"/>
              <a:endParaRPr lang="en-US" sz="2000" b="1">
                <a:solidFill>
                  <a:schemeClr val="hlink"/>
                </a:solidFill>
                <a:latin typeface="Times New Roman" pitchFamily="18" charset="0"/>
              </a:endParaRPr>
            </a:p>
            <a:p>
              <a:pPr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127</a:t>
              </a:r>
            </a:p>
            <a:p>
              <a:pPr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32,767</a:t>
              </a:r>
            </a:p>
            <a:p>
              <a:pPr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2,147,483,647</a:t>
              </a:r>
            </a:p>
            <a:p>
              <a:pPr eaLnBrk="0" hangingPunct="0"/>
              <a:r>
                <a:rPr lang="en-US" sz="2000" b="1">
                  <a:solidFill>
                    <a:schemeClr val="hlink"/>
                  </a:solidFill>
                  <a:latin typeface="Times New Roman" pitchFamily="18" charset="0"/>
                </a:rPr>
                <a:t>&gt; 9 x 10</a:t>
              </a:r>
              <a:r>
                <a:rPr lang="en-US" sz="2000" b="1" baseline="30000">
                  <a:solidFill>
                    <a:schemeClr val="hlink"/>
                  </a:solidFill>
                  <a:latin typeface="Times New Roman" pitchFamily="18" charset="0"/>
                </a:rPr>
                <a:t>18</a:t>
              </a:r>
              <a:endParaRPr lang="en-US" sz="2400" baseline="30000">
                <a:solidFill>
                  <a:schemeClr val="hlink"/>
                </a:solidFill>
                <a:latin typeface="Times New Roman" pitchFamily="18" charset="0"/>
              </a:endParaRPr>
            </a:p>
          </p:txBody>
        </p:sp>
      </p:grp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>
                <a:solidFill>
                  <a:srgbClr val="024069"/>
                </a:solidFill>
              </a:rPr>
              <a:t>Char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8534400" cy="5486400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200" dirty="0"/>
              <a:t>It uses unicode to represent character.</a:t>
            </a:r>
          </a:p>
          <a:p>
            <a:pPr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200" dirty="0"/>
              <a:t>The char type is unsigned 16 bit values ranging from 0 to 65536.</a:t>
            </a:r>
          </a:p>
          <a:p>
            <a:pPr>
              <a:lnSpc>
                <a:spcPct val="90000"/>
              </a:lnSpc>
              <a:buFont typeface="Wingdings" pitchFamily="2" charset="2"/>
              <a:buChar char="ü"/>
            </a:pPr>
            <a:r>
              <a:rPr lang="en-US" sz="2200" dirty="0"/>
              <a:t>ASCII still ranges from 0 to 127.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200" u="sng" dirty="0"/>
              <a:t>Example: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class test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public static void main (String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char ch1, ch2;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ch1=88;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ch2=‘Y’;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(“ch1 and ch2: “ + ch1+” “+ch2);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}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200" dirty="0"/>
              <a:t>Output: ch1 and ch2: X Y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2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>
                <a:solidFill>
                  <a:srgbClr val="024069"/>
                </a:solidFill>
              </a:rPr>
              <a:t>char</a:t>
            </a:r>
            <a:endParaRPr lang="en-US" dirty="0">
              <a:solidFill>
                <a:srgbClr val="024069"/>
              </a:solidFill>
            </a:endParaRP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483225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1800" u="sng" dirty="0">
                <a:latin typeface="Times New Roman" pitchFamily="18" charset="0"/>
              </a:rPr>
              <a:t>Example: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class test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public static void main (String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args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[])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char ch1;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ch1= ‘X’;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Sytem.out.println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(“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ch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contains “+ch1);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ch1++;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(“ch1 is now “ + ch1);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1800" dirty="0">
              <a:latin typeface="Consolas" pitchFamily="49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Times New Roman" pitchFamily="18" charset="0"/>
              </a:rPr>
              <a:t>Output: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Times New Roman" pitchFamily="18" charset="0"/>
              </a:rPr>
              <a:t>ch1 contains X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000" dirty="0">
                <a:latin typeface="Times New Roman" pitchFamily="18" charset="0"/>
              </a:rPr>
              <a:t>ch1 is now Y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1800" dirty="0">
              <a:latin typeface="Times New Roman" pitchFamily="18" charset="0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>
                <a:solidFill>
                  <a:srgbClr val="024069"/>
                </a:solidFill>
              </a:rPr>
              <a:t>Booleans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305800" cy="5559425"/>
          </a:xfrm>
        </p:spPr>
        <p:txBody>
          <a:bodyPr/>
          <a:lstStyle/>
          <a:p>
            <a:pPr marL="533400" indent="-533400">
              <a:buFont typeface="Wingdings" pitchFamily="2" charset="2"/>
              <a:buChar char="ü"/>
            </a:pPr>
            <a:r>
              <a:rPr lang="en-US" sz="2800" dirty="0"/>
              <a:t>Size is 1 bit – two value: true and false.</a:t>
            </a:r>
          </a:p>
          <a:p>
            <a:pPr marL="533400" indent="-533400">
              <a:buFont typeface="Wingdings" pitchFamily="2" charset="2"/>
              <a:buChar char="ü"/>
            </a:pPr>
            <a:r>
              <a:rPr lang="en-US" sz="2800" dirty="0"/>
              <a:t>This type is returned by all relational operators.</a:t>
            </a:r>
          </a:p>
          <a:p>
            <a:pPr marL="533400" indent="-533400">
              <a:buFont typeface="Wingdings" pitchFamily="2" charset="2"/>
              <a:buChar char="ü"/>
            </a:pPr>
            <a:r>
              <a:rPr lang="en-US" sz="2800" u="sng" dirty="0"/>
              <a:t>Example:</a:t>
            </a:r>
          </a:p>
          <a:p>
            <a:pPr marL="533400" indent="-533400">
              <a:buFont typeface="Wingdings" pitchFamily="2" charset="2"/>
              <a:buNone/>
            </a:pPr>
            <a:r>
              <a:rPr lang="en-US" sz="2800" dirty="0"/>
              <a:t>	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boolean b;</a:t>
            </a:r>
          </a:p>
          <a:p>
            <a:pPr marL="533400" indent="-533400">
              <a:buFont typeface="Wingdings" pitchFamily="2" charset="2"/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b= true;</a:t>
            </a:r>
          </a:p>
          <a:p>
            <a:pPr marL="533400" indent="-533400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(“b is “+b);</a:t>
            </a:r>
          </a:p>
          <a:p>
            <a:pPr marL="533400" indent="-533400"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(“10&gt;9 is “+(10&gt;9));</a:t>
            </a:r>
          </a:p>
          <a:p>
            <a:pPr marL="533400" indent="-533400">
              <a:buFont typeface="Wingdings" pitchFamily="2" charset="2"/>
              <a:buNone/>
            </a:pPr>
            <a:endParaRPr lang="en-US" sz="2800" dirty="0"/>
          </a:p>
          <a:p>
            <a:pPr marL="533400" indent="-533400">
              <a:buFont typeface="Wingdings" pitchFamily="2" charset="2"/>
              <a:buNone/>
            </a:pPr>
            <a:r>
              <a:rPr lang="en-US" sz="2800" b="1" u="sng" dirty="0"/>
              <a:t>Output:</a:t>
            </a:r>
          </a:p>
          <a:p>
            <a:pPr marL="533400" indent="-533400">
              <a:buFont typeface="Wingdings" pitchFamily="2" charset="2"/>
              <a:buNone/>
            </a:pPr>
            <a:r>
              <a:rPr lang="en-US" sz="2800" dirty="0"/>
              <a:t>b is true</a:t>
            </a:r>
          </a:p>
          <a:p>
            <a:pPr marL="533400" indent="-533400">
              <a:buFont typeface="Wingdings" pitchFamily="2" charset="2"/>
              <a:buNone/>
            </a:pPr>
            <a:r>
              <a:rPr lang="en-US" sz="2800" dirty="0"/>
              <a:t>10&gt;9 is true</a:t>
            </a:r>
          </a:p>
          <a:p>
            <a:pPr marL="533400" indent="-533400">
              <a:buFont typeface="Wingdings" pitchFamily="2" charset="2"/>
              <a:buNone/>
            </a:pPr>
            <a:endParaRPr lang="en-US" sz="28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 dirty="0">
                <a:solidFill>
                  <a:srgbClr val="024069"/>
                </a:solidFill>
              </a:rPr>
              <a:t>Literals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305800" cy="5635625"/>
          </a:xfrm>
        </p:spPr>
        <p:txBody>
          <a:bodyPr/>
          <a:lstStyle/>
          <a:p>
            <a:pPr>
              <a:buFont typeface="Wingdings" pitchFamily="2" charset="2"/>
              <a:buChar char="ü"/>
              <a:defRPr/>
            </a:pPr>
            <a:r>
              <a:rPr lang="en-US" sz="2400" dirty="0">
                <a:latin typeface="Times New Roman" pitchFamily="18" charset="0"/>
              </a:rPr>
              <a:t>Integer Literals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dirty="0">
                <a:latin typeface="Times New Roman" pitchFamily="18" charset="0"/>
              </a:rPr>
              <a:t>	1. base 10 – 1, 2, 43 etc.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dirty="0">
                <a:latin typeface="Times New Roman" pitchFamily="18" charset="0"/>
              </a:rPr>
              <a:t>	2. base 8 – octal values are denoted in java by a leading 0.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400" dirty="0">
                <a:latin typeface="Times New Roman" pitchFamily="18" charset="0"/>
              </a:rPr>
              <a:t>	3. base 16 – hexadecimal values are denoted by leading 0x 		 or 0X.</a:t>
            </a:r>
          </a:p>
          <a:p>
            <a:pPr>
              <a:buFontTx/>
              <a:buChar char="•"/>
              <a:defRPr/>
            </a:pPr>
            <a:r>
              <a:rPr lang="en-US" sz="2400" dirty="0">
                <a:latin typeface="Times New Roman" pitchFamily="18" charset="0"/>
              </a:rPr>
              <a:t>Any whole number is by default integer (32 bits).</a:t>
            </a:r>
          </a:p>
          <a:p>
            <a:pPr>
              <a:buFontTx/>
              <a:buChar char="•"/>
              <a:defRPr/>
            </a:pPr>
            <a:r>
              <a:rPr lang="en-US" sz="2400" dirty="0">
                <a:latin typeface="Times New Roman" pitchFamily="18" charset="0"/>
              </a:rPr>
              <a:t>To specify a long literal, the number should appended with</a:t>
            </a:r>
          </a:p>
          <a:p>
            <a:pPr>
              <a:buFontTx/>
              <a:buNone/>
              <a:defRPr/>
            </a:pPr>
            <a:r>
              <a:rPr lang="en-US" sz="2400" dirty="0">
                <a:latin typeface="Times New Roman" pitchFamily="18" charset="0"/>
              </a:rPr>
              <a:t>	an upper- or lowercase L.</a:t>
            </a:r>
          </a:p>
          <a:p>
            <a:pPr>
              <a:buFontTx/>
              <a:buNone/>
              <a:defRPr/>
            </a:pPr>
            <a:r>
              <a:rPr lang="en-US" sz="2400" dirty="0">
                <a:latin typeface="Times New Roman" pitchFamily="18" charset="0"/>
              </a:rPr>
              <a:t>Addition in JDK 7:</a:t>
            </a:r>
          </a:p>
          <a:p>
            <a:pPr marL="457200" indent="-457200">
              <a:buFontTx/>
              <a:buAutoNum type="arabicPeriod"/>
              <a:defRPr/>
            </a:pPr>
            <a:r>
              <a:rPr lang="en-US" sz="2400" dirty="0">
                <a:latin typeface="Times New Roman" pitchFamily="18" charset="0"/>
              </a:rPr>
              <a:t>int x = 0b1010;     // binary literals</a:t>
            </a:r>
          </a:p>
          <a:p>
            <a:pPr marL="457200" indent="-457200">
              <a:buFontTx/>
              <a:buAutoNum type="arabicPeriod"/>
              <a:defRPr/>
            </a:pPr>
            <a:r>
              <a:rPr lang="en-US" sz="2400" dirty="0">
                <a:latin typeface="Times New Roman" pitchFamily="18" charset="0"/>
              </a:rPr>
              <a:t>int x = 123_456_789;    // increases readability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600" dirty="0">
                <a:solidFill>
                  <a:srgbClr val="024069"/>
                </a:solidFill>
              </a:rPr>
              <a:t>Literals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458200" cy="5483225"/>
          </a:xfrm>
        </p:spPr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sz="2800" dirty="0"/>
              <a:t>Floating point Literals</a:t>
            </a:r>
          </a:p>
          <a:p>
            <a:pPr>
              <a:buFont typeface="Wingdings" pitchFamily="2" charset="2"/>
              <a:buNone/>
            </a:pPr>
            <a:r>
              <a:rPr lang="en-US" sz="2800" dirty="0"/>
              <a:t>	1. Standard Notation – 3.14159, 0.6667, 2.0 etc.</a:t>
            </a:r>
          </a:p>
          <a:p>
            <a:pPr>
              <a:buFont typeface="Wingdings" pitchFamily="2" charset="2"/>
              <a:buNone/>
            </a:pPr>
            <a:r>
              <a:rPr lang="en-US" sz="2800" dirty="0"/>
              <a:t>	2. Scientific Notation – 6.022E23, 2e+100.</a:t>
            </a:r>
          </a:p>
          <a:p>
            <a:pPr>
              <a:buFontTx/>
              <a:buChar char="•"/>
            </a:pPr>
            <a:r>
              <a:rPr lang="en-US" sz="2800" dirty="0"/>
              <a:t>Floating point literals are by default of type double.</a:t>
            </a:r>
          </a:p>
          <a:p>
            <a:pPr>
              <a:buFontTx/>
              <a:buChar char="•"/>
            </a:pPr>
            <a:r>
              <a:rPr lang="en-US" sz="2800" dirty="0"/>
              <a:t>To specify a float literal, we must append an F or f to the constant. </a:t>
            </a:r>
          </a:p>
          <a:p>
            <a:r>
              <a:rPr lang="en-US" sz="2800" b="1" dirty="0">
                <a:latin typeface="Consolas" pitchFamily="49" charset="0"/>
              </a:rPr>
              <a:t>float</a:t>
            </a:r>
            <a:r>
              <a:rPr lang="en-US" sz="2800" dirty="0">
                <a:latin typeface="Consolas" pitchFamily="49" charset="0"/>
              </a:rPr>
              <a:t> </a:t>
            </a:r>
            <a:r>
              <a:rPr lang="en-US" sz="2800" dirty="0" err="1">
                <a:latin typeface="Consolas" pitchFamily="49" charset="0"/>
              </a:rPr>
              <a:t>fval</a:t>
            </a:r>
            <a:r>
              <a:rPr lang="en-US" sz="2800" dirty="0">
                <a:latin typeface="Consolas" pitchFamily="49" charset="0"/>
              </a:rPr>
              <a:t> = 10.0f;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4000" dirty="0">
                <a:solidFill>
                  <a:srgbClr val="024069"/>
                </a:solidFill>
              </a:rPr>
              <a:t>Literals</a:t>
            </a:r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873625"/>
          </a:xfrm>
        </p:spPr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sz="2800" dirty="0"/>
              <a:t>Boolean Literals</a:t>
            </a:r>
          </a:p>
          <a:p>
            <a:pPr>
              <a:buFontTx/>
              <a:buChar char="•"/>
            </a:pPr>
            <a:r>
              <a:rPr lang="en-US" sz="2800" dirty="0"/>
              <a:t>Two values – true and false.</a:t>
            </a:r>
          </a:p>
          <a:p>
            <a:pPr>
              <a:buFontTx/>
              <a:buChar char="•"/>
            </a:pPr>
            <a:r>
              <a:rPr lang="en-US" sz="2800" dirty="0"/>
              <a:t>True is assumed as1 and false as 0.</a:t>
            </a:r>
          </a:p>
          <a:p>
            <a:pPr>
              <a:buFontTx/>
              <a:buChar char="•"/>
            </a:pPr>
            <a:r>
              <a:rPr lang="en-US" sz="2800" dirty="0"/>
              <a:t>They can be assigned to variable declared as boolean.</a:t>
            </a:r>
          </a:p>
          <a:p>
            <a:pPr>
              <a:buFont typeface="Wingdings" pitchFamily="2" charset="2"/>
              <a:buNone/>
            </a:pPr>
            <a:endParaRPr lang="en-US" sz="28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7772400" cy="1143000"/>
          </a:xfrm>
        </p:spPr>
        <p:txBody>
          <a:bodyPr/>
          <a:lstStyle/>
          <a:p>
            <a:pPr>
              <a:defRPr/>
            </a:pPr>
            <a:r>
              <a:rPr lang="en-US" sz="3600" dirty="0">
                <a:solidFill>
                  <a:srgbClr val="024069"/>
                </a:solidFill>
              </a:rPr>
              <a:t>Literals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90600"/>
            <a:ext cx="8458200" cy="1295400"/>
          </a:xfrm>
        </p:spPr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sz="2000" dirty="0"/>
              <a:t>Character Literals: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/>
              <a:t>Can be converted into integers and manipulated with the integer operators.</a:t>
            </a:r>
          </a:p>
          <a:p>
            <a:pPr>
              <a:buFontTx/>
              <a:buChar char="•"/>
            </a:pPr>
            <a:r>
              <a:rPr lang="en-US" sz="2000" dirty="0"/>
              <a:t>A literal character is represented inside a pair of single quotes.</a:t>
            </a:r>
          </a:p>
          <a:p>
            <a:pPr>
              <a:buFontTx/>
              <a:buChar char="•"/>
            </a:pPr>
            <a:endParaRPr lang="en-US" sz="2000" dirty="0"/>
          </a:p>
        </p:txBody>
      </p:sp>
      <p:graphicFrame>
        <p:nvGraphicFramePr>
          <p:cNvPr id="16449" name="Group 65"/>
          <p:cNvGraphicFramePr>
            <a:graphicFrameLocks noGrp="1"/>
          </p:cNvGraphicFramePr>
          <p:nvPr>
            <p:ph sz="quarter" idx="3"/>
          </p:nvPr>
        </p:nvGraphicFramePr>
        <p:xfrm>
          <a:off x="1905000" y="2666999"/>
          <a:ext cx="5334000" cy="4059936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Escape sequence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Description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8219">
                <a:tc>
                  <a:txBody>
                    <a:bodyPr/>
                    <a:lstStyle/>
                    <a:p>
                      <a:pPr marL="457200" marR="0" lvl="0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AutoNum type="arabicPeriod"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\’</a:t>
                      </a:r>
                    </a:p>
                    <a:p>
                      <a:pPr marL="457200" marR="0" lvl="0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AutoNum type="arabicPeriod"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\”</a:t>
                      </a:r>
                    </a:p>
                    <a:p>
                      <a:pPr marL="457200" marR="0" lvl="0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AutoNum type="arabicPeriod"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\\</a:t>
                      </a:r>
                    </a:p>
                    <a:p>
                      <a:pPr marL="457200" marR="0" lvl="0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AutoNum type="arabicPeriod"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\r</a:t>
                      </a:r>
                    </a:p>
                    <a:p>
                      <a:pPr marL="457200" marR="0" lvl="0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AutoNum type="arabicPeriod"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\n</a:t>
                      </a:r>
                    </a:p>
                    <a:p>
                      <a:pPr marL="457200" marR="0" lvl="0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AutoNum type="arabicPeriod"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\f</a:t>
                      </a:r>
                    </a:p>
                    <a:p>
                      <a:pPr marL="457200" marR="0" lvl="0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AutoNum type="arabicPeriod"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\t</a:t>
                      </a:r>
                    </a:p>
                    <a:p>
                      <a:pPr marL="457200" marR="0" lvl="0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AutoNum type="arabicPeriod"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\b</a:t>
                      </a:r>
                    </a:p>
                    <a:p>
                      <a:pPr marL="457200" marR="0" lvl="0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AutoNum type="arabicPeriod"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\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ddd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  <a:p>
                      <a:pPr marL="457200" marR="0" lvl="0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AutoNum type="arabicPeriod"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\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itchFamily="49" charset="0"/>
                        </a:rPr>
                        <a:t>uxxxx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itchFamily="4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Single quote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Double quote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Backslash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Carriage Return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New line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Form feed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Tab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Backspace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Octal Character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Hexadecimal Unicode character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200" dirty="0">
                <a:solidFill>
                  <a:srgbClr val="024069"/>
                </a:solidFill>
              </a:rPr>
              <a:t>Literals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305800" cy="5407025"/>
          </a:xfrm>
        </p:spPr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sz="2400" dirty="0"/>
              <a:t>String Literals</a:t>
            </a:r>
          </a:p>
          <a:p>
            <a:pPr>
              <a:buFontTx/>
              <a:buChar char="•"/>
            </a:pPr>
            <a:r>
              <a:rPr lang="en-US" sz="2400" dirty="0"/>
              <a:t>A sequence of characters between a pair of double quotes.</a:t>
            </a:r>
          </a:p>
          <a:p>
            <a:r>
              <a:rPr lang="en-US" sz="2400" dirty="0"/>
              <a:t>In java string must begin and end on the same line. If your string is across several lines, the Java compiler will complain about it.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The code will generate some errors</a:t>
            </a:r>
          </a:p>
          <a:p>
            <a:endParaRPr lang="en-US" sz="2400" dirty="0"/>
          </a:p>
        </p:txBody>
      </p:sp>
      <p:pic>
        <p:nvPicPr>
          <p:cNvPr id="2050" name="Picture 2" descr="C:\Users\Jubayer Al Mahmud\Desktop\Captur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3733800"/>
            <a:ext cx="5181600" cy="1840194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399"/>
            <a:ext cx="8229600" cy="4495801"/>
          </a:xfrm>
        </p:spPr>
        <p:txBody>
          <a:bodyPr/>
          <a:lstStyle/>
          <a:p>
            <a:pPr>
              <a:buNone/>
            </a:pPr>
            <a:endParaRPr lang="en-US" sz="7200" noProof="1">
              <a:solidFill>
                <a:srgbClr val="024069"/>
              </a:solidFill>
            </a:endParaRPr>
          </a:p>
          <a:p>
            <a:pPr marL="0" indent="0" algn="ctr">
              <a:buNone/>
            </a:pPr>
            <a:r>
              <a:rPr lang="en-US" sz="7200" noProof="1">
                <a:solidFill>
                  <a:srgbClr val="024069"/>
                </a:solidFill>
              </a:rPr>
              <a:t>Thank You</a:t>
            </a: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609600" y="533400"/>
            <a:ext cx="303213" cy="303213"/>
            <a:chOff x="703" y="300"/>
            <a:chExt cx="181" cy="181"/>
          </a:xfrm>
        </p:grpSpPr>
        <p:sp>
          <p:nvSpPr>
            <p:cNvPr id="4108" name="Freeform 12"/>
            <p:cNvSpPr>
              <a:spLocks/>
            </p:cNvSpPr>
            <p:nvPr/>
          </p:nvSpPr>
          <p:spPr bwMode="auto">
            <a:xfrm>
              <a:off x="736" y="300"/>
              <a:ext cx="81" cy="46"/>
            </a:xfrm>
            <a:custGeom>
              <a:avLst/>
              <a:gdLst/>
              <a:ahLst/>
              <a:cxnLst>
                <a:cxn ang="0">
                  <a:pos x="247" y="124"/>
                </a:cxn>
                <a:cxn ang="0">
                  <a:pos x="283" y="11"/>
                </a:cxn>
                <a:cxn ang="0">
                  <a:pos x="283" y="11"/>
                </a:cxn>
                <a:cxn ang="0">
                  <a:pos x="264" y="6"/>
                </a:cxn>
                <a:cxn ang="0">
                  <a:pos x="244" y="3"/>
                </a:cxn>
                <a:cxn ang="0">
                  <a:pos x="226" y="2"/>
                </a:cxn>
                <a:cxn ang="0">
                  <a:pos x="206" y="0"/>
                </a:cxn>
                <a:cxn ang="0">
                  <a:pos x="187" y="0"/>
                </a:cxn>
                <a:cxn ang="0">
                  <a:pos x="169" y="2"/>
                </a:cxn>
                <a:cxn ang="0">
                  <a:pos x="150" y="4"/>
                </a:cxn>
                <a:cxn ang="0">
                  <a:pos x="131" y="7"/>
                </a:cxn>
                <a:cxn ang="0">
                  <a:pos x="114" y="12"/>
                </a:cxn>
                <a:cxn ang="0">
                  <a:pos x="97" y="18"/>
                </a:cxn>
                <a:cxn ang="0">
                  <a:pos x="79" y="24"/>
                </a:cxn>
                <a:cxn ang="0">
                  <a:pos x="62" y="32"/>
                </a:cxn>
                <a:cxn ang="0">
                  <a:pos x="45" y="40"/>
                </a:cxn>
                <a:cxn ang="0">
                  <a:pos x="29" y="49"/>
                </a:cxn>
                <a:cxn ang="0">
                  <a:pos x="14" y="60"/>
                </a:cxn>
                <a:cxn ang="0">
                  <a:pos x="0" y="71"/>
                </a:cxn>
                <a:cxn ang="0">
                  <a:pos x="79" y="160"/>
                </a:cxn>
                <a:cxn ang="0">
                  <a:pos x="79" y="160"/>
                </a:cxn>
                <a:cxn ang="0">
                  <a:pos x="97" y="147"/>
                </a:cxn>
                <a:cxn ang="0">
                  <a:pos x="116" y="136"/>
                </a:cxn>
                <a:cxn ang="0">
                  <a:pos x="136" y="128"/>
                </a:cxn>
                <a:cxn ang="0">
                  <a:pos x="157" y="123"/>
                </a:cxn>
                <a:cxn ang="0">
                  <a:pos x="179" y="119"/>
                </a:cxn>
                <a:cxn ang="0">
                  <a:pos x="201" y="118"/>
                </a:cxn>
                <a:cxn ang="0">
                  <a:pos x="223" y="120"/>
                </a:cxn>
                <a:cxn ang="0">
                  <a:pos x="247" y="124"/>
                </a:cxn>
                <a:cxn ang="0">
                  <a:pos x="247" y="124"/>
                </a:cxn>
              </a:cxnLst>
              <a:rect l="0" t="0" r="r" b="b"/>
              <a:pathLst>
                <a:path w="283" h="160">
                  <a:moveTo>
                    <a:pt x="247" y="124"/>
                  </a:moveTo>
                  <a:lnTo>
                    <a:pt x="283" y="11"/>
                  </a:lnTo>
                  <a:lnTo>
                    <a:pt x="283" y="11"/>
                  </a:lnTo>
                  <a:lnTo>
                    <a:pt x="264" y="6"/>
                  </a:lnTo>
                  <a:lnTo>
                    <a:pt x="244" y="3"/>
                  </a:lnTo>
                  <a:lnTo>
                    <a:pt x="226" y="2"/>
                  </a:lnTo>
                  <a:lnTo>
                    <a:pt x="206" y="0"/>
                  </a:lnTo>
                  <a:lnTo>
                    <a:pt x="187" y="0"/>
                  </a:lnTo>
                  <a:lnTo>
                    <a:pt x="169" y="2"/>
                  </a:lnTo>
                  <a:lnTo>
                    <a:pt x="150" y="4"/>
                  </a:lnTo>
                  <a:lnTo>
                    <a:pt x="131" y="7"/>
                  </a:lnTo>
                  <a:lnTo>
                    <a:pt x="114" y="12"/>
                  </a:lnTo>
                  <a:lnTo>
                    <a:pt x="97" y="18"/>
                  </a:lnTo>
                  <a:lnTo>
                    <a:pt x="79" y="24"/>
                  </a:lnTo>
                  <a:lnTo>
                    <a:pt x="62" y="32"/>
                  </a:lnTo>
                  <a:lnTo>
                    <a:pt x="45" y="40"/>
                  </a:lnTo>
                  <a:lnTo>
                    <a:pt x="29" y="49"/>
                  </a:lnTo>
                  <a:lnTo>
                    <a:pt x="14" y="60"/>
                  </a:lnTo>
                  <a:lnTo>
                    <a:pt x="0" y="71"/>
                  </a:lnTo>
                  <a:lnTo>
                    <a:pt x="79" y="160"/>
                  </a:lnTo>
                  <a:lnTo>
                    <a:pt x="79" y="160"/>
                  </a:lnTo>
                  <a:lnTo>
                    <a:pt x="97" y="147"/>
                  </a:lnTo>
                  <a:lnTo>
                    <a:pt x="116" y="136"/>
                  </a:lnTo>
                  <a:lnTo>
                    <a:pt x="136" y="128"/>
                  </a:lnTo>
                  <a:lnTo>
                    <a:pt x="157" y="123"/>
                  </a:lnTo>
                  <a:lnTo>
                    <a:pt x="179" y="119"/>
                  </a:lnTo>
                  <a:lnTo>
                    <a:pt x="201" y="118"/>
                  </a:lnTo>
                  <a:lnTo>
                    <a:pt x="223" y="120"/>
                  </a:lnTo>
                  <a:lnTo>
                    <a:pt x="247" y="124"/>
                  </a:lnTo>
                  <a:lnTo>
                    <a:pt x="247" y="124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9" name="Freeform 13"/>
            <p:cNvSpPr>
              <a:spLocks/>
            </p:cNvSpPr>
            <p:nvPr/>
          </p:nvSpPr>
          <p:spPr bwMode="auto">
            <a:xfrm>
              <a:off x="835" y="376"/>
              <a:ext cx="49" cy="79"/>
            </a:xfrm>
            <a:custGeom>
              <a:avLst/>
              <a:gdLst/>
              <a:ahLst/>
              <a:cxnLst>
                <a:cxn ang="0">
                  <a:pos x="44" y="113"/>
                </a:cxn>
                <a:cxn ang="0">
                  <a:pos x="44" y="113"/>
                </a:cxn>
                <a:cxn ang="0">
                  <a:pos x="36" y="134"/>
                </a:cxn>
                <a:cxn ang="0">
                  <a:pos x="26" y="154"/>
                </a:cxn>
                <a:cxn ang="0">
                  <a:pos x="14" y="171"/>
                </a:cxn>
                <a:cxn ang="0">
                  <a:pos x="0" y="188"/>
                </a:cxn>
                <a:cxn ang="0">
                  <a:pos x="79" y="276"/>
                </a:cxn>
                <a:cxn ang="0">
                  <a:pos x="79" y="276"/>
                </a:cxn>
                <a:cxn ang="0">
                  <a:pos x="92" y="263"/>
                </a:cxn>
                <a:cxn ang="0">
                  <a:pos x="104" y="249"/>
                </a:cxn>
                <a:cxn ang="0">
                  <a:pos x="115" y="234"/>
                </a:cxn>
                <a:cxn ang="0">
                  <a:pos x="125" y="219"/>
                </a:cxn>
                <a:cxn ang="0">
                  <a:pos x="135" y="203"/>
                </a:cxn>
                <a:cxn ang="0">
                  <a:pos x="143" y="185"/>
                </a:cxn>
                <a:cxn ang="0">
                  <a:pos x="150" y="168"/>
                </a:cxn>
                <a:cxn ang="0">
                  <a:pos x="157" y="149"/>
                </a:cxn>
                <a:cxn ang="0">
                  <a:pos x="157" y="149"/>
                </a:cxn>
                <a:cxn ang="0">
                  <a:pos x="163" y="131"/>
                </a:cxn>
                <a:cxn ang="0">
                  <a:pos x="166" y="112"/>
                </a:cxn>
                <a:cxn ang="0">
                  <a:pos x="170" y="93"/>
                </a:cxn>
                <a:cxn ang="0">
                  <a:pos x="172" y="75"/>
                </a:cxn>
                <a:cxn ang="0">
                  <a:pos x="172" y="56"/>
                </a:cxn>
                <a:cxn ang="0">
                  <a:pos x="172" y="38"/>
                </a:cxn>
                <a:cxn ang="0">
                  <a:pos x="171" y="19"/>
                </a:cxn>
                <a:cxn ang="0">
                  <a:pos x="169" y="0"/>
                </a:cxn>
                <a:cxn ang="0">
                  <a:pos x="52" y="26"/>
                </a:cxn>
                <a:cxn ang="0">
                  <a:pos x="52" y="26"/>
                </a:cxn>
                <a:cxn ang="0">
                  <a:pos x="54" y="47"/>
                </a:cxn>
                <a:cxn ang="0">
                  <a:pos x="54" y="69"/>
                </a:cxn>
                <a:cxn ang="0">
                  <a:pos x="50" y="91"/>
                </a:cxn>
                <a:cxn ang="0">
                  <a:pos x="44" y="113"/>
                </a:cxn>
                <a:cxn ang="0">
                  <a:pos x="44" y="113"/>
                </a:cxn>
              </a:cxnLst>
              <a:rect l="0" t="0" r="r" b="b"/>
              <a:pathLst>
                <a:path w="172" h="276">
                  <a:moveTo>
                    <a:pt x="44" y="113"/>
                  </a:moveTo>
                  <a:lnTo>
                    <a:pt x="44" y="113"/>
                  </a:lnTo>
                  <a:lnTo>
                    <a:pt x="36" y="134"/>
                  </a:lnTo>
                  <a:lnTo>
                    <a:pt x="26" y="154"/>
                  </a:lnTo>
                  <a:lnTo>
                    <a:pt x="14" y="171"/>
                  </a:lnTo>
                  <a:lnTo>
                    <a:pt x="0" y="188"/>
                  </a:lnTo>
                  <a:lnTo>
                    <a:pt x="79" y="276"/>
                  </a:lnTo>
                  <a:lnTo>
                    <a:pt x="79" y="276"/>
                  </a:lnTo>
                  <a:lnTo>
                    <a:pt x="92" y="263"/>
                  </a:lnTo>
                  <a:lnTo>
                    <a:pt x="104" y="249"/>
                  </a:lnTo>
                  <a:lnTo>
                    <a:pt x="115" y="234"/>
                  </a:lnTo>
                  <a:lnTo>
                    <a:pt x="125" y="219"/>
                  </a:lnTo>
                  <a:lnTo>
                    <a:pt x="135" y="203"/>
                  </a:lnTo>
                  <a:lnTo>
                    <a:pt x="143" y="185"/>
                  </a:lnTo>
                  <a:lnTo>
                    <a:pt x="150" y="168"/>
                  </a:lnTo>
                  <a:lnTo>
                    <a:pt x="157" y="149"/>
                  </a:lnTo>
                  <a:lnTo>
                    <a:pt x="157" y="149"/>
                  </a:lnTo>
                  <a:lnTo>
                    <a:pt x="163" y="131"/>
                  </a:lnTo>
                  <a:lnTo>
                    <a:pt x="166" y="112"/>
                  </a:lnTo>
                  <a:lnTo>
                    <a:pt x="170" y="93"/>
                  </a:lnTo>
                  <a:lnTo>
                    <a:pt x="172" y="75"/>
                  </a:lnTo>
                  <a:lnTo>
                    <a:pt x="172" y="56"/>
                  </a:lnTo>
                  <a:lnTo>
                    <a:pt x="172" y="38"/>
                  </a:lnTo>
                  <a:lnTo>
                    <a:pt x="171" y="19"/>
                  </a:lnTo>
                  <a:lnTo>
                    <a:pt x="169" y="0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54" y="47"/>
                  </a:lnTo>
                  <a:lnTo>
                    <a:pt x="54" y="69"/>
                  </a:lnTo>
                  <a:lnTo>
                    <a:pt x="50" y="91"/>
                  </a:lnTo>
                  <a:lnTo>
                    <a:pt x="44" y="113"/>
                  </a:lnTo>
                  <a:lnTo>
                    <a:pt x="44" y="113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0" name="Freeform 14"/>
            <p:cNvSpPr>
              <a:spLocks/>
            </p:cNvSpPr>
            <p:nvPr/>
          </p:nvSpPr>
          <p:spPr bwMode="auto">
            <a:xfrm>
              <a:off x="703" y="326"/>
              <a:ext cx="50" cy="79"/>
            </a:xfrm>
            <a:custGeom>
              <a:avLst/>
              <a:gdLst/>
              <a:ahLst/>
              <a:cxnLst>
                <a:cxn ang="0">
                  <a:pos x="128" y="163"/>
                </a:cxn>
                <a:cxn ang="0">
                  <a:pos x="128" y="163"/>
                </a:cxn>
                <a:cxn ang="0">
                  <a:pos x="136" y="142"/>
                </a:cxn>
                <a:cxn ang="0">
                  <a:pos x="146" y="122"/>
                </a:cxn>
                <a:cxn ang="0">
                  <a:pos x="159" y="105"/>
                </a:cxn>
                <a:cxn ang="0">
                  <a:pos x="173" y="89"/>
                </a:cxn>
                <a:cxn ang="0">
                  <a:pos x="94" y="0"/>
                </a:cxn>
                <a:cxn ang="0">
                  <a:pos x="94" y="0"/>
                </a:cxn>
                <a:cxn ang="0">
                  <a:pos x="81" y="13"/>
                </a:cxn>
                <a:cxn ang="0">
                  <a:pos x="69" y="27"/>
                </a:cxn>
                <a:cxn ang="0">
                  <a:pos x="58" y="42"/>
                </a:cxn>
                <a:cxn ang="0">
                  <a:pos x="47" y="57"/>
                </a:cxn>
                <a:cxn ang="0">
                  <a:pos x="38" y="74"/>
                </a:cxn>
                <a:cxn ang="0">
                  <a:pos x="30" y="91"/>
                </a:cxn>
                <a:cxn ang="0">
                  <a:pos x="22" y="108"/>
                </a:cxn>
                <a:cxn ang="0">
                  <a:pos x="16" y="127"/>
                </a:cxn>
                <a:cxn ang="0">
                  <a:pos x="16" y="127"/>
                </a:cxn>
                <a:cxn ang="0">
                  <a:pos x="10" y="146"/>
                </a:cxn>
                <a:cxn ang="0">
                  <a:pos x="6" y="164"/>
                </a:cxn>
                <a:cxn ang="0">
                  <a:pos x="3" y="183"/>
                </a:cxn>
                <a:cxn ang="0">
                  <a:pos x="1" y="201"/>
                </a:cxn>
                <a:cxn ang="0">
                  <a:pos x="0" y="220"/>
                </a:cxn>
                <a:cxn ang="0">
                  <a:pos x="1" y="239"/>
                </a:cxn>
                <a:cxn ang="0">
                  <a:pos x="2" y="257"/>
                </a:cxn>
                <a:cxn ang="0">
                  <a:pos x="4" y="276"/>
                </a:cxn>
                <a:cxn ang="0">
                  <a:pos x="121" y="250"/>
                </a:cxn>
                <a:cxn ang="0">
                  <a:pos x="121" y="250"/>
                </a:cxn>
                <a:cxn ang="0">
                  <a:pos x="118" y="229"/>
                </a:cxn>
                <a:cxn ang="0">
                  <a:pos x="119" y="207"/>
                </a:cxn>
                <a:cxn ang="0">
                  <a:pos x="122" y="185"/>
                </a:cxn>
                <a:cxn ang="0">
                  <a:pos x="128" y="163"/>
                </a:cxn>
                <a:cxn ang="0">
                  <a:pos x="128" y="163"/>
                </a:cxn>
              </a:cxnLst>
              <a:rect l="0" t="0" r="r" b="b"/>
              <a:pathLst>
                <a:path w="173" h="276">
                  <a:moveTo>
                    <a:pt x="128" y="163"/>
                  </a:moveTo>
                  <a:lnTo>
                    <a:pt x="128" y="163"/>
                  </a:lnTo>
                  <a:lnTo>
                    <a:pt x="136" y="142"/>
                  </a:lnTo>
                  <a:lnTo>
                    <a:pt x="146" y="122"/>
                  </a:lnTo>
                  <a:lnTo>
                    <a:pt x="159" y="105"/>
                  </a:lnTo>
                  <a:lnTo>
                    <a:pt x="173" y="89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81" y="13"/>
                  </a:lnTo>
                  <a:lnTo>
                    <a:pt x="69" y="27"/>
                  </a:lnTo>
                  <a:lnTo>
                    <a:pt x="58" y="42"/>
                  </a:lnTo>
                  <a:lnTo>
                    <a:pt x="47" y="57"/>
                  </a:lnTo>
                  <a:lnTo>
                    <a:pt x="38" y="74"/>
                  </a:lnTo>
                  <a:lnTo>
                    <a:pt x="30" y="91"/>
                  </a:lnTo>
                  <a:lnTo>
                    <a:pt x="22" y="108"/>
                  </a:lnTo>
                  <a:lnTo>
                    <a:pt x="16" y="127"/>
                  </a:lnTo>
                  <a:lnTo>
                    <a:pt x="16" y="127"/>
                  </a:lnTo>
                  <a:lnTo>
                    <a:pt x="10" y="146"/>
                  </a:lnTo>
                  <a:lnTo>
                    <a:pt x="6" y="164"/>
                  </a:lnTo>
                  <a:lnTo>
                    <a:pt x="3" y="183"/>
                  </a:lnTo>
                  <a:lnTo>
                    <a:pt x="1" y="201"/>
                  </a:lnTo>
                  <a:lnTo>
                    <a:pt x="0" y="220"/>
                  </a:lnTo>
                  <a:lnTo>
                    <a:pt x="1" y="239"/>
                  </a:lnTo>
                  <a:lnTo>
                    <a:pt x="2" y="257"/>
                  </a:lnTo>
                  <a:lnTo>
                    <a:pt x="4" y="276"/>
                  </a:lnTo>
                  <a:lnTo>
                    <a:pt x="121" y="250"/>
                  </a:lnTo>
                  <a:lnTo>
                    <a:pt x="121" y="250"/>
                  </a:lnTo>
                  <a:lnTo>
                    <a:pt x="118" y="229"/>
                  </a:lnTo>
                  <a:lnTo>
                    <a:pt x="119" y="207"/>
                  </a:lnTo>
                  <a:lnTo>
                    <a:pt x="122" y="185"/>
                  </a:lnTo>
                  <a:lnTo>
                    <a:pt x="128" y="163"/>
                  </a:lnTo>
                  <a:lnTo>
                    <a:pt x="128" y="163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1" name="Freeform 15"/>
            <p:cNvSpPr>
              <a:spLocks/>
            </p:cNvSpPr>
            <p:nvPr/>
          </p:nvSpPr>
          <p:spPr bwMode="auto">
            <a:xfrm>
              <a:off x="706" y="407"/>
              <a:ext cx="66" cy="68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0" y="24"/>
                </a:cxn>
                <a:cxn ang="0">
                  <a:pos x="0" y="24"/>
                </a:cxn>
                <a:cxn ang="0">
                  <a:pos x="5" y="41"/>
                </a:cxn>
                <a:cxn ang="0">
                  <a:pos x="11" y="59"/>
                </a:cxn>
                <a:cxn ang="0">
                  <a:pos x="19" y="76"/>
                </a:cxn>
                <a:cxn ang="0">
                  <a:pos x="27" y="93"/>
                </a:cxn>
                <a:cxn ang="0">
                  <a:pos x="36" y="109"/>
                </a:cxn>
                <a:cxn ang="0">
                  <a:pos x="47" y="124"/>
                </a:cxn>
                <a:cxn ang="0">
                  <a:pos x="57" y="139"/>
                </a:cxn>
                <a:cxn ang="0">
                  <a:pos x="69" y="153"/>
                </a:cxn>
                <a:cxn ang="0">
                  <a:pos x="82" y="167"/>
                </a:cxn>
                <a:cxn ang="0">
                  <a:pos x="96" y="180"/>
                </a:cxn>
                <a:cxn ang="0">
                  <a:pos x="110" y="191"/>
                </a:cxn>
                <a:cxn ang="0">
                  <a:pos x="126" y="203"/>
                </a:cxn>
                <a:cxn ang="0">
                  <a:pos x="141" y="213"/>
                </a:cxn>
                <a:cxn ang="0">
                  <a:pos x="158" y="223"/>
                </a:cxn>
                <a:cxn ang="0">
                  <a:pos x="176" y="231"/>
                </a:cxn>
                <a:cxn ang="0">
                  <a:pos x="193" y="239"/>
                </a:cxn>
                <a:cxn ang="0">
                  <a:pos x="230" y="126"/>
                </a:cxn>
                <a:cxn ang="0">
                  <a:pos x="230" y="126"/>
                </a:cxn>
                <a:cxn ang="0">
                  <a:pos x="210" y="116"/>
                </a:cxn>
                <a:cxn ang="0">
                  <a:pos x="191" y="104"/>
                </a:cxn>
                <a:cxn ang="0">
                  <a:pos x="174" y="90"/>
                </a:cxn>
                <a:cxn ang="0">
                  <a:pos x="157" y="75"/>
                </a:cxn>
                <a:cxn ang="0">
                  <a:pos x="144" y="58"/>
                </a:cxn>
                <a:cxn ang="0">
                  <a:pos x="133" y="39"/>
                </a:cxn>
                <a:cxn ang="0">
                  <a:pos x="122" y="19"/>
                </a:cxn>
                <a:cxn ang="0">
                  <a:pos x="115" y="0"/>
                </a:cxn>
                <a:cxn ang="0">
                  <a:pos x="115" y="0"/>
                </a:cxn>
              </a:cxnLst>
              <a:rect l="0" t="0" r="r" b="b"/>
              <a:pathLst>
                <a:path w="230" h="239">
                  <a:moveTo>
                    <a:pt x="115" y="0"/>
                  </a:moveTo>
                  <a:lnTo>
                    <a:pt x="0" y="24"/>
                  </a:lnTo>
                  <a:lnTo>
                    <a:pt x="0" y="24"/>
                  </a:lnTo>
                  <a:lnTo>
                    <a:pt x="5" y="41"/>
                  </a:lnTo>
                  <a:lnTo>
                    <a:pt x="11" y="59"/>
                  </a:lnTo>
                  <a:lnTo>
                    <a:pt x="19" y="76"/>
                  </a:lnTo>
                  <a:lnTo>
                    <a:pt x="27" y="93"/>
                  </a:lnTo>
                  <a:lnTo>
                    <a:pt x="36" y="109"/>
                  </a:lnTo>
                  <a:lnTo>
                    <a:pt x="47" y="124"/>
                  </a:lnTo>
                  <a:lnTo>
                    <a:pt x="57" y="139"/>
                  </a:lnTo>
                  <a:lnTo>
                    <a:pt x="69" y="153"/>
                  </a:lnTo>
                  <a:lnTo>
                    <a:pt x="82" y="167"/>
                  </a:lnTo>
                  <a:lnTo>
                    <a:pt x="96" y="180"/>
                  </a:lnTo>
                  <a:lnTo>
                    <a:pt x="110" y="191"/>
                  </a:lnTo>
                  <a:lnTo>
                    <a:pt x="126" y="203"/>
                  </a:lnTo>
                  <a:lnTo>
                    <a:pt x="141" y="213"/>
                  </a:lnTo>
                  <a:lnTo>
                    <a:pt x="158" y="223"/>
                  </a:lnTo>
                  <a:lnTo>
                    <a:pt x="176" y="231"/>
                  </a:lnTo>
                  <a:lnTo>
                    <a:pt x="193" y="239"/>
                  </a:lnTo>
                  <a:lnTo>
                    <a:pt x="230" y="126"/>
                  </a:lnTo>
                  <a:lnTo>
                    <a:pt x="230" y="126"/>
                  </a:lnTo>
                  <a:lnTo>
                    <a:pt x="210" y="116"/>
                  </a:lnTo>
                  <a:lnTo>
                    <a:pt x="191" y="104"/>
                  </a:lnTo>
                  <a:lnTo>
                    <a:pt x="174" y="90"/>
                  </a:lnTo>
                  <a:lnTo>
                    <a:pt x="157" y="75"/>
                  </a:lnTo>
                  <a:lnTo>
                    <a:pt x="144" y="58"/>
                  </a:lnTo>
                  <a:lnTo>
                    <a:pt x="133" y="39"/>
                  </a:lnTo>
                  <a:lnTo>
                    <a:pt x="122" y="19"/>
                  </a:lnTo>
                  <a:lnTo>
                    <a:pt x="115" y="0"/>
                  </a:lnTo>
                  <a:lnTo>
                    <a:pt x="115" y="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2" name="Freeform 16"/>
            <p:cNvSpPr>
              <a:spLocks/>
            </p:cNvSpPr>
            <p:nvPr/>
          </p:nvSpPr>
          <p:spPr bwMode="auto">
            <a:xfrm>
              <a:off x="815" y="306"/>
              <a:ext cx="66" cy="69"/>
            </a:xfrm>
            <a:custGeom>
              <a:avLst/>
              <a:gdLst/>
              <a:ahLst/>
              <a:cxnLst>
                <a:cxn ang="0">
                  <a:pos x="113" y="240"/>
                </a:cxn>
                <a:cxn ang="0">
                  <a:pos x="230" y="214"/>
                </a:cxn>
                <a:cxn ang="0">
                  <a:pos x="230" y="214"/>
                </a:cxn>
                <a:cxn ang="0">
                  <a:pos x="225" y="197"/>
                </a:cxn>
                <a:cxn ang="0">
                  <a:pos x="218" y="179"/>
                </a:cxn>
                <a:cxn ang="0">
                  <a:pos x="211" y="162"/>
                </a:cxn>
                <a:cxn ang="0">
                  <a:pos x="203" y="146"/>
                </a:cxn>
                <a:cxn ang="0">
                  <a:pos x="194" y="129"/>
                </a:cxn>
                <a:cxn ang="0">
                  <a:pos x="183" y="114"/>
                </a:cxn>
                <a:cxn ang="0">
                  <a:pos x="173" y="99"/>
                </a:cxn>
                <a:cxn ang="0">
                  <a:pos x="160" y="85"/>
                </a:cxn>
                <a:cxn ang="0">
                  <a:pos x="147" y="71"/>
                </a:cxn>
                <a:cxn ang="0">
                  <a:pos x="134" y="58"/>
                </a:cxn>
                <a:cxn ang="0">
                  <a:pos x="119" y="47"/>
                </a:cxn>
                <a:cxn ang="0">
                  <a:pos x="104" y="35"/>
                </a:cxn>
                <a:cxn ang="0">
                  <a:pos x="88" y="25"/>
                </a:cxn>
                <a:cxn ang="0">
                  <a:pos x="72" y="15"/>
                </a:cxn>
                <a:cxn ang="0">
                  <a:pos x="54" y="7"/>
                </a:cxn>
                <a:cxn ang="0">
                  <a:pos x="36" y="0"/>
                </a:cxn>
                <a:cxn ang="0">
                  <a:pos x="0" y="112"/>
                </a:cxn>
                <a:cxn ang="0">
                  <a:pos x="0" y="112"/>
                </a:cxn>
                <a:cxn ang="0">
                  <a:pos x="20" y="122"/>
                </a:cxn>
                <a:cxn ang="0">
                  <a:pos x="39" y="134"/>
                </a:cxn>
                <a:cxn ang="0">
                  <a:pos x="57" y="148"/>
                </a:cxn>
                <a:cxn ang="0">
                  <a:pos x="72" y="164"/>
                </a:cxn>
                <a:cxn ang="0">
                  <a:pos x="86" y="181"/>
                </a:cxn>
                <a:cxn ang="0">
                  <a:pos x="97" y="199"/>
                </a:cxn>
                <a:cxn ang="0">
                  <a:pos x="106" y="219"/>
                </a:cxn>
                <a:cxn ang="0">
                  <a:pos x="113" y="240"/>
                </a:cxn>
                <a:cxn ang="0">
                  <a:pos x="113" y="240"/>
                </a:cxn>
              </a:cxnLst>
              <a:rect l="0" t="0" r="r" b="b"/>
              <a:pathLst>
                <a:path w="230" h="240">
                  <a:moveTo>
                    <a:pt x="113" y="240"/>
                  </a:moveTo>
                  <a:lnTo>
                    <a:pt x="230" y="214"/>
                  </a:lnTo>
                  <a:lnTo>
                    <a:pt x="230" y="214"/>
                  </a:lnTo>
                  <a:lnTo>
                    <a:pt x="225" y="197"/>
                  </a:lnTo>
                  <a:lnTo>
                    <a:pt x="218" y="179"/>
                  </a:lnTo>
                  <a:lnTo>
                    <a:pt x="211" y="162"/>
                  </a:lnTo>
                  <a:lnTo>
                    <a:pt x="203" y="146"/>
                  </a:lnTo>
                  <a:lnTo>
                    <a:pt x="194" y="129"/>
                  </a:lnTo>
                  <a:lnTo>
                    <a:pt x="183" y="114"/>
                  </a:lnTo>
                  <a:lnTo>
                    <a:pt x="173" y="99"/>
                  </a:lnTo>
                  <a:lnTo>
                    <a:pt x="160" y="85"/>
                  </a:lnTo>
                  <a:lnTo>
                    <a:pt x="147" y="71"/>
                  </a:lnTo>
                  <a:lnTo>
                    <a:pt x="134" y="58"/>
                  </a:lnTo>
                  <a:lnTo>
                    <a:pt x="119" y="47"/>
                  </a:lnTo>
                  <a:lnTo>
                    <a:pt x="104" y="35"/>
                  </a:lnTo>
                  <a:lnTo>
                    <a:pt x="88" y="25"/>
                  </a:lnTo>
                  <a:lnTo>
                    <a:pt x="72" y="15"/>
                  </a:lnTo>
                  <a:lnTo>
                    <a:pt x="54" y="7"/>
                  </a:lnTo>
                  <a:lnTo>
                    <a:pt x="36" y="0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20" y="122"/>
                  </a:lnTo>
                  <a:lnTo>
                    <a:pt x="39" y="134"/>
                  </a:lnTo>
                  <a:lnTo>
                    <a:pt x="57" y="148"/>
                  </a:lnTo>
                  <a:lnTo>
                    <a:pt x="72" y="164"/>
                  </a:lnTo>
                  <a:lnTo>
                    <a:pt x="86" y="181"/>
                  </a:lnTo>
                  <a:lnTo>
                    <a:pt x="97" y="199"/>
                  </a:lnTo>
                  <a:lnTo>
                    <a:pt x="106" y="219"/>
                  </a:lnTo>
                  <a:lnTo>
                    <a:pt x="113" y="240"/>
                  </a:lnTo>
                  <a:lnTo>
                    <a:pt x="113" y="240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3" name="Freeform 17"/>
            <p:cNvSpPr>
              <a:spLocks/>
            </p:cNvSpPr>
            <p:nvPr/>
          </p:nvSpPr>
          <p:spPr bwMode="auto">
            <a:xfrm>
              <a:off x="770" y="435"/>
              <a:ext cx="81" cy="46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19" y="153"/>
                </a:cxn>
                <a:cxn ang="0">
                  <a:pos x="38" y="156"/>
                </a:cxn>
                <a:cxn ang="0">
                  <a:pos x="57" y="158"/>
                </a:cxn>
                <a:cxn ang="0">
                  <a:pos x="76" y="159"/>
                </a:cxn>
                <a:cxn ang="0">
                  <a:pos x="96" y="159"/>
                </a:cxn>
                <a:cxn ang="0">
                  <a:pos x="114" y="158"/>
                </a:cxn>
                <a:cxn ang="0">
                  <a:pos x="133" y="155"/>
                </a:cxn>
                <a:cxn ang="0">
                  <a:pos x="150" y="152"/>
                </a:cxn>
                <a:cxn ang="0">
                  <a:pos x="169" y="147"/>
                </a:cxn>
                <a:cxn ang="0">
                  <a:pos x="186" y="141"/>
                </a:cxn>
                <a:cxn ang="0">
                  <a:pos x="204" y="136"/>
                </a:cxn>
                <a:cxn ang="0">
                  <a:pos x="220" y="127"/>
                </a:cxn>
                <a:cxn ang="0">
                  <a:pos x="238" y="119"/>
                </a:cxn>
                <a:cxn ang="0">
                  <a:pos x="253" y="110"/>
                </a:cxn>
                <a:cxn ang="0">
                  <a:pos x="268" y="99"/>
                </a:cxn>
                <a:cxn ang="0">
                  <a:pos x="283" y="88"/>
                </a:cxn>
                <a:cxn ang="0">
                  <a:pos x="204" y="0"/>
                </a:cxn>
                <a:cxn ang="0">
                  <a:pos x="204" y="0"/>
                </a:cxn>
                <a:cxn ang="0">
                  <a:pos x="185" y="12"/>
                </a:cxn>
                <a:cxn ang="0">
                  <a:pos x="167" y="23"/>
                </a:cxn>
                <a:cxn ang="0">
                  <a:pos x="146" y="31"/>
                </a:cxn>
                <a:cxn ang="0">
                  <a:pos x="125" y="37"/>
                </a:cxn>
                <a:cxn ang="0">
                  <a:pos x="104" y="40"/>
                </a:cxn>
                <a:cxn ang="0">
                  <a:pos x="82" y="41"/>
                </a:cxn>
                <a:cxn ang="0">
                  <a:pos x="59" y="39"/>
                </a:cxn>
                <a:cxn ang="0">
                  <a:pos x="37" y="36"/>
                </a:cxn>
                <a:cxn ang="0">
                  <a:pos x="37" y="36"/>
                </a:cxn>
              </a:cxnLst>
              <a:rect l="0" t="0" r="r" b="b"/>
              <a:pathLst>
                <a:path w="283" h="159">
                  <a:moveTo>
                    <a:pt x="37" y="36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19" y="153"/>
                  </a:lnTo>
                  <a:lnTo>
                    <a:pt x="38" y="156"/>
                  </a:lnTo>
                  <a:lnTo>
                    <a:pt x="57" y="158"/>
                  </a:lnTo>
                  <a:lnTo>
                    <a:pt x="76" y="159"/>
                  </a:lnTo>
                  <a:lnTo>
                    <a:pt x="96" y="159"/>
                  </a:lnTo>
                  <a:lnTo>
                    <a:pt x="114" y="158"/>
                  </a:lnTo>
                  <a:lnTo>
                    <a:pt x="133" y="155"/>
                  </a:lnTo>
                  <a:lnTo>
                    <a:pt x="150" y="152"/>
                  </a:lnTo>
                  <a:lnTo>
                    <a:pt x="169" y="147"/>
                  </a:lnTo>
                  <a:lnTo>
                    <a:pt x="186" y="141"/>
                  </a:lnTo>
                  <a:lnTo>
                    <a:pt x="204" y="136"/>
                  </a:lnTo>
                  <a:lnTo>
                    <a:pt x="220" y="127"/>
                  </a:lnTo>
                  <a:lnTo>
                    <a:pt x="238" y="119"/>
                  </a:lnTo>
                  <a:lnTo>
                    <a:pt x="253" y="110"/>
                  </a:lnTo>
                  <a:lnTo>
                    <a:pt x="268" y="99"/>
                  </a:lnTo>
                  <a:lnTo>
                    <a:pt x="283" y="88"/>
                  </a:lnTo>
                  <a:lnTo>
                    <a:pt x="204" y="0"/>
                  </a:lnTo>
                  <a:lnTo>
                    <a:pt x="204" y="0"/>
                  </a:lnTo>
                  <a:lnTo>
                    <a:pt x="185" y="12"/>
                  </a:lnTo>
                  <a:lnTo>
                    <a:pt x="167" y="23"/>
                  </a:lnTo>
                  <a:lnTo>
                    <a:pt x="146" y="31"/>
                  </a:lnTo>
                  <a:lnTo>
                    <a:pt x="125" y="37"/>
                  </a:lnTo>
                  <a:lnTo>
                    <a:pt x="104" y="40"/>
                  </a:lnTo>
                  <a:lnTo>
                    <a:pt x="82" y="41"/>
                  </a:lnTo>
                  <a:lnTo>
                    <a:pt x="59" y="39"/>
                  </a:lnTo>
                  <a:lnTo>
                    <a:pt x="37" y="36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8494713" y="5792788"/>
            <a:ext cx="554037" cy="552450"/>
            <a:chOff x="5369" y="3667"/>
            <a:chExt cx="349" cy="348"/>
          </a:xfrm>
        </p:grpSpPr>
        <p:sp>
          <p:nvSpPr>
            <p:cNvPr id="4125" name="Freeform 29"/>
            <p:cNvSpPr>
              <a:spLocks/>
            </p:cNvSpPr>
            <p:nvPr/>
          </p:nvSpPr>
          <p:spPr bwMode="auto">
            <a:xfrm>
              <a:off x="5396" y="3667"/>
              <a:ext cx="138" cy="112"/>
            </a:xfrm>
            <a:custGeom>
              <a:avLst/>
              <a:gdLst/>
              <a:ahLst/>
              <a:cxnLst>
                <a:cxn ang="0">
                  <a:pos x="182" y="86"/>
                </a:cxn>
                <a:cxn ang="0">
                  <a:pos x="182" y="0"/>
                </a:cxn>
                <a:cxn ang="0">
                  <a:pos x="182" y="0"/>
                </a:cxn>
                <a:cxn ang="0">
                  <a:pos x="154" y="2"/>
                </a:cxn>
                <a:cxn ang="0">
                  <a:pos x="128" y="10"/>
                </a:cxn>
                <a:cxn ang="0">
                  <a:pos x="102" y="18"/>
                </a:cxn>
                <a:cxn ang="0">
                  <a:pos x="78" y="30"/>
                </a:cxn>
                <a:cxn ang="0">
                  <a:pos x="56" y="46"/>
                </a:cxn>
                <a:cxn ang="0">
                  <a:pos x="36" y="64"/>
                </a:cxn>
                <a:cxn ang="0">
                  <a:pos x="16" y="82"/>
                </a:cxn>
                <a:cxn ang="0">
                  <a:pos x="0" y="104"/>
                </a:cxn>
                <a:cxn ang="0">
                  <a:pos x="76" y="148"/>
                </a:cxn>
                <a:cxn ang="0">
                  <a:pos x="76" y="148"/>
                </a:cxn>
                <a:cxn ang="0">
                  <a:pos x="86" y="136"/>
                </a:cxn>
                <a:cxn ang="0">
                  <a:pos x="96" y="124"/>
                </a:cxn>
                <a:cxn ang="0">
                  <a:pos x="108" y="114"/>
                </a:cxn>
                <a:cxn ang="0">
                  <a:pos x="122" y="104"/>
                </a:cxn>
                <a:cxn ang="0">
                  <a:pos x="136" y="98"/>
                </a:cxn>
                <a:cxn ang="0">
                  <a:pos x="150" y="92"/>
                </a:cxn>
                <a:cxn ang="0">
                  <a:pos x="166" y="88"/>
                </a:cxn>
                <a:cxn ang="0">
                  <a:pos x="182" y="86"/>
                </a:cxn>
                <a:cxn ang="0">
                  <a:pos x="182" y="86"/>
                </a:cxn>
              </a:cxnLst>
              <a:rect l="0" t="0" r="r" b="b"/>
              <a:pathLst>
                <a:path w="182" h="148">
                  <a:moveTo>
                    <a:pt x="182" y="86"/>
                  </a:moveTo>
                  <a:lnTo>
                    <a:pt x="182" y="0"/>
                  </a:lnTo>
                  <a:lnTo>
                    <a:pt x="182" y="0"/>
                  </a:lnTo>
                  <a:lnTo>
                    <a:pt x="154" y="2"/>
                  </a:lnTo>
                  <a:lnTo>
                    <a:pt x="128" y="10"/>
                  </a:lnTo>
                  <a:lnTo>
                    <a:pt x="102" y="18"/>
                  </a:lnTo>
                  <a:lnTo>
                    <a:pt x="78" y="30"/>
                  </a:lnTo>
                  <a:lnTo>
                    <a:pt x="56" y="46"/>
                  </a:lnTo>
                  <a:lnTo>
                    <a:pt x="36" y="64"/>
                  </a:lnTo>
                  <a:lnTo>
                    <a:pt x="16" y="82"/>
                  </a:lnTo>
                  <a:lnTo>
                    <a:pt x="0" y="104"/>
                  </a:lnTo>
                  <a:lnTo>
                    <a:pt x="76" y="148"/>
                  </a:lnTo>
                  <a:lnTo>
                    <a:pt x="76" y="148"/>
                  </a:lnTo>
                  <a:lnTo>
                    <a:pt x="86" y="136"/>
                  </a:lnTo>
                  <a:lnTo>
                    <a:pt x="96" y="124"/>
                  </a:lnTo>
                  <a:lnTo>
                    <a:pt x="108" y="114"/>
                  </a:lnTo>
                  <a:lnTo>
                    <a:pt x="122" y="104"/>
                  </a:lnTo>
                  <a:lnTo>
                    <a:pt x="136" y="98"/>
                  </a:lnTo>
                  <a:lnTo>
                    <a:pt x="150" y="92"/>
                  </a:lnTo>
                  <a:lnTo>
                    <a:pt x="166" y="88"/>
                  </a:lnTo>
                  <a:lnTo>
                    <a:pt x="182" y="86"/>
                  </a:lnTo>
                  <a:lnTo>
                    <a:pt x="182" y="8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6" name="Freeform 30"/>
            <p:cNvSpPr>
              <a:spLocks/>
            </p:cNvSpPr>
            <p:nvPr/>
          </p:nvSpPr>
          <p:spPr bwMode="auto">
            <a:xfrm>
              <a:off x="5642" y="3761"/>
              <a:ext cx="76" cy="160"/>
            </a:xfrm>
            <a:custGeom>
              <a:avLst/>
              <a:gdLst/>
              <a:ahLst/>
              <a:cxnLst>
                <a:cxn ang="0">
                  <a:pos x="14" y="106"/>
                </a:cxn>
                <a:cxn ang="0">
                  <a:pos x="14" y="106"/>
                </a:cxn>
                <a:cxn ang="0">
                  <a:pos x="14" y="122"/>
                </a:cxn>
                <a:cxn ang="0">
                  <a:pos x="10" y="138"/>
                </a:cxn>
                <a:cxn ang="0">
                  <a:pos x="6" y="152"/>
                </a:cxn>
                <a:cxn ang="0">
                  <a:pos x="0" y="168"/>
                </a:cxn>
                <a:cxn ang="0">
                  <a:pos x="74" y="210"/>
                </a:cxn>
                <a:cxn ang="0">
                  <a:pos x="74" y="210"/>
                </a:cxn>
                <a:cxn ang="0">
                  <a:pos x="86" y="186"/>
                </a:cxn>
                <a:cxn ang="0">
                  <a:pos x="94" y="160"/>
                </a:cxn>
                <a:cxn ang="0">
                  <a:pos x="98" y="134"/>
                </a:cxn>
                <a:cxn ang="0">
                  <a:pos x="100" y="106"/>
                </a:cxn>
                <a:cxn ang="0">
                  <a:pos x="100" y="106"/>
                </a:cxn>
                <a:cxn ang="0">
                  <a:pos x="98" y="78"/>
                </a:cxn>
                <a:cxn ang="0">
                  <a:pos x="94" y="50"/>
                </a:cxn>
                <a:cxn ang="0">
                  <a:pos x="86" y="24"/>
                </a:cxn>
                <a:cxn ang="0">
                  <a:pos x="74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6" y="58"/>
                </a:cxn>
                <a:cxn ang="0">
                  <a:pos x="10" y="72"/>
                </a:cxn>
                <a:cxn ang="0">
                  <a:pos x="14" y="88"/>
                </a:cxn>
                <a:cxn ang="0">
                  <a:pos x="14" y="106"/>
                </a:cxn>
                <a:cxn ang="0">
                  <a:pos x="14" y="106"/>
                </a:cxn>
              </a:cxnLst>
              <a:rect l="0" t="0" r="r" b="b"/>
              <a:pathLst>
                <a:path w="100" h="210">
                  <a:moveTo>
                    <a:pt x="14" y="106"/>
                  </a:moveTo>
                  <a:lnTo>
                    <a:pt x="14" y="106"/>
                  </a:lnTo>
                  <a:lnTo>
                    <a:pt x="14" y="122"/>
                  </a:lnTo>
                  <a:lnTo>
                    <a:pt x="10" y="138"/>
                  </a:lnTo>
                  <a:lnTo>
                    <a:pt x="6" y="152"/>
                  </a:lnTo>
                  <a:lnTo>
                    <a:pt x="0" y="168"/>
                  </a:lnTo>
                  <a:lnTo>
                    <a:pt x="74" y="210"/>
                  </a:lnTo>
                  <a:lnTo>
                    <a:pt x="74" y="210"/>
                  </a:lnTo>
                  <a:lnTo>
                    <a:pt x="86" y="186"/>
                  </a:lnTo>
                  <a:lnTo>
                    <a:pt x="94" y="160"/>
                  </a:lnTo>
                  <a:lnTo>
                    <a:pt x="98" y="134"/>
                  </a:lnTo>
                  <a:lnTo>
                    <a:pt x="100" y="106"/>
                  </a:lnTo>
                  <a:lnTo>
                    <a:pt x="100" y="106"/>
                  </a:lnTo>
                  <a:lnTo>
                    <a:pt x="98" y="78"/>
                  </a:lnTo>
                  <a:lnTo>
                    <a:pt x="94" y="50"/>
                  </a:lnTo>
                  <a:lnTo>
                    <a:pt x="86" y="24"/>
                  </a:lnTo>
                  <a:lnTo>
                    <a:pt x="74" y="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6" y="58"/>
                  </a:lnTo>
                  <a:lnTo>
                    <a:pt x="10" y="72"/>
                  </a:lnTo>
                  <a:lnTo>
                    <a:pt x="14" y="88"/>
                  </a:lnTo>
                  <a:lnTo>
                    <a:pt x="14" y="106"/>
                  </a:lnTo>
                  <a:lnTo>
                    <a:pt x="14" y="10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7" name="Freeform 31"/>
            <p:cNvSpPr>
              <a:spLocks/>
            </p:cNvSpPr>
            <p:nvPr/>
          </p:nvSpPr>
          <p:spPr bwMode="auto">
            <a:xfrm>
              <a:off x="5369" y="3761"/>
              <a:ext cx="76" cy="160"/>
            </a:xfrm>
            <a:custGeom>
              <a:avLst/>
              <a:gdLst/>
              <a:ahLst/>
              <a:cxnLst>
                <a:cxn ang="0">
                  <a:pos x="86" y="106"/>
                </a:cxn>
                <a:cxn ang="0">
                  <a:pos x="86" y="106"/>
                </a:cxn>
                <a:cxn ang="0">
                  <a:pos x="86" y="88"/>
                </a:cxn>
                <a:cxn ang="0">
                  <a:pos x="90" y="72"/>
                </a:cxn>
                <a:cxn ang="0">
                  <a:pos x="94" y="58"/>
                </a:cxn>
                <a:cxn ang="0">
                  <a:pos x="100" y="44"/>
                </a:cxn>
                <a:cxn ang="0">
                  <a:pos x="26" y="0"/>
                </a:cxn>
                <a:cxn ang="0">
                  <a:pos x="26" y="0"/>
                </a:cxn>
                <a:cxn ang="0">
                  <a:pos x="14" y="24"/>
                </a:cxn>
                <a:cxn ang="0">
                  <a:pos x="6" y="50"/>
                </a:cxn>
                <a:cxn ang="0">
                  <a:pos x="2" y="78"/>
                </a:cxn>
                <a:cxn ang="0">
                  <a:pos x="0" y="106"/>
                </a:cxn>
                <a:cxn ang="0">
                  <a:pos x="0" y="106"/>
                </a:cxn>
                <a:cxn ang="0">
                  <a:pos x="2" y="134"/>
                </a:cxn>
                <a:cxn ang="0">
                  <a:pos x="6" y="160"/>
                </a:cxn>
                <a:cxn ang="0">
                  <a:pos x="14" y="186"/>
                </a:cxn>
                <a:cxn ang="0">
                  <a:pos x="26" y="210"/>
                </a:cxn>
                <a:cxn ang="0">
                  <a:pos x="100" y="168"/>
                </a:cxn>
                <a:cxn ang="0">
                  <a:pos x="100" y="168"/>
                </a:cxn>
                <a:cxn ang="0">
                  <a:pos x="94" y="152"/>
                </a:cxn>
                <a:cxn ang="0">
                  <a:pos x="90" y="138"/>
                </a:cxn>
                <a:cxn ang="0">
                  <a:pos x="86" y="122"/>
                </a:cxn>
                <a:cxn ang="0">
                  <a:pos x="86" y="106"/>
                </a:cxn>
                <a:cxn ang="0">
                  <a:pos x="86" y="106"/>
                </a:cxn>
              </a:cxnLst>
              <a:rect l="0" t="0" r="r" b="b"/>
              <a:pathLst>
                <a:path w="100" h="210">
                  <a:moveTo>
                    <a:pt x="86" y="106"/>
                  </a:moveTo>
                  <a:lnTo>
                    <a:pt x="86" y="106"/>
                  </a:lnTo>
                  <a:lnTo>
                    <a:pt x="86" y="88"/>
                  </a:lnTo>
                  <a:lnTo>
                    <a:pt x="90" y="72"/>
                  </a:lnTo>
                  <a:lnTo>
                    <a:pt x="94" y="58"/>
                  </a:lnTo>
                  <a:lnTo>
                    <a:pt x="100" y="44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4" y="24"/>
                  </a:lnTo>
                  <a:lnTo>
                    <a:pt x="6" y="50"/>
                  </a:lnTo>
                  <a:lnTo>
                    <a:pt x="2" y="78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2" y="134"/>
                  </a:lnTo>
                  <a:lnTo>
                    <a:pt x="6" y="160"/>
                  </a:lnTo>
                  <a:lnTo>
                    <a:pt x="14" y="186"/>
                  </a:lnTo>
                  <a:lnTo>
                    <a:pt x="26" y="210"/>
                  </a:lnTo>
                  <a:lnTo>
                    <a:pt x="100" y="168"/>
                  </a:lnTo>
                  <a:lnTo>
                    <a:pt x="100" y="168"/>
                  </a:lnTo>
                  <a:lnTo>
                    <a:pt x="94" y="152"/>
                  </a:lnTo>
                  <a:lnTo>
                    <a:pt x="90" y="138"/>
                  </a:lnTo>
                  <a:lnTo>
                    <a:pt x="86" y="122"/>
                  </a:lnTo>
                  <a:lnTo>
                    <a:pt x="86" y="106"/>
                  </a:lnTo>
                  <a:lnTo>
                    <a:pt x="86" y="106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8" name="Freeform 32"/>
            <p:cNvSpPr>
              <a:spLocks/>
            </p:cNvSpPr>
            <p:nvPr/>
          </p:nvSpPr>
          <p:spPr bwMode="auto">
            <a:xfrm>
              <a:off x="5396" y="3902"/>
              <a:ext cx="138" cy="113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0" y="44"/>
                </a:cxn>
                <a:cxn ang="0">
                  <a:pos x="0" y="44"/>
                </a:cxn>
                <a:cxn ang="0">
                  <a:pos x="16" y="66"/>
                </a:cxn>
                <a:cxn ang="0">
                  <a:pos x="36" y="84"/>
                </a:cxn>
                <a:cxn ang="0">
                  <a:pos x="56" y="102"/>
                </a:cxn>
                <a:cxn ang="0">
                  <a:pos x="78" y="118"/>
                </a:cxn>
                <a:cxn ang="0">
                  <a:pos x="102" y="130"/>
                </a:cxn>
                <a:cxn ang="0">
                  <a:pos x="128" y="138"/>
                </a:cxn>
                <a:cxn ang="0">
                  <a:pos x="154" y="146"/>
                </a:cxn>
                <a:cxn ang="0">
                  <a:pos x="182" y="148"/>
                </a:cxn>
                <a:cxn ang="0">
                  <a:pos x="182" y="62"/>
                </a:cxn>
                <a:cxn ang="0">
                  <a:pos x="182" y="62"/>
                </a:cxn>
                <a:cxn ang="0">
                  <a:pos x="166" y="60"/>
                </a:cxn>
                <a:cxn ang="0">
                  <a:pos x="150" y="56"/>
                </a:cxn>
                <a:cxn ang="0">
                  <a:pos x="136" y="50"/>
                </a:cxn>
                <a:cxn ang="0">
                  <a:pos x="122" y="44"/>
                </a:cxn>
                <a:cxn ang="0">
                  <a:pos x="108" y="34"/>
                </a:cxn>
                <a:cxn ang="0">
                  <a:pos x="96" y="24"/>
                </a:cxn>
                <a:cxn ang="0">
                  <a:pos x="86" y="14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182" h="148">
                  <a:moveTo>
                    <a:pt x="76" y="0"/>
                  </a:moveTo>
                  <a:lnTo>
                    <a:pt x="0" y="44"/>
                  </a:lnTo>
                  <a:lnTo>
                    <a:pt x="0" y="44"/>
                  </a:lnTo>
                  <a:lnTo>
                    <a:pt x="16" y="66"/>
                  </a:lnTo>
                  <a:lnTo>
                    <a:pt x="36" y="84"/>
                  </a:lnTo>
                  <a:lnTo>
                    <a:pt x="56" y="102"/>
                  </a:lnTo>
                  <a:lnTo>
                    <a:pt x="78" y="118"/>
                  </a:lnTo>
                  <a:lnTo>
                    <a:pt x="102" y="130"/>
                  </a:lnTo>
                  <a:lnTo>
                    <a:pt x="128" y="138"/>
                  </a:lnTo>
                  <a:lnTo>
                    <a:pt x="154" y="146"/>
                  </a:lnTo>
                  <a:lnTo>
                    <a:pt x="182" y="148"/>
                  </a:lnTo>
                  <a:lnTo>
                    <a:pt x="182" y="62"/>
                  </a:lnTo>
                  <a:lnTo>
                    <a:pt x="182" y="62"/>
                  </a:lnTo>
                  <a:lnTo>
                    <a:pt x="166" y="60"/>
                  </a:lnTo>
                  <a:lnTo>
                    <a:pt x="150" y="56"/>
                  </a:lnTo>
                  <a:lnTo>
                    <a:pt x="136" y="50"/>
                  </a:lnTo>
                  <a:lnTo>
                    <a:pt x="122" y="44"/>
                  </a:lnTo>
                  <a:lnTo>
                    <a:pt x="108" y="34"/>
                  </a:lnTo>
                  <a:lnTo>
                    <a:pt x="96" y="24"/>
                  </a:lnTo>
                  <a:lnTo>
                    <a:pt x="86" y="14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9" name="Freeform 33"/>
            <p:cNvSpPr>
              <a:spLocks/>
            </p:cNvSpPr>
            <p:nvPr/>
          </p:nvSpPr>
          <p:spPr bwMode="auto">
            <a:xfrm>
              <a:off x="5553" y="3667"/>
              <a:ext cx="138" cy="112"/>
            </a:xfrm>
            <a:custGeom>
              <a:avLst/>
              <a:gdLst/>
              <a:ahLst/>
              <a:cxnLst>
                <a:cxn ang="0">
                  <a:pos x="106" y="148"/>
                </a:cxn>
                <a:cxn ang="0">
                  <a:pos x="182" y="104"/>
                </a:cxn>
                <a:cxn ang="0">
                  <a:pos x="182" y="104"/>
                </a:cxn>
                <a:cxn ang="0">
                  <a:pos x="166" y="82"/>
                </a:cxn>
                <a:cxn ang="0">
                  <a:pos x="148" y="64"/>
                </a:cxn>
                <a:cxn ang="0">
                  <a:pos x="126" y="46"/>
                </a:cxn>
                <a:cxn ang="0">
                  <a:pos x="104" y="30"/>
                </a:cxn>
                <a:cxn ang="0">
                  <a:pos x="80" y="18"/>
                </a:cxn>
                <a:cxn ang="0">
                  <a:pos x="54" y="10"/>
                </a:cxn>
                <a:cxn ang="0">
                  <a:pos x="28" y="2"/>
                </a:cxn>
                <a:cxn ang="0">
                  <a:pos x="0" y="0"/>
                </a:cxn>
                <a:cxn ang="0">
                  <a:pos x="0" y="86"/>
                </a:cxn>
                <a:cxn ang="0">
                  <a:pos x="0" y="86"/>
                </a:cxn>
                <a:cxn ang="0">
                  <a:pos x="16" y="88"/>
                </a:cxn>
                <a:cxn ang="0">
                  <a:pos x="32" y="92"/>
                </a:cxn>
                <a:cxn ang="0">
                  <a:pos x="46" y="98"/>
                </a:cxn>
                <a:cxn ang="0">
                  <a:pos x="60" y="104"/>
                </a:cxn>
                <a:cxn ang="0">
                  <a:pos x="74" y="114"/>
                </a:cxn>
                <a:cxn ang="0">
                  <a:pos x="86" y="124"/>
                </a:cxn>
                <a:cxn ang="0">
                  <a:pos x="98" y="136"/>
                </a:cxn>
                <a:cxn ang="0">
                  <a:pos x="106" y="148"/>
                </a:cxn>
                <a:cxn ang="0">
                  <a:pos x="106" y="148"/>
                </a:cxn>
              </a:cxnLst>
              <a:rect l="0" t="0" r="r" b="b"/>
              <a:pathLst>
                <a:path w="182" h="148">
                  <a:moveTo>
                    <a:pt x="106" y="148"/>
                  </a:moveTo>
                  <a:lnTo>
                    <a:pt x="182" y="104"/>
                  </a:lnTo>
                  <a:lnTo>
                    <a:pt x="182" y="104"/>
                  </a:lnTo>
                  <a:lnTo>
                    <a:pt x="166" y="82"/>
                  </a:lnTo>
                  <a:lnTo>
                    <a:pt x="148" y="64"/>
                  </a:lnTo>
                  <a:lnTo>
                    <a:pt x="126" y="46"/>
                  </a:lnTo>
                  <a:lnTo>
                    <a:pt x="104" y="30"/>
                  </a:lnTo>
                  <a:lnTo>
                    <a:pt x="80" y="18"/>
                  </a:lnTo>
                  <a:lnTo>
                    <a:pt x="54" y="10"/>
                  </a:lnTo>
                  <a:lnTo>
                    <a:pt x="28" y="2"/>
                  </a:lnTo>
                  <a:lnTo>
                    <a:pt x="0" y="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6" y="88"/>
                  </a:lnTo>
                  <a:lnTo>
                    <a:pt x="32" y="92"/>
                  </a:lnTo>
                  <a:lnTo>
                    <a:pt x="46" y="98"/>
                  </a:lnTo>
                  <a:lnTo>
                    <a:pt x="60" y="104"/>
                  </a:lnTo>
                  <a:lnTo>
                    <a:pt x="74" y="114"/>
                  </a:lnTo>
                  <a:lnTo>
                    <a:pt x="86" y="124"/>
                  </a:lnTo>
                  <a:lnTo>
                    <a:pt x="98" y="136"/>
                  </a:lnTo>
                  <a:lnTo>
                    <a:pt x="106" y="148"/>
                  </a:lnTo>
                  <a:lnTo>
                    <a:pt x="106" y="14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0" name="Freeform 34"/>
            <p:cNvSpPr>
              <a:spLocks/>
            </p:cNvSpPr>
            <p:nvPr/>
          </p:nvSpPr>
          <p:spPr bwMode="auto">
            <a:xfrm>
              <a:off x="5553" y="3902"/>
              <a:ext cx="138" cy="113"/>
            </a:xfrm>
            <a:custGeom>
              <a:avLst/>
              <a:gdLst/>
              <a:ahLst/>
              <a:cxnLst>
                <a:cxn ang="0">
                  <a:pos x="0" y="62"/>
                </a:cxn>
                <a:cxn ang="0">
                  <a:pos x="0" y="148"/>
                </a:cxn>
                <a:cxn ang="0">
                  <a:pos x="0" y="148"/>
                </a:cxn>
                <a:cxn ang="0">
                  <a:pos x="28" y="146"/>
                </a:cxn>
                <a:cxn ang="0">
                  <a:pos x="54" y="138"/>
                </a:cxn>
                <a:cxn ang="0">
                  <a:pos x="80" y="130"/>
                </a:cxn>
                <a:cxn ang="0">
                  <a:pos x="104" y="118"/>
                </a:cxn>
                <a:cxn ang="0">
                  <a:pos x="126" y="102"/>
                </a:cxn>
                <a:cxn ang="0">
                  <a:pos x="148" y="84"/>
                </a:cxn>
                <a:cxn ang="0">
                  <a:pos x="166" y="66"/>
                </a:cxn>
                <a:cxn ang="0">
                  <a:pos x="182" y="44"/>
                </a:cxn>
                <a:cxn ang="0">
                  <a:pos x="106" y="0"/>
                </a:cxn>
                <a:cxn ang="0">
                  <a:pos x="106" y="0"/>
                </a:cxn>
                <a:cxn ang="0">
                  <a:pos x="98" y="14"/>
                </a:cxn>
                <a:cxn ang="0">
                  <a:pos x="86" y="24"/>
                </a:cxn>
                <a:cxn ang="0">
                  <a:pos x="74" y="34"/>
                </a:cxn>
                <a:cxn ang="0">
                  <a:pos x="60" y="44"/>
                </a:cxn>
                <a:cxn ang="0">
                  <a:pos x="46" y="50"/>
                </a:cxn>
                <a:cxn ang="0">
                  <a:pos x="32" y="56"/>
                </a:cxn>
                <a:cxn ang="0">
                  <a:pos x="16" y="60"/>
                </a:cxn>
                <a:cxn ang="0">
                  <a:pos x="0" y="62"/>
                </a:cxn>
                <a:cxn ang="0">
                  <a:pos x="0" y="62"/>
                </a:cxn>
              </a:cxnLst>
              <a:rect l="0" t="0" r="r" b="b"/>
              <a:pathLst>
                <a:path w="182" h="148">
                  <a:moveTo>
                    <a:pt x="0" y="62"/>
                  </a:moveTo>
                  <a:lnTo>
                    <a:pt x="0" y="148"/>
                  </a:lnTo>
                  <a:lnTo>
                    <a:pt x="0" y="148"/>
                  </a:lnTo>
                  <a:lnTo>
                    <a:pt x="28" y="146"/>
                  </a:lnTo>
                  <a:lnTo>
                    <a:pt x="54" y="138"/>
                  </a:lnTo>
                  <a:lnTo>
                    <a:pt x="80" y="130"/>
                  </a:lnTo>
                  <a:lnTo>
                    <a:pt x="104" y="118"/>
                  </a:lnTo>
                  <a:lnTo>
                    <a:pt x="126" y="102"/>
                  </a:lnTo>
                  <a:lnTo>
                    <a:pt x="148" y="84"/>
                  </a:lnTo>
                  <a:lnTo>
                    <a:pt x="166" y="66"/>
                  </a:lnTo>
                  <a:lnTo>
                    <a:pt x="182" y="44"/>
                  </a:lnTo>
                  <a:lnTo>
                    <a:pt x="106" y="0"/>
                  </a:lnTo>
                  <a:lnTo>
                    <a:pt x="106" y="0"/>
                  </a:lnTo>
                  <a:lnTo>
                    <a:pt x="98" y="14"/>
                  </a:lnTo>
                  <a:lnTo>
                    <a:pt x="86" y="24"/>
                  </a:lnTo>
                  <a:lnTo>
                    <a:pt x="74" y="34"/>
                  </a:lnTo>
                  <a:lnTo>
                    <a:pt x="60" y="44"/>
                  </a:lnTo>
                  <a:lnTo>
                    <a:pt x="46" y="50"/>
                  </a:lnTo>
                  <a:lnTo>
                    <a:pt x="32" y="56"/>
                  </a:lnTo>
                  <a:lnTo>
                    <a:pt x="16" y="60"/>
                  </a:lnTo>
                  <a:lnTo>
                    <a:pt x="0" y="62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8113713" y="6221413"/>
            <a:ext cx="554037" cy="552450"/>
            <a:chOff x="5129" y="3937"/>
            <a:chExt cx="349" cy="348"/>
          </a:xfrm>
        </p:grpSpPr>
        <p:sp>
          <p:nvSpPr>
            <p:cNvPr id="4132" name="Freeform 36"/>
            <p:cNvSpPr>
              <a:spLocks/>
            </p:cNvSpPr>
            <p:nvPr/>
          </p:nvSpPr>
          <p:spPr bwMode="auto">
            <a:xfrm>
              <a:off x="5193" y="3937"/>
              <a:ext cx="156" cy="87"/>
            </a:xfrm>
            <a:custGeom>
              <a:avLst/>
              <a:gdLst/>
              <a:ahLst/>
              <a:cxnLst>
                <a:cxn ang="0">
                  <a:pos x="180" y="88"/>
                </a:cxn>
                <a:cxn ang="0">
                  <a:pos x="206" y="8"/>
                </a:cxn>
                <a:cxn ang="0">
                  <a:pos x="206" y="8"/>
                </a:cxn>
                <a:cxn ang="0">
                  <a:pos x="178" y="2"/>
                </a:cxn>
                <a:cxn ang="0">
                  <a:pos x="150" y="0"/>
                </a:cxn>
                <a:cxn ang="0">
                  <a:pos x="124" y="0"/>
                </a:cxn>
                <a:cxn ang="0">
                  <a:pos x="96" y="4"/>
                </a:cxn>
                <a:cxn ang="0">
                  <a:pos x="70" y="12"/>
                </a:cxn>
                <a:cxn ang="0">
                  <a:pos x="46" y="22"/>
                </a:cxn>
                <a:cxn ang="0">
                  <a:pos x="22" y="36"/>
                </a:cxn>
                <a:cxn ang="0">
                  <a:pos x="0" y="50"/>
                </a:cxn>
                <a:cxn ang="0">
                  <a:pos x="58" y="114"/>
                </a:cxn>
                <a:cxn ang="0">
                  <a:pos x="58" y="114"/>
                </a:cxn>
                <a:cxn ang="0">
                  <a:pos x="72" y="106"/>
                </a:cxn>
                <a:cxn ang="0">
                  <a:pos x="86" y="98"/>
                </a:cxn>
                <a:cxn ang="0">
                  <a:pos x="100" y="92"/>
                </a:cxn>
                <a:cxn ang="0">
                  <a:pos x="116" y="88"/>
                </a:cxn>
                <a:cxn ang="0">
                  <a:pos x="130" y="86"/>
                </a:cxn>
                <a:cxn ang="0">
                  <a:pos x="146" y="84"/>
                </a:cxn>
                <a:cxn ang="0">
                  <a:pos x="164" y="86"/>
                </a:cxn>
                <a:cxn ang="0">
                  <a:pos x="180" y="88"/>
                </a:cxn>
                <a:cxn ang="0">
                  <a:pos x="180" y="88"/>
                </a:cxn>
              </a:cxnLst>
              <a:rect l="0" t="0" r="r" b="b"/>
              <a:pathLst>
                <a:path w="206" h="114">
                  <a:moveTo>
                    <a:pt x="180" y="88"/>
                  </a:moveTo>
                  <a:lnTo>
                    <a:pt x="206" y="8"/>
                  </a:lnTo>
                  <a:lnTo>
                    <a:pt x="206" y="8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4" y="0"/>
                  </a:lnTo>
                  <a:lnTo>
                    <a:pt x="96" y="4"/>
                  </a:lnTo>
                  <a:lnTo>
                    <a:pt x="70" y="12"/>
                  </a:lnTo>
                  <a:lnTo>
                    <a:pt x="46" y="22"/>
                  </a:lnTo>
                  <a:lnTo>
                    <a:pt x="22" y="36"/>
                  </a:lnTo>
                  <a:lnTo>
                    <a:pt x="0" y="50"/>
                  </a:lnTo>
                  <a:lnTo>
                    <a:pt x="58" y="114"/>
                  </a:lnTo>
                  <a:lnTo>
                    <a:pt x="58" y="114"/>
                  </a:lnTo>
                  <a:lnTo>
                    <a:pt x="72" y="106"/>
                  </a:lnTo>
                  <a:lnTo>
                    <a:pt x="86" y="98"/>
                  </a:lnTo>
                  <a:lnTo>
                    <a:pt x="100" y="92"/>
                  </a:lnTo>
                  <a:lnTo>
                    <a:pt x="116" y="88"/>
                  </a:lnTo>
                  <a:lnTo>
                    <a:pt x="130" y="86"/>
                  </a:lnTo>
                  <a:lnTo>
                    <a:pt x="146" y="84"/>
                  </a:lnTo>
                  <a:lnTo>
                    <a:pt x="164" y="86"/>
                  </a:lnTo>
                  <a:lnTo>
                    <a:pt x="180" y="88"/>
                  </a:lnTo>
                  <a:lnTo>
                    <a:pt x="180" y="88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3" name="Freeform 37"/>
            <p:cNvSpPr>
              <a:spLocks/>
            </p:cNvSpPr>
            <p:nvPr/>
          </p:nvSpPr>
          <p:spPr bwMode="auto">
            <a:xfrm>
              <a:off x="5383" y="4083"/>
              <a:ext cx="95" cy="152"/>
            </a:xfrm>
            <a:custGeom>
              <a:avLst/>
              <a:gdLst/>
              <a:ahLst/>
              <a:cxnLst>
                <a:cxn ang="0">
                  <a:pos x="32" y="82"/>
                </a:cxn>
                <a:cxn ang="0">
                  <a:pos x="32" y="82"/>
                </a:cxn>
                <a:cxn ang="0">
                  <a:pos x="26" y="96"/>
                </a:cxn>
                <a:cxn ang="0">
                  <a:pos x="20" y="110"/>
                </a:cxn>
                <a:cxn ang="0">
                  <a:pos x="10" y="124"/>
                </a:cxn>
                <a:cxn ang="0">
                  <a:pos x="0" y="136"/>
                </a:cxn>
                <a:cxn ang="0">
                  <a:pos x="58" y="200"/>
                </a:cxn>
                <a:cxn ang="0">
                  <a:pos x="58" y="200"/>
                </a:cxn>
                <a:cxn ang="0">
                  <a:pos x="76" y="180"/>
                </a:cxn>
                <a:cxn ang="0">
                  <a:pos x="92" y="158"/>
                </a:cxn>
                <a:cxn ang="0">
                  <a:pos x="104" y="134"/>
                </a:cxn>
                <a:cxn ang="0">
                  <a:pos x="114" y="108"/>
                </a:cxn>
                <a:cxn ang="0">
                  <a:pos x="114" y="108"/>
                </a:cxn>
                <a:cxn ang="0">
                  <a:pos x="122" y="80"/>
                </a:cxn>
                <a:cxn ang="0">
                  <a:pos x="126" y="54"/>
                </a:cxn>
                <a:cxn ang="0">
                  <a:pos x="126" y="26"/>
                </a:cxn>
                <a:cxn ang="0">
                  <a:pos x="122" y="0"/>
                </a:cxn>
                <a:cxn ang="0">
                  <a:pos x="38" y="18"/>
                </a:cxn>
                <a:cxn ang="0">
                  <a:pos x="38" y="18"/>
                </a:cxn>
                <a:cxn ang="0">
                  <a:pos x="40" y="34"/>
                </a:cxn>
                <a:cxn ang="0">
                  <a:pos x="40" y="50"/>
                </a:cxn>
                <a:cxn ang="0">
                  <a:pos x="38" y="66"/>
                </a:cxn>
                <a:cxn ang="0">
                  <a:pos x="32" y="82"/>
                </a:cxn>
                <a:cxn ang="0">
                  <a:pos x="32" y="82"/>
                </a:cxn>
              </a:cxnLst>
              <a:rect l="0" t="0" r="r" b="b"/>
              <a:pathLst>
                <a:path w="126" h="200">
                  <a:moveTo>
                    <a:pt x="32" y="82"/>
                  </a:moveTo>
                  <a:lnTo>
                    <a:pt x="32" y="82"/>
                  </a:lnTo>
                  <a:lnTo>
                    <a:pt x="26" y="96"/>
                  </a:lnTo>
                  <a:lnTo>
                    <a:pt x="20" y="110"/>
                  </a:lnTo>
                  <a:lnTo>
                    <a:pt x="10" y="124"/>
                  </a:lnTo>
                  <a:lnTo>
                    <a:pt x="0" y="136"/>
                  </a:lnTo>
                  <a:lnTo>
                    <a:pt x="58" y="200"/>
                  </a:lnTo>
                  <a:lnTo>
                    <a:pt x="58" y="200"/>
                  </a:lnTo>
                  <a:lnTo>
                    <a:pt x="76" y="180"/>
                  </a:lnTo>
                  <a:lnTo>
                    <a:pt x="92" y="158"/>
                  </a:lnTo>
                  <a:lnTo>
                    <a:pt x="104" y="134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22" y="80"/>
                  </a:lnTo>
                  <a:lnTo>
                    <a:pt x="126" y="54"/>
                  </a:lnTo>
                  <a:lnTo>
                    <a:pt x="126" y="26"/>
                  </a:lnTo>
                  <a:lnTo>
                    <a:pt x="122" y="0"/>
                  </a:lnTo>
                  <a:lnTo>
                    <a:pt x="38" y="18"/>
                  </a:lnTo>
                  <a:lnTo>
                    <a:pt x="38" y="18"/>
                  </a:lnTo>
                  <a:lnTo>
                    <a:pt x="40" y="34"/>
                  </a:lnTo>
                  <a:lnTo>
                    <a:pt x="40" y="50"/>
                  </a:lnTo>
                  <a:lnTo>
                    <a:pt x="38" y="66"/>
                  </a:lnTo>
                  <a:lnTo>
                    <a:pt x="32" y="82"/>
                  </a:lnTo>
                  <a:lnTo>
                    <a:pt x="32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4" name="Freeform 38"/>
            <p:cNvSpPr>
              <a:spLocks/>
            </p:cNvSpPr>
            <p:nvPr/>
          </p:nvSpPr>
          <p:spPr bwMode="auto">
            <a:xfrm>
              <a:off x="5129" y="3987"/>
              <a:ext cx="96" cy="152"/>
            </a:xfrm>
            <a:custGeom>
              <a:avLst/>
              <a:gdLst/>
              <a:ahLst/>
              <a:cxnLst>
                <a:cxn ang="0">
                  <a:pos x="92" y="118"/>
                </a:cxn>
                <a:cxn ang="0">
                  <a:pos x="92" y="118"/>
                </a:cxn>
                <a:cxn ang="0">
                  <a:pos x="98" y="104"/>
                </a:cxn>
                <a:cxn ang="0">
                  <a:pos x="106" y="88"/>
                </a:cxn>
                <a:cxn ang="0">
                  <a:pos x="116" y="76"/>
                </a:cxn>
                <a:cxn ang="0">
                  <a:pos x="126" y="64"/>
                </a:cxn>
                <a:cxn ang="0">
                  <a:pos x="68" y="0"/>
                </a:cxn>
                <a:cxn ang="0">
                  <a:pos x="68" y="0"/>
                </a:cxn>
                <a:cxn ang="0">
                  <a:pos x="50" y="20"/>
                </a:cxn>
                <a:cxn ang="0">
                  <a:pos x="34" y="42"/>
                </a:cxn>
                <a:cxn ang="0">
                  <a:pos x="22" y="66"/>
                </a:cxn>
                <a:cxn ang="0">
                  <a:pos x="12" y="92"/>
                </a:cxn>
                <a:cxn ang="0">
                  <a:pos x="12" y="92"/>
                </a:cxn>
                <a:cxn ang="0">
                  <a:pos x="4" y="118"/>
                </a:cxn>
                <a:cxn ang="0">
                  <a:pos x="0" y="146"/>
                </a:cxn>
                <a:cxn ang="0">
                  <a:pos x="0" y="174"/>
                </a:cxn>
                <a:cxn ang="0">
                  <a:pos x="4" y="200"/>
                </a:cxn>
                <a:cxn ang="0">
                  <a:pos x="88" y="182"/>
                </a:cxn>
                <a:cxn ang="0">
                  <a:pos x="88" y="182"/>
                </a:cxn>
                <a:cxn ang="0">
                  <a:pos x="86" y="166"/>
                </a:cxn>
                <a:cxn ang="0">
                  <a:pos x="86" y="150"/>
                </a:cxn>
                <a:cxn ang="0">
                  <a:pos x="88" y="134"/>
                </a:cxn>
                <a:cxn ang="0">
                  <a:pos x="92" y="118"/>
                </a:cxn>
                <a:cxn ang="0">
                  <a:pos x="92" y="118"/>
                </a:cxn>
              </a:cxnLst>
              <a:rect l="0" t="0" r="r" b="b"/>
              <a:pathLst>
                <a:path w="126" h="200">
                  <a:moveTo>
                    <a:pt x="92" y="118"/>
                  </a:moveTo>
                  <a:lnTo>
                    <a:pt x="92" y="118"/>
                  </a:lnTo>
                  <a:lnTo>
                    <a:pt x="98" y="104"/>
                  </a:lnTo>
                  <a:lnTo>
                    <a:pt x="106" y="88"/>
                  </a:lnTo>
                  <a:lnTo>
                    <a:pt x="116" y="76"/>
                  </a:lnTo>
                  <a:lnTo>
                    <a:pt x="126" y="64"/>
                  </a:lnTo>
                  <a:lnTo>
                    <a:pt x="68" y="0"/>
                  </a:lnTo>
                  <a:lnTo>
                    <a:pt x="68" y="0"/>
                  </a:lnTo>
                  <a:lnTo>
                    <a:pt x="50" y="20"/>
                  </a:lnTo>
                  <a:lnTo>
                    <a:pt x="34" y="42"/>
                  </a:lnTo>
                  <a:lnTo>
                    <a:pt x="22" y="66"/>
                  </a:lnTo>
                  <a:lnTo>
                    <a:pt x="12" y="92"/>
                  </a:lnTo>
                  <a:lnTo>
                    <a:pt x="12" y="92"/>
                  </a:lnTo>
                  <a:lnTo>
                    <a:pt x="4" y="118"/>
                  </a:lnTo>
                  <a:lnTo>
                    <a:pt x="0" y="146"/>
                  </a:lnTo>
                  <a:lnTo>
                    <a:pt x="0" y="174"/>
                  </a:lnTo>
                  <a:lnTo>
                    <a:pt x="4" y="200"/>
                  </a:lnTo>
                  <a:lnTo>
                    <a:pt x="88" y="182"/>
                  </a:lnTo>
                  <a:lnTo>
                    <a:pt x="88" y="182"/>
                  </a:lnTo>
                  <a:lnTo>
                    <a:pt x="86" y="166"/>
                  </a:lnTo>
                  <a:lnTo>
                    <a:pt x="86" y="150"/>
                  </a:lnTo>
                  <a:lnTo>
                    <a:pt x="88" y="134"/>
                  </a:lnTo>
                  <a:lnTo>
                    <a:pt x="92" y="118"/>
                  </a:lnTo>
                  <a:lnTo>
                    <a:pt x="92" y="118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5" name="Freeform 39"/>
            <p:cNvSpPr>
              <a:spLocks/>
            </p:cNvSpPr>
            <p:nvPr/>
          </p:nvSpPr>
          <p:spPr bwMode="auto">
            <a:xfrm>
              <a:off x="5135" y="4142"/>
              <a:ext cx="126" cy="132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0" y="18"/>
                </a:cxn>
                <a:cxn ang="0">
                  <a:pos x="0" y="18"/>
                </a:cxn>
                <a:cxn ang="0">
                  <a:pos x="8" y="44"/>
                </a:cxn>
                <a:cxn ang="0">
                  <a:pos x="20" y="68"/>
                </a:cxn>
                <a:cxn ang="0">
                  <a:pos x="34" y="90"/>
                </a:cxn>
                <a:cxn ang="0">
                  <a:pos x="50" y="112"/>
                </a:cxn>
                <a:cxn ang="0">
                  <a:pos x="70" y="130"/>
                </a:cxn>
                <a:cxn ang="0">
                  <a:pos x="90" y="148"/>
                </a:cxn>
                <a:cxn ang="0">
                  <a:pos x="114" y="162"/>
                </a:cxn>
                <a:cxn ang="0">
                  <a:pos x="140" y="174"/>
                </a:cxn>
                <a:cxn ang="0">
                  <a:pos x="166" y="92"/>
                </a:cxn>
                <a:cxn ang="0">
                  <a:pos x="166" y="92"/>
                </a:cxn>
                <a:cxn ang="0">
                  <a:pos x="152" y="84"/>
                </a:cxn>
                <a:cxn ang="0">
                  <a:pos x="138" y="76"/>
                </a:cxn>
                <a:cxn ang="0">
                  <a:pos x="126" y="66"/>
                </a:cxn>
                <a:cxn ang="0">
                  <a:pos x="114" y="54"/>
                </a:cxn>
                <a:cxn ang="0">
                  <a:pos x="104" y="42"/>
                </a:cxn>
                <a:cxn ang="0">
                  <a:pos x="96" y="28"/>
                </a:cxn>
                <a:cxn ang="0">
                  <a:pos x="90" y="14"/>
                </a:cxn>
                <a:cxn ang="0">
                  <a:pos x="84" y="0"/>
                </a:cxn>
                <a:cxn ang="0">
                  <a:pos x="84" y="0"/>
                </a:cxn>
              </a:cxnLst>
              <a:rect l="0" t="0" r="r" b="b"/>
              <a:pathLst>
                <a:path w="166" h="174">
                  <a:moveTo>
                    <a:pt x="84" y="0"/>
                  </a:moveTo>
                  <a:lnTo>
                    <a:pt x="0" y="18"/>
                  </a:lnTo>
                  <a:lnTo>
                    <a:pt x="0" y="18"/>
                  </a:lnTo>
                  <a:lnTo>
                    <a:pt x="8" y="44"/>
                  </a:lnTo>
                  <a:lnTo>
                    <a:pt x="20" y="68"/>
                  </a:lnTo>
                  <a:lnTo>
                    <a:pt x="34" y="90"/>
                  </a:lnTo>
                  <a:lnTo>
                    <a:pt x="50" y="112"/>
                  </a:lnTo>
                  <a:lnTo>
                    <a:pt x="70" y="130"/>
                  </a:lnTo>
                  <a:lnTo>
                    <a:pt x="90" y="148"/>
                  </a:lnTo>
                  <a:lnTo>
                    <a:pt x="114" y="162"/>
                  </a:lnTo>
                  <a:lnTo>
                    <a:pt x="140" y="174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2" y="84"/>
                  </a:lnTo>
                  <a:lnTo>
                    <a:pt x="138" y="76"/>
                  </a:lnTo>
                  <a:lnTo>
                    <a:pt x="126" y="66"/>
                  </a:lnTo>
                  <a:lnTo>
                    <a:pt x="114" y="54"/>
                  </a:lnTo>
                  <a:lnTo>
                    <a:pt x="104" y="42"/>
                  </a:lnTo>
                  <a:lnTo>
                    <a:pt x="96" y="28"/>
                  </a:lnTo>
                  <a:lnTo>
                    <a:pt x="90" y="14"/>
                  </a:lnTo>
                  <a:lnTo>
                    <a:pt x="84" y="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6" name="Freeform 40"/>
            <p:cNvSpPr>
              <a:spLocks/>
            </p:cNvSpPr>
            <p:nvPr/>
          </p:nvSpPr>
          <p:spPr bwMode="auto">
            <a:xfrm>
              <a:off x="5345" y="3948"/>
              <a:ext cx="127" cy="132"/>
            </a:xfrm>
            <a:custGeom>
              <a:avLst/>
              <a:gdLst/>
              <a:ahLst/>
              <a:cxnLst>
                <a:cxn ang="0">
                  <a:pos x="84" y="174"/>
                </a:cxn>
                <a:cxn ang="0">
                  <a:pos x="168" y="156"/>
                </a:cxn>
                <a:cxn ang="0">
                  <a:pos x="168" y="156"/>
                </a:cxn>
                <a:cxn ang="0">
                  <a:pos x="160" y="130"/>
                </a:cxn>
                <a:cxn ang="0">
                  <a:pos x="148" y="106"/>
                </a:cxn>
                <a:cxn ang="0">
                  <a:pos x="134" y="84"/>
                </a:cxn>
                <a:cxn ang="0">
                  <a:pos x="118" y="62"/>
                </a:cxn>
                <a:cxn ang="0">
                  <a:pos x="98" y="44"/>
                </a:cxn>
                <a:cxn ang="0">
                  <a:pos x="76" y="26"/>
                </a:cxn>
                <a:cxn ang="0">
                  <a:pos x="54" y="12"/>
                </a:cxn>
                <a:cxn ang="0">
                  <a:pos x="28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90"/>
                </a:cxn>
                <a:cxn ang="0">
                  <a:pos x="30" y="98"/>
                </a:cxn>
                <a:cxn ang="0">
                  <a:pos x="42" y="108"/>
                </a:cxn>
                <a:cxn ang="0">
                  <a:pos x="54" y="120"/>
                </a:cxn>
                <a:cxn ang="0">
                  <a:pos x="64" y="132"/>
                </a:cxn>
                <a:cxn ang="0">
                  <a:pos x="72" y="144"/>
                </a:cxn>
                <a:cxn ang="0">
                  <a:pos x="78" y="160"/>
                </a:cxn>
                <a:cxn ang="0">
                  <a:pos x="84" y="174"/>
                </a:cxn>
                <a:cxn ang="0">
                  <a:pos x="84" y="174"/>
                </a:cxn>
              </a:cxnLst>
              <a:rect l="0" t="0" r="r" b="b"/>
              <a:pathLst>
                <a:path w="168" h="174">
                  <a:moveTo>
                    <a:pt x="84" y="174"/>
                  </a:moveTo>
                  <a:lnTo>
                    <a:pt x="168" y="156"/>
                  </a:lnTo>
                  <a:lnTo>
                    <a:pt x="168" y="156"/>
                  </a:lnTo>
                  <a:lnTo>
                    <a:pt x="160" y="130"/>
                  </a:lnTo>
                  <a:lnTo>
                    <a:pt x="148" y="106"/>
                  </a:lnTo>
                  <a:lnTo>
                    <a:pt x="134" y="84"/>
                  </a:lnTo>
                  <a:lnTo>
                    <a:pt x="118" y="62"/>
                  </a:lnTo>
                  <a:lnTo>
                    <a:pt x="98" y="44"/>
                  </a:lnTo>
                  <a:lnTo>
                    <a:pt x="76" y="26"/>
                  </a:lnTo>
                  <a:lnTo>
                    <a:pt x="54" y="12"/>
                  </a:lnTo>
                  <a:lnTo>
                    <a:pt x="28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90"/>
                  </a:lnTo>
                  <a:lnTo>
                    <a:pt x="30" y="98"/>
                  </a:lnTo>
                  <a:lnTo>
                    <a:pt x="42" y="108"/>
                  </a:lnTo>
                  <a:lnTo>
                    <a:pt x="54" y="120"/>
                  </a:lnTo>
                  <a:lnTo>
                    <a:pt x="64" y="132"/>
                  </a:lnTo>
                  <a:lnTo>
                    <a:pt x="72" y="144"/>
                  </a:lnTo>
                  <a:lnTo>
                    <a:pt x="78" y="160"/>
                  </a:lnTo>
                  <a:lnTo>
                    <a:pt x="84" y="174"/>
                  </a:lnTo>
                  <a:lnTo>
                    <a:pt x="84" y="174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7" name="Freeform 41"/>
            <p:cNvSpPr>
              <a:spLocks/>
            </p:cNvSpPr>
            <p:nvPr/>
          </p:nvSpPr>
          <p:spPr bwMode="auto">
            <a:xfrm>
              <a:off x="5258" y="4197"/>
              <a:ext cx="156" cy="88"/>
            </a:xfrm>
            <a:custGeom>
              <a:avLst/>
              <a:gdLst/>
              <a:ahLst/>
              <a:cxnLst>
                <a:cxn ang="0">
                  <a:pos x="26" y="26"/>
                </a:cxn>
                <a:cxn ang="0">
                  <a:pos x="0" y="108"/>
                </a:cxn>
                <a:cxn ang="0">
                  <a:pos x="0" y="108"/>
                </a:cxn>
                <a:cxn ang="0">
                  <a:pos x="28" y="114"/>
                </a:cxn>
                <a:cxn ang="0">
                  <a:pos x="56" y="116"/>
                </a:cxn>
                <a:cxn ang="0">
                  <a:pos x="82" y="116"/>
                </a:cxn>
                <a:cxn ang="0">
                  <a:pos x="110" y="112"/>
                </a:cxn>
                <a:cxn ang="0">
                  <a:pos x="136" y="104"/>
                </a:cxn>
                <a:cxn ang="0">
                  <a:pos x="160" y="94"/>
                </a:cxn>
                <a:cxn ang="0">
                  <a:pos x="184" y="80"/>
                </a:cxn>
                <a:cxn ang="0">
                  <a:pos x="206" y="64"/>
                </a:cxn>
                <a:cxn ang="0">
                  <a:pos x="148" y="0"/>
                </a:cxn>
                <a:cxn ang="0">
                  <a:pos x="148" y="0"/>
                </a:cxn>
                <a:cxn ang="0">
                  <a:pos x="134" y="10"/>
                </a:cxn>
                <a:cxn ang="0">
                  <a:pos x="120" y="18"/>
                </a:cxn>
                <a:cxn ang="0">
                  <a:pos x="106" y="24"/>
                </a:cxn>
                <a:cxn ang="0">
                  <a:pos x="90" y="28"/>
                </a:cxn>
                <a:cxn ang="0">
                  <a:pos x="74" y="30"/>
                </a:cxn>
                <a:cxn ang="0">
                  <a:pos x="58" y="30"/>
                </a:cxn>
                <a:cxn ang="0">
                  <a:pos x="42" y="30"/>
                </a:cxn>
                <a:cxn ang="0">
                  <a:pos x="26" y="26"/>
                </a:cxn>
                <a:cxn ang="0">
                  <a:pos x="26" y="26"/>
                </a:cxn>
              </a:cxnLst>
              <a:rect l="0" t="0" r="r" b="b"/>
              <a:pathLst>
                <a:path w="206" h="116">
                  <a:moveTo>
                    <a:pt x="26" y="26"/>
                  </a:moveTo>
                  <a:lnTo>
                    <a:pt x="0" y="108"/>
                  </a:lnTo>
                  <a:lnTo>
                    <a:pt x="0" y="108"/>
                  </a:lnTo>
                  <a:lnTo>
                    <a:pt x="28" y="114"/>
                  </a:lnTo>
                  <a:lnTo>
                    <a:pt x="56" y="116"/>
                  </a:lnTo>
                  <a:lnTo>
                    <a:pt x="82" y="116"/>
                  </a:lnTo>
                  <a:lnTo>
                    <a:pt x="110" y="112"/>
                  </a:lnTo>
                  <a:lnTo>
                    <a:pt x="136" y="104"/>
                  </a:lnTo>
                  <a:lnTo>
                    <a:pt x="160" y="94"/>
                  </a:lnTo>
                  <a:lnTo>
                    <a:pt x="184" y="80"/>
                  </a:lnTo>
                  <a:lnTo>
                    <a:pt x="206" y="64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34" y="10"/>
                  </a:lnTo>
                  <a:lnTo>
                    <a:pt x="120" y="18"/>
                  </a:lnTo>
                  <a:lnTo>
                    <a:pt x="106" y="24"/>
                  </a:lnTo>
                  <a:lnTo>
                    <a:pt x="90" y="28"/>
                  </a:lnTo>
                  <a:lnTo>
                    <a:pt x="74" y="30"/>
                  </a:lnTo>
                  <a:lnTo>
                    <a:pt x="58" y="30"/>
                  </a:lnTo>
                  <a:lnTo>
                    <a:pt x="42" y="30"/>
                  </a:lnTo>
                  <a:lnTo>
                    <a:pt x="26" y="26"/>
                  </a:lnTo>
                  <a:lnTo>
                    <a:pt x="26" y="26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5" name="Group 42"/>
          <p:cNvGrpSpPr>
            <a:grpSpLocks/>
          </p:cNvGrpSpPr>
          <p:nvPr/>
        </p:nvGrpSpPr>
        <p:grpSpPr bwMode="auto">
          <a:xfrm>
            <a:off x="8089900" y="5821363"/>
            <a:ext cx="390525" cy="390525"/>
            <a:chOff x="5114" y="3685"/>
            <a:chExt cx="246" cy="246"/>
          </a:xfrm>
        </p:grpSpPr>
        <p:sp>
          <p:nvSpPr>
            <p:cNvPr id="4139" name="Freeform 43"/>
            <p:cNvSpPr>
              <a:spLocks/>
            </p:cNvSpPr>
            <p:nvPr/>
          </p:nvSpPr>
          <p:spPr bwMode="auto">
            <a:xfrm>
              <a:off x="5135" y="3845"/>
              <a:ext cx="94" cy="86"/>
            </a:xfrm>
            <a:custGeom>
              <a:avLst/>
              <a:gdLst/>
              <a:ahLst/>
              <a:cxnLst>
                <a:cxn ang="0">
                  <a:pos x="70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10" y="56"/>
                </a:cxn>
                <a:cxn ang="0">
                  <a:pos x="22" y="70"/>
                </a:cxn>
                <a:cxn ang="0">
                  <a:pos x="36" y="82"/>
                </a:cxn>
                <a:cxn ang="0">
                  <a:pos x="52" y="92"/>
                </a:cxn>
                <a:cxn ang="0">
                  <a:pos x="68" y="100"/>
                </a:cxn>
                <a:cxn ang="0">
                  <a:pos x="86" y="108"/>
                </a:cxn>
                <a:cxn ang="0">
                  <a:pos x="104" y="112"/>
                </a:cxn>
                <a:cxn ang="0">
                  <a:pos x="124" y="114"/>
                </a:cxn>
                <a:cxn ang="0">
                  <a:pos x="124" y="32"/>
                </a:cxn>
                <a:cxn ang="0">
                  <a:pos x="124" y="32"/>
                </a:cxn>
                <a:cxn ang="0">
                  <a:pos x="108" y="28"/>
                </a:cxn>
                <a:cxn ang="0">
                  <a:pos x="94" y="22"/>
                </a:cxn>
                <a:cxn ang="0">
                  <a:pos x="82" y="12"/>
                </a:cxn>
                <a:cxn ang="0">
                  <a:pos x="70" y="0"/>
                </a:cxn>
                <a:cxn ang="0">
                  <a:pos x="70" y="0"/>
                </a:cxn>
              </a:cxnLst>
              <a:rect l="0" t="0" r="r" b="b"/>
              <a:pathLst>
                <a:path w="124" h="114">
                  <a:moveTo>
                    <a:pt x="70" y="0"/>
                  </a:moveTo>
                  <a:lnTo>
                    <a:pt x="0" y="42"/>
                  </a:lnTo>
                  <a:lnTo>
                    <a:pt x="0" y="42"/>
                  </a:lnTo>
                  <a:lnTo>
                    <a:pt x="10" y="56"/>
                  </a:lnTo>
                  <a:lnTo>
                    <a:pt x="22" y="70"/>
                  </a:lnTo>
                  <a:lnTo>
                    <a:pt x="36" y="82"/>
                  </a:lnTo>
                  <a:lnTo>
                    <a:pt x="52" y="92"/>
                  </a:lnTo>
                  <a:lnTo>
                    <a:pt x="68" y="100"/>
                  </a:lnTo>
                  <a:lnTo>
                    <a:pt x="86" y="108"/>
                  </a:lnTo>
                  <a:lnTo>
                    <a:pt x="104" y="112"/>
                  </a:lnTo>
                  <a:lnTo>
                    <a:pt x="124" y="114"/>
                  </a:lnTo>
                  <a:lnTo>
                    <a:pt x="124" y="32"/>
                  </a:lnTo>
                  <a:lnTo>
                    <a:pt x="124" y="32"/>
                  </a:lnTo>
                  <a:lnTo>
                    <a:pt x="108" y="28"/>
                  </a:lnTo>
                  <a:lnTo>
                    <a:pt x="94" y="22"/>
                  </a:lnTo>
                  <a:lnTo>
                    <a:pt x="82" y="12"/>
                  </a:lnTo>
                  <a:lnTo>
                    <a:pt x="70" y="0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0" name="Freeform 44"/>
            <p:cNvSpPr>
              <a:spLocks/>
            </p:cNvSpPr>
            <p:nvPr/>
          </p:nvSpPr>
          <p:spPr bwMode="auto">
            <a:xfrm>
              <a:off x="5135" y="3685"/>
              <a:ext cx="94" cy="87"/>
            </a:xfrm>
            <a:custGeom>
              <a:avLst/>
              <a:gdLst/>
              <a:ahLst/>
              <a:cxnLst>
                <a:cxn ang="0">
                  <a:pos x="124" y="82"/>
                </a:cxn>
                <a:cxn ang="0">
                  <a:pos x="124" y="0"/>
                </a:cxn>
                <a:cxn ang="0">
                  <a:pos x="124" y="0"/>
                </a:cxn>
                <a:cxn ang="0">
                  <a:pos x="104" y="2"/>
                </a:cxn>
                <a:cxn ang="0">
                  <a:pos x="86" y="8"/>
                </a:cxn>
                <a:cxn ang="0">
                  <a:pos x="68" y="14"/>
                </a:cxn>
                <a:cxn ang="0">
                  <a:pos x="52" y="22"/>
                </a:cxn>
                <a:cxn ang="0">
                  <a:pos x="36" y="32"/>
                </a:cxn>
                <a:cxn ang="0">
                  <a:pos x="22" y="44"/>
                </a:cxn>
                <a:cxn ang="0">
                  <a:pos x="10" y="58"/>
                </a:cxn>
                <a:cxn ang="0">
                  <a:pos x="0" y="72"/>
                </a:cxn>
                <a:cxn ang="0">
                  <a:pos x="70" y="114"/>
                </a:cxn>
                <a:cxn ang="0">
                  <a:pos x="70" y="114"/>
                </a:cxn>
                <a:cxn ang="0">
                  <a:pos x="82" y="102"/>
                </a:cxn>
                <a:cxn ang="0">
                  <a:pos x="94" y="92"/>
                </a:cxn>
                <a:cxn ang="0">
                  <a:pos x="108" y="86"/>
                </a:cxn>
                <a:cxn ang="0">
                  <a:pos x="124" y="82"/>
                </a:cxn>
                <a:cxn ang="0">
                  <a:pos x="124" y="82"/>
                </a:cxn>
              </a:cxnLst>
              <a:rect l="0" t="0" r="r" b="b"/>
              <a:pathLst>
                <a:path w="124" h="114">
                  <a:moveTo>
                    <a:pt x="124" y="82"/>
                  </a:moveTo>
                  <a:lnTo>
                    <a:pt x="124" y="0"/>
                  </a:lnTo>
                  <a:lnTo>
                    <a:pt x="124" y="0"/>
                  </a:lnTo>
                  <a:lnTo>
                    <a:pt x="104" y="2"/>
                  </a:lnTo>
                  <a:lnTo>
                    <a:pt x="86" y="8"/>
                  </a:lnTo>
                  <a:lnTo>
                    <a:pt x="68" y="14"/>
                  </a:lnTo>
                  <a:lnTo>
                    <a:pt x="52" y="22"/>
                  </a:lnTo>
                  <a:lnTo>
                    <a:pt x="36" y="32"/>
                  </a:lnTo>
                  <a:lnTo>
                    <a:pt x="22" y="44"/>
                  </a:lnTo>
                  <a:lnTo>
                    <a:pt x="10" y="58"/>
                  </a:lnTo>
                  <a:lnTo>
                    <a:pt x="0" y="72"/>
                  </a:lnTo>
                  <a:lnTo>
                    <a:pt x="70" y="114"/>
                  </a:lnTo>
                  <a:lnTo>
                    <a:pt x="70" y="114"/>
                  </a:lnTo>
                  <a:lnTo>
                    <a:pt x="82" y="102"/>
                  </a:lnTo>
                  <a:lnTo>
                    <a:pt x="94" y="92"/>
                  </a:lnTo>
                  <a:lnTo>
                    <a:pt x="108" y="86"/>
                  </a:lnTo>
                  <a:lnTo>
                    <a:pt x="124" y="82"/>
                  </a:lnTo>
                  <a:lnTo>
                    <a:pt x="124" y="8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1" name="Freeform 45"/>
            <p:cNvSpPr>
              <a:spLocks/>
            </p:cNvSpPr>
            <p:nvPr/>
          </p:nvSpPr>
          <p:spPr bwMode="auto">
            <a:xfrm>
              <a:off x="5114" y="3754"/>
              <a:ext cx="67" cy="109"/>
            </a:xfrm>
            <a:custGeom>
              <a:avLst/>
              <a:gdLst/>
              <a:ahLst/>
              <a:cxnLst>
                <a:cxn ang="0">
                  <a:pos x="82" y="72"/>
                </a:cxn>
                <a:cxn ang="0">
                  <a:pos x="82" y="72"/>
                </a:cxn>
                <a:cxn ang="0">
                  <a:pos x="84" y="56"/>
                </a:cxn>
                <a:cxn ang="0">
                  <a:pos x="88" y="42"/>
                </a:cxn>
                <a:cxn ang="0">
                  <a:pos x="18" y="0"/>
                </a:cxn>
                <a:cxn ang="0">
                  <a:pos x="18" y="0"/>
                </a:cxn>
                <a:cxn ang="0">
                  <a:pos x="10" y="16"/>
                </a:cxn>
                <a:cxn ang="0">
                  <a:pos x="4" y="34"/>
                </a:cxn>
                <a:cxn ang="0">
                  <a:pos x="2" y="54"/>
                </a:cxn>
                <a:cxn ang="0">
                  <a:pos x="0" y="72"/>
                </a:cxn>
                <a:cxn ang="0">
                  <a:pos x="0" y="72"/>
                </a:cxn>
                <a:cxn ang="0">
                  <a:pos x="2" y="92"/>
                </a:cxn>
                <a:cxn ang="0">
                  <a:pos x="4" y="110"/>
                </a:cxn>
                <a:cxn ang="0">
                  <a:pos x="10" y="128"/>
                </a:cxn>
                <a:cxn ang="0">
                  <a:pos x="18" y="144"/>
                </a:cxn>
                <a:cxn ang="0">
                  <a:pos x="88" y="104"/>
                </a:cxn>
                <a:cxn ang="0">
                  <a:pos x="88" y="104"/>
                </a:cxn>
                <a:cxn ang="0">
                  <a:pos x="84" y="88"/>
                </a:cxn>
                <a:cxn ang="0">
                  <a:pos x="82" y="72"/>
                </a:cxn>
                <a:cxn ang="0">
                  <a:pos x="82" y="72"/>
                </a:cxn>
              </a:cxnLst>
              <a:rect l="0" t="0" r="r" b="b"/>
              <a:pathLst>
                <a:path w="88" h="144">
                  <a:moveTo>
                    <a:pt x="82" y="72"/>
                  </a:moveTo>
                  <a:lnTo>
                    <a:pt x="82" y="72"/>
                  </a:lnTo>
                  <a:lnTo>
                    <a:pt x="84" y="56"/>
                  </a:lnTo>
                  <a:lnTo>
                    <a:pt x="88" y="42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16"/>
                  </a:lnTo>
                  <a:lnTo>
                    <a:pt x="4" y="34"/>
                  </a:lnTo>
                  <a:lnTo>
                    <a:pt x="2" y="5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2" y="92"/>
                  </a:lnTo>
                  <a:lnTo>
                    <a:pt x="4" y="110"/>
                  </a:lnTo>
                  <a:lnTo>
                    <a:pt x="10" y="128"/>
                  </a:lnTo>
                  <a:lnTo>
                    <a:pt x="18" y="144"/>
                  </a:lnTo>
                  <a:lnTo>
                    <a:pt x="88" y="104"/>
                  </a:lnTo>
                  <a:lnTo>
                    <a:pt x="88" y="104"/>
                  </a:lnTo>
                  <a:lnTo>
                    <a:pt x="84" y="88"/>
                  </a:lnTo>
                  <a:lnTo>
                    <a:pt x="82" y="72"/>
                  </a:lnTo>
                  <a:lnTo>
                    <a:pt x="82" y="72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2" name="Freeform 46"/>
            <p:cNvSpPr>
              <a:spLocks/>
            </p:cNvSpPr>
            <p:nvPr/>
          </p:nvSpPr>
          <p:spPr bwMode="auto">
            <a:xfrm>
              <a:off x="5293" y="3754"/>
              <a:ext cx="67" cy="109"/>
            </a:xfrm>
            <a:custGeom>
              <a:avLst/>
              <a:gdLst/>
              <a:ahLst/>
              <a:cxnLst>
                <a:cxn ang="0">
                  <a:pos x="6" y="72"/>
                </a:cxn>
                <a:cxn ang="0">
                  <a:pos x="6" y="72"/>
                </a:cxn>
                <a:cxn ang="0">
                  <a:pos x="6" y="88"/>
                </a:cxn>
                <a:cxn ang="0">
                  <a:pos x="0" y="104"/>
                </a:cxn>
                <a:cxn ang="0">
                  <a:pos x="72" y="144"/>
                </a:cxn>
                <a:cxn ang="0">
                  <a:pos x="72" y="144"/>
                </a:cxn>
                <a:cxn ang="0">
                  <a:pos x="78" y="128"/>
                </a:cxn>
                <a:cxn ang="0">
                  <a:pos x="84" y="110"/>
                </a:cxn>
                <a:cxn ang="0">
                  <a:pos x="88" y="92"/>
                </a:cxn>
                <a:cxn ang="0">
                  <a:pos x="88" y="72"/>
                </a:cxn>
                <a:cxn ang="0">
                  <a:pos x="88" y="72"/>
                </a:cxn>
                <a:cxn ang="0">
                  <a:pos x="88" y="54"/>
                </a:cxn>
                <a:cxn ang="0">
                  <a:pos x="84" y="34"/>
                </a:cxn>
                <a:cxn ang="0">
                  <a:pos x="78" y="16"/>
                </a:cxn>
                <a:cxn ang="0">
                  <a:pos x="72" y="0"/>
                </a:cxn>
                <a:cxn ang="0">
                  <a:pos x="0" y="42"/>
                </a:cxn>
                <a:cxn ang="0">
                  <a:pos x="0" y="42"/>
                </a:cxn>
                <a:cxn ang="0">
                  <a:pos x="6" y="56"/>
                </a:cxn>
                <a:cxn ang="0">
                  <a:pos x="6" y="72"/>
                </a:cxn>
                <a:cxn ang="0">
                  <a:pos x="6" y="72"/>
                </a:cxn>
              </a:cxnLst>
              <a:rect l="0" t="0" r="r" b="b"/>
              <a:pathLst>
                <a:path w="88" h="144">
                  <a:moveTo>
                    <a:pt x="6" y="72"/>
                  </a:moveTo>
                  <a:lnTo>
                    <a:pt x="6" y="72"/>
                  </a:lnTo>
                  <a:lnTo>
                    <a:pt x="6" y="88"/>
                  </a:lnTo>
                  <a:lnTo>
                    <a:pt x="0" y="104"/>
                  </a:lnTo>
                  <a:lnTo>
                    <a:pt x="72" y="144"/>
                  </a:lnTo>
                  <a:lnTo>
                    <a:pt x="72" y="144"/>
                  </a:lnTo>
                  <a:lnTo>
                    <a:pt x="78" y="128"/>
                  </a:lnTo>
                  <a:lnTo>
                    <a:pt x="84" y="110"/>
                  </a:lnTo>
                  <a:lnTo>
                    <a:pt x="88" y="92"/>
                  </a:lnTo>
                  <a:lnTo>
                    <a:pt x="88" y="72"/>
                  </a:lnTo>
                  <a:lnTo>
                    <a:pt x="88" y="72"/>
                  </a:lnTo>
                  <a:lnTo>
                    <a:pt x="88" y="54"/>
                  </a:lnTo>
                  <a:lnTo>
                    <a:pt x="84" y="34"/>
                  </a:lnTo>
                  <a:lnTo>
                    <a:pt x="78" y="16"/>
                  </a:lnTo>
                  <a:lnTo>
                    <a:pt x="72" y="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6" y="7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3" name="Freeform 47"/>
            <p:cNvSpPr>
              <a:spLocks/>
            </p:cNvSpPr>
            <p:nvPr/>
          </p:nvSpPr>
          <p:spPr bwMode="auto">
            <a:xfrm>
              <a:off x="5245" y="3845"/>
              <a:ext cx="95" cy="8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114"/>
                </a:cxn>
                <a:cxn ang="0">
                  <a:pos x="0" y="114"/>
                </a:cxn>
                <a:cxn ang="0">
                  <a:pos x="20" y="112"/>
                </a:cxn>
                <a:cxn ang="0">
                  <a:pos x="38" y="108"/>
                </a:cxn>
                <a:cxn ang="0">
                  <a:pos x="56" y="100"/>
                </a:cxn>
                <a:cxn ang="0">
                  <a:pos x="72" y="92"/>
                </a:cxn>
                <a:cxn ang="0">
                  <a:pos x="88" y="82"/>
                </a:cxn>
                <a:cxn ang="0">
                  <a:pos x="102" y="70"/>
                </a:cxn>
                <a:cxn ang="0">
                  <a:pos x="114" y="56"/>
                </a:cxn>
                <a:cxn ang="0">
                  <a:pos x="126" y="42"/>
                </a:cxn>
                <a:cxn ang="0">
                  <a:pos x="54" y="0"/>
                </a:cxn>
                <a:cxn ang="0">
                  <a:pos x="54" y="0"/>
                </a:cxn>
                <a:cxn ang="0">
                  <a:pos x="44" y="12"/>
                </a:cxn>
                <a:cxn ang="0">
                  <a:pos x="30" y="22"/>
                </a:cxn>
                <a:cxn ang="0">
                  <a:pos x="16" y="28"/>
                </a:cxn>
                <a:cxn ang="0">
                  <a:pos x="0" y="32"/>
                </a:cxn>
                <a:cxn ang="0">
                  <a:pos x="0" y="32"/>
                </a:cxn>
              </a:cxnLst>
              <a:rect l="0" t="0" r="r" b="b"/>
              <a:pathLst>
                <a:path w="126" h="114">
                  <a:moveTo>
                    <a:pt x="0" y="32"/>
                  </a:moveTo>
                  <a:lnTo>
                    <a:pt x="0" y="114"/>
                  </a:lnTo>
                  <a:lnTo>
                    <a:pt x="0" y="114"/>
                  </a:lnTo>
                  <a:lnTo>
                    <a:pt x="20" y="112"/>
                  </a:lnTo>
                  <a:lnTo>
                    <a:pt x="38" y="108"/>
                  </a:lnTo>
                  <a:lnTo>
                    <a:pt x="56" y="100"/>
                  </a:lnTo>
                  <a:lnTo>
                    <a:pt x="72" y="92"/>
                  </a:lnTo>
                  <a:lnTo>
                    <a:pt x="88" y="82"/>
                  </a:lnTo>
                  <a:lnTo>
                    <a:pt x="102" y="70"/>
                  </a:lnTo>
                  <a:lnTo>
                    <a:pt x="114" y="56"/>
                  </a:lnTo>
                  <a:lnTo>
                    <a:pt x="126" y="4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4" y="12"/>
                  </a:lnTo>
                  <a:lnTo>
                    <a:pt x="30" y="22"/>
                  </a:lnTo>
                  <a:lnTo>
                    <a:pt x="16" y="28"/>
                  </a:lnTo>
                  <a:lnTo>
                    <a:pt x="0" y="32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chemeClr val="tx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4" name="Freeform 48"/>
            <p:cNvSpPr>
              <a:spLocks/>
            </p:cNvSpPr>
            <p:nvPr/>
          </p:nvSpPr>
          <p:spPr bwMode="auto">
            <a:xfrm>
              <a:off x="5245" y="3685"/>
              <a:ext cx="95" cy="87"/>
            </a:xfrm>
            <a:custGeom>
              <a:avLst/>
              <a:gdLst/>
              <a:ahLst/>
              <a:cxnLst>
                <a:cxn ang="0">
                  <a:pos x="54" y="114"/>
                </a:cxn>
                <a:cxn ang="0">
                  <a:pos x="126" y="72"/>
                </a:cxn>
                <a:cxn ang="0">
                  <a:pos x="126" y="72"/>
                </a:cxn>
                <a:cxn ang="0">
                  <a:pos x="114" y="58"/>
                </a:cxn>
                <a:cxn ang="0">
                  <a:pos x="102" y="44"/>
                </a:cxn>
                <a:cxn ang="0">
                  <a:pos x="88" y="32"/>
                </a:cxn>
                <a:cxn ang="0">
                  <a:pos x="72" y="22"/>
                </a:cxn>
                <a:cxn ang="0">
                  <a:pos x="56" y="14"/>
                </a:cxn>
                <a:cxn ang="0">
                  <a:pos x="38" y="8"/>
                </a:cxn>
                <a:cxn ang="0">
                  <a:pos x="20" y="2"/>
                </a:cxn>
                <a:cxn ang="0">
                  <a:pos x="0" y="0"/>
                </a:cxn>
                <a:cxn ang="0">
                  <a:pos x="0" y="82"/>
                </a:cxn>
                <a:cxn ang="0">
                  <a:pos x="0" y="82"/>
                </a:cxn>
                <a:cxn ang="0">
                  <a:pos x="16" y="86"/>
                </a:cxn>
                <a:cxn ang="0">
                  <a:pos x="30" y="92"/>
                </a:cxn>
                <a:cxn ang="0">
                  <a:pos x="44" y="102"/>
                </a:cxn>
                <a:cxn ang="0">
                  <a:pos x="54" y="114"/>
                </a:cxn>
                <a:cxn ang="0">
                  <a:pos x="54" y="114"/>
                </a:cxn>
              </a:cxnLst>
              <a:rect l="0" t="0" r="r" b="b"/>
              <a:pathLst>
                <a:path w="126" h="114">
                  <a:moveTo>
                    <a:pt x="54" y="114"/>
                  </a:moveTo>
                  <a:lnTo>
                    <a:pt x="126" y="72"/>
                  </a:lnTo>
                  <a:lnTo>
                    <a:pt x="126" y="72"/>
                  </a:lnTo>
                  <a:lnTo>
                    <a:pt x="114" y="58"/>
                  </a:lnTo>
                  <a:lnTo>
                    <a:pt x="102" y="44"/>
                  </a:lnTo>
                  <a:lnTo>
                    <a:pt x="88" y="32"/>
                  </a:lnTo>
                  <a:lnTo>
                    <a:pt x="72" y="22"/>
                  </a:lnTo>
                  <a:lnTo>
                    <a:pt x="56" y="14"/>
                  </a:lnTo>
                  <a:lnTo>
                    <a:pt x="38" y="8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82"/>
                  </a:lnTo>
                  <a:lnTo>
                    <a:pt x="0" y="82"/>
                  </a:lnTo>
                  <a:lnTo>
                    <a:pt x="16" y="86"/>
                  </a:lnTo>
                  <a:lnTo>
                    <a:pt x="30" y="92"/>
                  </a:lnTo>
                  <a:lnTo>
                    <a:pt x="44" y="102"/>
                  </a:lnTo>
                  <a:lnTo>
                    <a:pt x="54" y="114"/>
                  </a:lnTo>
                  <a:lnTo>
                    <a:pt x="54" y="114"/>
                  </a:lnTo>
                  <a:close/>
                </a:path>
              </a:pathLst>
            </a:custGeom>
            <a:solidFill>
              <a:srgbClr val="0066CC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65440-4C8F-497D-8DC5-47855554306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74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0191 -0.00185 L -2.77778E-6 5.78035E-7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100" y="10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8" presetClass="emp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21600000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62-mechanical">
  <a:themeElements>
    <a:clrScheme name="m62-mechanical 1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024069"/>
      </a:accent2>
      <a:accent3>
        <a:srgbClr val="FFFFFF"/>
      </a:accent3>
      <a:accent4>
        <a:srgbClr val="000000"/>
      </a:accent4>
      <a:accent5>
        <a:srgbClr val="DAEDEF"/>
      </a:accent5>
      <a:accent6>
        <a:srgbClr val="02395E"/>
      </a:accent6>
      <a:hlink>
        <a:srgbClr val="03548A"/>
      </a:hlink>
      <a:folHlink>
        <a:srgbClr val="027ED1"/>
      </a:folHlink>
    </a:clrScheme>
    <a:fontScheme name="m62-mechanic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62-mechanica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62-mechanical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2395E"/>
        </a:accent6>
        <a:hlink>
          <a:srgbClr val="03548A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27ED1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AAC0E5"/>
        </a:accent5>
        <a:accent6>
          <a:srgbClr val="02395E"/>
        </a:accent6>
        <a:hlink>
          <a:srgbClr val="03548A"/>
        </a:hlink>
        <a:folHlink>
          <a:srgbClr val="0368A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62-mechanical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2406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2395E"/>
        </a:accent6>
        <a:hlink>
          <a:srgbClr val="03548A"/>
        </a:hlink>
        <a:folHlink>
          <a:srgbClr val="027ED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It’s not the design of your template">
  <a:themeElements>
    <a:clrScheme name="1_It’s not the design of your template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135971"/>
      </a:hlink>
      <a:folHlink>
        <a:srgbClr val="99CC00"/>
      </a:folHlink>
    </a:clrScheme>
    <a:fontScheme name="1_It’s not the design of your template">
      <a:majorFont>
        <a:latin typeface="Neo San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It’s not the design of your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It’s not the design of your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It’s not the design of your templat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135971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m62-mechanical</Template>
  <TotalTime>2028</TotalTime>
  <Words>1249</Words>
  <Application>Microsoft Office PowerPoint</Application>
  <PresentationFormat>On-screen Show (4:3)</PresentationFormat>
  <Paragraphs>261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Calibri</vt:lpstr>
      <vt:lpstr>Consolas</vt:lpstr>
      <vt:lpstr>Courier New</vt:lpstr>
      <vt:lpstr>Neo Sans</vt:lpstr>
      <vt:lpstr>Times New Roman</vt:lpstr>
      <vt:lpstr>Wingdings</vt:lpstr>
      <vt:lpstr>m62-mechanical</vt:lpstr>
      <vt:lpstr>1_It’s not the design of your template</vt:lpstr>
      <vt:lpstr> Object Oriented Programming CSE 2101  Lecture - 02 </vt:lpstr>
      <vt:lpstr>Outline</vt:lpstr>
      <vt:lpstr>Java Program</vt:lpstr>
      <vt:lpstr>Simple Java Program-Example 1</vt:lpstr>
      <vt:lpstr>Simple Java Program-Some important points</vt:lpstr>
      <vt:lpstr>JRE and JDK</vt:lpstr>
      <vt:lpstr>Implementing a Java Program</vt:lpstr>
      <vt:lpstr>Implementing a Java Program</vt:lpstr>
      <vt:lpstr>Implementing a Java Program</vt:lpstr>
      <vt:lpstr>Simple Java Program – Example 2</vt:lpstr>
      <vt:lpstr>A Java Program with Multiple Classes</vt:lpstr>
      <vt:lpstr>Java is a Strongly typed Language</vt:lpstr>
      <vt:lpstr>The Primitive Types</vt:lpstr>
      <vt:lpstr>Numeric Primitive Types</vt:lpstr>
      <vt:lpstr>Char</vt:lpstr>
      <vt:lpstr>char</vt:lpstr>
      <vt:lpstr>Booleans</vt:lpstr>
      <vt:lpstr>Literals</vt:lpstr>
      <vt:lpstr>Literals</vt:lpstr>
      <vt:lpstr>Literals</vt:lpstr>
      <vt:lpstr>Literals</vt:lpstr>
      <vt:lpstr>Literals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text to go here</dc:title>
  <dc:creator>Windows User</dc:creator>
  <cp:lastModifiedBy>user</cp:lastModifiedBy>
  <cp:revision>1066</cp:revision>
  <dcterms:created xsi:type="dcterms:W3CDTF">2015-05-03T19:01:06Z</dcterms:created>
  <dcterms:modified xsi:type="dcterms:W3CDTF">2024-10-26T08:59:22Z</dcterms:modified>
</cp:coreProperties>
</file>