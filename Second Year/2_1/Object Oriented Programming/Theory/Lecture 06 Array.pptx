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18"/>
  </p:notesMasterIdLst>
  <p:sldIdLst>
    <p:sldId id="407" r:id="rId3"/>
    <p:sldId id="257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394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2" autoAdjust="0"/>
    <p:restoredTop sz="99821" autoAdjust="0"/>
  </p:normalViewPr>
  <p:slideViewPr>
    <p:cSldViewPr>
      <p:cViewPr varScale="1">
        <p:scale>
          <a:sx n="73" d="100"/>
          <a:sy n="73" d="100"/>
        </p:scale>
        <p:origin x="11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B2ED17-FC5A-42D6-AD8C-FB081095576F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c can only reference char arrays</a:t>
            </a:r>
          </a:p>
          <a:p>
            <a:pPr eaLnBrk="1" hangingPunct="1"/>
            <a:r>
              <a:rPr lang="en-US" smtClean="0"/>
              <a:t>v can only reference int arrays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E28B5-1DAB-4C1D-B11B-A68FED5C3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2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3" r:id="rId12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- </a:t>
            </a:r>
            <a:r>
              <a:rPr lang="en-US" sz="2800" b="1" dirty="0" smtClean="0">
                <a:solidFill>
                  <a:srgbClr val="024069"/>
                </a:solidFill>
              </a:rPr>
              <a:t>06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76297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sz="2300" noProof="1" smtClean="0"/>
              <a:t>One Dimensional Array</a:t>
            </a:r>
          </a:p>
          <a:p>
            <a:r>
              <a:rPr lang="en-US" sz="2300" noProof="1" smtClean="0"/>
              <a:t>Multi-Dimensional Array</a:t>
            </a:r>
          </a:p>
          <a:p>
            <a:r>
              <a:rPr lang="en-US" sz="2300" noProof="1" smtClean="0"/>
              <a:t>Array as an object</a:t>
            </a:r>
          </a:p>
          <a:p>
            <a:endParaRPr lang="en-US" sz="2300" noProof="1" smtClean="0"/>
          </a:p>
          <a:p>
            <a:endParaRPr lang="en-US" sz="2300" noProof="1" smtClean="0"/>
          </a:p>
          <a:p>
            <a:endParaRPr lang="en-US" sz="2300" noProof="1" smtClean="0"/>
          </a:p>
          <a:p>
            <a:endParaRPr lang="en-US" sz="2300" noProof="1" smtClean="0"/>
          </a:p>
          <a:p>
            <a:endParaRPr lang="en-US" sz="2300" noProof="1" smtClean="0"/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One-Dimensional Array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8305800" cy="5410200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</a:rPr>
              <a:t>Creating an array is a two steps process: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</a:rPr>
              <a:t>	1. type </a:t>
            </a:r>
            <a:r>
              <a:rPr lang="en-US" dirty="0" err="1">
                <a:latin typeface="Times New Roman" pitchFamily="18" charset="0"/>
              </a:rPr>
              <a:t>var_name</a:t>
            </a:r>
            <a:r>
              <a:rPr lang="en-US" dirty="0">
                <a:latin typeface="Times New Roman" pitchFamily="18" charset="0"/>
              </a:rPr>
              <a:t>[];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</a:rPr>
              <a:t>     2. </a:t>
            </a:r>
            <a:r>
              <a:rPr lang="en-US" dirty="0" err="1">
                <a:latin typeface="Times New Roman" pitchFamily="18" charset="0"/>
              </a:rPr>
              <a:t>var_name</a:t>
            </a:r>
            <a:r>
              <a:rPr lang="en-US" dirty="0">
                <a:latin typeface="Times New Roman" pitchFamily="18" charset="0"/>
              </a:rPr>
              <a:t> = new type [size];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</a:rPr>
              <a:t>Example: </a:t>
            </a:r>
            <a:r>
              <a:rPr lang="en-US" dirty="0" err="1">
                <a:latin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</a:rPr>
              <a:t>month_days</a:t>
            </a:r>
            <a:r>
              <a:rPr lang="en-US" dirty="0">
                <a:latin typeface="Times New Roman" pitchFamily="18" charset="0"/>
              </a:rPr>
              <a:t> [];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</a:rPr>
              <a:t>                    </a:t>
            </a:r>
            <a:r>
              <a:rPr lang="en-US" dirty="0" err="1">
                <a:latin typeface="Times New Roman" pitchFamily="18" charset="0"/>
              </a:rPr>
              <a:t>month_days</a:t>
            </a:r>
            <a:r>
              <a:rPr lang="en-US" dirty="0">
                <a:latin typeface="Times New Roman" pitchFamily="18" charset="0"/>
              </a:rPr>
              <a:t> = new </a:t>
            </a:r>
            <a:r>
              <a:rPr lang="en-US" dirty="0" err="1">
                <a:latin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</a:rPr>
              <a:t> [12];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</a:rPr>
              <a:t>     - first line declares </a:t>
            </a:r>
            <a:r>
              <a:rPr lang="en-US" i="1" dirty="0" err="1">
                <a:latin typeface="Times New Roman" pitchFamily="18" charset="0"/>
              </a:rPr>
              <a:t>month_days</a:t>
            </a:r>
            <a:r>
              <a:rPr lang="en-US" dirty="0">
                <a:latin typeface="Times New Roman" pitchFamily="18" charset="0"/>
              </a:rPr>
              <a:t> as an array variable, no array actually exists.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</a:rPr>
              <a:t>     - Actual, physical array of integers, is allocated using </a:t>
            </a:r>
            <a:r>
              <a:rPr lang="en-US" b="1" dirty="0">
                <a:latin typeface="Times New Roman" pitchFamily="18" charset="0"/>
              </a:rPr>
              <a:t>new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b="1" dirty="0">
                <a:latin typeface="Times New Roman" pitchFamily="18" charset="0"/>
              </a:rPr>
              <a:t>	   </a:t>
            </a:r>
            <a:r>
              <a:rPr lang="en-US" dirty="0">
                <a:latin typeface="Times New Roman" pitchFamily="18" charset="0"/>
              </a:rPr>
              <a:t>and assign it to </a:t>
            </a:r>
            <a:r>
              <a:rPr lang="en-US" i="1" dirty="0" err="1">
                <a:latin typeface="Times New Roman" pitchFamily="18" charset="0"/>
              </a:rPr>
              <a:t>month_days</a:t>
            </a:r>
            <a:r>
              <a:rPr lang="en-US" dirty="0">
                <a:latin typeface="Times New Roman" pitchFamily="18" charset="0"/>
              </a:rPr>
              <a:t>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</a:rPr>
              <a:t>     -The elements of array are automatically initialized to </a:t>
            </a:r>
            <a:r>
              <a:rPr lang="en-US" dirty="0" smtClean="0">
                <a:latin typeface="Times New Roman" pitchFamily="18" charset="0"/>
              </a:rPr>
              <a:t>0 (for numeric types), false for </a:t>
            </a:r>
            <a:r>
              <a:rPr lang="en-US" dirty="0" err="1" smtClean="0">
                <a:latin typeface="Times New Roman" pitchFamily="18" charset="0"/>
              </a:rPr>
              <a:t>boolean</a:t>
            </a:r>
            <a:r>
              <a:rPr lang="en-US" dirty="0" smtClean="0">
                <a:latin typeface="Times New Roman" pitchFamily="18" charset="0"/>
              </a:rPr>
              <a:t> and null for reference type.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</a:rPr>
              <a:t>month_days</a:t>
            </a:r>
            <a:r>
              <a:rPr lang="en-US" dirty="0">
                <a:latin typeface="Times New Roman" pitchFamily="18" charset="0"/>
              </a:rPr>
              <a:t> [] = new </a:t>
            </a:r>
            <a:r>
              <a:rPr lang="en-US" dirty="0" err="1">
                <a:latin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</a:rPr>
              <a:t>[12];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One-Dimensional Array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Once array is created, a specific element in the array can be accessed by specifying it’s index within square brackets.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     Example: month_days[0]=31;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	         month_days[1]=28;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Arrays can be initialized when they are declared.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int month_days[] = {31, 28, 31, 30, 31, 30, 31, 31, 30, 31, 30, 31};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Features of Java to Manipulate Array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All arrays are dynamically allocated.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Size of the array can be specified at the runtime.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Index type is integer and the index range must be 0 to n-1, where n is the number of elements.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Java runtime system will check to be sure that all array indexes are in the correct range. Incorrect reference will generate ArrayIndexOutofBoundsException.</a:t>
            </a:r>
          </a:p>
          <a:p>
            <a:pPr eaLnBrk="1" hangingPunct="1">
              <a:buFont typeface="Wingdings" pitchFamily="2" charset="2"/>
              <a:buChar char="ü"/>
            </a:pPr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Array in Java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9248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int a[];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int b[] = null;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int c[] = new int[5];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int d[] = { 1, 2, 3, 4, 5 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a = 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d = c;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76600" y="6019800"/>
            <a:ext cx="4826000" cy="528638"/>
            <a:chOff x="2356" y="2960"/>
            <a:chExt cx="3040" cy="333"/>
          </a:xfrm>
        </p:grpSpPr>
        <p:sp>
          <p:nvSpPr>
            <p:cNvPr id="13351" name="Rectangle 5"/>
            <p:cNvSpPr>
              <a:spLocks noChangeArrowheads="1"/>
            </p:cNvSpPr>
            <p:nvPr/>
          </p:nvSpPr>
          <p:spPr bwMode="auto">
            <a:xfrm>
              <a:off x="2356" y="3005"/>
              <a:ext cx="575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Rectangle 6"/>
            <p:cNvSpPr>
              <a:spLocks noChangeArrowheads="1"/>
            </p:cNvSpPr>
            <p:nvPr/>
          </p:nvSpPr>
          <p:spPr bwMode="auto">
            <a:xfrm>
              <a:off x="2605" y="3081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1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53" name="Rectangle 7"/>
            <p:cNvSpPr>
              <a:spLocks noChangeArrowheads="1"/>
            </p:cNvSpPr>
            <p:nvPr/>
          </p:nvSpPr>
          <p:spPr bwMode="auto">
            <a:xfrm>
              <a:off x="2931" y="3005"/>
              <a:ext cx="576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Rectangle 8"/>
            <p:cNvSpPr>
              <a:spLocks noChangeArrowheads="1"/>
            </p:cNvSpPr>
            <p:nvPr/>
          </p:nvSpPr>
          <p:spPr bwMode="auto">
            <a:xfrm>
              <a:off x="3104" y="3081"/>
              <a:ext cx="14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  2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55" name="Rectangle 9"/>
            <p:cNvSpPr>
              <a:spLocks noChangeArrowheads="1"/>
            </p:cNvSpPr>
            <p:nvPr/>
          </p:nvSpPr>
          <p:spPr bwMode="auto">
            <a:xfrm>
              <a:off x="3507" y="3005"/>
              <a:ext cx="575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Rectangle 10"/>
            <p:cNvSpPr>
              <a:spLocks noChangeArrowheads="1"/>
            </p:cNvSpPr>
            <p:nvPr/>
          </p:nvSpPr>
          <p:spPr bwMode="auto">
            <a:xfrm>
              <a:off x="3756" y="3081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3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57" name="Rectangle 11"/>
            <p:cNvSpPr>
              <a:spLocks noChangeArrowheads="1"/>
            </p:cNvSpPr>
            <p:nvPr/>
          </p:nvSpPr>
          <p:spPr bwMode="auto">
            <a:xfrm>
              <a:off x="4082" y="3005"/>
              <a:ext cx="576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Rectangle 12"/>
            <p:cNvSpPr>
              <a:spLocks noChangeArrowheads="1"/>
            </p:cNvSpPr>
            <p:nvPr/>
          </p:nvSpPr>
          <p:spPr bwMode="auto">
            <a:xfrm>
              <a:off x="4332" y="3081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4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59" name="Rectangle 13"/>
            <p:cNvSpPr>
              <a:spLocks noChangeArrowheads="1"/>
            </p:cNvSpPr>
            <p:nvPr/>
          </p:nvSpPr>
          <p:spPr bwMode="auto">
            <a:xfrm>
              <a:off x="4658" y="3005"/>
              <a:ext cx="575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Rectangle 14"/>
            <p:cNvSpPr>
              <a:spLocks noChangeArrowheads="1"/>
            </p:cNvSpPr>
            <p:nvPr/>
          </p:nvSpPr>
          <p:spPr bwMode="auto">
            <a:xfrm>
              <a:off x="4907" y="3081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5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61" name="Text Box 15"/>
            <p:cNvSpPr txBox="1">
              <a:spLocks noChangeArrowheads="1"/>
            </p:cNvSpPr>
            <p:nvPr/>
          </p:nvSpPr>
          <p:spPr bwMode="auto">
            <a:xfrm>
              <a:off x="5280" y="296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 sz="2000" b="1">
                <a:latin typeface="Verdana" pitchFamily="34" charset="0"/>
              </a:endParaRP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3276600" y="5410200"/>
            <a:ext cx="4826000" cy="528638"/>
            <a:chOff x="2356" y="2960"/>
            <a:chExt cx="3040" cy="333"/>
          </a:xfrm>
        </p:grpSpPr>
        <p:sp>
          <p:nvSpPr>
            <p:cNvPr id="13340" name="Rectangle 17"/>
            <p:cNvSpPr>
              <a:spLocks noChangeArrowheads="1"/>
            </p:cNvSpPr>
            <p:nvPr/>
          </p:nvSpPr>
          <p:spPr bwMode="auto">
            <a:xfrm>
              <a:off x="2356" y="3005"/>
              <a:ext cx="575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Rectangle 18"/>
            <p:cNvSpPr>
              <a:spLocks noChangeArrowheads="1"/>
            </p:cNvSpPr>
            <p:nvPr/>
          </p:nvSpPr>
          <p:spPr bwMode="auto">
            <a:xfrm>
              <a:off x="2605" y="3081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0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42" name="Rectangle 19"/>
            <p:cNvSpPr>
              <a:spLocks noChangeArrowheads="1"/>
            </p:cNvSpPr>
            <p:nvPr/>
          </p:nvSpPr>
          <p:spPr bwMode="auto">
            <a:xfrm>
              <a:off x="2931" y="3005"/>
              <a:ext cx="576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Rectangle 20"/>
            <p:cNvSpPr>
              <a:spLocks noChangeArrowheads="1"/>
            </p:cNvSpPr>
            <p:nvPr/>
          </p:nvSpPr>
          <p:spPr bwMode="auto">
            <a:xfrm>
              <a:off x="3104" y="3081"/>
              <a:ext cx="14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  0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44" name="Rectangle 21"/>
            <p:cNvSpPr>
              <a:spLocks noChangeArrowheads="1"/>
            </p:cNvSpPr>
            <p:nvPr/>
          </p:nvSpPr>
          <p:spPr bwMode="auto">
            <a:xfrm>
              <a:off x="3507" y="3005"/>
              <a:ext cx="575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Rectangle 22"/>
            <p:cNvSpPr>
              <a:spLocks noChangeArrowheads="1"/>
            </p:cNvSpPr>
            <p:nvPr/>
          </p:nvSpPr>
          <p:spPr bwMode="auto">
            <a:xfrm>
              <a:off x="3756" y="3081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0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46" name="Rectangle 23"/>
            <p:cNvSpPr>
              <a:spLocks noChangeArrowheads="1"/>
            </p:cNvSpPr>
            <p:nvPr/>
          </p:nvSpPr>
          <p:spPr bwMode="auto">
            <a:xfrm>
              <a:off x="4082" y="3005"/>
              <a:ext cx="576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Rectangle 24"/>
            <p:cNvSpPr>
              <a:spLocks noChangeArrowheads="1"/>
            </p:cNvSpPr>
            <p:nvPr/>
          </p:nvSpPr>
          <p:spPr bwMode="auto">
            <a:xfrm>
              <a:off x="4332" y="3081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0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48" name="Rectangle 25"/>
            <p:cNvSpPr>
              <a:spLocks noChangeArrowheads="1"/>
            </p:cNvSpPr>
            <p:nvPr/>
          </p:nvSpPr>
          <p:spPr bwMode="auto">
            <a:xfrm>
              <a:off x="4658" y="3005"/>
              <a:ext cx="575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Rectangle 26"/>
            <p:cNvSpPr>
              <a:spLocks noChangeArrowheads="1"/>
            </p:cNvSpPr>
            <p:nvPr/>
          </p:nvSpPr>
          <p:spPr bwMode="auto">
            <a:xfrm>
              <a:off x="4907" y="3081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0</a:t>
              </a:r>
              <a:endParaRPr lang="en-US" b="1">
                <a:latin typeface="Verdana" pitchFamily="34" charset="0"/>
              </a:endParaRPr>
            </a:p>
          </p:txBody>
        </p:sp>
        <p:sp>
          <p:nvSpPr>
            <p:cNvPr id="13350" name="Text Box 27"/>
            <p:cNvSpPr txBox="1">
              <a:spLocks noChangeArrowheads="1"/>
            </p:cNvSpPr>
            <p:nvPr/>
          </p:nvSpPr>
          <p:spPr bwMode="auto">
            <a:xfrm>
              <a:off x="5280" y="2960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 sz="2000" b="1">
                <a:latin typeface="Verdana" pitchFamily="34" charset="0"/>
              </a:endParaRPr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1143000" y="4267200"/>
            <a:ext cx="1600200" cy="457200"/>
            <a:chOff x="720" y="2688"/>
            <a:chExt cx="1008" cy="288"/>
          </a:xfrm>
        </p:grpSpPr>
        <p:sp>
          <p:nvSpPr>
            <p:cNvPr id="13338" name="Rectangle 29"/>
            <p:cNvSpPr>
              <a:spLocks noChangeArrowheads="1"/>
            </p:cNvSpPr>
            <p:nvPr/>
          </p:nvSpPr>
          <p:spPr bwMode="auto">
            <a:xfrm>
              <a:off x="864" y="2688"/>
              <a:ext cx="864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9" name="Rectangle 30"/>
            <p:cNvSpPr>
              <a:spLocks noChangeArrowheads="1"/>
            </p:cNvSpPr>
            <p:nvPr/>
          </p:nvSpPr>
          <p:spPr bwMode="auto">
            <a:xfrm>
              <a:off x="720" y="2736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FF"/>
                  </a:solidFill>
                  <a:latin typeface="LucidaSansTypewriter" charset="0"/>
                </a:rPr>
                <a:t>a</a:t>
              </a:r>
              <a:endParaRPr lang="en-US" b="1">
                <a:solidFill>
                  <a:srgbClr val="0000FF"/>
                </a:solidFill>
                <a:latin typeface="Verdana" pitchFamily="34" charset="0"/>
              </a:endParaRPr>
            </a:p>
          </p:txBody>
        </p:sp>
      </p:grpSp>
      <p:sp>
        <p:nvSpPr>
          <p:cNvPr id="14367" name="Rectangle 31"/>
          <p:cNvSpPr>
            <a:spLocks noChangeArrowheads="1"/>
          </p:cNvSpPr>
          <p:nvPr/>
        </p:nvSpPr>
        <p:spPr bwMode="auto">
          <a:xfrm>
            <a:off x="1981200" y="4378325"/>
            <a:ext cx="68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600">
                <a:solidFill>
                  <a:srgbClr val="000000"/>
                </a:solidFill>
                <a:latin typeface="LucidaSansTypewriter" charset="0"/>
              </a:rPr>
              <a:t>-</a:t>
            </a:r>
            <a:endParaRPr lang="en-US" b="1">
              <a:latin typeface="Verdana" pitchFamily="34" charset="0"/>
            </a:endParaRPr>
          </a:p>
        </p:txBody>
      </p: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1143000" y="4876800"/>
            <a:ext cx="1600200" cy="457200"/>
            <a:chOff x="720" y="2544"/>
            <a:chExt cx="1008" cy="288"/>
          </a:xfrm>
        </p:grpSpPr>
        <p:sp>
          <p:nvSpPr>
            <p:cNvPr id="13335" name="Rectangle 33"/>
            <p:cNvSpPr>
              <a:spLocks noChangeArrowheads="1"/>
            </p:cNvSpPr>
            <p:nvPr/>
          </p:nvSpPr>
          <p:spPr bwMode="auto">
            <a:xfrm>
              <a:off x="864" y="2544"/>
              <a:ext cx="864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Rectangle 34"/>
            <p:cNvSpPr>
              <a:spLocks noChangeArrowheads="1"/>
            </p:cNvSpPr>
            <p:nvPr/>
          </p:nvSpPr>
          <p:spPr bwMode="auto">
            <a:xfrm>
              <a:off x="720" y="2592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FF"/>
                  </a:solidFill>
                  <a:latin typeface="LucidaSansTypewriter" charset="0"/>
                </a:rPr>
                <a:t>b</a:t>
              </a:r>
              <a:endParaRPr lang="en-US" b="1">
                <a:solidFill>
                  <a:srgbClr val="0000FF"/>
                </a:solidFill>
                <a:latin typeface="Verdana" pitchFamily="34" charset="0"/>
              </a:endParaRPr>
            </a:p>
          </p:txBody>
        </p:sp>
        <p:sp>
          <p:nvSpPr>
            <p:cNvPr id="13337" name="Rectangle 35"/>
            <p:cNvSpPr>
              <a:spLocks noChangeArrowheads="1"/>
            </p:cNvSpPr>
            <p:nvPr/>
          </p:nvSpPr>
          <p:spPr bwMode="auto">
            <a:xfrm>
              <a:off x="1248" y="2614"/>
              <a:ext cx="19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00"/>
                  </a:solidFill>
                  <a:latin typeface="LucidaSansTypewriter" charset="0"/>
                </a:rPr>
                <a:t>null</a:t>
              </a:r>
              <a:endParaRPr lang="en-US" b="1">
                <a:latin typeface="LucidaSansTypewriter" charset="0"/>
              </a:endParaRPr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1143000" y="5486400"/>
            <a:ext cx="1600200" cy="457200"/>
            <a:chOff x="720" y="2544"/>
            <a:chExt cx="1008" cy="288"/>
          </a:xfrm>
        </p:grpSpPr>
        <p:sp>
          <p:nvSpPr>
            <p:cNvPr id="13332" name="Rectangle 37"/>
            <p:cNvSpPr>
              <a:spLocks noChangeArrowheads="1"/>
            </p:cNvSpPr>
            <p:nvPr/>
          </p:nvSpPr>
          <p:spPr bwMode="auto">
            <a:xfrm>
              <a:off x="864" y="2544"/>
              <a:ext cx="864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Rectangle 38"/>
            <p:cNvSpPr>
              <a:spLocks noChangeArrowheads="1"/>
            </p:cNvSpPr>
            <p:nvPr/>
          </p:nvSpPr>
          <p:spPr bwMode="auto">
            <a:xfrm>
              <a:off x="720" y="2592"/>
              <a:ext cx="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FF"/>
                  </a:solidFill>
                  <a:latin typeface="LucidaSansTypewriter" charset="0"/>
                </a:rPr>
                <a:t>c</a:t>
              </a:r>
              <a:endParaRPr lang="en-US" b="1">
                <a:solidFill>
                  <a:srgbClr val="0000FF"/>
                </a:solidFill>
                <a:latin typeface="Verdana" pitchFamily="34" charset="0"/>
              </a:endParaRPr>
            </a:p>
          </p:txBody>
        </p:sp>
        <p:sp>
          <p:nvSpPr>
            <p:cNvPr id="13334" name="Rectangle 39"/>
            <p:cNvSpPr>
              <a:spLocks noChangeArrowheads="1"/>
            </p:cNvSpPr>
            <p:nvPr/>
          </p:nvSpPr>
          <p:spPr bwMode="auto">
            <a:xfrm>
              <a:off x="1248" y="2614"/>
              <a:ext cx="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b="1">
                <a:latin typeface="Verdana" pitchFamily="34" charset="0"/>
              </a:endParaRPr>
            </a:p>
          </p:txBody>
        </p:sp>
      </p:grp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1143000" y="6096000"/>
            <a:ext cx="1600200" cy="457200"/>
            <a:chOff x="720" y="2544"/>
            <a:chExt cx="1008" cy="288"/>
          </a:xfrm>
        </p:grpSpPr>
        <p:sp>
          <p:nvSpPr>
            <p:cNvPr id="13329" name="Rectangle 41"/>
            <p:cNvSpPr>
              <a:spLocks noChangeArrowheads="1"/>
            </p:cNvSpPr>
            <p:nvPr/>
          </p:nvSpPr>
          <p:spPr bwMode="auto">
            <a:xfrm>
              <a:off x="864" y="2544"/>
              <a:ext cx="864" cy="288"/>
            </a:xfrm>
            <a:prstGeom prst="rect">
              <a:avLst/>
            </a:prstGeom>
            <a:solidFill>
              <a:srgbClr val="C6C6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Rectangle 42"/>
            <p:cNvSpPr>
              <a:spLocks noChangeArrowheads="1"/>
            </p:cNvSpPr>
            <p:nvPr/>
          </p:nvSpPr>
          <p:spPr bwMode="auto">
            <a:xfrm>
              <a:off x="720" y="2592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0000FF"/>
                  </a:solidFill>
                  <a:latin typeface="LucidaSansTypewriter" charset="0"/>
                </a:rPr>
                <a:t>d</a:t>
              </a:r>
              <a:endParaRPr lang="en-US" b="1">
                <a:solidFill>
                  <a:srgbClr val="0000FF"/>
                </a:solidFill>
                <a:latin typeface="Verdana" pitchFamily="34" charset="0"/>
              </a:endParaRPr>
            </a:p>
          </p:txBody>
        </p:sp>
        <p:sp>
          <p:nvSpPr>
            <p:cNvPr id="13331" name="Rectangle 43"/>
            <p:cNvSpPr>
              <a:spLocks noChangeArrowheads="1"/>
            </p:cNvSpPr>
            <p:nvPr/>
          </p:nvSpPr>
          <p:spPr bwMode="auto">
            <a:xfrm>
              <a:off x="1248" y="2614"/>
              <a:ext cx="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US" b="1">
                <a:latin typeface="Verdana" pitchFamily="34" charset="0"/>
              </a:endParaRPr>
            </a:p>
          </p:txBody>
        </p:sp>
      </p:grpSp>
      <p:sp>
        <p:nvSpPr>
          <p:cNvPr id="14380" name="Line 44"/>
          <p:cNvSpPr>
            <a:spLocks noChangeShapeType="1"/>
          </p:cNvSpPr>
          <p:nvPr/>
        </p:nvSpPr>
        <p:spPr bwMode="auto">
          <a:xfrm>
            <a:off x="1981200" y="5715000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4381" name="Line 45"/>
          <p:cNvSpPr>
            <a:spLocks noChangeShapeType="1"/>
          </p:cNvSpPr>
          <p:nvPr/>
        </p:nvSpPr>
        <p:spPr bwMode="auto">
          <a:xfrm>
            <a:off x="1981200" y="6324600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4382" name="Line 46"/>
          <p:cNvSpPr>
            <a:spLocks noChangeShapeType="1"/>
          </p:cNvSpPr>
          <p:nvPr/>
        </p:nvSpPr>
        <p:spPr bwMode="auto">
          <a:xfrm>
            <a:off x="3048000" y="4495800"/>
            <a:ext cx="6096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4383" name="Line 47"/>
          <p:cNvSpPr>
            <a:spLocks noChangeShapeType="1"/>
          </p:cNvSpPr>
          <p:nvPr/>
        </p:nvSpPr>
        <p:spPr bwMode="auto">
          <a:xfrm>
            <a:off x="2057400" y="44958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4384" name="Line 48"/>
          <p:cNvSpPr>
            <a:spLocks noChangeShapeType="1"/>
          </p:cNvSpPr>
          <p:nvPr/>
        </p:nvSpPr>
        <p:spPr bwMode="auto">
          <a:xfrm flipV="1">
            <a:off x="1981200" y="5791200"/>
            <a:ext cx="12954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381000" y="1600200"/>
            <a:ext cx="8229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sz="2800">
              <a:solidFill>
                <a:srgbClr val="FFFF00"/>
              </a:solidFill>
            </a:endParaRPr>
          </a:p>
          <a:p>
            <a:pPr marL="1143000" lvl="2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None/>
            </a:pPr>
            <a:r>
              <a:rPr lang="en-US" sz="2300">
                <a:solidFill>
                  <a:srgbClr val="0000FF"/>
                </a:solidFill>
                <a:latin typeface="Times New Roman" pitchFamily="18" charset="0"/>
              </a:rPr>
              <a:t>			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7" grpId="0"/>
      <p:bldP spid="14367" grpId="1"/>
      <p:bldP spid="14380" grpId="0" animBg="1"/>
      <p:bldP spid="14381" grpId="0" animBg="1"/>
      <p:bldP spid="14381" grpId="1" animBg="1"/>
      <p:bldP spid="14382" grpId="0" animBg="1"/>
      <p:bldP spid="14383" grpId="0" animBg="1"/>
      <p:bldP spid="1438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572000" cy="4953000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java.util.Scanner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Char char=""/>
              <a:defRPr/>
            </a:pPr>
            <a:endParaRPr lang="en-US" sz="2100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array_avg</a:t>
            </a:r>
            <a:endParaRPr lang="en-US" sz="2100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  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i,sum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=0;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   float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avg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 a[] = new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[5];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    Scanner test=new Scanner(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sz="21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100" dirty="0" smtClean="0">
                <a:latin typeface="Courier New" pitchFamily="49" charset="0"/>
                <a:cs typeface="Courier New" pitchFamily="49" charset="0"/>
              </a:rPr>
              <a:t>("Enter the input:");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53000" y="1600200"/>
            <a:ext cx="4038600" cy="4572000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=0;i&lt;5;i++)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	if(test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. 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hasNextInt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				a[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]=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test.nextInt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				sum=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sum+a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];}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900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avg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=sum/5;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("The average value is: " + </a:t>
            </a:r>
            <a:r>
              <a:rPr lang="en-US" sz="1900" dirty="0" err="1" smtClean="0">
                <a:latin typeface="Courier New" pitchFamily="49" charset="0"/>
                <a:cs typeface="Courier New" pitchFamily="49" charset="0"/>
              </a:rPr>
              <a:t>avg</a:t>
            </a: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9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Multi-Dimensional Arrays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7086600" cy="9906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000" smtClean="0">
                <a:latin typeface="Times New Roman" pitchFamily="18" charset="0"/>
              </a:rPr>
              <a:t>A two-dimensional array can be declared as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</a:rPr>
              <a:t>	int twoD [] [] = new int[4][5];</a:t>
            </a:r>
          </a:p>
          <a:p>
            <a:pPr eaLnBrk="1" hangingPunct="1"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</a:endParaRPr>
          </a:p>
        </p:txBody>
      </p:sp>
      <p:graphicFrame>
        <p:nvGraphicFramePr>
          <p:cNvPr id="13368" name="Group 56"/>
          <p:cNvGraphicFramePr>
            <a:graphicFrameLocks noGrp="1"/>
          </p:cNvGraphicFramePr>
          <p:nvPr>
            <p:ph sz="half" idx="2"/>
          </p:nvPr>
        </p:nvGraphicFramePr>
        <p:xfrm>
          <a:off x="1447800" y="2819400"/>
          <a:ext cx="3657600" cy="3581401"/>
        </p:xfrm>
        <a:graphic>
          <a:graphicData uri="http://schemas.openxmlformats.org/drawingml/2006/table">
            <a:tbl>
              <a:tblPr/>
              <a:tblGrid>
                <a:gridCol w="73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[0][0]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[0][1]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[0][2]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[0][3]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[0][4]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[1][0]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[1][1]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[1][2]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[1][3]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[1][4]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[2][0]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[2][1]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[2][2]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[2][3]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[2][4]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[3][0]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[3][1]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[3][2]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[3][3]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[3][4]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96" name="Line 57"/>
          <p:cNvSpPr>
            <a:spLocks noChangeShapeType="1"/>
          </p:cNvSpPr>
          <p:nvPr/>
        </p:nvSpPr>
        <p:spPr bwMode="auto">
          <a:xfrm>
            <a:off x="4572000" y="3124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7" name="Line 58"/>
          <p:cNvSpPr>
            <a:spLocks noChangeShapeType="1"/>
          </p:cNvSpPr>
          <p:nvPr/>
        </p:nvSpPr>
        <p:spPr bwMode="auto">
          <a:xfrm>
            <a:off x="4572000" y="3352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8" name="Text Box 59"/>
          <p:cNvSpPr txBox="1">
            <a:spLocks noChangeArrowheads="1"/>
          </p:cNvSpPr>
          <p:nvPr/>
        </p:nvSpPr>
        <p:spPr bwMode="auto">
          <a:xfrm>
            <a:off x="5867400" y="3200400"/>
            <a:ext cx="205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Represents row</a:t>
            </a:r>
          </a:p>
        </p:txBody>
      </p:sp>
      <p:sp>
        <p:nvSpPr>
          <p:cNvPr id="15399" name="Line 60"/>
          <p:cNvSpPr>
            <a:spLocks noChangeShapeType="1"/>
          </p:cNvSpPr>
          <p:nvPr/>
        </p:nvSpPr>
        <p:spPr bwMode="auto">
          <a:xfrm flipV="1">
            <a:off x="4800600" y="2590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400" name="Line 62"/>
          <p:cNvSpPr>
            <a:spLocks noChangeShapeType="1"/>
          </p:cNvSpPr>
          <p:nvPr/>
        </p:nvSpPr>
        <p:spPr bwMode="auto">
          <a:xfrm>
            <a:off x="4800600" y="2590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401" name="Text Box 63"/>
          <p:cNvSpPr txBox="1">
            <a:spLocks noChangeArrowheads="1"/>
          </p:cNvSpPr>
          <p:nvPr/>
        </p:nvSpPr>
        <p:spPr bwMode="auto">
          <a:xfrm>
            <a:off x="6705600" y="1981200"/>
            <a:ext cx="22098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Represents column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4400" dirty="0"/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42672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[][] = new int[3][3];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Scanner test=new Scanner(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=0;i&lt;3;i++)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for(j=0;j&lt;3;j++){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("Enter Input:");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     if(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test.hasNextInt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][j]=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test.nextInt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();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</a:t>
            </a:r>
          </a:p>
        </p:txBody>
      </p:sp>
      <p:sp>
        <p:nvSpPr>
          <p:cNvPr id="16388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00200"/>
            <a:ext cx="4495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=0;i&lt;3;i++){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for(j=0;j&lt;3;j++)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][j] + " ");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Multi-dimensional Array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twoD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[][] = new int[4][];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twoD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[0] = new int[5];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twoD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[1] = new int[4];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twoD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[2] = new int[3];</a:t>
            </a:r>
          </a:p>
          <a:p>
            <a:pPr eaLnBrk="1" hangingPunct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int m [][]={{1,2},{2,3}};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int a[][]=new int[3][];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a[0]=new int[1];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a[1]=new int[2];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a[2]=new int[3];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i,j,k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=0;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=0;i&lt;3;i++)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for(j=0;j&lt;i+1;j++)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a[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][j]=k;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k++;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=0;i&lt;3;i++)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for(j=0;j&lt;i+1;j++)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][j]+” “);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4648200" y="28194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5410200" y="2819400"/>
            <a:ext cx="2057400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u="sng" dirty="0">
                <a:latin typeface="Times New Roman" pitchFamily="18" charset="0"/>
              </a:rPr>
              <a:t>Output:</a:t>
            </a:r>
          </a:p>
          <a:p>
            <a:r>
              <a:rPr lang="en-US" sz="2000" b="1" dirty="0">
                <a:latin typeface="Times New Roman" pitchFamily="18" charset="0"/>
              </a:rPr>
              <a:t>0</a:t>
            </a:r>
          </a:p>
          <a:p>
            <a:r>
              <a:rPr lang="en-US" sz="2000" b="1" dirty="0">
                <a:latin typeface="Times New Roman" pitchFamily="18" charset="0"/>
              </a:rPr>
              <a:t>1 2</a:t>
            </a:r>
          </a:p>
          <a:p>
            <a:r>
              <a:rPr lang="en-US" sz="2000" b="1" dirty="0">
                <a:latin typeface="Times New Roman" pitchFamily="18" charset="0"/>
              </a:rPr>
              <a:t>3 4 5</a:t>
            </a:r>
          </a:p>
          <a:p>
            <a:pPr>
              <a:spcBef>
                <a:spcPct val="50000"/>
              </a:spcBef>
            </a:pPr>
            <a:endParaRPr lang="en-US" sz="2000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Alternative Array Declaration Syntax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Type [ ] </a:t>
            </a:r>
            <a:r>
              <a:rPr lang="en-US" dirty="0" err="1" smtClean="0">
                <a:latin typeface="Times New Roman" pitchFamily="18" charset="0"/>
              </a:rPr>
              <a:t>var_name</a:t>
            </a:r>
            <a:r>
              <a:rPr lang="en-US" dirty="0" smtClean="0">
                <a:latin typeface="Times New Roman" pitchFamily="18" charset="0"/>
              </a:rPr>
              <a:t>;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Example: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int [] a = new int[3];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int [] num1, num2, num3;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</a:rPr>
              <a:t>	same as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</a:rPr>
              <a:t>  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int num1[], num2[], num3[];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Array as an Object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305800" cy="54070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An array is implemented as an object.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It has a special attribute: </a:t>
            </a:r>
            <a:r>
              <a:rPr lang="en-US" b="1" dirty="0" smtClean="0">
                <a:latin typeface="Times New Roman" pitchFamily="18" charset="0"/>
              </a:rPr>
              <a:t>length</a:t>
            </a:r>
            <a:r>
              <a:rPr lang="en-US" dirty="0" smtClean="0">
                <a:latin typeface="Times New Roman" pitchFamily="18" charset="0"/>
              </a:rPr>
              <a:t> instance variable.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int a1[] = new int[10];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int a2[] = {3, 5, 7, 9, 11, 13, 15, 17};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int a3[] = {4, 3, 2, 1};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(“length of a1 is:”+a1.length);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(“length of a2 is:”+a2.length);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(“length of a3 is:”+a3.length);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Example-Array of Objects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066800"/>
            <a:ext cx="5867400" cy="5486400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test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a;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test(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k)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a=k;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Char char=""/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array_ob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test ob[]=new test[2];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ob[0]=new test(4);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ob[1]=new test(8);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ob.length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for(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=0;i&lt;2;i++)	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(ob[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].a);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715000" y="1752600"/>
            <a:ext cx="2895600" cy="243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u="sng"/>
              <a:t>Output:</a:t>
            </a:r>
          </a:p>
          <a:p>
            <a:pPr>
              <a:spcBef>
                <a:spcPct val="50000"/>
              </a:spcBef>
            </a:pPr>
            <a:r>
              <a:rPr lang="en-US" b="1"/>
              <a:t>2</a:t>
            </a:r>
          </a:p>
          <a:p>
            <a:pPr>
              <a:spcBef>
                <a:spcPct val="50000"/>
              </a:spcBef>
            </a:pPr>
            <a:r>
              <a:rPr lang="en-US" b="1"/>
              <a:t>4</a:t>
            </a:r>
          </a:p>
          <a:p>
            <a:pPr>
              <a:spcBef>
                <a:spcPct val="50000"/>
              </a:spcBef>
            </a:pPr>
            <a:r>
              <a:rPr lang="en-US" b="1"/>
              <a:t>8</a:t>
            </a:r>
          </a:p>
          <a:p>
            <a:pPr>
              <a:spcBef>
                <a:spcPct val="50000"/>
              </a:spcBef>
            </a:pPr>
            <a:endParaRPr lang="en-US" b="1"/>
          </a:p>
          <a:p>
            <a:pPr>
              <a:spcBef>
                <a:spcPct val="50000"/>
              </a:spcBef>
            </a:pPr>
            <a:endParaRPr lang="en-US" b="1" u="sn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2018</TotalTime>
  <Words>992</Words>
  <Application>Microsoft Office PowerPoint</Application>
  <PresentationFormat>On-screen Show (4:3)</PresentationFormat>
  <Paragraphs>215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Courier New</vt:lpstr>
      <vt:lpstr>LucidaSansTypewriter</vt:lpstr>
      <vt:lpstr>Neo Sans</vt:lpstr>
      <vt:lpstr>Times New Roman</vt:lpstr>
      <vt:lpstr>Verdana</vt:lpstr>
      <vt:lpstr>Wingdings</vt:lpstr>
      <vt:lpstr>m62-mechanical</vt:lpstr>
      <vt:lpstr>1_It’s not the design of your template</vt:lpstr>
      <vt:lpstr> Object Oriented Programming CSE 2101  Lecture - 06 </vt:lpstr>
      <vt:lpstr>Outline</vt:lpstr>
      <vt:lpstr>One-Dimensional Array</vt:lpstr>
      <vt:lpstr>One-Dimensional Array</vt:lpstr>
      <vt:lpstr>Features of Java to Manipulate Array</vt:lpstr>
      <vt:lpstr>Array in Java</vt:lpstr>
      <vt:lpstr>Example</vt:lpstr>
      <vt:lpstr>Multi-Dimensional Arrays</vt:lpstr>
      <vt:lpstr>Example</vt:lpstr>
      <vt:lpstr>Multi-dimensional Array</vt:lpstr>
      <vt:lpstr>Example</vt:lpstr>
      <vt:lpstr>Alternative Array Declaration Syntax</vt:lpstr>
      <vt:lpstr>Array as an Object</vt:lpstr>
      <vt:lpstr>Example-Array of Objects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1092</cp:revision>
  <dcterms:created xsi:type="dcterms:W3CDTF">2015-05-03T19:01:06Z</dcterms:created>
  <dcterms:modified xsi:type="dcterms:W3CDTF">2024-11-04T08:13:40Z</dcterms:modified>
</cp:coreProperties>
</file>