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1" r:id="rId2"/>
  </p:sldMasterIdLst>
  <p:notesMasterIdLst>
    <p:notesMasterId r:id="rId38"/>
  </p:notesMasterIdLst>
  <p:sldIdLst>
    <p:sldId id="256" r:id="rId3"/>
    <p:sldId id="257" r:id="rId4"/>
    <p:sldId id="495" r:id="rId5"/>
    <p:sldId id="496" r:id="rId6"/>
    <p:sldId id="451" r:id="rId7"/>
    <p:sldId id="466" r:id="rId8"/>
    <p:sldId id="476" r:id="rId9"/>
    <p:sldId id="477" r:id="rId10"/>
    <p:sldId id="491" r:id="rId11"/>
    <p:sldId id="488" r:id="rId12"/>
    <p:sldId id="492" r:id="rId13"/>
    <p:sldId id="493" r:id="rId14"/>
    <p:sldId id="494" r:id="rId15"/>
    <p:sldId id="489" r:id="rId16"/>
    <p:sldId id="490" r:id="rId17"/>
    <p:sldId id="468" r:id="rId18"/>
    <p:sldId id="467" r:id="rId19"/>
    <p:sldId id="469" r:id="rId20"/>
    <p:sldId id="470" r:id="rId21"/>
    <p:sldId id="471" r:id="rId22"/>
    <p:sldId id="472" r:id="rId23"/>
    <p:sldId id="473" r:id="rId24"/>
    <p:sldId id="474" r:id="rId25"/>
    <p:sldId id="475" r:id="rId26"/>
    <p:sldId id="478" r:id="rId27"/>
    <p:sldId id="479" r:id="rId28"/>
    <p:sldId id="480" r:id="rId29"/>
    <p:sldId id="481" r:id="rId30"/>
    <p:sldId id="482" r:id="rId31"/>
    <p:sldId id="483" r:id="rId32"/>
    <p:sldId id="484" r:id="rId33"/>
    <p:sldId id="485" r:id="rId34"/>
    <p:sldId id="486" r:id="rId35"/>
    <p:sldId id="487" r:id="rId36"/>
    <p:sldId id="394" r:id="rId3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069"/>
    <a:srgbClr val="CACACA"/>
    <a:srgbClr val="0066CC"/>
    <a:srgbClr val="0099CC"/>
    <a:srgbClr val="3864A9"/>
    <a:srgbClr val="273691"/>
    <a:srgbClr val="2737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0" autoAdjust="0"/>
    <p:restoredTop sz="99821" autoAdjust="0"/>
  </p:normalViewPr>
  <p:slideViewPr>
    <p:cSldViewPr>
      <p:cViewPr varScale="1">
        <p:scale>
          <a:sx n="73" d="100"/>
          <a:sy n="73" d="100"/>
        </p:scale>
        <p:origin x="130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E9439C-4193-43FD-B7ED-FDDC753C38E4}" type="datetimeFigureOut">
              <a:rPr lang="en-US" smtClean="0"/>
              <a:pPr/>
              <a:t>10/20/2024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3FFEB6-3655-496E-AF33-E2CC2D71E3DD}" type="slidenum">
              <a:rPr lang="en-US" smtClean="0"/>
              <a:pPr/>
              <a:t>‹#›</a:t>
            </a:fld>
            <a:endParaRPr lang="en-US"/>
          </a:p>
        </p:txBody>
      </p:sp>
    </p:spTree>
    <p:extLst>
      <p:ext uri="{BB962C8B-B14F-4D97-AF65-F5344CB8AC3E}">
        <p14:creationId xmlns:p14="http://schemas.microsoft.com/office/powerpoint/2010/main" val="660838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73FFEB6-3655-496E-AF33-E2CC2D71E3DD}" type="slidenum">
              <a:rPr lang="en-US" smtClean="0"/>
              <a:pPr/>
              <a:t>2</a:t>
            </a:fld>
            <a:endParaRPr lang="en-US"/>
          </a:p>
        </p:txBody>
      </p:sp>
    </p:spTree>
    <p:extLst>
      <p:ext uri="{BB962C8B-B14F-4D97-AF65-F5344CB8AC3E}">
        <p14:creationId xmlns:p14="http://schemas.microsoft.com/office/powerpoint/2010/main" val="210193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a:t>
            </a:fld>
            <a:endParaRPr lang="en-US"/>
          </a:p>
        </p:txBody>
      </p:sp>
    </p:spTree>
    <p:extLst>
      <p:ext uri="{BB962C8B-B14F-4D97-AF65-F5344CB8AC3E}">
        <p14:creationId xmlns:p14="http://schemas.microsoft.com/office/powerpoint/2010/main" val="1304992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4</a:t>
            </a:fld>
            <a:endParaRPr lang="en-US"/>
          </a:p>
        </p:txBody>
      </p:sp>
    </p:spTree>
    <p:extLst>
      <p:ext uri="{BB962C8B-B14F-4D97-AF65-F5344CB8AC3E}">
        <p14:creationId xmlns:p14="http://schemas.microsoft.com/office/powerpoint/2010/main" val="3844771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9</a:t>
            </a:fld>
            <a:endParaRPr lang="en-US"/>
          </a:p>
        </p:txBody>
      </p:sp>
    </p:spTree>
    <p:extLst>
      <p:ext uri="{BB962C8B-B14F-4D97-AF65-F5344CB8AC3E}">
        <p14:creationId xmlns:p14="http://schemas.microsoft.com/office/powerpoint/2010/main" val="2930246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11</a:t>
            </a:fld>
            <a:endParaRPr lang="en-US"/>
          </a:p>
        </p:txBody>
      </p:sp>
    </p:spTree>
    <p:extLst>
      <p:ext uri="{BB962C8B-B14F-4D97-AF65-F5344CB8AC3E}">
        <p14:creationId xmlns:p14="http://schemas.microsoft.com/office/powerpoint/2010/main" val="2849984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12</a:t>
            </a:fld>
            <a:endParaRPr lang="en-US"/>
          </a:p>
        </p:txBody>
      </p:sp>
    </p:spTree>
    <p:extLst>
      <p:ext uri="{BB962C8B-B14F-4D97-AF65-F5344CB8AC3E}">
        <p14:creationId xmlns:p14="http://schemas.microsoft.com/office/powerpoint/2010/main" val="2105501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13</a:t>
            </a:fld>
            <a:endParaRPr lang="en-US"/>
          </a:p>
        </p:txBody>
      </p:sp>
    </p:spTree>
    <p:extLst>
      <p:ext uri="{BB962C8B-B14F-4D97-AF65-F5344CB8AC3E}">
        <p14:creationId xmlns:p14="http://schemas.microsoft.com/office/powerpoint/2010/main" val="1927758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73FFEB6-3655-496E-AF33-E2CC2D71E3DD}" type="slidenum">
              <a:rPr lang="en-US" smtClean="0"/>
              <a:pPr/>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pic>
        <p:nvPicPr>
          <p:cNvPr id="5150" name="Picture 30" descr="background3"/>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122" name="Rectangle 2"/>
          <p:cNvSpPr>
            <a:spLocks noGrp="1" noChangeArrowheads="1"/>
          </p:cNvSpPr>
          <p:nvPr>
            <p:ph type="ctrTitle"/>
          </p:nvPr>
        </p:nvSpPr>
        <p:spPr>
          <a:xfrm>
            <a:off x="685800" y="2130425"/>
            <a:ext cx="7772400" cy="1470025"/>
          </a:xfrm>
        </p:spPr>
        <p:txBody>
          <a:bodyPr/>
          <a:lstStyle>
            <a:lvl1pPr algn="ctr">
              <a:defRPr sz="3600"/>
            </a:lvl1pPr>
          </a:lstStyle>
          <a:p>
            <a:r>
              <a:rPr lang="en-US"/>
              <a:t>Click to edit Master title style</a:t>
            </a:r>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124" name="Rectangle 4"/>
          <p:cNvSpPr>
            <a:spLocks noGrp="1" noChangeArrowheads="1"/>
          </p:cNvSpPr>
          <p:nvPr>
            <p:ph type="dt" sz="half" idx="2"/>
          </p:nvPr>
        </p:nvSpPr>
        <p:spPr/>
        <p:txBody>
          <a:bodyPr/>
          <a:lstStyle>
            <a:lvl1pPr>
              <a:defRPr/>
            </a:lvl1pPr>
          </a:lstStyle>
          <a:p>
            <a:endParaRPr lang="en-US"/>
          </a:p>
        </p:txBody>
      </p:sp>
      <p:sp>
        <p:nvSpPr>
          <p:cNvPr id="5125" name="Rectangle 5"/>
          <p:cNvSpPr>
            <a:spLocks noGrp="1" noChangeArrowheads="1"/>
          </p:cNvSpPr>
          <p:nvPr>
            <p:ph type="ftr" sz="quarter" idx="3"/>
          </p:nvPr>
        </p:nvSpPr>
        <p:spPr/>
        <p:txBody>
          <a:bodyPr/>
          <a:lstStyle>
            <a:lvl1pPr>
              <a:defRPr/>
            </a:lvl1pPr>
          </a:lstStyle>
          <a:p>
            <a:endParaRPr lang="en-US"/>
          </a:p>
        </p:txBody>
      </p:sp>
      <p:sp>
        <p:nvSpPr>
          <p:cNvPr id="5126" name="Rectangle 6"/>
          <p:cNvSpPr>
            <a:spLocks noGrp="1" noChangeArrowheads="1"/>
          </p:cNvSpPr>
          <p:nvPr>
            <p:ph type="sldNum" sz="quarter" idx="4"/>
          </p:nvPr>
        </p:nvSpPr>
        <p:spPr/>
        <p:txBody>
          <a:bodyPr/>
          <a:lstStyle>
            <a:lvl1pPr>
              <a:defRPr/>
            </a:lvl1pPr>
          </a:lstStyle>
          <a:p>
            <a:fld id="{351B2EE7-5072-467A-9223-02257C03FF21}" type="slidenum">
              <a:rPr lang="en-US"/>
              <a:pPr/>
              <a:t>‹#›</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5122"/>
                                        </p:tgtEl>
                                        <p:attrNameLst>
                                          <p:attrName>style.visibility</p:attrName>
                                        </p:attrNameLst>
                                      </p:cBhvr>
                                      <p:to>
                                        <p:strVal val="visible"/>
                                      </p:to>
                                    </p:set>
                                    <p:anim calcmode="lin" valueType="num">
                                      <p:cBhvr>
                                        <p:cTn id="7" dur="500" fill="hold"/>
                                        <p:tgtEl>
                                          <p:spTgt spid="5122"/>
                                        </p:tgtEl>
                                        <p:attrNameLst>
                                          <p:attrName>ppt_w</p:attrName>
                                        </p:attrNameLst>
                                      </p:cBhvr>
                                      <p:tavLst>
                                        <p:tav tm="0">
                                          <p:val>
                                            <p:fltVal val="0"/>
                                          </p:val>
                                        </p:tav>
                                        <p:tav tm="100000">
                                          <p:val>
                                            <p:strVal val="#ppt_w"/>
                                          </p:val>
                                        </p:tav>
                                      </p:tavLst>
                                    </p:anim>
                                    <p:anim calcmode="lin" valueType="num">
                                      <p:cBhvr>
                                        <p:cTn id="8" dur="500" fill="hold"/>
                                        <p:tgtEl>
                                          <p:spTgt spid="5122"/>
                                        </p:tgtEl>
                                        <p:attrNameLst>
                                          <p:attrName>ppt_h</p:attrName>
                                        </p:attrNameLst>
                                      </p:cBhvr>
                                      <p:tavLst>
                                        <p:tav tm="0">
                                          <p:val>
                                            <p:fltVal val="0"/>
                                          </p:val>
                                        </p:tav>
                                        <p:tav tm="100000">
                                          <p:val>
                                            <p:strVal val="#ppt_h"/>
                                          </p:val>
                                        </p:tav>
                                      </p:tavLst>
                                    </p:anim>
                                    <p:animEffect transition="in" filter="fade">
                                      <p:cBhvr>
                                        <p:cTn id="9" dur="500"/>
                                        <p:tgtEl>
                                          <p:spTgt spid="5122"/>
                                        </p:tgtEl>
                                      </p:cBhvr>
                                    </p:animEffect>
                                  </p:childTnLst>
                                </p:cTn>
                              </p:par>
                            </p:childTnLst>
                          </p:cTn>
                        </p:par>
                        <p:par>
                          <p:cTn id="10" fill="hold">
                            <p:stCondLst>
                              <p:cond delay="1020"/>
                            </p:stCondLst>
                            <p:childTnLst>
                              <p:par>
                                <p:cTn id="11" presetID="53" presetClass="entr" presetSubtype="0" fill="hold" grpId="0" nodeType="afterEffect">
                                  <p:stCondLst>
                                    <p:cond delay="0"/>
                                  </p:stCondLst>
                                  <p:iterate type="lt">
                                    <p:tmPct val="4000"/>
                                  </p:iterate>
                                  <p:childTnLst>
                                    <p:set>
                                      <p:cBhvr>
                                        <p:cTn id="12" dur="1" fill="hold">
                                          <p:stCondLst>
                                            <p:cond delay="0"/>
                                          </p:stCondLst>
                                        </p:cTn>
                                        <p:tgtEl>
                                          <p:spTgt spid="5123">
                                            <p:txEl>
                                              <p:pRg st="0" end="0"/>
                                            </p:txEl>
                                          </p:spTgt>
                                        </p:tgtEl>
                                        <p:attrNameLst>
                                          <p:attrName>style.visibility</p:attrName>
                                        </p:attrNameLst>
                                      </p:cBhvr>
                                      <p:to>
                                        <p:strVal val="visible"/>
                                      </p:to>
                                    </p:set>
                                    <p:anim calcmode="lin" valueType="num">
                                      <p:cBhvr>
                                        <p:cTn id="13" dur="500" fill="hold"/>
                                        <p:tgtEl>
                                          <p:spTgt spid="512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5123">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51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build="p">
        <p:tmplLst>
          <p:tmpl lvl="1">
            <p:tnLst>
              <p:par>
                <p:cTn presetID="53" presetClass="entr" presetSubtype="0" fill="hold" nodeType="afterEffect">
                  <p:stCondLst>
                    <p:cond delay="0"/>
                  </p:stCondLst>
                  <p:iterate type="lt">
                    <p:tmPct val="4000"/>
                  </p:iterate>
                  <p:childTnLst>
                    <p:set>
                      <p:cBhvr>
                        <p:cTn dur="1" fill="hold">
                          <p:stCondLst>
                            <p:cond delay="0"/>
                          </p:stCondLst>
                        </p:cTn>
                        <p:tgtEl>
                          <p:spTgt spid="5123"/>
                        </p:tgtEl>
                        <p:attrNameLst>
                          <p:attrName>style.visibility</p:attrName>
                        </p:attrNameLst>
                      </p:cBhvr>
                      <p:to>
                        <p:strVal val="visible"/>
                      </p:to>
                    </p:set>
                    <p:anim calcmode="lin" valueType="num">
                      <p:cBhvr>
                        <p:cTn dur="500" fill="hold"/>
                        <p:tgtEl>
                          <p:spTgt spid="5123"/>
                        </p:tgtEl>
                        <p:attrNameLst>
                          <p:attrName>ppt_w</p:attrName>
                        </p:attrNameLst>
                      </p:cBhvr>
                      <p:tavLst>
                        <p:tav tm="0">
                          <p:val>
                            <p:fltVal val="0"/>
                          </p:val>
                        </p:tav>
                        <p:tav tm="100000">
                          <p:val>
                            <p:strVal val="#ppt_w"/>
                          </p:val>
                        </p:tav>
                      </p:tavLst>
                    </p:anim>
                    <p:anim calcmode="lin" valueType="num">
                      <p:cBhvr>
                        <p:cTn dur="500" fill="hold"/>
                        <p:tgtEl>
                          <p:spTgt spid="5123"/>
                        </p:tgtEl>
                        <p:attrNameLst>
                          <p:attrName>ppt_h</p:attrName>
                        </p:attrNameLst>
                      </p:cBhvr>
                      <p:tavLst>
                        <p:tav tm="0">
                          <p:val>
                            <p:fltVal val="0"/>
                          </p:val>
                        </p:tav>
                        <p:tav tm="100000">
                          <p:val>
                            <p:strVal val="#ppt_h"/>
                          </p:val>
                        </p:tav>
                      </p:tavLst>
                    </p:anim>
                    <p:animEffect transition="in" filter="fade">
                      <p:cBhvr>
                        <p:cTn dur="500"/>
                        <p:tgtEl>
                          <p:spTgt spid="512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lgn="l">
              <a:defRPr sz="1600" i="0"/>
            </a:lvl1pPr>
          </a:lstStyle>
          <a:p>
            <a:fld id="{F0065440-4C8F-497D-8DC5-47855554306F}" type="slidenum">
              <a:rPr lang="en-US" smtClean="0"/>
              <a:pPr/>
              <a:t>‹#›</a:t>
            </a:fld>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E826E5F-98C7-427D-BD7E-0BE0F1A96833}" type="slidenum">
              <a:rPr lang="en-US"/>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52513"/>
            <a:ext cx="4038600" cy="5073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52513"/>
            <a:ext cx="4038600" cy="5073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F69F05A-DCBD-4B85-B11F-DDBCF8E92008}" type="slidenum">
              <a:rPr lang="en-US"/>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94C1862-9D7D-4867-B015-B11771DE47FF}" type="slidenum">
              <a:rPr lang="en-US"/>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FBD6026-5CE8-486A-9BC0-1C41C23FE706}" type="slidenum">
              <a:rPr lang="en-US"/>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7F5884D9-B953-4650-A00D-DBE79B42910F}" type="slidenum">
              <a:rPr lang="en-US"/>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8D01A79-9865-49FA-B323-8C97083EEA8F}" type="slidenum">
              <a:rPr lang="en-US"/>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0AFD685-CBDA-4730-95DC-3E6CBC63D806}" type="slidenum">
              <a:rPr lang="en-US"/>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FCFE8F2-027C-4C57-9B26-E402534C8990}" type="slidenum">
              <a:rPr lang="en-US"/>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88913"/>
            <a:ext cx="20574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88913"/>
            <a:ext cx="60198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CCFE25D-8A1D-46F6-BEBF-C85E3072F965}" type="slidenum">
              <a:rPr lang="en-US"/>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hyperlink" Target="http://www.m62.net/" TargetMode="External"/><Relationship Id="rId18" Type="http://schemas.openxmlformats.org/officeDocument/2006/relationships/image" Target="../media/image5.png"/><Relationship Id="rId3" Type="http://schemas.openxmlformats.org/officeDocument/2006/relationships/slideLayout" Target="../slideLayouts/slideLayout14.xml"/><Relationship Id="rId21" Type="http://schemas.openxmlformats.org/officeDocument/2006/relationships/image" Target="../media/image7.png"/><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hyperlink" Target="http://www.m62.net/powerpoint-slides/" TargetMode="External"/><Relationship Id="rId2" Type="http://schemas.openxmlformats.org/officeDocument/2006/relationships/slideLayout" Target="../slideLayouts/slideLayout13.xml"/><Relationship Id="rId16" Type="http://schemas.openxmlformats.org/officeDocument/2006/relationships/image" Target="../media/image4.png"/><Relationship Id="rId20"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hyperlink" Target="http://www.m62.net/presentation-theory/bullet-points-dont-work/beyond-bullet-points/" TargetMode="External"/><Relationship Id="rId10" Type="http://schemas.openxmlformats.org/officeDocument/2006/relationships/slideLayout" Target="../slideLayouts/slideLayout21.xml"/><Relationship Id="rId19" Type="http://schemas.openxmlformats.org/officeDocument/2006/relationships/hyperlink" Target="http://www.m62.net/powerpoint-training/" TargetMode="Externa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2" name="Picture 38" descr="background2"/>
          <p:cNvPicPr>
            <a:picLocks noChangeAspect="1" noChangeArrowheads="1"/>
          </p:cNvPicPr>
          <p:nvPr/>
        </p:nvPicPr>
        <p:blipFill>
          <a:blip r:embed="rId13" cstate="print"/>
          <a:srcRect/>
          <a:stretch>
            <a:fillRect/>
          </a:stretch>
        </p:blipFill>
        <p:spPr bwMode="auto">
          <a:xfrm>
            <a:off x="7916" y="14844"/>
            <a:ext cx="9144000" cy="6858000"/>
          </a:xfrm>
          <a:prstGeom prst="rect">
            <a:avLst/>
          </a:prstGeom>
          <a:noFill/>
        </p:spPr>
      </p:pic>
      <p:sp>
        <p:nvSpPr>
          <p:cNvPr id="1026" name="Rectangle 2"/>
          <p:cNvSpPr>
            <a:spLocks noGrp="1" noChangeArrowheads="1"/>
          </p:cNvSpPr>
          <p:nvPr>
            <p:ph type="title"/>
          </p:nvPr>
        </p:nvSpPr>
        <p:spPr bwMode="auto">
          <a:xfrm>
            <a:off x="457200" y="188913"/>
            <a:ext cx="8218488" cy="5651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052513"/>
            <a:ext cx="8229600" cy="5073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dirty="0"/>
          </a:p>
        </p:txBody>
      </p:sp>
      <p:sp>
        <p:nvSpPr>
          <p:cNvPr id="1030" name="Rectangle 6"/>
          <p:cNvSpPr>
            <a:spLocks noGrp="1" noChangeArrowheads="1"/>
          </p:cNvSpPr>
          <p:nvPr>
            <p:ph type="sldNum" sz="quarter" idx="4"/>
          </p:nvPr>
        </p:nvSpPr>
        <p:spPr bwMode="auto">
          <a:xfrm>
            <a:off x="533400" y="62484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4D7511D7-B783-4CDA-BF26-3E6D5B8F4FFE}"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par>
                          <p:cTn id="10" fill="hold">
                            <p:stCondLst>
                              <p:cond delay="1020"/>
                            </p:stCondLst>
                            <p:childTnLst>
                              <p:par>
                                <p:cTn id="11" presetID="53" presetClass="entr" presetSubtype="0" fill="hold" grpId="0" nodeType="afterEffect">
                                  <p:stCondLst>
                                    <p:cond delay="0"/>
                                  </p:stCondLst>
                                  <p:iterate type="lt">
                                    <p:tmPct val="4000"/>
                                  </p:iterate>
                                  <p:childTnLst>
                                    <p:set>
                                      <p:cBhvr>
                                        <p:cTn id="12" dur="1"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1027">
                                            <p:txEl>
                                              <p:pRg st="0" end="0"/>
                                            </p:txEl>
                                          </p:spTgt>
                                        </p:tgtEl>
                                      </p:cBhvr>
                                    </p:animEffect>
                                  </p:childTnLst>
                                </p:cTn>
                              </p:par>
                            </p:childTnLst>
                          </p:cTn>
                        </p:par>
                        <p:par>
                          <p:cTn id="16" fill="hold">
                            <p:stCondLst>
                              <p:cond delay="2040"/>
                            </p:stCondLst>
                            <p:childTnLst>
                              <p:par>
                                <p:cTn id="17" presetID="53" presetClass="entr" presetSubtype="0" fill="hold" grpId="0" nodeType="afterEffect">
                                  <p:stCondLst>
                                    <p:cond delay="0"/>
                                  </p:stCondLst>
                                  <p:iterate type="lt">
                                    <p:tmPct val="4000"/>
                                  </p:iterate>
                                  <p:childTnLst>
                                    <p:set>
                                      <p:cBhvr>
                                        <p:cTn id="18" dur="1" fill="hold">
                                          <p:stCondLst>
                                            <p:cond delay="0"/>
                                          </p:stCondLst>
                                        </p:cTn>
                                        <p:tgtEl>
                                          <p:spTgt spid="1027">
                                            <p:txEl>
                                              <p:pRg st="1" end="1"/>
                                            </p:txEl>
                                          </p:spTgt>
                                        </p:tgtEl>
                                        <p:attrNameLst>
                                          <p:attrName>style.visibility</p:attrName>
                                        </p:attrNameLst>
                                      </p:cBhvr>
                                      <p:to>
                                        <p:strVal val="visible"/>
                                      </p:to>
                                    </p:set>
                                    <p:anim calcmode="lin" valueType="num">
                                      <p:cBhvr>
                                        <p:cTn id="19"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027">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027">
                                            <p:txEl>
                                              <p:pRg st="1" end="1"/>
                                            </p:txEl>
                                          </p:spTgt>
                                        </p:tgtEl>
                                      </p:cBhvr>
                                    </p:animEffect>
                                  </p:childTnLst>
                                </p:cTn>
                              </p:par>
                            </p:childTnLst>
                          </p:cTn>
                        </p:par>
                        <p:par>
                          <p:cTn id="22" fill="hold">
                            <p:stCondLst>
                              <p:cond delay="2740"/>
                            </p:stCondLst>
                            <p:childTnLst>
                              <p:par>
                                <p:cTn id="23" presetID="53" presetClass="entr" presetSubtype="0" fill="hold" grpId="0" nodeType="afterEffect">
                                  <p:stCondLst>
                                    <p:cond delay="0"/>
                                  </p:stCondLst>
                                  <p:iterate type="lt">
                                    <p:tmPct val="4000"/>
                                  </p:iterate>
                                  <p:childTnLst>
                                    <p:set>
                                      <p:cBhvr>
                                        <p:cTn id="24" dur="1" fill="hold">
                                          <p:stCondLst>
                                            <p:cond delay="0"/>
                                          </p:stCondLst>
                                        </p:cTn>
                                        <p:tgtEl>
                                          <p:spTgt spid="1027">
                                            <p:txEl>
                                              <p:pRg st="2" end="2"/>
                                            </p:txEl>
                                          </p:spTgt>
                                        </p:tgtEl>
                                        <p:attrNameLst>
                                          <p:attrName>style.visibility</p:attrName>
                                        </p:attrNameLst>
                                      </p:cBhvr>
                                      <p:to>
                                        <p:strVal val="visible"/>
                                      </p:to>
                                    </p:set>
                                    <p:anim calcmode="lin" valueType="num">
                                      <p:cBhvr>
                                        <p:cTn id="25"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1027">
                                            <p:txEl>
                                              <p:pRg st="2" end="2"/>
                                            </p:txEl>
                                          </p:spTgt>
                                        </p:tgtEl>
                                      </p:cBhvr>
                                    </p:animEffect>
                                  </p:childTnLst>
                                </p:cTn>
                              </p:par>
                            </p:childTnLst>
                          </p:cTn>
                        </p:par>
                        <p:par>
                          <p:cTn id="28" fill="hold">
                            <p:stCondLst>
                              <p:cond delay="3420"/>
                            </p:stCondLst>
                            <p:childTnLst>
                              <p:par>
                                <p:cTn id="29" presetID="53" presetClass="entr" presetSubtype="0" fill="hold" grpId="0" nodeType="afterEffect">
                                  <p:stCondLst>
                                    <p:cond delay="0"/>
                                  </p:stCondLst>
                                  <p:iterate type="lt">
                                    <p:tmPct val="4000"/>
                                  </p:iterate>
                                  <p:childTnLst>
                                    <p:set>
                                      <p:cBhvr>
                                        <p:cTn id="30" dur="1" fill="hold">
                                          <p:stCondLst>
                                            <p:cond delay="0"/>
                                          </p:stCondLst>
                                        </p:cTn>
                                        <p:tgtEl>
                                          <p:spTgt spid="1027">
                                            <p:txEl>
                                              <p:pRg st="3" end="3"/>
                                            </p:txEl>
                                          </p:spTgt>
                                        </p:tgtEl>
                                        <p:attrNameLst>
                                          <p:attrName>style.visibility</p:attrName>
                                        </p:attrNameLst>
                                      </p:cBhvr>
                                      <p:to>
                                        <p:strVal val="visible"/>
                                      </p:to>
                                    </p:set>
                                    <p:anim calcmode="lin" valueType="num">
                                      <p:cBhvr>
                                        <p:cTn id="31"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027">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027">
                                            <p:txEl>
                                              <p:pRg st="3" end="3"/>
                                            </p:txEl>
                                          </p:spTgt>
                                        </p:tgtEl>
                                      </p:cBhvr>
                                    </p:animEffect>
                                  </p:childTnLst>
                                </p:cTn>
                              </p:par>
                            </p:childTnLst>
                          </p:cTn>
                        </p:par>
                        <p:par>
                          <p:cTn id="34" fill="hold">
                            <p:stCondLst>
                              <p:cond delay="4120"/>
                            </p:stCondLst>
                            <p:childTnLst>
                              <p:par>
                                <p:cTn id="35" presetID="53" presetClass="entr" presetSubtype="0" fill="hold" grpId="0" nodeType="afterEffect">
                                  <p:stCondLst>
                                    <p:cond delay="0"/>
                                  </p:stCondLst>
                                  <p:iterate type="lt">
                                    <p:tmPct val="4000"/>
                                  </p:iterate>
                                  <p:childTnLst>
                                    <p:set>
                                      <p:cBhvr>
                                        <p:cTn id="36" dur="1" fill="hold">
                                          <p:stCondLst>
                                            <p:cond delay="0"/>
                                          </p:stCondLst>
                                        </p:cTn>
                                        <p:tgtEl>
                                          <p:spTgt spid="1027">
                                            <p:txEl>
                                              <p:pRg st="4" end="4"/>
                                            </p:txEl>
                                          </p:spTgt>
                                        </p:tgtEl>
                                        <p:attrNameLst>
                                          <p:attrName>style.visibility</p:attrName>
                                        </p:attrNameLst>
                                      </p:cBhvr>
                                      <p:to>
                                        <p:strVal val="visible"/>
                                      </p:to>
                                    </p:set>
                                    <p:anim calcmode="lin" valueType="num">
                                      <p:cBhvr>
                                        <p:cTn id="37"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8" dur="500" fill="hold"/>
                                        <p:tgtEl>
                                          <p:spTgt spid="1027">
                                            <p:txEl>
                                              <p:pRg st="4" end="4"/>
                                            </p:txEl>
                                          </p:spTgt>
                                        </p:tgtEl>
                                        <p:attrNameLst>
                                          <p:attrName>ppt_h</p:attrName>
                                        </p:attrNameLst>
                                      </p:cBhvr>
                                      <p:tavLst>
                                        <p:tav tm="0">
                                          <p:val>
                                            <p:fltVal val="0"/>
                                          </p:val>
                                        </p:tav>
                                        <p:tav tm="100000">
                                          <p:val>
                                            <p:strVal val="#ppt_h"/>
                                          </p:val>
                                        </p:tav>
                                      </p:tavLst>
                                    </p:anim>
                                    <p:animEffect transition="in" filter="fade">
                                      <p:cBhvr>
                                        <p:cTn id="39"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2">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3">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4">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 lvl="5">
            <p:tnLst>
              <p:par>
                <p:cTn presetID="53" presetClass="entr" presetSubtype="0" fill="hold" nodeType="afterEffect">
                  <p:stCondLst>
                    <p:cond delay="0"/>
                  </p:stCondLst>
                  <p:iterate type="lt">
                    <p:tmPct val="4000"/>
                  </p:iterate>
                  <p:childTnLst>
                    <p:set>
                      <p:cBhvr>
                        <p:cTn dur="1" fill="hold">
                          <p:stCondLst>
                            <p:cond delay="0"/>
                          </p:stCondLst>
                        </p:cTn>
                        <p:tgtEl>
                          <p:spTgt spid="1027"/>
                        </p:tgtEl>
                        <p:attrNameLst>
                          <p:attrName>style.visibility</p:attrName>
                        </p:attrNameLst>
                      </p:cBhvr>
                      <p:to>
                        <p:strVal val="visible"/>
                      </p:to>
                    </p:set>
                    <p:anim calcmode="lin" valueType="num">
                      <p:cBhvr>
                        <p:cTn dur="500" fill="hold"/>
                        <p:tgtEl>
                          <p:spTgt spid="1027"/>
                        </p:tgtEl>
                        <p:attrNameLst>
                          <p:attrName>ppt_w</p:attrName>
                        </p:attrNameLst>
                      </p:cBhvr>
                      <p:tavLst>
                        <p:tav tm="0">
                          <p:val>
                            <p:fltVal val="0"/>
                          </p:val>
                        </p:tav>
                        <p:tav tm="100000">
                          <p:val>
                            <p:strVal val="#ppt_w"/>
                          </p:val>
                        </p:tav>
                      </p:tavLst>
                    </p:anim>
                    <p:anim calcmode="lin" valueType="num">
                      <p:cBhvr>
                        <p:cTn dur="500" fill="hold"/>
                        <p:tgtEl>
                          <p:spTgt spid="1027"/>
                        </p:tgtEl>
                        <p:attrNameLst>
                          <p:attrName>ppt_h</p:attrName>
                        </p:attrNameLst>
                      </p:cBhvr>
                      <p:tavLst>
                        <p:tav tm="0">
                          <p:val>
                            <p:fltVal val="0"/>
                          </p:val>
                        </p:tav>
                        <p:tav tm="100000">
                          <p:val>
                            <p:strVal val="#ppt_h"/>
                          </p:val>
                        </p:tav>
                      </p:tavLst>
                    </p:anim>
                    <p:animEffect transition="in" filter="fade">
                      <p:cBhvr>
                        <p:cTn dur="500"/>
                        <p:tgtEl>
                          <p:spTgt spid="1027"/>
                        </p:tgtEl>
                      </p:cBhvr>
                    </p:animEffect>
                  </p:childTnLst>
                </p:cTn>
              </p:par>
            </p:tnLst>
          </p:tmpl>
        </p:tmplLst>
      </p:bldP>
    </p:bldLst>
  </p:timing>
  <p:hf hdr="0" ftr="0" dt="0"/>
  <p:txStyles>
    <p:titleStyle>
      <a:lvl1pPr algn="l" rtl="0" eaLnBrk="1" fontAlgn="base" hangingPunct="1">
        <a:spcBef>
          <a:spcPct val="0"/>
        </a:spcBef>
        <a:spcAft>
          <a:spcPct val="0"/>
        </a:spcAft>
        <a:defRPr sz="2800">
          <a:solidFill>
            <a:schemeClr val="tx2"/>
          </a:solidFill>
          <a:latin typeface="+mj-lt"/>
          <a:ea typeface="+mj-ea"/>
          <a:cs typeface="+mj-cs"/>
        </a:defRPr>
      </a:lvl1pPr>
      <a:lvl2pPr algn="l" rtl="0" eaLnBrk="1" fontAlgn="base" hangingPunct="1">
        <a:spcBef>
          <a:spcPct val="0"/>
        </a:spcBef>
        <a:spcAft>
          <a:spcPct val="0"/>
        </a:spcAft>
        <a:defRPr sz="2800">
          <a:solidFill>
            <a:schemeClr val="tx2"/>
          </a:solidFill>
          <a:latin typeface="Arial" charset="0"/>
        </a:defRPr>
      </a:lvl2pPr>
      <a:lvl3pPr algn="l" rtl="0" eaLnBrk="1" fontAlgn="base" hangingPunct="1">
        <a:spcBef>
          <a:spcPct val="0"/>
        </a:spcBef>
        <a:spcAft>
          <a:spcPct val="0"/>
        </a:spcAft>
        <a:defRPr sz="2800">
          <a:solidFill>
            <a:schemeClr val="tx2"/>
          </a:solidFill>
          <a:latin typeface="Arial" charset="0"/>
        </a:defRPr>
      </a:lvl3pPr>
      <a:lvl4pPr algn="l" rtl="0" eaLnBrk="1" fontAlgn="base" hangingPunct="1">
        <a:spcBef>
          <a:spcPct val="0"/>
        </a:spcBef>
        <a:spcAft>
          <a:spcPct val="0"/>
        </a:spcAft>
        <a:defRPr sz="2800">
          <a:solidFill>
            <a:schemeClr val="tx2"/>
          </a:solidFill>
          <a:latin typeface="Arial" charset="0"/>
        </a:defRPr>
      </a:lvl4pPr>
      <a:lvl5pPr algn="l" rtl="0" eaLnBrk="1" fontAlgn="base" hangingPunct="1">
        <a:spcBef>
          <a:spcPct val="0"/>
        </a:spcBef>
        <a:spcAft>
          <a:spcPct val="0"/>
        </a:spcAft>
        <a:defRPr sz="2800">
          <a:solidFill>
            <a:schemeClr val="tx2"/>
          </a:solidFill>
          <a:latin typeface="Arial" charset="0"/>
        </a:defRPr>
      </a:lvl5pPr>
      <a:lvl6pPr marL="457200" algn="l" rtl="0" eaLnBrk="1" fontAlgn="base" hangingPunct="1">
        <a:spcBef>
          <a:spcPct val="0"/>
        </a:spcBef>
        <a:spcAft>
          <a:spcPct val="0"/>
        </a:spcAft>
        <a:defRPr sz="2800">
          <a:solidFill>
            <a:schemeClr val="tx2"/>
          </a:solidFill>
          <a:latin typeface="Arial" charset="0"/>
        </a:defRPr>
      </a:lvl6pPr>
      <a:lvl7pPr marL="914400" algn="l" rtl="0" eaLnBrk="1" fontAlgn="base" hangingPunct="1">
        <a:spcBef>
          <a:spcPct val="0"/>
        </a:spcBef>
        <a:spcAft>
          <a:spcPct val="0"/>
        </a:spcAft>
        <a:defRPr sz="2800">
          <a:solidFill>
            <a:schemeClr val="tx2"/>
          </a:solidFill>
          <a:latin typeface="Arial" charset="0"/>
        </a:defRPr>
      </a:lvl7pPr>
      <a:lvl8pPr marL="1371600" algn="l" rtl="0" eaLnBrk="1" fontAlgn="base" hangingPunct="1">
        <a:spcBef>
          <a:spcPct val="0"/>
        </a:spcBef>
        <a:spcAft>
          <a:spcPct val="0"/>
        </a:spcAft>
        <a:defRPr sz="2800">
          <a:solidFill>
            <a:schemeClr val="tx2"/>
          </a:solidFill>
          <a:latin typeface="Arial" charset="0"/>
        </a:defRPr>
      </a:lvl8pPr>
      <a:lvl9pPr marL="1828800" algn="l" rtl="0" eaLnBrk="1" fontAlgn="base" hangingPunct="1">
        <a:spcBef>
          <a:spcPct val="0"/>
        </a:spcBef>
        <a:spcAft>
          <a:spcPct val="0"/>
        </a:spcAft>
        <a:defRPr sz="28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9144000" cy="6858000"/>
          </a:xfrm>
          <a:prstGeom prst="rect">
            <a:avLst/>
          </a:prstGeom>
          <a:gradFill rotWithShape="1">
            <a:gsLst>
              <a:gs pos="0">
                <a:schemeClr val="bg1"/>
              </a:gs>
              <a:gs pos="100000">
                <a:srgbClr val="D9D9D9"/>
              </a:gs>
            </a:gsLst>
            <a:lin ang="5400000" scaled="1"/>
          </a:gradFill>
          <a:ln w="9525">
            <a:noFill/>
            <a:miter lim="800000"/>
            <a:headEnd/>
            <a:tailEnd/>
          </a:ln>
          <a:effectLst/>
        </p:spPr>
        <p:txBody>
          <a:bodyPr wrap="none" anchor="ctr"/>
          <a:lstStyle/>
          <a:p>
            <a:pPr algn="ctr"/>
            <a:endParaRPr lang="en-US" dirty="0"/>
          </a:p>
        </p:txBody>
      </p:sp>
      <p:sp>
        <p:nvSpPr>
          <p:cNvPr id="7171" name="Rectangle 3"/>
          <p:cNvSpPr>
            <a:spLocks noChangeArrowheads="1"/>
          </p:cNvSpPr>
          <p:nvPr/>
        </p:nvSpPr>
        <p:spPr bwMode="auto">
          <a:xfrm>
            <a:off x="-93663" y="6453188"/>
            <a:ext cx="8532813" cy="366712"/>
          </a:xfrm>
          <a:prstGeom prst="rect">
            <a:avLst/>
          </a:prstGeom>
          <a:noFill/>
          <a:ln w="9525" algn="ctr">
            <a:noFill/>
            <a:miter lim="800000"/>
            <a:headEnd/>
            <a:tailEnd/>
          </a:ln>
          <a:effectLst/>
        </p:spPr>
        <p:txBody>
          <a:bodyPr lIns="0" tIns="0" rIns="0" bIns="0" anchor="ctr"/>
          <a:lstStyle/>
          <a:p>
            <a:pPr algn="r"/>
            <a:r>
              <a:rPr lang="en-US" sz="1200" dirty="0">
                <a:solidFill>
                  <a:srgbClr val="4D4D4D"/>
                </a:solidFill>
                <a:latin typeface="Neo Sans" pitchFamily="34" charset="0"/>
              </a:rPr>
              <a:t>m62 </a:t>
            </a:r>
            <a:r>
              <a:rPr lang="en-US" sz="1200" dirty="0" err="1">
                <a:solidFill>
                  <a:srgbClr val="4D4D4D"/>
                </a:solidFill>
                <a:latin typeface="Neo Sans" pitchFamily="34" charset="0"/>
              </a:rPr>
              <a:t>visualcommunications</a:t>
            </a:r>
            <a:r>
              <a:rPr lang="en-US" sz="1200" dirty="0">
                <a:solidFill>
                  <a:srgbClr val="4D4D4D"/>
                </a:solidFill>
                <a:latin typeface="Neo Sans" pitchFamily="34" charset="0"/>
              </a:rPr>
              <a:t> is the global leader in presentation effectiveness, from offices in the UK, USA, and Singapore</a:t>
            </a:r>
          </a:p>
        </p:txBody>
      </p:sp>
      <p:pic>
        <p:nvPicPr>
          <p:cNvPr id="7172" name="Picture 4" descr="m62-logo">
            <a:hlinkClick r:id="rId13"/>
          </p:cNvPr>
          <p:cNvPicPr>
            <a:picLocks noChangeAspect="1" noChangeArrowheads="1"/>
          </p:cNvPicPr>
          <p:nvPr/>
        </p:nvPicPr>
        <p:blipFill>
          <a:blip r:embed="rId14" cstate="print"/>
          <a:srcRect/>
          <a:stretch>
            <a:fillRect/>
          </a:stretch>
        </p:blipFill>
        <p:spPr bwMode="auto">
          <a:xfrm>
            <a:off x="8502650" y="6484938"/>
            <a:ext cx="381000" cy="257175"/>
          </a:xfrm>
          <a:prstGeom prst="rect">
            <a:avLst/>
          </a:prstGeom>
          <a:noFill/>
        </p:spPr>
      </p:pic>
      <p:pic>
        <p:nvPicPr>
          <p:cNvPr id="7173" name="Picture 5" descr="1">
            <a:hlinkClick r:id="rId15"/>
          </p:cNvPr>
          <p:cNvPicPr>
            <a:picLocks noChangeAspect="1" noChangeArrowheads="1"/>
          </p:cNvPicPr>
          <p:nvPr/>
        </p:nvPicPr>
        <p:blipFill>
          <a:blip r:embed="rId16" cstate="print"/>
          <a:srcRect/>
          <a:stretch>
            <a:fillRect/>
          </a:stretch>
        </p:blipFill>
        <p:spPr bwMode="auto">
          <a:xfrm>
            <a:off x="260350" y="777875"/>
            <a:ext cx="2000250" cy="1457325"/>
          </a:xfrm>
          <a:prstGeom prst="rect">
            <a:avLst/>
          </a:prstGeom>
          <a:noFill/>
        </p:spPr>
      </p:pic>
      <p:pic>
        <p:nvPicPr>
          <p:cNvPr id="7174" name="Picture 6" descr="2">
            <a:hlinkClick r:id="rId17"/>
          </p:cNvPr>
          <p:cNvPicPr>
            <a:picLocks noChangeAspect="1" noChangeArrowheads="1"/>
          </p:cNvPicPr>
          <p:nvPr/>
        </p:nvPicPr>
        <p:blipFill>
          <a:blip r:embed="rId18" cstate="print"/>
          <a:srcRect/>
          <a:stretch>
            <a:fillRect/>
          </a:stretch>
        </p:blipFill>
        <p:spPr bwMode="auto">
          <a:xfrm>
            <a:off x="287338" y="2673350"/>
            <a:ext cx="2000250" cy="1457325"/>
          </a:xfrm>
          <a:prstGeom prst="rect">
            <a:avLst/>
          </a:prstGeom>
          <a:noFill/>
        </p:spPr>
      </p:pic>
      <p:pic>
        <p:nvPicPr>
          <p:cNvPr id="7175" name="Picture 7" descr="3">
            <a:hlinkClick r:id="rId19"/>
          </p:cNvPr>
          <p:cNvPicPr>
            <a:picLocks noChangeAspect="1" noChangeArrowheads="1"/>
          </p:cNvPicPr>
          <p:nvPr/>
        </p:nvPicPr>
        <p:blipFill>
          <a:blip r:embed="rId20" cstate="print"/>
          <a:srcRect/>
          <a:stretch>
            <a:fillRect/>
          </a:stretch>
        </p:blipFill>
        <p:spPr bwMode="auto">
          <a:xfrm>
            <a:off x="287338" y="4568825"/>
            <a:ext cx="2000250" cy="1457325"/>
          </a:xfrm>
          <a:prstGeom prst="rect">
            <a:avLst/>
          </a:prstGeom>
          <a:noFill/>
        </p:spPr>
      </p:pic>
      <p:sp>
        <p:nvSpPr>
          <p:cNvPr id="7176" name="Text Box 8">
            <a:hlinkClick r:id="rId15"/>
          </p:cNvPr>
          <p:cNvSpPr txBox="1">
            <a:spLocks noChangeArrowheads="1"/>
          </p:cNvSpPr>
          <p:nvPr/>
        </p:nvSpPr>
        <p:spPr bwMode="auto">
          <a:xfrm>
            <a:off x="379413" y="2290763"/>
            <a:ext cx="1636712" cy="212725"/>
          </a:xfrm>
          <a:prstGeom prst="rect">
            <a:avLst/>
          </a:prstGeom>
          <a:noFill/>
          <a:ln w="9525" algn="ctr">
            <a:noFill/>
            <a:miter lim="800000"/>
            <a:headEnd/>
            <a:tailEnd/>
          </a:ln>
          <a:effectLst/>
        </p:spPr>
        <p:txBody>
          <a:bodyPr wrap="none" lIns="0" tIns="0" rIns="0" bIns="0" anchor="ctr">
            <a:spAutoFit/>
          </a:bodyPr>
          <a:lstStyle/>
          <a:p>
            <a:r>
              <a:rPr lang="en-US" sz="1400">
                <a:solidFill>
                  <a:srgbClr val="135971"/>
                </a:solidFill>
                <a:latin typeface="Neo Sans" pitchFamily="34" charset="0"/>
              </a:rPr>
              <a:t>Beyond Bullet Points</a:t>
            </a:r>
          </a:p>
        </p:txBody>
      </p:sp>
      <p:sp>
        <p:nvSpPr>
          <p:cNvPr id="7177" name="Text Box 9">
            <a:hlinkClick r:id="rId17"/>
          </p:cNvPr>
          <p:cNvSpPr txBox="1">
            <a:spLocks noChangeArrowheads="1"/>
          </p:cNvSpPr>
          <p:nvPr/>
        </p:nvSpPr>
        <p:spPr bwMode="auto">
          <a:xfrm>
            <a:off x="379413" y="4189413"/>
            <a:ext cx="1417637" cy="212725"/>
          </a:xfrm>
          <a:prstGeom prst="rect">
            <a:avLst/>
          </a:prstGeom>
          <a:noFill/>
          <a:ln w="9525" algn="ctr">
            <a:noFill/>
            <a:miter lim="800000"/>
            <a:headEnd/>
            <a:tailEnd/>
          </a:ln>
          <a:effectLst/>
        </p:spPr>
        <p:txBody>
          <a:bodyPr wrap="none" lIns="0" tIns="0" rIns="0" bIns="0" anchor="ctr">
            <a:spAutoFit/>
          </a:bodyPr>
          <a:lstStyle/>
          <a:p>
            <a:r>
              <a:rPr lang="en-US" sz="1400">
                <a:solidFill>
                  <a:srgbClr val="135971"/>
                </a:solidFill>
                <a:latin typeface="Neo Sans" pitchFamily="34" charset="0"/>
              </a:rPr>
              <a:t>PowerPoint Slides</a:t>
            </a:r>
          </a:p>
        </p:txBody>
      </p:sp>
      <p:sp>
        <p:nvSpPr>
          <p:cNvPr id="7178" name="Text Box 10">
            <a:hlinkClick r:id="rId19"/>
          </p:cNvPr>
          <p:cNvSpPr txBox="1">
            <a:spLocks noChangeArrowheads="1"/>
          </p:cNvSpPr>
          <p:nvPr/>
        </p:nvSpPr>
        <p:spPr bwMode="auto">
          <a:xfrm>
            <a:off x="379413" y="6084888"/>
            <a:ext cx="1598612" cy="212725"/>
          </a:xfrm>
          <a:prstGeom prst="rect">
            <a:avLst/>
          </a:prstGeom>
          <a:noFill/>
          <a:ln w="9525" algn="ctr">
            <a:noFill/>
            <a:miter lim="800000"/>
            <a:headEnd/>
            <a:tailEnd/>
          </a:ln>
          <a:effectLst/>
        </p:spPr>
        <p:txBody>
          <a:bodyPr wrap="none" lIns="0" tIns="0" rIns="0" bIns="0" anchor="ctr">
            <a:spAutoFit/>
          </a:bodyPr>
          <a:lstStyle/>
          <a:p>
            <a:r>
              <a:rPr lang="en-US" sz="1400">
                <a:solidFill>
                  <a:srgbClr val="135971"/>
                </a:solidFill>
                <a:latin typeface="Neo Sans" pitchFamily="34" charset="0"/>
              </a:rPr>
              <a:t>PowerPoint Training</a:t>
            </a:r>
          </a:p>
        </p:txBody>
      </p:sp>
      <p:pic>
        <p:nvPicPr>
          <p:cNvPr id="7179" name="Picture 11" descr="bg"/>
          <p:cNvPicPr>
            <a:picLocks noChangeAspect="1" noChangeArrowheads="1"/>
          </p:cNvPicPr>
          <p:nvPr/>
        </p:nvPicPr>
        <p:blipFill>
          <a:blip r:embed="rId21" cstate="print"/>
          <a:srcRect/>
          <a:stretch>
            <a:fillRect/>
          </a:stretch>
        </p:blipFill>
        <p:spPr bwMode="auto">
          <a:xfrm>
            <a:off x="2520950" y="777875"/>
            <a:ext cx="6362700" cy="5248275"/>
          </a:xfrm>
          <a:prstGeom prst="rect">
            <a:avLst/>
          </a:prstGeom>
          <a:noFill/>
        </p:spPr>
      </p:pic>
      <p:sp>
        <p:nvSpPr>
          <p:cNvPr id="7180" name="Text Box 12"/>
          <p:cNvSpPr txBox="1">
            <a:spLocks noChangeArrowheads="1"/>
          </p:cNvSpPr>
          <p:nvPr/>
        </p:nvSpPr>
        <p:spPr bwMode="auto">
          <a:xfrm>
            <a:off x="28575" y="188913"/>
            <a:ext cx="9115425" cy="366712"/>
          </a:xfrm>
          <a:prstGeom prst="rect">
            <a:avLst/>
          </a:prstGeom>
          <a:noFill/>
          <a:ln w="9525" algn="ctr">
            <a:noFill/>
            <a:miter lim="800000"/>
            <a:headEnd/>
            <a:tailEnd/>
          </a:ln>
          <a:effectLst/>
        </p:spPr>
        <p:txBody>
          <a:bodyPr lIns="0" tIns="0" rIns="0" bIns="0" anchor="ctr"/>
          <a:lstStyle/>
          <a:p>
            <a:pPr algn="ctr"/>
            <a:r>
              <a:rPr lang="en-US" sz="2100">
                <a:solidFill>
                  <a:srgbClr val="333333"/>
                </a:solidFill>
                <a:latin typeface="Neo Sans" pitchFamily="34" charset="0"/>
              </a:rPr>
              <a:t>It’s not the </a:t>
            </a:r>
            <a:r>
              <a:rPr lang="en-US" sz="2100" b="1">
                <a:solidFill>
                  <a:srgbClr val="333333"/>
                </a:solidFill>
                <a:latin typeface="Neo Sans" pitchFamily="34" charset="0"/>
              </a:rPr>
              <a:t>design</a:t>
            </a:r>
            <a:r>
              <a:rPr lang="en-US" sz="2100">
                <a:solidFill>
                  <a:srgbClr val="333333"/>
                </a:solidFill>
                <a:latin typeface="Neo Sans" pitchFamily="34" charset="0"/>
              </a:rPr>
              <a:t> of your template, it’s what you </a:t>
            </a:r>
            <a:r>
              <a:rPr lang="en-US" sz="2100" b="1">
                <a:solidFill>
                  <a:srgbClr val="333333"/>
                </a:solidFill>
                <a:latin typeface="Neo Sans" pitchFamily="34" charset="0"/>
              </a:rPr>
              <a:t>do with it</a:t>
            </a:r>
            <a:r>
              <a:rPr lang="en-US" sz="2100">
                <a:solidFill>
                  <a:srgbClr val="333333"/>
                </a:solidFill>
                <a:latin typeface="Neo Sans" pitchFamily="34" charset="0"/>
              </a:rPr>
              <a:t> that counts</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ctr" rtl="0" fontAlgn="base">
        <a:spcBef>
          <a:spcPct val="0"/>
        </a:spcBef>
        <a:spcAft>
          <a:spcPct val="0"/>
        </a:spcAft>
        <a:defRPr sz="2000">
          <a:solidFill>
            <a:srgbClr val="333333"/>
          </a:solidFill>
          <a:latin typeface="+mj-lt"/>
          <a:ea typeface="+mj-ea"/>
          <a:cs typeface="+mj-cs"/>
        </a:defRPr>
      </a:lvl1pPr>
      <a:lvl2pPr algn="ctr" rtl="0" fontAlgn="base">
        <a:spcBef>
          <a:spcPct val="0"/>
        </a:spcBef>
        <a:spcAft>
          <a:spcPct val="0"/>
        </a:spcAft>
        <a:defRPr sz="2000">
          <a:solidFill>
            <a:srgbClr val="333333"/>
          </a:solidFill>
          <a:latin typeface="Neo Sans" pitchFamily="34" charset="0"/>
        </a:defRPr>
      </a:lvl2pPr>
      <a:lvl3pPr algn="ctr" rtl="0" fontAlgn="base">
        <a:spcBef>
          <a:spcPct val="0"/>
        </a:spcBef>
        <a:spcAft>
          <a:spcPct val="0"/>
        </a:spcAft>
        <a:defRPr sz="2000">
          <a:solidFill>
            <a:srgbClr val="333333"/>
          </a:solidFill>
          <a:latin typeface="Neo Sans" pitchFamily="34" charset="0"/>
        </a:defRPr>
      </a:lvl3pPr>
      <a:lvl4pPr algn="ctr" rtl="0" fontAlgn="base">
        <a:spcBef>
          <a:spcPct val="0"/>
        </a:spcBef>
        <a:spcAft>
          <a:spcPct val="0"/>
        </a:spcAft>
        <a:defRPr sz="2000">
          <a:solidFill>
            <a:srgbClr val="333333"/>
          </a:solidFill>
          <a:latin typeface="Neo Sans" pitchFamily="34" charset="0"/>
        </a:defRPr>
      </a:lvl4pPr>
      <a:lvl5pPr algn="ctr" rtl="0" fontAlgn="base">
        <a:spcBef>
          <a:spcPct val="0"/>
        </a:spcBef>
        <a:spcAft>
          <a:spcPct val="0"/>
        </a:spcAft>
        <a:defRPr sz="2000">
          <a:solidFill>
            <a:srgbClr val="333333"/>
          </a:solidFill>
          <a:latin typeface="Neo Sans" pitchFamily="34" charset="0"/>
        </a:defRPr>
      </a:lvl5pPr>
      <a:lvl6pPr marL="457200" algn="ctr" rtl="0" fontAlgn="base">
        <a:spcBef>
          <a:spcPct val="0"/>
        </a:spcBef>
        <a:spcAft>
          <a:spcPct val="0"/>
        </a:spcAft>
        <a:defRPr sz="2000">
          <a:solidFill>
            <a:srgbClr val="333333"/>
          </a:solidFill>
          <a:latin typeface="Neo Sans" pitchFamily="34" charset="0"/>
        </a:defRPr>
      </a:lvl6pPr>
      <a:lvl7pPr marL="914400" algn="ctr" rtl="0" fontAlgn="base">
        <a:spcBef>
          <a:spcPct val="0"/>
        </a:spcBef>
        <a:spcAft>
          <a:spcPct val="0"/>
        </a:spcAft>
        <a:defRPr sz="2000">
          <a:solidFill>
            <a:srgbClr val="333333"/>
          </a:solidFill>
          <a:latin typeface="Neo Sans" pitchFamily="34" charset="0"/>
        </a:defRPr>
      </a:lvl7pPr>
      <a:lvl8pPr marL="1371600" algn="ctr" rtl="0" fontAlgn="base">
        <a:spcBef>
          <a:spcPct val="0"/>
        </a:spcBef>
        <a:spcAft>
          <a:spcPct val="0"/>
        </a:spcAft>
        <a:defRPr sz="2000">
          <a:solidFill>
            <a:srgbClr val="333333"/>
          </a:solidFill>
          <a:latin typeface="Neo Sans" pitchFamily="34" charset="0"/>
        </a:defRPr>
      </a:lvl8pPr>
      <a:lvl9pPr marL="1828800" algn="ctr" rtl="0" fontAlgn="base">
        <a:spcBef>
          <a:spcPct val="0"/>
        </a:spcBef>
        <a:spcAft>
          <a:spcPct val="0"/>
        </a:spcAft>
        <a:defRPr sz="2000">
          <a:solidFill>
            <a:srgbClr val="333333"/>
          </a:solidFill>
          <a:latin typeface="Neo Sans"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1676400"/>
            <a:ext cx="8382000" cy="1470025"/>
          </a:xfrm>
        </p:spPr>
        <p:txBody>
          <a:bodyPr/>
          <a:lstStyle/>
          <a:p>
            <a:r>
              <a:rPr lang="en-US" sz="4400" b="1" dirty="0"/>
              <a:t/>
            </a:r>
            <a:br>
              <a:rPr lang="en-US" sz="4400" b="1" dirty="0"/>
            </a:br>
            <a:r>
              <a:rPr lang="en-US" sz="4200" b="1" dirty="0" smtClean="0">
                <a:solidFill>
                  <a:srgbClr val="024069"/>
                </a:solidFill>
              </a:rPr>
              <a:t>Objec</a:t>
            </a:r>
            <a:r>
              <a:rPr lang="en-US" sz="4200" b="1" dirty="0" smtClean="0">
                <a:solidFill>
                  <a:srgbClr val="024069"/>
                </a:solidFill>
              </a:rPr>
              <a:t>t Oriented Programming</a:t>
            </a:r>
            <a:r>
              <a:rPr lang="en-US" sz="4200" b="1" dirty="0">
                <a:solidFill>
                  <a:srgbClr val="024069"/>
                </a:solidFill>
              </a:rPr>
              <a:t/>
            </a:r>
            <a:br>
              <a:rPr lang="en-US" sz="4200" b="1" dirty="0">
                <a:solidFill>
                  <a:srgbClr val="024069"/>
                </a:solidFill>
              </a:rPr>
            </a:br>
            <a:r>
              <a:rPr lang="en-US" sz="4200" b="1" dirty="0">
                <a:solidFill>
                  <a:srgbClr val="024069"/>
                </a:solidFill>
              </a:rPr>
              <a:t>CSE </a:t>
            </a:r>
            <a:r>
              <a:rPr lang="en-US" sz="4200" b="1" dirty="0" smtClean="0">
                <a:solidFill>
                  <a:srgbClr val="024069"/>
                </a:solidFill>
              </a:rPr>
              <a:t>2101</a:t>
            </a:r>
            <a:r>
              <a:rPr lang="en-US" sz="4400" b="1" dirty="0">
                <a:solidFill>
                  <a:srgbClr val="024069"/>
                </a:solidFill>
              </a:rPr>
              <a:t/>
            </a:r>
            <a:br>
              <a:rPr lang="en-US" sz="4400" b="1" dirty="0">
                <a:solidFill>
                  <a:srgbClr val="024069"/>
                </a:solidFill>
              </a:rPr>
            </a:br>
            <a:r>
              <a:rPr lang="en-US" sz="4400" b="1" dirty="0">
                <a:solidFill>
                  <a:srgbClr val="024069"/>
                </a:solidFill>
              </a:rPr>
              <a:t/>
            </a:r>
            <a:br>
              <a:rPr lang="en-US" sz="4400" b="1" dirty="0">
                <a:solidFill>
                  <a:srgbClr val="024069"/>
                </a:solidFill>
              </a:rPr>
            </a:br>
            <a:r>
              <a:rPr lang="en-US" sz="2800" b="1" dirty="0">
                <a:solidFill>
                  <a:srgbClr val="024069"/>
                </a:solidFill>
              </a:rPr>
              <a:t>Lecture - 01</a:t>
            </a:r>
            <a:r>
              <a:rPr lang="en-US" sz="3200" b="1" dirty="0"/>
              <a:t/>
            </a:r>
            <a:br>
              <a:rPr lang="en-US" sz="3200" b="1" dirty="0"/>
            </a:br>
            <a:endParaRPr lang="en-US" sz="3200" b="1" dirty="0"/>
          </a:p>
        </p:txBody>
      </p:sp>
      <p:sp>
        <p:nvSpPr>
          <p:cNvPr id="2051" name="Rectangle 3"/>
          <p:cNvSpPr>
            <a:spLocks noGrp="1" noChangeArrowheads="1"/>
          </p:cNvSpPr>
          <p:nvPr>
            <p:ph type="subTitle" idx="1"/>
          </p:nvPr>
        </p:nvSpPr>
        <p:spPr>
          <a:xfrm>
            <a:off x="1371600" y="4267200"/>
            <a:ext cx="6934200" cy="1752600"/>
          </a:xfrm>
        </p:spPr>
        <p:txBody>
          <a:bodyPr/>
          <a:lstStyle/>
          <a:p>
            <a:r>
              <a:rPr lang="en-US" dirty="0"/>
              <a:t>Jubayer Al Mahmud</a:t>
            </a:r>
          </a:p>
          <a:p>
            <a:r>
              <a:rPr lang="en-US" sz="2400" dirty="0" smtClean="0"/>
              <a:t>Lecturer</a:t>
            </a:r>
            <a:endParaRPr lang="en-US" sz="2400" dirty="0"/>
          </a:p>
          <a:p>
            <a:r>
              <a:rPr lang="en-US" sz="2400" dirty="0" smtClean="0"/>
              <a:t>Jashore </a:t>
            </a:r>
            <a:r>
              <a:rPr lang="en-US" sz="2400" dirty="0"/>
              <a:t>University of </a:t>
            </a:r>
            <a:r>
              <a:rPr lang="en-US" sz="2400" dirty="0" smtClean="0"/>
              <a:t>Science </a:t>
            </a:r>
            <a:r>
              <a:rPr lang="en-US" sz="2400" dirty="0"/>
              <a:t>&amp; Technology</a:t>
            </a:r>
          </a:p>
          <a:p>
            <a:endParaRPr lang="en-US" dirty="0"/>
          </a:p>
          <a:p>
            <a:endParaRPr lang="en-US" dirty="0"/>
          </a:p>
          <a:p>
            <a:endParaRPr lang="en-US" dirty="0"/>
          </a:p>
        </p:txBody>
      </p:sp>
      <p:sp>
        <p:nvSpPr>
          <p:cNvPr id="2078" name="AutoShape 30"/>
          <p:cNvSpPr>
            <a:spLocks noChangeAspect="1" noChangeArrowheads="1" noTextEdit="1"/>
          </p:cNvSpPr>
          <p:nvPr/>
        </p:nvSpPr>
        <p:spPr bwMode="auto">
          <a:xfrm>
            <a:off x="468313" y="6367463"/>
            <a:ext cx="958850" cy="981075"/>
          </a:xfrm>
          <a:prstGeom prst="rect">
            <a:avLst/>
          </a:prstGeom>
          <a:noFill/>
          <a:ln w="9525">
            <a:noFill/>
            <a:miter lim="800000"/>
            <a:headEnd/>
            <a:tailEnd/>
          </a:ln>
        </p:spPr>
        <p:txBody>
          <a:bodyPr/>
          <a:lstStyle/>
          <a:p>
            <a:endParaRPr lang="en-US"/>
          </a:p>
        </p:txBody>
      </p:sp>
      <p:grpSp>
        <p:nvGrpSpPr>
          <p:cNvPr id="2115" name="Group 67"/>
          <p:cNvGrpSpPr>
            <a:grpSpLocks/>
          </p:cNvGrpSpPr>
          <p:nvPr/>
        </p:nvGrpSpPr>
        <p:grpSpPr bwMode="auto">
          <a:xfrm>
            <a:off x="228600" y="1371600"/>
            <a:ext cx="431800" cy="430213"/>
            <a:chOff x="5129" y="3937"/>
            <a:chExt cx="349" cy="348"/>
          </a:xfrm>
        </p:grpSpPr>
        <p:sp>
          <p:nvSpPr>
            <p:cNvPr id="2116" name="Freeform 68"/>
            <p:cNvSpPr>
              <a:spLocks/>
            </p:cNvSpPr>
            <p:nvPr/>
          </p:nvSpPr>
          <p:spPr bwMode="auto">
            <a:xfrm>
              <a:off x="5193" y="3937"/>
              <a:ext cx="156" cy="87"/>
            </a:xfrm>
            <a:custGeom>
              <a:avLst/>
              <a:gdLst/>
              <a:ahLst/>
              <a:cxnLst>
                <a:cxn ang="0">
                  <a:pos x="180" y="88"/>
                </a:cxn>
                <a:cxn ang="0">
                  <a:pos x="206" y="8"/>
                </a:cxn>
                <a:cxn ang="0">
                  <a:pos x="206" y="8"/>
                </a:cxn>
                <a:cxn ang="0">
                  <a:pos x="178" y="2"/>
                </a:cxn>
                <a:cxn ang="0">
                  <a:pos x="150" y="0"/>
                </a:cxn>
                <a:cxn ang="0">
                  <a:pos x="124" y="0"/>
                </a:cxn>
                <a:cxn ang="0">
                  <a:pos x="96" y="4"/>
                </a:cxn>
                <a:cxn ang="0">
                  <a:pos x="70" y="12"/>
                </a:cxn>
                <a:cxn ang="0">
                  <a:pos x="46" y="22"/>
                </a:cxn>
                <a:cxn ang="0">
                  <a:pos x="22" y="36"/>
                </a:cxn>
                <a:cxn ang="0">
                  <a:pos x="0" y="50"/>
                </a:cxn>
                <a:cxn ang="0">
                  <a:pos x="58" y="114"/>
                </a:cxn>
                <a:cxn ang="0">
                  <a:pos x="58" y="114"/>
                </a:cxn>
                <a:cxn ang="0">
                  <a:pos x="72" y="106"/>
                </a:cxn>
                <a:cxn ang="0">
                  <a:pos x="86" y="98"/>
                </a:cxn>
                <a:cxn ang="0">
                  <a:pos x="100" y="92"/>
                </a:cxn>
                <a:cxn ang="0">
                  <a:pos x="116" y="88"/>
                </a:cxn>
                <a:cxn ang="0">
                  <a:pos x="130" y="86"/>
                </a:cxn>
                <a:cxn ang="0">
                  <a:pos x="146" y="84"/>
                </a:cxn>
                <a:cxn ang="0">
                  <a:pos x="164" y="86"/>
                </a:cxn>
                <a:cxn ang="0">
                  <a:pos x="180" y="88"/>
                </a:cxn>
                <a:cxn ang="0">
                  <a:pos x="180" y="88"/>
                </a:cxn>
              </a:cxnLst>
              <a:rect l="0" t="0" r="r" b="b"/>
              <a:pathLst>
                <a:path w="206" h="114">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tx1"/>
            </a:solidFill>
            <a:ln w="9525">
              <a:noFill/>
              <a:round/>
              <a:headEnd/>
              <a:tailEnd/>
            </a:ln>
          </p:spPr>
          <p:txBody>
            <a:bodyPr/>
            <a:lstStyle/>
            <a:p>
              <a:endParaRPr lang="en-US"/>
            </a:p>
          </p:txBody>
        </p:sp>
        <p:sp>
          <p:nvSpPr>
            <p:cNvPr id="2117" name="Freeform 69"/>
            <p:cNvSpPr>
              <a:spLocks/>
            </p:cNvSpPr>
            <p:nvPr/>
          </p:nvSpPr>
          <p:spPr bwMode="auto">
            <a:xfrm>
              <a:off x="5383" y="4083"/>
              <a:ext cx="95" cy="152"/>
            </a:xfrm>
            <a:custGeom>
              <a:avLst/>
              <a:gdLst/>
              <a:ahLst/>
              <a:cxnLst>
                <a:cxn ang="0">
                  <a:pos x="32" y="82"/>
                </a:cxn>
                <a:cxn ang="0">
                  <a:pos x="32" y="82"/>
                </a:cxn>
                <a:cxn ang="0">
                  <a:pos x="26" y="96"/>
                </a:cxn>
                <a:cxn ang="0">
                  <a:pos x="20" y="110"/>
                </a:cxn>
                <a:cxn ang="0">
                  <a:pos x="10" y="124"/>
                </a:cxn>
                <a:cxn ang="0">
                  <a:pos x="0" y="136"/>
                </a:cxn>
                <a:cxn ang="0">
                  <a:pos x="58" y="200"/>
                </a:cxn>
                <a:cxn ang="0">
                  <a:pos x="58" y="200"/>
                </a:cxn>
                <a:cxn ang="0">
                  <a:pos x="76" y="180"/>
                </a:cxn>
                <a:cxn ang="0">
                  <a:pos x="92" y="158"/>
                </a:cxn>
                <a:cxn ang="0">
                  <a:pos x="104" y="134"/>
                </a:cxn>
                <a:cxn ang="0">
                  <a:pos x="114" y="108"/>
                </a:cxn>
                <a:cxn ang="0">
                  <a:pos x="114" y="108"/>
                </a:cxn>
                <a:cxn ang="0">
                  <a:pos x="122" y="80"/>
                </a:cxn>
                <a:cxn ang="0">
                  <a:pos x="126" y="54"/>
                </a:cxn>
                <a:cxn ang="0">
                  <a:pos x="126" y="26"/>
                </a:cxn>
                <a:cxn ang="0">
                  <a:pos x="122" y="0"/>
                </a:cxn>
                <a:cxn ang="0">
                  <a:pos x="38" y="18"/>
                </a:cxn>
                <a:cxn ang="0">
                  <a:pos x="38" y="18"/>
                </a:cxn>
                <a:cxn ang="0">
                  <a:pos x="40" y="34"/>
                </a:cxn>
                <a:cxn ang="0">
                  <a:pos x="40" y="50"/>
                </a:cxn>
                <a:cxn ang="0">
                  <a:pos x="38" y="66"/>
                </a:cxn>
                <a:cxn ang="0">
                  <a:pos x="32" y="82"/>
                </a:cxn>
                <a:cxn ang="0">
                  <a:pos x="32" y="82"/>
                </a:cxn>
              </a:cxnLst>
              <a:rect l="0" t="0" r="r" b="b"/>
              <a:pathLst>
                <a:path w="126" h="200">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w="9525">
              <a:noFill/>
              <a:round/>
              <a:headEnd/>
              <a:tailEnd/>
            </a:ln>
          </p:spPr>
          <p:txBody>
            <a:bodyPr/>
            <a:lstStyle/>
            <a:p>
              <a:endParaRPr lang="en-US"/>
            </a:p>
          </p:txBody>
        </p:sp>
        <p:sp>
          <p:nvSpPr>
            <p:cNvPr id="2118" name="Freeform 70"/>
            <p:cNvSpPr>
              <a:spLocks/>
            </p:cNvSpPr>
            <p:nvPr/>
          </p:nvSpPr>
          <p:spPr bwMode="auto">
            <a:xfrm>
              <a:off x="5129" y="3987"/>
              <a:ext cx="96" cy="152"/>
            </a:xfrm>
            <a:custGeom>
              <a:avLst/>
              <a:gdLst/>
              <a:ahLst/>
              <a:cxnLst>
                <a:cxn ang="0">
                  <a:pos x="92" y="118"/>
                </a:cxn>
                <a:cxn ang="0">
                  <a:pos x="92" y="118"/>
                </a:cxn>
                <a:cxn ang="0">
                  <a:pos x="98" y="104"/>
                </a:cxn>
                <a:cxn ang="0">
                  <a:pos x="106" y="88"/>
                </a:cxn>
                <a:cxn ang="0">
                  <a:pos x="116" y="76"/>
                </a:cxn>
                <a:cxn ang="0">
                  <a:pos x="126" y="64"/>
                </a:cxn>
                <a:cxn ang="0">
                  <a:pos x="68" y="0"/>
                </a:cxn>
                <a:cxn ang="0">
                  <a:pos x="68" y="0"/>
                </a:cxn>
                <a:cxn ang="0">
                  <a:pos x="50" y="20"/>
                </a:cxn>
                <a:cxn ang="0">
                  <a:pos x="34" y="42"/>
                </a:cxn>
                <a:cxn ang="0">
                  <a:pos x="22" y="66"/>
                </a:cxn>
                <a:cxn ang="0">
                  <a:pos x="12" y="92"/>
                </a:cxn>
                <a:cxn ang="0">
                  <a:pos x="12" y="92"/>
                </a:cxn>
                <a:cxn ang="0">
                  <a:pos x="4" y="118"/>
                </a:cxn>
                <a:cxn ang="0">
                  <a:pos x="0" y="146"/>
                </a:cxn>
                <a:cxn ang="0">
                  <a:pos x="0" y="174"/>
                </a:cxn>
                <a:cxn ang="0">
                  <a:pos x="4" y="200"/>
                </a:cxn>
                <a:cxn ang="0">
                  <a:pos x="88" y="182"/>
                </a:cxn>
                <a:cxn ang="0">
                  <a:pos x="88" y="182"/>
                </a:cxn>
                <a:cxn ang="0">
                  <a:pos x="86" y="166"/>
                </a:cxn>
                <a:cxn ang="0">
                  <a:pos x="86" y="150"/>
                </a:cxn>
                <a:cxn ang="0">
                  <a:pos x="88" y="134"/>
                </a:cxn>
                <a:cxn ang="0">
                  <a:pos x="92" y="118"/>
                </a:cxn>
                <a:cxn ang="0">
                  <a:pos x="92" y="118"/>
                </a:cxn>
              </a:cxnLst>
              <a:rect l="0" t="0" r="r" b="b"/>
              <a:pathLst>
                <a:path w="126" h="200">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w="9525">
              <a:noFill/>
              <a:round/>
              <a:headEnd/>
              <a:tailEnd/>
            </a:ln>
          </p:spPr>
          <p:txBody>
            <a:bodyPr/>
            <a:lstStyle/>
            <a:p>
              <a:endParaRPr lang="en-US"/>
            </a:p>
          </p:txBody>
        </p:sp>
        <p:sp>
          <p:nvSpPr>
            <p:cNvPr id="2119" name="Freeform 71"/>
            <p:cNvSpPr>
              <a:spLocks/>
            </p:cNvSpPr>
            <p:nvPr/>
          </p:nvSpPr>
          <p:spPr bwMode="auto">
            <a:xfrm>
              <a:off x="5135" y="4142"/>
              <a:ext cx="126" cy="132"/>
            </a:xfrm>
            <a:custGeom>
              <a:avLst/>
              <a:gdLst/>
              <a:ahLst/>
              <a:cxnLst>
                <a:cxn ang="0">
                  <a:pos x="84" y="0"/>
                </a:cxn>
                <a:cxn ang="0">
                  <a:pos x="0" y="18"/>
                </a:cxn>
                <a:cxn ang="0">
                  <a:pos x="0" y="18"/>
                </a:cxn>
                <a:cxn ang="0">
                  <a:pos x="8" y="44"/>
                </a:cxn>
                <a:cxn ang="0">
                  <a:pos x="20" y="68"/>
                </a:cxn>
                <a:cxn ang="0">
                  <a:pos x="34" y="90"/>
                </a:cxn>
                <a:cxn ang="0">
                  <a:pos x="50" y="112"/>
                </a:cxn>
                <a:cxn ang="0">
                  <a:pos x="70" y="130"/>
                </a:cxn>
                <a:cxn ang="0">
                  <a:pos x="90" y="148"/>
                </a:cxn>
                <a:cxn ang="0">
                  <a:pos x="114" y="162"/>
                </a:cxn>
                <a:cxn ang="0">
                  <a:pos x="140" y="174"/>
                </a:cxn>
                <a:cxn ang="0">
                  <a:pos x="166" y="92"/>
                </a:cxn>
                <a:cxn ang="0">
                  <a:pos x="166" y="92"/>
                </a:cxn>
                <a:cxn ang="0">
                  <a:pos x="152" y="84"/>
                </a:cxn>
                <a:cxn ang="0">
                  <a:pos x="138" y="76"/>
                </a:cxn>
                <a:cxn ang="0">
                  <a:pos x="126" y="66"/>
                </a:cxn>
                <a:cxn ang="0">
                  <a:pos x="114" y="54"/>
                </a:cxn>
                <a:cxn ang="0">
                  <a:pos x="104" y="42"/>
                </a:cxn>
                <a:cxn ang="0">
                  <a:pos x="96" y="28"/>
                </a:cxn>
                <a:cxn ang="0">
                  <a:pos x="90" y="14"/>
                </a:cxn>
                <a:cxn ang="0">
                  <a:pos x="84" y="0"/>
                </a:cxn>
                <a:cxn ang="0">
                  <a:pos x="84" y="0"/>
                </a:cxn>
              </a:cxnLst>
              <a:rect l="0" t="0" r="r" b="b"/>
              <a:pathLst>
                <a:path w="166" h="174">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w="9525">
              <a:noFill/>
              <a:round/>
              <a:headEnd/>
              <a:tailEnd/>
            </a:ln>
          </p:spPr>
          <p:txBody>
            <a:bodyPr/>
            <a:lstStyle/>
            <a:p>
              <a:endParaRPr lang="en-US"/>
            </a:p>
          </p:txBody>
        </p:sp>
        <p:sp>
          <p:nvSpPr>
            <p:cNvPr id="2120" name="Freeform 72"/>
            <p:cNvSpPr>
              <a:spLocks/>
            </p:cNvSpPr>
            <p:nvPr/>
          </p:nvSpPr>
          <p:spPr bwMode="auto">
            <a:xfrm>
              <a:off x="5345" y="3948"/>
              <a:ext cx="127" cy="132"/>
            </a:xfrm>
            <a:custGeom>
              <a:avLst/>
              <a:gdLst/>
              <a:ahLst/>
              <a:cxnLst>
                <a:cxn ang="0">
                  <a:pos x="84" y="174"/>
                </a:cxn>
                <a:cxn ang="0">
                  <a:pos x="168" y="156"/>
                </a:cxn>
                <a:cxn ang="0">
                  <a:pos x="168" y="156"/>
                </a:cxn>
                <a:cxn ang="0">
                  <a:pos x="160" y="130"/>
                </a:cxn>
                <a:cxn ang="0">
                  <a:pos x="148" y="106"/>
                </a:cxn>
                <a:cxn ang="0">
                  <a:pos x="134" y="84"/>
                </a:cxn>
                <a:cxn ang="0">
                  <a:pos x="118" y="62"/>
                </a:cxn>
                <a:cxn ang="0">
                  <a:pos x="98" y="44"/>
                </a:cxn>
                <a:cxn ang="0">
                  <a:pos x="76" y="26"/>
                </a:cxn>
                <a:cxn ang="0">
                  <a:pos x="54" y="12"/>
                </a:cxn>
                <a:cxn ang="0">
                  <a:pos x="28" y="0"/>
                </a:cxn>
                <a:cxn ang="0">
                  <a:pos x="0" y="82"/>
                </a:cxn>
                <a:cxn ang="0">
                  <a:pos x="0" y="82"/>
                </a:cxn>
                <a:cxn ang="0">
                  <a:pos x="16" y="90"/>
                </a:cxn>
                <a:cxn ang="0">
                  <a:pos x="30" y="98"/>
                </a:cxn>
                <a:cxn ang="0">
                  <a:pos x="42" y="108"/>
                </a:cxn>
                <a:cxn ang="0">
                  <a:pos x="54" y="120"/>
                </a:cxn>
                <a:cxn ang="0">
                  <a:pos x="64" y="132"/>
                </a:cxn>
                <a:cxn ang="0">
                  <a:pos x="72" y="144"/>
                </a:cxn>
                <a:cxn ang="0">
                  <a:pos x="78" y="160"/>
                </a:cxn>
                <a:cxn ang="0">
                  <a:pos x="84" y="174"/>
                </a:cxn>
                <a:cxn ang="0">
                  <a:pos x="84" y="174"/>
                </a:cxn>
              </a:cxnLst>
              <a:rect l="0" t="0" r="r" b="b"/>
              <a:pathLst>
                <a:path w="168" h="174">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tx1"/>
            </a:solidFill>
            <a:ln w="9525">
              <a:noFill/>
              <a:round/>
              <a:headEnd/>
              <a:tailEnd/>
            </a:ln>
          </p:spPr>
          <p:txBody>
            <a:bodyPr/>
            <a:lstStyle/>
            <a:p>
              <a:endParaRPr lang="en-US"/>
            </a:p>
          </p:txBody>
        </p:sp>
        <p:sp>
          <p:nvSpPr>
            <p:cNvPr id="2121" name="Freeform 73"/>
            <p:cNvSpPr>
              <a:spLocks/>
            </p:cNvSpPr>
            <p:nvPr/>
          </p:nvSpPr>
          <p:spPr bwMode="auto">
            <a:xfrm>
              <a:off x="5258" y="4197"/>
              <a:ext cx="156" cy="88"/>
            </a:xfrm>
            <a:custGeom>
              <a:avLst/>
              <a:gdLst/>
              <a:ahLst/>
              <a:cxnLst>
                <a:cxn ang="0">
                  <a:pos x="26" y="26"/>
                </a:cxn>
                <a:cxn ang="0">
                  <a:pos x="0" y="108"/>
                </a:cxn>
                <a:cxn ang="0">
                  <a:pos x="0" y="108"/>
                </a:cxn>
                <a:cxn ang="0">
                  <a:pos x="28" y="114"/>
                </a:cxn>
                <a:cxn ang="0">
                  <a:pos x="56" y="116"/>
                </a:cxn>
                <a:cxn ang="0">
                  <a:pos x="82" y="116"/>
                </a:cxn>
                <a:cxn ang="0">
                  <a:pos x="110" y="112"/>
                </a:cxn>
                <a:cxn ang="0">
                  <a:pos x="136" y="104"/>
                </a:cxn>
                <a:cxn ang="0">
                  <a:pos x="160" y="94"/>
                </a:cxn>
                <a:cxn ang="0">
                  <a:pos x="184" y="80"/>
                </a:cxn>
                <a:cxn ang="0">
                  <a:pos x="206" y="64"/>
                </a:cxn>
                <a:cxn ang="0">
                  <a:pos x="148" y="0"/>
                </a:cxn>
                <a:cxn ang="0">
                  <a:pos x="148" y="0"/>
                </a:cxn>
                <a:cxn ang="0">
                  <a:pos x="134" y="10"/>
                </a:cxn>
                <a:cxn ang="0">
                  <a:pos x="120" y="18"/>
                </a:cxn>
                <a:cxn ang="0">
                  <a:pos x="106" y="24"/>
                </a:cxn>
                <a:cxn ang="0">
                  <a:pos x="90" y="28"/>
                </a:cxn>
                <a:cxn ang="0">
                  <a:pos x="74" y="30"/>
                </a:cxn>
                <a:cxn ang="0">
                  <a:pos x="58" y="30"/>
                </a:cxn>
                <a:cxn ang="0">
                  <a:pos x="42" y="30"/>
                </a:cxn>
                <a:cxn ang="0">
                  <a:pos x="26" y="26"/>
                </a:cxn>
                <a:cxn ang="0">
                  <a:pos x="26" y="26"/>
                </a:cxn>
              </a:cxnLst>
              <a:rect l="0" t="0" r="r" b="b"/>
              <a:pathLst>
                <a:path w="206" h="11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w="9525">
              <a:noFill/>
              <a:round/>
              <a:headEnd/>
              <a:tailEnd/>
            </a:ln>
          </p:spPr>
          <p:txBody>
            <a:bodyPr/>
            <a:lstStyle/>
            <a:p>
              <a:endParaRPr lang="en-US"/>
            </a:p>
          </p:txBody>
        </p:sp>
      </p:grpSp>
      <p:grpSp>
        <p:nvGrpSpPr>
          <p:cNvPr id="2122" name="Group 74"/>
          <p:cNvGrpSpPr>
            <a:grpSpLocks/>
          </p:cNvGrpSpPr>
          <p:nvPr/>
        </p:nvGrpSpPr>
        <p:grpSpPr bwMode="auto">
          <a:xfrm>
            <a:off x="457200" y="1143000"/>
            <a:ext cx="219075" cy="219075"/>
            <a:chOff x="5114" y="3685"/>
            <a:chExt cx="246" cy="246"/>
          </a:xfrm>
        </p:grpSpPr>
        <p:sp>
          <p:nvSpPr>
            <p:cNvPr id="2123" name="Freeform 75"/>
            <p:cNvSpPr>
              <a:spLocks/>
            </p:cNvSpPr>
            <p:nvPr/>
          </p:nvSpPr>
          <p:spPr bwMode="auto">
            <a:xfrm>
              <a:off x="5135" y="3845"/>
              <a:ext cx="94" cy="86"/>
            </a:xfrm>
            <a:custGeom>
              <a:avLst/>
              <a:gdLst/>
              <a:ahLst/>
              <a:cxnLst>
                <a:cxn ang="0">
                  <a:pos x="70" y="0"/>
                </a:cxn>
                <a:cxn ang="0">
                  <a:pos x="0" y="42"/>
                </a:cxn>
                <a:cxn ang="0">
                  <a:pos x="0" y="42"/>
                </a:cxn>
                <a:cxn ang="0">
                  <a:pos x="10" y="56"/>
                </a:cxn>
                <a:cxn ang="0">
                  <a:pos x="22" y="70"/>
                </a:cxn>
                <a:cxn ang="0">
                  <a:pos x="36" y="82"/>
                </a:cxn>
                <a:cxn ang="0">
                  <a:pos x="52" y="92"/>
                </a:cxn>
                <a:cxn ang="0">
                  <a:pos x="68" y="100"/>
                </a:cxn>
                <a:cxn ang="0">
                  <a:pos x="86" y="108"/>
                </a:cxn>
                <a:cxn ang="0">
                  <a:pos x="104" y="112"/>
                </a:cxn>
                <a:cxn ang="0">
                  <a:pos x="124" y="114"/>
                </a:cxn>
                <a:cxn ang="0">
                  <a:pos x="124" y="32"/>
                </a:cxn>
                <a:cxn ang="0">
                  <a:pos x="124" y="32"/>
                </a:cxn>
                <a:cxn ang="0">
                  <a:pos x="108" y="28"/>
                </a:cxn>
                <a:cxn ang="0">
                  <a:pos x="94" y="22"/>
                </a:cxn>
                <a:cxn ang="0">
                  <a:pos x="82" y="12"/>
                </a:cxn>
                <a:cxn ang="0">
                  <a:pos x="70" y="0"/>
                </a:cxn>
                <a:cxn ang="0">
                  <a:pos x="70" y="0"/>
                </a:cxn>
              </a:cxnLst>
              <a:rect l="0" t="0" r="r" b="b"/>
              <a:pathLst>
                <a:path w="124" h="11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w="9525">
              <a:noFill/>
              <a:round/>
              <a:headEnd/>
              <a:tailEnd/>
            </a:ln>
          </p:spPr>
          <p:txBody>
            <a:bodyPr/>
            <a:lstStyle/>
            <a:p>
              <a:endParaRPr lang="en-US"/>
            </a:p>
          </p:txBody>
        </p:sp>
        <p:sp>
          <p:nvSpPr>
            <p:cNvPr id="2124" name="Freeform 76"/>
            <p:cNvSpPr>
              <a:spLocks/>
            </p:cNvSpPr>
            <p:nvPr/>
          </p:nvSpPr>
          <p:spPr bwMode="auto">
            <a:xfrm>
              <a:off x="5135" y="3685"/>
              <a:ext cx="94" cy="87"/>
            </a:xfrm>
            <a:custGeom>
              <a:avLst/>
              <a:gdLst/>
              <a:ahLst/>
              <a:cxnLst>
                <a:cxn ang="0">
                  <a:pos x="124" y="82"/>
                </a:cxn>
                <a:cxn ang="0">
                  <a:pos x="124" y="0"/>
                </a:cxn>
                <a:cxn ang="0">
                  <a:pos x="124" y="0"/>
                </a:cxn>
                <a:cxn ang="0">
                  <a:pos x="104" y="2"/>
                </a:cxn>
                <a:cxn ang="0">
                  <a:pos x="86" y="8"/>
                </a:cxn>
                <a:cxn ang="0">
                  <a:pos x="68" y="14"/>
                </a:cxn>
                <a:cxn ang="0">
                  <a:pos x="52" y="22"/>
                </a:cxn>
                <a:cxn ang="0">
                  <a:pos x="36" y="32"/>
                </a:cxn>
                <a:cxn ang="0">
                  <a:pos x="22" y="44"/>
                </a:cxn>
                <a:cxn ang="0">
                  <a:pos x="10" y="58"/>
                </a:cxn>
                <a:cxn ang="0">
                  <a:pos x="0" y="72"/>
                </a:cxn>
                <a:cxn ang="0">
                  <a:pos x="70" y="114"/>
                </a:cxn>
                <a:cxn ang="0">
                  <a:pos x="70" y="114"/>
                </a:cxn>
                <a:cxn ang="0">
                  <a:pos x="82" y="102"/>
                </a:cxn>
                <a:cxn ang="0">
                  <a:pos x="94" y="92"/>
                </a:cxn>
                <a:cxn ang="0">
                  <a:pos x="108" y="86"/>
                </a:cxn>
                <a:cxn ang="0">
                  <a:pos x="124" y="82"/>
                </a:cxn>
                <a:cxn ang="0">
                  <a:pos x="124" y="82"/>
                </a:cxn>
              </a:cxnLst>
              <a:rect l="0" t="0" r="r" b="b"/>
              <a:pathLst>
                <a:path w="124" h="11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w="9525">
              <a:noFill/>
              <a:round/>
              <a:headEnd/>
              <a:tailEnd/>
            </a:ln>
          </p:spPr>
          <p:txBody>
            <a:bodyPr/>
            <a:lstStyle/>
            <a:p>
              <a:endParaRPr lang="en-US"/>
            </a:p>
          </p:txBody>
        </p:sp>
        <p:sp>
          <p:nvSpPr>
            <p:cNvPr id="2125" name="Freeform 77"/>
            <p:cNvSpPr>
              <a:spLocks/>
            </p:cNvSpPr>
            <p:nvPr/>
          </p:nvSpPr>
          <p:spPr bwMode="auto">
            <a:xfrm>
              <a:off x="5114" y="3754"/>
              <a:ext cx="67" cy="109"/>
            </a:xfrm>
            <a:custGeom>
              <a:avLst/>
              <a:gdLst/>
              <a:ahLst/>
              <a:cxnLst>
                <a:cxn ang="0">
                  <a:pos x="82" y="72"/>
                </a:cxn>
                <a:cxn ang="0">
                  <a:pos x="82" y="72"/>
                </a:cxn>
                <a:cxn ang="0">
                  <a:pos x="84" y="56"/>
                </a:cxn>
                <a:cxn ang="0">
                  <a:pos x="88" y="42"/>
                </a:cxn>
                <a:cxn ang="0">
                  <a:pos x="18" y="0"/>
                </a:cxn>
                <a:cxn ang="0">
                  <a:pos x="18" y="0"/>
                </a:cxn>
                <a:cxn ang="0">
                  <a:pos x="10" y="16"/>
                </a:cxn>
                <a:cxn ang="0">
                  <a:pos x="4" y="34"/>
                </a:cxn>
                <a:cxn ang="0">
                  <a:pos x="2" y="54"/>
                </a:cxn>
                <a:cxn ang="0">
                  <a:pos x="0" y="72"/>
                </a:cxn>
                <a:cxn ang="0">
                  <a:pos x="0" y="72"/>
                </a:cxn>
                <a:cxn ang="0">
                  <a:pos x="2" y="92"/>
                </a:cxn>
                <a:cxn ang="0">
                  <a:pos x="4" y="110"/>
                </a:cxn>
                <a:cxn ang="0">
                  <a:pos x="10" y="128"/>
                </a:cxn>
                <a:cxn ang="0">
                  <a:pos x="18" y="144"/>
                </a:cxn>
                <a:cxn ang="0">
                  <a:pos x="88" y="104"/>
                </a:cxn>
                <a:cxn ang="0">
                  <a:pos x="88" y="104"/>
                </a:cxn>
                <a:cxn ang="0">
                  <a:pos x="84" y="88"/>
                </a:cxn>
                <a:cxn ang="0">
                  <a:pos x="82" y="72"/>
                </a:cxn>
                <a:cxn ang="0">
                  <a:pos x="82" y="72"/>
                </a:cxn>
              </a:cxnLst>
              <a:rect l="0" t="0" r="r" b="b"/>
              <a:pathLst>
                <a:path w="88" h="144">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w="9525">
              <a:noFill/>
              <a:round/>
              <a:headEnd/>
              <a:tailEnd/>
            </a:ln>
          </p:spPr>
          <p:txBody>
            <a:bodyPr/>
            <a:lstStyle/>
            <a:p>
              <a:endParaRPr lang="en-US"/>
            </a:p>
          </p:txBody>
        </p:sp>
        <p:sp>
          <p:nvSpPr>
            <p:cNvPr id="2126" name="Freeform 78"/>
            <p:cNvSpPr>
              <a:spLocks/>
            </p:cNvSpPr>
            <p:nvPr/>
          </p:nvSpPr>
          <p:spPr bwMode="auto">
            <a:xfrm>
              <a:off x="5293" y="3754"/>
              <a:ext cx="67" cy="109"/>
            </a:xfrm>
            <a:custGeom>
              <a:avLst/>
              <a:gdLst/>
              <a:ahLst/>
              <a:cxnLst>
                <a:cxn ang="0">
                  <a:pos x="6" y="72"/>
                </a:cxn>
                <a:cxn ang="0">
                  <a:pos x="6" y="72"/>
                </a:cxn>
                <a:cxn ang="0">
                  <a:pos x="6" y="88"/>
                </a:cxn>
                <a:cxn ang="0">
                  <a:pos x="0" y="104"/>
                </a:cxn>
                <a:cxn ang="0">
                  <a:pos x="72" y="144"/>
                </a:cxn>
                <a:cxn ang="0">
                  <a:pos x="72" y="144"/>
                </a:cxn>
                <a:cxn ang="0">
                  <a:pos x="78" y="128"/>
                </a:cxn>
                <a:cxn ang="0">
                  <a:pos x="84" y="110"/>
                </a:cxn>
                <a:cxn ang="0">
                  <a:pos x="88" y="92"/>
                </a:cxn>
                <a:cxn ang="0">
                  <a:pos x="88" y="72"/>
                </a:cxn>
                <a:cxn ang="0">
                  <a:pos x="88" y="72"/>
                </a:cxn>
                <a:cxn ang="0">
                  <a:pos x="88" y="54"/>
                </a:cxn>
                <a:cxn ang="0">
                  <a:pos x="84" y="34"/>
                </a:cxn>
                <a:cxn ang="0">
                  <a:pos x="78" y="16"/>
                </a:cxn>
                <a:cxn ang="0">
                  <a:pos x="72" y="0"/>
                </a:cxn>
                <a:cxn ang="0">
                  <a:pos x="0" y="42"/>
                </a:cxn>
                <a:cxn ang="0">
                  <a:pos x="0" y="42"/>
                </a:cxn>
                <a:cxn ang="0">
                  <a:pos x="6" y="56"/>
                </a:cxn>
                <a:cxn ang="0">
                  <a:pos x="6" y="72"/>
                </a:cxn>
                <a:cxn ang="0">
                  <a:pos x="6" y="72"/>
                </a:cxn>
              </a:cxnLst>
              <a:rect l="0" t="0" r="r" b="b"/>
              <a:pathLst>
                <a:path w="88" h="144">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tx2"/>
            </a:solidFill>
            <a:ln w="9525">
              <a:noFill/>
              <a:round/>
              <a:headEnd/>
              <a:tailEnd/>
            </a:ln>
          </p:spPr>
          <p:txBody>
            <a:bodyPr/>
            <a:lstStyle/>
            <a:p>
              <a:endParaRPr lang="en-US"/>
            </a:p>
          </p:txBody>
        </p:sp>
        <p:sp>
          <p:nvSpPr>
            <p:cNvPr id="2127" name="Freeform 79"/>
            <p:cNvSpPr>
              <a:spLocks/>
            </p:cNvSpPr>
            <p:nvPr/>
          </p:nvSpPr>
          <p:spPr bwMode="auto">
            <a:xfrm>
              <a:off x="5245" y="3845"/>
              <a:ext cx="95" cy="86"/>
            </a:xfrm>
            <a:custGeom>
              <a:avLst/>
              <a:gdLst/>
              <a:ahLst/>
              <a:cxnLst>
                <a:cxn ang="0">
                  <a:pos x="0" y="32"/>
                </a:cxn>
                <a:cxn ang="0">
                  <a:pos x="0" y="114"/>
                </a:cxn>
                <a:cxn ang="0">
                  <a:pos x="0" y="114"/>
                </a:cxn>
                <a:cxn ang="0">
                  <a:pos x="20" y="112"/>
                </a:cxn>
                <a:cxn ang="0">
                  <a:pos x="38" y="108"/>
                </a:cxn>
                <a:cxn ang="0">
                  <a:pos x="56" y="100"/>
                </a:cxn>
                <a:cxn ang="0">
                  <a:pos x="72" y="92"/>
                </a:cxn>
                <a:cxn ang="0">
                  <a:pos x="88" y="82"/>
                </a:cxn>
                <a:cxn ang="0">
                  <a:pos x="102" y="70"/>
                </a:cxn>
                <a:cxn ang="0">
                  <a:pos x="114" y="56"/>
                </a:cxn>
                <a:cxn ang="0">
                  <a:pos x="126" y="42"/>
                </a:cxn>
                <a:cxn ang="0">
                  <a:pos x="54" y="0"/>
                </a:cxn>
                <a:cxn ang="0">
                  <a:pos x="54" y="0"/>
                </a:cxn>
                <a:cxn ang="0">
                  <a:pos x="44" y="12"/>
                </a:cxn>
                <a:cxn ang="0">
                  <a:pos x="30" y="22"/>
                </a:cxn>
                <a:cxn ang="0">
                  <a:pos x="16" y="28"/>
                </a:cxn>
                <a:cxn ang="0">
                  <a:pos x="0" y="32"/>
                </a:cxn>
                <a:cxn ang="0">
                  <a:pos x="0" y="32"/>
                </a:cxn>
              </a:cxnLst>
              <a:rect l="0" t="0" r="r" b="b"/>
              <a:pathLst>
                <a:path w="126" h="114">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tx2"/>
            </a:solidFill>
            <a:ln w="9525">
              <a:noFill/>
              <a:round/>
              <a:headEnd/>
              <a:tailEnd/>
            </a:ln>
          </p:spPr>
          <p:txBody>
            <a:bodyPr/>
            <a:lstStyle/>
            <a:p>
              <a:endParaRPr lang="en-US"/>
            </a:p>
          </p:txBody>
        </p:sp>
        <p:sp>
          <p:nvSpPr>
            <p:cNvPr id="2128" name="Freeform 80"/>
            <p:cNvSpPr>
              <a:spLocks/>
            </p:cNvSpPr>
            <p:nvPr/>
          </p:nvSpPr>
          <p:spPr bwMode="auto">
            <a:xfrm>
              <a:off x="5245" y="3685"/>
              <a:ext cx="95" cy="87"/>
            </a:xfrm>
            <a:custGeom>
              <a:avLst/>
              <a:gdLst/>
              <a:ahLst/>
              <a:cxnLst>
                <a:cxn ang="0">
                  <a:pos x="54" y="114"/>
                </a:cxn>
                <a:cxn ang="0">
                  <a:pos x="126" y="72"/>
                </a:cxn>
                <a:cxn ang="0">
                  <a:pos x="126" y="72"/>
                </a:cxn>
                <a:cxn ang="0">
                  <a:pos x="114" y="58"/>
                </a:cxn>
                <a:cxn ang="0">
                  <a:pos x="102" y="44"/>
                </a:cxn>
                <a:cxn ang="0">
                  <a:pos x="88" y="32"/>
                </a:cxn>
                <a:cxn ang="0">
                  <a:pos x="72" y="22"/>
                </a:cxn>
                <a:cxn ang="0">
                  <a:pos x="56" y="14"/>
                </a:cxn>
                <a:cxn ang="0">
                  <a:pos x="38" y="8"/>
                </a:cxn>
                <a:cxn ang="0">
                  <a:pos x="20" y="2"/>
                </a:cxn>
                <a:cxn ang="0">
                  <a:pos x="0" y="0"/>
                </a:cxn>
                <a:cxn ang="0">
                  <a:pos x="0" y="82"/>
                </a:cxn>
                <a:cxn ang="0">
                  <a:pos x="0" y="82"/>
                </a:cxn>
                <a:cxn ang="0">
                  <a:pos x="16" y="86"/>
                </a:cxn>
                <a:cxn ang="0">
                  <a:pos x="30" y="92"/>
                </a:cxn>
                <a:cxn ang="0">
                  <a:pos x="44" y="102"/>
                </a:cxn>
                <a:cxn ang="0">
                  <a:pos x="54" y="114"/>
                </a:cxn>
                <a:cxn ang="0">
                  <a:pos x="54" y="114"/>
                </a:cxn>
              </a:cxnLst>
              <a:rect l="0" t="0" r="r" b="b"/>
              <a:pathLst>
                <a:path w="126" h="114">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w="9525">
              <a:noFill/>
              <a:round/>
              <a:headEnd/>
              <a:tailEnd/>
            </a:ln>
          </p:spPr>
          <p:txBody>
            <a:bodyPr/>
            <a:lstStyle/>
            <a:p>
              <a:endParaRPr 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2"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par>
                                <p:cTn id="8" presetID="8" presetClass="emph" presetSubtype="0" fill="hold" nodeType="withEffect">
                                  <p:stCondLst>
                                    <p:cond delay="0"/>
                                  </p:stCondLst>
                                  <p:childTnLst>
                                    <p:animRot by="21600000">
                                      <p:cBhvr>
                                        <p:cTn id="9" dur="1000" fill="hold"/>
                                        <p:tgtEl>
                                          <p:spTgt spid="2115"/>
                                        </p:tgtEl>
                                        <p:attrNameLst>
                                          <p:attrName>r</p:attrName>
                                        </p:attrNameLst>
                                      </p:cBhvr>
                                    </p:animRot>
                                  </p:childTnLst>
                                </p:cTn>
                              </p:par>
                              <p:par>
                                <p:cTn id="10" presetID="8" presetClass="emph" presetSubtype="0" fill="hold" nodeType="withEffect">
                                  <p:stCondLst>
                                    <p:cond delay="0"/>
                                  </p:stCondLst>
                                  <p:childTnLst>
                                    <p:animRot by="21600000">
                                      <p:cBhvr>
                                        <p:cTn id="11" dur="1000" fill="hold"/>
                                        <p:tgtEl>
                                          <p:spTgt spid="2122"/>
                                        </p:tgtEl>
                                        <p:attrNameLst>
                                          <p:attrName>r</p:attrName>
                                        </p:attrNameLst>
                                      </p:cBhvr>
                                    </p:animRot>
                                  </p:childTnLst>
                                </p:cTn>
                              </p:par>
                              <p:par>
                                <p:cTn id="12" presetID="2" presetClass="entr" presetSubtype="4" fill="hold" nodeType="withEffect">
                                  <p:stCondLst>
                                    <p:cond delay="0"/>
                                  </p:stCondLst>
                                  <p:childTnLst>
                                    <p:set>
                                      <p:cBhvr>
                                        <p:cTn id="13" dur="1" fill="hold">
                                          <p:stCondLst>
                                            <p:cond delay="0"/>
                                          </p:stCondLst>
                                        </p:cTn>
                                        <p:tgtEl>
                                          <p:spTgt spid="2051">
                                            <p:txEl>
                                              <p:pRg st="0" end="0"/>
                                            </p:txEl>
                                          </p:spTgt>
                                        </p:tgtEl>
                                        <p:attrNameLst>
                                          <p:attrName>style.visibility</p:attrName>
                                        </p:attrNameLst>
                                      </p:cBhvr>
                                      <p:to>
                                        <p:strVal val="visible"/>
                                      </p:to>
                                    </p:set>
                                    <p:anim calcmode="lin" valueType="num">
                                      <p:cBhvr additive="base">
                                        <p:cTn id="14" dur="500" fill="hold"/>
                                        <p:tgtEl>
                                          <p:spTgt spid="2051">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051">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2051">
                                            <p:txEl>
                                              <p:pRg st="1" end="1"/>
                                            </p:txEl>
                                          </p:spTgt>
                                        </p:tgtEl>
                                        <p:attrNameLst>
                                          <p:attrName>style.visibility</p:attrName>
                                        </p:attrNameLst>
                                      </p:cBhvr>
                                      <p:to>
                                        <p:strVal val="visible"/>
                                      </p:to>
                                    </p:set>
                                    <p:anim calcmode="lin" valueType="num">
                                      <p:cBhvr additive="base">
                                        <p:cTn id="18" dur="500" fill="hold"/>
                                        <p:tgtEl>
                                          <p:spTgt spid="205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051">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051">
                                            <p:txEl>
                                              <p:pRg st="2" end="2"/>
                                            </p:txEl>
                                          </p:spTgt>
                                        </p:tgtEl>
                                        <p:attrNameLst>
                                          <p:attrName>style.visibility</p:attrName>
                                        </p:attrNameLst>
                                      </p:cBhvr>
                                      <p:to>
                                        <p:strVal val="visible"/>
                                      </p:to>
                                    </p:set>
                                    <p:anim calcmode="lin" valueType="num">
                                      <p:cBhvr additive="base">
                                        <p:cTn id="22" dur="500" fill="hold"/>
                                        <p:tgtEl>
                                          <p:spTgt spid="2051">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0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2"/>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chemeClr val="accent6"/>
                </a:solidFill>
              </a:rPr>
              <a:t>Outline</a:t>
            </a:r>
          </a:p>
        </p:txBody>
      </p:sp>
      <p:sp>
        <p:nvSpPr>
          <p:cNvPr id="4099" name="Rectangle 3"/>
          <p:cNvSpPr>
            <a:spLocks noGrp="1" noChangeArrowheads="1"/>
          </p:cNvSpPr>
          <p:nvPr>
            <p:ph type="body" idx="1"/>
          </p:nvPr>
        </p:nvSpPr>
        <p:spPr>
          <a:xfrm>
            <a:off x="428625" y="1296987"/>
            <a:ext cx="8229600" cy="4495801"/>
          </a:xfrm>
        </p:spPr>
        <p:txBody>
          <a:bodyPr/>
          <a:lstStyle/>
          <a:p>
            <a:r>
              <a:rPr lang="en-US" sz="2400" dirty="0" smtClean="0"/>
              <a:t>Is Java still relevant?</a:t>
            </a:r>
          </a:p>
          <a:p>
            <a:r>
              <a:rPr lang="en-US" sz="2400" dirty="0" smtClean="0"/>
              <a:t>History </a:t>
            </a:r>
            <a:r>
              <a:rPr lang="en-US" sz="2400" dirty="0"/>
              <a:t>of OOP Language</a:t>
            </a:r>
          </a:p>
          <a:p>
            <a:r>
              <a:rPr lang="en-US" sz="2400" dirty="0"/>
              <a:t>History of Java</a:t>
            </a:r>
          </a:p>
          <a:p>
            <a:r>
              <a:rPr lang="en-US" sz="2400" dirty="0"/>
              <a:t>Object-Oriented Programming System</a:t>
            </a:r>
          </a:p>
          <a:p>
            <a:r>
              <a:rPr lang="en-US" sz="2400" dirty="0"/>
              <a:t>What’s an Object?</a:t>
            </a:r>
          </a:p>
          <a:p>
            <a:r>
              <a:rPr lang="en-US" sz="2400" dirty="0"/>
              <a:t>Features of Java</a:t>
            </a:r>
          </a:p>
          <a:p>
            <a:r>
              <a:rPr lang="en-US" sz="2400" dirty="0"/>
              <a:t>Basics of Java Environments</a:t>
            </a:r>
          </a:p>
          <a:p>
            <a:r>
              <a:rPr lang="en-US" sz="2400" dirty="0"/>
              <a:t>Versions of Java</a:t>
            </a:r>
          </a:p>
          <a:p>
            <a:endParaRPr lang="en-US" sz="2400" dirty="0"/>
          </a:p>
          <a:p>
            <a:endParaRPr lang="en-US" sz="2400" dirty="0"/>
          </a:p>
          <a:p>
            <a:endParaRPr lang="en-US" sz="2400" noProof="1"/>
          </a:p>
        </p:txBody>
      </p:sp>
      <p:grpSp>
        <p:nvGrpSpPr>
          <p:cNvPr id="4107"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a:p>
          </p:txBody>
        </p:sp>
      </p:grpSp>
      <p:grpSp>
        <p:nvGrpSpPr>
          <p:cNvPr id="4124" name="Group 28"/>
          <p:cNvGrpSpPr>
            <a:grpSpLocks/>
          </p:cNvGrpSpPr>
          <p:nvPr/>
        </p:nvGrpSpPr>
        <p:grpSpPr bwMode="auto">
          <a:xfrm>
            <a:off x="8494713" y="5792788"/>
            <a:ext cx="554037" cy="552450"/>
            <a:chOff x="5369" y="3667"/>
            <a:chExt cx="349" cy="348"/>
          </a:xfrm>
        </p:grpSpPr>
        <p:sp>
          <p:nvSpPr>
            <p:cNvPr id="4125" name="Freeform 29"/>
            <p:cNvSpPr>
              <a:spLocks/>
            </p:cNvSpPr>
            <p:nvPr/>
          </p:nvSpPr>
          <p:spPr bwMode="auto">
            <a:xfrm>
              <a:off x="5396" y="3667"/>
              <a:ext cx="138" cy="112"/>
            </a:xfrm>
            <a:custGeom>
              <a:avLst/>
              <a:gdLst/>
              <a:ahLst/>
              <a:cxnLst>
                <a:cxn ang="0">
                  <a:pos x="182" y="86"/>
                </a:cxn>
                <a:cxn ang="0">
                  <a:pos x="182" y="0"/>
                </a:cxn>
                <a:cxn ang="0">
                  <a:pos x="182" y="0"/>
                </a:cxn>
                <a:cxn ang="0">
                  <a:pos x="154" y="2"/>
                </a:cxn>
                <a:cxn ang="0">
                  <a:pos x="128" y="10"/>
                </a:cxn>
                <a:cxn ang="0">
                  <a:pos x="102" y="18"/>
                </a:cxn>
                <a:cxn ang="0">
                  <a:pos x="78" y="30"/>
                </a:cxn>
                <a:cxn ang="0">
                  <a:pos x="56" y="46"/>
                </a:cxn>
                <a:cxn ang="0">
                  <a:pos x="36" y="64"/>
                </a:cxn>
                <a:cxn ang="0">
                  <a:pos x="16" y="82"/>
                </a:cxn>
                <a:cxn ang="0">
                  <a:pos x="0" y="104"/>
                </a:cxn>
                <a:cxn ang="0">
                  <a:pos x="76" y="148"/>
                </a:cxn>
                <a:cxn ang="0">
                  <a:pos x="76" y="148"/>
                </a:cxn>
                <a:cxn ang="0">
                  <a:pos x="86" y="136"/>
                </a:cxn>
                <a:cxn ang="0">
                  <a:pos x="96" y="124"/>
                </a:cxn>
                <a:cxn ang="0">
                  <a:pos x="108" y="114"/>
                </a:cxn>
                <a:cxn ang="0">
                  <a:pos x="122" y="104"/>
                </a:cxn>
                <a:cxn ang="0">
                  <a:pos x="136" y="98"/>
                </a:cxn>
                <a:cxn ang="0">
                  <a:pos x="150" y="92"/>
                </a:cxn>
                <a:cxn ang="0">
                  <a:pos x="166" y="88"/>
                </a:cxn>
                <a:cxn ang="0">
                  <a:pos x="182" y="86"/>
                </a:cxn>
                <a:cxn ang="0">
                  <a:pos x="182" y="86"/>
                </a:cxn>
              </a:cxnLst>
              <a:rect l="0" t="0" r="r" b="b"/>
              <a:pathLst>
                <a:path w="182" h="148">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w="9525">
              <a:noFill/>
              <a:round/>
              <a:headEnd/>
              <a:tailEnd/>
            </a:ln>
          </p:spPr>
          <p:txBody>
            <a:bodyPr/>
            <a:lstStyle/>
            <a:p>
              <a:endParaRPr lang="en-US"/>
            </a:p>
          </p:txBody>
        </p:sp>
        <p:sp>
          <p:nvSpPr>
            <p:cNvPr id="4126" name="Freeform 30"/>
            <p:cNvSpPr>
              <a:spLocks/>
            </p:cNvSpPr>
            <p:nvPr/>
          </p:nvSpPr>
          <p:spPr bwMode="auto">
            <a:xfrm>
              <a:off x="5642" y="3761"/>
              <a:ext cx="76" cy="160"/>
            </a:xfrm>
            <a:custGeom>
              <a:avLst/>
              <a:gdLst/>
              <a:ahLst/>
              <a:cxnLst>
                <a:cxn ang="0">
                  <a:pos x="14" y="106"/>
                </a:cxn>
                <a:cxn ang="0">
                  <a:pos x="14" y="106"/>
                </a:cxn>
                <a:cxn ang="0">
                  <a:pos x="14" y="122"/>
                </a:cxn>
                <a:cxn ang="0">
                  <a:pos x="10" y="138"/>
                </a:cxn>
                <a:cxn ang="0">
                  <a:pos x="6" y="152"/>
                </a:cxn>
                <a:cxn ang="0">
                  <a:pos x="0" y="168"/>
                </a:cxn>
                <a:cxn ang="0">
                  <a:pos x="74" y="210"/>
                </a:cxn>
                <a:cxn ang="0">
                  <a:pos x="74" y="210"/>
                </a:cxn>
                <a:cxn ang="0">
                  <a:pos x="86" y="186"/>
                </a:cxn>
                <a:cxn ang="0">
                  <a:pos x="94" y="160"/>
                </a:cxn>
                <a:cxn ang="0">
                  <a:pos x="98" y="134"/>
                </a:cxn>
                <a:cxn ang="0">
                  <a:pos x="100" y="106"/>
                </a:cxn>
                <a:cxn ang="0">
                  <a:pos x="100" y="106"/>
                </a:cxn>
                <a:cxn ang="0">
                  <a:pos x="98" y="78"/>
                </a:cxn>
                <a:cxn ang="0">
                  <a:pos x="94" y="50"/>
                </a:cxn>
                <a:cxn ang="0">
                  <a:pos x="86" y="24"/>
                </a:cxn>
                <a:cxn ang="0">
                  <a:pos x="74" y="0"/>
                </a:cxn>
                <a:cxn ang="0">
                  <a:pos x="0" y="44"/>
                </a:cxn>
                <a:cxn ang="0">
                  <a:pos x="0" y="44"/>
                </a:cxn>
                <a:cxn ang="0">
                  <a:pos x="6" y="58"/>
                </a:cxn>
                <a:cxn ang="0">
                  <a:pos x="10" y="72"/>
                </a:cxn>
                <a:cxn ang="0">
                  <a:pos x="14" y="88"/>
                </a:cxn>
                <a:cxn ang="0">
                  <a:pos x="14" y="106"/>
                </a:cxn>
                <a:cxn ang="0">
                  <a:pos x="14" y="106"/>
                </a:cxn>
              </a:cxnLst>
              <a:rect l="0" t="0" r="r" b="b"/>
              <a:pathLst>
                <a:path w="100" h="21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w="9525">
              <a:noFill/>
              <a:round/>
              <a:headEnd/>
              <a:tailEnd/>
            </a:ln>
          </p:spPr>
          <p:txBody>
            <a:bodyPr/>
            <a:lstStyle/>
            <a:p>
              <a:endParaRPr lang="en-US"/>
            </a:p>
          </p:txBody>
        </p:sp>
        <p:sp>
          <p:nvSpPr>
            <p:cNvPr id="4127" name="Freeform 31"/>
            <p:cNvSpPr>
              <a:spLocks/>
            </p:cNvSpPr>
            <p:nvPr/>
          </p:nvSpPr>
          <p:spPr bwMode="auto">
            <a:xfrm>
              <a:off x="5369" y="3761"/>
              <a:ext cx="76" cy="160"/>
            </a:xfrm>
            <a:custGeom>
              <a:avLst/>
              <a:gdLst/>
              <a:ahLst/>
              <a:cxnLst>
                <a:cxn ang="0">
                  <a:pos x="86" y="106"/>
                </a:cxn>
                <a:cxn ang="0">
                  <a:pos x="86" y="106"/>
                </a:cxn>
                <a:cxn ang="0">
                  <a:pos x="86" y="88"/>
                </a:cxn>
                <a:cxn ang="0">
                  <a:pos x="90" y="72"/>
                </a:cxn>
                <a:cxn ang="0">
                  <a:pos x="94" y="58"/>
                </a:cxn>
                <a:cxn ang="0">
                  <a:pos x="100" y="44"/>
                </a:cxn>
                <a:cxn ang="0">
                  <a:pos x="26" y="0"/>
                </a:cxn>
                <a:cxn ang="0">
                  <a:pos x="26" y="0"/>
                </a:cxn>
                <a:cxn ang="0">
                  <a:pos x="14" y="24"/>
                </a:cxn>
                <a:cxn ang="0">
                  <a:pos x="6" y="50"/>
                </a:cxn>
                <a:cxn ang="0">
                  <a:pos x="2" y="78"/>
                </a:cxn>
                <a:cxn ang="0">
                  <a:pos x="0" y="106"/>
                </a:cxn>
                <a:cxn ang="0">
                  <a:pos x="0" y="106"/>
                </a:cxn>
                <a:cxn ang="0">
                  <a:pos x="2" y="134"/>
                </a:cxn>
                <a:cxn ang="0">
                  <a:pos x="6" y="160"/>
                </a:cxn>
                <a:cxn ang="0">
                  <a:pos x="14" y="186"/>
                </a:cxn>
                <a:cxn ang="0">
                  <a:pos x="26" y="210"/>
                </a:cxn>
                <a:cxn ang="0">
                  <a:pos x="100" y="168"/>
                </a:cxn>
                <a:cxn ang="0">
                  <a:pos x="100" y="168"/>
                </a:cxn>
                <a:cxn ang="0">
                  <a:pos x="94" y="152"/>
                </a:cxn>
                <a:cxn ang="0">
                  <a:pos x="90" y="138"/>
                </a:cxn>
                <a:cxn ang="0">
                  <a:pos x="86" y="122"/>
                </a:cxn>
                <a:cxn ang="0">
                  <a:pos x="86" y="106"/>
                </a:cxn>
                <a:cxn ang="0">
                  <a:pos x="86" y="106"/>
                </a:cxn>
              </a:cxnLst>
              <a:rect l="0" t="0" r="r" b="b"/>
              <a:pathLst>
                <a:path w="100" h="21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tx2"/>
            </a:solidFill>
            <a:ln w="9525">
              <a:noFill/>
              <a:round/>
              <a:headEnd/>
              <a:tailEnd/>
            </a:ln>
          </p:spPr>
          <p:txBody>
            <a:bodyPr/>
            <a:lstStyle/>
            <a:p>
              <a:endParaRPr lang="en-US"/>
            </a:p>
          </p:txBody>
        </p:sp>
        <p:sp>
          <p:nvSpPr>
            <p:cNvPr id="4128" name="Freeform 32"/>
            <p:cNvSpPr>
              <a:spLocks/>
            </p:cNvSpPr>
            <p:nvPr/>
          </p:nvSpPr>
          <p:spPr bwMode="auto">
            <a:xfrm>
              <a:off x="5396" y="3902"/>
              <a:ext cx="138" cy="113"/>
            </a:xfrm>
            <a:custGeom>
              <a:avLst/>
              <a:gdLst/>
              <a:ahLst/>
              <a:cxnLst>
                <a:cxn ang="0">
                  <a:pos x="76" y="0"/>
                </a:cxn>
                <a:cxn ang="0">
                  <a:pos x="0" y="44"/>
                </a:cxn>
                <a:cxn ang="0">
                  <a:pos x="0" y="44"/>
                </a:cxn>
                <a:cxn ang="0">
                  <a:pos x="16" y="66"/>
                </a:cxn>
                <a:cxn ang="0">
                  <a:pos x="36" y="84"/>
                </a:cxn>
                <a:cxn ang="0">
                  <a:pos x="56" y="102"/>
                </a:cxn>
                <a:cxn ang="0">
                  <a:pos x="78" y="118"/>
                </a:cxn>
                <a:cxn ang="0">
                  <a:pos x="102" y="130"/>
                </a:cxn>
                <a:cxn ang="0">
                  <a:pos x="128" y="138"/>
                </a:cxn>
                <a:cxn ang="0">
                  <a:pos x="154" y="146"/>
                </a:cxn>
                <a:cxn ang="0">
                  <a:pos x="182" y="148"/>
                </a:cxn>
                <a:cxn ang="0">
                  <a:pos x="182" y="62"/>
                </a:cxn>
                <a:cxn ang="0">
                  <a:pos x="182" y="62"/>
                </a:cxn>
                <a:cxn ang="0">
                  <a:pos x="166" y="60"/>
                </a:cxn>
                <a:cxn ang="0">
                  <a:pos x="150" y="56"/>
                </a:cxn>
                <a:cxn ang="0">
                  <a:pos x="136" y="50"/>
                </a:cxn>
                <a:cxn ang="0">
                  <a:pos x="122" y="44"/>
                </a:cxn>
                <a:cxn ang="0">
                  <a:pos x="108" y="34"/>
                </a:cxn>
                <a:cxn ang="0">
                  <a:pos x="96" y="24"/>
                </a:cxn>
                <a:cxn ang="0">
                  <a:pos x="86" y="14"/>
                </a:cxn>
                <a:cxn ang="0">
                  <a:pos x="76" y="0"/>
                </a:cxn>
                <a:cxn ang="0">
                  <a:pos x="76" y="0"/>
                </a:cxn>
              </a:cxnLst>
              <a:rect l="0" t="0" r="r" b="b"/>
              <a:pathLst>
                <a:path w="182" h="148">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tx2"/>
            </a:solidFill>
            <a:ln w="9525">
              <a:noFill/>
              <a:round/>
              <a:headEnd/>
              <a:tailEnd/>
            </a:ln>
          </p:spPr>
          <p:txBody>
            <a:bodyPr/>
            <a:lstStyle/>
            <a:p>
              <a:endParaRPr lang="en-US"/>
            </a:p>
          </p:txBody>
        </p:sp>
        <p:sp>
          <p:nvSpPr>
            <p:cNvPr id="4129" name="Freeform 33"/>
            <p:cNvSpPr>
              <a:spLocks/>
            </p:cNvSpPr>
            <p:nvPr/>
          </p:nvSpPr>
          <p:spPr bwMode="auto">
            <a:xfrm>
              <a:off x="5553" y="3667"/>
              <a:ext cx="138" cy="112"/>
            </a:xfrm>
            <a:custGeom>
              <a:avLst/>
              <a:gdLst/>
              <a:ahLst/>
              <a:cxnLst>
                <a:cxn ang="0">
                  <a:pos x="106" y="148"/>
                </a:cxn>
                <a:cxn ang="0">
                  <a:pos x="182" y="104"/>
                </a:cxn>
                <a:cxn ang="0">
                  <a:pos x="182" y="104"/>
                </a:cxn>
                <a:cxn ang="0">
                  <a:pos x="166" y="82"/>
                </a:cxn>
                <a:cxn ang="0">
                  <a:pos x="148" y="64"/>
                </a:cxn>
                <a:cxn ang="0">
                  <a:pos x="126" y="46"/>
                </a:cxn>
                <a:cxn ang="0">
                  <a:pos x="104" y="30"/>
                </a:cxn>
                <a:cxn ang="0">
                  <a:pos x="80" y="18"/>
                </a:cxn>
                <a:cxn ang="0">
                  <a:pos x="54" y="10"/>
                </a:cxn>
                <a:cxn ang="0">
                  <a:pos x="28" y="2"/>
                </a:cxn>
                <a:cxn ang="0">
                  <a:pos x="0" y="0"/>
                </a:cxn>
                <a:cxn ang="0">
                  <a:pos x="0" y="86"/>
                </a:cxn>
                <a:cxn ang="0">
                  <a:pos x="0" y="86"/>
                </a:cxn>
                <a:cxn ang="0">
                  <a:pos x="16" y="88"/>
                </a:cxn>
                <a:cxn ang="0">
                  <a:pos x="32" y="92"/>
                </a:cxn>
                <a:cxn ang="0">
                  <a:pos x="46" y="98"/>
                </a:cxn>
                <a:cxn ang="0">
                  <a:pos x="60" y="104"/>
                </a:cxn>
                <a:cxn ang="0">
                  <a:pos x="74" y="114"/>
                </a:cxn>
                <a:cxn ang="0">
                  <a:pos x="86" y="124"/>
                </a:cxn>
                <a:cxn ang="0">
                  <a:pos x="98" y="136"/>
                </a:cxn>
                <a:cxn ang="0">
                  <a:pos x="106" y="148"/>
                </a:cxn>
                <a:cxn ang="0">
                  <a:pos x="106" y="148"/>
                </a:cxn>
              </a:cxnLst>
              <a:rect l="0" t="0" r="r" b="b"/>
              <a:pathLst>
                <a:path w="182" h="148">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w="9525">
              <a:noFill/>
              <a:round/>
              <a:headEnd/>
              <a:tailEnd/>
            </a:ln>
          </p:spPr>
          <p:txBody>
            <a:bodyPr/>
            <a:lstStyle/>
            <a:p>
              <a:endParaRPr lang="en-US"/>
            </a:p>
          </p:txBody>
        </p:sp>
        <p:sp>
          <p:nvSpPr>
            <p:cNvPr id="4130" name="Freeform 34"/>
            <p:cNvSpPr>
              <a:spLocks/>
            </p:cNvSpPr>
            <p:nvPr/>
          </p:nvSpPr>
          <p:spPr bwMode="auto">
            <a:xfrm>
              <a:off x="5553" y="3902"/>
              <a:ext cx="138" cy="113"/>
            </a:xfrm>
            <a:custGeom>
              <a:avLst/>
              <a:gdLst/>
              <a:ahLst/>
              <a:cxnLst>
                <a:cxn ang="0">
                  <a:pos x="0" y="62"/>
                </a:cxn>
                <a:cxn ang="0">
                  <a:pos x="0" y="148"/>
                </a:cxn>
                <a:cxn ang="0">
                  <a:pos x="0" y="148"/>
                </a:cxn>
                <a:cxn ang="0">
                  <a:pos x="28" y="146"/>
                </a:cxn>
                <a:cxn ang="0">
                  <a:pos x="54" y="138"/>
                </a:cxn>
                <a:cxn ang="0">
                  <a:pos x="80" y="130"/>
                </a:cxn>
                <a:cxn ang="0">
                  <a:pos x="104" y="118"/>
                </a:cxn>
                <a:cxn ang="0">
                  <a:pos x="126" y="102"/>
                </a:cxn>
                <a:cxn ang="0">
                  <a:pos x="148" y="84"/>
                </a:cxn>
                <a:cxn ang="0">
                  <a:pos x="166" y="66"/>
                </a:cxn>
                <a:cxn ang="0">
                  <a:pos x="182" y="44"/>
                </a:cxn>
                <a:cxn ang="0">
                  <a:pos x="106" y="0"/>
                </a:cxn>
                <a:cxn ang="0">
                  <a:pos x="106" y="0"/>
                </a:cxn>
                <a:cxn ang="0">
                  <a:pos x="98" y="14"/>
                </a:cxn>
                <a:cxn ang="0">
                  <a:pos x="86" y="24"/>
                </a:cxn>
                <a:cxn ang="0">
                  <a:pos x="74" y="34"/>
                </a:cxn>
                <a:cxn ang="0">
                  <a:pos x="60" y="44"/>
                </a:cxn>
                <a:cxn ang="0">
                  <a:pos x="46" y="50"/>
                </a:cxn>
                <a:cxn ang="0">
                  <a:pos x="32" y="56"/>
                </a:cxn>
                <a:cxn ang="0">
                  <a:pos x="16" y="60"/>
                </a:cxn>
                <a:cxn ang="0">
                  <a:pos x="0" y="62"/>
                </a:cxn>
                <a:cxn ang="0">
                  <a:pos x="0" y="62"/>
                </a:cxn>
              </a:cxnLst>
              <a:rect l="0" t="0" r="r" b="b"/>
              <a:pathLst>
                <a:path w="182" h="148">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w="9525">
              <a:noFill/>
              <a:round/>
              <a:headEnd/>
              <a:tailEnd/>
            </a:ln>
          </p:spPr>
          <p:txBody>
            <a:bodyPr/>
            <a:lstStyle/>
            <a:p>
              <a:endParaRPr lang="en-US"/>
            </a:p>
          </p:txBody>
        </p:sp>
      </p:grpSp>
      <p:grpSp>
        <p:nvGrpSpPr>
          <p:cNvPr id="4131" name="Group 35"/>
          <p:cNvGrpSpPr>
            <a:grpSpLocks/>
          </p:cNvGrpSpPr>
          <p:nvPr/>
        </p:nvGrpSpPr>
        <p:grpSpPr bwMode="auto">
          <a:xfrm>
            <a:off x="8113713" y="6221413"/>
            <a:ext cx="554037" cy="552450"/>
            <a:chOff x="5129" y="3937"/>
            <a:chExt cx="349" cy="348"/>
          </a:xfrm>
        </p:grpSpPr>
        <p:sp>
          <p:nvSpPr>
            <p:cNvPr id="4132" name="Freeform 36"/>
            <p:cNvSpPr>
              <a:spLocks/>
            </p:cNvSpPr>
            <p:nvPr/>
          </p:nvSpPr>
          <p:spPr bwMode="auto">
            <a:xfrm>
              <a:off x="5193" y="3937"/>
              <a:ext cx="156" cy="87"/>
            </a:xfrm>
            <a:custGeom>
              <a:avLst/>
              <a:gdLst/>
              <a:ahLst/>
              <a:cxnLst>
                <a:cxn ang="0">
                  <a:pos x="180" y="88"/>
                </a:cxn>
                <a:cxn ang="0">
                  <a:pos x="206" y="8"/>
                </a:cxn>
                <a:cxn ang="0">
                  <a:pos x="206" y="8"/>
                </a:cxn>
                <a:cxn ang="0">
                  <a:pos x="178" y="2"/>
                </a:cxn>
                <a:cxn ang="0">
                  <a:pos x="150" y="0"/>
                </a:cxn>
                <a:cxn ang="0">
                  <a:pos x="124" y="0"/>
                </a:cxn>
                <a:cxn ang="0">
                  <a:pos x="96" y="4"/>
                </a:cxn>
                <a:cxn ang="0">
                  <a:pos x="70" y="12"/>
                </a:cxn>
                <a:cxn ang="0">
                  <a:pos x="46" y="22"/>
                </a:cxn>
                <a:cxn ang="0">
                  <a:pos x="22" y="36"/>
                </a:cxn>
                <a:cxn ang="0">
                  <a:pos x="0" y="50"/>
                </a:cxn>
                <a:cxn ang="0">
                  <a:pos x="58" y="114"/>
                </a:cxn>
                <a:cxn ang="0">
                  <a:pos x="58" y="114"/>
                </a:cxn>
                <a:cxn ang="0">
                  <a:pos x="72" y="106"/>
                </a:cxn>
                <a:cxn ang="0">
                  <a:pos x="86" y="98"/>
                </a:cxn>
                <a:cxn ang="0">
                  <a:pos x="100" y="92"/>
                </a:cxn>
                <a:cxn ang="0">
                  <a:pos x="116" y="88"/>
                </a:cxn>
                <a:cxn ang="0">
                  <a:pos x="130" y="86"/>
                </a:cxn>
                <a:cxn ang="0">
                  <a:pos x="146" y="84"/>
                </a:cxn>
                <a:cxn ang="0">
                  <a:pos x="164" y="86"/>
                </a:cxn>
                <a:cxn ang="0">
                  <a:pos x="180" y="88"/>
                </a:cxn>
                <a:cxn ang="0">
                  <a:pos x="180" y="88"/>
                </a:cxn>
              </a:cxnLst>
              <a:rect l="0" t="0" r="r" b="b"/>
              <a:pathLst>
                <a:path w="206" h="114">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tx1"/>
            </a:solidFill>
            <a:ln w="9525">
              <a:noFill/>
              <a:round/>
              <a:headEnd/>
              <a:tailEnd/>
            </a:ln>
          </p:spPr>
          <p:txBody>
            <a:bodyPr/>
            <a:lstStyle/>
            <a:p>
              <a:endParaRPr lang="en-US"/>
            </a:p>
          </p:txBody>
        </p:sp>
        <p:sp>
          <p:nvSpPr>
            <p:cNvPr id="4133" name="Freeform 37"/>
            <p:cNvSpPr>
              <a:spLocks/>
            </p:cNvSpPr>
            <p:nvPr/>
          </p:nvSpPr>
          <p:spPr bwMode="auto">
            <a:xfrm>
              <a:off x="5383" y="4083"/>
              <a:ext cx="95" cy="152"/>
            </a:xfrm>
            <a:custGeom>
              <a:avLst/>
              <a:gdLst/>
              <a:ahLst/>
              <a:cxnLst>
                <a:cxn ang="0">
                  <a:pos x="32" y="82"/>
                </a:cxn>
                <a:cxn ang="0">
                  <a:pos x="32" y="82"/>
                </a:cxn>
                <a:cxn ang="0">
                  <a:pos x="26" y="96"/>
                </a:cxn>
                <a:cxn ang="0">
                  <a:pos x="20" y="110"/>
                </a:cxn>
                <a:cxn ang="0">
                  <a:pos x="10" y="124"/>
                </a:cxn>
                <a:cxn ang="0">
                  <a:pos x="0" y="136"/>
                </a:cxn>
                <a:cxn ang="0">
                  <a:pos x="58" y="200"/>
                </a:cxn>
                <a:cxn ang="0">
                  <a:pos x="58" y="200"/>
                </a:cxn>
                <a:cxn ang="0">
                  <a:pos x="76" y="180"/>
                </a:cxn>
                <a:cxn ang="0">
                  <a:pos x="92" y="158"/>
                </a:cxn>
                <a:cxn ang="0">
                  <a:pos x="104" y="134"/>
                </a:cxn>
                <a:cxn ang="0">
                  <a:pos x="114" y="108"/>
                </a:cxn>
                <a:cxn ang="0">
                  <a:pos x="114" y="108"/>
                </a:cxn>
                <a:cxn ang="0">
                  <a:pos x="122" y="80"/>
                </a:cxn>
                <a:cxn ang="0">
                  <a:pos x="126" y="54"/>
                </a:cxn>
                <a:cxn ang="0">
                  <a:pos x="126" y="26"/>
                </a:cxn>
                <a:cxn ang="0">
                  <a:pos x="122" y="0"/>
                </a:cxn>
                <a:cxn ang="0">
                  <a:pos x="38" y="18"/>
                </a:cxn>
                <a:cxn ang="0">
                  <a:pos x="38" y="18"/>
                </a:cxn>
                <a:cxn ang="0">
                  <a:pos x="40" y="34"/>
                </a:cxn>
                <a:cxn ang="0">
                  <a:pos x="40" y="50"/>
                </a:cxn>
                <a:cxn ang="0">
                  <a:pos x="38" y="66"/>
                </a:cxn>
                <a:cxn ang="0">
                  <a:pos x="32" y="82"/>
                </a:cxn>
                <a:cxn ang="0">
                  <a:pos x="32" y="82"/>
                </a:cxn>
              </a:cxnLst>
              <a:rect l="0" t="0" r="r" b="b"/>
              <a:pathLst>
                <a:path w="126" h="200">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w="9525">
              <a:noFill/>
              <a:round/>
              <a:headEnd/>
              <a:tailEnd/>
            </a:ln>
          </p:spPr>
          <p:txBody>
            <a:bodyPr/>
            <a:lstStyle/>
            <a:p>
              <a:endParaRPr lang="en-US"/>
            </a:p>
          </p:txBody>
        </p:sp>
        <p:sp>
          <p:nvSpPr>
            <p:cNvPr id="4134" name="Freeform 38"/>
            <p:cNvSpPr>
              <a:spLocks/>
            </p:cNvSpPr>
            <p:nvPr/>
          </p:nvSpPr>
          <p:spPr bwMode="auto">
            <a:xfrm>
              <a:off x="5129" y="3987"/>
              <a:ext cx="96" cy="152"/>
            </a:xfrm>
            <a:custGeom>
              <a:avLst/>
              <a:gdLst/>
              <a:ahLst/>
              <a:cxnLst>
                <a:cxn ang="0">
                  <a:pos x="92" y="118"/>
                </a:cxn>
                <a:cxn ang="0">
                  <a:pos x="92" y="118"/>
                </a:cxn>
                <a:cxn ang="0">
                  <a:pos x="98" y="104"/>
                </a:cxn>
                <a:cxn ang="0">
                  <a:pos x="106" y="88"/>
                </a:cxn>
                <a:cxn ang="0">
                  <a:pos x="116" y="76"/>
                </a:cxn>
                <a:cxn ang="0">
                  <a:pos x="126" y="64"/>
                </a:cxn>
                <a:cxn ang="0">
                  <a:pos x="68" y="0"/>
                </a:cxn>
                <a:cxn ang="0">
                  <a:pos x="68" y="0"/>
                </a:cxn>
                <a:cxn ang="0">
                  <a:pos x="50" y="20"/>
                </a:cxn>
                <a:cxn ang="0">
                  <a:pos x="34" y="42"/>
                </a:cxn>
                <a:cxn ang="0">
                  <a:pos x="22" y="66"/>
                </a:cxn>
                <a:cxn ang="0">
                  <a:pos x="12" y="92"/>
                </a:cxn>
                <a:cxn ang="0">
                  <a:pos x="12" y="92"/>
                </a:cxn>
                <a:cxn ang="0">
                  <a:pos x="4" y="118"/>
                </a:cxn>
                <a:cxn ang="0">
                  <a:pos x="0" y="146"/>
                </a:cxn>
                <a:cxn ang="0">
                  <a:pos x="0" y="174"/>
                </a:cxn>
                <a:cxn ang="0">
                  <a:pos x="4" y="200"/>
                </a:cxn>
                <a:cxn ang="0">
                  <a:pos x="88" y="182"/>
                </a:cxn>
                <a:cxn ang="0">
                  <a:pos x="88" y="182"/>
                </a:cxn>
                <a:cxn ang="0">
                  <a:pos x="86" y="166"/>
                </a:cxn>
                <a:cxn ang="0">
                  <a:pos x="86" y="150"/>
                </a:cxn>
                <a:cxn ang="0">
                  <a:pos x="88" y="134"/>
                </a:cxn>
                <a:cxn ang="0">
                  <a:pos x="92" y="118"/>
                </a:cxn>
                <a:cxn ang="0">
                  <a:pos x="92" y="118"/>
                </a:cxn>
              </a:cxnLst>
              <a:rect l="0" t="0" r="r" b="b"/>
              <a:pathLst>
                <a:path w="126" h="200">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w="9525">
              <a:noFill/>
              <a:round/>
              <a:headEnd/>
              <a:tailEnd/>
            </a:ln>
          </p:spPr>
          <p:txBody>
            <a:bodyPr/>
            <a:lstStyle/>
            <a:p>
              <a:endParaRPr lang="en-US"/>
            </a:p>
          </p:txBody>
        </p:sp>
        <p:sp>
          <p:nvSpPr>
            <p:cNvPr id="4135" name="Freeform 39"/>
            <p:cNvSpPr>
              <a:spLocks/>
            </p:cNvSpPr>
            <p:nvPr/>
          </p:nvSpPr>
          <p:spPr bwMode="auto">
            <a:xfrm>
              <a:off x="5135" y="4142"/>
              <a:ext cx="126" cy="132"/>
            </a:xfrm>
            <a:custGeom>
              <a:avLst/>
              <a:gdLst/>
              <a:ahLst/>
              <a:cxnLst>
                <a:cxn ang="0">
                  <a:pos x="84" y="0"/>
                </a:cxn>
                <a:cxn ang="0">
                  <a:pos x="0" y="18"/>
                </a:cxn>
                <a:cxn ang="0">
                  <a:pos x="0" y="18"/>
                </a:cxn>
                <a:cxn ang="0">
                  <a:pos x="8" y="44"/>
                </a:cxn>
                <a:cxn ang="0">
                  <a:pos x="20" y="68"/>
                </a:cxn>
                <a:cxn ang="0">
                  <a:pos x="34" y="90"/>
                </a:cxn>
                <a:cxn ang="0">
                  <a:pos x="50" y="112"/>
                </a:cxn>
                <a:cxn ang="0">
                  <a:pos x="70" y="130"/>
                </a:cxn>
                <a:cxn ang="0">
                  <a:pos x="90" y="148"/>
                </a:cxn>
                <a:cxn ang="0">
                  <a:pos x="114" y="162"/>
                </a:cxn>
                <a:cxn ang="0">
                  <a:pos x="140" y="174"/>
                </a:cxn>
                <a:cxn ang="0">
                  <a:pos x="166" y="92"/>
                </a:cxn>
                <a:cxn ang="0">
                  <a:pos x="166" y="92"/>
                </a:cxn>
                <a:cxn ang="0">
                  <a:pos x="152" y="84"/>
                </a:cxn>
                <a:cxn ang="0">
                  <a:pos x="138" y="76"/>
                </a:cxn>
                <a:cxn ang="0">
                  <a:pos x="126" y="66"/>
                </a:cxn>
                <a:cxn ang="0">
                  <a:pos x="114" y="54"/>
                </a:cxn>
                <a:cxn ang="0">
                  <a:pos x="104" y="42"/>
                </a:cxn>
                <a:cxn ang="0">
                  <a:pos x="96" y="28"/>
                </a:cxn>
                <a:cxn ang="0">
                  <a:pos x="90" y="14"/>
                </a:cxn>
                <a:cxn ang="0">
                  <a:pos x="84" y="0"/>
                </a:cxn>
                <a:cxn ang="0">
                  <a:pos x="84" y="0"/>
                </a:cxn>
              </a:cxnLst>
              <a:rect l="0" t="0" r="r" b="b"/>
              <a:pathLst>
                <a:path w="166" h="174">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w="9525">
              <a:noFill/>
              <a:round/>
              <a:headEnd/>
              <a:tailEnd/>
            </a:ln>
          </p:spPr>
          <p:txBody>
            <a:bodyPr/>
            <a:lstStyle/>
            <a:p>
              <a:endParaRPr lang="en-US"/>
            </a:p>
          </p:txBody>
        </p:sp>
        <p:sp>
          <p:nvSpPr>
            <p:cNvPr id="4136" name="Freeform 40"/>
            <p:cNvSpPr>
              <a:spLocks/>
            </p:cNvSpPr>
            <p:nvPr/>
          </p:nvSpPr>
          <p:spPr bwMode="auto">
            <a:xfrm>
              <a:off x="5345" y="3948"/>
              <a:ext cx="127" cy="132"/>
            </a:xfrm>
            <a:custGeom>
              <a:avLst/>
              <a:gdLst/>
              <a:ahLst/>
              <a:cxnLst>
                <a:cxn ang="0">
                  <a:pos x="84" y="174"/>
                </a:cxn>
                <a:cxn ang="0">
                  <a:pos x="168" y="156"/>
                </a:cxn>
                <a:cxn ang="0">
                  <a:pos x="168" y="156"/>
                </a:cxn>
                <a:cxn ang="0">
                  <a:pos x="160" y="130"/>
                </a:cxn>
                <a:cxn ang="0">
                  <a:pos x="148" y="106"/>
                </a:cxn>
                <a:cxn ang="0">
                  <a:pos x="134" y="84"/>
                </a:cxn>
                <a:cxn ang="0">
                  <a:pos x="118" y="62"/>
                </a:cxn>
                <a:cxn ang="0">
                  <a:pos x="98" y="44"/>
                </a:cxn>
                <a:cxn ang="0">
                  <a:pos x="76" y="26"/>
                </a:cxn>
                <a:cxn ang="0">
                  <a:pos x="54" y="12"/>
                </a:cxn>
                <a:cxn ang="0">
                  <a:pos x="28" y="0"/>
                </a:cxn>
                <a:cxn ang="0">
                  <a:pos x="0" y="82"/>
                </a:cxn>
                <a:cxn ang="0">
                  <a:pos x="0" y="82"/>
                </a:cxn>
                <a:cxn ang="0">
                  <a:pos x="16" y="90"/>
                </a:cxn>
                <a:cxn ang="0">
                  <a:pos x="30" y="98"/>
                </a:cxn>
                <a:cxn ang="0">
                  <a:pos x="42" y="108"/>
                </a:cxn>
                <a:cxn ang="0">
                  <a:pos x="54" y="120"/>
                </a:cxn>
                <a:cxn ang="0">
                  <a:pos x="64" y="132"/>
                </a:cxn>
                <a:cxn ang="0">
                  <a:pos x="72" y="144"/>
                </a:cxn>
                <a:cxn ang="0">
                  <a:pos x="78" y="160"/>
                </a:cxn>
                <a:cxn ang="0">
                  <a:pos x="84" y="174"/>
                </a:cxn>
                <a:cxn ang="0">
                  <a:pos x="84" y="174"/>
                </a:cxn>
              </a:cxnLst>
              <a:rect l="0" t="0" r="r" b="b"/>
              <a:pathLst>
                <a:path w="168" h="174">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tx1"/>
            </a:solidFill>
            <a:ln w="9525">
              <a:noFill/>
              <a:round/>
              <a:headEnd/>
              <a:tailEnd/>
            </a:ln>
          </p:spPr>
          <p:txBody>
            <a:bodyPr/>
            <a:lstStyle/>
            <a:p>
              <a:endParaRPr lang="en-US"/>
            </a:p>
          </p:txBody>
        </p:sp>
        <p:sp>
          <p:nvSpPr>
            <p:cNvPr id="4137" name="Freeform 41"/>
            <p:cNvSpPr>
              <a:spLocks/>
            </p:cNvSpPr>
            <p:nvPr/>
          </p:nvSpPr>
          <p:spPr bwMode="auto">
            <a:xfrm>
              <a:off x="5258" y="4197"/>
              <a:ext cx="156" cy="88"/>
            </a:xfrm>
            <a:custGeom>
              <a:avLst/>
              <a:gdLst/>
              <a:ahLst/>
              <a:cxnLst>
                <a:cxn ang="0">
                  <a:pos x="26" y="26"/>
                </a:cxn>
                <a:cxn ang="0">
                  <a:pos x="0" y="108"/>
                </a:cxn>
                <a:cxn ang="0">
                  <a:pos x="0" y="108"/>
                </a:cxn>
                <a:cxn ang="0">
                  <a:pos x="28" y="114"/>
                </a:cxn>
                <a:cxn ang="0">
                  <a:pos x="56" y="116"/>
                </a:cxn>
                <a:cxn ang="0">
                  <a:pos x="82" y="116"/>
                </a:cxn>
                <a:cxn ang="0">
                  <a:pos x="110" y="112"/>
                </a:cxn>
                <a:cxn ang="0">
                  <a:pos x="136" y="104"/>
                </a:cxn>
                <a:cxn ang="0">
                  <a:pos x="160" y="94"/>
                </a:cxn>
                <a:cxn ang="0">
                  <a:pos x="184" y="80"/>
                </a:cxn>
                <a:cxn ang="0">
                  <a:pos x="206" y="64"/>
                </a:cxn>
                <a:cxn ang="0">
                  <a:pos x="148" y="0"/>
                </a:cxn>
                <a:cxn ang="0">
                  <a:pos x="148" y="0"/>
                </a:cxn>
                <a:cxn ang="0">
                  <a:pos x="134" y="10"/>
                </a:cxn>
                <a:cxn ang="0">
                  <a:pos x="120" y="18"/>
                </a:cxn>
                <a:cxn ang="0">
                  <a:pos x="106" y="24"/>
                </a:cxn>
                <a:cxn ang="0">
                  <a:pos x="90" y="28"/>
                </a:cxn>
                <a:cxn ang="0">
                  <a:pos x="74" y="30"/>
                </a:cxn>
                <a:cxn ang="0">
                  <a:pos x="58" y="30"/>
                </a:cxn>
                <a:cxn ang="0">
                  <a:pos x="42" y="30"/>
                </a:cxn>
                <a:cxn ang="0">
                  <a:pos x="26" y="26"/>
                </a:cxn>
                <a:cxn ang="0">
                  <a:pos x="26" y="26"/>
                </a:cxn>
              </a:cxnLst>
              <a:rect l="0" t="0" r="r" b="b"/>
              <a:pathLst>
                <a:path w="206" h="11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w="9525">
              <a:noFill/>
              <a:round/>
              <a:headEnd/>
              <a:tailEnd/>
            </a:ln>
          </p:spPr>
          <p:txBody>
            <a:bodyPr/>
            <a:lstStyle/>
            <a:p>
              <a:endParaRPr lang="en-US"/>
            </a:p>
          </p:txBody>
        </p:sp>
      </p:grpSp>
      <p:grpSp>
        <p:nvGrpSpPr>
          <p:cNvPr id="4138" name="Group 42"/>
          <p:cNvGrpSpPr>
            <a:grpSpLocks/>
          </p:cNvGrpSpPr>
          <p:nvPr/>
        </p:nvGrpSpPr>
        <p:grpSpPr bwMode="auto">
          <a:xfrm>
            <a:off x="8089900" y="5821363"/>
            <a:ext cx="390525" cy="390525"/>
            <a:chOff x="5114" y="3685"/>
            <a:chExt cx="246" cy="246"/>
          </a:xfrm>
        </p:grpSpPr>
        <p:sp>
          <p:nvSpPr>
            <p:cNvPr id="4139" name="Freeform 43"/>
            <p:cNvSpPr>
              <a:spLocks/>
            </p:cNvSpPr>
            <p:nvPr/>
          </p:nvSpPr>
          <p:spPr bwMode="auto">
            <a:xfrm>
              <a:off x="5135" y="3845"/>
              <a:ext cx="94" cy="86"/>
            </a:xfrm>
            <a:custGeom>
              <a:avLst/>
              <a:gdLst/>
              <a:ahLst/>
              <a:cxnLst>
                <a:cxn ang="0">
                  <a:pos x="70" y="0"/>
                </a:cxn>
                <a:cxn ang="0">
                  <a:pos x="0" y="42"/>
                </a:cxn>
                <a:cxn ang="0">
                  <a:pos x="0" y="42"/>
                </a:cxn>
                <a:cxn ang="0">
                  <a:pos x="10" y="56"/>
                </a:cxn>
                <a:cxn ang="0">
                  <a:pos x="22" y="70"/>
                </a:cxn>
                <a:cxn ang="0">
                  <a:pos x="36" y="82"/>
                </a:cxn>
                <a:cxn ang="0">
                  <a:pos x="52" y="92"/>
                </a:cxn>
                <a:cxn ang="0">
                  <a:pos x="68" y="100"/>
                </a:cxn>
                <a:cxn ang="0">
                  <a:pos x="86" y="108"/>
                </a:cxn>
                <a:cxn ang="0">
                  <a:pos x="104" y="112"/>
                </a:cxn>
                <a:cxn ang="0">
                  <a:pos x="124" y="114"/>
                </a:cxn>
                <a:cxn ang="0">
                  <a:pos x="124" y="32"/>
                </a:cxn>
                <a:cxn ang="0">
                  <a:pos x="124" y="32"/>
                </a:cxn>
                <a:cxn ang="0">
                  <a:pos x="108" y="28"/>
                </a:cxn>
                <a:cxn ang="0">
                  <a:pos x="94" y="22"/>
                </a:cxn>
                <a:cxn ang="0">
                  <a:pos x="82" y="12"/>
                </a:cxn>
                <a:cxn ang="0">
                  <a:pos x="70" y="0"/>
                </a:cxn>
                <a:cxn ang="0">
                  <a:pos x="70" y="0"/>
                </a:cxn>
              </a:cxnLst>
              <a:rect l="0" t="0" r="r" b="b"/>
              <a:pathLst>
                <a:path w="124" h="11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w="9525">
              <a:noFill/>
              <a:round/>
              <a:headEnd/>
              <a:tailEnd/>
            </a:ln>
          </p:spPr>
          <p:txBody>
            <a:bodyPr/>
            <a:lstStyle/>
            <a:p>
              <a:endParaRPr lang="en-US"/>
            </a:p>
          </p:txBody>
        </p:sp>
        <p:sp>
          <p:nvSpPr>
            <p:cNvPr id="4140" name="Freeform 44"/>
            <p:cNvSpPr>
              <a:spLocks/>
            </p:cNvSpPr>
            <p:nvPr/>
          </p:nvSpPr>
          <p:spPr bwMode="auto">
            <a:xfrm>
              <a:off x="5135" y="3685"/>
              <a:ext cx="94" cy="87"/>
            </a:xfrm>
            <a:custGeom>
              <a:avLst/>
              <a:gdLst/>
              <a:ahLst/>
              <a:cxnLst>
                <a:cxn ang="0">
                  <a:pos x="124" y="82"/>
                </a:cxn>
                <a:cxn ang="0">
                  <a:pos x="124" y="0"/>
                </a:cxn>
                <a:cxn ang="0">
                  <a:pos x="124" y="0"/>
                </a:cxn>
                <a:cxn ang="0">
                  <a:pos x="104" y="2"/>
                </a:cxn>
                <a:cxn ang="0">
                  <a:pos x="86" y="8"/>
                </a:cxn>
                <a:cxn ang="0">
                  <a:pos x="68" y="14"/>
                </a:cxn>
                <a:cxn ang="0">
                  <a:pos x="52" y="22"/>
                </a:cxn>
                <a:cxn ang="0">
                  <a:pos x="36" y="32"/>
                </a:cxn>
                <a:cxn ang="0">
                  <a:pos x="22" y="44"/>
                </a:cxn>
                <a:cxn ang="0">
                  <a:pos x="10" y="58"/>
                </a:cxn>
                <a:cxn ang="0">
                  <a:pos x="0" y="72"/>
                </a:cxn>
                <a:cxn ang="0">
                  <a:pos x="70" y="114"/>
                </a:cxn>
                <a:cxn ang="0">
                  <a:pos x="70" y="114"/>
                </a:cxn>
                <a:cxn ang="0">
                  <a:pos x="82" y="102"/>
                </a:cxn>
                <a:cxn ang="0">
                  <a:pos x="94" y="92"/>
                </a:cxn>
                <a:cxn ang="0">
                  <a:pos x="108" y="86"/>
                </a:cxn>
                <a:cxn ang="0">
                  <a:pos x="124" y="82"/>
                </a:cxn>
                <a:cxn ang="0">
                  <a:pos x="124" y="82"/>
                </a:cxn>
              </a:cxnLst>
              <a:rect l="0" t="0" r="r" b="b"/>
              <a:pathLst>
                <a:path w="124" h="11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w="9525">
              <a:noFill/>
              <a:round/>
              <a:headEnd/>
              <a:tailEnd/>
            </a:ln>
          </p:spPr>
          <p:txBody>
            <a:bodyPr/>
            <a:lstStyle/>
            <a:p>
              <a:endParaRPr lang="en-US"/>
            </a:p>
          </p:txBody>
        </p:sp>
        <p:sp>
          <p:nvSpPr>
            <p:cNvPr id="4141" name="Freeform 45"/>
            <p:cNvSpPr>
              <a:spLocks/>
            </p:cNvSpPr>
            <p:nvPr/>
          </p:nvSpPr>
          <p:spPr bwMode="auto">
            <a:xfrm>
              <a:off x="5114" y="3754"/>
              <a:ext cx="67" cy="109"/>
            </a:xfrm>
            <a:custGeom>
              <a:avLst/>
              <a:gdLst/>
              <a:ahLst/>
              <a:cxnLst>
                <a:cxn ang="0">
                  <a:pos x="82" y="72"/>
                </a:cxn>
                <a:cxn ang="0">
                  <a:pos x="82" y="72"/>
                </a:cxn>
                <a:cxn ang="0">
                  <a:pos x="84" y="56"/>
                </a:cxn>
                <a:cxn ang="0">
                  <a:pos x="88" y="42"/>
                </a:cxn>
                <a:cxn ang="0">
                  <a:pos x="18" y="0"/>
                </a:cxn>
                <a:cxn ang="0">
                  <a:pos x="18" y="0"/>
                </a:cxn>
                <a:cxn ang="0">
                  <a:pos x="10" y="16"/>
                </a:cxn>
                <a:cxn ang="0">
                  <a:pos x="4" y="34"/>
                </a:cxn>
                <a:cxn ang="0">
                  <a:pos x="2" y="54"/>
                </a:cxn>
                <a:cxn ang="0">
                  <a:pos x="0" y="72"/>
                </a:cxn>
                <a:cxn ang="0">
                  <a:pos x="0" y="72"/>
                </a:cxn>
                <a:cxn ang="0">
                  <a:pos x="2" y="92"/>
                </a:cxn>
                <a:cxn ang="0">
                  <a:pos x="4" y="110"/>
                </a:cxn>
                <a:cxn ang="0">
                  <a:pos x="10" y="128"/>
                </a:cxn>
                <a:cxn ang="0">
                  <a:pos x="18" y="144"/>
                </a:cxn>
                <a:cxn ang="0">
                  <a:pos x="88" y="104"/>
                </a:cxn>
                <a:cxn ang="0">
                  <a:pos x="88" y="104"/>
                </a:cxn>
                <a:cxn ang="0">
                  <a:pos x="84" y="88"/>
                </a:cxn>
                <a:cxn ang="0">
                  <a:pos x="82" y="72"/>
                </a:cxn>
                <a:cxn ang="0">
                  <a:pos x="82" y="72"/>
                </a:cxn>
              </a:cxnLst>
              <a:rect l="0" t="0" r="r" b="b"/>
              <a:pathLst>
                <a:path w="88" h="144">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w="9525">
              <a:noFill/>
              <a:round/>
              <a:headEnd/>
              <a:tailEnd/>
            </a:ln>
          </p:spPr>
          <p:txBody>
            <a:bodyPr/>
            <a:lstStyle/>
            <a:p>
              <a:endParaRPr lang="en-US"/>
            </a:p>
          </p:txBody>
        </p:sp>
        <p:sp>
          <p:nvSpPr>
            <p:cNvPr id="4142" name="Freeform 46"/>
            <p:cNvSpPr>
              <a:spLocks/>
            </p:cNvSpPr>
            <p:nvPr/>
          </p:nvSpPr>
          <p:spPr bwMode="auto">
            <a:xfrm>
              <a:off x="5293" y="3754"/>
              <a:ext cx="67" cy="109"/>
            </a:xfrm>
            <a:custGeom>
              <a:avLst/>
              <a:gdLst/>
              <a:ahLst/>
              <a:cxnLst>
                <a:cxn ang="0">
                  <a:pos x="6" y="72"/>
                </a:cxn>
                <a:cxn ang="0">
                  <a:pos x="6" y="72"/>
                </a:cxn>
                <a:cxn ang="0">
                  <a:pos x="6" y="88"/>
                </a:cxn>
                <a:cxn ang="0">
                  <a:pos x="0" y="104"/>
                </a:cxn>
                <a:cxn ang="0">
                  <a:pos x="72" y="144"/>
                </a:cxn>
                <a:cxn ang="0">
                  <a:pos x="72" y="144"/>
                </a:cxn>
                <a:cxn ang="0">
                  <a:pos x="78" y="128"/>
                </a:cxn>
                <a:cxn ang="0">
                  <a:pos x="84" y="110"/>
                </a:cxn>
                <a:cxn ang="0">
                  <a:pos x="88" y="92"/>
                </a:cxn>
                <a:cxn ang="0">
                  <a:pos x="88" y="72"/>
                </a:cxn>
                <a:cxn ang="0">
                  <a:pos x="88" y="72"/>
                </a:cxn>
                <a:cxn ang="0">
                  <a:pos x="88" y="54"/>
                </a:cxn>
                <a:cxn ang="0">
                  <a:pos x="84" y="34"/>
                </a:cxn>
                <a:cxn ang="0">
                  <a:pos x="78" y="16"/>
                </a:cxn>
                <a:cxn ang="0">
                  <a:pos x="72" y="0"/>
                </a:cxn>
                <a:cxn ang="0">
                  <a:pos x="0" y="42"/>
                </a:cxn>
                <a:cxn ang="0">
                  <a:pos x="0" y="42"/>
                </a:cxn>
                <a:cxn ang="0">
                  <a:pos x="6" y="56"/>
                </a:cxn>
                <a:cxn ang="0">
                  <a:pos x="6" y="72"/>
                </a:cxn>
                <a:cxn ang="0">
                  <a:pos x="6" y="72"/>
                </a:cxn>
              </a:cxnLst>
              <a:rect l="0" t="0" r="r" b="b"/>
              <a:pathLst>
                <a:path w="88" h="144">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tx2"/>
            </a:solidFill>
            <a:ln w="9525">
              <a:noFill/>
              <a:round/>
              <a:headEnd/>
              <a:tailEnd/>
            </a:ln>
          </p:spPr>
          <p:txBody>
            <a:bodyPr/>
            <a:lstStyle/>
            <a:p>
              <a:endParaRPr lang="en-US"/>
            </a:p>
          </p:txBody>
        </p:sp>
        <p:sp>
          <p:nvSpPr>
            <p:cNvPr id="4143" name="Freeform 47"/>
            <p:cNvSpPr>
              <a:spLocks/>
            </p:cNvSpPr>
            <p:nvPr/>
          </p:nvSpPr>
          <p:spPr bwMode="auto">
            <a:xfrm>
              <a:off x="5245" y="3845"/>
              <a:ext cx="95" cy="86"/>
            </a:xfrm>
            <a:custGeom>
              <a:avLst/>
              <a:gdLst/>
              <a:ahLst/>
              <a:cxnLst>
                <a:cxn ang="0">
                  <a:pos x="0" y="32"/>
                </a:cxn>
                <a:cxn ang="0">
                  <a:pos x="0" y="114"/>
                </a:cxn>
                <a:cxn ang="0">
                  <a:pos x="0" y="114"/>
                </a:cxn>
                <a:cxn ang="0">
                  <a:pos x="20" y="112"/>
                </a:cxn>
                <a:cxn ang="0">
                  <a:pos x="38" y="108"/>
                </a:cxn>
                <a:cxn ang="0">
                  <a:pos x="56" y="100"/>
                </a:cxn>
                <a:cxn ang="0">
                  <a:pos x="72" y="92"/>
                </a:cxn>
                <a:cxn ang="0">
                  <a:pos x="88" y="82"/>
                </a:cxn>
                <a:cxn ang="0">
                  <a:pos x="102" y="70"/>
                </a:cxn>
                <a:cxn ang="0">
                  <a:pos x="114" y="56"/>
                </a:cxn>
                <a:cxn ang="0">
                  <a:pos x="126" y="42"/>
                </a:cxn>
                <a:cxn ang="0">
                  <a:pos x="54" y="0"/>
                </a:cxn>
                <a:cxn ang="0">
                  <a:pos x="54" y="0"/>
                </a:cxn>
                <a:cxn ang="0">
                  <a:pos x="44" y="12"/>
                </a:cxn>
                <a:cxn ang="0">
                  <a:pos x="30" y="22"/>
                </a:cxn>
                <a:cxn ang="0">
                  <a:pos x="16" y="28"/>
                </a:cxn>
                <a:cxn ang="0">
                  <a:pos x="0" y="32"/>
                </a:cxn>
                <a:cxn ang="0">
                  <a:pos x="0" y="32"/>
                </a:cxn>
              </a:cxnLst>
              <a:rect l="0" t="0" r="r" b="b"/>
              <a:pathLst>
                <a:path w="126" h="114">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tx2"/>
            </a:solidFill>
            <a:ln w="9525">
              <a:noFill/>
              <a:round/>
              <a:headEnd/>
              <a:tailEnd/>
            </a:ln>
          </p:spPr>
          <p:txBody>
            <a:bodyPr/>
            <a:lstStyle/>
            <a:p>
              <a:endParaRPr lang="en-US"/>
            </a:p>
          </p:txBody>
        </p:sp>
        <p:sp>
          <p:nvSpPr>
            <p:cNvPr id="4144" name="Freeform 48"/>
            <p:cNvSpPr>
              <a:spLocks/>
            </p:cNvSpPr>
            <p:nvPr/>
          </p:nvSpPr>
          <p:spPr bwMode="auto">
            <a:xfrm>
              <a:off x="5245" y="3685"/>
              <a:ext cx="95" cy="87"/>
            </a:xfrm>
            <a:custGeom>
              <a:avLst/>
              <a:gdLst/>
              <a:ahLst/>
              <a:cxnLst>
                <a:cxn ang="0">
                  <a:pos x="54" y="114"/>
                </a:cxn>
                <a:cxn ang="0">
                  <a:pos x="126" y="72"/>
                </a:cxn>
                <a:cxn ang="0">
                  <a:pos x="126" y="72"/>
                </a:cxn>
                <a:cxn ang="0">
                  <a:pos x="114" y="58"/>
                </a:cxn>
                <a:cxn ang="0">
                  <a:pos x="102" y="44"/>
                </a:cxn>
                <a:cxn ang="0">
                  <a:pos x="88" y="32"/>
                </a:cxn>
                <a:cxn ang="0">
                  <a:pos x="72" y="22"/>
                </a:cxn>
                <a:cxn ang="0">
                  <a:pos x="56" y="14"/>
                </a:cxn>
                <a:cxn ang="0">
                  <a:pos x="38" y="8"/>
                </a:cxn>
                <a:cxn ang="0">
                  <a:pos x="20" y="2"/>
                </a:cxn>
                <a:cxn ang="0">
                  <a:pos x="0" y="0"/>
                </a:cxn>
                <a:cxn ang="0">
                  <a:pos x="0" y="82"/>
                </a:cxn>
                <a:cxn ang="0">
                  <a:pos x="0" y="82"/>
                </a:cxn>
                <a:cxn ang="0">
                  <a:pos x="16" y="86"/>
                </a:cxn>
                <a:cxn ang="0">
                  <a:pos x="30" y="92"/>
                </a:cxn>
                <a:cxn ang="0">
                  <a:pos x="44" y="102"/>
                </a:cxn>
                <a:cxn ang="0">
                  <a:pos x="54" y="114"/>
                </a:cxn>
                <a:cxn ang="0">
                  <a:pos x="54" y="114"/>
                </a:cxn>
              </a:cxnLst>
              <a:rect l="0" t="0" r="r" b="b"/>
              <a:pathLst>
                <a:path w="126" h="114">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w="9525">
              <a:noFill/>
              <a:round/>
              <a:headEnd/>
              <a:tailEnd/>
            </a:ln>
          </p:spPr>
          <p:txBody>
            <a:bodyPr/>
            <a:lstStyle/>
            <a:p>
              <a:endParaRPr lang="en-US"/>
            </a:p>
          </p:txBody>
        </p:sp>
      </p:grpSp>
      <p:sp>
        <p:nvSpPr>
          <p:cNvPr id="5" name="Slide Number Placeholder 4"/>
          <p:cNvSpPr>
            <a:spLocks noGrp="1"/>
          </p:cNvSpPr>
          <p:nvPr>
            <p:ph type="sldNum" sz="quarter" idx="12"/>
          </p:nvPr>
        </p:nvSpPr>
        <p:spPr/>
        <p:txBody>
          <a:bodyPr/>
          <a:lstStyle/>
          <a:p>
            <a:fld id="{F0065440-4C8F-497D-8DC5-47855554306F}" type="slidenum">
              <a:rPr lang="en-US" smtClean="0"/>
              <a:pPr/>
              <a:t>2</a:t>
            </a:fld>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07"/>
                                        </p:tgtEl>
                                        <p:attrNameLst>
                                          <p:attrName>style.visibility</p:attrName>
                                        </p:attrNameLst>
                                      </p:cBhvr>
                                      <p:to>
                                        <p:strVal val="visible"/>
                                      </p:to>
                                    </p:set>
                                    <p:animEffect transition="in" filter="fade">
                                      <p:cBhvr>
                                        <p:cTn id="7" dur="500"/>
                                        <p:tgtEl>
                                          <p:spTgt spid="4107"/>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4107"/>
                                        </p:tgtEl>
                                        <p:attrNameLst>
                                          <p:attrName>ppt_x</p:attrName>
                                          <p:attrName>ppt_y</p:attrName>
                                        </p:attrNameLst>
                                      </p:cBhvr>
                                      <p:rCtr x="-50100" y="100"/>
                                    </p:animMotion>
                                  </p:childTnLst>
                                </p:cTn>
                              </p:par>
                              <p:par>
                                <p:cTn id="10" presetID="8" presetClass="emph" presetSubtype="0" fill="hold" nodeType="withEffect">
                                  <p:stCondLst>
                                    <p:cond delay="0"/>
                                  </p:stCondLst>
                                  <p:childTnLst>
                                    <p:animRot by="21600000">
                                      <p:cBhvr>
                                        <p:cTn id="11" dur="500" fill="hold"/>
                                        <p:tgtEl>
                                          <p:spTgt spid="4124"/>
                                        </p:tgtEl>
                                        <p:attrNameLst>
                                          <p:attrName>r</p:attrName>
                                        </p:attrNameLst>
                                      </p:cBhvr>
                                    </p:animRot>
                                  </p:childTnLst>
                                </p:cTn>
                              </p:par>
                              <p:par>
                                <p:cTn id="12" presetID="8" presetClass="emph" presetSubtype="0" fill="hold" nodeType="withEffect">
                                  <p:stCondLst>
                                    <p:cond delay="0"/>
                                  </p:stCondLst>
                                  <p:childTnLst>
                                    <p:animRot by="21600000">
                                      <p:cBhvr>
                                        <p:cTn id="13" dur="500" fill="hold"/>
                                        <p:tgtEl>
                                          <p:spTgt spid="4131"/>
                                        </p:tgtEl>
                                        <p:attrNameLst>
                                          <p:attrName>r</p:attrName>
                                        </p:attrNameLst>
                                      </p:cBhvr>
                                    </p:animRot>
                                  </p:childTnLst>
                                </p:cTn>
                              </p:par>
                              <p:par>
                                <p:cTn id="14" presetID="8" presetClass="emph" presetSubtype="0" fill="hold" nodeType="withEffect">
                                  <p:stCondLst>
                                    <p:cond delay="0"/>
                                  </p:stCondLst>
                                  <p:childTnLst>
                                    <p:animRot by="21600000">
                                      <p:cBhvr>
                                        <p:cTn id="15" dur="1000" fill="hold"/>
                                        <p:tgtEl>
                                          <p:spTgt spid="4138"/>
                                        </p:tgtEl>
                                        <p:attrNameLst>
                                          <p:attrName>r</p:attrName>
                                        </p:attrNameLst>
                                      </p:cBhvr>
                                    </p:animRot>
                                  </p:childTnLst>
                                </p:cTn>
                              </p:par>
                              <p:par>
                                <p:cTn id="16" presetID="8" presetClass="emph" presetSubtype="0" fill="hold" nodeType="withEffect">
                                  <p:stCondLst>
                                    <p:cond delay="500"/>
                                  </p:stCondLst>
                                  <p:childTnLst>
                                    <p:animRot by="21600000">
                                      <p:cBhvr>
                                        <p:cTn id="17" dur="500" fill="hold"/>
                                        <p:tgtEl>
                                          <p:spTgt spid="4107"/>
                                        </p:tgtEl>
                                        <p:attrNameLst>
                                          <p:attrName>r</p:attrName>
                                        </p:attrNameLst>
                                      </p:cBhvr>
                                    </p:animRot>
                                  </p:childTnLst>
                                </p:cTn>
                              </p:par>
                              <p:par>
                                <p:cTn id="18" presetID="53" presetClass="entr" presetSubtype="0" fill="hold" grpId="0" nodeType="withEffect">
                                  <p:stCondLst>
                                    <p:cond delay="500"/>
                                  </p:stCondLst>
                                  <p:iterate type="lt">
                                    <p:tmPct val="4000"/>
                                  </p:iterate>
                                  <p:childTnLst>
                                    <p:set>
                                      <p:cBhvr>
                                        <p:cTn id="19" dur="1" fill="hold">
                                          <p:stCondLst>
                                            <p:cond delay="0"/>
                                          </p:stCondLst>
                                        </p:cTn>
                                        <p:tgtEl>
                                          <p:spTgt spid="4099">
                                            <p:txEl>
                                              <p:pRg st="0" end="0"/>
                                            </p:txEl>
                                          </p:spTgt>
                                        </p:tgtEl>
                                        <p:attrNameLst>
                                          <p:attrName>style.visibility</p:attrName>
                                        </p:attrNameLst>
                                      </p:cBhvr>
                                      <p:to>
                                        <p:strVal val="visible"/>
                                      </p:to>
                                    </p:set>
                                    <p:anim calcmode="lin" valueType="num">
                                      <p:cBhvr>
                                        <p:cTn id="20" dur="500" fill="hold"/>
                                        <p:tgtEl>
                                          <p:spTgt spid="4099">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4099">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409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0" fill="hold" grpId="0" nodeType="clickEffect">
                                  <p:stCondLst>
                                    <p:cond delay="500"/>
                                  </p:stCondLst>
                                  <p:iterate type="lt">
                                    <p:tmPct val="4000"/>
                                  </p:iterate>
                                  <p:childTnLst>
                                    <p:set>
                                      <p:cBhvr>
                                        <p:cTn id="26" dur="1" fill="hold">
                                          <p:stCondLst>
                                            <p:cond delay="0"/>
                                          </p:stCondLst>
                                        </p:cTn>
                                        <p:tgtEl>
                                          <p:spTgt spid="4099">
                                            <p:txEl>
                                              <p:pRg st="1" end="1"/>
                                            </p:txEl>
                                          </p:spTgt>
                                        </p:tgtEl>
                                        <p:attrNameLst>
                                          <p:attrName>style.visibility</p:attrName>
                                        </p:attrNameLst>
                                      </p:cBhvr>
                                      <p:to>
                                        <p:strVal val="visible"/>
                                      </p:to>
                                    </p:set>
                                    <p:anim calcmode="lin" valueType="num">
                                      <p:cBhvr>
                                        <p:cTn id="27" dur="500" fill="hold"/>
                                        <p:tgtEl>
                                          <p:spTgt spid="4099">
                                            <p:txEl>
                                              <p:pRg st="1" end="1"/>
                                            </p:txEl>
                                          </p:spTgt>
                                        </p:tgtEl>
                                        <p:attrNameLst>
                                          <p:attrName>ppt_w</p:attrName>
                                        </p:attrNameLst>
                                      </p:cBhvr>
                                      <p:tavLst>
                                        <p:tav tm="0">
                                          <p:val>
                                            <p:fltVal val="0"/>
                                          </p:val>
                                        </p:tav>
                                        <p:tav tm="100000">
                                          <p:val>
                                            <p:strVal val="#ppt_w"/>
                                          </p:val>
                                        </p:tav>
                                      </p:tavLst>
                                    </p:anim>
                                    <p:anim calcmode="lin" valueType="num">
                                      <p:cBhvr>
                                        <p:cTn id="28" dur="500" fill="hold"/>
                                        <p:tgtEl>
                                          <p:spTgt spid="4099">
                                            <p:txEl>
                                              <p:pRg st="1" end="1"/>
                                            </p:txEl>
                                          </p:spTgt>
                                        </p:tgtEl>
                                        <p:attrNameLst>
                                          <p:attrName>ppt_h</p:attrName>
                                        </p:attrNameLst>
                                      </p:cBhvr>
                                      <p:tavLst>
                                        <p:tav tm="0">
                                          <p:val>
                                            <p:fltVal val="0"/>
                                          </p:val>
                                        </p:tav>
                                        <p:tav tm="100000">
                                          <p:val>
                                            <p:strVal val="#ppt_h"/>
                                          </p:val>
                                        </p:tav>
                                      </p:tavLst>
                                    </p:anim>
                                    <p:animEffect transition="in" filter="fade">
                                      <p:cBhvr>
                                        <p:cTn id="29" dur="500"/>
                                        <p:tgtEl>
                                          <p:spTgt spid="409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0" fill="hold" grpId="0" nodeType="clickEffect">
                                  <p:stCondLst>
                                    <p:cond delay="0"/>
                                  </p:stCondLst>
                                  <p:iterate type="lt">
                                    <p:tmPct val="4000"/>
                                  </p:iterate>
                                  <p:childTnLst>
                                    <p:set>
                                      <p:cBhvr>
                                        <p:cTn id="33" dur="1" fill="hold">
                                          <p:stCondLst>
                                            <p:cond delay="0"/>
                                          </p:stCondLst>
                                        </p:cTn>
                                        <p:tgtEl>
                                          <p:spTgt spid="4099">
                                            <p:txEl>
                                              <p:pRg st="2" end="2"/>
                                            </p:txEl>
                                          </p:spTgt>
                                        </p:tgtEl>
                                        <p:attrNameLst>
                                          <p:attrName>style.visibility</p:attrName>
                                        </p:attrNameLst>
                                      </p:cBhvr>
                                      <p:to>
                                        <p:strVal val="visible"/>
                                      </p:to>
                                    </p:set>
                                    <p:anim calcmode="lin" valueType="num">
                                      <p:cBhvr>
                                        <p:cTn id="34" dur="500" fill="hold"/>
                                        <p:tgtEl>
                                          <p:spTgt spid="4099">
                                            <p:txEl>
                                              <p:pRg st="2" end="2"/>
                                            </p:txEl>
                                          </p:spTgt>
                                        </p:tgtEl>
                                        <p:attrNameLst>
                                          <p:attrName>ppt_w</p:attrName>
                                        </p:attrNameLst>
                                      </p:cBhvr>
                                      <p:tavLst>
                                        <p:tav tm="0">
                                          <p:val>
                                            <p:fltVal val="0"/>
                                          </p:val>
                                        </p:tav>
                                        <p:tav tm="100000">
                                          <p:val>
                                            <p:strVal val="#ppt_w"/>
                                          </p:val>
                                        </p:tav>
                                      </p:tavLst>
                                    </p:anim>
                                    <p:anim calcmode="lin" valueType="num">
                                      <p:cBhvr>
                                        <p:cTn id="35" dur="500" fill="hold"/>
                                        <p:tgtEl>
                                          <p:spTgt spid="4099">
                                            <p:txEl>
                                              <p:pRg st="2" end="2"/>
                                            </p:txEl>
                                          </p:spTgt>
                                        </p:tgtEl>
                                        <p:attrNameLst>
                                          <p:attrName>ppt_h</p:attrName>
                                        </p:attrNameLst>
                                      </p:cBhvr>
                                      <p:tavLst>
                                        <p:tav tm="0">
                                          <p:val>
                                            <p:fltVal val="0"/>
                                          </p:val>
                                        </p:tav>
                                        <p:tav tm="100000">
                                          <p:val>
                                            <p:strVal val="#ppt_h"/>
                                          </p:val>
                                        </p:tav>
                                      </p:tavLst>
                                    </p:anim>
                                    <p:animEffect transition="in" filter="fade">
                                      <p:cBhvr>
                                        <p:cTn id="36" dur="500"/>
                                        <p:tgtEl>
                                          <p:spTgt spid="4099">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grpId="0" nodeType="clickEffect">
                                  <p:stCondLst>
                                    <p:cond delay="0"/>
                                  </p:stCondLst>
                                  <p:iterate type="lt">
                                    <p:tmPct val="4000"/>
                                  </p:iterate>
                                  <p:childTnLst>
                                    <p:set>
                                      <p:cBhvr>
                                        <p:cTn id="40" dur="1" fill="hold">
                                          <p:stCondLst>
                                            <p:cond delay="0"/>
                                          </p:stCondLst>
                                        </p:cTn>
                                        <p:tgtEl>
                                          <p:spTgt spid="4099">
                                            <p:txEl>
                                              <p:pRg st="3" end="3"/>
                                            </p:txEl>
                                          </p:spTgt>
                                        </p:tgtEl>
                                        <p:attrNameLst>
                                          <p:attrName>style.visibility</p:attrName>
                                        </p:attrNameLst>
                                      </p:cBhvr>
                                      <p:to>
                                        <p:strVal val="visible"/>
                                      </p:to>
                                    </p:set>
                                    <p:anim calcmode="lin" valueType="num">
                                      <p:cBhvr>
                                        <p:cTn id="41" dur="500" fill="hold"/>
                                        <p:tgtEl>
                                          <p:spTgt spid="4099">
                                            <p:txEl>
                                              <p:pRg st="3" end="3"/>
                                            </p:txEl>
                                          </p:spTgt>
                                        </p:tgtEl>
                                        <p:attrNameLst>
                                          <p:attrName>ppt_w</p:attrName>
                                        </p:attrNameLst>
                                      </p:cBhvr>
                                      <p:tavLst>
                                        <p:tav tm="0">
                                          <p:val>
                                            <p:fltVal val="0"/>
                                          </p:val>
                                        </p:tav>
                                        <p:tav tm="100000">
                                          <p:val>
                                            <p:strVal val="#ppt_w"/>
                                          </p:val>
                                        </p:tav>
                                      </p:tavLst>
                                    </p:anim>
                                    <p:anim calcmode="lin" valueType="num">
                                      <p:cBhvr>
                                        <p:cTn id="42" dur="500" fill="hold"/>
                                        <p:tgtEl>
                                          <p:spTgt spid="4099">
                                            <p:txEl>
                                              <p:pRg st="3" end="3"/>
                                            </p:txEl>
                                          </p:spTgt>
                                        </p:tgtEl>
                                        <p:attrNameLst>
                                          <p:attrName>ppt_h</p:attrName>
                                        </p:attrNameLst>
                                      </p:cBhvr>
                                      <p:tavLst>
                                        <p:tav tm="0">
                                          <p:val>
                                            <p:fltVal val="0"/>
                                          </p:val>
                                        </p:tav>
                                        <p:tav tm="100000">
                                          <p:val>
                                            <p:strVal val="#ppt_h"/>
                                          </p:val>
                                        </p:tav>
                                      </p:tavLst>
                                    </p:anim>
                                    <p:animEffect transition="in" filter="fade">
                                      <p:cBhvr>
                                        <p:cTn id="43" dur="500"/>
                                        <p:tgtEl>
                                          <p:spTgt spid="4099">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grpId="0" nodeType="clickEffect">
                                  <p:stCondLst>
                                    <p:cond delay="0"/>
                                  </p:stCondLst>
                                  <p:iterate type="lt">
                                    <p:tmPct val="4000"/>
                                  </p:iterate>
                                  <p:childTnLst>
                                    <p:set>
                                      <p:cBhvr>
                                        <p:cTn id="47" dur="1" fill="hold">
                                          <p:stCondLst>
                                            <p:cond delay="0"/>
                                          </p:stCondLst>
                                        </p:cTn>
                                        <p:tgtEl>
                                          <p:spTgt spid="4099">
                                            <p:txEl>
                                              <p:pRg st="4" end="4"/>
                                            </p:txEl>
                                          </p:spTgt>
                                        </p:tgtEl>
                                        <p:attrNameLst>
                                          <p:attrName>style.visibility</p:attrName>
                                        </p:attrNameLst>
                                      </p:cBhvr>
                                      <p:to>
                                        <p:strVal val="visible"/>
                                      </p:to>
                                    </p:set>
                                    <p:anim calcmode="lin" valueType="num">
                                      <p:cBhvr>
                                        <p:cTn id="48" dur="500" fill="hold"/>
                                        <p:tgtEl>
                                          <p:spTgt spid="4099">
                                            <p:txEl>
                                              <p:pRg st="4" end="4"/>
                                            </p:txEl>
                                          </p:spTgt>
                                        </p:tgtEl>
                                        <p:attrNameLst>
                                          <p:attrName>ppt_w</p:attrName>
                                        </p:attrNameLst>
                                      </p:cBhvr>
                                      <p:tavLst>
                                        <p:tav tm="0">
                                          <p:val>
                                            <p:fltVal val="0"/>
                                          </p:val>
                                        </p:tav>
                                        <p:tav tm="100000">
                                          <p:val>
                                            <p:strVal val="#ppt_w"/>
                                          </p:val>
                                        </p:tav>
                                      </p:tavLst>
                                    </p:anim>
                                    <p:anim calcmode="lin" valueType="num">
                                      <p:cBhvr>
                                        <p:cTn id="49" dur="500" fill="hold"/>
                                        <p:tgtEl>
                                          <p:spTgt spid="4099">
                                            <p:txEl>
                                              <p:pRg st="4" end="4"/>
                                            </p:txEl>
                                          </p:spTgt>
                                        </p:tgtEl>
                                        <p:attrNameLst>
                                          <p:attrName>ppt_h</p:attrName>
                                        </p:attrNameLst>
                                      </p:cBhvr>
                                      <p:tavLst>
                                        <p:tav tm="0">
                                          <p:val>
                                            <p:fltVal val="0"/>
                                          </p:val>
                                        </p:tav>
                                        <p:tav tm="100000">
                                          <p:val>
                                            <p:strVal val="#ppt_h"/>
                                          </p:val>
                                        </p:tav>
                                      </p:tavLst>
                                    </p:anim>
                                    <p:animEffect transition="in" filter="fade">
                                      <p:cBhvr>
                                        <p:cTn id="50" dur="500"/>
                                        <p:tgtEl>
                                          <p:spTgt spid="4099">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0" fill="hold" grpId="0" nodeType="clickEffect">
                                  <p:stCondLst>
                                    <p:cond delay="0"/>
                                  </p:stCondLst>
                                  <p:iterate type="lt">
                                    <p:tmPct val="4000"/>
                                  </p:iterate>
                                  <p:childTnLst>
                                    <p:set>
                                      <p:cBhvr>
                                        <p:cTn id="54" dur="1" fill="hold">
                                          <p:stCondLst>
                                            <p:cond delay="0"/>
                                          </p:stCondLst>
                                        </p:cTn>
                                        <p:tgtEl>
                                          <p:spTgt spid="4099">
                                            <p:txEl>
                                              <p:pRg st="5" end="5"/>
                                            </p:txEl>
                                          </p:spTgt>
                                        </p:tgtEl>
                                        <p:attrNameLst>
                                          <p:attrName>style.visibility</p:attrName>
                                        </p:attrNameLst>
                                      </p:cBhvr>
                                      <p:to>
                                        <p:strVal val="visible"/>
                                      </p:to>
                                    </p:set>
                                    <p:anim calcmode="lin" valueType="num">
                                      <p:cBhvr>
                                        <p:cTn id="55" dur="500" fill="hold"/>
                                        <p:tgtEl>
                                          <p:spTgt spid="4099">
                                            <p:txEl>
                                              <p:pRg st="5" end="5"/>
                                            </p:txEl>
                                          </p:spTgt>
                                        </p:tgtEl>
                                        <p:attrNameLst>
                                          <p:attrName>ppt_w</p:attrName>
                                        </p:attrNameLst>
                                      </p:cBhvr>
                                      <p:tavLst>
                                        <p:tav tm="0">
                                          <p:val>
                                            <p:fltVal val="0"/>
                                          </p:val>
                                        </p:tav>
                                        <p:tav tm="100000">
                                          <p:val>
                                            <p:strVal val="#ppt_w"/>
                                          </p:val>
                                        </p:tav>
                                      </p:tavLst>
                                    </p:anim>
                                    <p:anim calcmode="lin" valueType="num">
                                      <p:cBhvr>
                                        <p:cTn id="56" dur="500" fill="hold"/>
                                        <p:tgtEl>
                                          <p:spTgt spid="4099">
                                            <p:txEl>
                                              <p:pRg st="5" end="5"/>
                                            </p:txEl>
                                          </p:spTgt>
                                        </p:tgtEl>
                                        <p:attrNameLst>
                                          <p:attrName>ppt_h</p:attrName>
                                        </p:attrNameLst>
                                      </p:cBhvr>
                                      <p:tavLst>
                                        <p:tav tm="0">
                                          <p:val>
                                            <p:fltVal val="0"/>
                                          </p:val>
                                        </p:tav>
                                        <p:tav tm="100000">
                                          <p:val>
                                            <p:strVal val="#ppt_h"/>
                                          </p:val>
                                        </p:tav>
                                      </p:tavLst>
                                    </p:anim>
                                    <p:animEffect transition="in" filter="fade">
                                      <p:cBhvr>
                                        <p:cTn id="57" dur="500"/>
                                        <p:tgtEl>
                                          <p:spTgt spid="4099">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0" fill="hold" grpId="0" nodeType="clickEffect">
                                  <p:stCondLst>
                                    <p:cond delay="0"/>
                                  </p:stCondLst>
                                  <p:iterate type="lt">
                                    <p:tmPct val="4000"/>
                                  </p:iterate>
                                  <p:childTnLst>
                                    <p:set>
                                      <p:cBhvr>
                                        <p:cTn id="61" dur="1" fill="hold">
                                          <p:stCondLst>
                                            <p:cond delay="0"/>
                                          </p:stCondLst>
                                        </p:cTn>
                                        <p:tgtEl>
                                          <p:spTgt spid="4099">
                                            <p:txEl>
                                              <p:pRg st="6" end="6"/>
                                            </p:txEl>
                                          </p:spTgt>
                                        </p:tgtEl>
                                        <p:attrNameLst>
                                          <p:attrName>style.visibility</p:attrName>
                                        </p:attrNameLst>
                                      </p:cBhvr>
                                      <p:to>
                                        <p:strVal val="visible"/>
                                      </p:to>
                                    </p:set>
                                    <p:anim calcmode="lin" valueType="num">
                                      <p:cBhvr>
                                        <p:cTn id="62" dur="500" fill="hold"/>
                                        <p:tgtEl>
                                          <p:spTgt spid="4099">
                                            <p:txEl>
                                              <p:pRg st="6" end="6"/>
                                            </p:txEl>
                                          </p:spTgt>
                                        </p:tgtEl>
                                        <p:attrNameLst>
                                          <p:attrName>ppt_w</p:attrName>
                                        </p:attrNameLst>
                                      </p:cBhvr>
                                      <p:tavLst>
                                        <p:tav tm="0">
                                          <p:val>
                                            <p:fltVal val="0"/>
                                          </p:val>
                                        </p:tav>
                                        <p:tav tm="100000">
                                          <p:val>
                                            <p:strVal val="#ppt_w"/>
                                          </p:val>
                                        </p:tav>
                                      </p:tavLst>
                                    </p:anim>
                                    <p:anim calcmode="lin" valueType="num">
                                      <p:cBhvr>
                                        <p:cTn id="63" dur="500" fill="hold"/>
                                        <p:tgtEl>
                                          <p:spTgt spid="4099">
                                            <p:txEl>
                                              <p:pRg st="6" end="6"/>
                                            </p:txEl>
                                          </p:spTgt>
                                        </p:tgtEl>
                                        <p:attrNameLst>
                                          <p:attrName>ppt_h</p:attrName>
                                        </p:attrNameLst>
                                      </p:cBhvr>
                                      <p:tavLst>
                                        <p:tav tm="0">
                                          <p:val>
                                            <p:fltVal val="0"/>
                                          </p:val>
                                        </p:tav>
                                        <p:tav tm="100000">
                                          <p:val>
                                            <p:strVal val="#ppt_h"/>
                                          </p:val>
                                        </p:tav>
                                      </p:tavLst>
                                    </p:anim>
                                    <p:animEffect transition="in" filter="fade">
                                      <p:cBhvr>
                                        <p:cTn id="64" dur="500"/>
                                        <p:tgtEl>
                                          <p:spTgt spid="4099">
                                            <p:txEl>
                                              <p:pRg st="6" end="6"/>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0" fill="hold" grpId="0" nodeType="clickEffect">
                                  <p:stCondLst>
                                    <p:cond delay="0"/>
                                  </p:stCondLst>
                                  <p:iterate type="lt">
                                    <p:tmPct val="4000"/>
                                  </p:iterate>
                                  <p:childTnLst>
                                    <p:set>
                                      <p:cBhvr>
                                        <p:cTn id="68" dur="1" fill="hold">
                                          <p:stCondLst>
                                            <p:cond delay="0"/>
                                          </p:stCondLst>
                                        </p:cTn>
                                        <p:tgtEl>
                                          <p:spTgt spid="4099">
                                            <p:txEl>
                                              <p:pRg st="7" end="7"/>
                                            </p:txEl>
                                          </p:spTgt>
                                        </p:tgtEl>
                                        <p:attrNameLst>
                                          <p:attrName>style.visibility</p:attrName>
                                        </p:attrNameLst>
                                      </p:cBhvr>
                                      <p:to>
                                        <p:strVal val="visible"/>
                                      </p:to>
                                    </p:set>
                                    <p:anim calcmode="lin" valueType="num">
                                      <p:cBhvr>
                                        <p:cTn id="69" dur="500" fill="hold"/>
                                        <p:tgtEl>
                                          <p:spTgt spid="4099">
                                            <p:txEl>
                                              <p:pRg st="7" end="7"/>
                                            </p:txEl>
                                          </p:spTgt>
                                        </p:tgtEl>
                                        <p:attrNameLst>
                                          <p:attrName>ppt_w</p:attrName>
                                        </p:attrNameLst>
                                      </p:cBhvr>
                                      <p:tavLst>
                                        <p:tav tm="0">
                                          <p:val>
                                            <p:fltVal val="0"/>
                                          </p:val>
                                        </p:tav>
                                        <p:tav tm="100000">
                                          <p:val>
                                            <p:strVal val="#ppt_w"/>
                                          </p:val>
                                        </p:tav>
                                      </p:tavLst>
                                    </p:anim>
                                    <p:anim calcmode="lin" valueType="num">
                                      <p:cBhvr>
                                        <p:cTn id="70" dur="500" fill="hold"/>
                                        <p:tgtEl>
                                          <p:spTgt spid="4099">
                                            <p:txEl>
                                              <p:pRg st="7" end="7"/>
                                            </p:txEl>
                                          </p:spTgt>
                                        </p:tgtEl>
                                        <p:attrNameLst>
                                          <p:attrName>ppt_h</p:attrName>
                                        </p:attrNameLst>
                                      </p:cBhvr>
                                      <p:tavLst>
                                        <p:tav tm="0">
                                          <p:val>
                                            <p:fltVal val="0"/>
                                          </p:val>
                                        </p:tav>
                                        <p:tav tm="100000">
                                          <p:val>
                                            <p:strVal val="#ppt_h"/>
                                          </p:val>
                                        </p:tav>
                                      </p:tavLst>
                                    </p:anim>
                                    <p:animEffect transition="in" filter="fade">
                                      <p:cBhvr>
                                        <p:cTn id="71" dur="500"/>
                                        <p:tgtEl>
                                          <p:spTgt spid="40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smtClean="0">
                <a:solidFill>
                  <a:srgbClr val="024069"/>
                </a:solidFill>
              </a:rPr>
              <a:t>Is Java still relevant?</a:t>
            </a:r>
            <a:endParaRPr lang="en-US" sz="4400" dirty="0">
              <a:solidFill>
                <a:srgbClr val="024069"/>
              </a:solidFill>
            </a:endParaRPr>
          </a:p>
        </p:txBody>
      </p:sp>
      <p:sp>
        <p:nvSpPr>
          <p:cNvPr id="4099" name="Rectangle 3"/>
          <p:cNvSpPr>
            <a:spLocks noGrp="1" noChangeArrowheads="1"/>
          </p:cNvSpPr>
          <p:nvPr>
            <p:ph type="body" idx="1"/>
          </p:nvPr>
        </p:nvSpPr>
        <p:spPr>
          <a:xfrm>
            <a:off x="457200" y="1295399"/>
            <a:ext cx="8382000" cy="4495801"/>
          </a:xfrm>
        </p:spPr>
        <p:txBody>
          <a:bodyPr/>
          <a:lstStyle/>
          <a:p>
            <a:pPr algn="just"/>
            <a:r>
              <a:rPr lang="en-US" sz="2000" dirty="0"/>
              <a:t>Learning Java in 2024 remains highly relevant for several reasons:</a:t>
            </a:r>
          </a:p>
          <a:p>
            <a:pPr algn="just"/>
            <a:r>
              <a:rPr lang="en-US" sz="2000" b="1" dirty="0"/>
              <a:t>Widespread Use</a:t>
            </a:r>
            <a:r>
              <a:rPr lang="en-US" sz="2000" dirty="0"/>
              <a:t>: Java is still one of the most popular programming languages globally, especially for enterprise-level applications, Android development, and backend systems. Companies like Amazon, Google, and financial institutions continue to rely heavily on Java for building scalable, secure, and high-performance systems.</a:t>
            </a:r>
          </a:p>
          <a:p>
            <a:pPr algn="just"/>
            <a:r>
              <a:rPr lang="en-US" sz="2000" b="1" dirty="0"/>
              <a:t>Enterprise and Backend Systems</a:t>
            </a:r>
            <a:r>
              <a:rPr lang="en-US" sz="2000" dirty="0"/>
              <a:t>: Many large-scale business applications, including those in banking, insurance, and e-commerce, are built using Java due to its stability, security, and vast ecosystem of tools and frameworks (e.g., Spring, Hibernate). Learning Java is crucial for maintaining or building these systems.</a:t>
            </a:r>
          </a:p>
          <a:p>
            <a:pPr algn="just"/>
            <a:r>
              <a:rPr lang="en-US" sz="2000" b="1" dirty="0"/>
              <a:t>Cross-Platform Capability</a:t>
            </a:r>
            <a:r>
              <a:rPr lang="en-US" sz="2000" dirty="0"/>
              <a:t>: Java’s “write once, run anywhere” (WORA) capability still makes it a go-to choice for developing cross-platform applications. This feature is particularly important in environments where software needs to be deployed on different operating systems without major modifications</a:t>
            </a:r>
            <a:r>
              <a:rPr lang="en-US" sz="2000" dirty="0" smtClean="0"/>
              <a:t>.</a:t>
            </a:r>
            <a:endParaRPr lang="en-US" sz="2000" dirty="0"/>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3</a:t>
            </a:fld>
            <a:endParaRPr lang="en-US" dirty="0"/>
          </a:p>
        </p:txBody>
      </p:sp>
    </p:spTree>
    <p:extLst>
      <p:ext uri="{BB962C8B-B14F-4D97-AF65-F5344CB8AC3E}">
        <p14:creationId xmlns:p14="http://schemas.microsoft.com/office/powerpoint/2010/main" val="41897552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1"/>
            <a:ext cx="7651750" cy="762000"/>
          </a:xfrm>
        </p:spPr>
        <p:txBody>
          <a:bodyPr/>
          <a:lstStyle/>
          <a:p>
            <a:r>
              <a:rPr lang="en-US" sz="4400" dirty="0" smtClean="0">
                <a:solidFill>
                  <a:srgbClr val="024069"/>
                </a:solidFill>
              </a:rPr>
              <a:t>Is Java still relevant?</a:t>
            </a:r>
            <a:endParaRPr lang="en-US" sz="4400" dirty="0">
              <a:solidFill>
                <a:srgbClr val="024069"/>
              </a:solidFill>
            </a:endParaRPr>
          </a:p>
        </p:txBody>
      </p:sp>
      <p:sp>
        <p:nvSpPr>
          <p:cNvPr id="4099" name="Rectangle 3"/>
          <p:cNvSpPr>
            <a:spLocks noGrp="1" noChangeArrowheads="1"/>
          </p:cNvSpPr>
          <p:nvPr>
            <p:ph type="body" idx="1"/>
          </p:nvPr>
        </p:nvSpPr>
        <p:spPr>
          <a:xfrm>
            <a:off x="457200" y="752852"/>
            <a:ext cx="8382000" cy="5038349"/>
          </a:xfrm>
        </p:spPr>
        <p:txBody>
          <a:bodyPr/>
          <a:lstStyle/>
          <a:p>
            <a:r>
              <a:rPr lang="en-US" sz="2000" b="1" dirty="0" smtClean="0"/>
              <a:t>Android </a:t>
            </a:r>
            <a:r>
              <a:rPr lang="en-US" sz="2000" b="1" dirty="0"/>
              <a:t>Development</a:t>
            </a:r>
            <a:r>
              <a:rPr lang="en-US" sz="2000" dirty="0"/>
              <a:t>: Java remains a core language for Android development, though </a:t>
            </a:r>
            <a:r>
              <a:rPr lang="en-US" sz="2000" dirty="0" err="1"/>
              <a:t>Kotlin</a:t>
            </a:r>
            <a:r>
              <a:rPr lang="en-US" sz="2000" dirty="0"/>
              <a:t> is now a preferred option for new Android projects. However, many existing Android apps and legacy systems still rely on Java.</a:t>
            </a:r>
          </a:p>
          <a:p>
            <a:r>
              <a:rPr lang="en-US" sz="2000" b="1" dirty="0"/>
              <a:t>Big Data and Cloud</a:t>
            </a:r>
            <a:r>
              <a:rPr lang="en-US" sz="2000" dirty="0"/>
              <a:t>: Java is a key language for Big Data technologies (e.g., Hadoop, Spark) and is also widely used in cloud-based applications. The cloud ecosystem, including platforms like AWS and Google Cloud, supports Java-based applications due to their reliability and performance.</a:t>
            </a:r>
          </a:p>
          <a:p>
            <a:r>
              <a:rPr lang="en-US" sz="2000" b="1" dirty="0"/>
              <a:t>Job Opportunities</a:t>
            </a:r>
            <a:r>
              <a:rPr lang="en-US" sz="2000" dirty="0"/>
              <a:t>: Java skills are highly sought after, with many job openings in software development, especially in backend engineering and Android development.</a:t>
            </a:r>
          </a:p>
          <a:p>
            <a:r>
              <a:rPr lang="en-US" sz="2000" b="1" dirty="0"/>
              <a:t>Learning Foundations</a:t>
            </a:r>
            <a:r>
              <a:rPr lang="en-US" sz="2000" dirty="0"/>
              <a:t>: Java’s object-oriented programming (OOP) principles make it an excellent language for learning fundamental programming concepts. These concepts are transferable to other languages, making Java a good foundation for further learning.</a:t>
            </a:r>
          </a:p>
          <a:p>
            <a:r>
              <a:rPr lang="en-US" sz="2000" dirty="0"/>
              <a:t>In summary, Java’s relevance in 2024 lies in its strong presence in enterprise solutions, mobile development, cloud computing, and a wide job market.</a:t>
            </a:r>
          </a:p>
          <a:p>
            <a:pPr algn="just"/>
            <a:endParaRPr lang="en-US" sz="20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4</a:t>
            </a:fld>
            <a:endParaRPr lang="en-US" dirty="0"/>
          </a:p>
        </p:txBody>
      </p:sp>
    </p:spTree>
    <p:extLst>
      <p:ext uri="{BB962C8B-B14F-4D97-AF65-F5344CB8AC3E}">
        <p14:creationId xmlns:p14="http://schemas.microsoft.com/office/powerpoint/2010/main" val="40519298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History of OOP Language</a:t>
            </a:r>
          </a:p>
        </p:txBody>
      </p:sp>
      <p:sp>
        <p:nvSpPr>
          <p:cNvPr id="4099" name="Rectangle 3"/>
          <p:cNvSpPr>
            <a:spLocks noGrp="1" noChangeArrowheads="1"/>
          </p:cNvSpPr>
          <p:nvPr>
            <p:ph type="body" idx="1"/>
          </p:nvPr>
        </p:nvSpPr>
        <p:spPr>
          <a:xfrm>
            <a:off x="457200" y="1295399"/>
            <a:ext cx="8185150" cy="4495801"/>
          </a:xfrm>
        </p:spPr>
        <p:txBody>
          <a:bodyPr/>
          <a:lstStyle/>
          <a:p>
            <a:pPr algn="just"/>
            <a:r>
              <a:rPr lang="en-US" sz="2800" b="1" dirty="0" err="1">
                <a:solidFill>
                  <a:srgbClr val="024069"/>
                </a:solidFill>
              </a:rPr>
              <a:t>Simula</a:t>
            </a:r>
            <a:r>
              <a:rPr lang="en-US" sz="2800" dirty="0"/>
              <a:t> </a:t>
            </a:r>
            <a:r>
              <a:rPr lang="en-US" sz="2800" dirty="0" smtClean="0"/>
              <a:t>(1962) is </a:t>
            </a:r>
            <a:r>
              <a:rPr lang="en-US" sz="2800" dirty="0"/>
              <a:t>considered the first object-oriented programming language. The programming paradigm where everything is represented as an object is known as a truly object-oriented programming language.</a:t>
            </a:r>
          </a:p>
          <a:p>
            <a:pPr algn="just"/>
            <a:endParaRPr lang="en-US" sz="2800" dirty="0"/>
          </a:p>
          <a:p>
            <a:pPr algn="just"/>
            <a:r>
              <a:rPr lang="en-US" sz="2800" b="1" dirty="0">
                <a:solidFill>
                  <a:srgbClr val="024069"/>
                </a:solidFill>
              </a:rPr>
              <a:t>Smalltalk</a:t>
            </a:r>
            <a:r>
              <a:rPr lang="en-US" sz="2800" dirty="0"/>
              <a:t> </a:t>
            </a:r>
            <a:r>
              <a:rPr lang="en-US" sz="2800" dirty="0" smtClean="0"/>
              <a:t>(1970) is </a:t>
            </a:r>
            <a:r>
              <a:rPr lang="en-US" sz="2800" dirty="0"/>
              <a:t>considered the first truly object-oriented programming language.</a:t>
            </a:r>
          </a:p>
          <a:p>
            <a:pPr algn="just"/>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5</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History of Java</a:t>
            </a:r>
          </a:p>
        </p:txBody>
      </p:sp>
      <p:sp>
        <p:nvSpPr>
          <p:cNvPr id="4099" name="Rectangle 3"/>
          <p:cNvSpPr>
            <a:spLocks noGrp="1" noChangeArrowheads="1"/>
          </p:cNvSpPr>
          <p:nvPr>
            <p:ph type="body" idx="1"/>
          </p:nvPr>
        </p:nvSpPr>
        <p:spPr>
          <a:xfrm>
            <a:off x="457200" y="1295399"/>
            <a:ext cx="8382000" cy="4495801"/>
          </a:xfrm>
        </p:spPr>
        <p:txBody>
          <a:bodyPr/>
          <a:lstStyle/>
          <a:p>
            <a:pPr>
              <a:buFont typeface="Arial" pitchFamily="34" charset="0"/>
              <a:buChar char="•"/>
            </a:pPr>
            <a:r>
              <a:rPr lang="en-US" sz="2600" dirty="0"/>
              <a:t>Java is a general purpose object oriented programming language.</a:t>
            </a:r>
          </a:p>
          <a:p>
            <a:pPr>
              <a:buFont typeface="Arial" pitchFamily="34" charset="0"/>
              <a:buChar char="•"/>
            </a:pPr>
            <a:r>
              <a:rPr lang="en-US" sz="2600" dirty="0"/>
              <a:t>Developed by Sun Microsystems. (James </a:t>
            </a:r>
            <a:r>
              <a:rPr lang="en-US" sz="2600" dirty="0" smtClean="0"/>
              <a:t>Gosling</a:t>
            </a:r>
            <a:r>
              <a:rPr lang="en-US" sz="2600" dirty="0"/>
              <a:t>)</a:t>
            </a:r>
          </a:p>
          <a:p>
            <a:pPr>
              <a:buFont typeface="Arial" pitchFamily="34" charset="0"/>
              <a:buChar char="•"/>
            </a:pPr>
            <a:r>
              <a:rPr lang="en-US" sz="2600" dirty="0"/>
              <a:t>Initially called “Oak” but was renamed as “Java” in 1995.</a:t>
            </a:r>
          </a:p>
          <a:p>
            <a:pPr>
              <a:buFont typeface="Arial" pitchFamily="34" charset="0"/>
              <a:buChar char="•"/>
            </a:pPr>
            <a:r>
              <a:rPr lang="en-US" sz="2600" dirty="0"/>
              <a:t>Initial motivation is to develop a platform independent language to create software to be embedded in various consumer electronics devices.</a:t>
            </a:r>
          </a:p>
          <a:p>
            <a:pPr>
              <a:buFont typeface="Arial" pitchFamily="34" charset="0"/>
              <a:buChar char="•"/>
            </a:pPr>
            <a:r>
              <a:rPr lang="en-US" sz="2600" dirty="0"/>
              <a:t>Become the language of internet. (portability and security).</a:t>
            </a:r>
          </a:p>
          <a:p>
            <a:pPr>
              <a:buFont typeface="Arial" pitchFamily="34" charset="0"/>
              <a:buChar char="•"/>
            </a:pPr>
            <a:endParaRPr lang="en-US" sz="26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6</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200" dirty="0">
                <a:solidFill>
                  <a:srgbClr val="024069"/>
                </a:solidFill>
              </a:rPr>
              <a:t>Object-Oriented Programming System</a:t>
            </a:r>
          </a:p>
        </p:txBody>
      </p:sp>
      <p:sp>
        <p:nvSpPr>
          <p:cNvPr id="4099" name="Rectangle 3"/>
          <p:cNvSpPr>
            <a:spLocks noGrp="1" noChangeArrowheads="1"/>
          </p:cNvSpPr>
          <p:nvPr>
            <p:ph type="body" idx="1"/>
          </p:nvPr>
        </p:nvSpPr>
        <p:spPr>
          <a:xfrm>
            <a:off x="457200" y="1295399"/>
            <a:ext cx="8382000" cy="4495801"/>
          </a:xfrm>
        </p:spPr>
        <p:txBody>
          <a:bodyPr/>
          <a:lstStyle/>
          <a:p>
            <a:r>
              <a:rPr lang="en-US" sz="2600" b="1" dirty="0">
                <a:solidFill>
                  <a:srgbClr val="024069"/>
                </a:solidFill>
              </a:rPr>
              <a:t>Object</a:t>
            </a:r>
            <a:r>
              <a:rPr lang="en-US" sz="2600" dirty="0"/>
              <a:t> means a real-world entity such as a pen, chair, table, computer, watch, etc. </a:t>
            </a:r>
          </a:p>
          <a:p>
            <a:r>
              <a:rPr lang="en-US" sz="2600" b="1" dirty="0">
                <a:solidFill>
                  <a:srgbClr val="024069"/>
                </a:solidFill>
              </a:rPr>
              <a:t>Object-Oriented Programming</a:t>
            </a:r>
            <a:r>
              <a:rPr lang="en-US" sz="2600" dirty="0">
                <a:solidFill>
                  <a:srgbClr val="024069"/>
                </a:solidFill>
              </a:rPr>
              <a:t> </a:t>
            </a:r>
            <a:r>
              <a:rPr lang="en-US" sz="2600" dirty="0"/>
              <a:t>is a methodology or paradigm to design a program using classes and objects.</a:t>
            </a:r>
          </a:p>
          <a:p>
            <a:r>
              <a:rPr lang="en-US" sz="2600" dirty="0"/>
              <a:t>It simplifies software development and maintenance by providing some concepts:</a:t>
            </a:r>
          </a:p>
          <a:p>
            <a:pPr lvl="1"/>
            <a:r>
              <a:rPr lang="en-US" sz="2000" dirty="0"/>
              <a:t>Object</a:t>
            </a:r>
          </a:p>
          <a:p>
            <a:pPr lvl="1"/>
            <a:r>
              <a:rPr lang="en-US" sz="2000" dirty="0"/>
              <a:t>Class</a:t>
            </a:r>
          </a:p>
          <a:p>
            <a:pPr lvl="1"/>
            <a:r>
              <a:rPr lang="en-US" sz="2000" dirty="0"/>
              <a:t>Inheritance</a:t>
            </a:r>
          </a:p>
          <a:p>
            <a:pPr lvl="1"/>
            <a:r>
              <a:rPr lang="en-US" sz="2000" dirty="0"/>
              <a:t>Polymorphism</a:t>
            </a:r>
          </a:p>
          <a:p>
            <a:pPr lvl="1"/>
            <a:r>
              <a:rPr lang="en-US" sz="2000" dirty="0"/>
              <a:t>Abstraction</a:t>
            </a:r>
          </a:p>
          <a:p>
            <a:pPr lvl="1"/>
            <a:r>
              <a:rPr lang="en-US" sz="2000" dirty="0"/>
              <a:t>Encapsulation</a:t>
            </a:r>
          </a:p>
          <a:p>
            <a:endParaRPr lang="en-US" sz="26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7</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F0065440-4C8F-497D-8DC5-47855554306F}" type="slidenum">
              <a:rPr lang="en-US" smtClean="0"/>
              <a:pPr/>
              <a:t>8</a:t>
            </a:fld>
            <a:endParaRPr lang="en-US" dirty="0"/>
          </a:p>
        </p:txBody>
      </p:sp>
      <p:pic>
        <p:nvPicPr>
          <p:cNvPr id="1026" name="Picture 2" descr="C:\Users\Jubayer Al Mahmud\Desktop\java-oops.png"/>
          <p:cNvPicPr>
            <a:picLocks noChangeAspect="1" noChangeArrowheads="1"/>
          </p:cNvPicPr>
          <p:nvPr/>
        </p:nvPicPr>
        <p:blipFill>
          <a:blip r:embed="rId3" cstate="print"/>
          <a:srcRect/>
          <a:stretch>
            <a:fillRect/>
          </a:stretch>
        </p:blipFill>
        <p:spPr bwMode="auto">
          <a:xfrm>
            <a:off x="457200" y="533400"/>
            <a:ext cx="8480200" cy="5715000"/>
          </a:xfrm>
          <a:prstGeom prst="rect">
            <a:avLst/>
          </a:prstGeom>
          <a:noFill/>
        </p:spPr>
      </p:pic>
    </p:spTree>
    <p:extLst>
      <p:ext uri="{BB962C8B-B14F-4D97-AF65-F5344CB8AC3E}">
        <p14:creationId xmlns:p14="http://schemas.microsoft.com/office/powerpoint/2010/main" val="245747659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200" b="1" dirty="0">
                <a:solidFill>
                  <a:srgbClr val="024069"/>
                </a:solidFill>
              </a:rPr>
              <a:t>Object-Oriented Programming System</a:t>
            </a:r>
            <a:endParaRPr lang="en-US" sz="3200" dirty="0">
              <a:solidFill>
                <a:srgbClr val="024069"/>
              </a:solidFill>
            </a:endParaRPr>
          </a:p>
        </p:txBody>
      </p:sp>
      <p:sp>
        <p:nvSpPr>
          <p:cNvPr id="4099" name="Rectangle 3"/>
          <p:cNvSpPr>
            <a:spLocks noGrp="1" noChangeArrowheads="1"/>
          </p:cNvSpPr>
          <p:nvPr>
            <p:ph type="body" idx="1"/>
          </p:nvPr>
        </p:nvSpPr>
        <p:spPr>
          <a:xfrm>
            <a:off x="457200" y="1295399"/>
            <a:ext cx="8382000" cy="4495801"/>
          </a:xfrm>
        </p:spPr>
        <p:txBody>
          <a:bodyPr/>
          <a:lstStyle/>
          <a:p>
            <a:r>
              <a:rPr lang="en-US" sz="2000" dirty="0"/>
              <a:t>Apart from those concepts, there are some other terms which are used in Object-Oriented design: </a:t>
            </a:r>
          </a:p>
          <a:p>
            <a:pPr lvl="1"/>
            <a:r>
              <a:rPr lang="en-US" sz="2000" dirty="0"/>
              <a:t>Coupling</a:t>
            </a:r>
          </a:p>
          <a:p>
            <a:pPr lvl="2"/>
            <a:r>
              <a:rPr lang="en-US" sz="1800" dirty="0"/>
              <a:t>Coupling refers to the degree of direct knowledge that one element has of another. In other words, how often do changes in class A force related changes in class B.</a:t>
            </a:r>
            <a:endParaRPr lang="en-US" sz="2000" dirty="0"/>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9</a:t>
            </a:fld>
            <a:endParaRPr lang="en-US" dirty="0"/>
          </a:p>
        </p:txBody>
      </p:sp>
      <p:sp>
        <p:nvSpPr>
          <p:cNvPr id="5" name="Rectangle 2">
            <a:extLst>
              <a:ext uri="{FF2B5EF4-FFF2-40B4-BE49-F238E27FC236}">
                <a16:creationId xmlns:a16="http://schemas.microsoft.com/office/drawing/2014/main" id="{830D6266-E808-8146-EBA8-DBC9F43DEB80}"/>
              </a:ext>
            </a:extLst>
          </p:cNvPr>
          <p:cNvSpPr>
            <a:spLocks noChangeArrowheads="1"/>
          </p:cNvSpPr>
          <p:nvPr/>
        </p:nvSpPr>
        <p:spPr bwMode="auto">
          <a:xfrm>
            <a:off x="598782" y="3352800"/>
            <a:ext cx="4278018"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8200"/>
                </a:solidFill>
                <a:effectLst/>
                <a:latin typeface="Consolas" panose="020B0609020204030204" pitchFamily="49" charset="0"/>
              </a:rPr>
              <a:t>// tight coupling concept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6699"/>
                </a:solidFill>
                <a:effectLst/>
                <a:latin typeface="Consolas" panose="020B0609020204030204" pitchFamily="49" charset="0"/>
              </a:rPr>
              <a:t>class</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1" i="0" u="none" strike="noStrike" cap="none" normalizeH="0" baseline="0" dirty="0">
                <a:ln>
                  <a:noFill/>
                </a:ln>
                <a:solidFill>
                  <a:srgbClr val="000000"/>
                </a:solidFill>
                <a:effectLst/>
                <a:latin typeface="Consolas" panose="020B0609020204030204" pitchFamily="49" charset="0"/>
              </a:rPr>
              <a:t>Subject</a:t>
            </a: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Topic t = </a:t>
            </a:r>
            <a:r>
              <a:rPr kumimoji="0" lang="en-US" altLang="en-US" sz="1100" b="1" i="0" u="none" strike="noStrike" cap="none" normalizeH="0" baseline="0" dirty="0">
                <a:ln>
                  <a:noFill/>
                </a:ln>
                <a:solidFill>
                  <a:srgbClr val="006699"/>
                </a:solidFill>
                <a:effectLst/>
                <a:latin typeface="Consolas" panose="020B0609020204030204" pitchFamily="49" charset="0"/>
              </a:rPr>
              <a:t>new</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Topic();</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public</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void</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err="1">
                <a:ln>
                  <a:noFill/>
                </a:ln>
                <a:solidFill>
                  <a:srgbClr val="000000"/>
                </a:solidFill>
                <a:effectLst/>
                <a:latin typeface="Consolas" panose="020B0609020204030204" pitchFamily="49" charset="0"/>
              </a:rPr>
              <a:t>startReading</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err="1">
                <a:ln>
                  <a:noFill/>
                </a:ln>
                <a:solidFill>
                  <a:srgbClr val="000000"/>
                </a:solidFill>
                <a:effectLst/>
                <a:latin typeface="Consolas" panose="020B0609020204030204" pitchFamily="49" charset="0"/>
              </a:rPr>
              <a:t>t.understand</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6699"/>
                </a:solidFill>
                <a:effectLst/>
                <a:latin typeface="Consolas" panose="020B0609020204030204" pitchFamily="49" charset="0"/>
              </a:rPr>
              <a:t>class</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1" i="0" u="none" strike="noStrike" cap="none" normalizeH="0" baseline="0" dirty="0">
                <a:ln>
                  <a:noFill/>
                </a:ln>
                <a:solidFill>
                  <a:srgbClr val="000000"/>
                </a:solidFill>
                <a:effectLst/>
                <a:latin typeface="Consolas" panose="020B0609020204030204" pitchFamily="49" charset="0"/>
              </a:rPr>
              <a:t>Topic</a:t>
            </a:r>
            <a:r>
              <a:rPr kumimoji="0" lang="en-US" altLang="en-US" sz="1100" b="0" i="0" u="none" strike="noStrike" cap="none" normalizeH="0" baseline="0" dirty="0">
                <a:ln>
                  <a:noFill/>
                </a:ln>
                <a:solidFill>
                  <a:srgbClr val="000000"/>
                </a:solidFill>
                <a:effectLst/>
                <a:latin typeface="Consolas" panose="020B0609020204030204" pitchFamily="49" charset="0"/>
              </a:rPr>
              <a:t> {</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public</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1" i="0" u="none" strike="noStrike" cap="none" normalizeH="0" baseline="0" dirty="0">
                <a:ln>
                  <a:noFill/>
                </a:ln>
                <a:solidFill>
                  <a:srgbClr val="006699"/>
                </a:solidFill>
                <a:effectLst/>
                <a:latin typeface="Consolas" panose="020B0609020204030204" pitchFamily="49" charset="0"/>
              </a:rPr>
              <a:t>void</a:t>
            </a:r>
            <a:r>
              <a:rPr kumimoji="0" lang="en-US" altLang="en-US" sz="4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understand()</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err="1">
                <a:ln>
                  <a:noFill/>
                </a:ln>
                <a:solidFill>
                  <a:srgbClr val="000000"/>
                </a:solidFill>
                <a:effectLst/>
                <a:latin typeface="Consolas" panose="020B0609020204030204" pitchFamily="49" charset="0"/>
              </a:rPr>
              <a:t>System.out.println</a:t>
            </a:r>
            <a:r>
              <a:rPr kumimoji="0" lang="en-US" altLang="en-US" sz="1100" b="0" i="0" u="none" strike="noStrike" cap="none" normalizeH="0" baseline="0" dirty="0">
                <a:ln>
                  <a:noFill/>
                </a:ln>
                <a:solidFill>
                  <a:srgbClr val="000000"/>
                </a:solidFill>
                <a:effectLst/>
                <a:latin typeface="Consolas" panose="020B0609020204030204" pitchFamily="49" charset="0"/>
              </a:rPr>
              <a:t>(</a:t>
            </a:r>
            <a:r>
              <a:rPr kumimoji="0" lang="en-US" altLang="en-US" sz="1100" b="0" i="0" u="none" strike="noStrike" cap="none" normalizeH="0" baseline="0" dirty="0">
                <a:ln>
                  <a:noFill/>
                </a:ln>
                <a:solidFill>
                  <a:srgbClr val="0000FF"/>
                </a:solidFill>
                <a:effectLst/>
                <a:latin typeface="Consolas" panose="020B0609020204030204" pitchFamily="49" charset="0"/>
              </a:rPr>
              <a:t>"Tight coupling concept"</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onsolas" panose="020B0609020204030204" pitchFamily="49"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8410A82-816C-112D-88CB-49B1DFBAB131}"/>
              </a:ext>
            </a:extLst>
          </p:cNvPr>
          <p:cNvSpPr txBox="1"/>
          <p:nvPr/>
        </p:nvSpPr>
        <p:spPr>
          <a:xfrm>
            <a:off x="4859215" y="3352800"/>
            <a:ext cx="3657600" cy="2246769"/>
          </a:xfrm>
          <a:prstGeom prst="rect">
            <a:avLst/>
          </a:prstGeom>
          <a:noFill/>
        </p:spPr>
        <p:txBody>
          <a:bodyPr wrap="square">
            <a:spAutoFit/>
          </a:bodyPr>
          <a:lstStyle/>
          <a:p>
            <a:pPr algn="just"/>
            <a:r>
              <a:rPr lang="en-US" sz="1400" dirty="0">
                <a:latin typeface="+mn-lt"/>
                <a:cs typeface="Times New Roman" panose="02020603050405020304" pitchFamily="18" charset="0"/>
              </a:rPr>
              <a:t>In this program the </a:t>
            </a:r>
            <a:r>
              <a:rPr lang="en-US" sz="1400" b="1" dirty="0">
                <a:latin typeface="+mn-lt"/>
                <a:cs typeface="Times New Roman" panose="02020603050405020304" pitchFamily="18" charset="0"/>
              </a:rPr>
              <a:t>Subject</a:t>
            </a:r>
            <a:r>
              <a:rPr lang="en-US" sz="1400" dirty="0">
                <a:latin typeface="+mn-lt"/>
                <a:cs typeface="Times New Roman" panose="02020603050405020304" pitchFamily="18" charset="0"/>
              </a:rPr>
              <a:t> class is dependents on </a:t>
            </a:r>
            <a:r>
              <a:rPr lang="en-US" sz="1400" b="1" dirty="0">
                <a:latin typeface="+mn-lt"/>
                <a:cs typeface="Times New Roman" panose="02020603050405020304" pitchFamily="18" charset="0"/>
              </a:rPr>
              <a:t>Topic</a:t>
            </a:r>
            <a:r>
              <a:rPr lang="en-US" sz="1400" dirty="0">
                <a:latin typeface="+mn-lt"/>
                <a:cs typeface="Times New Roman" panose="02020603050405020304" pitchFamily="18" charset="0"/>
              </a:rPr>
              <a:t> class. In the program Subject class is tightly coupled with </a:t>
            </a:r>
            <a:r>
              <a:rPr lang="en-US" sz="1400" b="1" dirty="0">
                <a:latin typeface="+mn-lt"/>
                <a:cs typeface="Times New Roman" panose="02020603050405020304" pitchFamily="18" charset="0"/>
              </a:rPr>
              <a:t>Topic</a:t>
            </a:r>
            <a:r>
              <a:rPr lang="en-US" sz="1400" dirty="0">
                <a:latin typeface="+mn-lt"/>
                <a:cs typeface="Times New Roman" panose="02020603050405020304" pitchFamily="18" charset="0"/>
              </a:rPr>
              <a:t> class it means if any change in the </a:t>
            </a:r>
            <a:r>
              <a:rPr lang="en-US" sz="1400" b="1" dirty="0">
                <a:latin typeface="+mn-lt"/>
                <a:cs typeface="Times New Roman" panose="02020603050405020304" pitchFamily="18" charset="0"/>
              </a:rPr>
              <a:t>Topic</a:t>
            </a:r>
            <a:r>
              <a:rPr lang="en-US" sz="1400" dirty="0">
                <a:latin typeface="+mn-lt"/>
                <a:cs typeface="Times New Roman" panose="02020603050405020304" pitchFamily="18" charset="0"/>
              </a:rPr>
              <a:t> class requires </a:t>
            </a:r>
            <a:r>
              <a:rPr lang="en-US" sz="1400" b="1" dirty="0">
                <a:latin typeface="+mn-lt"/>
                <a:cs typeface="Times New Roman" panose="02020603050405020304" pitchFamily="18" charset="0"/>
              </a:rPr>
              <a:t>Subject</a:t>
            </a:r>
            <a:r>
              <a:rPr lang="en-US" sz="1400" dirty="0">
                <a:latin typeface="+mn-lt"/>
                <a:cs typeface="Times New Roman" panose="02020603050405020304" pitchFamily="18" charset="0"/>
              </a:rPr>
              <a:t> class to change. For example, if </a:t>
            </a:r>
            <a:r>
              <a:rPr lang="en-US" sz="1400" b="1" dirty="0">
                <a:latin typeface="+mn-lt"/>
                <a:cs typeface="Times New Roman" panose="02020603050405020304" pitchFamily="18" charset="0"/>
              </a:rPr>
              <a:t>Topic</a:t>
            </a:r>
            <a:r>
              <a:rPr lang="en-US" sz="1400" dirty="0">
                <a:latin typeface="+mn-lt"/>
                <a:cs typeface="Times New Roman" panose="02020603050405020304" pitchFamily="18" charset="0"/>
              </a:rPr>
              <a:t> class </a:t>
            </a:r>
            <a:r>
              <a:rPr lang="en-US" sz="1400" b="1" dirty="0">
                <a:latin typeface="+mn-lt"/>
                <a:cs typeface="Times New Roman" panose="02020603050405020304" pitchFamily="18" charset="0"/>
              </a:rPr>
              <a:t>understand() </a:t>
            </a:r>
            <a:r>
              <a:rPr lang="en-US" sz="1400" dirty="0">
                <a:latin typeface="+mn-lt"/>
                <a:cs typeface="Times New Roman" panose="02020603050405020304" pitchFamily="18" charset="0"/>
              </a:rPr>
              <a:t>method change to </a:t>
            </a:r>
            <a:r>
              <a:rPr lang="en-US" sz="1400" b="1" dirty="0" err="1">
                <a:latin typeface="+mn-lt"/>
                <a:cs typeface="Times New Roman" panose="02020603050405020304" pitchFamily="18" charset="0"/>
              </a:rPr>
              <a:t>gotit</a:t>
            </a:r>
            <a:r>
              <a:rPr lang="en-US" sz="1400" b="1" dirty="0">
                <a:latin typeface="+mn-lt"/>
                <a:cs typeface="Times New Roman" panose="02020603050405020304" pitchFamily="18" charset="0"/>
              </a:rPr>
              <a:t>()</a:t>
            </a:r>
            <a:r>
              <a:rPr lang="en-US" sz="1400" dirty="0">
                <a:latin typeface="+mn-lt"/>
                <a:cs typeface="Times New Roman" panose="02020603050405020304" pitchFamily="18" charset="0"/>
              </a:rPr>
              <a:t> method then you have to change the </a:t>
            </a:r>
            <a:r>
              <a:rPr lang="en-US" sz="1400" b="1" dirty="0" err="1">
                <a:latin typeface="+mn-lt"/>
                <a:cs typeface="Times New Roman" panose="02020603050405020304" pitchFamily="18" charset="0"/>
              </a:rPr>
              <a:t>startReading</a:t>
            </a:r>
            <a:r>
              <a:rPr lang="en-US" sz="1400" b="1" dirty="0">
                <a:latin typeface="+mn-lt"/>
                <a:cs typeface="Times New Roman" panose="02020603050405020304" pitchFamily="18" charset="0"/>
              </a:rPr>
              <a:t>() </a:t>
            </a:r>
            <a:r>
              <a:rPr lang="en-US" sz="1400" dirty="0">
                <a:latin typeface="+mn-lt"/>
                <a:cs typeface="Times New Roman" panose="02020603050405020304" pitchFamily="18" charset="0"/>
              </a:rPr>
              <a:t>method  calling </a:t>
            </a:r>
            <a:r>
              <a:rPr lang="en-US" sz="1400" b="1" dirty="0" err="1">
                <a:latin typeface="+mn-lt"/>
                <a:cs typeface="Times New Roman" panose="02020603050405020304" pitchFamily="18" charset="0"/>
              </a:rPr>
              <a:t>gotit</a:t>
            </a:r>
            <a:r>
              <a:rPr lang="en-US" sz="1400" b="1" dirty="0">
                <a:latin typeface="+mn-lt"/>
                <a:cs typeface="Times New Roman" panose="02020603050405020304" pitchFamily="18" charset="0"/>
              </a:rPr>
              <a:t>()</a:t>
            </a:r>
            <a:r>
              <a:rPr lang="en-US" sz="1400" dirty="0">
                <a:latin typeface="+mn-lt"/>
                <a:cs typeface="Times New Roman" panose="02020603050405020304" pitchFamily="18" charset="0"/>
              </a:rPr>
              <a:t> method instead of calling </a:t>
            </a:r>
            <a:r>
              <a:rPr lang="en-US" sz="1400" b="1" dirty="0">
                <a:latin typeface="+mn-lt"/>
                <a:cs typeface="Times New Roman" panose="02020603050405020304" pitchFamily="18" charset="0"/>
              </a:rPr>
              <a:t>understand() </a:t>
            </a:r>
            <a:r>
              <a:rPr lang="en-US" sz="1400" dirty="0">
                <a:latin typeface="+mn-lt"/>
                <a:cs typeface="Times New Roman" panose="02020603050405020304" pitchFamily="18" charset="0"/>
              </a:rPr>
              <a:t>method.</a:t>
            </a:r>
          </a:p>
        </p:txBody>
      </p:sp>
    </p:spTree>
    <p:extLst>
      <p:ext uri="{BB962C8B-B14F-4D97-AF65-F5344CB8AC3E}">
        <p14:creationId xmlns:p14="http://schemas.microsoft.com/office/powerpoint/2010/main" val="189453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no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200" b="1" dirty="0">
                <a:solidFill>
                  <a:srgbClr val="024069"/>
                </a:solidFill>
              </a:rPr>
              <a:t>Object-Oriented Programming System</a:t>
            </a:r>
            <a:endParaRPr lang="en-US" sz="3200" dirty="0">
              <a:solidFill>
                <a:srgbClr val="024069"/>
              </a:solidFill>
            </a:endParaRPr>
          </a:p>
        </p:txBody>
      </p:sp>
      <p:sp>
        <p:nvSpPr>
          <p:cNvPr id="4099" name="Rectangle 3"/>
          <p:cNvSpPr>
            <a:spLocks noGrp="1" noChangeArrowheads="1"/>
          </p:cNvSpPr>
          <p:nvPr>
            <p:ph type="body" idx="1"/>
          </p:nvPr>
        </p:nvSpPr>
        <p:spPr>
          <a:xfrm>
            <a:off x="457200" y="1295399"/>
            <a:ext cx="8382000" cy="4495801"/>
          </a:xfrm>
        </p:spPr>
        <p:txBody>
          <a:bodyPr/>
          <a:lstStyle/>
          <a:p>
            <a:r>
              <a:rPr lang="en-US" sz="2000" dirty="0"/>
              <a:t>Apart from those concepts, there are some other terms which are used in Object-Oriented design:</a:t>
            </a:r>
          </a:p>
          <a:p>
            <a:pPr lvl="1"/>
            <a:r>
              <a:rPr lang="en-US" sz="2000" dirty="0"/>
              <a:t>Cohesion</a:t>
            </a:r>
          </a:p>
          <a:p>
            <a:pPr lvl="2" algn="just"/>
            <a:r>
              <a:rPr lang="en-US" sz="1800" dirty="0"/>
              <a:t>Cohesion refers to how a single class is designed. Suppose we have a class that multiplies two numbers, but the same class creates a pop-up window displaying the result. This is an example of a low cohesive class because the window and the multiplication operation don’t have much in common. To make it high cohesive, we would have to create a class Display and a class Multiply. The Display will call Multiply method to get the result and display it.</a:t>
            </a:r>
          </a:p>
          <a:p>
            <a:pPr lvl="1"/>
            <a:endParaRPr lang="en-US" sz="1600" b="1" dirty="0"/>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10</a:t>
            </a:fld>
            <a:endParaRPr lang="en-US" dirty="0"/>
          </a:p>
        </p:txBody>
      </p:sp>
      <p:pic>
        <p:nvPicPr>
          <p:cNvPr id="4" name="Picture 3">
            <a:extLst>
              <a:ext uri="{FF2B5EF4-FFF2-40B4-BE49-F238E27FC236}">
                <a16:creationId xmlns:a16="http://schemas.microsoft.com/office/drawing/2014/main" id="{44CA5DCB-1B7E-394F-26C7-E3D14DBBB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6767" y="4466492"/>
            <a:ext cx="3506433" cy="1918712"/>
          </a:xfrm>
          <a:prstGeom prst="rect">
            <a:avLst/>
          </a:prstGeom>
        </p:spPr>
      </p:pic>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200" b="1" dirty="0">
                <a:solidFill>
                  <a:srgbClr val="024069"/>
                </a:solidFill>
              </a:rPr>
              <a:t>Object-Oriented Programming System</a:t>
            </a:r>
            <a:endParaRPr lang="en-US" sz="3200" dirty="0">
              <a:solidFill>
                <a:srgbClr val="024069"/>
              </a:solidFill>
            </a:endParaRPr>
          </a:p>
        </p:txBody>
      </p:sp>
      <p:sp>
        <p:nvSpPr>
          <p:cNvPr id="4099" name="Rectangle 3"/>
          <p:cNvSpPr>
            <a:spLocks noGrp="1" noChangeArrowheads="1"/>
          </p:cNvSpPr>
          <p:nvPr>
            <p:ph type="body" idx="1"/>
          </p:nvPr>
        </p:nvSpPr>
        <p:spPr>
          <a:xfrm>
            <a:off x="457200" y="1295399"/>
            <a:ext cx="8077200" cy="4495801"/>
          </a:xfrm>
        </p:spPr>
        <p:txBody>
          <a:bodyPr/>
          <a:lstStyle/>
          <a:p>
            <a:r>
              <a:rPr lang="en-US" sz="2000" dirty="0"/>
              <a:t>Apart from those concepts, there are some other terms which are used in Object-Oriented design:</a:t>
            </a:r>
            <a:endParaRPr lang="en-US" sz="1600" b="1" dirty="0"/>
          </a:p>
          <a:p>
            <a:pPr lvl="1"/>
            <a:r>
              <a:rPr lang="en-US" sz="2000" dirty="0"/>
              <a:t>Association</a:t>
            </a:r>
          </a:p>
          <a:p>
            <a:pPr lvl="2" algn="just"/>
            <a:r>
              <a:rPr lang="en-US" sz="1800" dirty="0"/>
              <a:t>A relation between two separate classes which establishes through their Objects. Association can be one-to-one, one-to-many, many-to-one, many-to-many. An Object communicates to another object to use functionality and services provided by that object. Composition and Aggregation are the two forms of association. </a:t>
            </a:r>
          </a:p>
          <a:p>
            <a:pPr lvl="2"/>
            <a:endParaRPr lang="en-US" sz="2000" dirty="0"/>
          </a:p>
          <a:p>
            <a:pPr marL="0" indent="0">
              <a:buNone/>
            </a:pPr>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11</a:t>
            </a:fld>
            <a:endParaRPr lang="en-US" dirty="0"/>
          </a:p>
        </p:txBody>
      </p:sp>
      <p:pic>
        <p:nvPicPr>
          <p:cNvPr id="5" name="Picture 4">
            <a:extLst>
              <a:ext uri="{FF2B5EF4-FFF2-40B4-BE49-F238E27FC236}">
                <a16:creationId xmlns:a16="http://schemas.microsoft.com/office/drawing/2014/main" id="{65597052-C049-E636-519F-7E0291A52D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4313872"/>
            <a:ext cx="2672322" cy="1477328"/>
          </a:xfrm>
          <a:prstGeom prst="rect">
            <a:avLst/>
          </a:prstGeom>
        </p:spPr>
      </p:pic>
      <p:sp>
        <p:nvSpPr>
          <p:cNvPr id="7" name="TextBox 6">
            <a:extLst>
              <a:ext uri="{FF2B5EF4-FFF2-40B4-BE49-F238E27FC236}">
                <a16:creationId xmlns:a16="http://schemas.microsoft.com/office/drawing/2014/main" id="{36353AEA-30AA-FA00-5884-BB1BABFAD4E2}"/>
              </a:ext>
            </a:extLst>
          </p:cNvPr>
          <p:cNvSpPr txBox="1"/>
          <p:nvPr/>
        </p:nvSpPr>
        <p:spPr>
          <a:xfrm>
            <a:off x="3352800" y="4313872"/>
            <a:ext cx="5486400" cy="1200329"/>
          </a:xfrm>
          <a:prstGeom prst="rect">
            <a:avLst/>
          </a:prstGeom>
          <a:noFill/>
        </p:spPr>
        <p:txBody>
          <a:bodyPr wrap="square">
            <a:spAutoFit/>
          </a:bodyPr>
          <a:lstStyle/>
          <a:p>
            <a:pPr algn="just"/>
            <a:r>
              <a:rPr lang="en-US" dirty="0">
                <a:latin typeface="+mn-lt"/>
              </a:rPr>
              <a:t>In this figure, two separate classes </a:t>
            </a:r>
            <a:r>
              <a:rPr lang="en-US" b="1" dirty="0">
                <a:latin typeface="+mn-lt"/>
              </a:rPr>
              <a:t>Bank</a:t>
            </a:r>
            <a:r>
              <a:rPr lang="en-US" dirty="0">
                <a:latin typeface="+mn-lt"/>
              </a:rPr>
              <a:t> and </a:t>
            </a:r>
            <a:r>
              <a:rPr lang="en-US" b="1" dirty="0">
                <a:latin typeface="+mn-lt"/>
              </a:rPr>
              <a:t>Employee</a:t>
            </a:r>
            <a:r>
              <a:rPr lang="en-US" dirty="0">
                <a:latin typeface="+mn-lt"/>
              </a:rPr>
              <a:t> are associated through their Objects. Bank can have many employees, So it is a one-to-many relationship.</a:t>
            </a:r>
          </a:p>
        </p:txBody>
      </p:sp>
    </p:spTree>
    <p:extLst>
      <p:ext uri="{BB962C8B-B14F-4D97-AF65-F5344CB8AC3E}">
        <p14:creationId xmlns:p14="http://schemas.microsoft.com/office/powerpoint/2010/main" val="1634210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200" b="1" dirty="0">
                <a:solidFill>
                  <a:srgbClr val="024069"/>
                </a:solidFill>
              </a:rPr>
              <a:t>Object-Oriented Programming System</a:t>
            </a:r>
            <a:endParaRPr lang="en-US" sz="3200" dirty="0">
              <a:solidFill>
                <a:srgbClr val="024069"/>
              </a:solidFill>
            </a:endParaRPr>
          </a:p>
        </p:txBody>
      </p:sp>
      <p:sp>
        <p:nvSpPr>
          <p:cNvPr id="4099" name="Rectangle 3"/>
          <p:cNvSpPr>
            <a:spLocks noGrp="1" noChangeArrowheads="1"/>
          </p:cNvSpPr>
          <p:nvPr>
            <p:ph type="body" idx="1"/>
          </p:nvPr>
        </p:nvSpPr>
        <p:spPr>
          <a:xfrm>
            <a:off x="457200" y="1295399"/>
            <a:ext cx="8382000" cy="4495801"/>
          </a:xfrm>
        </p:spPr>
        <p:txBody>
          <a:bodyPr/>
          <a:lstStyle/>
          <a:p>
            <a:r>
              <a:rPr lang="en-US" sz="2000" dirty="0"/>
              <a:t>Apart from those concepts, there are some other terms which are used in Object-Oriented design:</a:t>
            </a:r>
          </a:p>
          <a:p>
            <a:pPr lvl="1"/>
            <a:r>
              <a:rPr lang="en-US" sz="2000" dirty="0"/>
              <a:t>Aggregation</a:t>
            </a:r>
          </a:p>
          <a:p>
            <a:pPr lvl="2">
              <a:buFont typeface="Arial" panose="020B0604020202020204" pitchFamily="34" charset="0"/>
              <a:buChar char="•"/>
            </a:pPr>
            <a:r>
              <a:rPr lang="en-US" sz="1800" dirty="0"/>
              <a:t>It represents Has-A’s relationship.</a:t>
            </a:r>
          </a:p>
          <a:p>
            <a:pPr lvl="2">
              <a:buFont typeface="Arial" panose="020B0604020202020204" pitchFamily="34" charset="0"/>
              <a:buChar char="•"/>
            </a:pPr>
            <a:r>
              <a:rPr lang="en-US" sz="1800" dirty="0"/>
              <a:t>It is a unidirectional association i.e. a one-way relationship. For example, a department can have students but vice versa is not possible and thus unidirectional in nature.</a:t>
            </a:r>
          </a:p>
          <a:p>
            <a:pPr lvl="2">
              <a:buFont typeface="Arial" panose="020B0604020202020204" pitchFamily="34" charset="0"/>
              <a:buChar char="•"/>
            </a:pPr>
            <a:r>
              <a:rPr lang="en-US" sz="1800" dirty="0"/>
              <a:t>Both entries can survive individually which means ending one entity will not affect the other entity.</a:t>
            </a:r>
          </a:p>
          <a:p>
            <a:pPr marL="457200" lvl="1" indent="0">
              <a:buNone/>
            </a:pPr>
            <a:endParaRPr lang="en-US" sz="2400" dirty="0"/>
          </a:p>
          <a:p>
            <a:pPr marL="457200" lvl="1" indent="0">
              <a:buNone/>
            </a:pPr>
            <a:endParaRPr lang="en-US" sz="2400" dirty="0"/>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12</a:t>
            </a:fld>
            <a:endParaRPr lang="en-US" dirty="0"/>
          </a:p>
        </p:txBody>
      </p:sp>
      <p:pic>
        <p:nvPicPr>
          <p:cNvPr id="8" name="Picture 7">
            <a:extLst>
              <a:ext uri="{FF2B5EF4-FFF2-40B4-BE49-F238E27FC236}">
                <a16:creationId xmlns:a16="http://schemas.microsoft.com/office/drawing/2014/main" id="{C275B592-AC3C-E67E-5E93-6E37166D0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4343400"/>
            <a:ext cx="3968401" cy="1854024"/>
          </a:xfrm>
          <a:prstGeom prst="rect">
            <a:avLst/>
          </a:prstGeom>
        </p:spPr>
      </p:pic>
    </p:spTree>
    <p:extLst>
      <p:ext uri="{BB962C8B-B14F-4D97-AF65-F5344CB8AC3E}">
        <p14:creationId xmlns:p14="http://schemas.microsoft.com/office/powerpoint/2010/main" val="3737282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200" b="1" dirty="0">
                <a:solidFill>
                  <a:srgbClr val="024069"/>
                </a:solidFill>
              </a:rPr>
              <a:t>Object-Oriented Programming System</a:t>
            </a:r>
            <a:endParaRPr lang="en-US" sz="3200" dirty="0">
              <a:solidFill>
                <a:srgbClr val="024069"/>
              </a:solidFill>
            </a:endParaRPr>
          </a:p>
        </p:txBody>
      </p:sp>
      <p:sp>
        <p:nvSpPr>
          <p:cNvPr id="4099" name="Rectangle 3"/>
          <p:cNvSpPr>
            <a:spLocks noGrp="1" noChangeArrowheads="1"/>
          </p:cNvSpPr>
          <p:nvPr>
            <p:ph type="body" idx="1"/>
          </p:nvPr>
        </p:nvSpPr>
        <p:spPr>
          <a:xfrm>
            <a:off x="457200" y="1295399"/>
            <a:ext cx="8382000" cy="4495801"/>
          </a:xfrm>
        </p:spPr>
        <p:txBody>
          <a:bodyPr/>
          <a:lstStyle/>
          <a:p>
            <a:r>
              <a:rPr lang="en-US" sz="2000" dirty="0"/>
              <a:t>Apart from those concepts, there are some other terms which are used in Object-Oriented design:</a:t>
            </a:r>
            <a:endParaRPr lang="en-US" sz="2400" dirty="0"/>
          </a:p>
          <a:p>
            <a:pPr algn="l" fontAlgn="base">
              <a:buFont typeface="Arial" panose="020B0604020202020204" pitchFamily="34" charset="0"/>
              <a:buChar char="•"/>
            </a:pPr>
            <a:r>
              <a:rPr lang="en-US" sz="2000" dirty="0"/>
              <a:t>Composition</a:t>
            </a:r>
          </a:p>
          <a:p>
            <a:pPr lvl="1">
              <a:buFont typeface="Arial" panose="020B0604020202020204" pitchFamily="34" charset="0"/>
              <a:buChar char="•"/>
            </a:pPr>
            <a:r>
              <a:rPr lang="en-US" sz="1800" dirty="0"/>
              <a:t>It represents part-of relationship.</a:t>
            </a:r>
          </a:p>
          <a:p>
            <a:pPr lvl="1">
              <a:buFont typeface="Arial" panose="020B0604020202020204" pitchFamily="34" charset="0"/>
              <a:buChar char="•"/>
            </a:pPr>
            <a:r>
              <a:rPr lang="en-US" sz="1800" dirty="0"/>
              <a:t>In composition, both entities are dependent on each other.</a:t>
            </a:r>
          </a:p>
          <a:p>
            <a:pPr lvl="1">
              <a:buFont typeface="Arial" panose="020B0604020202020204" pitchFamily="34" charset="0"/>
              <a:buChar char="•"/>
            </a:pPr>
            <a:r>
              <a:rPr lang="en-US" sz="1800" dirty="0"/>
              <a:t>When there is a composition between two entities, the composed object cannot exist without the other entity.</a:t>
            </a:r>
          </a:p>
          <a:p>
            <a:pPr lvl="1"/>
            <a:endParaRPr lang="en-US" sz="2400" dirty="0"/>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13</a:t>
            </a:fld>
            <a:endParaRPr lang="en-US" dirty="0"/>
          </a:p>
        </p:txBody>
      </p:sp>
      <p:pic>
        <p:nvPicPr>
          <p:cNvPr id="4" name="Picture 3">
            <a:extLst>
              <a:ext uri="{FF2B5EF4-FFF2-40B4-BE49-F238E27FC236}">
                <a16:creationId xmlns:a16="http://schemas.microsoft.com/office/drawing/2014/main" id="{FE2B1BD6-E960-0244-0B53-5FC1849BC9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9732" y="3886200"/>
            <a:ext cx="2916936" cy="2209800"/>
          </a:xfrm>
          <a:prstGeom prst="rect">
            <a:avLst/>
          </a:prstGeom>
        </p:spPr>
      </p:pic>
    </p:spTree>
    <p:extLst>
      <p:ext uri="{BB962C8B-B14F-4D97-AF65-F5344CB8AC3E}">
        <p14:creationId xmlns:p14="http://schemas.microsoft.com/office/powerpoint/2010/main" val="642175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What’s an Object?</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t>Any entity that has state and behavior is known as an object.</a:t>
            </a:r>
          </a:p>
          <a:p>
            <a:pPr lvl="1"/>
            <a:r>
              <a:rPr lang="en-US" sz="2400" dirty="0"/>
              <a:t>For example, a chair, pen, table, keyboard, bike, etc. It can be physical or logical.</a:t>
            </a:r>
          </a:p>
          <a:p>
            <a:r>
              <a:rPr lang="en-US" sz="2800" dirty="0"/>
              <a:t>An Object can be defined as an instance of a class.</a:t>
            </a:r>
          </a:p>
          <a:p>
            <a:r>
              <a:rPr lang="en-US" sz="2800" dirty="0"/>
              <a:t>An object contains an address and takes up some space in memory.</a:t>
            </a:r>
          </a:p>
          <a:p>
            <a:r>
              <a:rPr lang="en-US" sz="2800" dirty="0"/>
              <a:t>Objects can communicate without knowing the details of each other's data or code.</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14</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What’s an Object?</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t>The only necessary thing is the type of message accepted and the type of response returned by the objects.</a:t>
            </a:r>
          </a:p>
          <a:p>
            <a:pPr lvl="1"/>
            <a:r>
              <a:rPr lang="en-US" sz="2400" b="1" dirty="0"/>
              <a:t>Example:</a:t>
            </a:r>
            <a:r>
              <a:rPr lang="en-US" sz="2400" dirty="0"/>
              <a:t> A dog is an object because it has states like color, name, breed, etc. as well as behaviors like wagging the tail, barking, eating, etc. </a:t>
            </a:r>
          </a:p>
          <a:p>
            <a:endParaRPr lang="en-US" sz="36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15</a:t>
            </a:fld>
            <a:endParaRPr lang="en-US" dirty="0"/>
          </a:p>
        </p:txBody>
      </p:sp>
      <p:pic>
        <p:nvPicPr>
          <p:cNvPr id="2050" name="Picture 2" descr="C:\Users\Jubayer Al Mahmud\Desktop\objects.png"/>
          <p:cNvPicPr>
            <a:picLocks noChangeAspect="1" noChangeArrowheads="1"/>
          </p:cNvPicPr>
          <p:nvPr/>
        </p:nvPicPr>
        <p:blipFill>
          <a:blip r:embed="rId3" cstate="print"/>
          <a:srcRect/>
          <a:stretch>
            <a:fillRect/>
          </a:stretch>
        </p:blipFill>
        <p:spPr bwMode="auto">
          <a:xfrm>
            <a:off x="2819400" y="3800475"/>
            <a:ext cx="3057525" cy="3057525"/>
          </a:xfrm>
          <a:prstGeom prst="rect">
            <a:avLst/>
          </a:prstGeom>
          <a:noFill/>
        </p:spPr>
      </p:pic>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Features of Java</a:t>
            </a:r>
          </a:p>
        </p:txBody>
      </p:sp>
      <p:sp>
        <p:nvSpPr>
          <p:cNvPr id="4099" name="Rectangle 3"/>
          <p:cNvSpPr>
            <a:spLocks noGrp="1" noChangeArrowheads="1"/>
          </p:cNvSpPr>
          <p:nvPr>
            <p:ph type="body" idx="1"/>
          </p:nvPr>
        </p:nvSpPr>
        <p:spPr>
          <a:xfrm>
            <a:off x="457200" y="1295399"/>
            <a:ext cx="8382000" cy="4495801"/>
          </a:xfrm>
        </p:spPr>
        <p:txBody>
          <a:bodyPr/>
          <a:lstStyle/>
          <a:p>
            <a:pPr marL="533400" indent="-533400">
              <a:buFont typeface="Wingdings" pitchFamily="2" charset="2"/>
              <a:buAutoNum type="arabicPeriod"/>
            </a:pPr>
            <a:r>
              <a:rPr lang="en-US" sz="2800" dirty="0"/>
              <a:t>Simple, Small and Familiar</a:t>
            </a:r>
          </a:p>
          <a:p>
            <a:pPr marL="533400" indent="-533400">
              <a:buFont typeface="Wingdings" pitchFamily="2" charset="2"/>
              <a:buAutoNum type="arabicPeriod"/>
            </a:pPr>
            <a:r>
              <a:rPr lang="en-US" sz="2800" dirty="0"/>
              <a:t>Compiled and Interpreted</a:t>
            </a:r>
          </a:p>
          <a:p>
            <a:pPr marL="533400" indent="-533400">
              <a:buFont typeface="Wingdings" pitchFamily="2" charset="2"/>
              <a:buAutoNum type="arabicPeriod"/>
            </a:pPr>
            <a:r>
              <a:rPr lang="en-US" sz="2800" dirty="0"/>
              <a:t>Object Oriented</a:t>
            </a:r>
          </a:p>
          <a:p>
            <a:pPr marL="533400" indent="-533400">
              <a:buFont typeface="Wingdings" pitchFamily="2" charset="2"/>
              <a:buAutoNum type="arabicPeriod"/>
            </a:pPr>
            <a:r>
              <a:rPr lang="en-US" sz="2800" dirty="0"/>
              <a:t>Platform Independent and portable</a:t>
            </a:r>
          </a:p>
          <a:p>
            <a:pPr marL="533400" indent="-533400">
              <a:buFont typeface="Wingdings" pitchFamily="2" charset="2"/>
              <a:buAutoNum type="arabicPeriod"/>
            </a:pPr>
            <a:r>
              <a:rPr lang="en-US" sz="2800" dirty="0"/>
              <a:t>Robust and Secure</a:t>
            </a:r>
          </a:p>
          <a:p>
            <a:pPr marL="533400" indent="-533400">
              <a:buFont typeface="Wingdings" pitchFamily="2" charset="2"/>
              <a:buAutoNum type="arabicPeriod"/>
            </a:pPr>
            <a:r>
              <a:rPr lang="en-US" sz="2800" dirty="0"/>
              <a:t>Distributed / Network Oriented</a:t>
            </a:r>
          </a:p>
          <a:p>
            <a:pPr marL="533400" indent="-533400">
              <a:buFont typeface="Wingdings" pitchFamily="2" charset="2"/>
              <a:buAutoNum type="arabicPeriod"/>
            </a:pPr>
            <a:r>
              <a:rPr lang="en-US" sz="2800" dirty="0"/>
              <a:t>Multithreaded and Interactive</a:t>
            </a:r>
          </a:p>
          <a:p>
            <a:pPr marL="533400" indent="-533400">
              <a:buFont typeface="Wingdings" pitchFamily="2" charset="2"/>
              <a:buAutoNum type="arabicPeriod"/>
            </a:pPr>
            <a:r>
              <a:rPr lang="en-US" sz="2800" dirty="0"/>
              <a:t>High Performance</a:t>
            </a:r>
          </a:p>
          <a:p>
            <a:pPr marL="533400" indent="-533400">
              <a:buFont typeface="Wingdings" pitchFamily="2" charset="2"/>
              <a:buAutoNum type="arabicPeriod"/>
            </a:pPr>
            <a:r>
              <a:rPr lang="en-US" sz="2800" dirty="0"/>
              <a:t>Dynamic </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16</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Simple, Small and Familiar</a:t>
            </a:r>
          </a:p>
        </p:txBody>
      </p:sp>
      <p:sp>
        <p:nvSpPr>
          <p:cNvPr id="4099" name="Rectangle 3"/>
          <p:cNvSpPr>
            <a:spLocks noGrp="1" noChangeArrowheads="1"/>
          </p:cNvSpPr>
          <p:nvPr>
            <p:ph type="body" idx="1"/>
          </p:nvPr>
        </p:nvSpPr>
        <p:spPr>
          <a:xfrm>
            <a:off x="457200" y="1295399"/>
            <a:ext cx="8382000" cy="4495801"/>
          </a:xfrm>
        </p:spPr>
        <p:txBody>
          <a:bodyPr/>
          <a:lstStyle/>
          <a:p>
            <a:r>
              <a:rPr lang="en-US" dirty="0"/>
              <a:t>Similar to C/C++ in syntax</a:t>
            </a:r>
          </a:p>
          <a:p>
            <a:r>
              <a:rPr lang="en-US" dirty="0"/>
              <a:t>But eliminates several complexities of</a:t>
            </a:r>
          </a:p>
          <a:p>
            <a:pPr lvl="1"/>
            <a:r>
              <a:rPr lang="en-US" dirty="0"/>
              <a:t>No operator overloading</a:t>
            </a:r>
          </a:p>
          <a:p>
            <a:pPr lvl="1"/>
            <a:r>
              <a:rPr lang="en-US" dirty="0"/>
              <a:t>No direct pointer manipulation or pointer arithmetic</a:t>
            </a:r>
          </a:p>
          <a:p>
            <a:pPr lvl="1"/>
            <a:r>
              <a:rPr lang="en-US" dirty="0"/>
              <a:t>No multiple inheritance</a:t>
            </a:r>
          </a:p>
          <a:p>
            <a:pPr lvl="1"/>
            <a:r>
              <a:rPr lang="en-US" dirty="0"/>
              <a:t>No malloc() and free(). Handles memory automatically</a:t>
            </a:r>
          </a:p>
          <a:p>
            <a:pPr>
              <a:buBlip>
                <a:blip r:embed="rId3"/>
              </a:buBlip>
            </a:pPr>
            <a:endParaRPr lang="en-US" dirty="0"/>
          </a:p>
          <a:p>
            <a:endParaRPr lang="en-US"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17</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Compiled and Interpreted</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solidFill>
                  <a:srgbClr val="024069"/>
                </a:solidFill>
              </a:rPr>
              <a:t>Java works in two stage</a:t>
            </a:r>
          </a:p>
          <a:p>
            <a:pPr lvl="1"/>
            <a:r>
              <a:rPr lang="en-US" sz="2400" dirty="0"/>
              <a:t>Java compiler translate the source code into byte code.</a:t>
            </a:r>
          </a:p>
          <a:p>
            <a:pPr lvl="1"/>
            <a:r>
              <a:rPr lang="en-US" sz="2400" dirty="0"/>
              <a:t>Java interpreter converts the byte code into machine level representation.</a:t>
            </a:r>
          </a:p>
          <a:p>
            <a:pPr lvl="1"/>
            <a:endParaRPr lang="en-US" sz="2400" dirty="0"/>
          </a:p>
          <a:p>
            <a:r>
              <a:rPr lang="en-US" sz="2800" dirty="0">
                <a:solidFill>
                  <a:srgbClr val="024069"/>
                </a:solidFill>
              </a:rPr>
              <a:t>Byte Code:</a:t>
            </a:r>
          </a:p>
          <a:p>
            <a:pPr lvl="1"/>
            <a:r>
              <a:rPr lang="en-US" sz="2400" dirty="0"/>
              <a:t>A highly optimized set of instructions to be executed by the java runtime system, known as java virtual machine (JVM).</a:t>
            </a:r>
          </a:p>
          <a:p>
            <a:pPr lvl="1"/>
            <a:endParaRPr lang="en-US" sz="2400" dirty="0"/>
          </a:p>
          <a:p>
            <a:endParaRPr lang="en-US" sz="2800" dirty="0"/>
          </a:p>
          <a:p>
            <a:endParaRPr lang="en-US" sz="36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18</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Java Virtual Machine</a:t>
            </a:r>
          </a:p>
        </p:txBody>
      </p:sp>
      <p:sp>
        <p:nvSpPr>
          <p:cNvPr id="4099" name="Rectangle 3"/>
          <p:cNvSpPr>
            <a:spLocks noGrp="1" noChangeArrowheads="1"/>
          </p:cNvSpPr>
          <p:nvPr>
            <p:ph type="body" idx="1"/>
          </p:nvPr>
        </p:nvSpPr>
        <p:spPr>
          <a:xfrm>
            <a:off x="457200" y="1295399"/>
            <a:ext cx="8382000" cy="4495801"/>
          </a:xfrm>
        </p:spPr>
        <p:txBody>
          <a:bodyPr/>
          <a:lstStyle/>
          <a:p>
            <a:pPr>
              <a:buFont typeface="Arial" pitchFamily="34" charset="0"/>
              <a:buChar char="•"/>
            </a:pPr>
            <a:r>
              <a:rPr lang="en-US" sz="2800" dirty="0"/>
              <a:t>Java compiler produces an intermediate code known as byte code for a machine, known as JVM.</a:t>
            </a:r>
          </a:p>
          <a:p>
            <a:pPr>
              <a:buFont typeface="Arial" pitchFamily="34" charset="0"/>
              <a:buChar char="•"/>
            </a:pPr>
            <a:r>
              <a:rPr lang="en-US" sz="2800" dirty="0"/>
              <a:t>It exists only inside the computer memory.</a:t>
            </a:r>
          </a:p>
          <a:p>
            <a:pPr>
              <a:buNone/>
            </a:pPr>
            <a:endParaRPr lang="en-US" sz="2800" dirty="0"/>
          </a:p>
          <a:p>
            <a:pPr>
              <a:buNone/>
            </a:pPr>
            <a:endParaRPr lang="en-US" sz="2800" dirty="0"/>
          </a:p>
          <a:p>
            <a:pPr>
              <a:buFont typeface="Arial" pitchFamily="34" charset="0"/>
              <a:buChar char="•"/>
            </a:pPr>
            <a:r>
              <a:rPr lang="en-US" sz="2800" dirty="0"/>
              <a:t>Machine code is generated by the java interpreter by acting as an intermediary between the virtual machine and real machine.</a:t>
            </a:r>
          </a:p>
          <a:p>
            <a:pPr>
              <a:buFont typeface="Arial" pitchFamily="34" charset="0"/>
              <a:buChar char="•"/>
            </a:pPr>
            <a:endParaRPr lang="en-US" sz="2800" dirty="0"/>
          </a:p>
          <a:p>
            <a:pPr>
              <a:buNone/>
            </a:pPr>
            <a:r>
              <a:rPr lang="en-US" sz="2800" dirty="0"/>
              <a:t>	 </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19</a:t>
            </a:fld>
            <a:endParaRPr lang="en-US" dirty="0"/>
          </a:p>
        </p:txBody>
      </p:sp>
      <p:sp>
        <p:nvSpPr>
          <p:cNvPr id="13" name="Rectangle 4"/>
          <p:cNvSpPr>
            <a:spLocks noChangeArrowheads="1"/>
          </p:cNvSpPr>
          <p:nvPr/>
        </p:nvSpPr>
        <p:spPr bwMode="auto">
          <a:xfrm>
            <a:off x="1066800" y="3276600"/>
            <a:ext cx="1371600" cy="609600"/>
          </a:xfrm>
          <a:prstGeom prst="rect">
            <a:avLst/>
          </a:prstGeom>
          <a:solidFill>
            <a:schemeClr val="bg1"/>
          </a:solidFill>
          <a:ln w="9525">
            <a:solidFill>
              <a:schemeClr val="tx1"/>
            </a:solidFill>
            <a:miter lim="800000"/>
            <a:headEnd/>
            <a:tailEnd/>
          </a:ln>
        </p:spPr>
        <p:txBody>
          <a:bodyPr wrap="none" anchor="ctr"/>
          <a:lstStyle/>
          <a:p>
            <a:pPr algn="ctr"/>
            <a:r>
              <a:rPr lang="en-US" dirty="0">
                <a:latin typeface="Times New Roman" pitchFamily="18" charset="0"/>
              </a:rPr>
              <a:t>Java Program</a:t>
            </a:r>
          </a:p>
        </p:txBody>
      </p:sp>
      <p:sp>
        <p:nvSpPr>
          <p:cNvPr id="14" name="Rectangle 5"/>
          <p:cNvSpPr>
            <a:spLocks noChangeArrowheads="1"/>
          </p:cNvSpPr>
          <p:nvPr/>
        </p:nvSpPr>
        <p:spPr bwMode="auto">
          <a:xfrm>
            <a:off x="3276600" y="3276600"/>
            <a:ext cx="1828800" cy="6096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Java Compiler</a:t>
            </a:r>
          </a:p>
        </p:txBody>
      </p:sp>
      <p:sp>
        <p:nvSpPr>
          <p:cNvPr id="15" name="Rectangle 6"/>
          <p:cNvSpPr>
            <a:spLocks noChangeArrowheads="1"/>
          </p:cNvSpPr>
          <p:nvPr/>
        </p:nvSpPr>
        <p:spPr bwMode="auto">
          <a:xfrm>
            <a:off x="5943600" y="3276600"/>
            <a:ext cx="1828800" cy="6858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Virtual Machine</a:t>
            </a:r>
          </a:p>
        </p:txBody>
      </p:sp>
      <p:sp>
        <p:nvSpPr>
          <p:cNvPr id="16" name="Line 7"/>
          <p:cNvSpPr>
            <a:spLocks noChangeShapeType="1"/>
          </p:cNvSpPr>
          <p:nvPr/>
        </p:nvSpPr>
        <p:spPr bwMode="auto">
          <a:xfrm>
            <a:off x="2438400" y="3581400"/>
            <a:ext cx="838200" cy="0"/>
          </a:xfrm>
          <a:prstGeom prst="line">
            <a:avLst/>
          </a:prstGeom>
          <a:noFill/>
          <a:ln w="9525">
            <a:solidFill>
              <a:schemeClr val="tx1"/>
            </a:solidFill>
            <a:round/>
            <a:headEnd/>
            <a:tailEnd type="triangle" w="med" len="med"/>
          </a:ln>
        </p:spPr>
        <p:txBody>
          <a:bodyPr/>
          <a:lstStyle/>
          <a:p>
            <a:endParaRPr lang="en-US"/>
          </a:p>
        </p:txBody>
      </p:sp>
      <p:sp>
        <p:nvSpPr>
          <p:cNvPr id="17" name="Line 8"/>
          <p:cNvSpPr>
            <a:spLocks noChangeShapeType="1"/>
          </p:cNvSpPr>
          <p:nvPr/>
        </p:nvSpPr>
        <p:spPr bwMode="auto">
          <a:xfrm>
            <a:off x="5105400" y="3581400"/>
            <a:ext cx="838200" cy="0"/>
          </a:xfrm>
          <a:prstGeom prst="line">
            <a:avLst/>
          </a:prstGeom>
          <a:noFill/>
          <a:ln w="9525">
            <a:solidFill>
              <a:schemeClr val="tx1"/>
            </a:solidFill>
            <a:round/>
            <a:headEnd/>
            <a:tailEnd type="triangle" w="med" len="med"/>
          </a:ln>
        </p:spPr>
        <p:txBody>
          <a:bodyPr/>
          <a:lstStyle/>
          <a:p>
            <a:endParaRPr lang="en-US"/>
          </a:p>
        </p:txBody>
      </p:sp>
      <p:sp>
        <p:nvSpPr>
          <p:cNvPr id="18" name="Rectangle 9"/>
          <p:cNvSpPr>
            <a:spLocks noChangeArrowheads="1"/>
          </p:cNvSpPr>
          <p:nvPr/>
        </p:nvSpPr>
        <p:spPr bwMode="auto">
          <a:xfrm>
            <a:off x="1219200" y="5638800"/>
            <a:ext cx="1600200" cy="609600"/>
          </a:xfrm>
          <a:prstGeom prst="rect">
            <a:avLst/>
          </a:prstGeom>
          <a:solidFill>
            <a:schemeClr val="bg1"/>
          </a:solidFill>
          <a:ln w="9525">
            <a:solidFill>
              <a:schemeClr val="tx1"/>
            </a:solidFill>
            <a:miter lim="800000"/>
            <a:headEnd/>
            <a:tailEnd/>
          </a:ln>
        </p:spPr>
        <p:txBody>
          <a:bodyPr wrap="none" anchor="ctr"/>
          <a:lstStyle/>
          <a:p>
            <a:pPr algn="ctr"/>
            <a:r>
              <a:rPr lang="en-US" dirty="0" err="1">
                <a:latin typeface="Times New Roman" pitchFamily="18" charset="0"/>
              </a:rPr>
              <a:t>Bytecode</a:t>
            </a:r>
            <a:endParaRPr lang="en-US" dirty="0">
              <a:latin typeface="Times New Roman" pitchFamily="18" charset="0"/>
            </a:endParaRPr>
          </a:p>
        </p:txBody>
      </p:sp>
      <p:sp>
        <p:nvSpPr>
          <p:cNvPr id="19" name="Rectangle 10"/>
          <p:cNvSpPr>
            <a:spLocks noChangeArrowheads="1"/>
          </p:cNvSpPr>
          <p:nvPr/>
        </p:nvSpPr>
        <p:spPr bwMode="auto">
          <a:xfrm>
            <a:off x="3581400" y="5638800"/>
            <a:ext cx="1676400" cy="609600"/>
          </a:xfrm>
          <a:prstGeom prst="rect">
            <a:avLst/>
          </a:prstGeom>
          <a:solidFill>
            <a:schemeClr val="bg1"/>
          </a:solidFill>
          <a:ln w="9525">
            <a:solidFill>
              <a:schemeClr val="tx1"/>
            </a:solidFill>
            <a:miter lim="800000"/>
            <a:headEnd/>
            <a:tailEnd/>
          </a:ln>
        </p:spPr>
        <p:txBody>
          <a:bodyPr wrap="none" anchor="ctr"/>
          <a:lstStyle/>
          <a:p>
            <a:pPr algn="ctr"/>
            <a:r>
              <a:rPr lang="en-US" dirty="0">
                <a:latin typeface="Times New Roman" pitchFamily="18" charset="0"/>
              </a:rPr>
              <a:t>Java Interpreter</a:t>
            </a:r>
          </a:p>
        </p:txBody>
      </p:sp>
      <p:sp>
        <p:nvSpPr>
          <p:cNvPr id="20" name="Rectangle 11"/>
          <p:cNvSpPr>
            <a:spLocks noChangeArrowheads="1"/>
          </p:cNvSpPr>
          <p:nvPr/>
        </p:nvSpPr>
        <p:spPr bwMode="auto">
          <a:xfrm>
            <a:off x="6096000" y="5638800"/>
            <a:ext cx="1752600" cy="609600"/>
          </a:xfrm>
          <a:prstGeom prst="rect">
            <a:avLst/>
          </a:prstGeom>
          <a:solidFill>
            <a:schemeClr val="bg1"/>
          </a:solidFill>
          <a:ln w="9525">
            <a:solidFill>
              <a:schemeClr val="tx1"/>
            </a:solidFill>
            <a:miter lim="800000"/>
            <a:headEnd/>
            <a:tailEnd/>
          </a:ln>
        </p:spPr>
        <p:txBody>
          <a:bodyPr wrap="none" anchor="ctr"/>
          <a:lstStyle/>
          <a:p>
            <a:pPr algn="ctr"/>
            <a:r>
              <a:rPr lang="en-US">
                <a:latin typeface="Times New Roman" pitchFamily="18" charset="0"/>
              </a:rPr>
              <a:t>Machine Code</a:t>
            </a:r>
          </a:p>
        </p:txBody>
      </p:sp>
      <p:sp>
        <p:nvSpPr>
          <p:cNvPr id="21" name="Line 12"/>
          <p:cNvSpPr>
            <a:spLocks noChangeShapeType="1"/>
          </p:cNvSpPr>
          <p:nvPr/>
        </p:nvSpPr>
        <p:spPr bwMode="auto">
          <a:xfrm>
            <a:off x="2819400" y="5943600"/>
            <a:ext cx="762000" cy="0"/>
          </a:xfrm>
          <a:prstGeom prst="line">
            <a:avLst/>
          </a:prstGeom>
          <a:noFill/>
          <a:ln w="9525">
            <a:solidFill>
              <a:schemeClr val="tx1"/>
            </a:solidFill>
            <a:round/>
            <a:headEnd/>
            <a:tailEnd type="triangle" w="med" len="med"/>
          </a:ln>
        </p:spPr>
        <p:txBody>
          <a:bodyPr/>
          <a:lstStyle/>
          <a:p>
            <a:endParaRPr lang="en-US"/>
          </a:p>
        </p:txBody>
      </p:sp>
      <p:sp>
        <p:nvSpPr>
          <p:cNvPr id="22" name="Line 16"/>
          <p:cNvSpPr>
            <a:spLocks noChangeShapeType="1"/>
          </p:cNvSpPr>
          <p:nvPr/>
        </p:nvSpPr>
        <p:spPr bwMode="auto">
          <a:xfrm>
            <a:off x="5257800" y="5943600"/>
            <a:ext cx="838200" cy="0"/>
          </a:xfrm>
          <a:prstGeom prst="line">
            <a:avLst/>
          </a:prstGeom>
          <a:noFill/>
          <a:ln w="9525">
            <a:solidFill>
              <a:schemeClr val="tx1"/>
            </a:solidFill>
            <a:round/>
            <a:headEnd/>
            <a:tailEnd type="triangle" w="med" len="med"/>
          </a:ln>
        </p:spPr>
        <p:txBody>
          <a:bodyPr/>
          <a:lstStyle/>
          <a:p>
            <a:endParaRPr lang="en-US"/>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Object Oriented</a:t>
            </a:r>
          </a:p>
        </p:txBody>
      </p:sp>
      <p:sp>
        <p:nvSpPr>
          <p:cNvPr id="4099" name="Rectangle 3"/>
          <p:cNvSpPr>
            <a:spLocks noGrp="1" noChangeArrowheads="1"/>
          </p:cNvSpPr>
          <p:nvPr>
            <p:ph type="body" idx="1"/>
          </p:nvPr>
        </p:nvSpPr>
        <p:spPr>
          <a:xfrm>
            <a:off x="457200" y="1295399"/>
            <a:ext cx="8382000" cy="4495801"/>
          </a:xfrm>
        </p:spPr>
        <p:txBody>
          <a:bodyPr/>
          <a:lstStyle/>
          <a:p>
            <a:pPr marL="514350" indent="-514350"/>
            <a:r>
              <a:rPr lang="en-US" dirty="0"/>
              <a:t>Fundamentally based on OOP</a:t>
            </a:r>
          </a:p>
          <a:p>
            <a:pPr marL="971550" lvl="1" indent="-514350"/>
            <a:r>
              <a:rPr lang="en-US" dirty="0"/>
              <a:t>Classes and Objects</a:t>
            </a:r>
          </a:p>
          <a:p>
            <a:pPr marL="971550" lvl="1" indent="-514350"/>
            <a:r>
              <a:rPr lang="en-US" dirty="0"/>
              <a:t>Efficient re-use of packages such that the programmer only cares about the interface and not the implementation</a:t>
            </a:r>
          </a:p>
          <a:p>
            <a:pPr marL="971550" lvl="1" indent="-514350"/>
            <a:r>
              <a:rPr lang="en-US" dirty="0"/>
              <a:t>The object model in java is simple and easy to extend.</a:t>
            </a:r>
          </a:p>
          <a:p>
            <a:pPr marL="971550" lvl="1" indent="-514350"/>
            <a:endParaRPr lang="en-US" dirty="0"/>
          </a:p>
          <a:p>
            <a:pPr marL="514350" indent="-514350"/>
            <a:endParaRPr lang="en-US"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20</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600" dirty="0">
                <a:solidFill>
                  <a:srgbClr val="024069"/>
                </a:solidFill>
              </a:rPr>
              <a:t>Platform Independent and Portable</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t>“Write-Once Run-Anywhere”</a:t>
            </a:r>
          </a:p>
          <a:p>
            <a:endParaRPr lang="en-US" sz="2800" dirty="0"/>
          </a:p>
          <a:p>
            <a:r>
              <a:rPr lang="en-US" sz="2800" dirty="0"/>
              <a:t>Changes in system resources will not force any change in the program.</a:t>
            </a:r>
          </a:p>
          <a:p>
            <a:pPr>
              <a:buNone/>
            </a:pPr>
            <a:endParaRPr lang="en-US" sz="2800" dirty="0"/>
          </a:p>
          <a:p>
            <a:r>
              <a:rPr lang="en-US" sz="2800" dirty="0"/>
              <a:t>The Java Virtual Machine (JVM) hides the complexity of working on a particular platform</a:t>
            </a:r>
          </a:p>
          <a:p>
            <a:pPr lvl="1"/>
            <a:r>
              <a:rPr lang="en-US" sz="2400" dirty="0"/>
              <a:t>Convert byte code into machine level representation. </a:t>
            </a:r>
          </a:p>
          <a:p>
            <a:endParaRPr lang="en-US" dirty="0"/>
          </a:p>
          <a:p>
            <a:endParaRPr lang="en-US" sz="2000" dirty="0"/>
          </a:p>
          <a:p>
            <a:endParaRPr lang="en-US"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21</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Robust and Secure</a:t>
            </a:r>
          </a:p>
        </p:txBody>
      </p:sp>
      <p:sp>
        <p:nvSpPr>
          <p:cNvPr id="4099" name="Rectangle 3"/>
          <p:cNvSpPr>
            <a:spLocks noGrp="1" noChangeArrowheads="1"/>
          </p:cNvSpPr>
          <p:nvPr>
            <p:ph type="body" idx="1"/>
          </p:nvPr>
        </p:nvSpPr>
        <p:spPr>
          <a:xfrm>
            <a:off x="457200" y="1295399"/>
            <a:ext cx="8382000" cy="4495801"/>
          </a:xfrm>
        </p:spPr>
        <p:txBody>
          <a:bodyPr/>
          <a:lstStyle/>
          <a:p>
            <a:r>
              <a:rPr lang="en-US" dirty="0">
                <a:ea typeface="Segoe UI Symbol" pitchFamily="34" charset="0"/>
              </a:rPr>
              <a:t>Designed with the intention of being secure</a:t>
            </a:r>
          </a:p>
          <a:p>
            <a:pPr lvl="1"/>
            <a:r>
              <a:rPr lang="en-US" dirty="0">
                <a:ea typeface="Segoe UI Symbol" pitchFamily="34" charset="0"/>
              </a:rPr>
              <a:t>No pointer arithmetic or memory management!</a:t>
            </a:r>
          </a:p>
          <a:p>
            <a:pPr lvl="1"/>
            <a:r>
              <a:rPr lang="en-US" dirty="0">
                <a:ea typeface="Segoe UI Symbol" pitchFamily="34" charset="0"/>
              </a:rPr>
              <a:t>Strict compile time and run time checking of data type.</a:t>
            </a:r>
          </a:p>
          <a:p>
            <a:pPr lvl="1"/>
            <a:r>
              <a:rPr lang="en-US" dirty="0">
                <a:ea typeface="Segoe UI Symbol" pitchFamily="34" charset="0"/>
              </a:rPr>
              <a:t>Exception handling</a:t>
            </a:r>
          </a:p>
          <a:p>
            <a:pPr lvl="1"/>
            <a:r>
              <a:rPr lang="en-US" dirty="0">
                <a:ea typeface="Segoe UI Symbol" pitchFamily="34" charset="0"/>
              </a:rPr>
              <a:t>It verify all memory access</a:t>
            </a:r>
          </a:p>
          <a:p>
            <a:pPr lvl="1"/>
            <a:r>
              <a:rPr lang="en-US" dirty="0">
                <a:ea typeface="Segoe UI Symbol" pitchFamily="34" charset="0"/>
              </a:rPr>
              <a:t>Ensure that no viruses are communicated with an applet.</a:t>
            </a:r>
          </a:p>
          <a:p>
            <a:endParaRPr lang="en-US" noProof="1">
              <a:ea typeface="Segoe UI Symbol" pitchFamily="34" charset="0"/>
            </a:endParaRPr>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22</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600" dirty="0">
                <a:solidFill>
                  <a:srgbClr val="024069"/>
                </a:solidFill>
              </a:rPr>
              <a:t>Distributed and Network Oriented</a:t>
            </a:r>
          </a:p>
        </p:txBody>
      </p:sp>
      <p:sp>
        <p:nvSpPr>
          <p:cNvPr id="4099" name="Rectangle 3"/>
          <p:cNvSpPr>
            <a:spLocks noGrp="1" noChangeArrowheads="1"/>
          </p:cNvSpPr>
          <p:nvPr>
            <p:ph type="body" idx="1"/>
          </p:nvPr>
        </p:nvSpPr>
        <p:spPr>
          <a:xfrm>
            <a:off x="457200" y="1295399"/>
            <a:ext cx="8382000" cy="4495801"/>
          </a:xfrm>
        </p:spPr>
        <p:txBody>
          <a:bodyPr/>
          <a:lstStyle/>
          <a:p>
            <a:r>
              <a:rPr lang="en-US" dirty="0"/>
              <a:t>Java grew up in the days of the Internet</a:t>
            </a:r>
          </a:p>
          <a:p>
            <a:pPr lvl="1"/>
            <a:r>
              <a:rPr lang="en-US" dirty="0"/>
              <a:t>Inherently network friendly</a:t>
            </a:r>
          </a:p>
          <a:p>
            <a:pPr lvl="1"/>
            <a:r>
              <a:rPr lang="en-US" dirty="0"/>
              <a:t>Original release of Java came with Networking libraries</a:t>
            </a:r>
          </a:p>
          <a:p>
            <a:pPr lvl="1"/>
            <a:r>
              <a:rPr lang="en-US" dirty="0"/>
              <a:t>Newer releases contain even more for handling distributed applications</a:t>
            </a:r>
          </a:p>
          <a:p>
            <a:pPr lvl="2">
              <a:buNone/>
            </a:pPr>
            <a:endParaRPr lang="en-US" dirty="0"/>
          </a:p>
          <a:p>
            <a:endParaRPr lang="en-US"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23</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Multithreaded and Interactive</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t>Handles multiple tasks simultaneously.</a:t>
            </a:r>
          </a:p>
          <a:p>
            <a:endParaRPr lang="en-US" sz="2800" dirty="0"/>
          </a:p>
          <a:p>
            <a:r>
              <a:rPr lang="en-US" sz="2800" dirty="0"/>
              <a:t>Java runtime system contains tools to support multi-process synchronization and construct smoothly running interactive systems.</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24</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High Performance</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t>Java performance is slower than C</a:t>
            </a:r>
          </a:p>
          <a:p>
            <a:r>
              <a:rPr lang="en-US" sz="2800" dirty="0"/>
              <a:t>Provisions (to make something available such as library, configuration) are added to reduce overhead at runtime.</a:t>
            </a:r>
          </a:p>
          <a:p>
            <a:r>
              <a:rPr lang="en-US" sz="2800" dirty="0"/>
              <a:t>Incorporation of multithreading enhance the overall execution speed.</a:t>
            </a:r>
          </a:p>
          <a:p>
            <a:r>
              <a:rPr lang="en-US" sz="2800" dirty="0"/>
              <a:t>Just-in-Time (JIT) can compile the byte code into machine code.</a:t>
            </a:r>
          </a:p>
          <a:p>
            <a:r>
              <a:rPr lang="en-US" sz="2800" dirty="0"/>
              <a:t>Can sometimes be even faster than compiled C code!</a:t>
            </a:r>
          </a:p>
          <a:p>
            <a:endParaRPr lang="en-US" sz="2800" dirty="0"/>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25</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Dynamic</a:t>
            </a:r>
          </a:p>
        </p:txBody>
      </p:sp>
      <p:sp>
        <p:nvSpPr>
          <p:cNvPr id="4099" name="Rectangle 3"/>
          <p:cNvSpPr>
            <a:spLocks noGrp="1" noChangeArrowheads="1"/>
          </p:cNvSpPr>
          <p:nvPr>
            <p:ph type="body" idx="1"/>
          </p:nvPr>
        </p:nvSpPr>
        <p:spPr>
          <a:xfrm>
            <a:off x="457200" y="1295399"/>
            <a:ext cx="8382000" cy="4495801"/>
          </a:xfrm>
        </p:spPr>
        <p:txBody>
          <a:bodyPr/>
          <a:lstStyle/>
          <a:p>
            <a:r>
              <a:rPr lang="en-US" sz="2800" dirty="0"/>
              <a:t>Capable of dynamically linking a new class libraries, methods and objects.</a:t>
            </a:r>
          </a:p>
          <a:p>
            <a:r>
              <a:rPr lang="en-US" sz="2800" dirty="0"/>
              <a:t>Java can use efficient functions available in C/C++. </a:t>
            </a:r>
          </a:p>
          <a:p>
            <a:r>
              <a:rPr lang="en-US" sz="2800" dirty="0"/>
              <a:t>Installing new version of library automatically updates all programs </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26</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3600" dirty="0">
                <a:solidFill>
                  <a:srgbClr val="024069"/>
                </a:solidFill>
              </a:rPr>
              <a:t>Language of Internet Programming</a:t>
            </a:r>
          </a:p>
        </p:txBody>
      </p:sp>
      <p:sp>
        <p:nvSpPr>
          <p:cNvPr id="4099" name="Rectangle 3"/>
          <p:cNvSpPr>
            <a:spLocks noGrp="1" noChangeArrowheads="1"/>
          </p:cNvSpPr>
          <p:nvPr>
            <p:ph type="body" idx="1"/>
          </p:nvPr>
        </p:nvSpPr>
        <p:spPr>
          <a:xfrm>
            <a:off x="457200" y="1295399"/>
            <a:ext cx="8382000" cy="4495801"/>
          </a:xfrm>
        </p:spPr>
        <p:txBody>
          <a:bodyPr/>
          <a:lstStyle/>
          <a:p>
            <a:pPr marL="533400" indent="-533400">
              <a:lnSpc>
                <a:spcPct val="90000"/>
              </a:lnSpc>
            </a:pPr>
            <a:r>
              <a:rPr lang="en-US" sz="2400" dirty="0"/>
              <a:t>Java Applets</a:t>
            </a:r>
          </a:p>
          <a:p>
            <a:pPr marL="533400" indent="-533400">
              <a:lnSpc>
                <a:spcPct val="90000"/>
              </a:lnSpc>
            </a:pPr>
            <a:r>
              <a:rPr lang="en-US" sz="2400" dirty="0"/>
              <a:t>Security</a:t>
            </a:r>
          </a:p>
          <a:p>
            <a:pPr marL="533400" indent="-533400">
              <a:lnSpc>
                <a:spcPct val="90000"/>
              </a:lnSpc>
            </a:pPr>
            <a:r>
              <a:rPr lang="en-US" sz="2400" dirty="0"/>
              <a:t>Portability</a:t>
            </a:r>
          </a:p>
          <a:p>
            <a:pPr marL="533400" indent="-533400">
              <a:lnSpc>
                <a:spcPct val="90000"/>
              </a:lnSpc>
            </a:pPr>
            <a:r>
              <a:rPr lang="en-US" sz="2400" dirty="0">
                <a:solidFill>
                  <a:srgbClr val="024069"/>
                </a:solidFill>
              </a:rPr>
              <a:t>Applets</a:t>
            </a:r>
            <a:endParaRPr lang="en-US" sz="2400" b="1" dirty="0">
              <a:solidFill>
                <a:srgbClr val="024069"/>
              </a:solidFill>
            </a:endParaRPr>
          </a:p>
          <a:p>
            <a:pPr marL="933450" lvl="1" indent="-533400">
              <a:lnSpc>
                <a:spcPct val="90000"/>
              </a:lnSpc>
            </a:pPr>
            <a:r>
              <a:rPr lang="en-US" sz="2000" dirty="0"/>
              <a:t>Special java program that can transmitted over the network and automatically executed by a java-compatible web browser.</a:t>
            </a:r>
          </a:p>
          <a:p>
            <a:pPr marL="533400" indent="-533400">
              <a:lnSpc>
                <a:spcPct val="90000"/>
              </a:lnSpc>
            </a:pPr>
            <a:r>
              <a:rPr lang="en-US" sz="2400" dirty="0">
                <a:solidFill>
                  <a:srgbClr val="024069"/>
                </a:solidFill>
              </a:rPr>
              <a:t>Security</a:t>
            </a:r>
          </a:p>
          <a:p>
            <a:pPr marL="933450" lvl="1" indent="-533400">
              <a:lnSpc>
                <a:spcPct val="90000"/>
              </a:lnSpc>
            </a:pPr>
            <a:r>
              <a:rPr lang="en-US" sz="2000" dirty="0"/>
              <a:t>Java compatible web browser can download java applets without fear of viral infection and malicious agent.</a:t>
            </a:r>
          </a:p>
          <a:p>
            <a:pPr marL="533400" indent="-533400">
              <a:lnSpc>
                <a:spcPct val="90000"/>
              </a:lnSpc>
            </a:pPr>
            <a:r>
              <a:rPr lang="en-US" sz="2400" dirty="0">
                <a:solidFill>
                  <a:srgbClr val="024069"/>
                </a:solidFill>
              </a:rPr>
              <a:t>Portable</a:t>
            </a:r>
            <a:endParaRPr lang="en-US" sz="2800" dirty="0">
              <a:solidFill>
                <a:srgbClr val="024069"/>
              </a:solidFill>
            </a:endParaRPr>
          </a:p>
          <a:p>
            <a:pPr marL="933450" lvl="1" indent="-533400">
              <a:lnSpc>
                <a:spcPct val="90000"/>
              </a:lnSpc>
            </a:pPr>
            <a:r>
              <a:rPr lang="en-US" sz="2400" dirty="0"/>
              <a:t>Java </a:t>
            </a:r>
            <a:r>
              <a:rPr lang="en-US" sz="2000" dirty="0"/>
              <a:t>applets can be dynamically downloaded to all the various types of platforms connected to the internet </a:t>
            </a:r>
          </a:p>
          <a:p>
            <a:endParaRPr lang="en-US" sz="24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27</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Why portable and Secure?</a:t>
            </a:r>
          </a:p>
        </p:txBody>
      </p:sp>
      <p:sp>
        <p:nvSpPr>
          <p:cNvPr id="4099" name="Rectangle 3"/>
          <p:cNvSpPr>
            <a:spLocks noGrp="1" noChangeArrowheads="1"/>
          </p:cNvSpPr>
          <p:nvPr>
            <p:ph type="body" idx="1"/>
          </p:nvPr>
        </p:nvSpPr>
        <p:spPr>
          <a:xfrm>
            <a:off x="457200" y="1295399"/>
            <a:ext cx="8382000" cy="4495801"/>
          </a:xfrm>
        </p:spPr>
        <p:txBody>
          <a:bodyPr/>
          <a:lstStyle/>
          <a:p>
            <a:pPr>
              <a:spcBef>
                <a:spcPct val="50000"/>
              </a:spcBef>
            </a:pPr>
            <a:r>
              <a:rPr lang="en-US" sz="2800" dirty="0" smtClean="0"/>
              <a:t>The </a:t>
            </a:r>
            <a:r>
              <a:rPr lang="en-US" sz="2800" dirty="0"/>
              <a:t>output of java compiler is not executable code.</a:t>
            </a:r>
          </a:p>
          <a:p>
            <a:pPr>
              <a:spcBef>
                <a:spcPct val="50000"/>
              </a:spcBef>
            </a:pPr>
            <a:r>
              <a:rPr lang="en-US" sz="2800" dirty="0" smtClean="0"/>
              <a:t>Once </a:t>
            </a:r>
            <a:r>
              <a:rPr lang="en-US" sz="2800" dirty="0"/>
              <a:t>JVM exists for a platform, any java program can run on it.</a:t>
            </a:r>
          </a:p>
          <a:p>
            <a:pPr>
              <a:spcBef>
                <a:spcPct val="50000"/>
              </a:spcBef>
            </a:pPr>
            <a:r>
              <a:rPr lang="en-US" sz="2800" dirty="0" smtClean="0"/>
              <a:t>The </a:t>
            </a:r>
            <a:r>
              <a:rPr lang="en-US" sz="2800" dirty="0"/>
              <a:t>execution of byte code by the JVM makes java programs portable.</a:t>
            </a:r>
          </a:p>
          <a:p>
            <a:pPr>
              <a:spcBef>
                <a:spcPct val="50000"/>
              </a:spcBef>
            </a:pPr>
            <a:r>
              <a:rPr lang="en-US" sz="2800" dirty="0" smtClean="0"/>
              <a:t>Java </a:t>
            </a:r>
            <a:r>
              <a:rPr lang="en-US" sz="2800" dirty="0"/>
              <a:t>program is confined within  the java execution environment and cannot access the other part of the computer.</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28</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Basics of Java Environments</a:t>
            </a:r>
          </a:p>
        </p:txBody>
      </p:sp>
      <p:sp>
        <p:nvSpPr>
          <p:cNvPr id="4099" name="Rectangle 3"/>
          <p:cNvSpPr>
            <a:spLocks noGrp="1" noChangeArrowheads="1"/>
          </p:cNvSpPr>
          <p:nvPr>
            <p:ph type="body" idx="1"/>
          </p:nvPr>
        </p:nvSpPr>
        <p:spPr>
          <a:xfrm>
            <a:off x="457200" y="1295399"/>
            <a:ext cx="8382000" cy="4495801"/>
          </a:xfrm>
        </p:spPr>
        <p:txBody>
          <a:bodyPr/>
          <a:lstStyle/>
          <a:p>
            <a:pPr>
              <a:lnSpc>
                <a:spcPct val="90000"/>
              </a:lnSpc>
            </a:pPr>
            <a:r>
              <a:rPr lang="en-US" dirty="0"/>
              <a:t>Java programs normally undergo five phases</a:t>
            </a:r>
          </a:p>
          <a:p>
            <a:pPr marL="914400" lvl="1" indent="-457200">
              <a:lnSpc>
                <a:spcPct val="90000"/>
              </a:lnSpc>
              <a:buFont typeface="+mj-lt"/>
              <a:buAutoNum type="arabicPeriod"/>
            </a:pPr>
            <a:r>
              <a:rPr lang="en-US" sz="2200" dirty="0"/>
              <a:t>Edit</a:t>
            </a:r>
          </a:p>
          <a:p>
            <a:pPr lvl="2">
              <a:lnSpc>
                <a:spcPct val="90000"/>
              </a:lnSpc>
            </a:pPr>
            <a:r>
              <a:rPr lang="en-US" sz="2100" dirty="0"/>
              <a:t>Programmer writes program (and stores program on disk)</a:t>
            </a:r>
          </a:p>
          <a:p>
            <a:pPr marL="914400" lvl="1" indent="-457200">
              <a:lnSpc>
                <a:spcPct val="90000"/>
              </a:lnSpc>
              <a:buFont typeface="+mj-lt"/>
              <a:buAutoNum type="arabicPeriod"/>
            </a:pPr>
            <a:r>
              <a:rPr lang="en-US" sz="2200" dirty="0"/>
              <a:t>Compile</a:t>
            </a:r>
          </a:p>
          <a:p>
            <a:pPr lvl="2">
              <a:lnSpc>
                <a:spcPct val="90000"/>
              </a:lnSpc>
            </a:pPr>
            <a:r>
              <a:rPr lang="en-US" sz="2100" dirty="0"/>
              <a:t>Compiler creates bytecodes from program</a:t>
            </a:r>
          </a:p>
          <a:p>
            <a:pPr marL="914400" lvl="1" indent="-457200">
              <a:lnSpc>
                <a:spcPct val="90000"/>
              </a:lnSpc>
              <a:buFont typeface="+mj-lt"/>
              <a:buAutoNum type="arabicPeriod"/>
            </a:pPr>
            <a:r>
              <a:rPr lang="en-US" sz="2200" dirty="0"/>
              <a:t>Load</a:t>
            </a:r>
          </a:p>
          <a:p>
            <a:pPr lvl="2">
              <a:lnSpc>
                <a:spcPct val="90000"/>
              </a:lnSpc>
            </a:pPr>
            <a:r>
              <a:rPr lang="en-US" sz="2100" dirty="0"/>
              <a:t>Class loader stores bytecodes in memory</a:t>
            </a:r>
          </a:p>
          <a:p>
            <a:pPr marL="914400" lvl="1" indent="-457200">
              <a:lnSpc>
                <a:spcPct val="90000"/>
              </a:lnSpc>
              <a:buFont typeface="+mj-lt"/>
              <a:buAutoNum type="arabicPeriod"/>
            </a:pPr>
            <a:r>
              <a:rPr lang="en-US" sz="2200" dirty="0"/>
              <a:t>Verify</a:t>
            </a:r>
          </a:p>
          <a:p>
            <a:pPr lvl="2">
              <a:lnSpc>
                <a:spcPct val="90000"/>
              </a:lnSpc>
            </a:pPr>
            <a:r>
              <a:rPr lang="en-US" sz="2100" dirty="0"/>
              <a:t>Verifier ensures bytecodes do not violate security requirements</a:t>
            </a:r>
          </a:p>
          <a:p>
            <a:pPr marL="914400" lvl="1" indent="-457200">
              <a:lnSpc>
                <a:spcPct val="90000"/>
              </a:lnSpc>
              <a:buFont typeface="+mj-lt"/>
              <a:buAutoNum type="arabicPeriod"/>
            </a:pPr>
            <a:r>
              <a:rPr lang="en-US" sz="2200" dirty="0"/>
              <a:t>Execute</a:t>
            </a:r>
          </a:p>
          <a:p>
            <a:pPr lvl="2">
              <a:lnSpc>
                <a:spcPct val="90000"/>
              </a:lnSpc>
            </a:pPr>
            <a:r>
              <a:rPr lang="en-US" sz="2100" dirty="0"/>
              <a:t>Interpreter translates bytecodes into machine language</a:t>
            </a:r>
          </a:p>
          <a:p>
            <a:pPr>
              <a:lnSpc>
                <a:spcPct val="90000"/>
              </a:lnSpc>
            </a:pPr>
            <a:endParaRPr lang="en-US" dirty="0"/>
          </a:p>
          <a:p>
            <a:endParaRPr lang="en-US"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29</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2" name="Group 4"/>
          <p:cNvGrpSpPr>
            <a:grpSpLocks/>
          </p:cNvGrpSpPr>
          <p:nvPr/>
        </p:nvGrpSpPr>
        <p:grpSpPr bwMode="auto">
          <a:xfrm>
            <a:off x="0" y="0"/>
            <a:ext cx="9144000" cy="6858000"/>
            <a:chOff x="1344" y="0"/>
            <a:chExt cx="4224" cy="4224"/>
          </a:xfrm>
        </p:grpSpPr>
        <p:sp>
          <p:nvSpPr>
            <p:cNvPr id="13" name="Rectangle 5"/>
            <p:cNvSpPr>
              <a:spLocks noChangeArrowheads="1"/>
            </p:cNvSpPr>
            <p:nvPr/>
          </p:nvSpPr>
          <p:spPr bwMode="auto">
            <a:xfrm>
              <a:off x="1344" y="0"/>
              <a:ext cx="4224" cy="4224"/>
            </a:xfrm>
            <a:prstGeom prst="rect">
              <a:avLst/>
            </a:prstGeom>
            <a:solidFill>
              <a:srgbClr val="FFE699"/>
            </a:solidFill>
            <a:ln w="0">
              <a:noFill/>
              <a:miter lim="800000"/>
              <a:headEnd/>
              <a:tailEnd/>
            </a:ln>
          </p:spPr>
          <p:txBody>
            <a:bodyPr/>
            <a:lstStyle/>
            <a:p>
              <a:pPr eaLnBrk="0" hangingPunct="0">
                <a:spcBef>
                  <a:spcPct val="50000"/>
                </a:spcBef>
              </a:pPr>
              <a:endParaRPr lang="en-US" sz="900" b="1">
                <a:cs typeface="Times New Roman" pitchFamily="18" charset="0"/>
              </a:endParaRPr>
            </a:p>
          </p:txBody>
        </p:sp>
        <p:grpSp>
          <p:nvGrpSpPr>
            <p:cNvPr id="14" name="Group 6"/>
            <p:cNvGrpSpPr>
              <a:grpSpLocks/>
            </p:cNvGrpSpPr>
            <p:nvPr/>
          </p:nvGrpSpPr>
          <p:grpSpPr bwMode="auto">
            <a:xfrm>
              <a:off x="3633" y="847"/>
              <a:ext cx="636" cy="1043"/>
              <a:chOff x="0" y="0"/>
              <a:chExt cx="20000" cy="20002"/>
            </a:xfrm>
          </p:grpSpPr>
          <p:sp>
            <p:nvSpPr>
              <p:cNvPr id="129" name="Rectangle 7"/>
              <p:cNvSpPr>
                <a:spLocks noChangeArrowheads="1"/>
              </p:cNvSpPr>
              <p:nvPr/>
            </p:nvSpPr>
            <p:spPr bwMode="auto">
              <a:xfrm>
                <a:off x="0" y="0"/>
                <a:ext cx="19980" cy="3445"/>
              </a:xfrm>
              <a:prstGeom prst="rect">
                <a:avLst/>
              </a:prstGeom>
              <a:noFill/>
              <a:ln w="0">
                <a:noFill/>
                <a:miter lim="800000"/>
                <a:headEnd/>
                <a:tailEnd/>
              </a:ln>
            </p:spPr>
            <p:txBody>
              <a:bodyPr lIns="0" tIns="0" rIns="0" bIns="0"/>
              <a:lstStyle/>
              <a:p>
                <a:pPr algn="ctr" eaLnBrk="0" hangingPunct="0">
                  <a:lnSpc>
                    <a:spcPct val="80000"/>
                  </a:lnSpc>
                </a:pPr>
                <a:r>
                  <a:rPr lang="en-US" sz="1200" noProof="1">
                    <a:solidFill>
                      <a:srgbClr val="000000"/>
                    </a:solidFill>
                  </a:rPr>
                  <a:t>Primary</a:t>
                </a:r>
              </a:p>
              <a:p>
                <a:pPr algn="ctr" eaLnBrk="0" hangingPunct="0">
                  <a:lnSpc>
                    <a:spcPct val="80000"/>
                  </a:lnSpc>
                </a:pPr>
                <a:r>
                  <a:rPr lang="en-US" sz="1200" noProof="1">
                    <a:solidFill>
                      <a:srgbClr val="000000"/>
                    </a:solidFill>
                  </a:rPr>
                  <a:t>Memory</a:t>
                </a:r>
              </a:p>
            </p:txBody>
          </p:sp>
          <p:grpSp>
            <p:nvGrpSpPr>
              <p:cNvPr id="130" name="Group 8"/>
              <p:cNvGrpSpPr>
                <a:grpSpLocks/>
              </p:cNvGrpSpPr>
              <p:nvPr/>
            </p:nvGrpSpPr>
            <p:grpSpPr bwMode="auto">
              <a:xfrm>
                <a:off x="0" y="3575"/>
                <a:ext cx="20000" cy="16427"/>
                <a:chOff x="0" y="0"/>
                <a:chExt cx="20000" cy="20000"/>
              </a:xfrm>
            </p:grpSpPr>
            <p:sp>
              <p:nvSpPr>
                <p:cNvPr id="131" name="Freeform 9"/>
                <p:cNvSpPr>
                  <a:spLocks/>
                </p:cNvSpPr>
                <p:nvPr/>
              </p:nvSpPr>
              <p:spPr bwMode="auto">
                <a:xfrm>
                  <a:off x="0" y="0"/>
                  <a:ext cx="19834" cy="19981"/>
                </a:xfrm>
                <a:custGeom>
                  <a:avLst/>
                  <a:gdLst>
                    <a:gd name="T0" fmla="*/ 19007 w 20000"/>
                    <a:gd name="T1" fmla="*/ 0 h 20000"/>
                    <a:gd name="T2" fmla="*/ 19007 w 20000"/>
                    <a:gd name="T3" fmla="*/ 19876 h 20000"/>
                    <a:gd name="T4" fmla="*/ 0 w 20000"/>
                    <a:gd name="T5" fmla="*/ 19876 h 20000"/>
                    <a:gd name="T6" fmla="*/ 0 w 20000"/>
                    <a:gd name="T7" fmla="*/ 0 h 20000"/>
                    <a:gd name="T8" fmla="*/ 1900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90"/>
                      </a:lnTo>
                      <a:lnTo>
                        <a:pt x="0" y="19990"/>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132" name="Freeform 10"/>
                <p:cNvSpPr>
                  <a:spLocks/>
                </p:cNvSpPr>
                <p:nvPr/>
              </p:nvSpPr>
              <p:spPr bwMode="auto">
                <a:xfrm>
                  <a:off x="33" y="10"/>
                  <a:ext cx="19967" cy="2493"/>
                </a:xfrm>
                <a:custGeom>
                  <a:avLst/>
                  <a:gdLst>
                    <a:gd name="T0" fmla="*/ 19783 w 20000"/>
                    <a:gd name="T1" fmla="*/ 0 h 20000"/>
                    <a:gd name="T2" fmla="*/ 19783 w 20000"/>
                    <a:gd name="T3" fmla="*/ 0 h 20000"/>
                    <a:gd name="T4" fmla="*/ 0 w 20000"/>
                    <a:gd name="T5" fmla="*/ 0 h 20000"/>
                    <a:gd name="T6" fmla="*/ 0 w 20000"/>
                    <a:gd name="T7" fmla="*/ 0 h 20000"/>
                    <a:gd name="T8" fmla="*/ 19783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33" name="Freeform 11"/>
                <p:cNvSpPr>
                  <a:spLocks/>
                </p:cNvSpPr>
                <p:nvPr/>
              </p:nvSpPr>
              <p:spPr bwMode="auto">
                <a:xfrm>
                  <a:off x="33" y="2523"/>
                  <a:ext cx="19967" cy="2509"/>
                </a:xfrm>
                <a:custGeom>
                  <a:avLst/>
                  <a:gdLst>
                    <a:gd name="T0" fmla="*/ 19783 w 20000"/>
                    <a:gd name="T1" fmla="*/ 0 h 20000"/>
                    <a:gd name="T2" fmla="*/ 19783 w 20000"/>
                    <a:gd name="T3" fmla="*/ 0 h 20000"/>
                    <a:gd name="T4" fmla="*/ 0 w 20000"/>
                    <a:gd name="T5" fmla="*/ 0 h 20000"/>
                    <a:gd name="T6" fmla="*/ 0 w 20000"/>
                    <a:gd name="T7" fmla="*/ 0 h 20000"/>
                    <a:gd name="T8" fmla="*/ 19783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7"/>
                      </a:lnTo>
                      <a:lnTo>
                        <a:pt x="0" y="19917"/>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grpSp>
              <p:nvGrpSpPr>
                <p:cNvPr id="134" name="Group 12"/>
                <p:cNvGrpSpPr>
                  <a:grpSpLocks/>
                </p:cNvGrpSpPr>
                <p:nvPr/>
              </p:nvGrpSpPr>
              <p:grpSpPr bwMode="auto">
                <a:xfrm>
                  <a:off x="33" y="5032"/>
                  <a:ext cx="19967" cy="14968"/>
                  <a:chOff x="3" y="1"/>
                  <a:chExt cx="19994" cy="19998"/>
                </a:xfrm>
              </p:grpSpPr>
              <p:sp>
                <p:nvSpPr>
                  <p:cNvPr id="135" name="Rectangle 13"/>
                  <p:cNvSpPr>
                    <a:spLocks noChangeArrowheads="1"/>
                  </p:cNvSpPr>
                  <p:nvPr/>
                </p:nvSpPr>
                <p:spPr bwMode="auto">
                  <a:xfrm>
                    <a:off x="8320" y="10115"/>
                    <a:ext cx="2240" cy="7283"/>
                  </a:xfrm>
                  <a:prstGeom prst="rect">
                    <a:avLst/>
                  </a:prstGeom>
                  <a:noFill/>
                  <a:ln w="0">
                    <a:noFill/>
                    <a:miter lim="800000"/>
                    <a:headEnd/>
                    <a:tailEnd/>
                  </a:ln>
                </p:spPr>
                <p:txBody>
                  <a:bodyPr lIns="0" tIns="0" rIns="0" bIns="0"/>
                  <a:lstStyle/>
                  <a:p>
                    <a:pPr algn="just" eaLnBrk="0" hangingPunct="0">
                      <a:lnSpc>
                        <a:spcPct val="88000"/>
                      </a:lnSpc>
                    </a:pPr>
                    <a:r>
                      <a:rPr lang="en-US" sz="900" noProof="1">
                        <a:solidFill>
                          <a:srgbClr val="000000"/>
                        </a:solidFill>
                      </a:rPr>
                      <a:t>.</a:t>
                    </a:r>
                  </a:p>
                  <a:p>
                    <a:pPr algn="just" eaLnBrk="0" hangingPunct="0">
                      <a:lnSpc>
                        <a:spcPct val="88000"/>
                      </a:lnSpc>
                    </a:pPr>
                    <a:r>
                      <a:rPr lang="en-US" sz="900" noProof="1">
                        <a:solidFill>
                          <a:srgbClr val="000000"/>
                        </a:solidFill>
                      </a:rPr>
                      <a:t>.</a:t>
                    </a:r>
                  </a:p>
                  <a:p>
                    <a:pPr algn="just" eaLnBrk="0" hangingPunct="0">
                      <a:lnSpc>
                        <a:spcPct val="88000"/>
                      </a:lnSpc>
                    </a:pPr>
                    <a:r>
                      <a:rPr lang="en-US" sz="900" noProof="1">
                        <a:solidFill>
                          <a:srgbClr val="000000"/>
                        </a:solidFill>
                      </a:rPr>
                      <a:t>.</a:t>
                    </a:r>
                  </a:p>
                </p:txBody>
              </p:sp>
              <p:sp>
                <p:nvSpPr>
                  <p:cNvPr id="136" name="Freeform 14"/>
                  <p:cNvSpPr>
                    <a:spLocks/>
                  </p:cNvSpPr>
                  <p:nvPr/>
                </p:nvSpPr>
                <p:spPr bwMode="auto">
                  <a:xfrm>
                    <a:off x="3" y="1"/>
                    <a:ext cx="19994" cy="3332"/>
                  </a:xfrm>
                  <a:custGeom>
                    <a:avLst/>
                    <a:gdLst>
                      <a:gd name="T0" fmla="*/ 19945 w 20000"/>
                      <a:gd name="T1" fmla="*/ 0 h 20000"/>
                      <a:gd name="T2" fmla="*/ 19945 w 20000"/>
                      <a:gd name="T3" fmla="*/ 0 h 20000"/>
                      <a:gd name="T4" fmla="*/ 0 w 20000"/>
                      <a:gd name="T5" fmla="*/ 0 h 20000"/>
                      <a:gd name="T6" fmla="*/ 0 w 20000"/>
                      <a:gd name="T7" fmla="*/ 0 h 20000"/>
                      <a:gd name="T8" fmla="*/ 1994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37" name="Freeform 15"/>
                  <p:cNvSpPr>
                    <a:spLocks/>
                  </p:cNvSpPr>
                  <p:nvPr/>
                </p:nvSpPr>
                <p:spPr bwMode="auto">
                  <a:xfrm>
                    <a:off x="3" y="3345"/>
                    <a:ext cx="19994" cy="3327"/>
                  </a:xfrm>
                  <a:custGeom>
                    <a:avLst/>
                    <a:gdLst>
                      <a:gd name="T0" fmla="*/ 19945 w 20000"/>
                      <a:gd name="T1" fmla="*/ 0 h 20000"/>
                      <a:gd name="T2" fmla="*/ 19945 w 20000"/>
                      <a:gd name="T3" fmla="*/ 0 h 20000"/>
                      <a:gd name="T4" fmla="*/ 0 w 20000"/>
                      <a:gd name="T5" fmla="*/ 0 h 20000"/>
                      <a:gd name="T6" fmla="*/ 0 w 20000"/>
                      <a:gd name="T7" fmla="*/ 0 h 20000"/>
                      <a:gd name="T8" fmla="*/ 1994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38" name="Freeform 16"/>
                  <p:cNvSpPr>
                    <a:spLocks/>
                  </p:cNvSpPr>
                  <p:nvPr/>
                </p:nvSpPr>
                <p:spPr bwMode="auto">
                  <a:xfrm>
                    <a:off x="3" y="6672"/>
                    <a:ext cx="19994" cy="3332"/>
                  </a:xfrm>
                  <a:custGeom>
                    <a:avLst/>
                    <a:gdLst>
                      <a:gd name="T0" fmla="*/ 19945 w 20000"/>
                      <a:gd name="T1" fmla="*/ 0 h 20000"/>
                      <a:gd name="T2" fmla="*/ 19945 w 20000"/>
                      <a:gd name="T3" fmla="*/ 0 h 20000"/>
                      <a:gd name="T4" fmla="*/ 0 w 20000"/>
                      <a:gd name="T5" fmla="*/ 0 h 20000"/>
                      <a:gd name="T6" fmla="*/ 0 w 20000"/>
                      <a:gd name="T7" fmla="*/ 0 h 20000"/>
                      <a:gd name="T8" fmla="*/ 1994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39" name="Freeform 17"/>
                  <p:cNvSpPr>
                    <a:spLocks/>
                  </p:cNvSpPr>
                  <p:nvPr/>
                </p:nvSpPr>
                <p:spPr bwMode="auto">
                  <a:xfrm>
                    <a:off x="3" y="10004"/>
                    <a:ext cx="19994" cy="6671"/>
                  </a:xfrm>
                  <a:custGeom>
                    <a:avLst/>
                    <a:gdLst>
                      <a:gd name="T0" fmla="*/ 19945 w 20000"/>
                      <a:gd name="T1" fmla="*/ 0 h 20000"/>
                      <a:gd name="T2" fmla="*/ 19945 w 20000"/>
                      <a:gd name="T3" fmla="*/ 27 h 20000"/>
                      <a:gd name="T4" fmla="*/ 0 w 20000"/>
                      <a:gd name="T5" fmla="*/ 27 h 20000"/>
                      <a:gd name="T6" fmla="*/ 0 w 20000"/>
                      <a:gd name="T7" fmla="*/ 0 h 20000"/>
                      <a:gd name="T8" fmla="*/ 1994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58"/>
                        </a:lnTo>
                        <a:lnTo>
                          <a:pt x="0" y="19958"/>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40" name="Freeform 18"/>
                  <p:cNvSpPr>
                    <a:spLocks/>
                  </p:cNvSpPr>
                  <p:nvPr/>
                </p:nvSpPr>
                <p:spPr bwMode="auto">
                  <a:xfrm>
                    <a:off x="3" y="16675"/>
                    <a:ext cx="19994" cy="3324"/>
                  </a:xfrm>
                  <a:custGeom>
                    <a:avLst/>
                    <a:gdLst>
                      <a:gd name="T0" fmla="*/ 19945 w 20000"/>
                      <a:gd name="T1" fmla="*/ 0 h 20000"/>
                      <a:gd name="T2" fmla="*/ 19945 w 20000"/>
                      <a:gd name="T3" fmla="*/ 0 h 20000"/>
                      <a:gd name="T4" fmla="*/ 0 w 20000"/>
                      <a:gd name="T5" fmla="*/ 0 h 20000"/>
                      <a:gd name="T6" fmla="*/ 0 w 20000"/>
                      <a:gd name="T7" fmla="*/ 0 h 20000"/>
                      <a:gd name="T8" fmla="*/ 1994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41" name="Rectangle 19"/>
                  <p:cNvSpPr>
                    <a:spLocks noChangeArrowheads="1"/>
                  </p:cNvSpPr>
                  <p:nvPr/>
                </p:nvSpPr>
                <p:spPr bwMode="auto">
                  <a:xfrm>
                    <a:off x="8874" y="10003"/>
                    <a:ext cx="2239" cy="7244"/>
                  </a:xfrm>
                  <a:prstGeom prst="rect">
                    <a:avLst/>
                  </a:prstGeom>
                  <a:noFill/>
                  <a:ln w="0">
                    <a:noFill/>
                    <a:miter lim="800000"/>
                    <a:headEnd/>
                    <a:tailEnd/>
                  </a:ln>
                </p:spPr>
                <p:txBody>
                  <a:bodyPr lIns="0" tIns="0" rIns="0" bIns="0"/>
                  <a:lstStyle/>
                  <a:p>
                    <a:pPr algn="ctr" eaLnBrk="0" hangingPunct="0">
                      <a:lnSpc>
                        <a:spcPct val="64000"/>
                      </a:lnSpc>
                    </a:pPr>
                    <a:r>
                      <a:rPr lang="en-US" sz="900" noProof="1">
                        <a:solidFill>
                          <a:srgbClr val="000000"/>
                        </a:solidFill>
                      </a:rPr>
                      <a:t>.</a:t>
                    </a:r>
                  </a:p>
                  <a:p>
                    <a:pPr algn="ctr" eaLnBrk="0" hangingPunct="0">
                      <a:lnSpc>
                        <a:spcPct val="64000"/>
                      </a:lnSpc>
                    </a:pPr>
                    <a:r>
                      <a:rPr lang="en-US" sz="900" noProof="1">
                        <a:solidFill>
                          <a:srgbClr val="000000"/>
                        </a:solidFill>
                      </a:rPr>
                      <a:t>.</a:t>
                    </a:r>
                  </a:p>
                  <a:p>
                    <a:pPr algn="ctr" eaLnBrk="0" hangingPunct="0">
                      <a:lnSpc>
                        <a:spcPct val="64000"/>
                      </a:lnSpc>
                    </a:pPr>
                    <a:r>
                      <a:rPr lang="en-US" sz="900" noProof="1">
                        <a:solidFill>
                          <a:srgbClr val="000000"/>
                        </a:solidFill>
                      </a:rPr>
                      <a:t>.</a:t>
                    </a:r>
                  </a:p>
                </p:txBody>
              </p:sp>
            </p:grpSp>
          </p:grpSp>
        </p:grpSp>
        <p:grpSp>
          <p:nvGrpSpPr>
            <p:cNvPr id="15" name="Group 20"/>
            <p:cNvGrpSpPr>
              <a:grpSpLocks/>
            </p:cNvGrpSpPr>
            <p:nvPr/>
          </p:nvGrpSpPr>
          <p:grpSpPr bwMode="auto">
            <a:xfrm>
              <a:off x="3633" y="504"/>
              <a:ext cx="636" cy="218"/>
              <a:chOff x="0" y="-1"/>
              <a:chExt cx="20000" cy="20001"/>
            </a:xfrm>
          </p:grpSpPr>
          <p:sp>
            <p:nvSpPr>
              <p:cNvPr id="126" name="Oval 21"/>
              <p:cNvSpPr>
                <a:spLocks noChangeArrowheads="1"/>
              </p:cNvSpPr>
              <p:nvPr/>
            </p:nvSpPr>
            <p:spPr bwMode="auto">
              <a:xfrm>
                <a:off x="0" y="15019"/>
                <a:ext cx="20000" cy="4981"/>
              </a:xfrm>
              <a:prstGeom prst="ellipse">
                <a:avLst/>
              </a:prstGeom>
              <a:solidFill>
                <a:srgbClr val="4DB3E6"/>
              </a:solidFill>
              <a:ln w="3175">
                <a:solidFill>
                  <a:srgbClr val="4DB3E6"/>
                </a:solidFill>
                <a:round/>
                <a:headEnd/>
                <a:tailEnd/>
              </a:ln>
            </p:spPr>
            <p:txBody>
              <a:bodyPr/>
              <a:lstStyle/>
              <a:p>
                <a:endParaRPr lang="en-US"/>
              </a:p>
            </p:txBody>
          </p:sp>
          <p:sp>
            <p:nvSpPr>
              <p:cNvPr id="127" name="Freeform 22"/>
              <p:cNvSpPr>
                <a:spLocks/>
              </p:cNvSpPr>
              <p:nvPr/>
            </p:nvSpPr>
            <p:spPr bwMode="auto">
              <a:xfrm>
                <a:off x="20" y="2557"/>
                <a:ext cx="19980" cy="14807"/>
              </a:xfrm>
              <a:custGeom>
                <a:avLst/>
                <a:gdLst>
                  <a:gd name="T0" fmla="*/ 19861 w 20000"/>
                  <a:gd name="T1" fmla="*/ 0 h 20000"/>
                  <a:gd name="T2" fmla="*/ 19861 w 20000"/>
                  <a:gd name="T3" fmla="*/ 3284 h 20000"/>
                  <a:gd name="T4" fmla="*/ 0 w 20000"/>
                  <a:gd name="T5" fmla="*/ 3284 h 20000"/>
                  <a:gd name="T6" fmla="*/ 0 w 20000"/>
                  <a:gd name="T7" fmla="*/ 0 h 20000"/>
                  <a:gd name="T8" fmla="*/ 19861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44"/>
                    </a:lnTo>
                    <a:lnTo>
                      <a:pt x="0" y="19944"/>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128" name="Oval 23"/>
              <p:cNvSpPr>
                <a:spLocks noChangeArrowheads="1"/>
              </p:cNvSpPr>
              <p:nvPr/>
            </p:nvSpPr>
            <p:spPr bwMode="auto">
              <a:xfrm>
                <a:off x="0" y="-1"/>
                <a:ext cx="20000" cy="4981"/>
              </a:xfrm>
              <a:prstGeom prst="ellipse">
                <a:avLst/>
              </a:prstGeom>
              <a:solidFill>
                <a:srgbClr val="4DB3E6"/>
              </a:solidFill>
              <a:ln w="3175">
                <a:solidFill>
                  <a:srgbClr val="4DB3E6"/>
                </a:solidFill>
                <a:round/>
                <a:headEnd/>
                <a:tailEnd/>
              </a:ln>
            </p:spPr>
            <p:txBody>
              <a:bodyPr/>
              <a:lstStyle/>
              <a:p>
                <a:endParaRPr lang="en-US"/>
              </a:p>
            </p:txBody>
          </p:sp>
        </p:grpSp>
        <p:sp>
          <p:nvSpPr>
            <p:cNvPr id="16" name="Oval 24"/>
            <p:cNvSpPr>
              <a:spLocks noChangeArrowheads="1"/>
            </p:cNvSpPr>
            <p:nvPr/>
          </p:nvSpPr>
          <p:spPr bwMode="auto">
            <a:xfrm>
              <a:off x="3633" y="666"/>
              <a:ext cx="636" cy="54"/>
            </a:xfrm>
            <a:prstGeom prst="ellipse">
              <a:avLst/>
            </a:prstGeom>
            <a:noFill/>
            <a:ln w="3175">
              <a:solidFill>
                <a:srgbClr val="000000"/>
              </a:solidFill>
              <a:round/>
              <a:headEnd/>
              <a:tailEnd/>
            </a:ln>
          </p:spPr>
          <p:txBody>
            <a:bodyPr/>
            <a:lstStyle/>
            <a:p>
              <a:endParaRPr lang="en-US"/>
            </a:p>
          </p:txBody>
        </p:sp>
        <p:sp>
          <p:nvSpPr>
            <p:cNvPr id="17" name="Freeform 25"/>
            <p:cNvSpPr>
              <a:spLocks/>
            </p:cNvSpPr>
            <p:nvPr/>
          </p:nvSpPr>
          <p:spPr bwMode="auto">
            <a:xfrm>
              <a:off x="3633" y="532"/>
              <a:ext cx="636" cy="16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44"/>
                  </a:lnTo>
                  <a:lnTo>
                    <a:pt x="0" y="19944"/>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8" name="Freeform 26"/>
            <p:cNvSpPr>
              <a:spLocks/>
            </p:cNvSpPr>
            <p:nvPr/>
          </p:nvSpPr>
          <p:spPr bwMode="auto">
            <a:xfrm>
              <a:off x="3639" y="666"/>
              <a:ext cx="624" cy="3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692"/>
                  </a:lnTo>
                  <a:lnTo>
                    <a:pt x="0" y="19692"/>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19" name="Rectangle 27"/>
            <p:cNvSpPr>
              <a:spLocks noChangeArrowheads="1"/>
            </p:cNvSpPr>
            <p:nvPr/>
          </p:nvSpPr>
          <p:spPr bwMode="auto">
            <a:xfrm>
              <a:off x="3738" y="592"/>
              <a:ext cx="408" cy="106"/>
            </a:xfrm>
            <a:prstGeom prst="rect">
              <a:avLst/>
            </a:prstGeom>
            <a:noFill/>
            <a:ln w="0">
              <a:noFill/>
              <a:miter lim="800000"/>
              <a:headEnd/>
              <a:tailEnd/>
            </a:ln>
          </p:spPr>
          <p:txBody>
            <a:bodyPr lIns="0" tIns="0" rIns="0" bIns="0"/>
            <a:lstStyle/>
            <a:p>
              <a:pPr eaLnBrk="0" hangingPunct="0">
                <a:lnSpc>
                  <a:spcPct val="64000"/>
                </a:lnSpc>
              </a:pPr>
              <a:r>
                <a:rPr lang="en-US" sz="1200" noProof="1">
                  <a:solidFill>
                    <a:srgbClr val="000000"/>
                  </a:solidFill>
                </a:rPr>
                <a:t>Disk</a:t>
              </a:r>
            </a:p>
          </p:txBody>
        </p:sp>
        <p:sp>
          <p:nvSpPr>
            <p:cNvPr id="20" name="Freeform 28"/>
            <p:cNvSpPr>
              <a:spLocks/>
            </p:cNvSpPr>
            <p:nvPr/>
          </p:nvSpPr>
          <p:spPr bwMode="auto">
            <a:xfrm>
              <a:off x="3638" y="527"/>
              <a:ext cx="628" cy="3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701"/>
                  </a:lnTo>
                  <a:lnTo>
                    <a:pt x="0" y="19701"/>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21" name="Oval 29"/>
            <p:cNvSpPr>
              <a:spLocks noChangeArrowheads="1"/>
            </p:cNvSpPr>
            <p:nvPr/>
          </p:nvSpPr>
          <p:spPr bwMode="auto">
            <a:xfrm>
              <a:off x="3633" y="504"/>
              <a:ext cx="636" cy="54"/>
            </a:xfrm>
            <a:prstGeom prst="ellipse">
              <a:avLst/>
            </a:prstGeom>
            <a:noFill/>
            <a:ln w="3175">
              <a:solidFill>
                <a:srgbClr val="000000"/>
              </a:solidFill>
              <a:round/>
              <a:headEnd/>
              <a:tailEnd/>
            </a:ln>
          </p:spPr>
          <p:txBody>
            <a:bodyPr/>
            <a:lstStyle/>
            <a:p>
              <a:endParaRPr lang="en-US"/>
            </a:p>
          </p:txBody>
        </p:sp>
        <p:grpSp>
          <p:nvGrpSpPr>
            <p:cNvPr id="22" name="Group 30"/>
            <p:cNvGrpSpPr>
              <a:grpSpLocks/>
            </p:cNvGrpSpPr>
            <p:nvPr/>
          </p:nvGrpSpPr>
          <p:grpSpPr bwMode="auto">
            <a:xfrm>
              <a:off x="3633" y="100"/>
              <a:ext cx="636" cy="220"/>
              <a:chOff x="0" y="-1"/>
              <a:chExt cx="20000" cy="20001"/>
            </a:xfrm>
          </p:grpSpPr>
          <p:sp>
            <p:nvSpPr>
              <p:cNvPr id="123" name="Oval 31"/>
              <p:cNvSpPr>
                <a:spLocks noChangeArrowheads="1"/>
              </p:cNvSpPr>
              <p:nvPr/>
            </p:nvSpPr>
            <p:spPr bwMode="auto">
              <a:xfrm>
                <a:off x="0" y="15019"/>
                <a:ext cx="20000" cy="4981"/>
              </a:xfrm>
              <a:prstGeom prst="ellipse">
                <a:avLst/>
              </a:prstGeom>
              <a:solidFill>
                <a:srgbClr val="4DB3E6"/>
              </a:solidFill>
              <a:ln w="3175">
                <a:solidFill>
                  <a:srgbClr val="4DB3E6"/>
                </a:solidFill>
                <a:round/>
                <a:headEnd/>
                <a:tailEnd/>
              </a:ln>
            </p:spPr>
            <p:txBody>
              <a:bodyPr/>
              <a:lstStyle/>
              <a:p>
                <a:endParaRPr lang="en-US"/>
              </a:p>
            </p:txBody>
          </p:sp>
          <p:sp>
            <p:nvSpPr>
              <p:cNvPr id="124" name="Freeform 32"/>
              <p:cNvSpPr>
                <a:spLocks/>
              </p:cNvSpPr>
              <p:nvPr/>
            </p:nvSpPr>
            <p:spPr bwMode="auto">
              <a:xfrm>
                <a:off x="20" y="2557"/>
                <a:ext cx="19980" cy="14807"/>
              </a:xfrm>
              <a:custGeom>
                <a:avLst/>
                <a:gdLst>
                  <a:gd name="T0" fmla="*/ 19861 w 20000"/>
                  <a:gd name="T1" fmla="*/ 0 h 20000"/>
                  <a:gd name="T2" fmla="*/ 19861 w 20000"/>
                  <a:gd name="T3" fmla="*/ 3284 h 20000"/>
                  <a:gd name="T4" fmla="*/ 0 w 20000"/>
                  <a:gd name="T5" fmla="*/ 3284 h 20000"/>
                  <a:gd name="T6" fmla="*/ 0 w 20000"/>
                  <a:gd name="T7" fmla="*/ 0 h 20000"/>
                  <a:gd name="T8" fmla="*/ 19861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44"/>
                    </a:lnTo>
                    <a:lnTo>
                      <a:pt x="0" y="19944"/>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125" name="Oval 33"/>
              <p:cNvSpPr>
                <a:spLocks noChangeArrowheads="1"/>
              </p:cNvSpPr>
              <p:nvPr/>
            </p:nvSpPr>
            <p:spPr bwMode="auto">
              <a:xfrm>
                <a:off x="0" y="-1"/>
                <a:ext cx="20000" cy="4981"/>
              </a:xfrm>
              <a:prstGeom prst="ellipse">
                <a:avLst/>
              </a:prstGeom>
              <a:solidFill>
                <a:srgbClr val="4DB3E6"/>
              </a:solidFill>
              <a:ln w="3175">
                <a:solidFill>
                  <a:srgbClr val="4DB3E6"/>
                </a:solidFill>
                <a:round/>
                <a:headEnd/>
                <a:tailEnd/>
              </a:ln>
            </p:spPr>
            <p:txBody>
              <a:bodyPr/>
              <a:lstStyle/>
              <a:p>
                <a:endParaRPr lang="en-US"/>
              </a:p>
            </p:txBody>
          </p:sp>
        </p:grpSp>
        <p:sp>
          <p:nvSpPr>
            <p:cNvPr id="23" name="Oval 34"/>
            <p:cNvSpPr>
              <a:spLocks noChangeArrowheads="1"/>
            </p:cNvSpPr>
            <p:nvPr/>
          </p:nvSpPr>
          <p:spPr bwMode="auto">
            <a:xfrm>
              <a:off x="3633" y="265"/>
              <a:ext cx="636" cy="55"/>
            </a:xfrm>
            <a:prstGeom prst="ellipse">
              <a:avLst/>
            </a:prstGeom>
            <a:noFill/>
            <a:ln w="3175">
              <a:solidFill>
                <a:srgbClr val="000000"/>
              </a:solidFill>
              <a:round/>
              <a:headEnd/>
              <a:tailEnd/>
            </a:ln>
          </p:spPr>
          <p:txBody>
            <a:bodyPr/>
            <a:lstStyle/>
            <a:p>
              <a:endParaRPr lang="en-US"/>
            </a:p>
          </p:txBody>
        </p:sp>
        <p:sp>
          <p:nvSpPr>
            <p:cNvPr id="24" name="Freeform 35"/>
            <p:cNvSpPr>
              <a:spLocks/>
            </p:cNvSpPr>
            <p:nvPr/>
          </p:nvSpPr>
          <p:spPr bwMode="auto">
            <a:xfrm>
              <a:off x="3633" y="129"/>
              <a:ext cx="636" cy="16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44"/>
                  </a:lnTo>
                  <a:lnTo>
                    <a:pt x="0" y="19944"/>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25" name="Freeform 36"/>
            <p:cNvSpPr>
              <a:spLocks/>
            </p:cNvSpPr>
            <p:nvPr/>
          </p:nvSpPr>
          <p:spPr bwMode="auto">
            <a:xfrm>
              <a:off x="3639" y="265"/>
              <a:ext cx="624" cy="29"/>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692"/>
                  </a:lnTo>
                  <a:lnTo>
                    <a:pt x="0" y="19692"/>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26" name="Rectangle 37"/>
            <p:cNvSpPr>
              <a:spLocks noChangeArrowheads="1"/>
            </p:cNvSpPr>
            <p:nvPr/>
          </p:nvSpPr>
          <p:spPr bwMode="auto">
            <a:xfrm>
              <a:off x="3738" y="189"/>
              <a:ext cx="338" cy="80"/>
            </a:xfrm>
            <a:prstGeom prst="rect">
              <a:avLst/>
            </a:prstGeom>
            <a:noFill/>
            <a:ln w="0">
              <a:noFill/>
              <a:miter lim="800000"/>
              <a:headEnd/>
              <a:tailEnd/>
            </a:ln>
          </p:spPr>
          <p:txBody>
            <a:bodyPr lIns="0" tIns="0" rIns="0" bIns="0"/>
            <a:lstStyle/>
            <a:p>
              <a:pPr eaLnBrk="0" hangingPunct="0">
                <a:lnSpc>
                  <a:spcPct val="64000"/>
                </a:lnSpc>
              </a:pPr>
              <a:r>
                <a:rPr lang="en-US" sz="1200" noProof="1">
                  <a:solidFill>
                    <a:srgbClr val="000000"/>
                  </a:solidFill>
                </a:rPr>
                <a:t>Disk</a:t>
              </a:r>
            </a:p>
          </p:txBody>
        </p:sp>
        <p:sp>
          <p:nvSpPr>
            <p:cNvPr id="27" name="Freeform 38"/>
            <p:cNvSpPr>
              <a:spLocks/>
            </p:cNvSpPr>
            <p:nvPr/>
          </p:nvSpPr>
          <p:spPr bwMode="auto">
            <a:xfrm>
              <a:off x="3638" y="123"/>
              <a:ext cx="628" cy="3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701"/>
                  </a:lnTo>
                  <a:lnTo>
                    <a:pt x="0" y="19701"/>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28" name="Oval 39"/>
            <p:cNvSpPr>
              <a:spLocks noChangeArrowheads="1"/>
            </p:cNvSpPr>
            <p:nvPr/>
          </p:nvSpPr>
          <p:spPr bwMode="auto">
            <a:xfrm>
              <a:off x="3633" y="100"/>
              <a:ext cx="636" cy="54"/>
            </a:xfrm>
            <a:prstGeom prst="ellipse">
              <a:avLst/>
            </a:prstGeom>
            <a:noFill/>
            <a:ln w="3175">
              <a:solidFill>
                <a:srgbClr val="000000"/>
              </a:solidFill>
              <a:round/>
              <a:headEnd/>
              <a:tailEnd/>
            </a:ln>
          </p:spPr>
          <p:txBody>
            <a:bodyPr/>
            <a:lstStyle/>
            <a:p>
              <a:endParaRPr lang="en-US"/>
            </a:p>
          </p:txBody>
        </p:sp>
        <p:grpSp>
          <p:nvGrpSpPr>
            <p:cNvPr id="29" name="Group 40"/>
            <p:cNvGrpSpPr>
              <a:grpSpLocks/>
            </p:cNvGrpSpPr>
            <p:nvPr/>
          </p:nvGrpSpPr>
          <p:grpSpPr bwMode="auto">
            <a:xfrm>
              <a:off x="2401" y="1440"/>
              <a:ext cx="634" cy="218"/>
              <a:chOff x="0" y="-1"/>
              <a:chExt cx="20000" cy="20001"/>
            </a:xfrm>
          </p:grpSpPr>
          <p:sp>
            <p:nvSpPr>
              <p:cNvPr id="120" name="Oval 41"/>
              <p:cNvSpPr>
                <a:spLocks noChangeArrowheads="1"/>
              </p:cNvSpPr>
              <p:nvPr/>
            </p:nvSpPr>
            <p:spPr bwMode="auto">
              <a:xfrm>
                <a:off x="0" y="15019"/>
                <a:ext cx="20000" cy="4981"/>
              </a:xfrm>
              <a:prstGeom prst="ellipse">
                <a:avLst/>
              </a:prstGeom>
              <a:solidFill>
                <a:srgbClr val="4DB3E6"/>
              </a:solidFill>
              <a:ln w="3175">
                <a:solidFill>
                  <a:srgbClr val="4DB3E6"/>
                </a:solidFill>
                <a:round/>
                <a:headEnd/>
                <a:tailEnd/>
              </a:ln>
            </p:spPr>
            <p:txBody>
              <a:bodyPr/>
              <a:lstStyle/>
              <a:p>
                <a:endParaRPr lang="en-US"/>
              </a:p>
            </p:txBody>
          </p:sp>
          <p:sp>
            <p:nvSpPr>
              <p:cNvPr id="121" name="Freeform 42"/>
              <p:cNvSpPr>
                <a:spLocks/>
              </p:cNvSpPr>
              <p:nvPr/>
            </p:nvSpPr>
            <p:spPr bwMode="auto">
              <a:xfrm>
                <a:off x="20" y="2557"/>
                <a:ext cx="19980" cy="14827"/>
              </a:xfrm>
              <a:custGeom>
                <a:avLst/>
                <a:gdLst>
                  <a:gd name="T0" fmla="*/ 19861 w 20000"/>
                  <a:gd name="T1" fmla="*/ 0 h 20000"/>
                  <a:gd name="T2" fmla="*/ 19861 w 20000"/>
                  <a:gd name="T3" fmla="*/ 3311 h 20000"/>
                  <a:gd name="T4" fmla="*/ 0 w 20000"/>
                  <a:gd name="T5" fmla="*/ 3311 h 20000"/>
                  <a:gd name="T6" fmla="*/ 0 w 20000"/>
                  <a:gd name="T7" fmla="*/ 0 h 20000"/>
                  <a:gd name="T8" fmla="*/ 19861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44"/>
                    </a:lnTo>
                    <a:lnTo>
                      <a:pt x="0" y="19944"/>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122" name="Oval 43"/>
              <p:cNvSpPr>
                <a:spLocks noChangeArrowheads="1"/>
              </p:cNvSpPr>
              <p:nvPr/>
            </p:nvSpPr>
            <p:spPr bwMode="auto">
              <a:xfrm>
                <a:off x="0" y="-1"/>
                <a:ext cx="20000" cy="4981"/>
              </a:xfrm>
              <a:prstGeom prst="ellipse">
                <a:avLst/>
              </a:prstGeom>
              <a:solidFill>
                <a:srgbClr val="4DB3E6"/>
              </a:solidFill>
              <a:ln w="3175">
                <a:solidFill>
                  <a:srgbClr val="4DB3E6"/>
                </a:solidFill>
                <a:round/>
                <a:headEnd/>
                <a:tailEnd/>
              </a:ln>
            </p:spPr>
            <p:txBody>
              <a:bodyPr/>
              <a:lstStyle/>
              <a:p>
                <a:endParaRPr lang="en-US"/>
              </a:p>
            </p:txBody>
          </p:sp>
        </p:grpSp>
        <p:sp>
          <p:nvSpPr>
            <p:cNvPr id="30" name="Oval 44"/>
            <p:cNvSpPr>
              <a:spLocks noChangeArrowheads="1"/>
            </p:cNvSpPr>
            <p:nvPr/>
          </p:nvSpPr>
          <p:spPr bwMode="auto">
            <a:xfrm>
              <a:off x="2401" y="1603"/>
              <a:ext cx="634" cy="55"/>
            </a:xfrm>
            <a:prstGeom prst="ellipse">
              <a:avLst/>
            </a:prstGeom>
            <a:noFill/>
            <a:ln w="3175">
              <a:solidFill>
                <a:srgbClr val="000000"/>
              </a:solidFill>
              <a:round/>
              <a:headEnd/>
              <a:tailEnd/>
            </a:ln>
          </p:spPr>
          <p:txBody>
            <a:bodyPr/>
            <a:lstStyle/>
            <a:p>
              <a:endParaRPr lang="en-US"/>
            </a:p>
          </p:txBody>
        </p:sp>
        <p:sp>
          <p:nvSpPr>
            <p:cNvPr id="31" name="Freeform 45"/>
            <p:cNvSpPr>
              <a:spLocks/>
            </p:cNvSpPr>
            <p:nvPr/>
          </p:nvSpPr>
          <p:spPr bwMode="auto">
            <a:xfrm>
              <a:off x="2401" y="1468"/>
              <a:ext cx="634" cy="161"/>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44"/>
                  </a:lnTo>
                  <a:lnTo>
                    <a:pt x="0" y="19944"/>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32" name="Freeform 46"/>
            <p:cNvSpPr>
              <a:spLocks/>
            </p:cNvSpPr>
            <p:nvPr/>
          </p:nvSpPr>
          <p:spPr bwMode="auto">
            <a:xfrm>
              <a:off x="2407" y="1603"/>
              <a:ext cx="623" cy="29"/>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692"/>
                  </a:lnTo>
                  <a:lnTo>
                    <a:pt x="0" y="19692"/>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33" name="Rectangle 47"/>
            <p:cNvSpPr>
              <a:spLocks noChangeArrowheads="1"/>
            </p:cNvSpPr>
            <p:nvPr/>
          </p:nvSpPr>
          <p:spPr bwMode="auto">
            <a:xfrm>
              <a:off x="2540" y="1506"/>
              <a:ext cx="373" cy="85"/>
            </a:xfrm>
            <a:prstGeom prst="rect">
              <a:avLst/>
            </a:prstGeom>
            <a:noFill/>
            <a:ln w="0">
              <a:noFill/>
              <a:miter lim="800000"/>
              <a:headEnd/>
              <a:tailEnd/>
            </a:ln>
          </p:spPr>
          <p:txBody>
            <a:bodyPr lIns="0" tIns="0" rIns="0" bIns="0"/>
            <a:lstStyle/>
            <a:p>
              <a:pPr eaLnBrk="0" hangingPunct="0">
                <a:lnSpc>
                  <a:spcPct val="64000"/>
                </a:lnSpc>
              </a:pPr>
              <a:r>
                <a:rPr lang="en-US" sz="1200" noProof="1">
                  <a:solidFill>
                    <a:srgbClr val="000000"/>
                  </a:solidFill>
                </a:rPr>
                <a:t>Disk</a:t>
              </a:r>
            </a:p>
          </p:txBody>
        </p:sp>
        <p:sp>
          <p:nvSpPr>
            <p:cNvPr id="34" name="Freeform 48"/>
            <p:cNvSpPr>
              <a:spLocks/>
            </p:cNvSpPr>
            <p:nvPr/>
          </p:nvSpPr>
          <p:spPr bwMode="auto">
            <a:xfrm>
              <a:off x="2406" y="1464"/>
              <a:ext cx="626" cy="29"/>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701"/>
                  </a:lnTo>
                  <a:lnTo>
                    <a:pt x="0" y="19701"/>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35" name="Oval 49"/>
            <p:cNvSpPr>
              <a:spLocks noChangeArrowheads="1"/>
            </p:cNvSpPr>
            <p:nvPr/>
          </p:nvSpPr>
          <p:spPr bwMode="auto">
            <a:xfrm>
              <a:off x="2401" y="1440"/>
              <a:ext cx="634" cy="54"/>
            </a:xfrm>
            <a:prstGeom prst="ellipse">
              <a:avLst/>
            </a:prstGeom>
            <a:noFill/>
            <a:ln w="3175">
              <a:solidFill>
                <a:srgbClr val="000000"/>
              </a:solidFill>
              <a:round/>
              <a:headEnd/>
              <a:tailEnd/>
            </a:ln>
          </p:spPr>
          <p:txBody>
            <a:bodyPr/>
            <a:lstStyle/>
            <a:p>
              <a:endParaRPr lang="en-US"/>
            </a:p>
          </p:txBody>
        </p:sp>
        <p:sp>
          <p:nvSpPr>
            <p:cNvPr id="36" name="Freeform 50"/>
            <p:cNvSpPr>
              <a:spLocks/>
            </p:cNvSpPr>
            <p:nvPr/>
          </p:nvSpPr>
          <p:spPr bwMode="auto">
            <a:xfrm>
              <a:off x="2223" y="925"/>
              <a:ext cx="985" cy="32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37" name="Freeform 51"/>
            <p:cNvSpPr>
              <a:spLocks/>
            </p:cNvSpPr>
            <p:nvPr/>
          </p:nvSpPr>
          <p:spPr bwMode="auto">
            <a:xfrm>
              <a:off x="2223" y="453"/>
              <a:ext cx="985" cy="32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38" name="Freeform 52"/>
            <p:cNvSpPr>
              <a:spLocks/>
            </p:cNvSpPr>
            <p:nvPr/>
          </p:nvSpPr>
          <p:spPr bwMode="auto">
            <a:xfrm>
              <a:off x="2223" y="49"/>
              <a:ext cx="985" cy="32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39" name="Freeform 53"/>
            <p:cNvSpPr>
              <a:spLocks/>
            </p:cNvSpPr>
            <p:nvPr/>
          </p:nvSpPr>
          <p:spPr bwMode="auto">
            <a:xfrm>
              <a:off x="2223" y="49"/>
              <a:ext cx="985" cy="32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40" name="Rectangle 54"/>
            <p:cNvSpPr>
              <a:spLocks noChangeArrowheads="1"/>
            </p:cNvSpPr>
            <p:nvPr/>
          </p:nvSpPr>
          <p:spPr bwMode="auto">
            <a:xfrm>
              <a:off x="2400" y="160"/>
              <a:ext cx="496" cy="109"/>
            </a:xfrm>
            <a:prstGeom prst="rect">
              <a:avLst/>
            </a:prstGeom>
            <a:noFill/>
            <a:ln w="0">
              <a:noFill/>
              <a:miter lim="800000"/>
              <a:headEnd/>
              <a:tailEnd/>
            </a:ln>
          </p:spPr>
          <p:txBody>
            <a:bodyPr lIns="0" tIns="0" rIns="0" bIns="0"/>
            <a:lstStyle/>
            <a:p>
              <a:pPr eaLnBrk="0" hangingPunct="0">
                <a:lnSpc>
                  <a:spcPct val="64000"/>
                </a:lnSpc>
              </a:pPr>
              <a:r>
                <a:rPr lang="en-US" sz="1400" noProof="1">
                  <a:solidFill>
                    <a:srgbClr val="000000"/>
                  </a:solidFill>
                </a:rPr>
                <a:t>Editor</a:t>
              </a:r>
            </a:p>
          </p:txBody>
        </p:sp>
        <p:sp>
          <p:nvSpPr>
            <p:cNvPr id="41" name="Freeform 55"/>
            <p:cNvSpPr>
              <a:spLocks/>
            </p:cNvSpPr>
            <p:nvPr/>
          </p:nvSpPr>
          <p:spPr bwMode="auto">
            <a:xfrm>
              <a:off x="2223" y="453"/>
              <a:ext cx="985" cy="32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42" name="Rectangle 56"/>
            <p:cNvSpPr>
              <a:spLocks noChangeArrowheads="1"/>
            </p:cNvSpPr>
            <p:nvPr/>
          </p:nvSpPr>
          <p:spPr bwMode="auto">
            <a:xfrm>
              <a:off x="2330" y="566"/>
              <a:ext cx="844" cy="133"/>
            </a:xfrm>
            <a:prstGeom prst="rect">
              <a:avLst/>
            </a:prstGeom>
            <a:noFill/>
            <a:ln w="0">
              <a:noFill/>
              <a:miter lim="800000"/>
              <a:headEnd/>
              <a:tailEnd/>
            </a:ln>
          </p:spPr>
          <p:txBody>
            <a:bodyPr lIns="0" tIns="0" rIns="0" bIns="0"/>
            <a:lstStyle/>
            <a:p>
              <a:pPr eaLnBrk="0" hangingPunct="0">
                <a:lnSpc>
                  <a:spcPct val="64000"/>
                </a:lnSpc>
              </a:pPr>
              <a:r>
                <a:rPr lang="en-US" sz="1400" noProof="1">
                  <a:solidFill>
                    <a:srgbClr val="000000"/>
                  </a:solidFill>
                </a:rPr>
                <a:t>Compiler</a:t>
              </a:r>
            </a:p>
          </p:txBody>
        </p:sp>
        <p:sp>
          <p:nvSpPr>
            <p:cNvPr id="43" name="Freeform 57"/>
            <p:cNvSpPr>
              <a:spLocks/>
            </p:cNvSpPr>
            <p:nvPr/>
          </p:nvSpPr>
          <p:spPr bwMode="auto">
            <a:xfrm>
              <a:off x="2223" y="925"/>
              <a:ext cx="985" cy="32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44" name="Rectangle 58"/>
            <p:cNvSpPr>
              <a:spLocks noChangeArrowheads="1"/>
            </p:cNvSpPr>
            <p:nvPr/>
          </p:nvSpPr>
          <p:spPr bwMode="auto">
            <a:xfrm>
              <a:off x="2260" y="1038"/>
              <a:ext cx="914" cy="92"/>
            </a:xfrm>
            <a:prstGeom prst="rect">
              <a:avLst/>
            </a:prstGeom>
            <a:noFill/>
            <a:ln w="0">
              <a:noFill/>
              <a:miter lim="800000"/>
              <a:headEnd/>
              <a:tailEnd/>
            </a:ln>
          </p:spPr>
          <p:txBody>
            <a:bodyPr lIns="0" tIns="0" rIns="0" bIns="0"/>
            <a:lstStyle/>
            <a:p>
              <a:pPr eaLnBrk="0" hangingPunct="0">
                <a:lnSpc>
                  <a:spcPct val="64000"/>
                </a:lnSpc>
              </a:pPr>
              <a:r>
                <a:rPr lang="en-US" sz="1400" noProof="1">
                  <a:solidFill>
                    <a:srgbClr val="000000"/>
                  </a:solidFill>
                </a:rPr>
                <a:t>Class Loader</a:t>
              </a:r>
            </a:p>
          </p:txBody>
        </p:sp>
        <p:sp>
          <p:nvSpPr>
            <p:cNvPr id="45" name="Freeform 59"/>
            <p:cNvSpPr>
              <a:spLocks/>
            </p:cNvSpPr>
            <p:nvPr/>
          </p:nvSpPr>
          <p:spPr bwMode="auto">
            <a:xfrm>
              <a:off x="3213" y="210"/>
              <a:ext cx="422" cy="0"/>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0 h 20000"/>
              </a:gdLst>
              <a:ahLst/>
              <a:cxnLst>
                <a:cxn ang="T4">
                  <a:pos x="T0" y="T1"/>
                </a:cxn>
                <a:cxn ang="T5">
                  <a:pos x="T2" y="T3"/>
                </a:cxn>
              </a:cxnLst>
              <a:rect l="T6" t="T7" r="T8" b="T9"/>
              <a:pathLst>
                <a:path w="20000" h="20000">
                  <a:moveTo>
                    <a:pt x="19972" y="0"/>
                  </a:moveTo>
                  <a:lnTo>
                    <a:pt x="0" y="0"/>
                  </a:lnTo>
                </a:path>
              </a:pathLst>
            </a:custGeom>
            <a:noFill/>
            <a:ln w="3175" cap="flat">
              <a:solidFill>
                <a:srgbClr val="000000"/>
              </a:solidFill>
              <a:prstDash val="solid"/>
              <a:round/>
              <a:headEnd type="triangle" w="med" len="sm"/>
              <a:tailEnd type="triangle" w="med" len="sm"/>
            </a:ln>
          </p:spPr>
          <p:txBody>
            <a:bodyPr/>
            <a:lstStyle/>
            <a:p>
              <a:endParaRPr lang="en-US"/>
            </a:p>
          </p:txBody>
        </p:sp>
        <p:sp>
          <p:nvSpPr>
            <p:cNvPr id="46" name="Freeform 60"/>
            <p:cNvSpPr>
              <a:spLocks/>
            </p:cNvSpPr>
            <p:nvPr/>
          </p:nvSpPr>
          <p:spPr bwMode="auto">
            <a:xfrm>
              <a:off x="3213" y="614"/>
              <a:ext cx="422" cy="0"/>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0 h 20000"/>
              </a:gdLst>
              <a:ahLst/>
              <a:cxnLst>
                <a:cxn ang="T4">
                  <a:pos x="T0" y="T1"/>
                </a:cxn>
                <a:cxn ang="T5">
                  <a:pos x="T2" y="T3"/>
                </a:cxn>
              </a:cxnLst>
              <a:rect l="T6" t="T7" r="T8" b="T9"/>
              <a:pathLst>
                <a:path w="20000" h="20000">
                  <a:moveTo>
                    <a:pt x="19972" y="0"/>
                  </a:moveTo>
                  <a:lnTo>
                    <a:pt x="0" y="0"/>
                  </a:lnTo>
                </a:path>
              </a:pathLst>
            </a:custGeom>
            <a:noFill/>
            <a:ln w="3175" cap="flat">
              <a:solidFill>
                <a:srgbClr val="000000"/>
              </a:solidFill>
              <a:prstDash val="solid"/>
              <a:round/>
              <a:headEnd type="triangle" w="med" len="sm"/>
              <a:tailEnd type="triangle" w="med" len="sm"/>
            </a:ln>
          </p:spPr>
          <p:txBody>
            <a:bodyPr/>
            <a:lstStyle/>
            <a:p>
              <a:endParaRPr lang="en-US"/>
            </a:p>
          </p:txBody>
        </p:sp>
        <p:sp>
          <p:nvSpPr>
            <p:cNvPr id="47" name="Freeform 61"/>
            <p:cNvSpPr>
              <a:spLocks/>
            </p:cNvSpPr>
            <p:nvPr/>
          </p:nvSpPr>
          <p:spPr bwMode="auto">
            <a:xfrm>
              <a:off x="2718" y="1247"/>
              <a:ext cx="2" cy="215"/>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20000 h 20000"/>
              </a:gdLst>
              <a:ahLst/>
              <a:cxnLst>
                <a:cxn ang="T4">
                  <a:pos x="T0" y="T1"/>
                </a:cxn>
                <a:cxn ang="T5">
                  <a:pos x="T2" y="T3"/>
                </a:cxn>
              </a:cxnLst>
              <a:rect l="T6" t="T7" r="T8" b="T9"/>
              <a:pathLst>
                <a:path w="20000" h="20000">
                  <a:moveTo>
                    <a:pt x="0" y="0"/>
                  </a:moveTo>
                  <a:lnTo>
                    <a:pt x="0" y="19958"/>
                  </a:lnTo>
                </a:path>
              </a:pathLst>
            </a:custGeom>
            <a:noFill/>
            <a:ln w="3175" cap="flat">
              <a:solidFill>
                <a:srgbClr val="000000"/>
              </a:solidFill>
              <a:prstDash val="solid"/>
              <a:round/>
              <a:headEnd type="triangle" w="med" len="sm"/>
              <a:tailEnd type="none" w="med" len="med"/>
            </a:ln>
          </p:spPr>
          <p:txBody>
            <a:bodyPr/>
            <a:lstStyle/>
            <a:p>
              <a:endParaRPr lang="en-US"/>
            </a:p>
          </p:txBody>
        </p:sp>
        <p:sp>
          <p:nvSpPr>
            <p:cNvPr id="48" name="Freeform 62"/>
            <p:cNvSpPr>
              <a:spLocks/>
            </p:cNvSpPr>
            <p:nvPr/>
          </p:nvSpPr>
          <p:spPr bwMode="auto">
            <a:xfrm>
              <a:off x="3213" y="1086"/>
              <a:ext cx="422" cy="0"/>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0 h 20000"/>
              </a:gdLst>
              <a:ahLst/>
              <a:cxnLst>
                <a:cxn ang="T4">
                  <a:pos x="T0" y="T1"/>
                </a:cxn>
                <a:cxn ang="T5">
                  <a:pos x="T2" y="T3"/>
                </a:cxn>
              </a:cxnLst>
              <a:rect l="T6" t="T7" r="T8" b="T9"/>
              <a:pathLst>
                <a:path w="20000" h="20000">
                  <a:moveTo>
                    <a:pt x="19972" y="0"/>
                  </a:moveTo>
                  <a:lnTo>
                    <a:pt x="0" y="0"/>
                  </a:lnTo>
                </a:path>
              </a:pathLst>
            </a:custGeom>
            <a:noFill/>
            <a:ln w="3175" cap="flat">
              <a:solidFill>
                <a:srgbClr val="000000"/>
              </a:solidFill>
              <a:prstDash val="solid"/>
              <a:round/>
              <a:headEnd type="triangle" w="med" len="sm"/>
              <a:tailEnd type="none" w="med" len="med"/>
            </a:ln>
          </p:spPr>
          <p:txBody>
            <a:bodyPr/>
            <a:lstStyle/>
            <a:p>
              <a:endParaRPr lang="en-US"/>
            </a:p>
          </p:txBody>
        </p:sp>
        <p:grpSp>
          <p:nvGrpSpPr>
            <p:cNvPr id="49" name="Group 63"/>
            <p:cNvGrpSpPr>
              <a:grpSpLocks/>
            </p:cNvGrpSpPr>
            <p:nvPr/>
          </p:nvGrpSpPr>
          <p:grpSpPr bwMode="auto">
            <a:xfrm>
              <a:off x="4337" y="838"/>
              <a:ext cx="143" cy="1076"/>
              <a:chOff x="0" y="0"/>
              <a:chExt cx="20000" cy="20000"/>
            </a:xfrm>
          </p:grpSpPr>
          <p:sp>
            <p:nvSpPr>
              <p:cNvPr id="116" name="Arc 64"/>
              <p:cNvSpPr>
                <a:spLocks/>
              </p:cNvSpPr>
              <p:nvPr/>
            </p:nvSpPr>
            <p:spPr bwMode="auto">
              <a:xfrm>
                <a:off x="0" y="0"/>
                <a:ext cx="10045" cy="5005"/>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7" name="Arc 65"/>
              <p:cNvSpPr>
                <a:spLocks/>
              </p:cNvSpPr>
              <p:nvPr/>
            </p:nvSpPr>
            <p:spPr bwMode="auto">
              <a:xfrm flipV="1">
                <a:off x="0" y="14995"/>
                <a:ext cx="10045" cy="5005"/>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8" name="Arc 66"/>
              <p:cNvSpPr>
                <a:spLocks/>
              </p:cNvSpPr>
              <p:nvPr/>
            </p:nvSpPr>
            <p:spPr bwMode="auto">
              <a:xfrm flipH="1">
                <a:off x="9955" y="9994"/>
                <a:ext cx="10045" cy="5009"/>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9" name="Arc 67"/>
              <p:cNvSpPr>
                <a:spLocks/>
              </p:cNvSpPr>
              <p:nvPr/>
            </p:nvSpPr>
            <p:spPr bwMode="auto">
              <a:xfrm flipH="1" flipV="1">
                <a:off x="9955" y="4997"/>
                <a:ext cx="10045" cy="5009"/>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grpSp>
          <p:nvGrpSpPr>
            <p:cNvPr id="50" name="Group 68"/>
            <p:cNvGrpSpPr>
              <a:grpSpLocks/>
            </p:cNvGrpSpPr>
            <p:nvPr/>
          </p:nvGrpSpPr>
          <p:grpSpPr bwMode="auto">
            <a:xfrm>
              <a:off x="4337" y="49"/>
              <a:ext cx="143" cy="322"/>
              <a:chOff x="0" y="0"/>
              <a:chExt cx="20000" cy="19998"/>
            </a:xfrm>
          </p:grpSpPr>
          <p:sp>
            <p:nvSpPr>
              <p:cNvPr id="112" name="Arc 69"/>
              <p:cNvSpPr>
                <a:spLocks/>
              </p:cNvSpPr>
              <p:nvPr/>
            </p:nvSpPr>
            <p:spPr bwMode="auto">
              <a:xfrm>
                <a:off x="0" y="0"/>
                <a:ext cx="10045" cy="5029"/>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3" name="Arc 70"/>
              <p:cNvSpPr>
                <a:spLocks/>
              </p:cNvSpPr>
              <p:nvPr/>
            </p:nvSpPr>
            <p:spPr bwMode="auto">
              <a:xfrm flipV="1">
                <a:off x="0" y="14983"/>
                <a:ext cx="10045" cy="5015"/>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4" name="Arc 71"/>
              <p:cNvSpPr>
                <a:spLocks/>
              </p:cNvSpPr>
              <p:nvPr/>
            </p:nvSpPr>
            <p:spPr bwMode="auto">
              <a:xfrm flipH="1">
                <a:off x="9955" y="9992"/>
                <a:ext cx="10045" cy="5016"/>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5" name="Arc 72"/>
              <p:cNvSpPr>
                <a:spLocks/>
              </p:cNvSpPr>
              <p:nvPr/>
            </p:nvSpPr>
            <p:spPr bwMode="auto">
              <a:xfrm flipH="1" flipV="1">
                <a:off x="9955" y="4990"/>
                <a:ext cx="10045" cy="5029"/>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grpSp>
          <p:nvGrpSpPr>
            <p:cNvPr id="51" name="Group 73"/>
            <p:cNvGrpSpPr>
              <a:grpSpLocks/>
            </p:cNvGrpSpPr>
            <p:nvPr/>
          </p:nvGrpSpPr>
          <p:grpSpPr bwMode="auto">
            <a:xfrm>
              <a:off x="4337" y="445"/>
              <a:ext cx="143" cy="323"/>
              <a:chOff x="0" y="0"/>
              <a:chExt cx="20000" cy="19999"/>
            </a:xfrm>
          </p:grpSpPr>
          <p:sp>
            <p:nvSpPr>
              <p:cNvPr id="108" name="Arc 74"/>
              <p:cNvSpPr>
                <a:spLocks/>
              </p:cNvSpPr>
              <p:nvPr/>
            </p:nvSpPr>
            <p:spPr bwMode="auto">
              <a:xfrm>
                <a:off x="0" y="0"/>
                <a:ext cx="10045" cy="5016"/>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09" name="Arc 75"/>
              <p:cNvSpPr>
                <a:spLocks/>
              </p:cNvSpPr>
              <p:nvPr/>
            </p:nvSpPr>
            <p:spPr bwMode="auto">
              <a:xfrm flipV="1">
                <a:off x="0" y="14970"/>
                <a:ext cx="10045" cy="5029"/>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0" name="Arc 76"/>
              <p:cNvSpPr>
                <a:spLocks/>
              </p:cNvSpPr>
              <p:nvPr/>
            </p:nvSpPr>
            <p:spPr bwMode="auto">
              <a:xfrm flipH="1">
                <a:off x="9955" y="9980"/>
                <a:ext cx="10045" cy="5016"/>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111" name="Arc 77"/>
              <p:cNvSpPr>
                <a:spLocks/>
              </p:cNvSpPr>
              <p:nvPr/>
            </p:nvSpPr>
            <p:spPr bwMode="auto">
              <a:xfrm flipH="1" flipV="1">
                <a:off x="9955" y="4990"/>
                <a:ext cx="10045" cy="5016"/>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52" name="Rectangle 78"/>
            <p:cNvSpPr>
              <a:spLocks noChangeArrowheads="1"/>
            </p:cNvSpPr>
            <p:nvPr/>
          </p:nvSpPr>
          <p:spPr bwMode="auto">
            <a:xfrm>
              <a:off x="4549" y="68"/>
              <a:ext cx="949" cy="359"/>
            </a:xfrm>
            <a:prstGeom prst="rect">
              <a:avLst/>
            </a:prstGeom>
            <a:noFill/>
            <a:ln w="0">
              <a:noFill/>
              <a:miter lim="800000"/>
              <a:headEnd/>
              <a:tailEnd/>
            </a:ln>
          </p:spPr>
          <p:txBody>
            <a:bodyPr lIns="0" tIns="0" rIns="0" bIns="0"/>
            <a:lstStyle/>
            <a:p>
              <a:pPr eaLnBrk="0" hangingPunct="0">
                <a:lnSpc>
                  <a:spcPct val="80000"/>
                </a:lnSpc>
              </a:pPr>
              <a:r>
                <a:rPr lang="en-US" sz="1000" b="1" noProof="1">
                  <a:solidFill>
                    <a:srgbClr val="000000"/>
                  </a:solidFill>
                </a:rPr>
                <a:t>Program is created in an editor and stored on disk in a file ending with </a:t>
              </a:r>
              <a:r>
                <a:rPr lang="en-US" sz="1000" b="1" noProof="1">
                  <a:solidFill>
                    <a:srgbClr val="000000"/>
                  </a:solidFill>
                  <a:latin typeface="Lucida Console" pitchFamily="49" charset="0"/>
                </a:rPr>
                <a:t>.java</a:t>
              </a:r>
              <a:r>
                <a:rPr lang="en-US" sz="1000" b="1" noProof="1">
                  <a:solidFill>
                    <a:srgbClr val="000000"/>
                  </a:solidFill>
                </a:rPr>
                <a:t>.</a:t>
              </a:r>
            </a:p>
          </p:txBody>
        </p:sp>
        <p:sp>
          <p:nvSpPr>
            <p:cNvPr id="53" name="Rectangle 79"/>
            <p:cNvSpPr>
              <a:spLocks noChangeArrowheads="1"/>
            </p:cNvSpPr>
            <p:nvPr/>
          </p:nvSpPr>
          <p:spPr bwMode="auto">
            <a:xfrm>
              <a:off x="4512" y="497"/>
              <a:ext cx="982" cy="364"/>
            </a:xfrm>
            <a:prstGeom prst="rect">
              <a:avLst/>
            </a:prstGeom>
            <a:noFill/>
            <a:ln w="0">
              <a:noFill/>
              <a:miter lim="800000"/>
              <a:headEnd/>
              <a:tailEnd/>
            </a:ln>
          </p:spPr>
          <p:txBody>
            <a:bodyPr lIns="0" tIns="0" rIns="0" bIns="0"/>
            <a:lstStyle/>
            <a:p>
              <a:pPr eaLnBrk="0" hangingPunct="0">
                <a:lnSpc>
                  <a:spcPct val="80000"/>
                </a:lnSpc>
              </a:pPr>
              <a:r>
                <a:rPr lang="en-US" sz="1000" b="1" noProof="1">
                  <a:solidFill>
                    <a:srgbClr val="000000"/>
                  </a:solidFill>
                </a:rPr>
                <a:t>Compiler creates bytecodes and stores them on disk in a file ending with </a:t>
              </a:r>
              <a:r>
                <a:rPr lang="en-US" sz="1000" b="1" noProof="1">
                  <a:solidFill>
                    <a:srgbClr val="000000"/>
                  </a:solidFill>
                  <a:latin typeface="Lucida Console" pitchFamily="49" charset="0"/>
                </a:rPr>
                <a:t>.class</a:t>
              </a:r>
              <a:r>
                <a:rPr lang="en-US" sz="1000" b="1" noProof="1">
                  <a:solidFill>
                    <a:srgbClr val="000000"/>
                  </a:solidFill>
                </a:rPr>
                <a:t>.</a:t>
              </a:r>
            </a:p>
          </p:txBody>
        </p:sp>
        <p:sp>
          <p:nvSpPr>
            <p:cNvPr id="54" name="Rectangle 80"/>
            <p:cNvSpPr>
              <a:spLocks noChangeArrowheads="1"/>
            </p:cNvSpPr>
            <p:nvPr/>
          </p:nvSpPr>
          <p:spPr bwMode="auto">
            <a:xfrm>
              <a:off x="4562" y="1092"/>
              <a:ext cx="787" cy="641"/>
            </a:xfrm>
            <a:prstGeom prst="rect">
              <a:avLst/>
            </a:prstGeom>
            <a:noFill/>
            <a:ln w="0">
              <a:noFill/>
              <a:miter lim="800000"/>
              <a:headEnd/>
              <a:tailEnd/>
            </a:ln>
          </p:spPr>
          <p:txBody>
            <a:bodyPr lIns="0" tIns="0" rIns="0" bIns="0"/>
            <a:lstStyle/>
            <a:p>
              <a:pPr eaLnBrk="0" hangingPunct="0">
                <a:lnSpc>
                  <a:spcPct val="80000"/>
                </a:lnSpc>
              </a:pPr>
              <a:r>
                <a:rPr lang="en-US" sz="1000" b="1" noProof="1">
                  <a:solidFill>
                    <a:srgbClr val="000000"/>
                  </a:solidFill>
                </a:rPr>
                <a:t>Class loader reads </a:t>
              </a:r>
              <a:r>
                <a:rPr lang="en-US" sz="1000" b="1" noProof="1">
                  <a:solidFill>
                    <a:srgbClr val="000000"/>
                  </a:solidFill>
                  <a:latin typeface="Lucida Console" pitchFamily="49" charset="0"/>
                </a:rPr>
                <a:t>.class</a:t>
              </a:r>
              <a:r>
                <a:rPr lang="en-US" sz="1000" b="1" noProof="1">
                  <a:solidFill>
                    <a:srgbClr val="000000"/>
                  </a:solidFill>
                </a:rPr>
                <a:t> files containing bytecodes from disk and puts those bytecodes in memory.</a:t>
              </a:r>
            </a:p>
          </p:txBody>
        </p:sp>
        <p:sp>
          <p:nvSpPr>
            <p:cNvPr id="55" name="Rectangle 81"/>
            <p:cNvSpPr>
              <a:spLocks noChangeArrowheads="1"/>
            </p:cNvSpPr>
            <p:nvPr/>
          </p:nvSpPr>
          <p:spPr bwMode="auto">
            <a:xfrm>
              <a:off x="1453" y="175"/>
              <a:ext cx="739" cy="82"/>
            </a:xfrm>
            <a:prstGeom prst="rect">
              <a:avLst/>
            </a:prstGeom>
            <a:noFill/>
            <a:ln w="0">
              <a:noFill/>
              <a:miter lim="800000"/>
              <a:headEnd/>
              <a:tailEnd/>
            </a:ln>
          </p:spPr>
          <p:txBody>
            <a:bodyPr lIns="0" tIns="0" rIns="0" bIns="0"/>
            <a:lstStyle/>
            <a:p>
              <a:pPr eaLnBrk="0" hangingPunct="0">
                <a:lnSpc>
                  <a:spcPct val="80000"/>
                </a:lnSpc>
              </a:pPr>
              <a:r>
                <a:rPr lang="en-US" sz="1400" noProof="1">
                  <a:solidFill>
                    <a:srgbClr val="000000"/>
                  </a:solidFill>
                </a:rPr>
                <a:t>Phase 1</a:t>
              </a:r>
            </a:p>
          </p:txBody>
        </p:sp>
        <p:sp>
          <p:nvSpPr>
            <p:cNvPr id="56" name="Rectangle 82"/>
            <p:cNvSpPr>
              <a:spLocks noChangeArrowheads="1"/>
            </p:cNvSpPr>
            <p:nvPr/>
          </p:nvSpPr>
          <p:spPr bwMode="auto">
            <a:xfrm>
              <a:off x="1453" y="582"/>
              <a:ext cx="739" cy="81"/>
            </a:xfrm>
            <a:prstGeom prst="rect">
              <a:avLst/>
            </a:prstGeom>
            <a:noFill/>
            <a:ln w="0">
              <a:noFill/>
              <a:miter lim="800000"/>
              <a:headEnd/>
              <a:tailEnd/>
            </a:ln>
          </p:spPr>
          <p:txBody>
            <a:bodyPr lIns="0" tIns="0" rIns="0" bIns="0"/>
            <a:lstStyle/>
            <a:p>
              <a:pPr eaLnBrk="0" hangingPunct="0">
                <a:lnSpc>
                  <a:spcPct val="80000"/>
                </a:lnSpc>
              </a:pPr>
              <a:r>
                <a:rPr lang="en-US" sz="1400" noProof="1">
                  <a:solidFill>
                    <a:srgbClr val="000000"/>
                  </a:solidFill>
                </a:rPr>
                <a:t>Phase 2</a:t>
              </a:r>
            </a:p>
          </p:txBody>
        </p:sp>
        <p:sp>
          <p:nvSpPr>
            <p:cNvPr id="57" name="Rectangle 83"/>
            <p:cNvSpPr>
              <a:spLocks noChangeArrowheads="1"/>
            </p:cNvSpPr>
            <p:nvPr/>
          </p:nvSpPr>
          <p:spPr bwMode="auto">
            <a:xfrm>
              <a:off x="1453" y="1054"/>
              <a:ext cx="739" cy="81"/>
            </a:xfrm>
            <a:prstGeom prst="rect">
              <a:avLst/>
            </a:prstGeom>
            <a:noFill/>
            <a:ln w="0">
              <a:noFill/>
              <a:miter lim="800000"/>
              <a:headEnd/>
              <a:tailEnd/>
            </a:ln>
          </p:spPr>
          <p:txBody>
            <a:bodyPr lIns="0" tIns="0" rIns="0" bIns="0"/>
            <a:lstStyle/>
            <a:p>
              <a:pPr eaLnBrk="0" hangingPunct="0">
                <a:lnSpc>
                  <a:spcPct val="80000"/>
                </a:lnSpc>
              </a:pPr>
              <a:r>
                <a:rPr lang="en-US" sz="1400" noProof="1">
                  <a:solidFill>
                    <a:srgbClr val="000000"/>
                  </a:solidFill>
                </a:rPr>
                <a:t>Phase 3</a:t>
              </a:r>
            </a:p>
          </p:txBody>
        </p:sp>
        <p:grpSp>
          <p:nvGrpSpPr>
            <p:cNvPr id="58" name="Group 84"/>
            <p:cNvGrpSpPr>
              <a:grpSpLocks/>
            </p:cNvGrpSpPr>
            <p:nvPr/>
          </p:nvGrpSpPr>
          <p:grpSpPr bwMode="auto">
            <a:xfrm>
              <a:off x="3633" y="1973"/>
              <a:ext cx="636" cy="1044"/>
              <a:chOff x="0" y="0"/>
              <a:chExt cx="20000" cy="20002"/>
            </a:xfrm>
          </p:grpSpPr>
          <p:sp>
            <p:nvSpPr>
              <p:cNvPr id="95" name="Rectangle 85"/>
              <p:cNvSpPr>
                <a:spLocks noChangeArrowheads="1"/>
              </p:cNvSpPr>
              <p:nvPr/>
            </p:nvSpPr>
            <p:spPr bwMode="auto">
              <a:xfrm>
                <a:off x="0" y="0"/>
                <a:ext cx="19981" cy="3447"/>
              </a:xfrm>
              <a:prstGeom prst="rect">
                <a:avLst/>
              </a:prstGeom>
              <a:noFill/>
              <a:ln w="0">
                <a:noFill/>
                <a:miter lim="800000"/>
                <a:headEnd/>
                <a:tailEnd/>
              </a:ln>
            </p:spPr>
            <p:txBody>
              <a:bodyPr lIns="0" tIns="0" rIns="0" bIns="0"/>
              <a:lstStyle/>
              <a:p>
                <a:pPr algn="ctr" eaLnBrk="0" hangingPunct="0">
                  <a:lnSpc>
                    <a:spcPct val="80000"/>
                  </a:lnSpc>
                </a:pPr>
                <a:r>
                  <a:rPr lang="en-US" sz="1200" noProof="1">
                    <a:solidFill>
                      <a:srgbClr val="000000"/>
                    </a:solidFill>
                  </a:rPr>
                  <a:t>Primary</a:t>
                </a:r>
              </a:p>
              <a:p>
                <a:pPr algn="ctr" eaLnBrk="0" hangingPunct="0">
                  <a:lnSpc>
                    <a:spcPct val="80000"/>
                  </a:lnSpc>
                </a:pPr>
                <a:r>
                  <a:rPr lang="en-US" sz="1200" noProof="1">
                    <a:solidFill>
                      <a:srgbClr val="000000"/>
                    </a:solidFill>
                  </a:rPr>
                  <a:t>Memory</a:t>
                </a:r>
              </a:p>
            </p:txBody>
          </p:sp>
          <p:grpSp>
            <p:nvGrpSpPr>
              <p:cNvPr id="96" name="Group 86"/>
              <p:cNvGrpSpPr>
                <a:grpSpLocks/>
              </p:cNvGrpSpPr>
              <p:nvPr/>
            </p:nvGrpSpPr>
            <p:grpSpPr bwMode="auto">
              <a:xfrm>
                <a:off x="0" y="3584"/>
                <a:ext cx="20000" cy="16418"/>
                <a:chOff x="0" y="0"/>
                <a:chExt cx="20000" cy="20000"/>
              </a:xfrm>
            </p:grpSpPr>
            <p:sp>
              <p:nvSpPr>
                <p:cNvPr id="97" name="Freeform 87"/>
                <p:cNvSpPr>
                  <a:spLocks/>
                </p:cNvSpPr>
                <p:nvPr/>
              </p:nvSpPr>
              <p:spPr bwMode="auto">
                <a:xfrm>
                  <a:off x="0" y="0"/>
                  <a:ext cx="19831" cy="19981"/>
                </a:xfrm>
                <a:custGeom>
                  <a:avLst/>
                  <a:gdLst>
                    <a:gd name="T0" fmla="*/ 18989 w 20000"/>
                    <a:gd name="T1" fmla="*/ 0 h 20000"/>
                    <a:gd name="T2" fmla="*/ 18989 w 20000"/>
                    <a:gd name="T3" fmla="*/ 19876 h 20000"/>
                    <a:gd name="T4" fmla="*/ 0 w 20000"/>
                    <a:gd name="T5" fmla="*/ 19876 h 20000"/>
                    <a:gd name="T6" fmla="*/ 0 w 20000"/>
                    <a:gd name="T7" fmla="*/ 0 h 20000"/>
                    <a:gd name="T8" fmla="*/ 18989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90"/>
                      </a:lnTo>
                      <a:lnTo>
                        <a:pt x="0" y="19990"/>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98" name="Freeform 88"/>
                <p:cNvSpPr>
                  <a:spLocks/>
                </p:cNvSpPr>
                <p:nvPr/>
              </p:nvSpPr>
              <p:spPr bwMode="auto">
                <a:xfrm>
                  <a:off x="31" y="10"/>
                  <a:ext cx="19969" cy="2490"/>
                </a:xfrm>
                <a:custGeom>
                  <a:avLst/>
                  <a:gdLst>
                    <a:gd name="T0" fmla="*/ 19795 w 20000"/>
                    <a:gd name="T1" fmla="*/ 0 h 20000"/>
                    <a:gd name="T2" fmla="*/ 19795 w 20000"/>
                    <a:gd name="T3" fmla="*/ 0 h 20000"/>
                    <a:gd name="T4" fmla="*/ 0 w 20000"/>
                    <a:gd name="T5" fmla="*/ 0 h 20000"/>
                    <a:gd name="T6" fmla="*/ 0 w 20000"/>
                    <a:gd name="T7" fmla="*/ 0 h 20000"/>
                    <a:gd name="T8" fmla="*/ 1979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99" name="Freeform 89"/>
                <p:cNvSpPr>
                  <a:spLocks/>
                </p:cNvSpPr>
                <p:nvPr/>
              </p:nvSpPr>
              <p:spPr bwMode="auto">
                <a:xfrm>
                  <a:off x="31" y="2519"/>
                  <a:ext cx="19969" cy="2513"/>
                </a:xfrm>
                <a:custGeom>
                  <a:avLst/>
                  <a:gdLst>
                    <a:gd name="T0" fmla="*/ 19795 w 20000"/>
                    <a:gd name="T1" fmla="*/ 0 h 20000"/>
                    <a:gd name="T2" fmla="*/ 19795 w 20000"/>
                    <a:gd name="T3" fmla="*/ 0 h 20000"/>
                    <a:gd name="T4" fmla="*/ 0 w 20000"/>
                    <a:gd name="T5" fmla="*/ 0 h 20000"/>
                    <a:gd name="T6" fmla="*/ 0 w 20000"/>
                    <a:gd name="T7" fmla="*/ 0 h 20000"/>
                    <a:gd name="T8" fmla="*/ 1979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7"/>
                      </a:lnTo>
                      <a:lnTo>
                        <a:pt x="0" y="19917"/>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grpSp>
              <p:nvGrpSpPr>
                <p:cNvPr id="100" name="Group 90"/>
                <p:cNvGrpSpPr>
                  <a:grpSpLocks/>
                </p:cNvGrpSpPr>
                <p:nvPr/>
              </p:nvGrpSpPr>
              <p:grpSpPr bwMode="auto">
                <a:xfrm>
                  <a:off x="31" y="5032"/>
                  <a:ext cx="19969" cy="14968"/>
                  <a:chOff x="2" y="2"/>
                  <a:chExt cx="19996" cy="19997"/>
                </a:xfrm>
              </p:grpSpPr>
              <p:sp>
                <p:nvSpPr>
                  <p:cNvPr id="101" name="Rectangle 91"/>
                  <p:cNvSpPr>
                    <a:spLocks noChangeArrowheads="1"/>
                  </p:cNvSpPr>
                  <p:nvPr/>
                </p:nvSpPr>
                <p:spPr bwMode="auto">
                  <a:xfrm>
                    <a:off x="8318" y="10110"/>
                    <a:ext cx="2242" cy="7288"/>
                  </a:xfrm>
                  <a:prstGeom prst="rect">
                    <a:avLst/>
                  </a:prstGeom>
                  <a:noFill/>
                  <a:ln w="0">
                    <a:noFill/>
                    <a:miter lim="800000"/>
                    <a:headEnd/>
                    <a:tailEnd/>
                  </a:ln>
                </p:spPr>
                <p:txBody>
                  <a:bodyPr lIns="0" tIns="0" rIns="0" bIns="0"/>
                  <a:lstStyle/>
                  <a:p>
                    <a:pPr algn="just" eaLnBrk="0" hangingPunct="0">
                      <a:lnSpc>
                        <a:spcPct val="88000"/>
                      </a:lnSpc>
                    </a:pPr>
                    <a:r>
                      <a:rPr lang="en-US" sz="900" noProof="1">
                        <a:solidFill>
                          <a:srgbClr val="000000"/>
                        </a:solidFill>
                      </a:rPr>
                      <a:t>.</a:t>
                    </a:r>
                  </a:p>
                  <a:p>
                    <a:pPr algn="just" eaLnBrk="0" hangingPunct="0">
                      <a:lnSpc>
                        <a:spcPct val="88000"/>
                      </a:lnSpc>
                    </a:pPr>
                    <a:r>
                      <a:rPr lang="en-US" sz="900" noProof="1">
                        <a:solidFill>
                          <a:srgbClr val="000000"/>
                        </a:solidFill>
                      </a:rPr>
                      <a:t>.</a:t>
                    </a:r>
                  </a:p>
                  <a:p>
                    <a:pPr algn="just" eaLnBrk="0" hangingPunct="0">
                      <a:lnSpc>
                        <a:spcPct val="88000"/>
                      </a:lnSpc>
                    </a:pPr>
                    <a:r>
                      <a:rPr lang="en-US" sz="900" noProof="1">
                        <a:solidFill>
                          <a:srgbClr val="000000"/>
                        </a:solidFill>
                      </a:rPr>
                      <a:t>.</a:t>
                    </a:r>
                  </a:p>
                </p:txBody>
              </p:sp>
              <p:sp>
                <p:nvSpPr>
                  <p:cNvPr id="102" name="Freeform 92"/>
                  <p:cNvSpPr>
                    <a:spLocks/>
                  </p:cNvSpPr>
                  <p:nvPr/>
                </p:nvSpPr>
                <p:spPr bwMode="auto">
                  <a:xfrm>
                    <a:off x="2" y="2"/>
                    <a:ext cx="19996" cy="3325"/>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03" name="Freeform 93"/>
                  <p:cNvSpPr>
                    <a:spLocks/>
                  </p:cNvSpPr>
                  <p:nvPr/>
                </p:nvSpPr>
                <p:spPr bwMode="auto">
                  <a:xfrm>
                    <a:off x="2" y="3327"/>
                    <a:ext cx="19996" cy="3332"/>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04" name="Freeform 94"/>
                  <p:cNvSpPr>
                    <a:spLocks/>
                  </p:cNvSpPr>
                  <p:nvPr/>
                </p:nvSpPr>
                <p:spPr bwMode="auto">
                  <a:xfrm>
                    <a:off x="2" y="6673"/>
                    <a:ext cx="19996" cy="3326"/>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05" name="Freeform 95"/>
                  <p:cNvSpPr>
                    <a:spLocks/>
                  </p:cNvSpPr>
                  <p:nvPr/>
                </p:nvSpPr>
                <p:spPr bwMode="auto">
                  <a:xfrm>
                    <a:off x="2" y="9999"/>
                    <a:ext cx="19996" cy="6670"/>
                  </a:xfrm>
                  <a:custGeom>
                    <a:avLst/>
                    <a:gdLst>
                      <a:gd name="T0" fmla="*/ 19957 w 20000"/>
                      <a:gd name="T1" fmla="*/ 0 h 20000"/>
                      <a:gd name="T2" fmla="*/ 19957 w 20000"/>
                      <a:gd name="T3" fmla="*/ 27 h 20000"/>
                      <a:gd name="T4" fmla="*/ 0 w 20000"/>
                      <a:gd name="T5" fmla="*/ 27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58"/>
                        </a:lnTo>
                        <a:lnTo>
                          <a:pt x="0" y="19958"/>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06" name="Freeform 96"/>
                  <p:cNvSpPr>
                    <a:spLocks/>
                  </p:cNvSpPr>
                  <p:nvPr/>
                </p:nvSpPr>
                <p:spPr bwMode="auto">
                  <a:xfrm>
                    <a:off x="2" y="16669"/>
                    <a:ext cx="19996" cy="3330"/>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107" name="Rectangle 97"/>
                  <p:cNvSpPr>
                    <a:spLocks noChangeArrowheads="1"/>
                  </p:cNvSpPr>
                  <p:nvPr/>
                </p:nvSpPr>
                <p:spPr bwMode="auto">
                  <a:xfrm>
                    <a:off x="8876" y="9998"/>
                    <a:ext cx="2236" cy="7242"/>
                  </a:xfrm>
                  <a:prstGeom prst="rect">
                    <a:avLst/>
                  </a:prstGeom>
                  <a:noFill/>
                  <a:ln w="0">
                    <a:noFill/>
                    <a:miter lim="800000"/>
                    <a:headEnd/>
                    <a:tailEnd/>
                  </a:ln>
                </p:spPr>
                <p:txBody>
                  <a:bodyPr lIns="0" tIns="0" rIns="0" bIns="0"/>
                  <a:lstStyle/>
                  <a:p>
                    <a:pPr algn="ctr" eaLnBrk="0" hangingPunct="0">
                      <a:lnSpc>
                        <a:spcPct val="64000"/>
                      </a:lnSpc>
                    </a:pPr>
                    <a:r>
                      <a:rPr lang="en-US" sz="900" noProof="1">
                        <a:solidFill>
                          <a:srgbClr val="000000"/>
                        </a:solidFill>
                      </a:rPr>
                      <a:t>.</a:t>
                    </a:r>
                  </a:p>
                  <a:p>
                    <a:pPr algn="ctr" eaLnBrk="0" hangingPunct="0">
                      <a:lnSpc>
                        <a:spcPct val="64000"/>
                      </a:lnSpc>
                    </a:pPr>
                    <a:r>
                      <a:rPr lang="en-US" sz="900" noProof="1">
                        <a:solidFill>
                          <a:srgbClr val="000000"/>
                        </a:solidFill>
                      </a:rPr>
                      <a:t>.</a:t>
                    </a:r>
                  </a:p>
                  <a:p>
                    <a:pPr algn="ctr" eaLnBrk="0" hangingPunct="0">
                      <a:lnSpc>
                        <a:spcPct val="64000"/>
                      </a:lnSpc>
                    </a:pPr>
                    <a:r>
                      <a:rPr lang="en-US" sz="900" noProof="1">
                        <a:solidFill>
                          <a:srgbClr val="000000"/>
                        </a:solidFill>
                      </a:rPr>
                      <a:t>.</a:t>
                    </a:r>
                  </a:p>
                </p:txBody>
              </p:sp>
            </p:grpSp>
          </p:grpSp>
        </p:grpSp>
        <p:sp>
          <p:nvSpPr>
            <p:cNvPr id="59" name="Freeform 98"/>
            <p:cNvSpPr>
              <a:spLocks/>
            </p:cNvSpPr>
            <p:nvPr/>
          </p:nvSpPr>
          <p:spPr bwMode="auto">
            <a:xfrm>
              <a:off x="2223" y="2050"/>
              <a:ext cx="985" cy="32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60" name="Freeform 99"/>
            <p:cNvSpPr>
              <a:spLocks/>
            </p:cNvSpPr>
            <p:nvPr/>
          </p:nvSpPr>
          <p:spPr bwMode="auto">
            <a:xfrm>
              <a:off x="2223" y="2050"/>
              <a:ext cx="985" cy="32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61" name="Rectangle 100"/>
            <p:cNvSpPr>
              <a:spLocks noChangeArrowheads="1"/>
            </p:cNvSpPr>
            <p:nvPr/>
          </p:nvSpPr>
          <p:spPr bwMode="auto">
            <a:xfrm>
              <a:off x="2330" y="2152"/>
              <a:ext cx="980" cy="108"/>
            </a:xfrm>
            <a:prstGeom prst="rect">
              <a:avLst/>
            </a:prstGeom>
            <a:noFill/>
            <a:ln w="0">
              <a:noFill/>
              <a:miter lim="800000"/>
              <a:headEnd/>
              <a:tailEnd/>
            </a:ln>
          </p:spPr>
          <p:txBody>
            <a:bodyPr lIns="0" tIns="0" rIns="0" bIns="0"/>
            <a:lstStyle/>
            <a:p>
              <a:pPr eaLnBrk="0" hangingPunct="0">
                <a:lnSpc>
                  <a:spcPct val="64000"/>
                </a:lnSpc>
              </a:pPr>
              <a:r>
                <a:rPr lang="en-US" sz="1400" noProof="1">
                  <a:solidFill>
                    <a:srgbClr val="000000"/>
                  </a:solidFill>
                </a:rPr>
                <a:t>Bytecode Verifier</a:t>
              </a:r>
            </a:p>
          </p:txBody>
        </p:sp>
        <p:sp>
          <p:nvSpPr>
            <p:cNvPr id="62" name="Freeform 101"/>
            <p:cNvSpPr>
              <a:spLocks/>
            </p:cNvSpPr>
            <p:nvPr/>
          </p:nvSpPr>
          <p:spPr bwMode="auto">
            <a:xfrm>
              <a:off x="3213" y="2210"/>
              <a:ext cx="422" cy="1"/>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20000 h 20000"/>
              </a:gdLst>
              <a:ahLst/>
              <a:cxnLst>
                <a:cxn ang="T4">
                  <a:pos x="T0" y="T1"/>
                </a:cxn>
                <a:cxn ang="T5">
                  <a:pos x="T2" y="T3"/>
                </a:cxn>
              </a:cxnLst>
              <a:rect l="T6" t="T7" r="T8" b="T9"/>
              <a:pathLst>
                <a:path w="20000" h="20000">
                  <a:moveTo>
                    <a:pt x="19972" y="0"/>
                  </a:moveTo>
                  <a:lnTo>
                    <a:pt x="0" y="0"/>
                  </a:lnTo>
                </a:path>
              </a:pathLst>
            </a:custGeom>
            <a:noFill/>
            <a:ln w="3175" cap="flat">
              <a:solidFill>
                <a:srgbClr val="000000"/>
              </a:solidFill>
              <a:prstDash val="solid"/>
              <a:round/>
              <a:headEnd type="triangle" w="med" len="sm"/>
              <a:tailEnd type="triangle" w="med" len="sm"/>
            </a:ln>
          </p:spPr>
          <p:txBody>
            <a:bodyPr/>
            <a:lstStyle/>
            <a:p>
              <a:endParaRPr lang="en-US"/>
            </a:p>
          </p:txBody>
        </p:sp>
        <p:grpSp>
          <p:nvGrpSpPr>
            <p:cNvPr id="63" name="Group 102"/>
            <p:cNvGrpSpPr>
              <a:grpSpLocks/>
            </p:cNvGrpSpPr>
            <p:nvPr/>
          </p:nvGrpSpPr>
          <p:grpSpPr bwMode="auto">
            <a:xfrm>
              <a:off x="4337" y="1968"/>
              <a:ext cx="141" cy="1075"/>
              <a:chOff x="0" y="0"/>
              <a:chExt cx="20000" cy="19999"/>
            </a:xfrm>
          </p:grpSpPr>
          <p:sp>
            <p:nvSpPr>
              <p:cNvPr id="91" name="Arc 103"/>
              <p:cNvSpPr>
                <a:spLocks/>
              </p:cNvSpPr>
              <p:nvPr/>
            </p:nvSpPr>
            <p:spPr bwMode="auto">
              <a:xfrm>
                <a:off x="0" y="0"/>
                <a:ext cx="10056" cy="5006"/>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92" name="Arc 104"/>
              <p:cNvSpPr>
                <a:spLocks/>
              </p:cNvSpPr>
              <p:nvPr/>
            </p:nvSpPr>
            <p:spPr bwMode="auto">
              <a:xfrm flipV="1">
                <a:off x="0" y="14993"/>
                <a:ext cx="10056" cy="5006"/>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93" name="Arc 105"/>
              <p:cNvSpPr>
                <a:spLocks/>
              </p:cNvSpPr>
              <p:nvPr/>
            </p:nvSpPr>
            <p:spPr bwMode="auto">
              <a:xfrm flipH="1">
                <a:off x="9972" y="9996"/>
                <a:ext cx="10028" cy="5005"/>
              </a:xfrm>
              <a:custGeom>
                <a:avLst/>
                <a:gdLst>
                  <a:gd name="T0" fmla="*/ 0 w 21600"/>
                  <a:gd name="T1" fmla="*/ 0 h 21600"/>
                  <a:gd name="T2" fmla="*/ 100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94" name="Arc 106"/>
              <p:cNvSpPr>
                <a:spLocks/>
              </p:cNvSpPr>
              <p:nvPr/>
            </p:nvSpPr>
            <p:spPr bwMode="auto">
              <a:xfrm flipH="1" flipV="1">
                <a:off x="9944" y="4998"/>
                <a:ext cx="10056" cy="5005"/>
              </a:xfrm>
              <a:custGeom>
                <a:avLst/>
                <a:gdLst>
                  <a:gd name="T0" fmla="*/ 0 w 21600"/>
                  <a:gd name="T1" fmla="*/ 0 h 21600"/>
                  <a:gd name="T2" fmla="*/ 10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64" name="Rectangle 107"/>
            <p:cNvSpPr>
              <a:spLocks noChangeArrowheads="1"/>
            </p:cNvSpPr>
            <p:nvPr/>
          </p:nvSpPr>
          <p:spPr bwMode="auto">
            <a:xfrm>
              <a:off x="4549" y="2190"/>
              <a:ext cx="872" cy="719"/>
            </a:xfrm>
            <a:prstGeom prst="rect">
              <a:avLst/>
            </a:prstGeom>
            <a:noFill/>
            <a:ln w="0">
              <a:noFill/>
              <a:miter lim="800000"/>
              <a:headEnd/>
              <a:tailEnd/>
            </a:ln>
          </p:spPr>
          <p:txBody>
            <a:bodyPr lIns="0" tIns="0" rIns="0" bIns="0"/>
            <a:lstStyle/>
            <a:p>
              <a:pPr eaLnBrk="0" hangingPunct="0">
                <a:lnSpc>
                  <a:spcPct val="80000"/>
                </a:lnSpc>
              </a:pPr>
              <a:r>
                <a:rPr lang="en-US" sz="1200" b="1" noProof="1">
                  <a:solidFill>
                    <a:srgbClr val="000000"/>
                  </a:solidFill>
                </a:rPr>
                <a:t>Bytecode verifier confirms that all bytecodes are valid and do not violate Java’s security restrictions.</a:t>
              </a:r>
            </a:p>
          </p:txBody>
        </p:sp>
        <p:sp>
          <p:nvSpPr>
            <p:cNvPr id="65" name="Rectangle 108"/>
            <p:cNvSpPr>
              <a:spLocks noChangeArrowheads="1"/>
            </p:cNvSpPr>
            <p:nvPr/>
          </p:nvSpPr>
          <p:spPr bwMode="auto">
            <a:xfrm>
              <a:off x="1453" y="2181"/>
              <a:ext cx="739" cy="80"/>
            </a:xfrm>
            <a:prstGeom prst="rect">
              <a:avLst/>
            </a:prstGeom>
            <a:noFill/>
            <a:ln w="0">
              <a:noFill/>
              <a:miter lim="800000"/>
              <a:headEnd/>
              <a:tailEnd/>
            </a:ln>
          </p:spPr>
          <p:txBody>
            <a:bodyPr lIns="0" tIns="0" rIns="0" bIns="0"/>
            <a:lstStyle/>
            <a:p>
              <a:pPr eaLnBrk="0" hangingPunct="0">
                <a:lnSpc>
                  <a:spcPct val="80000"/>
                </a:lnSpc>
              </a:pPr>
              <a:r>
                <a:rPr lang="en-US" sz="1400" noProof="1">
                  <a:solidFill>
                    <a:srgbClr val="000000"/>
                  </a:solidFill>
                </a:rPr>
                <a:t>Phase 4</a:t>
              </a:r>
            </a:p>
          </p:txBody>
        </p:sp>
        <p:grpSp>
          <p:nvGrpSpPr>
            <p:cNvPr id="66" name="Group 109"/>
            <p:cNvGrpSpPr>
              <a:grpSpLocks/>
            </p:cNvGrpSpPr>
            <p:nvPr/>
          </p:nvGrpSpPr>
          <p:grpSpPr bwMode="auto">
            <a:xfrm>
              <a:off x="3635" y="3106"/>
              <a:ext cx="634" cy="1042"/>
              <a:chOff x="0" y="0"/>
              <a:chExt cx="20000" cy="20002"/>
            </a:xfrm>
          </p:grpSpPr>
          <p:sp>
            <p:nvSpPr>
              <p:cNvPr id="78" name="Rectangle 110"/>
              <p:cNvSpPr>
                <a:spLocks noChangeArrowheads="1"/>
              </p:cNvSpPr>
              <p:nvPr/>
            </p:nvSpPr>
            <p:spPr bwMode="auto">
              <a:xfrm>
                <a:off x="0" y="0"/>
                <a:ext cx="19981" cy="3445"/>
              </a:xfrm>
              <a:prstGeom prst="rect">
                <a:avLst/>
              </a:prstGeom>
              <a:noFill/>
              <a:ln w="0">
                <a:noFill/>
                <a:miter lim="800000"/>
                <a:headEnd/>
                <a:tailEnd/>
              </a:ln>
            </p:spPr>
            <p:txBody>
              <a:bodyPr lIns="0" tIns="0" rIns="0" bIns="0"/>
              <a:lstStyle/>
              <a:p>
                <a:pPr algn="ctr" eaLnBrk="0" hangingPunct="0">
                  <a:lnSpc>
                    <a:spcPct val="80000"/>
                  </a:lnSpc>
                </a:pPr>
                <a:r>
                  <a:rPr lang="en-US" sz="1200" noProof="1">
                    <a:solidFill>
                      <a:srgbClr val="000000"/>
                    </a:solidFill>
                  </a:rPr>
                  <a:t>Primary</a:t>
                </a:r>
              </a:p>
              <a:p>
                <a:pPr algn="ctr" eaLnBrk="0" hangingPunct="0">
                  <a:lnSpc>
                    <a:spcPct val="80000"/>
                  </a:lnSpc>
                </a:pPr>
                <a:r>
                  <a:rPr lang="en-US" sz="1200" noProof="1">
                    <a:solidFill>
                      <a:srgbClr val="000000"/>
                    </a:solidFill>
                  </a:rPr>
                  <a:t>Memory</a:t>
                </a:r>
              </a:p>
            </p:txBody>
          </p:sp>
          <p:grpSp>
            <p:nvGrpSpPr>
              <p:cNvPr id="79" name="Group 111"/>
              <p:cNvGrpSpPr>
                <a:grpSpLocks/>
              </p:cNvGrpSpPr>
              <p:nvPr/>
            </p:nvGrpSpPr>
            <p:grpSpPr bwMode="auto">
              <a:xfrm>
                <a:off x="0" y="3575"/>
                <a:ext cx="20000" cy="16427"/>
                <a:chOff x="0" y="0"/>
                <a:chExt cx="20000" cy="20000"/>
              </a:xfrm>
            </p:grpSpPr>
            <p:sp>
              <p:nvSpPr>
                <p:cNvPr id="80" name="Freeform 112"/>
                <p:cNvSpPr>
                  <a:spLocks/>
                </p:cNvSpPr>
                <p:nvPr/>
              </p:nvSpPr>
              <p:spPr bwMode="auto">
                <a:xfrm>
                  <a:off x="0" y="0"/>
                  <a:ext cx="19832" cy="19979"/>
                </a:xfrm>
                <a:custGeom>
                  <a:avLst/>
                  <a:gdLst>
                    <a:gd name="T0" fmla="*/ 18995 w 20000"/>
                    <a:gd name="T1" fmla="*/ 0 h 20000"/>
                    <a:gd name="T2" fmla="*/ 18995 w 20000"/>
                    <a:gd name="T3" fmla="*/ 19864 h 20000"/>
                    <a:gd name="T4" fmla="*/ 0 w 20000"/>
                    <a:gd name="T5" fmla="*/ 19864 h 20000"/>
                    <a:gd name="T6" fmla="*/ 0 w 20000"/>
                    <a:gd name="T7" fmla="*/ 0 h 20000"/>
                    <a:gd name="T8" fmla="*/ 1899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90"/>
                      </a:lnTo>
                      <a:lnTo>
                        <a:pt x="0" y="19990"/>
                      </a:lnTo>
                      <a:lnTo>
                        <a:pt x="0" y="0"/>
                      </a:lnTo>
                      <a:lnTo>
                        <a:pt x="19981"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81" name="Freeform 113"/>
                <p:cNvSpPr>
                  <a:spLocks/>
                </p:cNvSpPr>
                <p:nvPr/>
              </p:nvSpPr>
              <p:spPr bwMode="auto">
                <a:xfrm>
                  <a:off x="31" y="9"/>
                  <a:ext cx="19969" cy="2489"/>
                </a:xfrm>
                <a:custGeom>
                  <a:avLst/>
                  <a:gdLst>
                    <a:gd name="T0" fmla="*/ 19795 w 20000"/>
                    <a:gd name="T1" fmla="*/ 0 h 20000"/>
                    <a:gd name="T2" fmla="*/ 19795 w 20000"/>
                    <a:gd name="T3" fmla="*/ 0 h 20000"/>
                    <a:gd name="T4" fmla="*/ 0 w 20000"/>
                    <a:gd name="T5" fmla="*/ 0 h 20000"/>
                    <a:gd name="T6" fmla="*/ 0 w 20000"/>
                    <a:gd name="T7" fmla="*/ 0 h 20000"/>
                    <a:gd name="T8" fmla="*/ 1979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82" name="Freeform 114"/>
                <p:cNvSpPr>
                  <a:spLocks/>
                </p:cNvSpPr>
                <p:nvPr/>
              </p:nvSpPr>
              <p:spPr bwMode="auto">
                <a:xfrm>
                  <a:off x="31" y="2523"/>
                  <a:ext cx="19969" cy="2508"/>
                </a:xfrm>
                <a:custGeom>
                  <a:avLst/>
                  <a:gdLst>
                    <a:gd name="T0" fmla="*/ 19795 w 20000"/>
                    <a:gd name="T1" fmla="*/ 0 h 20000"/>
                    <a:gd name="T2" fmla="*/ 19795 w 20000"/>
                    <a:gd name="T3" fmla="*/ 0 h 20000"/>
                    <a:gd name="T4" fmla="*/ 0 w 20000"/>
                    <a:gd name="T5" fmla="*/ 0 h 20000"/>
                    <a:gd name="T6" fmla="*/ 0 w 20000"/>
                    <a:gd name="T7" fmla="*/ 0 h 20000"/>
                    <a:gd name="T8" fmla="*/ 19795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7"/>
                      </a:lnTo>
                      <a:lnTo>
                        <a:pt x="0" y="19917"/>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grpSp>
              <p:nvGrpSpPr>
                <p:cNvPr id="83" name="Group 115"/>
                <p:cNvGrpSpPr>
                  <a:grpSpLocks/>
                </p:cNvGrpSpPr>
                <p:nvPr/>
              </p:nvGrpSpPr>
              <p:grpSpPr bwMode="auto">
                <a:xfrm>
                  <a:off x="31" y="5031"/>
                  <a:ext cx="19969" cy="14969"/>
                  <a:chOff x="2" y="-1"/>
                  <a:chExt cx="19996" cy="20002"/>
                </a:xfrm>
              </p:grpSpPr>
              <p:sp>
                <p:nvSpPr>
                  <p:cNvPr id="84" name="Rectangle 116"/>
                  <p:cNvSpPr>
                    <a:spLocks noChangeArrowheads="1"/>
                  </p:cNvSpPr>
                  <p:nvPr/>
                </p:nvSpPr>
                <p:spPr bwMode="auto">
                  <a:xfrm>
                    <a:off x="8321" y="10114"/>
                    <a:ext cx="2241" cy="7285"/>
                  </a:xfrm>
                  <a:prstGeom prst="rect">
                    <a:avLst/>
                  </a:prstGeom>
                  <a:noFill/>
                  <a:ln w="0">
                    <a:noFill/>
                    <a:miter lim="800000"/>
                    <a:headEnd/>
                    <a:tailEnd/>
                  </a:ln>
                </p:spPr>
                <p:txBody>
                  <a:bodyPr lIns="0" tIns="0" rIns="0" bIns="0"/>
                  <a:lstStyle/>
                  <a:p>
                    <a:pPr algn="just" eaLnBrk="0" hangingPunct="0">
                      <a:lnSpc>
                        <a:spcPct val="88000"/>
                      </a:lnSpc>
                    </a:pPr>
                    <a:r>
                      <a:rPr lang="en-US" sz="900" noProof="1">
                        <a:solidFill>
                          <a:srgbClr val="000000"/>
                        </a:solidFill>
                      </a:rPr>
                      <a:t>.</a:t>
                    </a:r>
                  </a:p>
                  <a:p>
                    <a:pPr algn="just" eaLnBrk="0" hangingPunct="0">
                      <a:lnSpc>
                        <a:spcPct val="88000"/>
                      </a:lnSpc>
                    </a:pPr>
                    <a:r>
                      <a:rPr lang="en-US" sz="900" noProof="1">
                        <a:solidFill>
                          <a:srgbClr val="000000"/>
                        </a:solidFill>
                      </a:rPr>
                      <a:t>.</a:t>
                    </a:r>
                  </a:p>
                  <a:p>
                    <a:pPr algn="just" eaLnBrk="0" hangingPunct="0">
                      <a:lnSpc>
                        <a:spcPct val="88000"/>
                      </a:lnSpc>
                    </a:pPr>
                    <a:r>
                      <a:rPr lang="en-US" sz="900" noProof="1">
                        <a:solidFill>
                          <a:srgbClr val="000000"/>
                        </a:solidFill>
                      </a:rPr>
                      <a:t>.</a:t>
                    </a:r>
                  </a:p>
                </p:txBody>
              </p:sp>
              <p:sp>
                <p:nvSpPr>
                  <p:cNvPr id="85" name="Freeform 117"/>
                  <p:cNvSpPr>
                    <a:spLocks/>
                  </p:cNvSpPr>
                  <p:nvPr/>
                </p:nvSpPr>
                <p:spPr bwMode="auto">
                  <a:xfrm>
                    <a:off x="2" y="-1"/>
                    <a:ext cx="19996" cy="3332"/>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86" name="Freeform 118"/>
                  <p:cNvSpPr>
                    <a:spLocks/>
                  </p:cNvSpPr>
                  <p:nvPr/>
                </p:nvSpPr>
                <p:spPr bwMode="auto">
                  <a:xfrm>
                    <a:off x="2" y="3345"/>
                    <a:ext cx="19996" cy="3326"/>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87" name="Freeform 119"/>
                  <p:cNvSpPr>
                    <a:spLocks/>
                  </p:cNvSpPr>
                  <p:nvPr/>
                </p:nvSpPr>
                <p:spPr bwMode="auto">
                  <a:xfrm>
                    <a:off x="2" y="6671"/>
                    <a:ext cx="19996" cy="3331"/>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88" name="Freeform 120"/>
                  <p:cNvSpPr>
                    <a:spLocks/>
                  </p:cNvSpPr>
                  <p:nvPr/>
                </p:nvSpPr>
                <p:spPr bwMode="auto">
                  <a:xfrm>
                    <a:off x="2" y="10015"/>
                    <a:ext cx="19996" cy="6672"/>
                  </a:xfrm>
                  <a:custGeom>
                    <a:avLst/>
                    <a:gdLst>
                      <a:gd name="T0" fmla="*/ 19957 w 20000"/>
                      <a:gd name="T1" fmla="*/ 0 h 20000"/>
                      <a:gd name="T2" fmla="*/ 19957 w 20000"/>
                      <a:gd name="T3" fmla="*/ 27 h 20000"/>
                      <a:gd name="T4" fmla="*/ 0 w 20000"/>
                      <a:gd name="T5" fmla="*/ 27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58"/>
                        </a:lnTo>
                        <a:lnTo>
                          <a:pt x="0" y="19958"/>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89" name="Freeform 121"/>
                  <p:cNvSpPr>
                    <a:spLocks/>
                  </p:cNvSpPr>
                  <p:nvPr/>
                </p:nvSpPr>
                <p:spPr bwMode="auto">
                  <a:xfrm>
                    <a:off x="2" y="16673"/>
                    <a:ext cx="19996" cy="3328"/>
                  </a:xfrm>
                  <a:custGeom>
                    <a:avLst/>
                    <a:gdLst>
                      <a:gd name="T0" fmla="*/ 19957 w 20000"/>
                      <a:gd name="T1" fmla="*/ 0 h 20000"/>
                      <a:gd name="T2" fmla="*/ 19957 w 20000"/>
                      <a:gd name="T3" fmla="*/ 0 h 20000"/>
                      <a:gd name="T4" fmla="*/ 0 w 20000"/>
                      <a:gd name="T5" fmla="*/ 0 h 20000"/>
                      <a:gd name="T6" fmla="*/ 0 w 20000"/>
                      <a:gd name="T7" fmla="*/ 0 h 20000"/>
                      <a:gd name="T8" fmla="*/ 19957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1" y="0"/>
                        </a:moveTo>
                        <a:lnTo>
                          <a:pt x="19981" y="19916"/>
                        </a:lnTo>
                        <a:lnTo>
                          <a:pt x="0" y="19916"/>
                        </a:lnTo>
                        <a:lnTo>
                          <a:pt x="0" y="0"/>
                        </a:lnTo>
                        <a:lnTo>
                          <a:pt x="19981"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90" name="Rectangle 122"/>
                  <p:cNvSpPr>
                    <a:spLocks noChangeArrowheads="1"/>
                  </p:cNvSpPr>
                  <p:nvPr/>
                </p:nvSpPr>
                <p:spPr bwMode="auto">
                  <a:xfrm>
                    <a:off x="8877" y="10017"/>
                    <a:ext cx="2240" cy="7245"/>
                  </a:xfrm>
                  <a:prstGeom prst="rect">
                    <a:avLst/>
                  </a:prstGeom>
                  <a:noFill/>
                  <a:ln w="0">
                    <a:noFill/>
                    <a:miter lim="800000"/>
                    <a:headEnd/>
                    <a:tailEnd/>
                  </a:ln>
                </p:spPr>
                <p:txBody>
                  <a:bodyPr lIns="0" tIns="0" rIns="0" bIns="0"/>
                  <a:lstStyle/>
                  <a:p>
                    <a:pPr algn="ctr" eaLnBrk="0" hangingPunct="0">
                      <a:lnSpc>
                        <a:spcPct val="64000"/>
                      </a:lnSpc>
                    </a:pPr>
                    <a:r>
                      <a:rPr lang="en-US" sz="900" noProof="1">
                        <a:solidFill>
                          <a:srgbClr val="000000"/>
                        </a:solidFill>
                      </a:rPr>
                      <a:t>.</a:t>
                    </a:r>
                  </a:p>
                  <a:p>
                    <a:pPr algn="ctr" eaLnBrk="0" hangingPunct="0">
                      <a:lnSpc>
                        <a:spcPct val="64000"/>
                      </a:lnSpc>
                    </a:pPr>
                    <a:r>
                      <a:rPr lang="en-US" sz="900" noProof="1">
                        <a:solidFill>
                          <a:srgbClr val="000000"/>
                        </a:solidFill>
                      </a:rPr>
                      <a:t>.</a:t>
                    </a:r>
                  </a:p>
                  <a:p>
                    <a:pPr algn="ctr" eaLnBrk="0" hangingPunct="0">
                      <a:lnSpc>
                        <a:spcPct val="64000"/>
                      </a:lnSpc>
                    </a:pPr>
                    <a:r>
                      <a:rPr lang="en-US" sz="900" noProof="1">
                        <a:solidFill>
                          <a:srgbClr val="000000"/>
                        </a:solidFill>
                      </a:rPr>
                      <a:t>.</a:t>
                    </a:r>
                  </a:p>
                </p:txBody>
              </p:sp>
            </p:grpSp>
          </p:grpSp>
        </p:grpSp>
        <p:sp>
          <p:nvSpPr>
            <p:cNvPr id="67" name="Freeform 123"/>
            <p:cNvSpPr>
              <a:spLocks/>
            </p:cNvSpPr>
            <p:nvPr/>
          </p:nvSpPr>
          <p:spPr bwMode="auto">
            <a:xfrm>
              <a:off x="2224" y="3183"/>
              <a:ext cx="984" cy="32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solidFill>
              <a:srgbClr val="4DB3E6"/>
            </a:solidFill>
            <a:ln w="3175" cap="flat">
              <a:solidFill>
                <a:srgbClr val="4DB3E6"/>
              </a:solidFill>
              <a:prstDash val="solid"/>
              <a:round/>
              <a:headEnd type="none" w="med" len="med"/>
              <a:tailEnd type="none" w="med" len="med"/>
            </a:ln>
          </p:spPr>
          <p:txBody>
            <a:bodyPr/>
            <a:lstStyle/>
            <a:p>
              <a:endParaRPr lang="en-US"/>
            </a:p>
          </p:txBody>
        </p:sp>
        <p:sp>
          <p:nvSpPr>
            <p:cNvPr id="68" name="Freeform 124"/>
            <p:cNvSpPr>
              <a:spLocks/>
            </p:cNvSpPr>
            <p:nvPr/>
          </p:nvSpPr>
          <p:spPr bwMode="auto">
            <a:xfrm>
              <a:off x="2224" y="3183"/>
              <a:ext cx="984" cy="323"/>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60000 65536"/>
                <a:gd name="T11" fmla="*/ 0 60000 65536"/>
                <a:gd name="T12" fmla="*/ 0 60000 65536"/>
                <a:gd name="T13" fmla="*/ 0 60000 65536"/>
                <a:gd name="T14" fmla="*/ 0 60000 65536"/>
                <a:gd name="T15" fmla="*/ 0 w 20000"/>
                <a:gd name="T16" fmla="*/ 0 h 20000"/>
                <a:gd name="T17" fmla="*/ 20000 w 20000"/>
                <a:gd name="T18" fmla="*/ 20000 h 20000"/>
              </a:gdLst>
              <a:ahLst/>
              <a:cxnLst>
                <a:cxn ang="T10">
                  <a:pos x="T0" y="T1"/>
                </a:cxn>
                <a:cxn ang="T11">
                  <a:pos x="T2" y="T3"/>
                </a:cxn>
                <a:cxn ang="T12">
                  <a:pos x="T4" y="T5"/>
                </a:cxn>
                <a:cxn ang="T13">
                  <a:pos x="T6" y="T7"/>
                </a:cxn>
                <a:cxn ang="T14">
                  <a:pos x="T8" y="T9"/>
                </a:cxn>
              </a:cxnLst>
              <a:rect l="T15" t="T16" r="T17" b="T18"/>
              <a:pathLst>
                <a:path w="20000" h="20000">
                  <a:moveTo>
                    <a:pt x="19988" y="0"/>
                  </a:moveTo>
                  <a:lnTo>
                    <a:pt x="19988" y="19972"/>
                  </a:lnTo>
                  <a:lnTo>
                    <a:pt x="0" y="19972"/>
                  </a:lnTo>
                  <a:lnTo>
                    <a:pt x="0" y="0"/>
                  </a:lnTo>
                  <a:lnTo>
                    <a:pt x="19988" y="0"/>
                  </a:lnTo>
                  <a:close/>
                </a:path>
              </a:pathLst>
            </a:custGeom>
            <a:noFill/>
            <a:ln w="3175" cap="flat">
              <a:solidFill>
                <a:srgbClr val="000000"/>
              </a:solidFill>
              <a:prstDash val="solid"/>
              <a:round/>
              <a:headEnd type="none" w="med" len="med"/>
              <a:tailEnd type="none" w="med" len="med"/>
            </a:ln>
          </p:spPr>
          <p:txBody>
            <a:bodyPr/>
            <a:lstStyle/>
            <a:p>
              <a:endParaRPr lang="en-US"/>
            </a:p>
          </p:txBody>
        </p:sp>
        <p:sp>
          <p:nvSpPr>
            <p:cNvPr id="69" name="Rectangle 125"/>
            <p:cNvSpPr>
              <a:spLocks noChangeArrowheads="1"/>
            </p:cNvSpPr>
            <p:nvPr/>
          </p:nvSpPr>
          <p:spPr bwMode="auto">
            <a:xfrm>
              <a:off x="2260" y="3308"/>
              <a:ext cx="914" cy="80"/>
            </a:xfrm>
            <a:prstGeom prst="rect">
              <a:avLst/>
            </a:prstGeom>
            <a:noFill/>
            <a:ln w="0">
              <a:noFill/>
              <a:miter lim="800000"/>
              <a:headEnd/>
              <a:tailEnd/>
            </a:ln>
          </p:spPr>
          <p:txBody>
            <a:bodyPr lIns="0" tIns="0" rIns="0" bIns="0"/>
            <a:lstStyle/>
            <a:p>
              <a:pPr eaLnBrk="0" hangingPunct="0">
                <a:lnSpc>
                  <a:spcPct val="64000"/>
                </a:lnSpc>
              </a:pPr>
              <a:r>
                <a:rPr lang="en-US" sz="1400" noProof="1">
                  <a:solidFill>
                    <a:srgbClr val="000000"/>
                  </a:solidFill>
                </a:rPr>
                <a:t>Interpreter</a:t>
              </a:r>
            </a:p>
          </p:txBody>
        </p:sp>
        <p:sp>
          <p:nvSpPr>
            <p:cNvPr id="70" name="Freeform 126"/>
            <p:cNvSpPr>
              <a:spLocks/>
            </p:cNvSpPr>
            <p:nvPr/>
          </p:nvSpPr>
          <p:spPr bwMode="auto">
            <a:xfrm>
              <a:off x="3213" y="3344"/>
              <a:ext cx="422" cy="0"/>
            </a:xfrm>
            <a:custGeom>
              <a:avLst/>
              <a:gdLst>
                <a:gd name="T0" fmla="*/ 0 w 20000"/>
                <a:gd name="T1" fmla="*/ 0 h 20000"/>
                <a:gd name="T2" fmla="*/ 0 w 20000"/>
                <a:gd name="T3" fmla="*/ 0 h 20000"/>
                <a:gd name="T4" fmla="*/ 0 60000 65536"/>
                <a:gd name="T5" fmla="*/ 0 60000 65536"/>
                <a:gd name="T6" fmla="*/ 0 w 20000"/>
                <a:gd name="T7" fmla="*/ 0 h 20000"/>
                <a:gd name="T8" fmla="*/ 20000 w 20000"/>
                <a:gd name="T9" fmla="*/ 0 h 20000"/>
              </a:gdLst>
              <a:ahLst/>
              <a:cxnLst>
                <a:cxn ang="T4">
                  <a:pos x="T0" y="T1"/>
                </a:cxn>
                <a:cxn ang="T5">
                  <a:pos x="T2" y="T3"/>
                </a:cxn>
              </a:cxnLst>
              <a:rect l="T6" t="T7" r="T8" b="T9"/>
              <a:pathLst>
                <a:path w="20000" h="20000">
                  <a:moveTo>
                    <a:pt x="19972" y="0"/>
                  </a:moveTo>
                  <a:lnTo>
                    <a:pt x="0" y="0"/>
                  </a:lnTo>
                </a:path>
              </a:pathLst>
            </a:custGeom>
            <a:noFill/>
            <a:ln w="3175" cap="flat">
              <a:solidFill>
                <a:srgbClr val="000000"/>
              </a:solidFill>
              <a:prstDash val="solid"/>
              <a:round/>
              <a:headEnd type="triangle" w="med" len="sm"/>
              <a:tailEnd type="triangle" w="med" len="sm"/>
            </a:ln>
          </p:spPr>
          <p:txBody>
            <a:bodyPr/>
            <a:lstStyle/>
            <a:p>
              <a:endParaRPr lang="en-US"/>
            </a:p>
          </p:txBody>
        </p:sp>
        <p:grpSp>
          <p:nvGrpSpPr>
            <p:cNvPr id="71" name="Group 127"/>
            <p:cNvGrpSpPr>
              <a:grpSpLocks/>
            </p:cNvGrpSpPr>
            <p:nvPr/>
          </p:nvGrpSpPr>
          <p:grpSpPr bwMode="auto">
            <a:xfrm>
              <a:off x="4337" y="3097"/>
              <a:ext cx="143" cy="1075"/>
              <a:chOff x="0" y="0"/>
              <a:chExt cx="20000" cy="20001"/>
            </a:xfrm>
          </p:grpSpPr>
          <p:sp>
            <p:nvSpPr>
              <p:cNvPr id="74" name="Arc 128"/>
              <p:cNvSpPr>
                <a:spLocks/>
              </p:cNvSpPr>
              <p:nvPr/>
            </p:nvSpPr>
            <p:spPr bwMode="auto">
              <a:xfrm>
                <a:off x="28" y="0"/>
                <a:ext cx="10014" cy="5005"/>
              </a:xfrm>
              <a:custGeom>
                <a:avLst/>
                <a:gdLst>
                  <a:gd name="T0" fmla="*/ 0 w 21600"/>
                  <a:gd name="T1" fmla="*/ 0 h 21600"/>
                  <a:gd name="T2" fmla="*/ 100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75" name="Arc 129"/>
              <p:cNvSpPr>
                <a:spLocks/>
              </p:cNvSpPr>
              <p:nvPr/>
            </p:nvSpPr>
            <p:spPr bwMode="auto">
              <a:xfrm flipV="1">
                <a:off x="0" y="14992"/>
                <a:ext cx="10042" cy="5009"/>
              </a:xfrm>
              <a:custGeom>
                <a:avLst/>
                <a:gdLst>
                  <a:gd name="T0" fmla="*/ 0 w 21600"/>
                  <a:gd name="T1" fmla="*/ 0 h 21600"/>
                  <a:gd name="T2" fmla="*/ 10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76" name="Arc 130"/>
              <p:cNvSpPr>
                <a:spLocks/>
              </p:cNvSpPr>
              <p:nvPr/>
            </p:nvSpPr>
            <p:spPr bwMode="auto">
              <a:xfrm flipH="1">
                <a:off x="9958" y="9995"/>
                <a:ext cx="10042" cy="5009"/>
              </a:xfrm>
              <a:custGeom>
                <a:avLst/>
                <a:gdLst>
                  <a:gd name="T0" fmla="*/ 0 w 21600"/>
                  <a:gd name="T1" fmla="*/ 0 h 21600"/>
                  <a:gd name="T2" fmla="*/ 10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sp>
            <p:nvSpPr>
              <p:cNvPr id="77" name="Arc 131"/>
              <p:cNvSpPr>
                <a:spLocks/>
              </p:cNvSpPr>
              <p:nvPr/>
            </p:nvSpPr>
            <p:spPr bwMode="auto">
              <a:xfrm flipH="1" flipV="1">
                <a:off x="9958" y="4997"/>
                <a:ext cx="10042" cy="5005"/>
              </a:xfrm>
              <a:custGeom>
                <a:avLst/>
                <a:gdLst>
                  <a:gd name="T0" fmla="*/ 0 w 21600"/>
                  <a:gd name="T1" fmla="*/ 0 h 21600"/>
                  <a:gd name="T2" fmla="*/ 10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
                <a:solidFill>
                  <a:srgbClr val="000000"/>
                </a:solidFill>
                <a:round/>
                <a:headEnd/>
                <a:tailEnd/>
              </a:ln>
            </p:spPr>
            <p:txBody>
              <a:bodyPr/>
              <a:lstStyle/>
              <a:p>
                <a:endParaRPr lang="en-US"/>
              </a:p>
            </p:txBody>
          </p:sp>
        </p:grpSp>
        <p:sp>
          <p:nvSpPr>
            <p:cNvPr id="72" name="Rectangle 132"/>
            <p:cNvSpPr>
              <a:spLocks noChangeArrowheads="1"/>
            </p:cNvSpPr>
            <p:nvPr/>
          </p:nvSpPr>
          <p:spPr bwMode="auto">
            <a:xfrm>
              <a:off x="4549" y="3220"/>
              <a:ext cx="858" cy="932"/>
            </a:xfrm>
            <a:prstGeom prst="rect">
              <a:avLst/>
            </a:prstGeom>
            <a:noFill/>
            <a:ln w="0">
              <a:noFill/>
              <a:miter lim="800000"/>
              <a:headEnd/>
              <a:tailEnd/>
            </a:ln>
          </p:spPr>
          <p:txBody>
            <a:bodyPr lIns="0" tIns="0" rIns="0" bIns="0"/>
            <a:lstStyle/>
            <a:p>
              <a:pPr eaLnBrk="0" hangingPunct="0">
                <a:lnSpc>
                  <a:spcPct val="80000"/>
                </a:lnSpc>
              </a:pPr>
              <a:r>
                <a:rPr lang="en-US" sz="1000" b="1" noProof="1">
                  <a:solidFill>
                    <a:srgbClr val="000000"/>
                  </a:solidFill>
                </a:rPr>
                <a:t>Interpreter reads bytecodes and translates them into a language that the computer can understand, possibly storing data values as the program executes.</a:t>
              </a:r>
            </a:p>
          </p:txBody>
        </p:sp>
        <p:sp>
          <p:nvSpPr>
            <p:cNvPr id="73" name="Rectangle 133"/>
            <p:cNvSpPr>
              <a:spLocks noChangeArrowheads="1"/>
            </p:cNvSpPr>
            <p:nvPr/>
          </p:nvSpPr>
          <p:spPr bwMode="auto">
            <a:xfrm>
              <a:off x="1453" y="3313"/>
              <a:ext cx="739" cy="81"/>
            </a:xfrm>
            <a:prstGeom prst="rect">
              <a:avLst/>
            </a:prstGeom>
            <a:noFill/>
            <a:ln w="0">
              <a:noFill/>
              <a:miter lim="800000"/>
              <a:headEnd/>
              <a:tailEnd/>
            </a:ln>
          </p:spPr>
          <p:txBody>
            <a:bodyPr lIns="0" tIns="0" rIns="0" bIns="0"/>
            <a:lstStyle/>
            <a:p>
              <a:pPr eaLnBrk="0" hangingPunct="0">
                <a:lnSpc>
                  <a:spcPct val="80000"/>
                </a:lnSpc>
              </a:pPr>
              <a:r>
                <a:rPr lang="en-US" sz="1400" noProof="1">
                  <a:solidFill>
                    <a:srgbClr val="000000"/>
                  </a:solidFill>
                </a:rPr>
                <a:t>Phase 5</a:t>
              </a:r>
            </a:p>
          </p:txBody>
        </p:sp>
      </p:grpSp>
    </p:spTree>
    <p:extLst>
      <p:ext uri="{BB962C8B-B14F-4D97-AF65-F5344CB8AC3E}">
        <p14:creationId xmlns:p14="http://schemas.microsoft.com/office/powerpoint/2010/main" val="245747659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Java Environment</a:t>
            </a:r>
          </a:p>
        </p:txBody>
      </p:sp>
      <p:sp>
        <p:nvSpPr>
          <p:cNvPr id="4099" name="Rectangle 3"/>
          <p:cNvSpPr>
            <a:spLocks noGrp="1" noChangeArrowheads="1"/>
          </p:cNvSpPr>
          <p:nvPr>
            <p:ph type="body" idx="1"/>
          </p:nvPr>
        </p:nvSpPr>
        <p:spPr>
          <a:xfrm>
            <a:off x="457200" y="1295399"/>
            <a:ext cx="8382000" cy="4495801"/>
          </a:xfrm>
        </p:spPr>
        <p:txBody>
          <a:bodyPr/>
          <a:lstStyle/>
          <a:p>
            <a:pPr marL="533400" indent="-533400">
              <a:lnSpc>
                <a:spcPct val="90000"/>
              </a:lnSpc>
            </a:pPr>
            <a:r>
              <a:rPr lang="en-US" sz="2800" dirty="0"/>
              <a:t>Development tools-part of java development kit (JDK)</a:t>
            </a:r>
          </a:p>
          <a:p>
            <a:pPr marL="533400" indent="-533400">
              <a:lnSpc>
                <a:spcPct val="90000"/>
              </a:lnSpc>
            </a:pPr>
            <a:r>
              <a:rPr lang="en-US" sz="2800" dirty="0"/>
              <a:t>Classes and methods-part of Java Standard Library (JSL), also known as Application Programming Interface (API)</a:t>
            </a:r>
          </a:p>
          <a:p>
            <a:pPr marL="533400" indent="-533400">
              <a:lnSpc>
                <a:spcPct val="90000"/>
              </a:lnSpc>
              <a:buFont typeface="+mj-lt"/>
              <a:buAutoNum type="arabicPeriod"/>
            </a:pPr>
            <a:r>
              <a:rPr lang="en-US" sz="2800" dirty="0">
                <a:solidFill>
                  <a:srgbClr val="024069"/>
                </a:solidFill>
              </a:rPr>
              <a:t>JDK:</a:t>
            </a:r>
          </a:p>
          <a:p>
            <a:pPr marL="933450" lvl="1" indent="-533400">
              <a:lnSpc>
                <a:spcPct val="90000"/>
              </a:lnSpc>
            </a:pPr>
            <a:r>
              <a:rPr lang="en-US" sz="2000" dirty="0" err="1"/>
              <a:t>Appletviewer</a:t>
            </a:r>
            <a:r>
              <a:rPr lang="en-US" sz="2000" dirty="0"/>
              <a:t> ( for viewing applets)</a:t>
            </a:r>
          </a:p>
          <a:p>
            <a:pPr marL="933450" lvl="1" indent="-533400">
              <a:lnSpc>
                <a:spcPct val="90000"/>
              </a:lnSpc>
            </a:pPr>
            <a:r>
              <a:rPr lang="en-US" sz="2000" dirty="0" err="1"/>
              <a:t>Javac</a:t>
            </a:r>
            <a:r>
              <a:rPr lang="en-US" sz="2000" dirty="0"/>
              <a:t> (Compiler)</a:t>
            </a:r>
          </a:p>
          <a:p>
            <a:pPr marL="933450" lvl="1" indent="-533400">
              <a:lnSpc>
                <a:spcPct val="90000"/>
              </a:lnSpc>
            </a:pPr>
            <a:r>
              <a:rPr lang="en-US" sz="2000" dirty="0"/>
              <a:t>Java (Interpreter)</a:t>
            </a:r>
          </a:p>
          <a:p>
            <a:pPr marL="933450" lvl="1" indent="-533400">
              <a:lnSpc>
                <a:spcPct val="90000"/>
              </a:lnSpc>
            </a:pPr>
            <a:r>
              <a:rPr lang="en-US" sz="2000" dirty="0" err="1"/>
              <a:t>Javap</a:t>
            </a:r>
            <a:r>
              <a:rPr lang="en-US" sz="2000" dirty="0"/>
              <a:t> (Java </a:t>
            </a:r>
            <a:r>
              <a:rPr lang="en-US" sz="2000" dirty="0" err="1"/>
              <a:t>disassembler</a:t>
            </a:r>
            <a:r>
              <a:rPr lang="en-US" sz="2000" dirty="0"/>
              <a:t>)</a:t>
            </a:r>
          </a:p>
          <a:p>
            <a:pPr marL="933450" lvl="1" indent="-533400">
              <a:lnSpc>
                <a:spcPct val="90000"/>
              </a:lnSpc>
            </a:pPr>
            <a:r>
              <a:rPr lang="en-US" sz="2000" dirty="0" err="1"/>
              <a:t>Javadoc</a:t>
            </a:r>
            <a:r>
              <a:rPr lang="en-US" sz="2000" dirty="0"/>
              <a:t> ( for creating HTML description)</a:t>
            </a:r>
          </a:p>
          <a:p>
            <a:pPr marL="933450" lvl="1" indent="-533400">
              <a:lnSpc>
                <a:spcPct val="90000"/>
              </a:lnSpc>
            </a:pPr>
            <a:r>
              <a:rPr lang="en-US" sz="2000" dirty="0" err="1"/>
              <a:t>Jdb</a:t>
            </a:r>
            <a:r>
              <a:rPr lang="en-US" sz="2000" dirty="0"/>
              <a:t> (Java Debugger)</a:t>
            </a:r>
          </a:p>
          <a:p>
            <a:endParaRPr lang="en-US" sz="24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31</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Java Environment</a:t>
            </a:r>
          </a:p>
        </p:txBody>
      </p:sp>
      <p:sp>
        <p:nvSpPr>
          <p:cNvPr id="4099" name="Rectangle 3"/>
          <p:cNvSpPr>
            <a:spLocks noGrp="1" noChangeArrowheads="1"/>
          </p:cNvSpPr>
          <p:nvPr>
            <p:ph type="body" idx="1"/>
          </p:nvPr>
        </p:nvSpPr>
        <p:spPr>
          <a:xfrm>
            <a:off x="457200" y="1295399"/>
            <a:ext cx="8382000" cy="4495801"/>
          </a:xfrm>
        </p:spPr>
        <p:txBody>
          <a:bodyPr/>
          <a:lstStyle/>
          <a:p>
            <a:pPr marL="514350" indent="-514350">
              <a:buFont typeface="+mj-lt"/>
              <a:buAutoNum type="arabicPeriod" startAt="2"/>
            </a:pPr>
            <a:r>
              <a:rPr lang="en-US" sz="2800" dirty="0">
                <a:solidFill>
                  <a:srgbClr val="024069"/>
                </a:solidFill>
              </a:rPr>
              <a:t>Application Package Interface (API)</a:t>
            </a:r>
          </a:p>
          <a:p>
            <a:pPr lvl="1"/>
            <a:r>
              <a:rPr lang="en-US" sz="2000" dirty="0"/>
              <a:t>Contains hundreds of classes and methods grouped into several functional packages:</a:t>
            </a:r>
          </a:p>
          <a:p>
            <a:pPr lvl="1"/>
            <a:r>
              <a:rPr lang="en-US" sz="2000" dirty="0"/>
              <a:t>Language Support Package</a:t>
            </a:r>
          </a:p>
          <a:p>
            <a:pPr lvl="1"/>
            <a:r>
              <a:rPr lang="en-US" sz="2000" dirty="0"/>
              <a:t>Utility Packages</a:t>
            </a:r>
          </a:p>
          <a:p>
            <a:pPr lvl="1"/>
            <a:r>
              <a:rPr lang="en-US" sz="2000" dirty="0"/>
              <a:t>Input/ Output Packages</a:t>
            </a:r>
          </a:p>
          <a:p>
            <a:pPr lvl="1"/>
            <a:r>
              <a:rPr lang="en-US" sz="2000" dirty="0"/>
              <a:t>Networking Packages</a:t>
            </a:r>
          </a:p>
          <a:p>
            <a:pPr lvl="2"/>
            <a:r>
              <a:rPr lang="en-US" sz="1800" dirty="0"/>
              <a:t>JDBC (Java Database Connectivity is an API which defines how a client may access a database)</a:t>
            </a:r>
            <a:endParaRPr lang="en-US" sz="2000" dirty="0"/>
          </a:p>
          <a:p>
            <a:pPr lvl="1"/>
            <a:r>
              <a:rPr lang="en-US" sz="2000" dirty="0"/>
              <a:t>AWT Package</a:t>
            </a:r>
          </a:p>
          <a:p>
            <a:pPr lvl="2"/>
            <a:r>
              <a:rPr lang="en-US" sz="1800" dirty="0"/>
              <a:t>The </a:t>
            </a:r>
            <a:r>
              <a:rPr lang="en-US" sz="1800" dirty="0" err="1"/>
              <a:t>java.awt</a:t>
            </a:r>
            <a:r>
              <a:rPr lang="en-US" sz="1800" dirty="0"/>
              <a:t> package provides classes for AWT API such as </a:t>
            </a:r>
            <a:r>
              <a:rPr lang="en-US" sz="1800" dirty="0" err="1"/>
              <a:t>TextField</a:t>
            </a:r>
            <a:r>
              <a:rPr lang="en-US" sz="1800" dirty="0"/>
              <a:t>, Label, </a:t>
            </a:r>
            <a:r>
              <a:rPr lang="en-US" sz="1800" dirty="0" err="1"/>
              <a:t>TextArea</a:t>
            </a:r>
            <a:r>
              <a:rPr lang="en-US" sz="1800" dirty="0"/>
              <a:t>, </a:t>
            </a:r>
            <a:r>
              <a:rPr lang="en-US" sz="1800" dirty="0" err="1"/>
              <a:t>RadioButton</a:t>
            </a:r>
            <a:r>
              <a:rPr lang="en-US" sz="1800" dirty="0"/>
              <a:t>, </a:t>
            </a:r>
            <a:r>
              <a:rPr lang="en-US" sz="1800" dirty="0" err="1"/>
              <a:t>CheckBox</a:t>
            </a:r>
            <a:r>
              <a:rPr lang="en-US" sz="1800" dirty="0"/>
              <a:t>, Choice, List etc. </a:t>
            </a:r>
          </a:p>
          <a:p>
            <a:pPr lvl="1"/>
            <a:r>
              <a:rPr lang="en-US" sz="2000" dirty="0"/>
              <a:t>Applet Package</a:t>
            </a:r>
          </a:p>
          <a:p>
            <a:pPr lvl="2"/>
            <a:r>
              <a:rPr lang="en-US" sz="1600" dirty="0"/>
              <a:t>Java Applet is a special type of small Java program embedded in the webpage to generate dynamic content. The specialty of the Java applet is it runs inside the browser and works on the Client side (No longer used).</a:t>
            </a:r>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32</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Versions of Java</a:t>
            </a:r>
          </a:p>
        </p:txBody>
      </p:sp>
      <p:sp>
        <p:nvSpPr>
          <p:cNvPr id="4099" name="Rectangle 3"/>
          <p:cNvSpPr>
            <a:spLocks noGrp="1" noChangeArrowheads="1"/>
          </p:cNvSpPr>
          <p:nvPr>
            <p:ph type="body" idx="1"/>
          </p:nvPr>
        </p:nvSpPr>
        <p:spPr>
          <a:xfrm>
            <a:off x="457200" y="1295399"/>
            <a:ext cx="8382000" cy="4495801"/>
          </a:xfrm>
        </p:spPr>
        <p:txBody>
          <a:bodyPr/>
          <a:lstStyle/>
          <a:p>
            <a:pPr>
              <a:lnSpc>
                <a:spcPct val="90000"/>
              </a:lnSpc>
            </a:pPr>
            <a:r>
              <a:rPr lang="en-GB" sz="2800" dirty="0"/>
              <a:t>Three versions of the Java  Platform, targeted at different uses</a:t>
            </a:r>
          </a:p>
          <a:p>
            <a:pPr marL="514350" indent="-514350">
              <a:lnSpc>
                <a:spcPct val="90000"/>
              </a:lnSpc>
              <a:buFont typeface="+mj-lt"/>
              <a:buAutoNum type="arabicPeriod"/>
            </a:pPr>
            <a:r>
              <a:rPr lang="en-GB" sz="2800" dirty="0">
                <a:solidFill>
                  <a:srgbClr val="024069"/>
                </a:solidFill>
              </a:rPr>
              <a:t>Java Platform Micro Edition (Java ME)</a:t>
            </a:r>
          </a:p>
          <a:p>
            <a:pPr lvl="1">
              <a:lnSpc>
                <a:spcPct val="90000"/>
              </a:lnSpc>
            </a:pPr>
            <a:r>
              <a:rPr lang="en-GB" sz="2400" dirty="0"/>
              <a:t>Very small Java environment for smart phones, personal digital assistant (PDA), etc</a:t>
            </a:r>
          </a:p>
          <a:p>
            <a:pPr lvl="1">
              <a:lnSpc>
                <a:spcPct val="90000"/>
              </a:lnSpc>
            </a:pPr>
            <a:r>
              <a:rPr lang="en-GB" sz="2400" dirty="0"/>
              <a:t>Subset of the standard Java libraries aimed at limited size and processing power</a:t>
            </a:r>
          </a:p>
          <a:p>
            <a:pPr lvl="1">
              <a:lnSpc>
                <a:spcPct val="90000"/>
              </a:lnSpc>
            </a:pPr>
            <a:endParaRPr lang="en-GB" sz="2400" dirty="0"/>
          </a:p>
          <a:p>
            <a:pPr marL="514350" indent="-514350">
              <a:lnSpc>
                <a:spcPct val="90000"/>
              </a:lnSpc>
              <a:buFont typeface="+mj-lt"/>
              <a:buAutoNum type="arabicPeriod"/>
            </a:pPr>
            <a:r>
              <a:rPr lang="en-GB" sz="2800" dirty="0">
                <a:solidFill>
                  <a:srgbClr val="024069"/>
                </a:solidFill>
              </a:rPr>
              <a:t>Java Platform Standard Edition (Java SE)</a:t>
            </a:r>
          </a:p>
          <a:p>
            <a:pPr lvl="1">
              <a:lnSpc>
                <a:spcPct val="90000"/>
              </a:lnSpc>
            </a:pPr>
            <a:r>
              <a:rPr lang="en-GB" sz="2400" dirty="0"/>
              <a:t>The basic platform</a:t>
            </a:r>
          </a:p>
          <a:p>
            <a:pPr lvl="1">
              <a:lnSpc>
                <a:spcPct val="90000"/>
              </a:lnSpc>
            </a:pPr>
            <a:r>
              <a:rPr lang="en-US" sz="2400" dirty="0">
                <a:cs typeface="Times New Roman" pitchFamily="18" charset="0"/>
              </a:rPr>
              <a:t>Java SE can be used to develop client-side standalone applications or applets.</a:t>
            </a:r>
            <a:endParaRPr lang="en-GB" sz="2400" dirty="0"/>
          </a:p>
          <a:p>
            <a:pPr>
              <a:lnSpc>
                <a:spcPct val="90000"/>
              </a:lnSpc>
            </a:pPr>
            <a:endParaRPr lang="en-US" sz="2800" dirty="0"/>
          </a:p>
          <a:p>
            <a:endParaRPr lang="en-US" sz="2800"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90600" y="228600"/>
            <a:ext cx="7651750" cy="1143001"/>
          </a:xfrm>
        </p:spPr>
        <p:txBody>
          <a:bodyPr/>
          <a:lstStyle/>
          <a:p>
            <a:r>
              <a:rPr lang="en-US" sz="4400" dirty="0">
                <a:solidFill>
                  <a:srgbClr val="024069"/>
                </a:solidFill>
              </a:rPr>
              <a:t>Versions of Java</a:t>
            </a:r>
          </a:p>
        </p:txBody>
      </p:sp>
      <p:sp>
        <p:nvSpPr>
          <p:cNvPr id="4099" name="Rectangle 3"/>
          <p:cNvSpPr>
            <a:spLocks noGrp="1" noChangeArrowheads="1"/>
          </p:cNvSpPr>
          <p:nvPr>
            <p:ph type="body" idx="1"/>
          </p:nvPr>
        </p:nvSpPr>
        <p:spPr>
          <a:xfrm>
            <a:off x="457200" y="1295399"/>
            <a:ext cx="8382000" cy="4495801"/>
          </a:xfrm>
        </p:spPr>
        <p:txBody>
          <a:bodyPr/>
          <a:lstStyle/>
          <a:p>
            <a:pPr marL="514350" indent="-514350">
              <a:lnSpc>
                <a:spcPct val="90000"/>
              </a:lnSpc>
              <a:buFont typeface="+mj-lt"/>
              <a:buAutoNum type="arabicPeriod" startAt="3"/>
            </a:pPr>
            <a:r>
              <a:rPr lang="en-GB" sz="2800" dirty="0">
                <a:solidFill>
                  <a:srgbClr val="024069"/>
                </a:solidFill>
              </a:rPr>
              <a:t>Java Platform Enterprise Edition (Java EE)</a:t>
            </a:r>
          </a:p>
          <a:p>
            <a:pPr lvl="1">
              <a:lnSpc>
                <a:spcPct val="90000"/>
              </a:lnSpc>
            </a:pPr>
            <a:r>
              <a:rPr lang="en-GB" sz="2400" dirty="0"/>
              <a:t>For business applications, web services, mission-critical systems</a:t>
            </a:r>
          </a:p>
          <a:p>
            <a:pPr lvl="1">
              <a:lnSpc>
                <a:spcPct val="90000"/>
              </a:lnSpc>
            </a:pPr>
            <a:r>
              <a:rPr lang="en-GB" sz="2400" dirty="0"/>
              <a:t>Transaction processing, databases, distribution, replication</a:t>
            </a:r>
          </a:p>
          <a:p>
            <a:endParaRPr lang="en-US" noProof="1"/>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34</a:t>
            </a:fld>
            <a:endParaRPr lang="en-US" dirty="0"/>
          </a:p>
        </p:txBody>
      </p:sp>
    </p:spTree>
    <p:extLst>
      <p:ext uri="{BB962C8B-B14F-4D97-AF65-F5344CB8AC3E}">
        <p14:creationId xmlns:p14="http://schemas.microsoft.com/office/powerpoint/2010/main" val="24574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500"/>
                                  </p:stCondLst>
                                  <p:childTnLst>
                                    <p:animRot by="21600000">
                                      <p:cBhvr>
                                        <p:cTn id="11"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457200" y="1295399"/>
            <a:ext cx="8229600" cy="4495801"/>
          </a:xfrm>
        </p:spPr>
        <p:txBody>
          <a:bodyPr/>
          <a:lstStyle/>
          <a:p>
            <a:pPr>
              <a:buNone/>
            </a:pPr>
            <a:endParaRPr lang="en-US" sz="7200" noProof="1">
              <a:solidFill>
                <a:srgbClr val="024069"/>
              </a:solidFill>
            </a:endParaRPr>
          </a:p>
          <a:p>
            <a:pPr marL="0" indent="0" algn="ctr">
              <a:buNone/>
            </a:pPr>
            <a:r>
              <a:rPr lang="en-US" sz="7200" noProof="1">
                <a:solidFill>
                  <a:srgbClr val="024069"/>
                </a:solidFill>
              </a:rPr>
              <a:t>Thank You</a:t>
            </a:r>
          </a:p>
        </p:txBody>
      </p:sp>
      <p:grpSp>
        <p:nvGrpSpPr>
          <p:cNvPr id="2" name="Group 11"/>
          <p:cNvGrpSpPr>
            <a:grpSpLocks/>
          </p:cNvGrpSpPr>
          <p:nvPr/>
        </p:nvGrpSpPr>
        <p:grpSpPr bwMode="auto">
          <a:xfrm>
            <a:off x="609600" y="533400"/>
            <a:ext cx="303213" cy="303213"/>
            <a:chOff x="703" y="300"/>
            <a:chExt cx="181" cy="181"/>
          </a:xfrm>
        </p:grpSpPr>
        <p:sp>
          <p:nvSpPr>
            <p:cNvPr id="4108" name="Freeform 12"/>
            <p:cNvSpPr>
              <a:spLocks/>
            </p:cNvSpPr>
            <p:nvPr/>
          </p:nvSpPr>
          <p:spPr bwMode="auto">
            <a:xfrm>
              <a:off x="736" y="300"/>
              <a:ext cx="81" cy="46"/>
            </a:xfrm>
            <a:custGeom>
              <a:avLst/>
              <a:gdLst/>
              <a:ahLst/>
              <a:cxnLst>
                <a:cxn ang="0">
                  <a:pos x="247" y="124"/>
                </a:cxn>
                <a:cxn ang="0">
                  <a:pos x="283" y="11"/>
                </a:cxn>
                <a:cxn ang="0">
                  <a:pos x="283" y="11"/>
                </a:cxn>
                <a:cxn ang="0">
                  <a:pos x="264" y="6"/>
                </a:cxn>
                <a:cxn ang="0">
                  <a:pos x="244" y="3"/>
                </a:cxn>
                <a:cxn ang="0">
                  <a:pos x="226" y="2"/>
                </a:cxn>
                <a:cxn ang="0">
                  <a:pos x="206" y="0"/>
                </a:cxn>
                <a:cxn ang="0">
                  <a:pos x="187" y="0"/>
                </a:cxn>
                <a:cxn ang="0">
                  <a:pos x="169" y="2"/>
                </a:cxn>
                <a:cxn ang="0">
                  <a:pos x="150" y="4"/>
                </a:cxn>
                <a:cxn ang="0">
                  <a:pos x="131" y="7"/>
                </a:cxn>
                <a:cxn ang="0">
                  <a:pos x="114" y="12"/>
                </a:cxn>
                <a:cxn ang="0">
                  <a:pos x="97" y="18"/>
                </a:cxn>
                <a:cxn ang="0">
                  <a:pos x="79" y="24"/>
                </a:cxn>
                <a:cxn ang="0">
                  <a:pos x="62" y="32"/>
                </a:cxn>
                <a:cxn ang="0">
                  <a:pos x="45" y="40"/>
                </a:cxn>
                <a:cxn ang="0">
                  <a:pos x="29" y="49"/>
                </a:cxn>
                <a:cxn ang="0">
                  <a:pos x="14" y="60"/>
                </a:cxn>
                <a:cxn ang="0">
                  <a:pos x="0" y="71"/>
                </a:cxn>
                <a:cxn ang="0">
                  <a:pos x="79" y="160"/>
                </a:cxn>
                <a:cxn ang="0">
                  <a:pos x="79" y="160"/>
                </a:cxn>
                <a:cxn ang="0">
                  <a:pos x="97" y="147"/>
                </a:cxn>
                <a:cxn ang="0">
                  <a:pos x="116" y="136"/>
                </a:cxn>
                <a:cxn ang="0">
                  <a:pos x="136" y="128"/>
                </a:cxn>
                <a:cxn ang="0">
                  <a:pos x="157" y="123"/>
                </a:cxn>
                <a:cxn ang="0">
                  <a:pos x="179" y="119"/>
                </a:cxn>
                <a:cxn ang="0">
                  <a:pos x="201" y="118"/>
                </a:cxn>
                <a:cxn ang="0">
                  <a:pos x="223" y="120"/>
                </a:cxn>
                <a:cxn ang="0">
                  <a:pos x="247" y="124"/>
                </a:cxn>
                <a:cxn ang="0">
                  <a:pos x="247" y="124"/>
                </a:cxn>
              </a:cxnLst>
              <a:rect l="0" t="0" r="r" b="b"/>
              <a:pathLst>
                <a:path w="283" h="160">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w="9525">
              <a:noFill/>
              <a:round/>
              <a:headEnd/>
              <a:tailEnd/>
            </a:ln>
          </p:spPr>
          <p:txBody>
            <a:bodyPr/>
            <a:lstStyle/>
            <a:p>
              <a:endParaRPr lang="en-US" dirty="0"/>
            </a:p>
          </p:txBody>
        </p:sp>
        <p:sp>
          <p:nvSpPr>
            <p:cNvPr id="4109" name="Freeform 13"/>
            <p:cNvSpPr>
              <a:spLocks/>
            </p:cNvSpPr>
            <p:nvPr/>
          </p:nvSpPr>
          <p:spPr bwMode="auto">
            <a:xfrm>
              <a:off x="835" y="376"/>
              <a:ext cx="49" cy="79"/>
            </a:xfrm>
            <a:custGeom>
              <a:avLst/>
              <a:gdLst/>
              <a:ahLst/>
              <a:cxnLst>
                <a:cxn ang="0">
                  <a:pos x="44" y="113"/>
                </a:cxn>
                <a:cxn ang="0">
                  <a:pos x="44" y="113"/>
                </a:cxn>
                <a:cxn ang="0">
                  <a:pos x="36" y="134"/>
                </a:cxn>
                <a:cxn ang="0">
                  <a:pos x="26" y="154"/>
                </a:cxn>
                <a:cxn ang="0">
                  <a:pos x="14" y="171"/>
                </a:cxn>
                <a:cxn ang="0">
                  <a:pos x="0" y="188"/>
                </a:cxn>
                <a:cxn ang="0">
                  <a:pos x="79" y="276"/>
                </a:cxn>
                <a:cxn ang="0">
                  <a:pos x="79" y="276"/>
                </a:cxn>
                <a:cxn ang="0">
                  <a:pos x="92" y="263"/>
                </a:cxn>
                <a:cxn ang="0">
                  <a:pos x="104" y="249"/>
                </a:cxn>
                <a:cxn ang="0">
                  <a:pos x="115" y="234"/>
                </a:cxn>
                <a:cxn ang="0">
                  <a:pos x="125" y="219"/>
                </a:cxn>
                <a:cxn ang="0">
                  <a:pos x="135" y="203"/>
                </a:cxn>
                <a:cxn ang="0">
                  <a:pos x="143" y="185"/>
                </a:cxn>
                <a:cxn ang="0">
                  <a:pos x="150" y="168"/>
                </a:cxn>
                <a:cxn ang="0">
                  <a:pos x="157" y="149"/>
                </a:cxn>
                <a:cxn ang="0">
                  <a:pos x="157" y="149"/>
                </a:cxn>
                <a:cxn ang="0">
                  <a:pos x="163" y="131"/>
                </a:cxn>
                <a:cxn ang="0">
                  <a:pos x="166" y="112"/>
                </a:cxn>
                <a:cxn ang="0">
                  <a:pos x="170" y="93"/>
                </a:cxn>
                <a:cxn ang="0">
                  <a:pos x="172" y="75"/>
                </a:cxn>
                <a:cxn ang="0">
                  <a:pos x="172" y="56"/>
                </a:cxn>
                <a:cxn ang="0">
                  <a:pos x="172" y="38"/>
                </a:cxn>
                <a:cxn ang="0">
                  <a:pos x="171" y="19"/>
                </a:cxn>
                <a:cxn ang="0">
                  <a:pos x="169" y="0"/>
                </a:cxn>
                <a:cxn ang="0">
                  <a:pos x="52" y="26"/>
                </a:cxn>
                <a:cxn ang="0">
                  <a:pos x="52" y="26"/>
                </a:cxn>
                <a:cxn ang="0">
                  <a:pos x="54" y="47"/>
                </a:cxn>
                <a:cxn ang="0">
                  <a:pos x="54" y="69"/>
                </a:cxn>
                <a:cxn ang="0">
                  <a:pos x="50" y="91"/>
                </a:cxn>
                <a:cxn ang="0">
                  <a:pos x="44" y="113"/>
                </a:cxn>
                <a:cxn ang="0">
                  <a:pos x="44" y="113"/>
                </a:cxn>
              </a:cxnLst>
              <a:rect l="0" t="0" r="r" b="b"/>
              <a:pathLst>
                <a:path w="172" h="276">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w="9525">
              <a:noFill/>
              <a:round/>
              <a:headEnd/>
              <a:tailEnd/>
            </a:ln>
          </p:spPr>
          <p:txBody>
            <a:bodyPr/>
            <a:lstStyle/>
            <a:p>
              <a:endParaRPr lang="en-US" dirty="0"/>
            </a:p>
          </p:txBody>
        </p:sp>
        <p:sp>
          <p:nvSpPr>
            <p:cNvPr id="4110" name="Freeform 14"/>
            <p:cNvSpPr>
              <a:spLocks/>
            </p:cNvSpPr>
            <p:nvPr/>
          </p:nvSpPr>
          <p:spPr bwMode="auto">
            <a:xfrm>
              <a:off x="703" y="326"/>
              <a:ext cx="50" cy="79"/>
            </a:xfrm>
            <a:custGeom>
              <a:avLst/>
              <a:gdLst/>
              <a:ahLst/>
              <a:cxnLst>
                <a:cxn ang="0">
                  <a:pos x="128" y="163"/>
                </a:cxn>
                <a:cxn ang="0">
                  <a:pos x="128" y="163"/>
                </a:cxn>
                <a:cxn ang="0">
                  <a:pos x="136" y="142"/>
                </a:cxn>
                <a:cxn ang="0">
                  <a:pos x="146" y="122"/>
                </a:cxn>
                <a:cxn ang="0">
                  <a:pos x="159" y="105"/>
                </a:cxn>
                <a:cxn ang="0">
                  <a:pos x="173" y="89"/>
                </a:cxn>
                <a:cxn ang="0">
                  <a:pos x="94" y="0"/>
                </a:cxn>
                <a:cxn ang="0">
                  <a:pos x="94" y="0"/>
                </a:cxn>
                <a:cxn ang="0">
                  <a:pos x="81" y="13"/>
                </a:cxn>
                <a:cxn ang="0">
                  <a:pos x="69" y="27"/>
                </a:cxn>
                <a:cxn ang="0">
                  <a:pos x="58" y="42"/>
                </a:cxn>
                <a:cxn ang="0">
                  <a:pos x="47" y="57"/>
                </a:cxn>
                <a:cxn ang="0">
                  <a:pos x="38" y="74"/>
                </a:cxn>
                <a:cxn ang="0">
                  <a:pos x="30" y="91"/>
                </a:cxn>
                <a:cxn ang="0">
                  <a:pos x="22" y="108"/>
                </a:cxn>
                <a:cxn ang="0">
                  <a:pos x="16" y="127"/>
                </a:cxn>
                <a:cxn ang="0">
                  <a:pos x="16" y="127"/>
                </a:cxn>
                <a:cxn ang="0">
                  <a:pos x="10" y="146"/>
                </a:cxn>
                <a:cxn ang="0">
                  <a:pos x="6" y="164"/>
                </a:cxn>
                <a:cxn ang="0">
                  <a:pos x="3" y="183"/>
                </a:cxn>
                <a:cxn ang="0">
                  <a:pos x="1" y="201"/>
                </a:cxn>
                <a:cxn ang="0">
                  <a:pos x="0" y="220"/>
                </a:cxn>
                <a:cxn ang="0">
                  <a:pos x="1" y="239"/>
                </a:cxn>
                <a:cxn ang="0">
                  <a:pos x="2" y="257"/>
                </a:cxn>
                <a:cxn ang="0">
                  <a:pos x="4" y="276"/>
                </a:cxn>
                <a:cxn ang="0">
                  <a:pos x="121" y="250"/>
                </a:cxn>
                <a:cxn ang="0">
                  <a:pos x="121" y="250"/>
                </a:cxn>
                <a:cxn ang="0">
                  <a:pos x="118" y="229"/>
                </a:cxn>
                <a:cxn ang="0">
                  <a:pos x="119" y="207"/>
                </a:cxn>
                <a:cxn ang="0">
                  <a:pos x="122" y="185"/>
                </a:cxn>
                <a:cxn ang="0">
                  <a:pos x="128" y="163"/>
                </a:cxn>
                <a:cxn ang="0">
                  <a:pos x="128" y="163"/>
                </a:cxn>
              </a:cxnLst>
              <a:rect l="0" t="0" r="r" b="b"/>
              <a:pathLst>
                <a:path w="173" h="276">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w="9525">
              <a:noFill/>
              <a:round/>
              <a:headEnd/>
              <a:tailEnd/>
            </a:ln>
          </p:spPr>
          <p:txBody>
            <a:bodyPr/>
            <a:lstStyle/>
            <a:p>
              <a:endParaRPr lang="en-US" dirty="0"/>
            </a:p>
          </p:txBody>
        </p:sp>
        <p:sp>
          <p:nvSpPr>
            <p:cNvPr id="4111" name="Freeform 15"/>
            <p:cNvSpPr>
              <a:spLocks/>
            </p:cNvSpPr>
            <p:nvPr/>
          </p:nvSpPr>
          <p:spPr bwMode="auto">
            <a:xfrm>
              <a:off x="706" y="407"/>
              <a:ext cx="66" cy="68"/>
            </a:xfrm>
            <a:custGeom>
              <a:avLst/>
              <a:gdLst/>
              <a:ahLst/>
              <a:cxnLst>
                <a:cxn ang="0">
                  <a:pos x="115" y="0"/>
                </a:cxn>
                <a:cxn ang="0">
                  <a:pos x="0" y="24"/>
                </a:cxn>
                <a:cxn ang="0">
                  <a:pos x="0" y="24"/>
                </a:cxn>
                <a:cxn ang="0">
                  <a:pos x="5" y="41"/>
                </a:cxn>
                <a:cxn ang="0">
                  <a:pos x="11" y="59"/>
                </a:cxn>
                <a:cxn ang="0">
                  <a:pos x="19" y="76"/>
                </a:cxn>
                <a:cxn ang="0">
                  <a:pos x="27" y="93"/>
                </a:cxn>
                <a:cxn ang="0">
                  <a:pos x="36" y="109"/>
                </a:cxn>
                <a:cxn ang="0">
                  <a:pos x="47" y="124"/>
                </a:cxn>
                <a:cxn ang="0">
                  <a:pos x="57" y="139"/>
                </a:cxn>
                <a:cxn ang="0">
                  <a:pos x="69" y="153"/>
                </a:cxn>
                <a:cxn ang="0">
                  <a:pos x="82" y="167"/>
                </a:cxn>
                <a:cxn ang="0">
                  <a:pos x="96" y="180"/>
                </a:cxn>
                <a:cxn ang="0">
                  <a:pos x="110" y="191"/>
                </a:cxn>
                <a:cxn ang="0">
                  <a:pos x="126" y="203"/>
                </a:cxn>
                <a:cxn ang="0">
                  <a:pos x="141" y="213"/>
                </a:cxn>
                <a:cxn ang="0">
                  <a:pos x="158" y="223"/>
                </a:cxn>
                <a:cxn ang="0">
                  <a:pos x="176" y="231"/>
                </a:cxn>
                <a:cxn ang="0">
                  <a:pos x="193" y="239"/>
                </a:cxn>
                <a:cxn ang="0">
                  <a:pos x="230" y="126"/>
                </a:cxn>
                <a:cxn ang="0">
                  <a:pos x="230" y="126"/>
                </a:cxn>
                <a:cxn ang="0">
                  <a:pos x="210" y="116"/>
                </a:cxn>
                <a:cxn ang="0">
                  <a:pos x="191" y="104"/>
                </a:cxn>
                <a:cxn ang="0">
                  <a:pos x="174" y="90"/>
                </a:cxn>
                <a:cxn ang="0">
                  <a:pos x="157" y="75"/>
                </a:cxn>
                <a:cxn ang="0">
                  <a:pos x="144" y="58"/>
                </a:cxn>
                <a:cxn ang="0">
                  <a:pos x="133" y="39"/>
                </a:cxn>
                <a:cxn ang="0">
                  <a:pos x="122" y="19"/>
                </a:cxn>
                <a:cxn ang="0">
                  <a:pos x="115" y="0"/>
                </a:cxn>
                <a:cxn ang="0">
                  <a:pos x="115" y="0"/>
                </a:cxn>
              </a:cxnLst>
              <a:rect l="0" t="0" r="r" b="b"/>
              <a:pathLst>
                <a:path w="230" h="239">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w="9525">
              <a:noFill/>
              <a:round/>
              <a:headEnd/>
              <a:tailEnd/>
            </a:ln>
          </p:spPr>
          <p:txBody>
            <a:bodyPr/>
            <a:lstStyle/>
            <a:p>
              <a:endParaRPr lang="en-US" dirty="0"/>
            </a:p>
          </p:txBody>
        </p:sp>
        <p:sp>
          <p:nvSpPr>
            <p:cNvPr id="4112" name="Freeform 16"/>
            <p:cNvSpPr>
              <a:spLocks/>
            </p:cNvSpPr>
            <p:nvPr/>
          </p:nvSpPr>
          <p:spPr bwMode="auto">
            <a:xfrm>
              <a:off x="815" y="306"/>
              <a:ext cx="66" cy="69"/>
            </a:xfrm>
            <a:custGeom>
              <a:avLst/>
              <a:gdLst/>
              <a:ahLst/>
              <a:cxnLst>
                <a:cxn ang="0">
                  <a:pos x="113" y="240"/>
                </a:cxn>
                <a:cxn ang="0">
                  <a:pos x="230" y="214"/>
                </a:cxn>
                <a:cxn ang="0">
                  <a:pos x="230" y="214"/>
                </a:cxn>
                <a:cxn ang="0">
                  <a:pos x="225" y="197"/>
                </a:cxn>
                <a:cxn ang="0">
                  <a:pos x="218" y="179"/>
                </a:cxn>
                <a:cxn ang="0">
                  <a:pos x="211" y="162"/>
                </a:cxn>
                <a:cxn ang="0">
                  <a:pos x="203" y="146"/>
                </a:cxn>
                <a:cxn ang="0">
                  <a:pos x="194" y="129"/>
                </a:cxn>
                <a:cxn ang="0">
                  <a:pos x="183" y="114"/>
                </a:cxn>
                <a:cxn ang="0">
                  <a:pos x="173" y="99"/>
                </a:cxn>
                <a:cxn ang="0">
                  <a:pos x="160" y="85"/>
                </a:cxn>
                <a:cxn ang="0">
                  <a:pos x="147" y="71"/>
                </a:cxn>
                <a:cxn ang="0">
                  <a:pos x="134" y="58"/>
                </a:cxn>
                <a:cxn ang="0">
                  <a:pos x="119" y="47"/>
                </a:cxn>
                <a:cxn ang="0">
                  <a:pos x="104" y="35"/>
                </a:cxn>
                <a:cxn ang="0">
                  <a:pos x="88" y="25"/>
                </a:cxn>
                <a:cxn ang="0">
                  <a:pos x="72" y="15"/>
                </a:cxn>
                <a:cxn ang="0">
                  <a:pos x="54" y="7"/>
                </a:cxn>
                <a:cxn ang="0">
                  <a:pos x="36" y="0"/>
                </a:cxn>
                <a:cxn ang="0">
                  <a:pos x="0" y="112"/>
                </a:cxn>
                <a:cxn ang="0">
                  <a:pos x="0" y="112"/>
                </a:cxn>
                <a:cxn ang="0">
                  <a:pos x="20" y="122"/>
                </a:cxn>
                <a:cxn ang="0">
                  <a:pos x="39" y="134"/>
                </a:cxn>
                <a:cxn ang="0">
                  <a:pos x="57" y="148"/>
                </a:cxn>
                <a:cxn ang="0">
                  <a:pos x="72" y="164"/>
                </a:cxn>
                <a:cxn ang="0">
                  <a:pos x="86" y="181"/>
                </a:cxn>
                <a:cxn ang="0">
                  <a:pos x="97" y="199"/>
                </a:cxn>
                <a:cxn ang="0">
                  <a:pos x="106" y="219"/>
                </a:cxn>
                <a:cxn ang="0">
                  <a:pos x="113" y="240"/>
                </a:cxn>
                <a:cxn ang="0">
                  <a:pos x="113" y="240"/>
                </a:cxn>
              </a:cxnLst>
              <a:rect l="0" t="0" r="r" b="b"/>
              <a:pathLst>
                <a:path w="230" h="24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w="9525">
              <a:noFill/>
              <a:round/>
              <a:headEnd/>
              <a:tailEnd/>
            </a:ln>
          </p:spPr>
          <p:txBody>
            <a:bodyPr/>
            <a:lstStyle/>
            <a:p>
              <a:endParaRPr lang="en-US" dirty="0"/>
            </a:p>
          </p:txBody>
        </p:sp>
        <p:sp>
          <p:nvSpPr>
            <p:cNvPr id="4113" name="Freeform 17"/>
            <p:cNvSpPr>
              <a:spLocks/>
            </p:cNvSpPr>
            <p:nvPr/>
          </p:nvSpPr>
          <p:spPr bwMode="auto">
            <a:xfrm>
              <a:off x="770" y="435"/>
              <a:ext cx="81" cy="46"/>
            </a:xfrm>
            <a:custGeom>
              <a:avLst/>
              <a:gdLst/>
              <a:ahLst/>
              <a:cxnLst>
                <a:cxn ang="0">
                  <a:pos x="37" y="36"/>
                </a:cxn>
                <a:cxn ang="0">
                  <a:pos x="0" y="148"/>
                </a:cxn>
                <a:cxn ang="0">
                  <a:pos x="0" y="148"/>
                </a:cxn>
                <a:cxn ang="0">
                  <a:pos x="19" y="153"/>
                </a:cxn>
                <a:cxn ang="0">
                  <a:pos x="38" y="156"/>
                </a:cxn>
                <a:cxn ang="0">
                  <a:pos x="57" y="158"/>
                </a:cxn>
                <a:cxn ang="0">
                  <a:pos x="76" y="159"/>
                </a:cxn>
                <a:cxn ang="0">
                  <a:pos x="96" y="159"/>
                </a:cxn>
                <a:cxn ang="0">
                  <a:pos x="114" y="158"/>
                </a:cxn>
                <a:cxn ang="0">
                  <a:pos x="133" y="155"/>
                </a:cxn>
                <a:cxn ang="0">
                  <a:pos x="150" y="152"/>
                </a:cxn>
                <a:cxn ang="0">
                  <a:pos x="169" y="147"/>
                </a:cxn>
                <a:cxn ang="0">
                  <a:pos x="186" y="141"/>
                </a:cxn>
                <a:cxn ang="0">
                  <a:pos x="204" y="136"/>
                </a:cxn>
                <a:cxn ang="0">
                  <a:pos x="220" y="127"/>
                </a:cxn>
                <a:cxn ang="0">
                  <a:pos x="238" y="119"/>
                </a:cxn>
                <a:cxn ang="0">
                  <a:pos x="253" y="110"/>
                </a:cxn>
                <a:cxn ang="0">
                  <a:pos x="268" y="99"/>
                </a:cxn>
                <a:cxn ang="0">
                  <a:pos x="283" y="88"/>
                </a:cxn>
                <a:cxn ang="0">
                  <a:pos x="204" y="0"/>
                </a:cxn>
                <a:cxn ang="0">
                  <a:pos x="204" y="0"/>
                </a:cxn>
                <a:cxn ang="0">
                  <a:pos x="185" y="12"/>
                </a:cxn>
                <a:cxn ang="0">
                  <a:pos x="167" y="23"/>
                </a:cxn>
                <a:cxn ang="0">
                  <a:pos x="146" y="31"/>
                </a:cxn>
                <a:cxn ang="0">
                  <a:pos x="125" y="37"/>
                </a:cxn>
                <a:cxn ang="0">
                  <a:pos x="104" y="40"/>
                </a:cxn>
                <a:cxn ang="0">
                  <a:pos x="82" y="41"/>
                </a:cxn>
                <a:cxn ang="0">
                  <a:pos x="59" y="39"/>
                </a:cxn>
                <a:cxn ang="0">
                  <a:pos x="37" y="36"/>
                </a:cxn>
                <a:cxn ang="0">
                  <a:pos x="37" y="36"/>
                </a:cxn>
              </a:cxnLst>
              <a:rect l="0" t="0" r="r" b="b"/>
              <a:pathLst>
                <a:path w="283" h="159">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w="9525">
              <a:noFill/>
              <a:round/>
              <a:headEnd/>
              <a:tailEnd/>
            </a:ln>
          </p:spPr>
          <p:txBody>
            <a:bodyPr/>
            <a:lstStyle/>
            <a:p>
              <a:endParaRPr lang="en-US" dirty="0"/>
            </a:p>
          </p:txBody>
        </p:sp>
      </p:grpSp>
      <p:grpSp>
        <p:nvGrpSpPr>
          <p:cNvPr id="3" name="Group 28"/>
          <p:cNvGrpSpPr>
            <a:grpSpLocks/>
          </p:cNvGrpSpPr>
          <p:nvPr/>
        </p:nvGrpSpPr>
        <p:grpSpPr bwMode="auto">
          <a:xfrm>
            <a:off x="8494713" y="5792788"/>
            <a:ext cx="554037" cy="552450"/>
            <a:chOff x="5369" y="3667"/>
            <a:chExt cx="349" cy="348"/>
          </a:xfrm>
        </p:grpSpPr>
        <p:sp>
          <p:nvSpPr>
            <p:cNvPr id="4125" name="Freeform 29"/>
            <p:cNvSpPr>
              <a:spLocks/>
            </p:cNvSpPr>
            <p:nvPr/>
          </p:nvSpPr>
          <p:spPr bwMode="auto">
            <a:xfrm>
              <a:off x="5396" y="3667"/>
              <a:ext cx="138" cy="112"/>
            </a:xfrm>
            <a:custGeom>
              <a:avLst/>
              <a:gdLst/>
              <a:ahLst/>
              <a:cxnLst>
                <a:cxn ang="0">
                  <a:pos x="182" y="86"/>
                </a:cxn>
                <a:cxn ang="0">
                  <a:pos x="182" y="0"/>
                </a:cxn>
                <a:cxn ang="0">
                  <a:pos x="182" y="0"/>
                </a:cxn>
                <a:cxn ang="0">
                  <a:pos x="154" y="2"/>
                </a:cxn>
                <a:cxn ang="0">
                  <a:pos x="128" y="10"/>
                </a:cxn>
                <a:cxn ang="0">
                  <a:pos x="102" y="18"/>
                </a:cxn>
                <a:cxn ang="0">
                  <a:pos x="78" y="30"/>
                </a:cxn>
                <a:cxn ang="0">
                  <a:pos x="56" y="46"/>
                </a:cxn>
                <a:cxn ang="0">
                  <a:pos x="36" y="64"/>
                </a:cxn>
                <a:cxn ang="0">
                  <a:pos x="16" y="82"/>
                </a:cxn>
                <a:cxn ang="0">
                  <a:pos x="0" y="104"/>
                </a:cxn>
                <a:cxn ang="0">
                  <a:pos x="76" y="148"/>
                </a:cxn>
                <a:cxn ang="0">
                  <a:pos x="76" y="148"/>
                </a:cxn>
                <a:cxn ang="0">
                  <a:pos x="86" y="136"/>
                </a:cxn>
                <a:cxn ang="0">
                  <a:pos x="96" y="124"/>
                </a:cxn>
                <a:cxn ang="0">
                  <a:pos x="108" y="114"/>
                </a:cxn>
                <a:cxn ang="0">
                  <a:pos x="122" y="104"/>
                </a:cxn>
                <a:cxn ang="0">
                  <a:pos x="136" y="98"/>
                </a:cxn>
                <a:cxn ang="0">
                  <a:pos x="150" y="92"/>
                </a:cxn>
                <a:cxn ang="0">
                  <a:pos x="166" y="88"/>
                </a:cxn>
                <a:cxn ang="0">
                  <a:pos x="182" y="86"/>
                </a:cxn>
                <a:cxn ang="0">
                  <a:pos x="182" y="86"/>
                </a:cxn>
              </a:cxnLst>
              <a:rect l="0" t="0" r="r" b="b"/>
              <a:pathLst>
                <a:path w="182" h="148">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w="9525">
              <a:noFill/>
              <a:round/>
              <a:headEnd/>
              <a:tailEnd/>
            </a:ln>
          </p:spPr>
          <p:txBody>
            <a:bodyPr/>
            <a:lstStyle/>
            <a:p>
              <a:endParaRPr lang="en-US" dirty="0"/>
            </a:p>
          </p:txBody>
        </p:sp>
        <p:sp>
          <p:nvSpPr>
            <p:cNvPr id="4126" name="Freeform 30"/>
            <p:cNvSpPr>
              <a:spLocks/>
            </p:cNvSpPr>
            <p:nvPr/>
          </p:nvSpPr>
          <p:spPr bwMode="auto">
            <a:xfrm>
              <a:off x="5642" y="3761"/>
              <a:ext cx="76" cy="160"/>
            </a:xfrm>
            <a:custGeom>
              <a:avLst/>
              <a:gdLst/>
              <a:ahLst/>
              <a:cxnLst>
                <a:cxn ang="0">
                  <a:pos x="14" y="106"/>
                </a:cxn>
                <a:cxn ang="0">
                  <a:pos x="14" y="106"/>
                </a:cxn>
                <a:cxn ang="0">
                  <a:pos x="14" y="122"/>
                </a:cxn>
                <a:cxn ang="0">
                  <a:pos x="10" y="138"/>
                </a:cxn>
                <a:cxn ang="0">
                  <a:pos x="6" y="152"/>
                </a:cxn>
                <a:cxn ang="0">
                  <a:pos x="0" y="168"/>
                </a:cxn>
                <a:cxn ang="0">
                  <a:pos x="74" y="210"/>
                </a:cxn>
                <a:cxn ang="0">
                  <a:pos x="74" y="210"/>
                </a:cxn>
                <a:cxn ang="0">
                  <a:pos x="86" y="186"/>
                </a:cxn>
                <a:cxn ang="0">
                  <a:pos x="94" y="160"/>
                </a:cxn>
                <a:cxn ang="0">
                  <a:pos x="98" y="134"/>
                </a:cxn>
                <a:cxn ang="0">
                  <a:pos x="100" y="106"/>
                </a:cxn>
                <a:cxn ang="0">
                  <a:pos x="100" y="106"/>
                </a:cxn>
                <a:cxn ang="0">
                  <a:pos x="98" y="78"/>
                </a:cxn>
                <a:cxn ang="0">
                  <a:pos x="94" y="50"/>
                </a:cxn>
                <a:cxn ang="0">
                  <a:pos x="86" y="24"/>
                </a:cxn>
                <a:cxn ang="0">
                  <a:pos x="74" y="0"/>
                </a:cxn>
                <a:cxn ang="0">
                  <a:pos x="0" y="44"/>
                </a:cxn>
                <a:cxn ang="0">
                  <a:pos x="0" y="44"/>
                </a:cxn>
                <a:cxn ang="0">
                  <a:pos x="6" y="58"/>
                </a:cxn>
                <a:cxn ang="0">
                  <a:pos x="10" y="72"/>
                </a:cxn>
                <a:cxn ang="0">
                  <a:pos x="14" y="88"/>
                </a:cxn>
                <a:cxn ang="0">
                  <a:pos x="14" y="106"/>
                </a:cxn>
                <a:cxn ang="0">
                  <a:pos x="14" y="106"/>
                </a:cxn>
              </a:cxnLst>
              <a:rect l="0" t="0" r="r" b="b"/>
              <a:pathLst>
                <a:path w="100" h="21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w="9525">
              <a:noFill/>
              <a:round/>
              <a:headEnd/>
              <a:tailEnd/>
            </a:ln>
          </p:spPr>
          <p:txBody>
            <a:bodyPr/>
            <a:lstStyle/>
            <a:p>
              <a:endParaRPr lang="en-US" dirty="0"/>
            </a:p>
          </p:txBody>
        </p:sp>
        <p:sp>
          <p:nvSpPr>
            <p:cNvPr id="4127" name="Freeform 31"/>
            <p:cNvSpPr>
              <a:spLocks/>
            </p:cNvSpPr>
            <p:nvPr/>
          </p:nvSpPr>
          <p:spPr bwMode="auto">
            <a:xfrm>
              <a:off x="5369" y="3761"/>
              <a:ext cx="76" cy="160"/>
            </a:xfrm>
            <a:custGeom>
              <a:avLst/>
              <a:gdLst/>
              <a:ahLst/>
              <a:cxnLst>
                <a:cxn ang="0">
                  <a:pos x="86" y="106"/>
                </a:cxn>
                <a:cxn ang="0">
                  <a:pos x="86" y="106"/>
                </a:cxn>
                <a:cxn ang="0">
                  <a:pos x="86" y="88"/>
                </a:cxn>
                <a:cxn ang="0">
                  <a:pos x="90" y="72"/>
                </a:cxn>
                <a:cxn ang="0">
                  <a:pos x="94" y="58"/>
                </a:cxn>
                <a:cxn ang="0">
                  <a:pos x="100" y="44"/>
                </a:cxn>
                <a:cxn ang="0">
                  <a:pos x="26" y="0"/>
                </a:cxn>
                <a:cxn ang="0">
                  <a:pos x="26" y="0"/>
                </a:cxn>
                <a:cxn ang="0">
                  <a:pos x="14" y="24"/>
                </a:cxn>
                <a:cxn ang="0">
                  <a:pos x="6" y="50"/>
                </a:cxn>
                <a:cxn ang="0">
                  <a:pos x="2" y="78"/>
                </a:cxn>
                <a:cxn ang="0">
                  <a:pos x="0" y="106"/>
                </a:cxn>
                <a:cxn ang="0">
                  <a:pos x="0" y="106"/>
                </a:cxn>
                <a:cxn ang="0">
                  <a:pos x="2" y="134"/>
                </a:cxn>
                <a:cxn ang="0">
                  <a:pos x="6" y="160"/>
                </a:cxn>
                <a:cxn ang="0">
                  <a:pos x="14" y="186"/>
                </a:cxn>
                <a:cxn ang="0">
                  <a:pos x="26" y="210"/>
                </a:cxn>
                <a:cxn ang="0">
                  <a:pos x="100" y="168"/>
                </a:cxn>
                <a:cxn ang="0">
                  <a:pos x="100" y="168"/>
                </a:cxn>
                <a:cxn ang="0">
                  <a:pos x="94" y="152"/>
                </a:cxn>
                <a:cxn ang="0">
                  <a:pos x="90" y="138"/>
                </a:cxn>
                <a:cxn ang="0">
                  <a:pos x="86" y="122"/>
                </a:cxn>
                <a:cxn ang="0">
                  <a:pos x="86" y="106"/>
                </a:cxn>
                <a:cxn ang="0">
                  <a:pos x="86" y="106"/>
                </a:cxn>
              </a:cxnLst>
              <a:rect l="0" t="0" r="r" b="b"/>
              <a:pathLst>
                <a:path w="100" h="21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tx2"/>
            </a:solidFill>
            <a:ln w="9525">
              <a:noFill/>
              <a:round/>
              <a:headEnd/>
              <a:tailEnd/>
            </a:ln>
          </p:spPr>
          <p:txBody>
            <a:bodyPr/>
            <a:lstStyle/>
            <a:p>
              <a:endParaRPr lang="en-US" dirty="0"/>
            </a:p>
          </p:txBody>
        </p:sp>
        <p:sp>
          <p:nvSpPr>
            <p:cNvPr id="4128" name="Freeform 32"/>
            <p:cNvSpPr>
              <a:spLocks/>
            </p:cNvSpPr>
            <p:nvPr/>
          </p:nvSpPr>
          <p:spPr bwMode="auto">
            <a:xfrm>
              <a:off x="5396" y="3902"/>
              <a:ext cx="138" cy="113"/>
            </a:xfrm>
            <a:custGeom>
              <a:avLst/>
              <a:gdLst/>
              <a:ahLst/>
              <a:cxnLst>
                <a:cxn ang="0">
                  <a:pos x="76" y="0"/>
                </a:cxn>
                <a:cxn ang="0">
                  <a:pos x="0" y="44"/>
                </a:cxn>
                <a:cxn ang="0">
                  <a:pos x="0" y="44"/>
                </a:cxn>
                <a:cxn ang="0">
                  <a:pos x="16" y="66"/>
                </a:cxn>
                <a:cxn ang="0">
                  <a:pos x="36" y="84"/>
                </a:cxn>
                <a:cxn ang="0">
                  <a:pos x="56" y="102"/>
                </a:cxn>
                <a:cxn ang="0">
                  <a:pos x="78" y="118"/>
                </a:cxn>
                <a:cxn ang="0">
                  <a:pos x="102" y="130"/>
                </a:cxn>
                <a:cxn ang="0">
                  <a:pos x="128" y="138"/>
                </a:cxn>
                <a:cxn ang="0">
                  <a:pos x="154" y="146"/>
                </a:cxn>
                <a:cxn ang="0">
                  <a:pos x="182" y="148"/>
                </a:cxn>
                <a:cxn ang="0">
                  <a:pos x="182" y="62"/>
                </a:cxn>
                <a:cxn ang="0">
                  <a:pos x="182" y="62"/>
                </a:cxn>
                <a:cxn ang="0">
                  <a:pos x="166" y="60"/>
                </a:cxn>
                <a:cxn ang="0">
                  <a:pos x="150" y="56"/>
                </a:cxn>
                <a:cxn ang="0">
                  <a:pos x="136" y="50"/>
                </a:cxn>
                <a:cxn ang="0">
                  <a:pos x="122" y="44"/>
                </a:cxn>
                <a:cxn ang="0">
                  <a:pos x="108" y="34"/>
                </a:cxn>
                <a:cxn ang="0">
                  <a:pos x="96" y="24"/>
                </a:cxn>
                <a:cxn ang="0">
                  <a:pos x="86" y="14"/>
                </a:cxn>
                <a:cxn ang="0">
                  <a:pos x="76" y="0"/>
                </a:cxn>
                <a:cxn ang="0">
                  <a:pos x="76" y="0"/>
                </a:cxn>
              </a:cxnLst>
              <a:rect l="0" t="0" r="r" b="b"/>
              <a:pathLst>
                <a:path w="182" h="148">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tx2"/>
            </a:solidFill>
            <a:ln w="9525">
              <a:noFill/>
              <a:round/>
              <a:headEnd/>
              <a:tailEnd/>
            </a:ln>
          </p:spPr>
          <p:txBody>
            <a:bodyPr/>
            <a:lstStyle/>
            <a:p>
              <a:endParaRPr lang="en-US" dirty="0"/>
            </a:p>
          </p:txBody>
        </p:sp>
        <p:sp>
          <p:nvSpPr>
            <p:cNvPr id="4129" name="Freeform 33"/>
            <p:cNvSpPr>
              <a:spLocks/>
            </p:cNvSpPr>
            <p:nvPr/>
          </p:nvSpPr>
          <p:spPr bwMode="auto">
            <a:xfrm>
              <a:off x="5553" y="3667"/>
              <a:ext cx="138" cy="112"/>
            </a:xfrm>
            <a:custGeom>
              <a:avLst/>
              <a:gdLst/>
              <a:ahLst/>
              <a:cxnLst>
                <a:cxn ang="0">
                  <a:pos x="106" y="148"/>
                </a:cxn>
                <a:cxn ang="0">
                  <a:pos x="182" y="104"/>
                </a:cxn>
                <a:cxn ang="0">
                  <a:pos x="182" y="104"/>
                </a:cxn>
                <a:cxn ang="0">
                  <a:pos x="166" y="82"/>
                </a:cxn>
                <a:cxn ang="0">
                  <a:pos x="148" y="64"/>
                </a:cxn>
                <a:cxn ang="0">
                  <a:pos x="126" y="46"/>
                </a:cxn>
                <a:cxn ang="0">
                  <a:pos x="104" y="30"/>
                </a:cxn>
                <a:cxn ang="0">
                  <a:pos x="80" y="18"/>
                </a:cxn>
                <a:cxn ang="0">
                  <a:pos x="54" y="10"/>
                </a:cxn>
                <a:cxn ang="0">
                  <a:pos x="28" y="2"/>
                </a:cxn>
                <a:cxn ang="0">
                  <a:pos x="0" y="0"/>
                </a:cxn>
                <a:cxn ang="0">
                  <a:pos x="0" y="86"/>
                </a:cxn>
                <a:cxn ang="0">
                  <a:pos x="0" y="86"/>
                </a:cxn>
                <a:cxn ang="0">
                  <a:pos x="16" y="88"/>
                </a:cxn>
                <a:cxn ang="0">
                  <a:pos x="32" y="92"/>
                </a:cxn>
                <a:cxn ang="0">
                  <a:pos x="46" y="98"/>
                </a:cxn>
                <a:cxn ang="0">
                  <a:pos x="60" y="104"/>
                </a:cxn>
                <a:cxn ang="0">
                  <a:pos x="74" y="114"/>
                </a:cxn>
                <a:cxn ang="0">
                  <a:pos x="86" y="124"/>
                </a:cxn>
                <a:cxn ang="0">
                  <a:pos x="98" y="136"/>
                </a:cxn>
                <a:cxn ang="0">
                  <a:pos x="106" y="148"/>
                </a:cxn>
                <a:cxn ang="0">
                  <a:pos x="106" y="148"/>
                </a:cxn>
              </a:cxnLst>
              <a:rect l="0" t="0" r="r" b="b"/>
              <a:pathLst>
                <a:path w="182" h="148">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w="9525">
              <a:noFill/>
              <a:round/>
              <a:headEnd/>
              <a:tailEnd/>
            </a:ln>
          </p:spPr>
          <p:txBody>
            <a:bodyPr/>
            <a:lstStyle/>
            <a:p>
              <a:endParaRPr lang="en-US" dirty="0"/>
            </a:p>
          </p:txBody>
        </p:sp>
        <p:sp>
          <p:nvSpPr>
            <p:cNvPr id="4130" name="Freeform 34"/>
            <p:cNvSpPr>
              <a:spLocks/>
            </p:cNvSpPr>
            <p:nvPr/>
          </p:nvSpPr>
          <p:spPr bwMode="auto">
            <a:xfrm>
              <a:off x="5553" y="3902"/>
              <a:ext cx="138" cy="113"/>
            </a:xfrm>
            <a:custGeom>
              <a:avLst/>
              <a:gdLst/>
              <a:ahLst/>
              <a:cxnLst>
                <a:cxn ang="0">
                  <a:pos x="0" y="62"/>
                </a:cxn>
                <a:cxn ang="0">
                  <a:pos x="0" y="148"/>
                </a:cxn>
                <a:cxn ang="0">
                  <a:pos x="0" y="148"/>
                </a:cxn>
                <a:cxn ang="0">
                  <a:pos x="28" y="146"/>
                </a:cxn>
                <a:cxn ang="0">
                  <a:pos x="54" y="138"/>
                </a:cxn>
                <a:cxn ang="0">
                  <a:pos x="80" y="130"/>
                </a:cxn>
                <a:cxn ang="0">
                  <a:pos x="104" y="118"/>
                </a:cxn>
                <a:cxn ang="0">
                  <a:pos x="126" y="102"/>
                </a:cxn>
                <a:cxn ang="0">
                  <a:pos x="148" y="84"/>
                </a:cxn>
                <a:cxn ang="0">
                  <a:pos x="166" y="66"/>
                </a:cxn>
                <a:cxn ang="0">
                  <a:pos x="182" y="44"/>
                </a:cxn>
                <a:cxn ang="0">
                  <a:pos x="106" y="0"/>
                </a:cxn>
                <a:cxn ang="0">
                  <a:pos x="106" y="0"/>
                </a:cxn>
                <a:cxn ang="0">
                  <a:pos x="98" y="14"/>
                </a:cxn>
                <a:cxn ang="0">
                  <a:pos x="86" y="24"/>
                </a:cxn>
                <a:cxn ang="0">
                  <a:pos x="74" y="34"/>
                </a:cxn>
                <a:cxn ang="0">
                  <a:pos x="60" y="44"/>
                </a:cxn>
                <a:cxn ang="0">
                  <a:pos x="46" y="50"/>
                </a:cxn>
                <a:cxn ang="0">
                  <a:pos x="32" y="56"/>
                </a:cxn>
                <a:cxn ang="0">
                  <a:pos x="16" y="60"/>
                </a:cxn>
                <a:cxn ang="0">
                  <a:pos x="0" y="62"/>
                </a:cxn>
                <a:cxn ang="0">
                  <a:pos x="0" y="62"/>
                </a:cxn>
              </a:cxnLst>
              <a:rect l="0" t="0" r="r" b="b"/>
              <a:pathLst>
                <a:path w="182" h="148">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w="9525">
              <a:noFill/>
              <a:round/>
              <a:headEnd/>
              <a:tailEnd/>
            </a:ln>
          </p:spPr>
          <p:txBody>
            <a:bodyPr/>
            <a:lstStyle/>
            <a:p>
              <a:endParaRPr lang="en-US" dirty="0"/>
            </a:p>
          </p:txBody>
        </p:sp>
      </p:grpSp>
      <p:grpSp>
        <p:nvGrpSpPr>
          <p:cNvPr id="4" name="Group 35"/>
          <p:cNvGrpSpPr>
            <a:grpSpLocks/>
          </p:cNvGrpSpPr>
          <p:nvPr/>
        </p:nvGrpSpPr>
        <p:grpSpPr bwMode="auto">
          <a:xfrm>
            <a:off x="8113713" y="6221413"/>
            <a:ext cx="554037" cy="552450"/>
            <a:chOff x="5129" y="3937"/>
            <a:chExt cx="349" cy="348"/>
          </a:xfrm>
        </p:grpSpPr>
        <p:sp>
          <p:nvSpPr>
            <p:cNvPr id="4132" name="Freeform 36"/>
            <p:cNvSpPr>
              <a:spLocks/>
            </p:cNvSpPr>
            <p:nvPr/>
          </p:nvSpPr>
          <p:spPr bwMode="auto">
            <a:xfrm>
              <a:off x="5193" y="3937"/>
              <a:ext cx="156" cy="87"/>
            </a:xfrm>
            <a:custGeom>
              <a:avLst/>
              <a:gdLst/>
              <a:ahLst/>
              <a:cxnLst>
                <a:cxn ang="0">
                  <a:pos x="180" y="88"/>
                </a:cxn>
                <a:cxn ang="0">
                  <a:pos x="206" y="8"/>
                </a:cxn>
                <a:cxn ang="0">
                  <a:pos x="206" y="8"/>
                </a:cxn>
                <a:cxn ang="0">
                  <a:pos x="178" y="2"/>
                </a:cxn>
                <a:cxn ang="0">
                  <a:pos x="150" y="0"/>
                </a:cxn>
                <a:cxn ang="0">
                  <a:pos x="124" y="0"/>
                </a:cxn>
                <a:cxn ang="0">
                  <a:pos x="96" y="4"/>
                </a:cxn>
                <a:cxn ang="0">
                  <a:pos x="70" y="12"/>
                </a:cxn>
                <a:cxn ang="0">
                  <a:pos x="46" y="22"/>
                </a:cxn>
                <a:cxn ang="0">
                  <a:pos x="22" y="36"/>
                </a:cxn>
                <a:cxn ang="0">
                  <a:pos x="0" y="50"/>
                </a:cxn>
                <a:cxn ang="0">
                  <a:pos x="58" y="114"/>
                </a:cxn>
                <a:cxn ang="0">
                  <a:pos x="58" y="114"/>
                </a:cxn>
                <a:cxn ang="0">
                  <a:pos x="72" y="106"/>
                </a:cxn>
                <a:cxn ang="0">
                  <a:pos x="86" y="98"/>
                </a:cxn>
                <a:cxn ang="0">
                  <a:pos x="100" y="92"/>
                </a:cxn>
                <a:cxn ang="0">
                  <a:pos x="116" y="88"/>
                </a:cxn>
                <a:cxn ang="0">
                  <a:pos x="130" y="86"/>
                </a:cxn>
                <a:cxn ang="0">
                  <a:pos x="146" y="84"/>
                </a:cxn>
                <a:cxn ang="0">
                  <a:pos x="164" y="86"/>
                </a:cxn>
                <a:cxn ang="0">
                  <a:pos x="180" y="88"/>
                </a:cxn>
                <a:cxn ang="0">
                  <a:pos x="180" y="88"/>
                </a:cxn>
              </a:cxnLst>
              <a:rect l="0" t="0" r="r" b="b"/>
              <a:pathLst>
                <a:path w="206" h="114">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tx1"/>
            </a:solidFill>
            <a:ln w="9525">
              <a:noFill/>
              <a:round/>
              <a:headEnd/>
              <a:tailEnd/>
            </a:ln>
          </p:spPr>
          <p:txBody>
            <a:bodyPr/>
            <a:lstStyle/>
            <a:p>
              <a:endParaRPr lang="en-US" dirty="0"/>
            </a:p>
          </p:txBody>
        </p:sp>
        <p:sp>
          <p:nvSpPr>
            <p:cNvPr id="4133" name="Freeform 37"/>
            <p:cNvSpPr>
              <a:spLocks/>
            </p:cNvSpPr>
            <p:nvPr/>
          </p:nvSpPr>
          <p:spPr bwMode="auto">
            <a:xfrm>
              <a:off x="5383" y="4083"/>
              <a:ext cx="95" cy="152"/>
            </a:xfrm>
            <a:custGeom>
              <a:avLst/>
              <a:gdLst/>
              <a:ahLst/>
              <a:cxnLst>
                <a:cxn ang="0">
                  <a:pos x="32" y="82"/>
                </a:cxn>
                <a:cxn ang="0">
                  <a:pos x="32" y="82"/>
                </a:cxn>
                <a:cxn ang="0">
                  <a:pos x="26" y="96"/>
                </a:cxn>
                <a:cxn ang="0">
                  <a:pos x="20" y="110"/>
                </a:cxn>
                <a:cxn ang="0">
                  <a:pos x="10" y="124"/>
                </a:cxn>
                <a:cxn ang="0">
                  <a:pos x="0" y="136"/>
                </a:cxn>
                <a:cxn ang="0">
                  <a:pos x="58" y="200"/>
                </a:cxn>
                <a:cxn ang="0">
                  <a:pos x="58" y="200"/>
                </a:cxn>
                <a:cxn ang="0">
                  <a:pos x="76" y="180"/>
                </a:cxn>
                <a:cxn ang="0">
                  <a:pos x="92" y="158"/>
                </a:cxn>
                <a:cxn ang="0">
                  <a:pos x="104" y="134"/>
                </a:cxn>
                <a:cxn ang="0">
                  <a:pos x="114" y="108"/>
                </a:cxn>
                <a:cxn ang="0">
                  <a:pos x="114" y="108"/>
                </a:cxn>
                <a:cxn ang="0">
                  <a:pos x="122" y="80"/>
                </a:cxn>
                <a:cxn ang="0">
                  <a:pos x="126" y="54"/>
                </a:cxn>
                <a:cxn ang="0">
                  <a:pos x="126" y="26"/>
                </a:cxn>
                <a:cxn ang="0">
                  <a:pos x="122" y="0"/>
                </a:cxn>
                <a:cxn ang="0">
                  <a:pos x="38" y="18"/>
                </a:cxn>
                <a:cxn ang="0">
                  <a:pos x="38" y="18"/>
                </a:cxn>
                <a:cxn ang="0">
                  <a:pos x="40" y="34"/>
                </a:cxn>
                <a:cxn ang="0">
                  <a:pos x="40" y="50"/>
                </a:cxn>
                <a:cxn ang="0">
                  <a:pos x="38" y="66"/>
                </a:cxn>
                <a:cxn ang="0">
                  <a:pos x="32" y="82"/>
                </a:cxn>
                <a:cxn ang="0">
                  <a:pos x="32" y="82"/>
                </a:cxn>
              </a:cxnLst>
              <a:rect l="0" t="0" r="r" b="b"/>
              <a:pathLst>
                <a:path w="126" h="200">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w="9525">
              <a:noFill/>
              <a:round/>
              <a:headEnd/>
              <a:tailEnd/>
            </a:ln>
          </p:spPr>
          <p:txBody>
            <a:bodyPr/>
            <a:lstStyle/>
            <a:p>
              <a:endParaRPr lang="en-US" dirty="0"/>
            </a:p>
          </p:txBody>
        </p:sp>
        <p:sp>
          <p:nvSpPr>
            <p:cNvPr id="4134" name="Freeform 38"/>
            <p:cNvSpPr>
              <a:spLocks/>
            </p:cNvSpPr>
            <p:nvPr/>
          </p:nvSpPr>
          <p:spPr bwMode="auto">
            <a:xfrm>
              <a:off x="5129" y="3987"/>
              <a:ext cx="96" cy="152"/>
            </a:xfrm>
            <a:custGeom>
              <a:avLst/>
              <a:gdLst/>
              <a:ahLst/>
              <a:cxnLst>
                <a:cxn ang="0">
                  <a:pos x="92" y="118"/>
                </a:cxn>
                <a:cxn ang="0">
                  <a:pos x="92" y="118"/>
                </a:cxn>
                <a:cxn ang="0">
                  <a:pos x="98" y="104"/>
                </a:cxn>
                <a:cxn ang="0">
                  <a:pos x="106" y="88"/>
                </a:cxn>
                <a:cxn ang="0">
                  <a:pos x="116" y="76"/>
                </a:cxn>
                <a:cxn ang="0">
                  <a:pos x="126" y="64"/>
                </a:cxn>
                <a:cxn ang="0">
                  <a:pos x="68" y="0"/>
                </a:cxn>
                <a:cxn ang="0">
                  <a:pos x="68" y="0"/>
                </a:cxn>
                <a:cxn ang="0">
                  <a:pos x="50" y="20"/>
                </a:cxn>
                <a:cxn ang="0">
                  <a:pos x="34" y="42"/>
                </a:cxn>
                <a:cxn ang="0">
                  <a:pos x="22" y="66"/>
                </a:cxn>
                <a:cxn ang="0">
                  <a:pos x="12" y="92"/>
                </a:cxn>
                <a:cxn ang="0">
                  <a:pos x="12" y="92"/>
                </a:cxn>
                <a:cxn ang="0">
                  <a:pos x="4" y="118"/>
                </a:cxn>
                <a:cxn ang="0">
                  <a:pos x="0" y="146"/>
                </a:cxn>
                <a:cxn ang="0">
                  <a:pos x="0" y="174"/>
                </a:cxn>
                <a:cxn ang="0">
                  <a:pos x="4" y="200"/>
                </a:cxn>
                <a:cxn ang="0">
                  <a:pos x="88" y="182"/>
                </a:cxn>
                <a:cxn ang="0">
                  <a:pos x="88" y="182"/>
                </a:cxn>
                <a:cxn ang="0">
                  <a:pos x="86" y="166"/>
                </a:cxn>
                <a:cxn ang="0">
                  <a:pos x="86" y="150"/>
                </a:cxn>
                <a:cxn ang="0">
                  <a:pos x="88" y="134"/>
                </a:cxn>
                <a:cxn ang="0">
                  <a:pos x="92" y="118"/>
                </a:cxn>
                <a:cxn ang="0">
                  <a:pos x="92" y="118"/>
                </a:cxn>
              </a:cxnLst>
              <a:rect l="0" t="0" r="r" b="b"/>
              <a:pathLst>
                <a:path w="126" h="200">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w="9525">
              <a:noFill/>
              <a:round/>
              <a:headEnd/>
              <a:tailEnd/>
            </a:ln>
          </p:spPr>
          <p:txBody>
            <a:bodyPr/>
            <a:lstStyle/>
            <a:p>
              <a:endParaRPr lang="en-US" dirty="0"/>
            </a:p>
          </p:txBody>
        </p:sp>
        <p:sp>
          <p:nvSpPr>
            <p:cNvPr id="4135" name="Freeform 39"/>
            <p:cNvSpPr>
              <a:spLocks/>
            </p:cNvSpPr>
            <p:nvPr/>
          </p:nvSpPr>
          <p:spPr bwMode="auto">
            <a:xfrm>
              <a:off x="5135" y="4142"/>
              <a:ext cx="126" cy="132"/>
            </a:xfrm>
            <a:custGeom>
              <a:avLst/>
              <a:gdLst/>
              <a:ahLst/>
              <a:cxnLst>
                <a:cxn ang="0">
                  <a:pos x="84" y="0"/>
                </a:cxn>
                <a:cxn ang="0">
                  <a:pos x="0" y="18"/>
                </a:cxn>
                <a:cxn ang="0">
                  <a:pos x="0" y="18"/>
                </a:cxn>
                <a:cxn ang="0">
                  <a:pos x="8" y="44"/>
                </a:cxn>
                <a:cxn ang="0">
                  <a:pos x="20" y="68"/>
                </a:cxn>
                <a:cxn ang="0">
                  <a:pos x="34" y="90"/>
                </a:cxn>
                <a:cxn ang="0">
                  <a:pos x="50" y="112"/>
                </a:cxn>
                <a:cxn ang="0">
                  <a:pos x="70" y="130"/>
                </a:cxn>
                <a:cxn ang="0">
                  <a:pos x="90" y="148"/>
                </a:cxn>
                <a:cxn ang="0">
                  <a:pos x="114" y="162"/>
                </a:cxn>
                <a:cxn ang="0">
                  <a:pos x="140" y="174"/>
                </a:cxn>
                <a:cxn ang="0">
                  <a:pos x="166" y="92"/>
                </a:cxn>
                <a:cxn ang="0">
                  <a:pos x="166" y="92"/>
                </a:cxn>
                <a:cxn ang="0">
                  <a:pos x="152" y="84"/>
                </a:cxn>
                <a:cxn ang="0">
                  <a:pos x="138" y="76"/>
                </a:cxn>
                <a:cxn ang="0">
                  <a:pos x="126" y="66"/>
                </a:cxn>
                <a:cxn ang="0">
                  <a:pos x="114" y="54"/>
                </a:cxn>
                <a:cxn ang="0">
                  <a:pos x="104" y="42"/>
                </a:cxn>
                <a:cxn ang="0">
                  <a:pos x="96" y="28"/>
                </a:cxn>
                <a:cxn ang="0">
                  <a:pos x="90" y="14"/>
                </a:cxn>
                <a:cxn ang="0">
                  <a:pos x="84" y="0"/>
                </a:cxn>
                <a:cxn ang="0">
                  <a:pos x="84" y="0"/>
                </a:cxn>
              </a:cxnLst>
              <a:rect l="0" t="0" r="r" b="b"/>
              <a:pathLst>
                <a:path w="166" h="174">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w="9525">
              <a:noFill/>
              <a:round/>
              <a:headEnd/>
              <a:tailEnd/>
            </a:ln>
          </p:spPr>
          <p:txBody>
            <a:bodyPr/>
            <a:lstStyle/>
            <a:p>
              <a:endParaRPr lang="en-US" dirty="0"/>
            </a:p>
          </p:txBody>
        </p:sp>
        <p:sp>
          <p:nvSpPr>
            <p:cNvPr id="4136" name="Freeform 40"/>
            <p:cNvSpPr>
              <a:spLocks/>
            </p:cNvSpPr>
            <p:nvPr/>
          </p:nvSpPr>
          <p:spPr bwMode="auto">
            <a:xfrm>
              <a:off x="5345" y="3948"/>
              <a:ext cx="127" cy="132"/>
            </a:xfrm>
            <a:custGeom>
              <a:avLst/>
              <a:gdLst/>
              <a:ahLst/>
              <a:cxnLst>
                <a:cxn ang="0">
                  <a:pos x="84" y="174"/>
                </a:cxn>
                <a:cxn ang="0">
                  <a:pos x="168" y="156"/>
                </a:cxn>
                <a:cxn ang="0">
                  <a:pos x="168" y="156"/>
                </a:cxn>
                <a:cxn ang="0">
                  <a:pos x="160" y="130"/>
                </a:cxn>
                <a:cxn ang="0">
                  <a:pos x="148" y="106"/>
                </a:cxn>
                <a:cxn ang="0">
                  <a:pos x="134" y="84"/>
                </a:cxn>
                <a:cxn ang="0">
                  <a:pos x="118" y="62"/>
                </a:cxn>
                <a:cxn ang="0">
                  <a:pos x="98" y="44"/>
                </a:cxn>
                <a:cxn ang="0">
                  <a:pos x="76" y="26"/>
                </a:cxn>
                <a:cxn ang="0">
                  <a:pos x="54" y="12"/>
                </a:cxn>
                <a:cxn ang="0">
                  <a:pos x="28" y="0"/>
                </a:cxn>
                <a:cxn ang="0">
                  <a:pos x="0" y="82"/>
                </a:cxn>
                <a:cxn ang="0">
                  <a:pos x="0" y="82"/>
                </a:cxn>
                <a:cxn ang="0">
                  <a:pos x="16" y="90"/>
                </a:cxn>
                <a:cxn ang="0">
                  <a:pos x="30" y="98"/>
                </a:cxn>
                <a:cxn ang="0">
                  <a:pos x="42" y="108"/>
                </a:cxn>
                <a:cxn ang="0">
                  <a:pos x="54" y="120"/>
                </a:cxn>
                <a:cxn ang="0">
                  <a:pos x="64" y="132"/>
                </a:cxn>
                <a:cxn ang="0">
                  <a:pos x="72" y="144"/>
                </a:cxn>
                <a:cxn ang="0">
                  <a:pos x="78" y="160"/>
                </a:cxn>
                <a:cxn ang="0">
                  <a:pos x="84" y="174"/>
                </a:cxn>
                <a:cxn ang="0">
                  <a:pos x="84" y="174"/>
                </a:cxn>
              </a:cxnLst>
              <a:rect l="0" t="0" r="r" b="b"/>
              <a:pathLst>
                <a:path w="168" h="174">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tx1"/>
            </a:solidFill>
            <a:ln w="9525">
              <a:noFill/>
              <a:round/>
              <a:headEnd/>
              <a:tailEnd/>
            </a:ln>
          </p:spPr>
          <p:txBody>
            <a:bodyPr/>
            <a:lstStyle/>
            <a:p>
              <a:endParaRPr lang="en-US" dirty="0"/>
            </a:p>
          </p:txBody>
        </p:sp>
        <p:sp>
          <p:nvSpPr>
            <p:cNvPr id="4137" name="Freeform 41"/>
            <p:cNvSpPr>
              <a:spLocks/>
            </p:cNvSpPr>
            <p:nvPr/>
          </p:nvSpPr>
          <p:spPr bwMode="auto">
            <a:xfrm>
              <a:off x="5258" y="4197"/>
              <a:ext cx="156" cy="88"/>
            </a:xfrm>
            <a:custGeom>
              <a:avLst/>
              <a:gdLst/>
              <a:ahLst/>
              <a:cxnLst>
                <a:cxn ang="0">
                  <a:pos x="26" y="26"/>
                </a:cxn>
                <a:cxn ang="0">
                  <a:pos x="0" y="108"/>
                </a:cxn>
                <a:cxn ang="0">
                  <a:pos x="0" y="108"/>
                </a:cxn>
                <a:cxn ang="0">
                  <a:pos x="28" y="114"/>
                </a:cxn>
                <a:cxn ang="0">
                  <a:pos x="56" y="116"/>
                </a:cxn>
                <a:cxn ang="0">
                  <a:pos x="82" y="116"/>
                </a:cxn>
                <a:cxn ang="0">
                  <a:pos x="110" y="112"/>
                </a:cxn>
                <a:cxn ang="0">
                  <a:pos x="136" y="104"/>
                </a:cxn>
                <a:cxn ang="0">
                  <a:pos x="160" y="94"/>
                </a:cxn>
                <a:cxn ang="0">
                  <a:pos x="184" y="80"/>
                </a:cxn>
                <a:cxn ang="0">
                  <a:pos x="206" y="64"/>
                </a:cxn>
                <a:cxn ang="0">
                  <a:pos x="148" y="0"/>
                </a:cxn>
                <a:cxn ang="0">
                  <a:pos x="148" y="0"/>
                </a:cxn>
                <a:cxn ang="0">
                  <a:pos x="134" y="10"/>
                </a:cxn>
                <a:cxn ang="0">
                  <a:pos x="120" y="18"/>
                </a:cxn>
                <a:cxn ang="0">
                  <a:pos x="106" y="24"/>
                </a:cxn>
                <a:cxn ang="0">
                  <a:pos x="90" y="28"/>
                </a:cxn>
                <a:cxn ang="0">
                  <a:pos x="74" y="30"/>
                </a:cxn>
                <a:cxn ang="0">
                  <a:pos x="58" y="30"/>
                </a:cxn>
                <a:cxn ang="0">
                  <a:pos x="42" y="30"/>
                </a:cxn>
                <a:cxn ang="0">
                  <a:pos x="26" y="26"/>
                </a:cxn>
                <a:cxn ang="0">
                  <a:pos x="26" y="26"/>
                </a:cxn>
              </a:cxnLst>
              <a:rect l="0" t="0" r="r" b="b"/>
              <a:pathLst>
                <a:path w="206" h="11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w="9525">
              <a:noFill/>
              <a:round/>
              <a:headEnd/>
              <a:tailEnd/>
            </a:ln>
          </p:spPr>
          <p:txBody>
            <a:bodyPr/>
            <a:lstStyle/>
            <a:p>
              <a:endParaRPr lang="en-US" dirty="0"/>
            </a:p>
          </p:txBody>
        </p:sp>
      </p:grpSp>
      <p:grpSp>
        <p:nvGrpSpPr>
          <p:cNvPr id="5" name="Group 42"/>
          <p:cNvGrpSpPr>
            <a:grpSpLocks/>
          </p:cNvGrpSpPr>
          <p:nvPr/>
        </p:nvGrpSpPr>
        <p:grpSpPr bwMode="auto">
          <a:xfrm>
            <a:off x="8089900" y="5821363"/>
            <a:ext cx="390525" cy="390525"/>
            <a:chOff x="5114" y="3685"/>
            <a:chExt cx="246" cy="246"/>
          </a:xfrm>
        </p:grpSpPr>
        <p:sp>
          <p:nvSpPr>
            <p:cNvPr id="4139" name="Freeform 43"/>
            <p:cNvSpPr>
              <a:spLocks/>
            </p:cNvSpPr>
            <p:nvPr/>
          </p:nvSpPr>
          <p:spPr bwMode="auto">
            <a:xfrm>
              <a:off x="5135" y="3845"/>
              <a:ext cx="94" cy="86"/>
            </a:xfrm>
            <a:custGeom>
              <a:avLst/>
              <a:gdLst/>
              <a:ahLst/>
              <a:cxnLst>
                <a:cxn ang="0">
                  <a:pos x="70" y="0"/>
                </a:cxn>
                <a:cxn ang="0">
                  <a:pos x="0" y="42"/>
                </a:cxn>
                <a:cxn ang="0">
                  <a:pos x="0" y="42"/>
                </a:cxn>
                <a:cxn ang="0">
                  <a:pos x="10" y="56"/>
                </a:cxn>
                <a:cxn ang="0">
                  <a:pos x="22" y="70"/>
                </a:cxn>
                <a:cxn ang="0">
                  <a:pos x="36" y="82"/>
                </a:cxn>
                <a:cxn ang="0">
                  <a:pos x="52" y="92"/>
                </a:cxn>
                <a:cxn ang="0">
                  <a:pos x="68" y="100"/>
                </a:cxn>
                <a:cxn ang="0">
                  <a:pos x="86" y="108"/>
                </a:cxn>
                <a:cxn ang="0">
                  <a:pos x="104" y="112"/>
                </a:cxn>
                <a:cxn ang="0">
                  <a:pos x="124" y="114"/>
                </a:cxn>
                <a:cxn ang="0">
                  <a:pos x="124" y="32"/>
                </a:cxn>
                <a:cxn ang="0">
                  <a:pos x="124" y="32"/>
                </a:cxn>
                <a:cxn ang="0">
                  <a:pos x="108" y="28"/>
                </a:cxn>
                <a:cxn ang="0">
                  <a:pos x="94" y="22"/>
                </a:cxn>
                <a:cxn ang="0">
                  <a:pos x="82" y="12"/>
                </a:cxn>
                <a:cxn ang="0">
                  <a:pos x="70" y="0"/>
                </a:cxn>
                <a:cxn ang="0">
                  <a:pos x="70" y="0"/>
                </a:cxn>
              </a:cxnLst>
              <a:rect l="0" t="0" r="r" b="b"/>
              <a:pathLst>
                <a:path w="124" h="11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w="9525">
              <a:noFill/>
              <a:round/>
              <a:headEnd/>
              <a:tailEnd/>
            </a:ln>
          </p:spPr>
          <p:txBody>
            <a:bodyPr/>
            <a:lstStyle/>
            <a:p>
              <a:endParaRPr lang="en-US" dirty="0"/>
            </a:p>
          </p:txBody>
        </p:sp>
        <p:sp>
          <p:nvSpPr>
            <p:cNvPr id="4140" name="Freeform 44"/>
            <p:cNvSpPr>
              <a:spLocks/>
            </p:cNvSpPr>
            <p:nvPr/>
          </p:nvSpPr>
          <p:spPr bwMode="auto">
            <a:xfrm>
              <a:off x="5135" y="3685"/>
              <a:ext cx="94" cy="87"/>
            </a:xfrm>
            <a:custGeom>
              <a:avLst/>
              <a:gdLst/>
              <a:ahLst/>
              <a:cxnLst>
                <a:cxn ang="0">
                  <a:pos x="124" y="82"/>
                </a:cxn>
                <a:cxn ang="0">
                  <a:pos x="124" y="0"/>
                </a:cxn>
                <a:cxn ang="0">
                  <a:pos x="124" y="0"/>
                </a:cxn>
                <a:cxn ang="0">
                  <a:pos x="104" y="2"/>
                </a:cxn>
                <a:cxn ang="0">
                  <a:pos x="86" y="8"/>
                </a:cxn>
                <a:cxn ang="0">
                  <a:pos x="68" y="14"/>
                </a:cxn>
                <a:cxn ang="0">
                  <a:pos x="52" y="22"/>
                </a:cxn>
                <a:cxn ang="0">
                  <a:pos x="36" y="32"/>
                </a:cxn>
                <a:cxn ang="0">
                  <a:pos x="22" y="44"/>
                </a:cxn>
                <a:cxn ang="0">
                  <a:pos x="10" y="58"/>
                </a:cxn>
                <a:cxn ang="0">
                  <a:pos x="0" y="72"/>
                </a:cxn>
                <a:cxn ang="0">
                  <a:pos x="70" y="114"/>
                </a:cxn>
                <a:cxn ang="0">
                  <a:pos x="70" y="114"/>
                </a:cxn>
                <a:cxn ang="0">
                  <a:pos x="82" y="102"/>
                </a:cxn>
                <a:cxn ang="0">
                  <a:pos x="94" y="92"/>
                </a:cxn>
                <a:cxn ang="0">
                  <a:pos x="108" y="86"/>
                </a:cxn>
                <a:cxn ang="0">
                  <a:pos x="124" y="82"/>
                </a:cxn>
                <a:cxn ang="0">
                  <a:pos x="124" y="82"/>
                </a:cxn>
              </a:cxnLst>
              <a:rect l="0" t="0" r="r" b="b"/>
              <a:pathLst>
                <a:path w="124" h="11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w="9525">
              <a:noFill/>
              <a:round/>
              <a:headEnd/>
              <a:tailEnd/>
            </a:ln>
          </p:spPr>
          <p:txBody>
            <a:bodyPr/>
            <a:lstStyle/>
            <a:p>
              <a:endParaRPr lang="en-US" dirty="0"/>
            </a:p>
          </p:txBody>
        </p:sp>
        <p:sp>
          <p:nvSpPr>
            <p:cNvPr id="4141" name="Freeform 45"/>
            <p:cNvSpPr>
              <a:spLocks/>
            </p:cNvSpPr>
            <p:nvPr/>
          </p:nvSpPr>
          <p:spPr bwMode="auto">
            <a:xfrm>
              <a:off x="5114" y="3754"/>
              <a:ext cx="67" cy="109"/>
            </a:xfrm>
            <a:custGeom>
              <a:avLst/>
              <a:gdLst/>
              <a:ahLst/>
              <a:cxnLst>
                <a:cxn ang="0">
                  <a:pos x="82" y="72"/>
                </a:cxn>
                <a:cxn ang="0">
                  <a:pos x="82" y="72"/>
                </a:cxn>
                <a:cxn ang="0">
                  <a:pos x="84" y="56"/>
                </a:cxn>
                <a:cxn ang="0">
                  <a:pos x="88" y="42"/>
                </a:cxn>
                <a:cxn ang="0">
                  <a:pos x="18" y="0"/>
                </a:cxn>
                <a:cxn ang="0">
                  <a:pos x="18" y="0"/>
                </a:cxn>
                <a:cxn ang="0">
                  <a:pos x="10" y="16"/>
                </a:cxn>
                <a:cxn ang="0">
                  <a:pos x="4" y="34"/>
                </a:cxn>
                <a:cxn ang="0">
                  <a:pos x="2" y="54"/>
                </a:cxn>
                <a:cxn ang="0">
                  <a:pos x="0" y="72"/>
                </a:cxn>
                <a:cxn ang="0">
                  <a:pos x="0" y="72"/>
                </a:cxn>
                <a:cxn ang="0">
                  <a:pos x="2" y="92"/>
                </a:cxn>
                <a:cxn ang="0">
                  <a:pos x="4" y="110"/>
                </a:cxn>
                <a:cxn ang="0">
                  <a:pos x="10" y="128"/>
                </a:cxn>
                <a:cxn ang="0">
                  <a:pos x="18" y="144"/>
                </a:cxn>
                <a:cxn ang="0">
                  <a:pos x="88" y="104"/>
                </a:cxn>
                <a:cxn ang="0">
                  <a:pos x="88" y="104"/>
                </a:cxn>
                <a:cxn ang="0">
                  <a:pos x="84" y="88"/>
                </a:cxn>
                <a:cxn ang="0">
                  <a:pos x="82" y="72"/>
                </a:cxn>
                <a:cxn ang="0">
                  <a:pos x="82" y="72"/>
                </a:cxn>
              </a:cxnLst>
              <a:rect l="0" t="0" r="r" b="b"/>
              <a:pathLst>
                <a:path w="88" h="144">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w="9525">
              <a:noFill/>
              <a:round/>
              <a:headEnd/>
              <a:tailEnd/>
            </a:ln>
          </p:spPr>
          <p:txBody>
            <a:bodyPr/>
            <a:lstStyle/>
            <a:p>
              <a:endParaRPr lang="en-US" dirty="0"/>
            </a:p>
          </p:txBody>
        </p:sp>
        <p:sp>
          <p:nvSpPr>
            <p:cNvPr id="4142" name="Freeform 46"/>
            <p:cNvSpPr>
              <a:spLocks/>
            </p:cNvSpPr>
            <p:nvPr/>
          </p:nvSpPr>
          <p:spPr bwMode="auto">
            <a:xfrm>
              <a:off x="5293" y="3754"/>
              <a:ext cx="67" cy="109"/>
            </a:xfrm>
            <a:custGeom>
              <a:avLst/>
              <a:gdLst/>
              <a:ahLst/>
              <a:cxnLst>
                <a:cxn ang="0">
                  <a:pos x="6" y="72"/>
                </a:cxn>
                <a:cxn ang="0">
                  <a:pos x="6" y="72"/>
                </a:cxn>
                <a:cxn ang="0">
                  <a:pos x="6" y="88"/>
                </a:cxn>
                <a:cxn ang="0">
                  <a:pos x="0" y="104"/>
                </a:cxn>
                <a:cxn ang="0">
                  <a:pos x="72" y="144"/>
                </a:cxn>
                <a:cxn ang="0">
                  <a:pos x="72" y="144"/>
                </a:cxn>
                <a:cxn ang="0">
                  <a:pos x="78" y="128"/>
                </a:cxn>
                <a:cxn ang="0">
                  <a:pos x="84" y="110"/>
                </a:cxn>
                <a:cxn ang="0">
                  <a:pos x="88" y="92"/>
                </a:cxn>
                <a:cxn ang="0">
                  <a:pos x="88" y="72"/>
                </a:cxn>
                <a:cxn ang="0">
                  <a:pos x="88" y="72"/>
                </a:cxn>
                <a:cxn ang="0">
                  <a:pos x="88" y="54"/>
                </a:cxn>
                <a:cxn ang="0">
                  <a:pos x="84" y="34"/>
                </a:cxn>
                <a:cxn ang="0">
                  <a:pos x="78" y="16"/>
                </a:cxn>
                <a:cxn ang="0">
                  <a:pos x="72" y="0"/>
                </a:cxn>
                <a:cxn ang="0">
                  <a:pos x="0" y="42"/>
                </a:cxn>
                <a:cxn ang="0">
                  <a:pos x="0" y="42"/>
                </a:cxn>
                <a:cxn ang="0">
                  <a:pos x="6" y="56"/>
                </a:cxn>
                <a:cxn ang="0">
                  <a:pos x="6" y="72"/>
                </a:cxn>
                <a:cxn ang="0">
                  <a:pos x="6" y="72"/>
                </a:cxn>
              </a:cxnLst>
              <a:rect l="0" t="0" r="r" b="b"/>
              <a:pathLst>
                <a:path w="88" h="144">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tx2"/>
            </a:solidFill>
            <a:ln w="9525">
              <a:noFill/>
              <a:round/>
              <a:headEnd/>
              <a:tailEnd/>
            </a:ln>
          </p:spPr>
          <p:txBody>
            <a:bodyPr/>
            <a:lstStyle/>
            <a:p>
              <a:endParaRPr lang="en-US" dirty="0"/>
            </a:p>
          </p:txBody>
        </p:sp>
        <p:sp>
          <p:nvSpPr>
            <p:cNvPr id="4143" name="Freeform 47"/>
            <p:cNvSpPr>
              <a:spLocks/>
            </p:cNvSpPr>
            <p:nvPr/>
          </p:nvSpPr>
          <p:spPr bwMode="auto">
            <a:xfrm>
              <a:off x="5245" y="3845"/>
              <a:ext cx="95" cy="86"/>
            </a:xfrm>
            <a:custGeom>
              <a:avLst/>
              <a:gdLst/>
              <a:ahLst/>
              <a:cxnLst>
                <a:cxn ang="0">
                  <a:pos x="0" y="32"/>
                </a:cxn>
                <a:cxn ang="0">
                  <a:pos x="0" y="114"/>
                </a:cxn>
                <a:cxn ang="0">
                  <a:pos x="0" y="114"/>
                </a:cxn>
                <a:cxn ang="0">
                  <a:pos x="20" y="112"/>
                </a:cxn>
                <a:cxn ang="0">
                  <a:pos x="38" y="108"/>
                </a:cxn>
                <a:cxn ang="0">
                  <a:pos x="56" y="100"/>
                </a:cxn>
                <a:cxn ang="0">
                  <a:pos x="72" y="92"/>
                </a:cxn>
                <a:cxn ang="0">
                  <a:pos x="88" y="82"/>
                </a:cxn>
                <a:cxn ang="0">
                  <a:pos x="102" y="70"/>
                </a:cxn>
                <a:cxn ang="0">
                  <a:pos x="114" y="56"/>
                </a:cxn>
                <a:cxn ang="0">
                  <a:pos x="126" y="42"/>
                </a:cxn>
                <a:cxn ang="0">
                  <a:pos x="54" y="0"/>
                </a:cxn>
                <a:cxn ang="0">
                  <a:pos x="54" y="0"/>
                </a:cxn>
                <a:cxn ang="0">
                  <a:pos x="44" y="12"/>
                </a:cxn>
                <a:cxn ang="0">
                  <a:pos x="30" y="22"/>
                </a:cxn>
                <a:cxn ang="0">
                  <a:pos x="16" y="28"/>
                </a:cxn>
                <a:cxn ang="0">
                  <a:pos x="0" y="32"/>
                </a:cxn>
                <a:cxn ang="0">
                  <a:pos x="0" y="32"/>
                </a:cxn>
              </a:cxnLst>
              <a:rect l="0" t="0" r="r" b="b"/>
              <a:pathLst>
                <a:path w="126" h="114">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tx2"/>
            </a:solidFill>
            <a:ln w="9525">
              <a:noFill/>
              <a:round/>
              <a:headEnd/>
              <a:tailEnd/>
            </a:ln>
          </p:spPr>
          <p:txBody>
            <a:bodyPr/>
            <a:lstStyle/>
            <a:p>
              <a:endParaRPr lang="en-US" dirty="0"/>
            </a:p>
          </p:txBody>
        </p:sp>
        <p:sp>
          <p:nvSpPr>
            <p:cNvPr id="4144" name="Freeform 48"/>
            <p:cNvSpPr>
              <a:spLocks/>
            </p:cNvSpPr>
            <p:nvPr/>
          </p:nvSpPr>
          <p:spPr bwMode="auto">
            <a:xfrm>
              <a:off x="5245" y="3685"/>
              <a:ext cx="95" cy="87"/>
            </a:xfrm>
            <a:custGeom>
              <a:avLst/>
              <a:gdLst/>
              <a:ahLst/>
              <a:cxnLst>
                <a:cxn ang="0">
                  <a:pos x="54" y="114"/>
                </a:cxn>
                <a:cxn ang="0">
                  <a:pos x="126" y="72"/>
                </a:cxn>
                <a:cxn ang="0">
                  <a:pos x="126" y="72"/>
                </a:cxn>
                <a:cxn ang="0">
                  <a:pos x="114" y="58"/>
                </a:cxn>
                <a:cxn ang="0">
                  <a:pos x="102" y="44"/>
                </a:cxn>
                <a:cxn ang="0">
                  <a:pos x="88" y="32"/>
                </a:cxn>
                <a:cxn ang="0">
                  <a:pos x="72" y="22"/>
                </a:cxn>
                <a:cxn ang="0">
                  <a:pos x="56" y="14"/>
                </a:cxn>
                <a:cxn ang="0">
                  <a:pos x="38" y="8"/>
                </a:cxn>
                <a:cxn ang="0">
                  <a:pos x="20" y="2"/>
                </a:cxn>
                <a:cxn ang="0">
                  <a:pos x="0" y="0"/>
                </a:cxn>
                <a:cxn ang="0">
                  <a:pos x="0" y="82"/>
                </a:cxn>
                <a:cxn ang="0">
                  <a:pos x="0" y="82"/>
                </a:cxn>
                <a:cxn ang="0">
                  <a:pos x="16" y="86"/>
                </a:cxn>
                <a:cxn ang="0">
                  <a:pos x="30" y="92"/>
                </a:cxn>
                <a:cxn ang="0">
                  <a:pos x="44" y="102"/>
                </a:cxn>
                <a:cxn ang="0">
                  <a:pos x="54" y="114"/>
                </a:cxn>
                <a:cxn ang="0">
                  <a:pos x="54" y="114"/>
                </a:cxn>
              </a:cxnLst>
              <a:rect l="0" t="0" r="r" b="b"/>
              <a:pathLst>
                <a:path w="126" h="114">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w="9525">
              <a:noFill/>
              <a:round/>
              <a:headEnd/>
              <a:tailEnd/>
            </a:ln>
          </p:spPr>
          <p:txBody>
            <a:bodyPr/>
            <a:lstStyle/>
            <a:p>
              <a:endParaRPr lang="en-US" dirty="0"/>
            </a:p>
          </p:txBody>
        </p:sp>
      </p:grpSp>
      <p:sp>
        <p:nvSpPr>
          <p:cNvPr id="9" name="Slide Number Placeholder 8"/>
          <p:cNvSpPr>
            <a:spLocks noGrp="1"/>
          </p:cNvSpPr>
          <p:nvPr>
            <p:ph type="sldNum" sz="quarter" idx="12"/>
          </p:nvPr>
        </p:nvSpPr>
        <p:spPr/>
        <p:txBody>
          <a:bodyPr/>
          <a:lstStyle/>
          <a:p>
            <a:fld id="{F0065440-4C8F-497D-8DC5-47855554306F}" type="slidenum">
              <a:rPr lang="en-US" smtClean="0"/>
              <a:pPr/>
              <a:t>35</a:t>
            </a:fld>
            <a:endParaRPr lang="en-US" dirty="0"/>
          </a:p>
        </p:txBody>
      </p:sp>
    </p:spTree>
    <p:extLst>
      <p:ext uri="{BB962C8B-B14F-4D97-AF65-F5344CB8AC3E}">
        <p14:creationId xmlns:p14="http://schemas.microsoft.com/office/powerpoint/2010/main" val="251274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3" presetClass="path" presetSubtype="0" accel="50000" decel="50000" fill="hold" nodeType="withEffect">
                                  <p:stCondLst>
                                    <p:cond delay="0"/>
                                  </p:stCondLst>
                                  <p:childTnLst>
                                    <p:animMotion origin="layout" path="M 1.00191 -0.00185 L -2.77778E-6 5.78035E-7 " pathEditMode="relative" rAng="0" ptsTypes="AA">
                                      <p:cBhvr>
                                        <p:cTn id="9" dur="1000" fill="hold"/>
                                        <p:tgtEl>
                                          <p:spTgt spid="2"/>
                                        </p:tgtEl>
                                        <p:attrNameLst>
                                          <p:attrName>ppt_x</p:attrName>
                                          <p:attrName>ppt_y</p:attrName>
                                        </p:attrNameLst>
                                      </p:cBhvr>
                                      <p:rCtr x="-50100" y="100"/>
                                    </p:animMotion>
                                  </p:childTnLst>
                                </p:cTn>
                              </p:par>
                              <p:par>
                                <p:cTn id="10" presetID="8" presetClass="emph" presetSubtype="0" fill="hold" nodeType="withEffect">
                                  <p:stCondLst>
                                    <p:cond delay="0"/>
                                  </p:stCondLst>
                                  <p:childTnLst>
                                    <p:animRot by="21600000">
                                      <p:cBhvr>
                                        <p:cTn id="11" dur="500" fill="hold"/>
                                        <p:tgtEl>
                                          <p:spTgt spid="3"/>
                                        </p:tgtEl>
                                        <p:attrNameLst>
                                          <p:attrName>r</p:attrName>
                                        </p:attrNameLst>
                                      </p:cBhvr>
                                    </p:animRot>
                                  </p:childTnLst>
                                </p:cTn>
                              </p:par>
                              <p:par>
                                <p:cTn id="12" presetID="8" presetClass="emph" presetSubtype="0" fill="hold" nodeType="withEffect">
                                  <p:stCondLst>
                                    <p:cond delay="0"/>
                                  </p:stCondLst>
                                  <p:childTnLst>
                                    <p:animRot by="21600000">
                                      <p:cBhvr>
                                        <p:cTn id="13" dur="500" fill="hold"/>
                                        <p:tgtEl>
                                          <p:spTgt spid="4"/>
                                        </p:tgtEl>
                                        <p:attrNameLst>
                                          <p:attrName>r</p:attrName>
                                        </p:attrNameLst>
                                      </p:cBhvr>
                                    </p:animRot>
                                  </p:childTnLst>
                                </p:cTn>
                              </p:par>
                              <p:par>
                                <p:cTn id="14" presetID="8" presetClass="emph" presetSubtype="0" fill="hold" nodeType="withEffect">
                                  <p:stCondLst>
                                    <p:cond delay="0"/>
                                  </p:stCondLst>
                                  <p:childTnLst>
                                    <p:animRot by="21600000">
                                      <p:cBhvr>
                                        <p:cTn id="15" dur="1000" fill="hold"/>
                                        <p:tgtEl>
                                          <p:spTgt spid="5"/>
                                        </p:tgtEl>
                                        <p:attrNameLst>
                                          <p:attrName>r</p:attrName>
                                        </p:attrNameLst>
                                      </p:cBhvr>
                                    </p:animRot>
                                  </p:childTnLst>
                                </p:cTn>
                              </p:par>
                              <p:par>
                                <p:cTn id="16" presetID="8" presetClass="emph" presetSubtype="0" fill="hold" nodeType="withEffect">
                                  <p:stCondLst>
                                    <p:cond delay="500"/>
                                  </p:stCondLst>
                                  <p:childTnLst>
                                    <p:animRot by="21600000">
                                      <p:cBhvr>
                                        <p:cTn id="17" dur="5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62-mechanical">
  <a:themeElements>
    <a:clrScheme name="m62-mechanical 15">
      <a:dk1>
        <a:srgbClr val="000000"/>
      </a:dk1>
      <a:lt1>
        <a:srgbClr val="FFFFFF"/>
      </a:lt1>
      <a:dk2>
        <a:srgbClr val="000000"/>
      </a:dk2>
      <a:lt2>
        <a:srgbClr val="808080"/>
      </a:lt2>
      <a:accent1>
        <a:srgbClr val="BBE0E3"/>
      </a:accent1>
      <a:accent2>
        <a:srgbClr val="024069"/>
      </a:accent2>
      <a:accent3>
        <a:srgbClr val="FFFFFF"/>
      </a:accent3>
      <a:accent4>
        <a:srgbClr val="000000"/>
      </a:accent4>
      <a:accent5>
        <a:srgbClr val="DAEDEF"/>
      </a:accent5>
      <a:accent6>
        <a:srgbClr val="02395E"/>
      </a:accent6>
      <a:hlink>
        <a:srgbClr val="03548A"/>
      </a:hlink>
      <a:folHlink>
        <a:srgbClr val="027ED1"/>
      </a:folHlink>
    </a:clrScheme>
    <a:fontScheme name="m62-mechanic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62-mechanic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62-mechanic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62-mechanic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62-mechanic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62-mechanic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62-mechanic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62-mechanica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62-mechanic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62-mechanic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62-mechanic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62-mechanic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62-mechanic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62-mechanical 13">
        <a:dk1>
          <a:srgbClr val="000000"/>
        </a:dk1>
        <a:lt1>
          <a:srgbClr val="FFFFFF"/>
        </a:lt1>
        <a:dk2>
          <a:srgbClr val="000000"/>
        </a:dk2>
        <a:lt2>
          <a:srgbClr val="808080"/>
        </a:lt2>
        <a:accent1>
          <a:srgbClr val="BBE0E3"/>
        </a:accent1>
        <a:accent2>
          <a:srgbClr val="024069"/>
        </a:accent2>
        <a:accent3>
          <a:srgbClr val="FFFFFF"/>
        </a:accent3>
        <a:accent4>
          <a:srgbClr val="000000"/>
        </a:accent4>
        <a:accent5>
          <a:srgbClr val="DAEDEF"/>
        </a:accent5>
        <a:accent6>
          <a:srgbClr val="02395E"/>
        </a:accent6>
        <a:hlink>
          <a:srgbClr val="03548A"/>
        </a:hlink>
        <a:folHlink>
          <a:srgbClr val="99CC00"/>
        </a:folHlink>
      </a:clrScheme>
      <a:clrMap bg1="lt1" tx1="dk1" bg2="lt2" tx2="dk2" accent1="accent1" accent2="accent2" accent3="accent3" accent4="accent4" accent5="accent5" accent6="accent6" hlink="hlink" folHlink="folHlink"/>
    </a:extraClrScheme>
    <a:extraClrScheme>
      <a:clrScheme name="m62-mechanical 14">
        <a:dk1>
          <a:srgbClr val="000000"/>
        </a:dk1>
        <a:lt1>
          <a:srgbClr val="FFFFFF"/>
        </a:lt1>
        <a:dk2>
          <a:srgbClr val="000000"/>
        </a:dk2>
        <a:lt2>
          <a:srgbClr val="808080"/>
        </a:lt2>
        <a:accent1>
          <a:srgbClr val="027ED1"/>
        </a:accent1>
        <a:accent2>
          <a:srgbClr val="024069"/>
        </a:accent2>
        <a:accent3>
          <a:srgbClr val="FFFFFF"/>
        </a:accent3>
        <a:accent4>
          <a:srgbClr val="000000"/>
        </a:accent4>
        <a:accent5>
          <a:srgbClr val="AAC0E5"/>
        </a:accent5>
        <a:accent6>
          <a:srgbClr val="02395E"/>
        </a:accent6>
        <a:hlink>
          <a:srgbClr val="03548A"/>
        </a:hlink>
        <a:folHlink>
          <a:srgbClr val="0368AB"/>
        </a:folHlink>
      </a:clrScheme>
      <a:clrMap bg1="lt1" tx1="dk1" bg2="lt2" tx2="dk2" accent1="accent1" accent2="accent2" accent3="accent3" accent4="accent4" accent5="accent5" accent6="accent6" hlink="hlink" folHlink="folHlink"/>
    </a:extraClrScheme>
    <a:extraClrScheme>
      <a:clrScheme name="m62-mechanical 15">
        <a:dk1>
          <a:srgbClr val="000000"/>
        </a:dk1>
        <a:lt1>
          <a:srgbClr val="FFFFFF"/>
        </a:lt1>
        <a:dk2>
          <a:srgbClr val="000000"/>
        </a:dk2>
        <a:lt2>
          <a:srgbClr val="808080"/>
        </a:lt2>
        <a:accent1>
          <a:srgbClr val="BBE0E3"/>
        </a:accent1>
        <a:accent2>
          <a:srgbClr val="024069"/>
        </a:accent2>
        <a:accent3>
          <a:srgbClr val="FFFFFF"/>
        </a:accent3>
        <a:accent4>
          <a:srgbClr val="000000"/>
        </a:accent4>
        <a:accent5>
          <a:srgbClr val="DAEDEF"/>
        </a:accent5>
        <a:accent6>
          <a:srgbClr val="02395E"/>
        </a:accent6>
        <a:hlink>
          <a:srgbClr val="03548A"/>
        </a:hlink>
        <a:folHlink>
          <a:srgbClr val="027ED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It’s not the design of your template">
  <a:themeElements>
    <a:clrScheme name="1_It’s not the design of your template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135971"/>
      </a:hlink>
      <a:folHlink>
        <a:srgbClr val="99CC00"/>
      </a:folHlink>
    </a:clrScheme>
    <a:fontScheme name="1_It’s not the design of your template">
      <a:majorFont>
        <a:latin typeface="Neo San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It’s not the design of your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It’s not the design of your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It’s not the design of your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It’s not the design of your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It’s not the design of your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It’s not the design of your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It’s not the design of your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It’s not the design of your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It’s not the design of your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It’s not the design of your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It’s not the design of your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It’s not the design of your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It’s not the design of your template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135971"/>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m62-mechanical</Template>
  <TotalTime>1998</TotalTime>
  <Words>2406</Words>
  <Application>Microsoft Office PowerPoint</Application>
  <PresentationFormat>On-screen Show (4:3)</PresentationFormat>
  <Paragraphs>345</Paragraphs>
  <Slides>35</Slides>
  <Notes>33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vt:i4>
      </vt:variant>
    </vt:vector>
  </HeadingPairs>
  <TitlesOfParts>
    <vt:vector size="45" baseType="lpstr">
      <vt:lpstr>Arial</vt:lpstr>
      <vt:lpstr>Calibri</vt:lpstr>
      <vt:lpstr>Consolas</vt:lpstr>
      <vt:lpstr>Lucida Console</vt:lpstr>
      <vt:lpstr>Neo Sans</vt:lpstr>
      <vt:lpstr>Segoe UI Symbol</vt:lpstr>
      <vt:lpstr>Times New Roman</vt:lpstr>
      <vt:lpstr>Wingdings</vt:lpstr>
      <vt:lpstr>m62-mechanical</vt:lpstr>
      <vt:lpstr>1_It’s not the design of your template</vt:lpstr>
      <vt:lpstr> Object Oriented Programming CSE 2101  Lecture - 01 </vt:lpstr>
      <vt:lpstr>Outline</vt:lpstr>
      <vt:lpstr>Is Java still relevant?</vt:lpstr>
      <vt:lpstr>Is Java still relevant?</vt:lpstr>
      <vt:lpstr>History of OOP Language</vt:lpstr>
      <vt:lpstr>History of Java</vt:lpstr>
      <vt:lpstr>Object-Oriented Programming System</vt:lpstr>
      <vt:lpstr>PowerPoint Presentation</vt:lpstr>
      <vt:lpstr>Object-Oriented Programming System</vt:lpstr>
      <vt:lpstr>Object-Oriented Programming System</vt:lpstr>
      <vt:lpstr>Object-Oriented Programming System</vt:lpstr>
      <vt:lpstr>Object-Oriented Programming System</vt:lpstr>
      <vt:lpstr>Object-Oriented Programming System</vt:lpstr>
      <vt:lpstr>What’s an Object?</vt:lpstr>
      <vt:lpstr>What’s an Object?</vt:lpstr>
      <vt:lpstr>Features of Java</vt:lpstr>
      <vt:lpstr>Simple, Small and Familiar</vt:lpstr>
      <vt:lpstr>Compiled and Interpreted</vt:lpstr>
      <vt:lpstr>Java Virtual Machine</vt:lpstr>
      <vt:lpstr>Object Oriented</vt:lpstr>
      <vt:lpstr>Platform Independent and Portable</vt:lpstr>
      <vt:lpstr>Robust and Secure</vt:lpstr>
      <vt:lpstr>Distributed and Network Oriented</vt:lpstr>
      <vt:lpstr>Multithreaded and Interactive</vt:lpstr>
      <vt:lpstr>High Performance</vt:lpstr>
      <vt:lpstr>Dynamic</vt:lpstr>
      <vt:lpstr>Language of Internet Programming</vt:lpstr>
      <vt:lpstr>Why portable and Secure?</vt:lpstr>
      <vt:lpstr>Basics of Java Environments</vt:lpstr>
      <vt:lpstr>PowerPoint Presentation</vt:lpstr>
      <vt:lpstr>Java Environment</vt:lpstr>
      <vt:lpstr>Java Environment</vt:lpstr>
      <vt:lpstr>Versions of Java</vt:lpstr>
      <vt:lpstr>Versions of Java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text to go here</dc:title>
  <dc:creator>Windows User</dc:creator>
  <cp:lastModifiedBy>user</cp:lastModifiedBy>
  <cp:revision>1098</cp:revision>
  <dcterms:created xsi:type="dcterms:W3CDTF">2015-05-03T19:01:06Z</dcterms:created>
  <dcterms:modified xsi:type="dcterms:W3CDTF">2024-10-20T06:53:51Z</dcterms:modified>
</cp:coreProperties>
</file>