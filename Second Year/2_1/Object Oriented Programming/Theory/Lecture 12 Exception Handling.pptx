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20"/>
  </p:notesMasterIdLst>
  <p:sldIdLst>
    <p:sldId id="409" r:id="rId3"/>
    <p:sldId id="257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408" r:id="rId18"/>
    <p:sldId id="394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2" autoAdjust="0"/>
    <p:restoredTop sz="99821" autoAdjust="0"/>
  </p:normalViewPr>
  <p:slideViewPr>
    <p:cSldViewPr>
      <p:cViewPr varScale="1">
        <p:scale>
          <a:sx n="73" d="100"/>
          <a:sy n="73" d="100"/>
        </p:scale>
        <p:origin x="118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</a:t>
            </a:r>
            <a:r>
              <a:rPr lang="en-US" sz="2800" b="1">
                <a:solidFill>
                  <a:srgbClr val="024069"/>
                </a:solidFill>
              </a:rPr>
              <a:t>- </a:t>
            </a:r>
            <a:r>
              <a:rPr lang="en-US" sz="2800" b="1" smtClean="0"/>
              <a:t>12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48103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sz="2300" noProof="1" smtClean="0"/>
              <a:t>Representing Exceptions</a:t>
            </a:r>
          </a:p>
          <a:p>
            <a:r>
              <a:rPr lang="en-US" sz="2300" noProof="1" smtClean="0"/>
              <a:t>Exception Handling in Java</a:t>
            </a:r>
          </a:p>
          <a:p>
            <a:r>
              <a:rPr lang="en-US" sz="2300" noProof="1" smtClean="0"/>
              <a:t>Try and Catch Statement</a:t>
            </a:r>
          </a:p>
          <a:p>
            <a:r>
              <a:rPr lang="en-US" sz="2300" noProof="1" smtClean="0"/>
              <a:t>Multiple Catch Clauses</a:t>
            </a:r>
          </a:p>
          <a:p>
            <a:r>
              <a:rPr lang="en-US" sz="2300" noProof="1" smtClean="0"/>
              <a:t>Nested Try</a:t>
            </a:r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Exception Handling-Fundamentals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lnSpcReduction="10000"/>
          </a:bodyPr>
          <a:lstStyle/>
          <a:p>
            <a:pPr marL="274320" indent="-274320" algn="just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100" dirty="0">
                <a:latin typeface="Times New Roman" pitchFamily="18" charset="0"/>
              </a:rPr>
              <a:t>An exception is an abnormal condition that arises in a code sequence at run time</a:t>
            </a:r>
          </a:p>
          <a:p>
            <a:pPr marL="274320" indent="-274320" algn="just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100" dirty="0">
                <a:latin typeface="Times New Roman" pitchFamily="18" charset="0"/>
              </a:rPr>
              <a:t>A Java exception is an object that describes an exceptional condition that has occurred in a piece of code</a:t>
            </a:r>
          </a:p>
          <a:p>
            <a:pPr marL="274320" indent="-274320" algn="just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100" dirty="0">
                <a:latin typeface="Times New Roman" pitchFamily="18" charset="0"/>
              </a:rPr>
              <a:t>When an exceptional condition arises, an object representing that exception is created and thrown in the</a:t>
            </a:r>
            <a:r>
              <a:rPr lang="en-US" sz="2100" dirty="0">
                <a:solidFill>
                  <a:srgbClr val="A50021"/>
                </a:solidFill>
                <a:latin typeface="Times New Roman" pitchFamily="18" charset="0"/>
              </a:rPr>
              <a:t> </a:t>
            </a:r>
            <a:r>
              <a:rPr lang="en-US" sz="2100" dirty="0">
                <a:latin typeface="Times New Roman" pitchFamily="18" charset="0"/>
              </a:rPr>
              <a:t>method that caused the error</a:t>
            </a:r>
          </a:p>
          <a:p>
            <a:pPr marL="274320" indent="-274320" algn="just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100" dirty="0">
                <a:latin typeface="Times New Roman" pitchFamily="18" charset="0"/>
              </a:rPr>
              <a:t>An exception can be caught to handle it or pass it on</a:t>
            </a:r>
          </a:p>
          <a:p>
            <a:pPr marL="274320" indent="-274320" algn="just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100" dirty="0">
                <a:latin typeface="Times New Roman" pitchFamily="18" charset="0"/>
              </a:rPr>
              <a:t>Exceptions can be generated by the Java run-time system, or they can be manually generated by your code</a:t>
            </a:r>
          </a:p>
          <a:p>
            <a:pPr marL="274320" indent="-274320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4400" b="1" dirty="0" smtClean="0">
                <a:latin typeface="Times New Roman" pitchFamily="18" charset="0"/>
              </a:rPr>
              <a:t>Exception Handling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Performing action in response to exception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</a:rPr>
              <a:t>Examples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</a:rPr>
              <a:t>Exit program (abort)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</a:rPr>
              <a:t>Ignore exception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</a:rPr>
              <a:t>Deal with exception and continue</a:t>
            </a:r>
          </a:p>
          <a:p>
            <a:pPr lvl="2"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1800" smtClean="0">
                <a:latin typeface="Times New Roman" pitchFamily="18" charset="0"/>
              </a:rPr>
              <a:t>Print error message</a:t>
            </a:r>
          </a:p>
          <a:p>
            <a:pPr lvl="2"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1800" smtClean="0">
                <a:latin typeface="Times New Roman" pitchFamily="18" charset="0"/>
              </a:rPr>
              <a:t>Request new data</a:t>
            </a:r>
          </a:p>
          <a:p>
            <a:pPr lvl="2"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1800" smtClean="0">
                <a:latin typeface="Times New Roman" pitchFamily="18" charset="0"/>
              </a:rPr>
              <a:t>Retry action</a:t>
            </a:r>
          </a:p>
          <a:p>
            <a:pPr eaLnBrk="1" hangingPunct="1"/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Representing Exceptions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90600" y="2009775"/>
          <a:ext cx="7621588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Photo Editor Photo" r:id="rId3" imgW="7621064" imgH="3933333" progId="">
                  <p:embed/>
                </p:oleObj>
              </mc:Choice>
              <mc:Fallback>
                <p:oleObj name="Photo Editor Photo" r:id="rId3" imgW="7621064" imgH="3933333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009775"/>
                        <a:ext cx="7621588" cy="393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1219200" y="1524000"/>
            <a:ext cx="7924800" cy="9906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1800" smtClean="0">
                <a:latin typeface="Times New Roman" pitchFamily="18" charset="0"/>
              </a:rPr>
              <a:t>Two types of Exceptions: 1. Checked Exception 2. Unchecked Exception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4400" b="1" dirty="0" smtClean="0">
                <a:latin typeface="Times New Roman" pitchFamily="18" charset="0"/>
              </a:rPr>
              <a:t>Uncaught Exceptions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4114800" cy="27003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class exc0{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public static void main(String </a:t>
            </a:r>
            <a:r>
              <a:rPr lang="en-US" sz="2000" dirty="0" err="1" smtClean="0">
                <a:latin typeface="Times New Roman" pitchFamily="18" charset="0"/>
              </a:rPr>
              <a:t>args</a:t>
            </a:r>
            <a:r>
              <a:rPr lang="en-US" sz="2000" dirty="0" smtClean="0">
                <a:latin typeface="Times New Roman" pitchFamily="18" charset="0"/>
              </a:rPr>
              <a:t>[])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</a:rPr>
              <a:t> d=0;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</a:rPr>
              <a:t> a=42/d;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}</a:t>
            </a:r>
          </a:p>
        </p:txBody>
      </p:sp>
      <p:sp>
        <p:nvSpPr>
          <p:cNvPr id="15364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270375" y="1600200"/>
            <a:ext cx="36576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200" smtClean="0">
                <a:latin typeface="Times New Roman" pitchFamily="18" charset="0"/>
              </a:rPr>
              <a:t>A new exception object is constructed and then thrown.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200" smtClean="0">
                <a:latin typeface="Times New Roman" pitchFamily="18" charset="0"/>
              </a:rPr>
              <a:t>This exception is caught by the default handler provided by the java runtime system.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200" smtClean="0">
                <a:latin typeface="Times New Roman" pitchFamily="18" charset="0"/>
              </a:rPr>
              <a:t>The default handler displays a string describing the exception, prints the stack trace from the point at which the exception occurred and terminates the program.</a:t>
            </a:r>
          </a:p>
        </p:txBody>
      </p:sp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304800" y="4876800"/>
            <a:ext cx="426720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u="sng">
                <a:latin typeface="Times New Roman" pitchFamily="18" charset="0"/>
              </a:rPr>
              <a:t>Output:</a:t>
            </a:r>
          </a:p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java.lang.ArithmeticException: / by zero</a:t>
            </a:r>
          </a:p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          at exc0.main(exc0.java:4)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Exception Handling in Java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2900" dirty="0" smtClean="0">
                <a:latin typeface="Times New Roman" pitchFamily="18" charset="0"/>
              </a:rPr>
              <a:t>Java exception handling is managed by via five keywords: </a:t>
            </a:r>
            <a:r>
              <a:rPr lang="en-US" sz="2900" b="1" dirty="0" smtClean="0">
                <a:solidFill>
                  <a:srgbClr val="A50021"/>
                </a:solidFill>
                <a:latin typeface="Times New Roman" pitchFamily="18" charset="0"/>
              </a:rPr>
              <a:t>try</a:t>
            </a:r>
            <a:r>
              <a:rPr lang="en-US" sz="2900" b="1" dirty="0" smtClean="0">
                <a:latin typeface="Times New Roman" pitchFamily="18" charset="0"/>
              </a:rPr>
              <a:t>, </a:t>
            </a:r>
            <a:r>
              <a:rPr lang="en-US" sz="2900" b="1" dirty="0" smtClean="0">
                <a:solidFill>
                  <a:srgbClr val="A50021"/>
                </a:solidFill>
                <a:latin typeface="Times New Roman" pitchFamily="18" charset="0"/>
              </a:rPr>
              <a:t>catch</a:t>
            </a:r>
            <a:r>
              <a:rPr lang="en-US" sz="2900" b="1" dirty="0" smtClean="0">
                <a:latin typeface="Times New Roman" pitchFamily="18" charset="0"/>
              </a:rPr>
              <a:t>, </a:t>
            </a:r>
            <a:r>
              <a:rPr lang="en-US" sz="2900" b="1" dirty="0" smtClean="0">
                <a:solidFill>
                  <a:srgbClr val="A50021"/>
                </a:solidFill>
                <a:latin typeface="Times New Roman" pitchFamily="18" charset="0"/>
              </a:rPr>
              <a:t>throw</a:t>
            </a:r>
            <a:r>
              <a:rPr lang="en-US" sz="2900" b="1" dirty="0" smtClean="0">
                <a:latin typeface="Times New Roman" pitchFamily="18" charset="0"/>
              </a:rPr>
              <a:t>, </a:t>
            </a:r>
            <a:r>
              <a:rPr lang="en-US" sz="2900" b="1" dirty="0" smtClean="0">
                <a:solidFill>
                  <a:srgbClr val="A50021"/>
                </a:solidFill>
                <a:latin typeface="Times New Roman" pitchFamily="18" charset="0"/>
              </a:rPr>
              <a:t>throws</a:t>
            </a:r>
            <a:r>
              <a:rPr lang="en-US" sz="2900" b="1" dirty="0" smtClean="0">
                <a:latin typeface="Times New Roman" pitchFamily="18" charset="0"/>
              </a:rPr>
              <a:t>, </a:t>
            </a:r>
            <a:r>
              <a:rPr lang="en-US" sz="2900" dirty="0" smtClean="0">
                <a:latin typeface="Times New Roman" pitchFamily="18" charset="0"/>
              </a:rPr>
              <a:t>and</a:t>
            </a:r>
            <a:r>
              <a:rPr lang="en-US" sz="2900" b="1" dirty="0" smtClean="0">
                <a:latin typeface="Times New Roman" pitchFamily="18" charset="0"/>
              </a:rPr>
              <a:t> </a:t>
            </a:r>
            <a:r>
              <a:rPr lang="en-US" sz="2900" b="1" dirty="0" smtClean="0">
                <a:solidFill>
                  <a:srgbClr val="A50021"/>
                </a:solidFill>
                <a:latin typeface="Times New Roman" pitchFamily="18" charset="0"/>
              </a:rPr>
              <a:t>finally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2900" dirty="0" smtClean="0">
                <a:latin typeface="Times New Roman" pitchFamily="18" charset="0"/>
              </a:rPr>
              <a:t>Program statements to monitor are contained within a </a:t>
            </a:r>
            <a:r>
              <a:rPr lang="en-US" sz="2900" b="1" dirty="0" smtClean="0">
                <a:latin typeface="Times New Roman" pitchFamily="18" charset="0"/>
              </a:rPr>
              <a:t>try</a:t>
            </a:r>
            <a:r>
              <a:rPr lang="en-US" sz="2900" dirty="0" smtClean="0">
                <a:latin typeface="Times New Roman" pitchFamily="18" charset="0"/>
              </a:rPr>
              <a:t> block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2900" dirty="0" smtClean="0">
                <a:latin typeface="Times New Roman" pitchFamily="18" charset="0"/>
              </a:rPr>
              <a:t>If an exception occurs within the </a:t>
            </a:r>
            <a:r>
              <a:rPr lang="en-US" sz="2900" b="1" dirty="0" smtClean="0">
                <a:latin typeface="Times New Roman" pitchFamily="18" charset="0"/>
              </a:rPr>
              <a:t>try</a:t>
            </a:r>
            <a:r>
              <a:rPr lang="en-US" sz="2900" dirty="0" smtClean="0">
                <a:latin typeface="Times New Roman" pitchFamily="18" charset="0"/>
              </a:rPr>
              <a:t> block, it is</a:t>
            </a:r>
            <a:r>
              <a:rPr lang="en-US" sz="2900" dirty="0" smtClean="0">
                <a:solidFill>
                  <a:srgbClr val="A50021"/>
                </a:solidFill>
                <a:latin typeface="Times New Roman" pitchFamily="18" charset="0"/>
              </a:rPr>
              <a:t> </a:t>
            </a:r>
            <a:r>
              <a:rPr lang="en-US" sz="2900" dirty="0" smtClean="0">
                <a:latin typeface="Times New Roman" pitchFamily="18" charset="0"/>
              </a:rPr>
              <a:t>thrown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2900" dirty="0" smtClean="0">
                <a:latin typeface="Times New Roman" pitchFamily="18" charset="0"/>
              </a:rPr>
              <a:t>Code within </a:t>
            </a:r>
            <a:r>
              <a:rPr lang="en-US" sz="2900" b="1" dirty="0" smtClean="0">
                <a:latin typeface="Times New Roman" pitchFamily="18" charset="0"/>
              </a:rPr>
              <a:t>catch </a:t>
            </a:r>
            <a:r>
              <a:rPr lang="en-US" sz="2900" dirty="0" smtClean="0">
                <a:latin typeface="Times New Roman" pitchFamily="18" charset="0"/>
              </a:rPr>
              <a:t>block catch the exception and handle it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sz="26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</a:rPr>
              <a:t>Example</a:t>
            </a:r>
          </a:p>
        </p:txBody>
      </p:sp>
      <p:pic>
        <p:nvPicPr>
          <p:cNvPr id="17411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295400"/>
            <a:ext cx="7391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ext Box 7"/>
          <p:cNvSpPr txBox="1">
            <a:spLocks noChangeArrowheads="1"/>
          </p:cNvSpPr>
          <p:nvPr/>
        </p:nvSpPr>
        <p:spPr bwMode="auto">
          <a:xfrm>
            <a:off x="838200" y="4572000"/>
            <a:ext cx="7162800" cy="167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latin typeface="Times New Roman" pitchFamily="18" charset="0"/>
              </a:rPr>
              <a:t>Output:</a:t>
            </a:r>
          </a:p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Division by zero.</a:t>
            </a:r>
          </a:p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After catch statement.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</a:rPr>
              <a:t>try and catch statement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200" smtClean="0">
                <a:latin typeface="Times New Roman" pitchFamily="18" charset="0"/>
              </a:rPr>
              <a:t>The scope of a </a:t>
            </a:r>
            <a:r>
              <a:rPr lang="en-US" sz="2200" b="1" smtClean="0">
                <a:latin typeface="Times New Roman" pitchFamily="18" charset="0"/>
              </a:rPr>
              <a:t>catch</a:t>
            </a:r>
            <a:r>
              <a:rPr lang="en-US" sz="2200" smtClean="0">
                <a:latin typeface="Times New Roman" pitchFamily="18" charset="0"/>
              </a:rPr>
              <a:t> clause is restricted to those statements specified by the immediately preceding </a:t>
            </a:r>
            <a:r>
              <a:rPr lang="en-US" sz="2200" b="1" smtClean="0">
                <a:latin typeface="Times New Roman" pitchFamily="18" charset="0"/>
              </a:rPr>
              <a:t>try</a:t>
            </a:r>
            <a:r>
              <a:rPr lang="en-US" sz="2200" smtClean="0">
                <a:latin typeface="Times New Roman" pitchFamily="18" charset="0"/>
              </a:rPr>
              <a:t> statement.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200" smtClean="0">
                <a:latin typeface="Times New Roman" pitchFamily="18" charset="0"/>
              </a:rPr>
              <a:t>A </a:t>
            </a:r>
            <a:r>
              <a:rPr lang="en-US" sz="2200" b="1" smtClean="0">
                <a:latin typeface="Times New Roman" pitchFamily="18" charset="0"/>
              </a:rPr>
              <a:t>catch</a:t>
            </a:r>
            <a:r>
              <a:rPr lang="en-US" sz="2200" smtClean="0">
                <a:latin typeface="Times New Roman" pitchFamily="18" charset="0"/>
              </a:rPr>
              <a:t> statement cannot catch an exception thrown by another </a:t>
            </a:r>
            <a:r>
              <a:rPr lang="en-US" sz="2200" b="1" smtClean="0">
                <a:latin typeface="Times New Roman" pitchFamily="18" charset="0"/>
              </a:rPr>
              <a:t>try</a:t>
            </a:r>
            <a:r>
              <a:rPr lang="en-US" sz="2200" smtClean="0">
                <a:latin typeface="Times New Roman" pitchFamily="18" charset="0"/>
              </a:rPr>
              <a:t> statement.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200" smtClean="0">
                <a:latin typeface="Times New Roman" pitchFamily="18" charset="0"/>
              </a:rPr>
              <a:t>The statements that are protected by the </a:t>
            </a:r>
            <a:r>
              <a:rPr lang="en-US" sz="2200" b="1" smtClean="0">
                <a:latin typeface="Times New Roman" pitchFamily="18" charset="0"/>
              </a:rPr>
              <a:t>try</a:t>
            </a:r>
            <a:r>
              <a:rPr lang="en-US" sz="2200" smtClean="0">
                <a:latin typeface="Times New Roman" pitchFamily="18" charset="0"/>
              </a:rPr>
              <a:t> must be surrounded by curly braces.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Multiple Catch Clauses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If more than one can occur, then we use multiple catch clauses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When an exception is thrown, each </a:t>
            </a:r>
            <a:r>
              <a:rPr lang="en-US" b="1" smtClean="0">
                <a:latin typeface="Times New Roman" pitchFamily="18" charset="0"/>
              </a:rPr>
              <a:t>catch</a:t>
            </a:r>
            <a:r>
              <a:rPr lang="en-US" smtClean="0">
                <a:latin typeface="Times New Roman" pitchFamily="18" charset="0"/>
              </a:rPr>
              <a:t> statement is inspected in order, and the first one whose type matches that of the exception is executed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After one </a:t>
            </a:r>
            <a:r>
              <a:rPr lang="en-US" b="1" smtClean="0">
                <a:latin typeface="Times New Roman" pitchFamily="18" charset="0"/>
              </a:rPr>
              <a:t>catch</a:t>
            </a:r>
            <a:r>
              <a:rPr lang="en-US" smtClean="0">
                <a:latin typeface="Times New Roman" pitchFamily="18" charset="0"/>
              </a:rPr>
              <a:t> statement executes, the others are bypassed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8200" cy="868362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Example-Try and Catch Statements</a:t>
            </a:r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25513" y="1524000"/>
          <a:ext cx="7138987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Bitmap Image" r:id="rId3" imgW="3933333" imgH="2057143" progId="PBrush">
                  <p:embed/>
                </p:oleObj>
              </mc:Choice>
              <mc:Fallback>
                <p:oleObj name="Bitmap Image" r:id="rId3" imgW="3933333" imgH="2057143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1524000"/>
                        <a:ext cx="7138987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685800" y="5334000"/>
            <a:ext cx="739140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latin typeface="Times New Roman" pitchFamily="18" charset="0"/>
              </a:rPr>
              <a:t>Output: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Times New Roman" pitchFamily="18" charset="0"/>
              </a:rPr>
              <a:t>C:\&gt;java MultiCatch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Times New Roman" pitchFamily="18" charset="0"/>
              </a:rPr>
              <a:t>a=0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Times New Roman" pitchFamily="18" charset="0"/>
              </a:rPr>
              <a:t>Divide by 0: java.lang.ArithmeticException: / by zero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Times New Roman" pitchFamily="18" charset="0"/>
              </a:rPr>
              <a:t>After try/catch blocks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</a:rPr>
              <a:t>Caution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600" smtClean="0">
                <a:latin typeface="Times New Roman" pitchFamily="18" charset="0"/>
              </a:rPr>
              <a:t>Exception subclass must come before any of of their superclasses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600" smtClean="0">
                <a:latin typeface="Times New Roman" pitchFamily="18" charset="0"/>
              </a:rPr>
              <a:t>A </a:t>
            </a:r>
            <a:r>
              <a:rPr lang="en-US" sz="2600" b="1" smtClean="0">
                <a:latin typeface="Times New Roman" pitchFamily="18" charset="0"/>
              </a:rPr>
              <a:t>catch</a:t>
            </a:r>
            <a:r>
              <a:rPr lang="en-US" sz="2600" smtClean="0">
                <a:latin typeface="Times New Roman" pitchFamily="18" charset="0"/>
              </a:rPr>
              <a:t> statement that uses a superclass will catch exceptions of that type plus any of its subclasses. So, the subclass would never be reached if it come after its superclass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600" smtClean="0">
                <a:latin typeface="Times New Roman" pitchFamily="18" charset="0"/>
              </a:rPr>
              <a:t>For example, </a:t>
            </a:r>
            <a:r>
              <a:rPr lang="en-US" sz="2600" b="1" smtClean="0">
                <a:latin typeface="Times New Roman" pitchFamily="18" charset="0"/>
              </a:rPr>
              <a:t>ArithmeticException</a:t>
            </a:r>
            <a:r>
              <a:rPr lang="en-US" sz="2600" smtClean="0">
                <a:latin typeface="Times New Roman" pitchFamily="18" charset="0"/>
              </a:rPr>
              <a:t> is a subclass of </a:t>
            </a:r>
            <a:r>
              <a:rPr lang="en-US" sz="2600" b="1" smtClean="0">
                <a:latin typeface="Times New Roman" pitchFamily="18" charset="0"/>
              </a:rPr>
              <a:t>Exception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600" smtClean="0">
                <a:latin typeface="Times New Roman" pitchFamily="18" charset="0"/>
              </a:rPr>
              <a:t>Moreover, unreachable code in Java generates error</a:t>
            </a:r>
          </a:p>
          <a:p>
            <a:pPr eaLnBrk="1" hangingPunct="1">
              <a:buFont typeface="Wingdings" pitchFamily="2" charset="2"/>
              <a:buChar char="ü"/>
            </a:pPr>
            <a:endParaRPr lang="en-US" sz="260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</a:rPr>
              <a:t>Example</a:t>
            </a:r>
          </a:p>
        </p:txBody>
      </p:sp>
      <p:graphicFrame>
        <p:nvGraphicFramePr>
          <p:cNvPr id="3074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762000" y="1219200"/>
          <a:ext cx="77724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Bitmap Image" r:id="rId3" imgW="4514286" imgH="2876190" progId="PBrush">
                  <p:embed/>
                </p:oleObj>
              </mc:Choice>
              <mc:Fallback>
                <p:oleObj name="Bitmap Image" r:id="rId3" imgW="4514286" imgH="2876190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19200"/>
                        <a:ext cx="7772400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4400" b="1" dirty="0" smtClean="0">
                <a:latin typeface="Times New Roman" pitchFamily="18" charset="0"/>
              </a:rPr>
              <a:t>Nested try Statements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A </a:t>
            </a:r>
            <a:r>
              <a:rPr lang="en-US" b="1" smtClean="0">
                <a:latin typeface="Times New Roman" pitchFamily="18" charset="0"/>
              </a:rPr>
              <a:t>try</a:t>
            </a:r>
            <a:r>
              <a:rPr lang="en-US" smtClean="0">
                <a:latin typeface="Times New Roman" pitchFamily="18" charset="0"/>
              </a:rPr>
              <a:t> statement can be inside the block of another try.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Each time a </a:t>
            </a:r>
            <a:r>
              <a:rPr lang="en-US" b="1" smtClean="0">
                <a:latin typeface="Times New Roman" pitchFamily="18" charset="0"/>
              </a:rPr>
              <a:t>try</a:t>
            </a:r>
            <a:r>
              <a:rPr lang="en-US" smtClean="0">
                <a:latin typeface="Times New Roman" pitchFamily="18" charset="0"/>
              </a:rPr>
              <a:t> statement is entered, the context of that exception is pushed on the stack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If an inner </a:t>
            </a:r>
            <a:r>
              <a:rPr lang="en-US" b="1" smtClean="0">
                <a:latin typeface="Times New Roman" pitchFamily="18" charset="0"/>
              </a:rPr>
              <a:t>try</a:t>
            </a:r>
            <a:r>
              <a:rPr lang="en-US" smtClean="0">
                <a:latin typeface="Times New Roman" pitchFamily="18" charset="0"/>
              </a:rPr>
              <a:t> statement does not have a catch, then the next </a:t>
            </a:r>
            <a:r>
              <a:rPr lang="en-US" b="1" smtClean="0">
                <a:latin typeface="Times New Roman" pitchFamily="18" charset="0"/>
              </a:rPr>
              <a:t>try</a:t>
            </a:r>
            <a:r>
              <a:rPr lang="en-US" smtClean="0">
                <a:latin typeface="Times New Roman" pitchFamily="18" charset="0"/>
              </a:rPr>
              <a:t> statement’s catch handlers are inspected for a match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If a method call within a </a:t>
            </a:r>
            <a:r>
              <a:rPr lang="en-US" b="1" smtClean="0">
                <a:latin typeface="Times New Roman" pitchFamily="18" charset="0"/>
              </a:rPr>
              <a:t>try</a:t>
            </a:r>
            <a:r>
              <a:rPr lang="en-US" smtClean="0">
                <a:latin typeface="Times New Roman" pitchFamily="18" charset="0"/>
              </a:rPr>
              <a:t> block has</a:t>
            </a:r>
            <a:r>
              <a:rPr lang="en-US" b="1" smtClean="0">
                <a:latin typeface="Times New Roman" pitchFamily="18" charset="0"/>
              </a:rPr>
              <a:t> try</a:t>
            </a:r>
            <a:r>
              <a:rPr lang="en-US" smtClean="0">
                <a:latin typeface="Times New Roman" pitchFamily="18" charset="0"/>
              </a:rPr>
              <a:t> block within it, then then it is still nested </a:t>
            </a:r>
            <a:r>
              <a:rPr lang="en-US" b="1" smtClean="0">
                <a:latin typeface="Times New Roman" pitchFamily="18" charset="0"/>
              </a:rPr>
              <a:t>try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064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457200" y="1066800"/>
          <a:ext cx="8153400" cy="5665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Bitmap Image" r:id="rId3" imgW="4952381" imgH="4315427" progId="PBrush">
                  <p:embed/>
                </p:oleObj>
              </mc:Choice>
              <mc:Fallback>
                <p:oleObj name="Bitmap Image" r:id="rId3" imgW="4952381" imgH="4315427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066800"/>
                        <a:ext cx="8153400" cy="5665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762000"/>
            <a:ext cx="4267200" cy="5410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MethNestTry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static void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nesttry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a)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try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if(a==1)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a=a/(a-a);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if(a==2)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c[]={1};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	c[42]=99;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catch(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ArrayIndexOutOfBoundsException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(“Array Index out-of-bounds: “+e);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  <p:sp>
        <p:nvSpPr>
          <p:cNvPr id="22532" name="Content Placeholder 3"/>
          <p:cNvSpPr>
            <a:spLocks noGrp="1"/>
          </p:cNvSpPr>
          <p:nvPr>
            <p:ph sz="quarter" idx="2"/>
          </p:nvPr>
        </p:nvSpPr>
        <p:spPr>
          <a:xfrm>
            <a:off x="4876800" y="1066800"/>
            <a:ext cx="4114800" cy="5105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public static void main(String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Try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a=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args.length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b=42/a;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(“a=“+a);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nesttry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catch(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ArithmeticException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(“Divide by 0: “+e);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2045</TotalTime>
  <Words>726</Words>
  <Application>Microsoft Office PowerPoint</Application>
  <PresentationFormat>On-screen Show (4:3)</PresentationFormat>
  <Paragraphs>116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Courier New</vt:lpstr>
      <vt:lpstr>Neo Sans</vt:lpstr>
      <vt:lpstr>Times New Roman</vt:lpstr>
      <vt:lpstr>Wingdings</vt:lpstr>
      <vt:lpstr>m62-mechanical</vt:lpstr>
      <vt:lpstr>1_It’s not the design of your template</vt:lpstr>
      <vt:lpstr>Photo Editor Photo</vt:lpstr>
      <vt:lpstr>Bitmap Image</vt:lpstr>
      <vt:lpstr> Object Oriented Programming CSE 2101  Lecture - 12 </vt:lpstr>
      <vt:lpstr>Outline</vt:lpstr>
      <vt:lpstr>Exception Handling-Fundamentals</vt:lpstr>
      <vt:lpstr>Exception Handling</vt:lpstr>
      <vt:lpstr>Representing Exceptions</vt:lpstr>
      <vt:lpstr>Uncaught Exceptions</vt:lpstr>
      <vt:lpstr>Exception Handling in Java</vt:lpstr>
      <vt:lpstr>Example</vt:lpstr>
      <vt:lpstr>try and catch statement</vt:lpstr>
      <vt:lpstr>Multiple Catch Clauses</vt:lpstr>
      <vt:lpstr>Example-Try and Catch Statements</vt:lpstr>
      <vt:lpstr>Caution</vt:lpstr>
      <vt:lpstr>Example</vt:lpstr>
      <vt:lpstr>Nested try Statements</vt:lpstr>
      <vt:lpstr>Example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1094</cp:revision>
  <dcterms:created xsi:type="dcterms:W3CDTF">2015-05-03T19:01:06Z</dcterms:created>
  <dcterms:modified xsi:type="dcterms:W3CDTF">2024-12-21T08:32:01Z</dcterms:modified>
</cp:coreProperties>
</file>