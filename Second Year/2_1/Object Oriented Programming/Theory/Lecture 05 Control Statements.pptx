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51" r:id="rId2"/>
  </p:sldMasterIdLst>
  <p:notesMasterIdLst>
    <p:notesMasterId r:id="rId38"/>
  </p:notesMasterIdLst>
  <p:sldIdLst>
    <p:sldId id="500" r:id="rId3"/>
    <p:sldId id="257" r:id="rId4"/>
    <p:sldId id="467" r:id="rId5"/>
    <p:sldId id="468" r:id="rId6"/>
    <p:sldId id="469" r:id="rId7"/>
    <p:sldId id="470" r:id="rId8"/>
    <p:sldId id="471" r:id="rId9"/>
    <p:sldId id="472" r:id="rId10"/>
    <p:sldId id="473" r:id="rId11"/>
    <p:sldId id="474" r:id="rId12"/>
    <p:sldId id="475" r:id="rId13"/>
    <p:sldId id="476" r:id="rId14"/>
    <p:sldId id="477" r:id="rId15"/>
    <p:sldId id="478" r:id="rId16"/>
    <p:sldId id="479" r:id="rId17"/>
    <p:sldId id="480" r:id="rId18"/>
    <p:sldId id="481" r:id="rId19"/>
    <p:sldId id="482" r:id="rId20"/>
    <p:sldId id="483" r:id="rId21"/>
    <p:sldId id="484" r:id="rId22"/>
    <p:sldId id="485" r:id="rId23"/>
    <p:sldId id="486" r:id="rId24"/>
    <p:sldId id="487" r:id="rId25"/>
    <p:sldId id="488" r:id="rId26"/>
    <p:sldId id="489" r:id="rId27"/>
    <p:sldId id="490" r:id="rId28"/>
    <p:sldId id="491" r:id="rId29"/>
    <p:sldId id="492" r:id="rId30"/>
    <p:sldId id="493" r:id="rId31"/>
    <p:sldId id="494" r:id="rId32"/>
    <p:sldId id="495" r:id="rId33"/>
    <p:sldId id="496" r:id="rId34"/>
    <p:sldId id="497" r:id="rId35"/>
    <p:sldId id="498" r:id="rId36"/>
    <p:sldId id="394" r:id="rId3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4069"/>
    <a:srgbClr val="CACACA"/>
    <a:srgbClr val="0066CC"/>
    <a:srgbClr val="0099CC"/>
    <a:srgbClr val="3864A9"/>
    <a:srgbClr val="273691"/>
    <a:srgbClr val="2737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30" autoAdjust="0"/>
    <p:restoredTop sz="99821" autoAdjust="0"/>
  </p:normalViewPr>
  <p:slideViewPr>
    <p:cSldViewPr>
      <p:cViewPr varScale="1">
        <p:scale>
          <a:sx n="73" d="100"/>
          <a:sy n="73" d="100"/>
        </p:scale>
        <p:origin x="1302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presProps" Target="presProp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E9439C-4193-43FD-B7ED-FDDC753C38E4}" type="datetimeFigureOut">
              <a:rPr lang="en-US" smtClean="0"/>
              <a:pPr/>
              <a:t>11/4/2024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3FFEB6-3655-496E-AF33-E2CC2D71E3D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8388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3FFEB6-3655-496E-AF33-E2CC2D71E3DD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9348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50" name="Picture 30" descr="background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 algn="ctr"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6553200" y="6248400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351B2EE7-5072-467A-9223-02257C03FF2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20"/>
                            </p:stCondLst>
                            <p:childTnLst>
                              <p:par>
                                <p:cTn id="11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/>
      <p:bldP spid="5123" grpId="0" build="p">
        <p:tmplLst>
          <p:tmpl lvl="1">
            <p:tnLst>
              <p:par>
                <p:cTn presetID="53" presetClass="entr" presetSubtype="0" fill="hold" nodeType="afterEffect">
                  <p:stCondLst>
                    <p:cond delay="0"/>
                  </p:stCondLst>
                  <p:iterate type="lt">
                    <p:tmPct val="4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12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12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12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24069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 sz="1600" i="0"/>
            </a:lvl1pPr>
          </a:lstStyle>
          <a:p>
            <a:fld id="{F0065440-4C8F-497D-8DC5-47855554306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826E5F-98C7-427D-BD7E-0BE0F1A9683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052513"/>
            <a:ext cx="4038600" cy="5073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052513"/>
            <a:ext cx="4038600" cy="5073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69F05A-DCBD-4B85-B11F-DDBCF8E9200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94C1862-9D7D-4867-B015-B11771DE47F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BD6026-5CE8-486A-9BC0-1C41C23FE70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F5884D9-B953-4650-A00D-DBE79B42910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8D01A79-9865-49FA-B323-8C97083EEA8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AFD685-CBDA-4730-95DC-3E6CBC63D80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FCFE8F2-027C-4C57-9B26-E402534C899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88913"/>
            <a:ext cx="20574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88913"/>
            <a:ext cx="60198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CFE25D-8A1D-46F6-BEBF-C85E3072F9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hyperlink" Target="http://www.m62.net/" TargetMode="External"/><Relationship Id="rId18" Type="http://schemas.openxmlformats.org/officeDocument/2006/relationships/image" Target="../media/image5.png"/><Relationship Id="rId3" Type="http://schemas.openxmlformats.org/officeDocument/2006/relationships/slideLayout" Target="../slideLayouts/slideLayout14.xml"/><Relationship Id="rId21" Type="http://schemas.openxmlformats.org/officeDocument/2006/relationships/image" Target="../media/image7.png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17" Type="http://schemas.openxmlformats.org/officeDocument/2006/relationships/hyperlink" Target="http://www.m62.net/powerpoint-slides/" TargetMode="External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4.png"/><Relationship Id="rId20" Type="http://schemas.openxmlformats.org/officeDocument/2006/relationships/image" Target="../media/image6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hyperlink" Target="http://www.m62.net/presentation-theory/bullet-points-dont-work/beyond-bullet-points/" TargetMode="External"/><Relationship Id="rId10" Type="http://schemas.openxmlformats.org/officeDocument/2006/relationships/slideLayout" Target="../slideLayouts/slideLayout21.xml"/><Relationship Id="rId19" Type="http://schemas.openxmlformats.org/officeDocument/2006/relationships/hyperlink" Target="http://www.m62.net/powerpoint-training/" TargetMode="Externa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2" name="Picture 38" descr="background2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7916" y="14844"/>
            <a:ext cx="9144000" cy="6858000"/>
          </a:xfrm>
          <a:prstGeom prst="rect">
            <a:avLst/>
          </a:prstGeom>
          <a:noFill/>
        </p:spPr>
      </p:pic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88913"/>
            <a:ext cx="8218488" cy="565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052513"/>
            <a:ext cx="8229600" cy="5073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533400" y="624840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4D7511D7-B783-4CDA-BF26-3E6D5B8F4FFE}" type="slidenum">
              <a:rPr lang="en-US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20"/>
                            </p:stCondLst>
                            <p:childTnLst>
                              <p:par>
                                <p:cTn id="11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40"/>
                            </p:stCondLst>
                            <p:childTnLst>
                              <p:par>
                                <p:cTn id="17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740"/>
                            </p:stCondLst>
                            <p:childTnLst>
                              <p:par>
                                <p:cTn id="23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420"/>
                            </p:stCondLst>
                            <p:childTnLst>
                              <p:par>
                                <p:cTn id="2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120"/>
                            </p:stCondLst>
                            <p:childTnLst>
                              <p:par>
                                <p:cTn id="3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" grpId="0"/>
      <p:bldP spid="1027" grpId="0" build="p">
        <p:tmplLst>
          <p:tmpl lvl="1">
            <p:tnLst>
              <p:par>
                <p:cTn presetID="53" presetClass="entr" presetSubtype="0" fill="hold" nodeType="afterEffect">
                  <p:stCondLst>
                    <p:cond delay="0"/>
                  </p:stCondLst>
                  <p:iterate type="lt">
                    <p:tmPct val="4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1027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53" presetClass="entr" presetSubtype="0" fill="hold" nodeType="afterEffect">
                  <p:stCondLst>
                    <p:cond delay="0"/>
                  </p:stCondLst>
                  <p:iterate type="lt">
                    <p:tmPct val="4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1027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53" presetClass="entr" presetSubtype="0" fill="hold" nodeType="afterEffect">
                  <p:stCondLst>
                    <p:cond delay="0"/>
                  </p:stCondLst>
                  <p:iterate type="lt">
                    <p:tmPct val="4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1027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53" presetClass="entr" presetSubtype="0" fill="hold" nodeType="afterEffect">
                  <p:stCondLst>
                    <p:cond delay="0"/>
                  </p:stCondLst>
                  <p:iterate type="lt">
                    <p:tmPct val="4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1027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53" presetClass="entr" presetSubtype="0" fill="hold" nodeType="afterEffect">
                  <p:stCondLst>
                    <p:cond delay="0"/>
                  </p:stCondLst>
                  <p:iterate type="lt">
                    <p:tmPct val="4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102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000">
          <a:solidFill>
            <a:srgbClr val="024069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18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dirty="0"/>
          </a:p>
        </p:txBody>
      </p:sp>
      <p:sp>
        <p:nvSpPr>
          <p:cNvPr id="7171" name="Rectangle 3"/>
          <p:cNvSpPr>
            <a:spLocks noChangeArrowheads="1"/>
          </p:cNvSpPr>
          <p:nvPr/>
        </p:nvSpPr>
        <p:spPr bwMode="auto">
          <a:xfrm>
            <a:off x="-93663" y="6453188"/>
            <a:ext cx="8532813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r"/>
            <a:r>
              <a:rPr lang="en-US" sz="1200" dirty="0">
                <a:solidFill>
                  <a:srgbClr val="4D4D4D"/>
                </a:solidFill>
                <a:latin typeface="Neo Sans" pitchFamily="34" charset="0"/>
              </a:rPr>
              <a:t>m62 </a:t>
            </a:r>
            <a:r>
              <a:rPr lang="en-US" sz="1200" dirty="0" err="1">
                <a:solidFill>
                  <a:srgbClr val="4D4D4D"/>
                </a:solidFill>
                <a:latin typeface="Neo Sans" pitchFamily="34" charset="0"/>
              </a:rPr>
              <a:t>visualcommunications</a:t>
            </a:r>
            <a:r>
              <a:rPr lang="en-US" sz="1200" dirty="0">
                <a:solidFill>
                  <a:srgbClr val="4D4D4D"/>
                </a:solidFill>
                <a:latin typeface="Neo Sans" pitchFamily="34" charset="0"/>
              </a:rPr>
              <a:t> is the global leader in presentation effectiveness, from offices in the UK, USA, and Singapore</a:t>
            </a:r>
          </a:p>
        </p:txBody>
      </p:sp>
      <p:pic>
        <p:nvPicPr>
          <p:cNvPr id="7172" name="Picture 4" descr="m62-logo">
            <a:hlinkClick r:id="rId13"/>
          </p:cNvPr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8502650" y="6484938"/>
            <a:ext cx="381000" cy="257175"/>
          </a:xfrm>
          <a:prstGeom prst="rect">
            <a:avLst/>
          </a:prstGeom>
          <a:noFill/>
        </p:spPr>
      </p:pic>
      <p:pic>
        <p:nvPicPr>
          <p:cNvPr id="7173" name="Picture 5" descr="1">
            <a:hlinkClick r:id="rId15"/>
          </p:cNvPr>
          <p:cNvPicPr>
            <a:picLocks noChangeAspect="1"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260350" y="777875"/>
            <a:ext cx="2000250" cy="1457325"/>
          </a:xfrm>
          <a:prstGeom prst="rect">
            <a:avLst/>
          </a:prstGeom>
          <a:noFill/>
        </p:spPr>
      </p:pic>
      <p:pic>
        <p:nvPicPr>
          <p:cNvPr id="7174" name="Picture 6" descr="2">
            <a:hlinkClick r:id="rId17"/>
          </p:cNvPr>
          <p:cNvPicPr>
            <a:picLocks noChangeAspect="1" noChangeArrowheads="1"/>
          </p:cNvPicPr>
          <p:nvPr/>
        </p:nvPicPr>
        <p:blipFill>
          <a:blip r:embed="rId18" cstate="print"/>
          <a:srcRect/>
          <a:stretch>
            <a:fillRect/>
          </a:stretch>
        </p:blipFill>
        <p:spPr bwMode="auto">
          <a:xfrm>
            <a:off x="287338" y="2673350"/>
            <a:ext cx="2000250" cy="1457325"/>
          </a:xfrm>
          <a:prstGeom prst="rect">
            <a:avLst/>
          </a:prstGeom>
          <a:noFill/>
        </p:spPr>
      </p:pic>
      <p:pic>
        <p:nvPicPr>
          <p:cNvPr id="7175" name="Picture 7" descr="3">
            <a:hlinkClick r:id="rId19"/>
          </p:cNvPr>
          <p:cNvPicPr>
            <a:picLocks noChangeAspect="1" noChangeArrowheads="1"/>
          </p:cNvPicPr>
          <p:nvPr/>
        </p:nvPicPr>
        <p:blipFill>
          <a:blip r:embed="rId20" cstate="print"/>
          <a:srcRect/>
          <a:stretch>
            <a:fillRect/>
          </a:stretch>
        </p:blipFill>
        <p:spPr bwMode="auto">
          <a:xfrm>
            <a:off x="287338" y="4568825"/>
            <a:ext cx="2000250" cy="1457325"/>
          </a:xfrm>
          <a:prstGeom prst="rect">
            <a:avLst/>
          </a:prstGeom>
          <a:noFill/>
        </p:spPr>
      </p:pic>
      <p:sp>
        <p:nvSpPr>
          <p:cNvPr id="7176" name="Text Box 8">
            <a:hlinkClick r:id="rId15"/>
          </p:cNvPr>
          <p:cNvSpPr txBox="1">
            <a:spLocks noChangeArrowheads="1"/>
          </p:cNvSpPr>
          <p:nvPr/>
        </p:nvSpPr>
        <p:spPr bwMode="auto">
          <a:xfrm>
            <a:off x="379413" y="2290763"/>
            <a:ext cx="1636712" cy="2127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r>
              <a:rPr lang="en-US" sz="1400">
                <a:solidFill>
                  <a:srgbClr val="135971"/>
                </a:solidFill>
                <a:latin typeface="Neo Sans" pitchFamily="34" charset="0"/>
              </a:rPr>
              <a:t>Beyond Bullet Points</a:t>
            </a:r>
          </a:p>
        </p:txBody>
      </p:sp>
      <p:sp>
        <p:nvSpPr>
          <p:cNvPr id="7177" name="Text Box 9">
            <a:hlinkClick r:id="rId17"/>
          </p:cNvPr>
          <p:cNvSpPr txBox="1">
            <a:spLocks noChangeArrowheads="1"/>
          </p:cNvSpPr>
          <p:nvPr/>
        </p:nvSpPr>
        <p:spPr bwMode="auto">
          <a:xfrm>
            <a:off x="379413" y="4189413"/>
            <a:ext cx="1417637" cy="2127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r>
              <a:rPr lang="en-US" sz="1400">
                <a:solidFill>
                  <a:srgbClr val="135971"/>
                </a:solidFill>
                <a:latin typeface="Neo Sans" pitchFamily="34" charset="0"/>
              </a:rPr>
              <a:t>PowerPoint Slides</a:t>
            </a:r>
          </a:p>
        </p:txBody>
      </p:sp>
      <p:sp>
        <p:nvSpPr>
          <p:cNvPr id="7178" name="Text Box 10">
            <a:hlinkClick r:id="rId19"/>
          </p:cNvPr>
          <p:cNvSpPr txBox="1">
            <a:spLocks noChangeArrowheads="1"/>
          </p:cNvSpPr>
          <p:nvPr/>
        </p:nvSpPr>
        <p:spPr bwMode="auto">
          <a:xfrm>
            <a:off x="379413" y="6084888"/>
            <a:ext cx="1598612" cy="2127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r>
              <a:rPr lang="en-US" sz="1400">
                <a:solidFill>
                  <a:srgbClr val="135971"/>
                </a:solidFill>
                <a:latin typeface="Neo Sans" pitchFamily="34" charset="0"/>
              </a:rPr>
              <a:t>PowerPoint Training</a:t>
            </a:r>
          </a:p>
        </p:txBody>
      </p:sp>
      <p:pic>
        <p:nvPicPr>
          <p:cNvPr id="7179" name="Picture 11" descr="bg"/>
          <p:cNvPicPr>
            <a:picLocks noChangeAspect="1" noChangeArrowheads="1"/>
          </p:cNvPicPr>
          <p:nvPr/>
        </p:nvPicPr>
        <p:blipFill>
          <a:blip r:embed="rId21" cstate="print"/>
          <a:srcRect/>
          <a:stretch>
            <a:fillRect/>
          </a:stretch>
        </p:blipFill>
        <p:spPr bwMode="auto">
          <a:xfrm>
            <a:off x="2520950" y="777875"/>
            <a:ext cx="6362700" cy="5248275"/>
          </a:xfrm>
          <a:prstGeom prst="rect">
            <a:avLst/>
          </a:prstGeom>
          <a:noFill/>
        </p:spPr>
      </p:pic>
      <p:sp>
        <p:nvSpPr>
          <p:cNvPr id="7180" name="Text Box 12"/>
          <p:cNvSpPr txBox="1">
            <a:spLocks noChangeArrowheads="1"/>
          </p:cNvSpPr>
          <p:nvPr/>
        </p:nvSpPr>
        <p:spPr bwMode="auto">
          <a:xfrm>
            <a:off x="28575" y="188913"/>
            <a:ext cx="9115425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ctr"/>
            <a:r>
              <a:rPr lang="en-US" sz="2100">
                <a:solidFill>
                  <a:srgbClr val="333333"/>
                </a:solidFill>
                <a:latin typeface="Neo Sans" pitchFamily="34" charset="0"/>
              </a:rPr>
              <a:t>It’s not the </a:t>
            </a:r>
            <a:r>
              <a:rPr lang="en-US" sz="2100" b="1">
                <a:solidFill>
                  <a:srgbClr val="333333"/>
                </a:solidFill>
                <a:latin typeface="Neo Sans" pitchFamily="34" charset="0"/>
              </a:rPr>
              <a:t>design</a:t>
            </a:r>
            <a:r>
              <a:rPr lang="en-US" sz="2100">
                <a:solidFill>
                  <a:srgbClr val="333333"/>
                </a:solidFill>
                <a:latin typeface="Neo Sans" pitchFamily="34" charset="0"/>
              </a:rPr>
              <a:t> of your template, it’s what you </a:t>
            </a:r>
            <a:r>
              <a:rPr lang="en-US" sz="2100" b="1">
                <a:solidFill>
                  <a:srgbClr val="333333"/>
                </a:solidFill>
                <a:latin typeface="Neo Sans" pitchFamily="34" charset="0"/>
              </a:rPr>
              <a:t>do with it</a:t>
            </a:r>
            <a:r>
              <a:rPr lang="en-US" sz="2100">
                <a:solidFill>
                  <a:srgbClr val="333333"/>
                </a:solidFill>
                <a:latin typeface="Neo Sans" pitchFamily="34" charset="0"/>
              </a:rPr>
              <a:t> that counts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2000">
          <a:solidFill>
            <a:srgbClr val="333333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2000">
          <a:solidFill>
            <a:srgbClr val="333333"/>
          </a:solidFill>
          <a:latin typeface="Neo Sans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2000">
          <a:solidFill>
            <a:srgbClr val="333333"/>
          </a:solidFill>
          <a:latin typeface="Neo Sans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2000">
          <a:solidFill>
            <a:srgbClr val="333333"/>
          </a:solidFill>
          <a:latin typeface="Neo Sans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2000">
          <a:solidFill>
            <a:srgbClr val="333333"/>
          </a:solidFill>
          <a:latin typeface="Neo Sans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000">
          <a:solidFill>
            <a:srgbClr val="333333"/>
          </a:solidFill>
          <a:latin typeface="Neo Sans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000">
          <a:solidFill>
            <a:srgbClr val="333333"/>
          </a:solidFill>
          <a:latin typeface="Neo Sans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000">
          <a:solidFill>
            <a:srgbClr val="333333"/>
          </a:solidFill>
          <a:latin typeface="Neo Sans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000">
          <a:solidFill>
            <a:srgbClr val="333333"/>
          </a:solidFill>
          <a:latin typeface="Neo Sans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57200" y="1676400"/>
            <a:ext cx="8382000" cy="1470025"/>
          </a:xfrm>
        </p:spPr>
        <p:txBody>
          <a:bodyPr/>
          <a:lstStyle/>
          <a:p>
            <a:r>
              <a:rPr lang="en-US" sz="4400" b="1" dirty="0"/>
              <a:t/>
            </a:r>
            <a:br>
              <a:rPr lang="en-US" sz="4400" b="1" dirty="0"/>
            </a:br>
            <a:r>
              <a:rPr lang="en-US" sz="4200" b="1" dirty="0" smtClean="0">
                <a:solidFill>
                  <a:srgbClr val="024069"/>
                </a:solidFill>
              </a:rPr>
              <a:t>Object Oriented Programming</a:t>
            </a:r>
            <a:r>
              <a:rPr lang="en-US" sz="4200" b="1" dirty="0">
                <a:solidFill>
                  <a:srgbClr val="024069"/>
                </a:solidFill>
              </a:rPr>
              <a:t/>
            </a:r>
            <a:br>
              <a:rPr lang="en-US" sz="4200" b="1" dirty="0">
                <a:solidFill>
                  <a:srgbClr val="024069"/>
                </a:solidFill>
              </a:rPr>
            </a:br>
            <a:r>
              <a:rPr lang="en-US" sz="4200" b="1" dirty="0">
                <a:solidFill>
                  <a:srgbClr val="024069"/>
                </a:solidFill>
              </a:rPr>
              <a:t>CSE </a:t>
            </a:r>
            <a:r>
              <a:rPr lang="en-US" sz="4200" b="1" dirty="0" smtClean="0">
                <a:solidFill>
                  <a:srgbClr val="024069"/>
                </a:solidFill>
              </a:rPr>
              <a:t>2101</a:t>
            </a:r>
            <a:r>
              <a:rPr lang="en-US" sz="4400" b="1" dirty="0">
                <a:solidFill>
                  <a:srgbClr val="024069"/>
                </a:solidFill>
              </a:rPr>
              <a:t/>
            </a:r>
            <a:br>
              <a:rPr lang="en-US" sz="4400" b="1" dirty="0">
                <a:solidFill>
                  <a:srgbClr val="024069"/>
                </a:solidFill>
              </a:rPr>
            </a:br>
            <a:r>
              <a:rPr lang="en-US" sz="4400" b="1" dirty="0">
                <a:solidFill>
                  <a:srgbClr val="024069"/>
                </a:solidFill>
              </a:rPr>
              <a:t/>
            </a:r>
            <a:br>
              <a:rPr lang="en-US" sz="4400" b="1" dirty="0">
                <a:solidFill>
                  <a:srgbClr val="024069"/>
                </a:solidFill>
              </a:rPr>
            </a:br>
            <a:r>
              <a:rPr lang="en-US" sz="2800" b="1" dirty="0">
                <a:solidFill>
                  <a:srgbClr val="024069"/>
                </a:solidFill>
              </a:rPr>
              <a:t>Lecture </a:t>
            </a:r>
            <a:r>
              <a:rPr lang="en-US" sz="2800" b="1">
                <a:solidFill>
                  <a:srgbClr val="024069"/>
                </a:solidFill>
              </a:rPr>
              <a:t>- </a:t>
            </a:r>
            <a:r>
              <a:rPr lang="en-US" sz="2800" b="1" smtClean="0">
                <a:solidFill>
                  <a:srgbClr val="024069"/>
                </a:solidFill>
              </a:rPr>
              <a:t>05</a:t>
            </a:r>
            <a:r>
              <a:rPr lang="en-US" sz="3200" b="1" dirty="0"/>
              <a:t/>
            </a:r>
            <a:br>
              <a:rPr lang="en-US" sz="3200" b="1" dirty="0"/>
            </a:br>
            <a:endParaRPr lang="en-US" sz="3200" b="1" dirty="0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267200"/>
            <a:ext cx="6934200" cy="1752600"/>
          </a:xfrm>
        </p:spPr>
        <p:txBody>
          <a:bodyPr/>
          <a:lstStyle/>
          <a:p>
            <a:r>
              <a:rPr lang="en-US" dirty="0"/>
              <a:t>Jubayer Al Mahmud</a:t>
            </a:r>
          </a:p>
          <a:p>
            <a:r>
              <a:rPr lang="en-US" sz="2400" dirty="0" smtClean="0"/>
              <a:t>Lecturer</a:t>
            </a:r>
            <a:endParaRPr lang="en-US" sz="2400" dirty="0"/>
          </a:p>
          <a:p>
            <a:r>
              <a:rPr lang="en-US" sz="2400" dirty="0" smtClean="0"/>
              <a:t>Jashore </a:t>
            </a:r>
            <a:r>
              <a:rPr lang="en-US" sz="2400" dirty="0"/>
              <a:t>University of </a:t>
            </a:r>
            <a:r>
              <a:rPr lang="en-US" sz="2400" dirty="0" smtClean="0"/>
              <a:t>Science </a:t>
            </a:r>
            <a:r>
              <a:rPr lang="en-US" sz="2400" dirty="0"/>
              <a:t>&amp; Technology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078" name="AutoShape 30"/>
          <p:cNvSpPr>
            <a:spLocks noChangeAspect="1" noChangeArrowheads="1" noTextEdit="1"/>
          </p:cNvSpPr>
          <p:nvPr/>
        </p:nvSpPr>
        <p:spPr bwMode="auto">
          <a:xfrm>
            <a:off x="468313" y="6367463"/>
            <a:ext cx="958850" cy="98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2115" name="Group 67"/>
          <p:cNvGrpSpPr>
            <a:grpSpLocks/>
          </p:cNvGrpSpPr>
          <p:nvPr/>
        </p:nvGrpSpPr>
        <p:grpSpPr bwMode="auto">
          <a:xfrm>
            <a:off x="228600" y="1371600"/>
            <a:ext cx="431800" cy="430213"/>
            <a:chOff x="5129" y="3937"/>
            <a:chExt cx="349" cy="348"/>
          </a:xfrm>
        </p:grpSpPr>
        <p:sp>
          <p:nvSpPr>
            <p:cNvPr id="2116" name="Freeform 68"/>
            <p:cNvSpPr>
              <a:spLocks/>
            </p:cNvSpPr>
            <p:nvPr/>
          </p:nvSpPr>
          <p:spPr bwMode="auto">
            <a:xfrm>
              <a:off x="5193" y="3937"/>
              <a:ext cx="156" cy="87"/>
            </a:xfrm>
            <a:custGeom>
              <a:avLst/>
              <a:gdLst/>
              <a:ahLst/>
              <a:cxnLst>
                <a:cxn ang="0">
                  <a:pos x="180" y="88"/>
                </a:cxn>
                <a:cxn ang="0">
                  <a:pos x="206" y="8"/>
                </a:cxn>
                <a:cxn ang="0">
                  <a:pos x="206" y="8"/>
                </a:cxn>
                <a:cxn ang="0">
                  <a:pos x="178" y="2"/>
                </a:cxn>
                <a:cxn ang="0">
                  <a:pos x="150" y="0"/>
                </a:cxn>
                <a:cxn ang="0">
                  <a:pos x="124" y="0"/>
                </a:cxn>
                <a:cxn ang="0">
                  <a:pos x="96" y="4"/>
                </a:cxn>
                <a:cxn ang="0">
                  <a:pos x="70" y="12"/>
                </a:cxn>
                <a:cxn ang="0">
                  <a:pos x="46" y="22"/>
                </a:cxn>
                <a:cxn ang="0">
                  <a:pos x="22" y="36"/>
                </a:cxn>
                <a:cxn ang="0">
                  <a:pos x="0" y="50"/>
                </a:cxn>
                <a:cxn ang="0">
                  <a:pos x="58" y="114"/>
                </a:cxn>
                <a:cxn ang="0">
                  <a:pos x="58" y="114"/>
                </a:cxn>
                <a:cxn ang="0">
                  <a:pos x="72" y="106"/>
                </a:cxn>
                <a:cxn ang="0">
                  <a:pos x="86" y="98"/>
                </a:cxn>
                <a:cxn ang="0">
                  <a:pos x="100" y="92"/>
                </a:cxn>
                <a:cxn ang="0">
                  <a:pos x="116" y="88"/>
                </a:cxn>
                <a:cxn ang="0">
                  <a:pos x="130" y="86"/>
                </a:cxn>
                <a:cxn ang="0">
                  <a:pos x="146" y="84"/>
                </a:cxn>
                <a:cxn ang="0">
                  <a:pos x="164" y="86"/>
                </a:cxn>
                <a:cxn ang="0">
                  <a:pos x="180" y="88"/>
                </a:cxn>
                <a:cxn ang="0">
                  <a:pos x="180" y="88"/>
                </a:cxn>
              </a:cxnLst>
              <a:rect l="0" t="0" r="r" b="b"/>
              <a:pathLst>
                <a:path w="206" h="114">
                  <a:moveTo>
                    <a:pt x="180" y="88"/>
                  </a:moveTo>
                  <a:lnTo>
                    <a:pt x="206" y="8"/>
                  </a:lnTo>
                  <a:lnTo>
                    <a:pt x="206" y="8"/>
                  </a:lnTo>
                  <a:lnTo>
                    <a:pt x="178" y="2"/>
                  </a:lnTo>
                  <a:lnTo>
                    <a:pt x="150" y="0"/>
                  </a:lnTo>
                  <a:lnTo>
                    <a:pt x="124" y="0"/>
                  </a:lnTo>
                  <a:lnTo>
                    <a:pt x="96" y="4"/>
                  </a:lnTo>
                  <a:lnTo>
                    <a:pt x="70" y="12"/>
                  </a:lnTo>
                  <a:lnTo>
                    <a:pt x="46" y="22"/>
                  </a:lnTo>
                  <a:lnTo>
                    <a:pt x="22" y="36"/>
                  </a:lnTo>
                  <a:lnTo>
                    <a:pt x="0" y="50"/>
                  </a:lnTo>
                  <a:lnTo>
                    <a:pt x="58" y="114"/>
                  </a:lnTo>
                  <a:lnTo>
                    <a:pt x="58" y="114"/>
                  </a:lnTo>
                  <a:lnTo>
                    <a:pt x="72" y="106"/>
                  </a:lnTo>
                  <a:lnTo>
                    <a:pt x="86" y="98"/>
                  </a:lnTo>
                  <a:lnTo>
                    <a:pt x="100" y="92"/>
                  </a:lnTo>
                  <a:lnTo>
                    <a:pt x="116" y="88"/>
                  </a:lnTo>
                  <a:lnTo>
                    <a:pt x="130" y="86"/>
                  </a:lnTo>
                  <a:lnTo>
                    <a:pt x="146" y="84"/>
                  </a:lnTo>
                  <a:lnTo>
                    <a:pt x="164" y="86"/>
                  </a:lnTo>
                  <a:lnTo>
                    <a:pt x="180" y="88"/>
                  </a:lnTo>
                  <a:lnTo>
                    <a:pt x="180" y="88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17" name="Freeform 69"/>
            <p:cNvSpPr>
              <a:spLocks/>
            </p:cNvSpPr>
            <p:nvPr/>
          </p:nvSpPr>
          <p:spPr bwMode="auto">
            <a:xfrm>
              <a:off x="5383" y="4083"/>
              <a:ext cx="95" cy="152"/>
            </a:xfrm>
            <a:custGeom>
              <a:avLst/>
              <a:gdLst/>
              <a:ahLst/>
              <a:cxnLst>
                <a:cxn ang="0">
                  <a:pos x="32" y="82"/>
                </a:cxn>
                <a:cxn ang="0">
                  <a:pos x="32" y="82"/>
                </a:cxn>
                <a:cxn ang="0">
                  <a:pos x="26" y="96"/>
                </a:cxn>
                <a:cxn ang="0">
                  <a:pos x="20" y="110"/>
                </a:cxn>
                <a:cxn ang="0">
                  <a:pos x="10" y="124"/>
                </a:cxn>
                <a:cxn ang="0">
                  <a:pos x="0" y="136"/>
                </a:cxn>
                <a:cxn ang="0">
                  <a:pos x="58" y="200"/>
                </a:cxn>
                <a:cxn ang="0">
                  <a:pos x="58" y="200"/>
                </a:cxn>
                <a:cxn ang="0">
                  <a:pos x="76" y="180"/>
                </a:cxn>
                <a:cxn ang="0">
                  <a:pos x="92" y="158"/>
                </a:cxn>
                <a:cxn ang="0">
                  <a:pos x="104" y="134"/>
                </a:cxn>
                <a:cxn ang="0">
                  <a:pos x="114" y="108"/>
                </a:cxn>
                <a:cxn ang="0">
                  <a:pos x="114" y="108"/>
                </a:cxn>
                <a:cxn ang="0">
                  <a:pos x="122" y="80"/>
                </a:cxn>
                <a:cxn ang="0">
                  <a:pos x="126" y="54"/>
                </a:cxn>
                <a:cxn ang="0">
                  <a:pos x="126" y="26"/>
                </a:cxn>
                <a:cxn ang="0">
                  <a:pos x="122" y="0"/>
                </a:cxn>
                <a:cxn ang="0">
                  <a:pos x="38" y="18"/>
                </a:cxn>
                <a:cxn ang="0">
                  <a:pos x="38" y="18"/>
                </a:cxn>
                <a:cxn ang="0">
                  <a:pos x="40" y="34"/>
                </a:cxn>
                <a:cxn ang="0">
                  <a:pos x="40" y="50"/>
                </a:cxn>
                <a:cxn ang="0">
                  <a:pos x="38" y="66"/>
                </a:cxn>
                <a:cxn ang="0">
                  <a:pos x="32" y="82"/>
                </a:cxn>
                <a:cxn ang="0">
                  <a:pos x="32" y="82"/>
                </a:cxn>
              </a:cxnLst>
              <a:rect l="0" t="0" r="r" b="b"/>
              <a:pathLst>
                <a:path w="126" h="200">
                  <a:moveTo>
                    <a:pt x="32" y="82"/>
                  </a:moveTo>
                  <a:lnTo>
                    <a:pt x="32" y="82"/>
                  </a:lnTo>
                  <a:lnTo>
                    <a:pt x="26" y="96"/>
                  </a:lnTo>
                  <a:lnTo>
                    <a:pt x="20" y="110"/>
                  </a:lnTo>
                  <a:lnTo>
                    <a:pt x="10" y="124"/>
                  </a:lnTo>
                  <a:lnTo>
                    <a:pt x="0" y="136"/>
                  </a:lnTo>
                  <a:lnTo>
                    <a:pt x="58" y="200"/>
                  </a:lnTo>
                  <a:lnTo>
                    <a:pt x="58" y="200"/>
                  </a:lnTo>
                  <a:lnTo>
                    <a:pt x="76" y="180"/>
                  </a:lnTo>
                  <a:lnTo>
                    <a:pt x="92" y="158"/>
                  </a:lnTo>
                  <a:lnTo>
                    <a:pt x="104" y="134"/>
                  </a:lnTo>
                  <a:lnTo>
                    <a:pt x="114" y="108"/>
                  </a:lnTo>
                  <a:lnTo>
                    <a:pt x="114" y="108"/>
                  </a:lnTo>
                  <a:lnTo>
                    <a:pt x="122" y="80"/>
                  </a:lnTo>
                  <a:lnTo>
                    <a:pt x="126" y="54"/>
                  </a:lnTo>
                  <a:lnTo>
                    <a:pt x="126" y="26"/>
                  </a:lnTo>
                  <a:lnTo>
                    <a:pt x="122" y="0"/>
                  </a:lnTo>
                  <a:lnTo>
                    <a:pt x="38" y="18"/>
                  </a:lnTo>
                  <a:lnTo>
                    <a:pt x="38" y="18"/>
                  </a:lnTo>
                  <a:lnTo>
                    <a:pt x="40" y="34"/>
                  </a:lnTo>
                  <a:lnTo>
                    <a:pt x="40" y="50"/>
                  </a:lnTo>
                  <a:lnTo>
                    <a:pt x="38" y="66"/>
                  </a:lnTo>
                  <a:lnTo>
                    <a:pt x="32" y="82"/>
                  </a:lnTo>
                  <a:lnTo>
                    <a:pt x="32" y="8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18" name="Freeform 70"/>
            <p:cNvSpPr>
              <a:spLocks/>
            </p:cNvSpPr>
            <p:nvPr/>
          </p:nvSpPr>
          <p:spPr bwMode="auto">
            <a:xfrm>
              <a:off x="5129" y="3987"/>
              <a:ext cx="96" cy="152"/>
            </a:xfrm>
            <a:custGeom>
              <a:avLst/>
              <a:gdLst/>
              <a:ahLst/>
              <a:cxnLst>
                <a:cxn ang="0">
                  <a:pos x="92" y="118"/>
                </a:cxn>
                <a:cxn ang="0">
                  <a:pos x="92" y="118"/>
                </a:cxn>
                <a:cxn ang="0">
                  <a:pos x="98" y="104"/>
                </a:cxn>
                <a:cxn ang="0">
                  <a:pos x="106" y="88"/>
                </a:cxn>
                <a:cxn ang="0">
                  <a:pos x="116" y="76"/>
                </a:cxn>
                <a:cxn ang="0">
                  <a:pos x="126" y="64"/>
                </a:cxn>
                <a:cxn ang="0">
                  <a:pos x="68" y="0"/>
                </a:cxn>
                <a:cxn ang="0">
                  <a:pos x="68" y="0"/>
                </a:cxn>
                <a:cxn ang="0">
                  <a:pos x="50" y="20"/>
                </a:cxn>
                <a:cxn ang="0">
                  <a:pos x="34" y="42"/>
                </a:cxn>
                <a:cxn ang="0">
                  <a:pos x="22" y="66"/>
                </a:cxn>
                <a:cxn ang="0">
                  <a:pos x="12" y="92"/>
                </a:cxn>
                <a:cxn ang="0">
                  <a:pos x="12" y="92"/>
                </a:cxn>
                <a:cxn ang="0">
                  <a:pos x="4" y="118"/>
                </a:cxn>
                <a:cxn ang="0">
                  <a:pos x="0" y="146"/>
                </a:cxn>
                <a:cxn ang="0">
                  <a:pos x="0" y="174"/>
                </a:cxn>
                <a:cxn ang="0">
                  <a:pos x="4" y="200"/>
                </a:cxn>
                <a:cxn ang="0">
                  <a:pos x="88" y="182"/>
                </a:cxn>
                <a:cxn ang="0">
                  <a:pos x="88" y="182"/>
                </a:cxn>
                <a:cxn ang="0">
                  <a:pos x="86" y="166"/>
                </a:cxn>
                <a:cxn ang="0">
                  <a:pos x="86" y="150"/>
                </a:cxn>
                <a:cxn ang="0">
                  <a:pos x="88" y="134"/>
                </a:cxn>
                <a:cxn ang="0">
                  <a:pos x="92" y="118"/>
                </a:cxn>
                <a:cxn ang="0">
                  <a:pos x="92" y="118"/>
                </a:cxn>
              </a:cxnLst>
              <a:rect l="0" t="0" r="r" b="b"/>
              <a:pathLst>
                <a:path w="126" h="200">
                  <a:moveTo>
                    <a:pt x="92" y="118"/>
                  </a:moveTo>
                  <a:lnTo>
                    <a:pt x="92" y="118"/>
                  </a:lnTo>
                  <a:lnTo>
                    <a:pt x="98" y="104"/>
                  </a:lnTo>
                  <a:lnTo>
                    <a:pt x="106" y="88"/>
                  </a:lnTo>
                  <a:lnTo>
                    <a:pt x="116" y="76"/>
                  </a:lnTo>
                  <a:lnTo>
                    <a:pt x="126" y="64"/>
                  </a:lnTo>
                  <a:lnTo>
                    <a:pt x="68" y="0"/>
                  </a:lnTo>
                  <a:lnTo>
                    <a:pt x="68" y="0"/>
                  </a:lnTo>
                  <a:lnTo>
                    <a:pt x="50" y="20"/>
                  </a:lnTo>
                  <a:lnTo>
                    <a:pt x="34" y="42"/>
                  </a:lnTo>
                  <a:lnTo>
                    <a:pt x="22" y="66"/>
                  </a:lnTo>
                  <a:lnTo>
                    <a:pt x="12" y="92"/>
                  </a:lnTo>
                  <a:lnTo>
                    <a:pt x="12" y="92"/>
                  </a:lnTo>
                  <a:lnTo>
                    <a:pt x="4" y="118"/>
                  </a:lnTo>
                  <a:lnTo>
                    <a:pt x="0" y="146"/>
                  </a:lnTo>
                  <a:lnTo>
                    <a:pt x="0" y="174"/>
                  </a:lnTo>
                  <a:lnTo>
                    <a:pt x="4" y="200"/>
                  </a:lnTo>
                  <a:lnTo>
                    <a:pt x="88" y="182"/>
                  </a:lnTo>
                  <a:lnTo>
                    <a:pt x="88" y="182"/>
                  </a:lnTo>
                  <a:lnTo>
                    <a:pt x="86" y="166"/>
                  </a:lnTo>
                  <a:lnTo>
                    <a:pt x="86" y="150"/>
                  </a:lnTo>
                  <a:lnTo>
                    <a:pt x="88" y="134"/>
                  </a:lnTo>
                  <a:lnTo>
                    <a:pt x="92" y="118"/>
                  </a:lnTo>
                  <a:lnTo>
                    <a:pt x="92" y="118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19" name="Freeform 71"/>
            <p:cNvSpPr>
              <a:spLocks/>
            </p:cNvSpPr>
            <p:nvPr/>
          </p:nvSpPr>
          <p:spPr bwMode="auto">
            <a:xfrm>
              <a:off x="5135" y="4142"/>
              <a:ext cx="126" cy="132"/>
            </a:xfrm>
            <a:custGeom>
              <a:avLst/>
              <a:gdLst/>
              <a:ahLst/>
              <a:cxnLst>
                <a:cxn ang="0">
                  <a:pos x="84" y="0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8" y="44"/>
                </a:cxn>
                <a:cxn ang="0">
                  <a:pos x="20" y="68"/>
                </a:cxn>
                <a:cxn ang="0">
                  <a:pos x="34" y="90"/>
                </a:cxn>
                <a:cxn ang="0">
                  <a:pos x="50" y="112"/>
                </a:cxn>
                <a:cxn ang="0">
                  <a:pos x="70" y="130"/>
                </a:cxn>
                <a:cxn ang="0">
                  <a:pos x="90" y="148"/>
                </a:cxn>
                <a:cxn ang="0">
                  <a:pos x="114" y="162"/>
                </a:cxn>
                <a:cxn ang="0">
                  <a:pos x="140" y="174"/>
                </a:cxn>
                <a:cxn ang="0">
                  <a:pos x="166" y="92"/>
                </a:cxn>
                <a:cxn ang="0">
                  <a:pos x="166" y="92"/>
                </a:cxn>
                <a:cxn ang="0">
                  <a:pos x="152" y="84"/>
                </a:cxn>
                <a:cxn ang="0">
                  <a:pos x="138" y="76"/>
                </a:cxn>
                <a:cxn ang="0">
                  <a:pos x="126" y="66"/>
                </a:cxn>
                <a:cxn ang="0">
                  <a:pos x="114" y="54"/>
                </a:cxn>
                <a:cxn ang="0">
                  <a:pos x="104" y="42"/>
                </a:cxn>
                <a:cxn ang="0">
                  <a:pos x="96" y="28"/>
                </a:cxn>
                <a:cxn ang="0">
                  <a:pos x="90" y="14"/>
                </a:cxn>
                <a:cxn ang="0">
                  <a:pos x="84" y="0"/>
                </a:cxn>
                <a:cxn ang="0">
                  <a:pos x="84" y="0"/>
                </a:cxn>
              </a:cxnLst>
              <a:rect l="0" t="0" r="r" b="b"/>
              <a:pathLst>
                <a:path w="166" h="174">
                  <a:moveTo>
                    <a:pt x="84" y="0"/>
                  </a:moveTo>
                  <a:lnTo>
                    <a:pt x="0" y="18"/>
                  </a:lnTo>
                  <a:lnTo>
                    <a:pt x="0" y="18"/>
                  </a:lnTo>
                  <a:lnTo>
                    <a:pt x="8" y="44"/>
                  </a:lnTo>
                  <a:lnTo>
                    <a:pt x="20" y="68"/>
                  </a:lnTo>
                  <a:lnTo>
                    <a:pt x="34" y="90"/>
                  </a:lnTo>
                  <a:lnTo>
                    <a:pt x="50" y="112"/>
                  </a:lnTo>
                  <a:lnTo>
                    <a:pt x="70" y="130"/>
                  </a:lnTo>
                  <a:lnTo>
                    <a:pt x="90" y="148"/>
                  </a:lnTo>
                  <a:lnTo>
                    <a:pt x="114" y="162"/>
                  </a:lnTo>
                  <a:lnTo>
                    <a:pt x="140" y="174"/>
                  </a:lnTo>
                  <a:lnTo>
                    <a:pt x="166" y="92"/>
                  </a:lnTo>
                  <a:lnTo>
                    <a:pt x="166" y="92"/>
                  </a:lnTo>
                  <a:lnTo>
                    <a:pt x="152" y="84"/>
                  </a:lnTo>
                  <a:lnTo>
                    <a:pt x="138" y="76"/>
                  </a:lnTo>
                  <a:lnTo>
                    <a:pt x="126" y="66"/>
                  </a:lnTo>
                  <a:lnTo>
                    <a:pt x="114" y="54"/>
                  </a:lnTo>
                  <a:lnTo>
                    <a:pt x="104" y="42"/>
                  </a:lnTo>
                  <a:lnTo>
                    <a:pt x="96" y="28"/>
                  </a:lnTo>
                  <a:lnTo>
                    <a:pt x="90" y="14"/>
                  </a:lnTo>
                  <a:lnTo>
                    <a:pt x="84" y="0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20" name="Freeform 72"/>
            <p:cNvSpPr>
              <a:spLocks/>
            </p:cNvSpPr>
            <p:nvPr/>
          </p:nvSpPr>
          <p:spPr bwMode="auto">
            <a:xfrm>
              <a:off x="5345" y="3948"/>
              <a:ext cx="127" cy="132"/>
            </a:xfrm>
            <a:custGeom>
              <a:avLst/>
              <a:gdLst/>
              <a:ahLst/>
              <a:cxnLst>
                <a:cxn ang="0">
                  <a:pos x="84" y="174"/>
                </a:cxn>
                <a:cxn ang="0">
                  <a:pos x="168" y="156"/>
                </a:cxn>
                <a:cxn ang="0">
                  <a:pos x="168" y="156"/>
                </a:cxn>
                <a:cxn ang="0">
                  <a:pos x="160" y="130"/>
                </a:cxn>
                <a:cxn ang="0">
                  <a:pos x="148" y="106"/>
                </a:cxn>
                <a:cxn ang="0">
                  <a:pos x="134" y="84"/>
                </a:cxn>
                <a:cxn ang="0">
                  <a:pos x="118" y="62"/>
                </a:cxn>
                <a:cxn ang="0">
                  <a:pos x="98" y="44"/>
                </a:cxn>
                <a:cxn ang="0">
                  <a:pos x="76" y="26"/>
                </a:cxn>
                <a:cxn ang="0">
                  <a:pos x="54" y="12"/>
                </a:cxn>
                <a:cxn ang="0">
                  <a:pos x="28" y="0"/>
                </a:cxn>
                <a:cxn ang="0">
                  <a:pos x="0" y="82"/>
                </a:cxn>
                <a:cxn ang="0">
                  <a:pos x="0" y="82"/>
                </a:cxn>
                <a:cxn ang="0">
                  <a:pos x="16" y="90"/>
                </a:cxn>
                <a:cxn ang="0">
                  <a:pos x="30" y="98"/>
                </a:cxn>
                <a:cxn ang="0">
                  <a:pos x="42" y="108"/>
                </a:cxn>
                <a:cxn ang="0">
                  <a:pos x="54" y="120"/>
                </a:cxn>
                <a:cxn ang="0">
                  <a:pos x="64" y="132"/>
                </a:cxn>
                <a:cxn ang="0">
                  <a:pos x="72" y="144"/>
                </a:cxn>
                <a:cxn ang="0">
                  <a:pos x="78" y="160"/>
                </a:cxn>
                <a:cxn ang="0">
                  <a:pos x="84" y="174"/>
                </a:cxn>
                <a:cxn ang="0">
                  <a:pos x="84" y="174"/>
                </a:cxn>
              </a:cxnLst>
              <a:rect l="0" t="0" r="r" b="b"/>
              <a:pathLst>
                <a:path w="168" h="174">
                  <a:moveTo>
                    <a:pt x="84" y="174"/>
                  </a:moveTo>
                  <a:lnTo>
                    <a:pt x="168" y="156"/>
                  </a:lnTo>
                  <a:lnTo>
                    <a:pt x="168" y="156"/>
                  </a:lnTo>
                  <a:lnTo>
                    <a:pt x="160" y="130"/>
                  </a:lnTo>
                  <a:lnTo>
                    <a:pt x="148" y="106"/>
                  </a:lnTo>
                  <a:lnTo>
                    <a:pt x="134" y="84"/>
                  </a:lnTo>
                  <a:lnTo>
                    <a:pt x="118" y="62"/>
                  </a:lnTo>
                  <a:lnTo>
                    <a:pt x="98" y="44"/>
                  </a:lnTo>
                  <a:lnTo>
                    <a:pt x="76" y="26"/>
                  </a:lnTo>
                  <a:lnTo>
                    <a:pt x="54" y="12"/>
                  </a:lnTo>
                  <a:lnTo>
                    <a:pt x="28" y="0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16" y="90"/>
                  </a:lnTo>
                  <a:lnTo>
                    <a:pt x="30" y="98"/>
                  </a:lnTo>
                  <a:lnTo>
                    <a:pt x="42" y="108"/>
                  </a:lnTo>
                  <a:lnTo>
                    <a:pt x="54" y="120"/>
                  </a:lnTo>
                  <a:lnTo>
                    <a:pt x="64" y="132"/>
                  </a:lnTo>
                  <a:lnTo>
                    <a:pt x="72" y="144"/>
                  </a:lnTo>
                  <a:lnTo>
                    <a:pt x="78" y="160"/>
                  </a:lnTo>
                  <a:lnTo>
                    <a:pt x="84" y="174"/>
                  </a:lnTo>
                  <a:lnTo>
                    <a:pt x="84" y="174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21" name="Freeform 73"/>
            <p:cNvSpPr>
              <a:spLocks/>
            </p:cNvSpPr>
            <p:nvPr/>
          </p:nvSpPr>
          <p:spPr bwMode="auto">
            <a:xfrm>
              <a:off x="5258" y="4197"/>
              <a:ext cx="156" cy="88"/>
            </a:xfrm>
            <a:custGeom>
              <a:avLst/>
              <a:gdLst/>
              <a:ahLst/>
              <a:cxnLst>
                <a:cxn ang="0">
                  <a:pos x="26" y="26"/>
                </a:cxn>
                <a:cxn ang="0">
                  <a:pos x="0" y="108"/>
                </a:cxn>
                <a:cxn ang="0">
                  <a:pos x="0" y="108"/>
                </a:cxn>
                <a:cxn ang="0">
                  <a:pos x="28" y="114"/>
                </a:cxn>
                <a:cxn ang="0">
                  <a:pos x="56" y="116"/>
                </a:cxn>
                <a:cxn ang="0">
                  <a:pos x="82" y="116"/>
                </a:cxn>
                <a:cxn ang="0">
                  <a:pos x="110" y="112"/>
                </a:cxn>
                <a:cxn ang="0">
                  <a:pos x="136" y="104"/>
                </a:cxn>
                <a:cxn ang="0">
                  <a:pos x="160" y="94"/>
                </a:cxn>
                <a:cxn ang="0">
                  <a:pos x="184" y="80"/>
                </a:cxn>
                <a:cxn ang="0">
                  <a:pos x="206" y="64"/>
                </a:cxn>
                <a:cxn ang="0">
                  <a:pos x="148" y="0"/>
                </a:cxn>
                <a:cxn ang="0">
                  <a:pos x="148" y="0"/>
                </a:cxn>
                <a:cxn ang="0">
                  <a:pos x="134" y="10"/>
                </a:cxn>
                <a:cxn ang="0">
                  <a:pos x="120" y="18"/>
                </a:cxn>
                <a:cxn ang="0">
                  <a:pos x="106" y="24"/>
                </a:cxn>
                <a:cxn ang="0">
                  <a:pos x="90" y="28"/>
                </a:cxn>
                <a:cxn ang="0">
                  <a:pos x="74" y="30"/>
                </a:cxn>
                <a:cxn ang="0">
                  <a:pos x="58" y="30"/>
                </a:cxn>
                <a:cxn ang="0">
                  <a:pos x="42" y="30"/>
                </a:cxn>
                <a:cxn ang="0">
                  <a:pos x="26" y="26"/>
                </a:cxn>
                <a:cxn ang="0">
                  <a:pos x="26" y="26"/>
                </a:cxn>
              </a:cxnLst>
              <a:rect l="0" t="0" r="r" b="b"/>
              <a:pathLst>
                <a:path w="206" h="116">
                  <a:moveTo>
                    <a:pt x="26" y="26"/>
                  </a:moveTo>
                  <a:lnTo>
                    <a:pt x="0" y="108"/>
                  </a:lnTo>
                  <a:lnTo>
                    <a:pt x="0" y="108"/>
                  </a:lnTo>
                  <a:lnTo>
                    <a:pt x="28" y="114"/>
                  </a:lnTo>
                  <a:lnTo>
                    <a:pt x="56" y="116"/>
                  </a:lnTo>
                  <a:lnTo>
                    <a:pt x="82" y="116"/>
                  </a:lnTo>
                  <a:lnTo>
                    <a:pt x="110" y="112"/>
                  </a:lnTo>
                  <a:lnTo>
                    <a:pt x="136" y="104"/>
                  </a:lnTo>
                  <a:lnTo>
                    <a:pt x="160" y="94"/>
                  </a:lnTo>
                  <a:lnTo>
                    <a:pt x="184" y="80"/>
                  </a:lnTo>
                  <a:lnTo>
                    <a:pt x="206" y="64"/>
                  </a:lnTo>
                  <a:lnTo>
                    <a:pt x="148" y="0"/>
                  </a:lnTo>
                  <a:lnTo>
                    <a:pt x="148" y="0"/>
                  </a:lnTo>
                  <a:lnTo>
                    <a:pt x="134" y="10"/>
                  </a:lnTo>
                  <a:lnTo>
                    <a:pt x="120" y="18"/>
                  </a:lnTo>
                  <a:lnTo>
                    <a:pt x="106" y="24"/>
                  </a:lnTo>
                  <a:lnTo>
                    <a:pt x="90" y="28"/>
                  </a:lnTo>
                  <a:lnTo>
                    <a:pt x="74" y="30"/>
                  </a:lnTo>
                  <a:lnTo>
                    <a:pt x="58" y="30"/>
                  </a:lnTo>
                  <a:lnTo>
                    <a:pt x="42" y="30"/>
                  </a:lnTo>
                  <a:lnTo>
                    <a:pt x="26" y="26"/>
                  </a:lnTo>
                  <a:lnTo>
                    <a:pt x="26" y="26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22" name="Group 74"/>
          <p:cNvGrpSpPr>
            <a:grpSpLocks/>
          </p:cNvGrpSpPr>
          <p:nvPr/>
        </p:nvGrpSpPr>
        <p:grpSpPr bwMode="auto">
          <a:xfrm>
            <a:off x="457200" y="1143000"/>
            <a:ext cx="219075" cy="219075"/>
            <a:chOff x="5114" y="3685"/>
            <a:chExt cx="246" cy="246"/>
          </a:xfrm>
        </p:grpSpPr>
        <p:sp>
          <p:nvSpPr>
            <p:cNvPr id="2123" name="Freeform 75"/>
            <p:cNvSpPr>
              <a:spLocks/>
            </p:cNvSpPr>
            <p:nvPr/>
          </p:nvSpPr>
          <p:spPr bwMode="auto">
            <a:xfrm>
              <a:off x="5135" y="3845"/>
              <a:ext cx="94" cy="86"/>
            </a:xfrm>
            <a:custGeom>
              <a:avLst/>
              <a:gdLst/>
              <a:ahLst/>
              <a:cxnLst>
                <a:cxn ang="0">
                  <a:pos x="70" y="0"/>
                </a:cxn>
                <a:cxn ang="0">
                  <a:pos x="0" y="42"/>
                </a:cxn>
                <a:cxn ang="0">
                  <a:pos x="0" y="42"/>
                </a:cxn>
                <a:cxn ang="0">
                  <a:pos x="10" y="56"/>
                </a:cxn>
                <a:cxn ang="0">
                  <a:pos x="22" y="70"/>
                </a:cxn>
                <a:cxn ang="0">
                  <a:pos x="36" y="82"/>
                </a:cxn>
                <a:cxn ang="0">
                  <a:pos x="52" y="92"/>
                </a:cxn>
                <a:cxn ang="0">
                  <a:pos x="68" y="100"/>
                </a:cxn>
                <a:cxn ang="0">
                  <a:pos x="86" y="108"/>
                </a:cxn>
                <a:cxn ang="0">
                  <a:pos x="104" y="112"/>
                </a:cxn>
                <a:cxn ang="0">
                  <a:pos x="124" y="114"/>
                </a:cxn>
                <a:cxn ang="0">
                  <a:pos x="124" y="32"/>
                </a:cxn>
                <a:cxn ang="0">
                  <a:pos x="124" y="32"/>
                </a:cxn>
                <a:cxn ang="0">
                  <a:pos x="108" y="28"/>
                </a:cxn>
                <a:cxn ang="0">
                  <a:pos x="94" y="22"/>
                </a:cxn>
                <a:cxn ang="0">
                  <a:pos x="82" y="12"/>
                </a:cxn>
                <a:cxn ang="0">
                  <a:pos x="70" y="0"/>
                </a:cxn>
                <a:cxn ang="0">
                  <a:pos x="70" y="0"/>
                </a:cxn>
              </a:cxnLst>
              <a:rect l="0" t="0" r="r" b="b"/>
              <a:pathLst>
                <a:path w="124" h="114">
                  <a:moveTo>
                    <a:pt x="70" y="0"/>
                  </a:moveTo>
                  <a:lnTo>
                    <a:pt x="0" y="42"/>
                  </a:lnTo>
                  <a:lnTo>
                    <a:pt x="0" y="42"/>
                  </a:lnTo>
                  <a:lnTo>
                    <a:pt x="10" y="56"/>
                  </a:lnTo>
                  <a:lnTo>
                    <a:pt x="22" y="70"/>
                  </a:lnTo>
                  <a:lnTo>
                    <a:pt x="36" y="82"/>
                  </a:lnTo>
                  <a:lnTo>
                    <a:pt x="52" y="92"/>
                  </a:lnTo>
                  <a:lnTo>
                    <a:pt x="68" y="100"/>
                  </a:lnTo>
                  <a:lnTo>
                    <a:pt x="86" y="108"/>
                  </a:lnTo>
                  <a:lnTo>
                    <a:pt x="104" y="112"/>
                  </a:lnTo>
                  <a:lnTo>
                    <a:pt x="124" y="114"/>
                  </a:lnTo>
                  <a:lnTo>
                    <a:pt x="124" y="32"/>
                  </a:lnTo>
                  <a:lnTo>
                    <a:pt x="124" y="32"/>
                  </a:lnTo>
                  <a:lnTo>
                    <a:pt x="108" y="28"/>
                  </a:lnTo>
                  <a:lnTo>
                    <a:pt x="94" y="22"/>
                  </a:lnTo>
                  <a:lnTo>
                    <a:pt x="82" y="12"/>
                  </a:lnTo>
                  <a:lnTo>
                    <a:pt x="70" y="0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24" name="Freeform 76"/>
            <p:cNvSpPr>
              <a:spLocks/>
            </p:cNvSpPr>
            <p:nvPr/>
          </p:nvSpPr>
          <p:spPr bwMode="auto">
            <a:xfrm>
              <a:off x="5135" y="3685"/>
              <a:ext cx="94" cy="87"/>
            </a:xfrm>
            <a:custGeom>
              <a:avLst/>
              <a:gdLst/>
              <a:ahLst/>
              <a:cxnLst>
                <a:cxn ang="0">
                  <a:pos x="124" y="82"/>
                </a:cxn>
                <a:cxn ang="0">
                  <a:pos x="124" y="0"/>
                </a:cxn>
                <a:cxn ang="0">
                  <a:pos x="124" y="0"/>
                </a:cxn>
                <a:cxn ang="0">
                  <a:pos x="104" y="2"/>
                </a:cxn>
                <a:cxn ang="0">
                  <a:pos x="86" y="8"/>
                </a:cxn>
                <a:cxn ang="0">
                  <a:pos x="68" y="14"/>
                </a:cxn>
                <a:cxn ang="0">
                  <a:pos x="52" y="22"/>
                </a:cxn>
                <a:cxn ang="0">
                  <a:pos x="36" y="32"/>
                </a:cxn>
                <a:cxn ang="0">
                  <a:pos x="22" y="44"/>
                </a:cxn>
                <a:cxn ang="0">
                  <a:pos x="10" y="58"/>
                </a:cxn>
                <a:cxn ang="0">
                  <a:pos x="0" y="72"/>
                </a:cxn>
                <a:cxn ang="0">
                  <a:pos x="70" y="114"/>
                </a:cxn>
                <a:cxn ang="0">
                  <a:pos x="70" y="114"/>
                </a:cxn>
                <a:cxn ang="0">
                  <a:pos x="82" y="102"/>
                </a:cxn>
                <a:cxn ang="0">
                  <a:pos x="94" y="92"/>
                </a:cxn>
                <a:cxn ang="0">
                  <a:pos x="108" y="86"/>
                </a:cxn>
                <a:cxn ang="0">
                  <a:pos x="124" y="82"/>
                </a:cxn>
                <a:cxn ang="0">
                  <a:pos x="124" y="82"/>
                </a:cxn>
              </a:cxnLst>
              <a:rect l="0" t="0" r="r" b="b"/>
              <a:pathLst>
                <a:path w="124" h="114">
                  <a:moveTo>
                    <a:pt x="124" y="82"/>
                  </a:moveTo>
                  <a:lnTo>
                    <a:pt x="124" y="0"/>
                  </a:lnTo>
                  <a:lnTo>
                    <a:pt x="124" y="0"/>
                  </a:lnTo>
                  <a:lnTo>
                    <a:pt x="104" y="2"/>
                  </a:lnTo>
                  <a:lnTo>
                    <a:pt x="86" y="8"/>
                  </a:lnTo>
                  <a:lnTo>
                    <a:pt x="68" y="14"/>
                  </a:lnTo>
                  <a:lnTo>
                    <a:pt x="52" y="22"/>
                  </a:lnTo>
                  <a:lnTo>
                    <a:pt x="36" y="32"/>
                  </a:lnTo>
                  <a:lnTo>
                    <a:pt x="22" y="44"/>
                  </a:lnTo>
                  <a:lnTo>
                    <a:pt x="10" y="58"/>
                  </a:lnTo>
                  <a:lnTo>
                    <a:pt x="0" y="72"/>
                  </a:lnTo>
                  <a:lnTo>
                    <a:pt x="70" y="114"/>
                  </a:lnTo>
                  <a:lnTo>
                    <a:pt x="70" y="114"/>
                  </a:lnTo>
                  <a:lnTo>
                    <a:pt x="82" y="102"/>
                  </a:lnTo>
                  <a:lnTo>
                    <a:pt x="94" y="92"/>
                  </a:lnTo>
                  <a:lnTo>
                    <a:pt x="108" y="86"/>
                  </a:lnTo>
                  <a:lnTo>
                    <a:pt x="124" y="82"/>
                  </a:lnTo>
                  <a:lnTo>
                    <a:pt x="124" y="8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25" name="Freeform 77"/>
            <p:cNvSpPr>
              <a:spLocks/>
            </p:cNvSpPr>
            <p:nvPr/>
          </p:nvSpPr>
          <p:spPr bwMode="auto">
            <a:xfrm>
              <a:off x="5114" y="3754"/>
              <a:ext cx="67" cy="109"/>
            </a:xfrm>
            <a:custGeom>
              <a:avLst/>
              <a:gdLst/>
              <a:ahLst/>
              <a:cxnLst>
                <a:cxn ang="0">
                  <a:pos x="82" y="72"/>
                </a:cxn>
                <a:cxn ang="0">
                  <a:pos x="82" y="72"/>
                </a:cxn>
                <a:cxn ang="0">
                  <a:pos x="84" y="56"/>
                </a:cxn>
                <a:cxn ang="0">
                  <a:pos x="88" y="42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0" y="16"/>
                </a:cxn>
                <a:cxn ang="0">
                  <a:pos x="4" y="34"/>
                </a:cxn>
                <a:cxn ang="0">
                  <a:pos x="2" y="54"/>
                </a:cxn>
                <a:cxn ang="0">
                  <a:pos x="0" y="72"/>
                </a:cxn>
                <a:cxn ang="0">
                  <a:pos x="0" y="72"/>
                </a:cxn>
                <a:cxn ang="0">
                  <a:pos x="2" y="92"/>
                </a:cxn>
                <a:cxn ang="0">
                  <a:pos x="4" y="110"/>
                </a:cxn>
                <a:cxn ang="0">
                  <a:pos x="10" y="128"/>
                </a:cxn>
                <a:cxn ang="0">
                  <a:pos x="18" y="144"/>
                </a:cxn>
                <a:cxn ang="0">
                  <a:pos x="88" y="104"/>
                </a:cxn>
                <a:cxn ang="0">
                  <a:pos x="88" y="104"/>
                </a:cxn>
                <a:cxn ang="0">
                  <a:pos x="84" y="88"/>
                </a:cxn>
                <a:cxn ang="0">
                  <a:pos x="82" y="72"/>
                </a:cxn>
                <a:cxn ang="0">
                  <a:pos x="82" y="72"/>
                </a:cxn>
              </a:cxnLst>
              <a:rect l="0" t="0" r="r" b="b"/>
              <a:pathLst>
                <a:path w="88" h="144">
                  <a:moveTo>
                    <a:pt x="82" y="72"/>
                  </a:moveTo>
                  <a:lnTo>
                    <a:pt x="82" y="72"/>
                  </a:lnTo>
                  <a:lnTo>
                    <a:pt x="84" y="56"/>
                  </a:lnTo>
                  <a:lnTo>
                    <a:pt x="88" y="42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0" y="16"/>
                  </a:lnTo>
                  <a:lnTo>
                    <a:pt x="4" y="34"/>
                  </a:lnTo>
                  <a:lnTo>
                    <a:pt x="2" y="54"/>
                  </a:lnTo>
                  <a:lnTo>
                    <a:pt x="0" y="72"/>
                  </a:lnTo>
                  <a:lnTo>
                    <a:pt x="0" y="72"/>
                  </a:lnTo>
                  <a:lnTo>
                    <a:pt x="2" y="92"/>
                  </a:lnTo>
                  <a:lnTo>
                    <a:pt x="4" y="110"/>
                  </a:lnTo>
                  <a:lnTo>
                    <a:pt x="10" y="128"/>
                  </a:lnTo>
                  <a:lnTo>
                    <a:pt x="18" y="144"/>
                  </a:lnTo>
                  <a:lnTo>
                    <a:pt x="88" y="104"/>
                  </a:lnTo>
                  <a:lnTo>
                    <a:pt x="88" y="104"/>
                  </a:lnTo>
                  <a:lnTo>
                    <a:pt x="84" y="88"/>
                  </a:lnTo>
                  <a:lnTo>
                    <a:pt x="82" y="72"/>
                  </a:lnTo>
                  <a:lnTo>
                    <a:pt x="82" y="7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26" name="Freeform 78"/>
            <p:cNvSpPr>
              <a:spLocks/>
            </p:cNvSpPr>
            <p:nvPr/>
          </p:nvSpPr>
          <p:spPr bwMode="auto">
            <a:xfrm>
              <a:off x="5293" y="3754"/>
              <a:ext cx="67" cy="109"/>
            </a:xfrm>
            <a:custGeom>
              <a:avLst/>
              <a:gdLst/>
              <a:ahLst/>
              <a:cxnLst>
                <a:cxn ang="0">
                  <a:pos x="6" y="72"/>
                </a:cxn>
                <a:cxn ang="0">
                  <a:pos x="6" y="72"/>
                </a:cxn>
                <a:cxn ang="0">
                  <a:pos x="6" y="88"/>
                </a:cxn>
                <a:cxn ang="0">
                  <a:pos x="0" y="104"/>
                </a:cxn>
                <a:cxn ang="0">
                  <a:pos x="72" y="144"/>
                </a:cxn>
                <a:cxn ang="0">
                  <a:pos x="72" y="144"/>
                </a:cxn>
                <a:cxn ang="0">
                  <a:pos x="78" y="128"/>
                </a:cxn>
                <a:cxn ang="0">
                  <a:pos x="84" y="110"/>
                </a:cxn>
                <a:cxn ang="0">
                  <a:pos x="88" y="92"/>
                </a:cxn>
                <a:cxn ang="0">
                  <a:pos x="88" y="72"/>
                </a:cxn>
                <a:cxn ang="0">
                  <a:pos x="88" y="72"/>
                </a:cxn>
                <a:cxn ang="0">
                  <a:pos x="88" y="54"/>
                </a:cxn>
                <a:cxn ang="0">
                  <a:pos x="84" y="34"/>
                </a:cxn>
                <a:cxn ang="0">
                  <a:pos x="78" y="16"/>
                </a:cxn>
                <a:cxn ang="0">
                  <a:pos x="72" y="0"/>
                </a:cxn>
                <a:cxn ang="0">
                  <a:pos x="0" y="42"/>
                </a:cxn>
                <a:cxn ang="0">
                  <a:pos x="0" y="42"/>
                </a:cxn>
                <a:cxn ang="0">
                  <a:pos x="6" y="56"/>
                </a:cxn>
                <a:cxn ang="0">
                  <a:pos x="6" y="72"/>
                </a:cxn>
                <a:cxn ang="0">
                  <a:pos x="6" y="72"/>
                </a:cxn>
              </a:cxnLst>
              <a:rect l="0" t="0" r="r" b="b"/>
              <a:pathLst>
                <a:path w="88" h="144">
                  <a:moveTo>
                    <a:pt x="6" y="72"/>
                  </a:moveTo>
                  <a:lnTo>
                    <a:pt x="6" y="72"/>
                  </a:lnTo>
                  <a:lnTo>
                    <a:pt x="6" y="88"/>
                  </a:lnTo>
                  <a:lnTo>
                    <a:pt x="0" y="104"/>
                  </a:lnTo>
                  <a:lnTo>
                    <a:pt x="72" y="144"/>
                  </a:lnTo>
                  <a:lnTo>
                    <a:pt x="72" y="144"/>
                  </a:lnTo>
                  <a:lnTo>
                    <a:pt x="78" y="128"/>
                  </a:lnTo>
                  <a:lnTo>
                    <a:pt x="84" y="110"/>
                  </a:lnTo>
                  <a:lnTo>
                    <a:pt x="88" y="92"/>
                  </a:lnTo>
                  <a:lnTo>
                    <a:pt x="88" y="72"/>
                  </a:lnTo>
                  <a:lnTo>
                    <a:pt x="88" y="72"/>
                  </a:lnTo>
                  <a:lnTo>
                    <a:pt x="88" y="54"/>
                  </a:lnTo>
                  <a:lnTo>
                    <a:pt x="84" y="34"/>
                  </a:lnTo>
                  <a:lnTo>
                    <a:pt x="78" y="16"/>
                  </a:lnTo>
                  <a:lnTo>
                    <a:pt x="72" y="0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6" y="56"/>
                  </a:lnTo>
                  <a:lnTo>
                    <a:pt x="6" y="72"/>
                  </a:lnTo>
                  <a:lnTo>
                    <a:pt x="6" y="72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27" name="Freeform 79"/>
            <p:cNvSpPr>
              <a:spLocks/>
            </p:cNvSpPr>
            <p:nvPr/>
          </p:nvSpPr>
          <p:spPr bwMode="auto">
            <a:xfrm>
              <a:off x="5245" y="3845"/>
              <a:ext cx="95" cy="86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114"/>
                </a:cxn>
                <a:cxn ang="0">
                  <a:pos x="0" y="114"/>
                </a:cxn>
                <a:cxn ang="0">
                  <a:pos x="20" y="112"/>
                </a:cxn>
                <a:cxn ang="0">
                  <a:pos x="38" y="108"/>
                </a:cxn>
                <a:cxn ang="0">
                  <a:pos x="56" y="100"/>
                </a:cxn>
                <a:cxn ang="0">
                  <a:pos x="72" y="92"/>
                </a:cxn>
                <a:cxn ang="0">
                  <a:pos x="88" y="82"/>
                </a:cxn>
                <a:cxn ang="0">
                  <a:pos x="102" y="70"/>
                </a:cxn>
                <a:cxn ang="0">
                  <a:pos x="114" y="56"/>
                </a:cxn>
                <a:cxn ang="0">
                  <a:pos x="126" y="42"/>
                </a:cxn>
                <a:cxn ang="0">
                  <a:pos x="54" y="0"/>
                </a:cxn>
                <a:cxn ang="0">
                  <a:pos x="54" y="0"/>
                </a:cxn>
                <a:cxn ang="0">
                  <a:pos x="44" y="12"/>
                </a:cxn>
                <a:cxn ang="0">
                  <a:pos x="30" y="22"/>
                </a:cxn>
                <a:cxn ang="0">
                  <a:pos x="16" y="28"/>
                </a:cxn>
                <a:cxn ang="0">
                  <a:pos x="0" y="32"/>
                </a:cxn>
                <a:cxn ang="0">
                  <a:pos x="0" y="32"/>
                </a:cxn>
              </a:cxnLst>
              <a:rect l="0" t="0" r="r" b="b"/>
              <a:pathLst>
                <a:path w="126" h="114">
                  <a:moveTo>
                    <a:pt x="0" y="32"/>
                  </a:moveTo>
                  <a:lnTo>
                    <a:pt x="0" y="114"/>
                  </a:lnTo>
                  <a:lnTo>
                    <a:pt x="0" y="114"/>
                  </a:lnTo>
                  <a:lnTo>
                    <a:pt x="20" y="112"/>
                  </a:lnTo>
                  <a:lnTo>
                    <a:pt x="38" y="108"/>
                  </a:lnTo>
                  <a:lnTo>
                    <a:pt x="56" y="100"/>
                  </a:lnTo>
                  <a:lnTo>
                    <a:pt x="72" y="92"/>
                  </a:lnTo>
                  <a:lnTo>
                    <a:pt x="88" y="82"/>
                  </a:lnTo>
                  <a:lnTo>
                    <a:pt x="102" y="70"/>
                  </a:lnTo>
                  <a:lnTo>
                    <a:pt x="114" y="56"/>
                  </a:lnTo>
                  <a:lnTo>
                    <a:pt x="126" y="42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44" y="12"/>
                  </a:lnTo>
                  <a:lnTo>
                    <a:pt x="30" y="22"/>
                  </a:lnTo>
                  <a:lnTo>
                    <a:pt x="16" y="28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28" name="Freeform 80"/>
            <p:cNvSpPr>
              <a:spLocks/>
            </p:cNvSpPr>
            <p:nvPr/>
          </p:nvSpPr>
          <p:spPr bwMode="auto">
            <a:xfrm>
              <a:off x="5245" y="3685"/>
              <a:ext cx="95" cy="87"/>
            </a:xfrm>
            <a:custGeom>
              <a:avLst/>
              <a:gdLst/>
              <a:ahLst/>
              <a:cxnLst>
                <a:cxn ang="0">
                  <a:pos x="54" y="114"/>
                </a:cxn>
                <a:cxn ang="0">
                  <a:pos x="126" y="72"/>
                </a:cxn>
                <a:cxn ang="0">
                  <a:pos x="126" y="72"/>
                </a:cxn>
                <a:cxn ang="0">
                  <a:pos x="114" y="58"/>
                </a:cxn>
                <a:cxn ang="0">
                  <a:pos x="102" y="44"/>
                </a:cxn>
                <a:cxn ang="0">
                  <a:pos x="88" y="32"/>
                </a:cxn>
                <a:cxn ang="0">
                  <a:pos x="72" y="22"/>
                </a:cxn>
                <a:cxn ang="0">
                  <a:pos x="56" y="14"/>
                </a:cxn>
                <a:cxn ang="0">
                  <a:pos x="38" y="8"/>
                </a:cxn>
                <a:cxn ang="0">
                  <a:pos x="20" y="2"/>
                </a:cxn>
                <a:cxn ang="0">
                  <a:pos x="0" y="0"/>
                </a:cxn>
                <a:cxn ang="0">
                  <a:pos x="0" y="82"/>
                </a:cxn>
                <a:cxn ang="0">
                  <a:pos x="0" y="82"/>
                </a:cxn>
                <a:cxn ang="0">
                  <a:pos x="16" y="86"/>
                </a:cxn>
                <a:cxn ang="0">
                  <a:pos x="30" y="92"/>
                </a:cxn>
                <a:cxn ang="0">
                  <a:pos x="44" y="102"/>
                </a:cxn>
                <a:cxn ang="0">
                  <a:pos x="54" y="114"/>
                </a:cxn>
                <a:cxn ang="0">
                  <a:pos x="54" y="114"/>
                </a:cxn>
              </a:cxnLst>
              <a:rect l="0" t="0" r="r" b="b"/>
              <a:pathLst>
                <a:path w="126" h="114">
                  <a:moveTo>
                    <a:pt x="54" y="114"/>
                  </a:moveTo>
                  <a:lnTo>
                    <a:pt x="126" y="72"/>
                  </a:lnTo>
                  <a:lnTo>
                    <a:pt x="126" y="72"/>
                  </a:lnTo>
                  <a:lnTo>
                    <a:pt x="114" y="58"/>
                  </a:lnTo>
                  <a:lnTo>
                    <a:pt x="102" y="44"/>
                  </a:lnTo>
                  <a:lnTo>
                    <a:pt x="88" y="32"/>
                  </a:lnTo>
                  <a:lnTo>
                    <a:pt x="72" y="22"/>
                  </a:lnTo>
                  <a:lnTo>
                    <a:pt x="56" y="14"/>
                  </a:lnTo>
                  <a:lnTo>
                    <a:pt x="38" y="8"/>
                  </a:lnTo>
                  <a:lnTo>
                    <a:pt x="20" y="2"/>
                  </a:lnTo>
                  <a:lnTo>
                    <a:pt x="0" y="0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16" y="86"/>
                  </a:lnTo>
                  <a:lnTo>
                    <a:pt x="30" y="92"/>
                  </a:lnTo>
                  <a:lnTo>
                    <a:pt x="44" y="102"/>
                  </a:lnTo>
                  <a:lnTo>
                    <a:pt x="54" y="114"/>
                  </a:lnTo>
                  <a:lnTo>
                    <a:pt x="54" y="114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096953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9" dur="1000" fill="hold"/>
                                        <p:tgtEl>
                                          <p:spTgt spid="21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1" dur="1000" fill="hold"/>
                                        <p:tgtEl>
                                          <p:spTgt spid="21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228600"/>
            <a:ext cx="7651750" cy="1143001"/>
          </a:xfrm>
        </p:spPr>
        <p:txBody>
          <a:bodyPr/>
          <a:lstStyle/>
          <a:p>
            <a:r>
              <a:rPr lang="en-US" sz="4400" dirty="0" smtClean="0">
                <a:solidFill>
                  <a:schemeClr val="accent6"/>
                </a:solidFill>
              </a:rPr>
              <a:t>Outline</a:t>
            </a:r>
            <a:endParaRPr lang="en-US" sz="4400" dirty="0">
              <a:solidFill>
                <a:schemeClr val="accent6"/>
              </a:solidFill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28625" y="1296987"/>
            <a:ext cx="8229600" cy="4495801"/>
          </a:xfrm>
        </p:spPr>
        <p:txBody>
          <a:bodyPr/>
          <a:lstStyle/>
          <a:p>
            <a:r>
              <a:rPr lang="en-US" sz="2300" noProof="1" smtClean="0"/>
              <a:t>Java control statement</a:t>
            </a:r>
          </a:p>
          <a:p>
            <a:r>
              <a:rPr lang="en-US" sz="2300" noProof="1" smtClean="0"/>
              <a:t>The if-else statement</a:t>
            </a:r>
          </a:p>
          <a:p>
            <a:r>
              <a:rPr lang="en-US" sz="2300" noProof="1" smtClean="0"/>
              <a:t>Nested if-else statement</a:t>
            </a:r>
          </a:p>
          <a:p>
            <a:r>
              <a:rPr lang="en-US" sz="2300" noProof="1" smtClean="0"/>
              <a:t>The switch statement</a:t>
            </a:r>
          </a:p>
          <a:p>
            <a:r>
              <a:rPr lang="en-US" sz="2300" noProof="1" smtClean="0"/>
              <a:t>The conditional operator</a:t>
            </a:r>
          </a:p>
          <a:p>
            <a:r>
              <a:rPr lang="en-US" sz="2300" noProof="1" smtClean="0"/>
              <a:t>Iteration statements</a:t>
            </a:r>
          </a:p>
          <a:p>
            <a:r>
              <a:rPr lang="en-US" sz="2300" noProof="1" smtClean="0"/>
              <a:t>The do-while statements</a:t>
            </a:r>
          </a:p>
          <a:p>
            <a:r>
              <a:rPr lang="en-US" sz="2300" noProof="1" smtClean="0"/>
              <a:t>Jump statements</a:t>
            </a:r>
          </a:p>
          <a:p>
            <a:endParaRPr lang="en-US" sz="2300" noProof="1" smtClean="0"/>
          </a:p>
          <a:p>
            <a:endParaRPr lang="en-US" sz="2300" noProof="1" smtClean="0"/>
          </a:p>
          <a:p>
            <a:endParaRPr lang="en-US" sz="2300" noProof="1" smtClean="0"/>
          </a:p>
          <a:p>
            <a:endParaRPr lang="en-US" sz="2300" noProof="1" smtClean="0"/>
          </a:p>
        </p:txBody>
      </p:sp>
      <p:grpSp>
        <p:nvGrpSpPr>
          <p:cNvPr id="4107" name="Group 11"/>
          <p:cNvGrpSpPr>
            <a:grpSpLocks/>
          </p:cNvGrpSpPr>
          <p:nvPr/>
        </p:nvGrpSpPr>
        <p:grpSpPr bwMode="auto">
          <a:xfrm>
            <a:off x="609600" y="533400"/>
            <a:ext cx="303213" cy="303213"/>
            <a:chOff x="703" y="300"/>
            <a:chExt cx="181" cy="181"/>
          </a:xfrm>
        </p:grpSpPr>
        <p:sp>
          <p:nvSpPr>
            <p:cNvPr id="4108" name="Freeform 12"/>
            <p:cNvSpPr>
              <a:spLocks/>
            </p:cNvSpPr>
            <p:nvPr/>
          </p:nvSpPr>
          <p:spPr bwMode="auto">
            <a:xfrm>
              <a:off x="736" y="300"/>
              <a:ext cx="81" cy="46"/>
            </a:xfrm>
            <a:custGeom>
              <a:avLst/>
              <a:gdLst/>
              <a:ahLst/>
              <a:cxnLst>
                <a:cxn ang="0">
                  <a:pos x="247" y="124"/>
                </a:cxn>
                <a:cxn ang="0">
                  <a:pos x="283" y="11"/>
                </a:cxn>
                <a:cxn ang="0">
                  <a:pos x="283" y="11"/>
                </a:cxn>
                <a:cxn ang="0">
                  <a:pos x="264" y="6"/>
                </a:cxn>
                <a:cxn ang="0">
                  <a:pos x="244" y="3"/>
                </a:cxn>
                <a:cxn ang="0">
                  <a:pos x="226" y="2"/>
                </a:cxn>
                <a:cxn ang="0">
                  <a:pos x="206" y="0"/>
                </a:cxn>
                <a:cxn ang="0">
                  <a:pos x="187" y="0"/>
                </a:cxn>
                <a:cxn ang="0">
                  <a:pos x="169" y="2"/>
                </a:cxn>
                <a:cxn ang="0">
                  <a:pos x="150" y="4"/>
                </a:cxn>
                <a:cxn ang="0">
                  <a:pos x="131" y="7"/>
                </a:cxn>
                <a:cxn ang="0">
                  <a:pos x="114" y="12"/>
                </a:cxn>
                <a:cxn ang="0">
                  <a:pos x="97" y="18"/>
                </a:cxn>
                <a:cxn ang="0">
                  <a:pos x="79" y="24"/>
                </a:cxn>
                <a:cxn ang="0">
                  <a:pos x="62" y="32"/>
                </a:cxn>
                <a:cxn ang="0">
                  <a:pos x="45" y="40"/>
                </a:cxn>
                <a:cxn ang="0">
                  <a:pos x="29" y="49"/>
                </a:cxn>
                <a:cxn ang="0">
                  <a:pos x="14" y="60"/>
                </a:cxn>
                <a:cxn ang="0">
                  <a:pos x="0" y="71"/>
                </a:cxn>
                <a:cxn ang="0">
                  <a:pos x="79" y="160"/>
                </a:cxn>
                <a:cxn ang="0">
                  <a:pos x="79" y="160"/>
                </a:cxn>
                <a:cxn ang="0">
                  <a:pos x="97" y="147"/>
                </a:cxn>
                <a:cxn ang="0">
                  <a:pos x="116" y="136"/>
                </a:cxn>
                <a:cxn ang="0">
                  <a:pos x="136" y="128"/>
                </a:cxn>
                <a:cxn ang="0">
                  <a:pos x="157" y="123"/>
                </a:cxn>
                <a:cxn ang="0">
                  <a:pos x="179" y="119"/>
                </a:cxn>
                <a:cxn ang="0">
                  <a:pos x="201" y="118"/>
                </a:cxn>
                <a:cxn ang="0">
                  <a:pos x="223" y="120"/>
                </a:cxn>
                <a:cxn ang="0">
                  <a:pos x="247" y="124"/>
                </a:cxn>
                <a:cxn ang="0">
                  <a:pos x="247" y="124"/>
                </a:cxn>
              </a:cxnLst>
              <a:rect l="0" t="0" r="r" b="b"/>
              <a:pathLst>
                <a:path w="283" h="160">
                  <a:moveTo>
                    <a:pt x="247" y="124"/>
                  </a:moveTo>
                  <a:lnTo>
                    <a:pt x="283" y="11"/>
                  </a:lnTo>
                  <a:lnTo>
                    <a:pt x="283" y="11"/>
                  </a:lnTo>
                  <a:lnTo>
                    <a:pt x="264" y="6"/>
                  </a:lnTo>
                  <a:lnTo>
                    <a:pt x="244" y="3"/>
                  </a:lnTo>
                  <a:lnTo>
                    <a:pt x="226" y="2"/>
                  </a:lnTo>
                  <a:lnTo>
                    <a:pt x="206" y="0"/>
                  </a:lnTo>
                  <a:lnTo>
                    <a:pt x="187" y="0"/>
                  </a:lnTo>
                  <a:lnTo>
                    <a:pt x="169" y="2"/>
                  </a:lnTo>
                  <a:lnTo>
                    <a:pt x="150" y="4"/>
                  </a:lnTo>
                  <a:lnTo>
                    <a:pt x="131" y="7"/>
                  </a:lnTo>
                  <a:lnTo>
                    <a:pt x="114" y="12"/>
                  </a:lnTo>
                  <a:lnTo>
                    <a:pt x="97" y="18"/>
                  </a:lnTo>
                  <a:lnTo>
                    <a:pt x="79" y="24"/>
                  </a:lnTo>
                  <a:lnTo>
                    <a:pt x="62" y="32"/>
                  </a:lnTo>
                  <a:lnTo>
                    <a:pt x="45" y="40"/>
                  </a:lnTo>
                  <a:lnTo>
                    <a:pt x="29" y="49"/>
                  </a:lnTo>
                  <a:lnTo>
                    <a:pt x="14" y="60"/>
                  </a:lnTo>
                  <a:lnTo>
                    <a:pt x="0" y="71"/>
                  </a:lnTo>
                  <a:lnTo>
                    <a:pt x="79" y="160"/>
                  </a:lnTo>
                  <a:lnTo>
                    <a:pt x="79" y="160"/>
                  </a:lnTo>
                  <a:lnTo>
                    <a:pt x="97" y="147"/>
                  </a:lnTo>
                  <a:lnTo>
                    <a:pt x="116" y="136"/>
                  </a:lnTo>
                  <a:lnTo>
                    <a:pt x="136" y="128"/>
                  </a:lnTo>
                  <a:lnTo>
                    <a:pt x="157" y="123"/>
                  </a:lnTo>
                  <a:lnTo>
                    <a:pt x="179" y="119"/>
                  </a:lnTo>
                  <a:lnTo>
                    <a:pt x="201" y="118"/>
                  </a:lnTo>
                  <a:lnTo>
                    <a:pt x="223" y="120"/>
                  </a:lnTo>
                  <a:lnTo>
                    <a:pt x="247" y="124"/>
                  </a:lnTo>
                  <a:lnTo>
                    <a:pt x="247" y="124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9" name="Freeform 13"/>
            <p:cNvSpPr>
              <a:spLocks/>
            </p:cNvSpPr>
            <p:nvPr/>
          </p:nvSpPr>
          <p:spPr bwMode="auto">
            <a:xfrm>
              <a:off x="835" y="376"/>
              <a:ext cx="49" cy="79"/>
            </a:xfrm>
            <a:custGeom>
              <a:avLst/>
              <a:gdLst/>
              <a:ahLst/>
              <a:cxnLst>
                <a:cxn ang="0">
                  <a:pos x="44" y="113"/>
                </a:cxn>
                <a:cxn ang="0">
                  <a:pos x="44" y="113"/>
                </a:cxn>
                <a:cxn ang="0">
                  <a:pos x="36" y="134"/>
                </a:cxn>
                <a:cxn ang="0">
                  <a:pos x="26" y="154"/>
                </a:cxn>
                <a:cxn ang="0">
                  <a:pos x="14" y="171"/>
                </a:cxn>
                <a:cxn ang="0">
                  <a:pos x="0" y="188"/>
                </a:cxn>
                <a:cxn ang="0">
                  <a:pos x="79" y="276"/>
                </a:cxn>
                <a:cxn ang="0">
                  <a:pos x="79" y="276"/>
                </a:cxn>
                <a:cxn ang="0">
                  <a:pos x="92" y="263"/>
                </a:cxn>
                <a:cxn ang="0">
                  <a:pos x="104" y="249"/>
                </a:cxn>
                <a:cxn ang="0">
                  <a:pos x="115" y="234"/>
                </a:cxn>
                <a:cxn ang="0">
                  <a:pos x="125" y="219"/>
                </a:cxn>
                <a:cxn ang="0">
                  <a:pos x="135" y="203"/>
                </a:cxn>
                <a:cxn ang="0">
                  <a:pos x="143" y="185"/>
                </a:cxn>
                <a:cxn ang="0">
                  <a:pos x="150" y="168"/>
                </a:cxn>
                <a:cxn ang="0">
                  <a:pos x="157" y="149"/>
                </a:cxn>
                <a:cxn ang="0">
                  <a:pos x="157" y="149"/>
                </a:cxn>
                <a:cxn ang="0">
                  <a:pos x="163" y="131"/>
                </a:cxn>
                <a:cxn ang="0">
                  <a:pos x="166" y="112"/>
                </a:cxn>
                <a:cxn ang="0">
                  <a:pos x="170" y="93"/>
                </a:cxn>
                <a:cxn ang="0">
                  <a:pos x="172" y="75"/>
                </a:cxn>
                <a:cxn ang="0">
                  <a:pos x="172" y="56"/>
                </a:cxn>
                <a:cxn ang="0">
                  <a:pos x="172" y="38"/>
                </a:cxn>
                <a:cxn ang="0">
                  <a:pos x="171" y="19"/>
                </a:cxn>
                <a:cxn ang="0">
                  <a:pos x="169" y="0"/>
                </a:cxn>
                <a:cxn ang="0">
                  <a:pos x="52" y="26"/>
                </a:cxn>
                <a:cxn ang="0">
                  <a:pos x="52" y="26"/>
                </a:cxn>
                <a:cxn ang="0">
                  <a:pos x="54" y="47"/>
                </a:cxn>
                <a:cxn ang="0">
                  <a:pos x="54" y="69"/>
                </a:cxn>
                <a:cxn ang="0">
                  <a:pos x="50" y="91"/>
                </a:cxn>
                <a:cxn ang="0">
                  <a:pos x="44" y="113"/>
                </a:cxn>
                <a:cxn ang="0">
                  <a:pos x="44" y="113"/>
                </a:cxn>
              </a:cxnLst>
              <a:rect l="0" t="0" r="r" b="b"/>
              <a:pathLst>
                <a:path w="172" h="276">
                  <a:moveTo>
                    <a:pt x="44" y="113"/>
                  </a:moveTo>
                  <a:lnTo>
                    <a:pt x="44" y="113"/>
                  </a:lnTo>
                  <a:lnTo>
                    <a:pt x="36" y="134"/>
                  </a:lnTo>
                  <a:lnTo>
                    <a:pt x="26" y="154"/>
                  </a:lnTo>
                  <a:lnTo>
                    <a:pt x="14" y="171"/>
                  </a:lnTo>
                  <a:lnTo>
                    <a:pt x="0" y="188"/>
                  </a:lnTo>
                  <a:lnTo>
                    <a:pt x="79" y="276"/>
                  </a:lnTo>
                  <a:lnTo>
                    <a:pt x="79" y="276"/>
                  </a:lnTo>
                  <a:lnTo>
                    <a:pt x="92" y="263"/>
                  </a:lnTo>
                  <a:lnTo>
                    <a:pt x="104" y="249"/>
                  </a:lnTo>
                  <a:lnTo>
                    <a:pt x="115" y="234"/>
                  </a:lnTo>
                  <a:lnTo>
                    <a:pt x="125" y="219"/>
                  </a:lnTo>
                  <a:lnTo>
                    <a:pt x="135" y="203"/>
                  </a:lnTo>
                  <a:lnTo>
                    <a:pt x="143" y="185"/>
                  </a:lnTo>
                  <a:lnTo>
                    <a:pt x="150" y="168"/>
                  </a:lnTo>
                  <a:lnTo>
                    <a:pt x="157" y="149"/>
                  </a:lnTo>
                  <a:lnTo>
                    <a:pt x="157" y="149"/>
                  </a:lnTo>
                  <a:lnTo>
                    <a:pt x="163" y="131"/>
                  </a:lnTo>
                  <a:lnTo>
                    <a:pt x="166" y="112"/>
                  </a:lnTo>
                  <a:lnTo>
                    <a:pt x="170" y="93"/>
                  </a:lnTo>
                  <a:lnTo>
                    <a:pt x="172" y="75"/>
                  </a:lnTo>
                  <a:lnTo>
                    <a:pt x="172" y="56"/>
                  </a:lnTo>
                  <a:lnTo>
                    <a:pt x="172" y="38"/>
                  </a:lnTo>
                  <a:lnTo>
                    <a:pt x="171" y="19"/>
                  </a:lnTo>
                  <a:lnTo>
                    <a:pt x="169" y="0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54" y="47"/>
                  </a:lnTo>
                  <a:lnTo>
                    <a:pt x="54" y="69"/>
                  </a:lnTo>
                  <a:lnTo>
                    <a:pt x="50" y="91"/>
                  </a:lnTo>
                  <a:lnTo>
                    <a:pt x="44" y="113"/>
                  </a:lnTo>
                  <a:lnTo>
                    <a:pt x="44" y="113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10" name="Freeform 14"/>
            <p:cNvSpPr>
              <a:spLocks/>
            </p:cNvSpPr>
            <p:nvPr/>
          </p:nvSpPr>
          <p:spPr bwMode="auto">
            <a:xfrm>
              <a:off x="703" y="326"/>
              <a:ext cx="50" cy="79"/>
            </a:xfrm>
            <a:custGeom>
              <a:avLst/>
              <a:gdLst/>
              <a:ahLst/>
              <a:cxnLst>
                <a:cxn ang="0">
                  <a:pos x="128" y="163"/>
                </a:cxn>
                <a:cxn ang="0">
                  <a:pos x="128" y="163"/>
                </a:cxn>
                <a:cxn ang="0">
                  <a:pos x="136" y="142"/>
                </a:cxn>
                <a:cxn ang="0">
                  <a:pos x="146" y="122"/>
                </a:cxn>
                <a:cxn ang="0">
                  <a:pos x="159" y="105"/>
                </a:cxn>
                <a:cxn ang="0">
                  <a:pos x="173" y="89"/>
                </a:cxn>
                <a:cxn ang="0">
                  <a:pos x="94" y="0"/>
                </a:cxn>
                <a:cxn ang="0">
                  <a:pos x="94" y="0"/>
                </a:cxn>
                <a:cxn ang="0">
                  <a:pos x="81" y="13"/>
                </a:cxn>
                <a:cxn ang="0">
                  <a:pos x="69" y="27"/>
                </a:cxn>
                <a:cxn ang="0">
                  <a:pos x="58" y="42"/>
                </a:cxn>
                <a:cxn ang="0">
                  <a:pos x="47" y="57"/>
                </a:cxn>
                <a:cxn ang="0">
                  <a:pos x="38" y="74"/>
                </a:cxn>
                <a:cxn ang="0">
                  <a:pos x="30" y="91"/>
                </a:cxn>
                <a:cxn ang="0">
                  <a:pos x="22" y="108"/>
                </a:cxn>
                <a:cxn ang="0">
                  <a:pos x="16" y="127"/>
                </a:cxn>
                <a:cxn ang="0">
                  <a:pos x="16" y="127"/>
                </a:cxn>
                <a:cxn ang="0">
                  <a:pos x="10" y="146"/>
                </a:cxn>
                <a:cxn ang="0">
                  <a:pos x="6" y="164"/>
                </a:cxn>
                <a:cxn ang="0">
                  <a:pos x="3" y="183"/>
                </a:cxn>
                <a:cxn ang="0">
                  <a:pos x="1" y="201"/>
                </a:cxn>
                <a:cxn ang="0">
                  <a:pos x="0" y="220"/>
                </a:cxn>
                <a:cxn ang="0">
                  <a:pos x="1" y="239"/>
                </a:cxn>
                <a:cxn ang="0">
                  <a:pos x="2" y="257"/>
                </a:cxn>
                <a:cxn ang="0">
                  <a:pos x="4" y="276"/>
                </a:cxn>
                <a:cxn ang="0">
                  <a:pos x="121" y="250"/>
                </a:cxn>
                <a:cxn ang="0">
                  <a:pos x="121" y="250"/>
                </a:cxn>
                <a:cxn ang="0">
                  <a:pos x="118" y="229"/>
                </a:cxn>
                <a:cxn ang="0">
                  <a:pos x="119" y="207"/>
                </a:cxn>
                <a:cxn ang="0">
                  <a:pos x="122" y="185"/>
                </a:cxn>
                <a:cxn ang="0">
                  <a:pos x="128" y="163"/>
                </a:cxn>
                <a:cxn ang="0">
                  <a:pos x="128" y="163"/>
                </a:cxn>
              </a:cxnLst>
              <a:rect l="0" t="0" r="r" b="b"/>
              <a:pathLst>
                <a:path w="173" h="276">
                  <a:moveTo>
                    <a:pt x="128" y="163"/>
                  </a:moveTo>
                  <a:lnTo>
                    <a:pt x="128" y="163"/>
                  </a:lnTo>
                  <a:lnTo>
                    <a:pt x="136" y="142"/>
                  </a:lnTo>
                  <a:lnTo>
                    <a:pt x="146" y="122"/>
                  </a:lnTo>
                  <a:lnTo>
                    <a:pt x="159" y="105"/>
                  </a:lnTo>
                  <a:lnTo>
                    <a:pt x="173" y="89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81" y="13"/>
                  </a:lnTo>
                  <a:lnTo>
                    <a:pt x="69" y="27"/>
                  </a:lnTo>
                  <a:lnTo>
                    <a:pt x="58" y="42"/>
                  </a:lnTo>
                  <a:lnTo>
                    <a:pt x="47" y="57"/>
                  </a:lnTo>
                  <a:lnTo>
                    <a:pt x="38" y="74"/>
                  </a:lnTo>
                  <a:lnTo>
                    <a:pt x="30" y="91"/>
                  </a:lnTo>
                  <a:lnTo>
                    <a:pt x="22" y="108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0" y="146"/>
                  </a:lnTo>
                  <a:lnTo>
                    <a:pt x="6" y="164"/>
                  </a:lnTo>
                  <a:lnTo>
                    <a:pt x="3" y="183"/>
                  </a:lnTo>
                  <a:lnTo>
                    <a:pt x="1" y="201"/>
                  </a:lnTo>
                  <a:lnTo>
                    <a:pt x="0" y="220"/>
                  </a:lnTo>
                  <a:lnTo>
                    <a:pt x="1" y="239"/>
                  </a:lnTo>
                  <a:lnTo>
                    <a:pt x="2" y="257"/>
                  </a:lnTo>
                  <a:lnTo>
                    <a:pt x="4" y="276"/>
                  </a:lnTo>
                  <a:lnTo>
                    <a:pt x="121" y="250"/>
                  </a:lnTo>
                  <a:lnTo>
                    <a:pt x="121" y="250"/>
                  </a:lnTo>
                  <a:lnTo>
                    <a:pt x="118" y="229"/>
                  </a:lnTo>
                  <a:lnTo>
                    <a:pt x="119" y="207"/>
                  </a:lnTo>
                  <a:lnTo>
                    <a:pt x="122" y="185"/>
                  </a:lnTo>
                  <a:lnTo>
                    <a:pt x="128" y="163"/>
                  </a:lnTo>
                  <a:lnTo>
                    <a:pt x="128" y="163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11" name="Freeform 15"/>
            <p:cNvSpPr>
              <a:spLocks/>
            </p:cNvSpPr>
            <p:nvPr/>
          </p:nvSpPr>
          <p:spPr bwMode="auto">
            <a:xfrm>
              <a:off x="706" y="407"/>
              <a:ext cx="66" cy="68"/>
            </a:xfrm>
            <a:custGeom>
              <a:avLst/>
              <a:gdLst/>
              <a:ahLst/>
              <a:cxnLst>
                <a:cxn ang="0">
                  <a:pos x="115" y="0"/>
                </a:cxn>
                <a:cxn ang="0">
                  <a:pos x="0" y="24"/>
                </a:cxn>
                <a:cxn ang="0">
                  <a:pos x="0" y="24"/>
                </a:cxn>
                <a:cxn ang="0">
                  <a:pos x="5" y="41"/>
                </a:cxn>
                <a:cxn ang="0">
                  <a:pos x="11" y="59"/>
                </a:cxn>
                <a:cxn ang="0">
                  <a:pos x="19" y="76"/>
                </a:cxn>
                <a:cxn ang="0">
                  <a:pos x="27" y="93"/>
                </a:cxn>
                <a:cxn ang="0">
                  <a:pos x="36" y="109"/>
                </a:cxn>
                <a:cxn ang="0">
                  <a:pos x="47" y="124"/>
                </a:cxn>
                <a:cxn ang="0">
                  <a:pos x="57" y="139"/>
                </a:cxn>
                <a:cxn ang="0">
                  <a:pos x="69" y="153"/>
                </a:cxn>
                <a:cxn ang="0">
                  <a:pos x="82" y="167"/>
                </a:cxn>
                <a:cxn ang="0">
                  <a:pos x="96" y="180"/>
                </a:cxn>
                <a:cxn ang="0">
                  <a:pos x="110" y="191"/>
                </a:cxn>
                <a:cxn ang="0">
                  <a:pos x="126" y="203"/>
                </a:cxn>
                <a:cxn ang="0">
                  <a:pos x="141" y="213"/>
                </a:cxn>
                <a:cxn ang="0">
                  <a:pos x="158" y="223"/>
                </a:cxn>
                <a:cxn ang="0">
                  <a:pos x="176" y="231"/>
                </a:cxn>
                <a:cxn ang="0">
                  <a:pos x="193" y="239"/>
                </a:cxn>
                <a:cxn ang="0">
                  <a:pos x="230" y="126"/>
                </a:cxn>
                <a:cxn ang="0">
                  <a:pos x="230" y="126"/>
                </a:cxn>
                <a:cxn ang="0">
                  <a:pos x="210" y="116"/>
                </a:cxn>
                <a:cxn ang="0">
                  <a:pos x="191" y="104"/>
                </a:cxn>
                <a:cxn ang="0">
                  <a:pos x="174" y="90"/>
                </a:cxn>
                <a:cxn ang="0">
                  <a:pos x="157" y="75"/>
                </a:cxn>
                <a:cxn ang="0">
                  <a:pos x="144" y="58"/>
                </a:cxn>
                <a:cxn ang="0">
                  <a:pos x="133" y="39"/>
                </a:cxn>
                <a:cxn ang="0">
                  <a:pos x="122" y="19"/>
                </a:cxn>
                <a:cxn ang="0">
                  <a:pos x="115" y="0"/>
                </a:cxn>
                <a:cxn ang="0">
                  <a:pos x="115" y="0"/>
                </a:cxn>
              </a:cxnLst>
              <a:rect l="0" t="0" r="r" b="b"/>
              <a:pathLst>
                <a:path w="230" h="239">
                  <a:moveTo>
                    <a:pt x="115" y="0"/>
                  </a:moveTo>
                  <a:lnTo>
                    <a:pt x="0" y="24"/>
                  </a:lnTo>
                  <a:lnTo>
                    <a:pt x="0" y="24"/>
                  </a:lnTo>
                  <a:lnTo>
                    <a:pt x="5" y="41"/>
                  </a:lnTo>
                  <a:lnTo>
                    <a:pt x="11" y="59"/>
                  </a:lnTo>
                  <a:lnTo>
                    <a:pt x="19" y="76"/>
                  </a:lnTo>
                  <a:lnTo>
                    <a:pt x="27" y="93"/>
                  </a:lnTo>
                  <a:lnTo>
                    <a:pt x="36" y="109"/>
                  </a:lnTo>
                  <a:lnTo>
                    <a:pt x="47" y="124"/>
                  </a:lnTo>
                  <a:lnTo>
                    <a:pt x="57" y="139"/>
                  </a:lnTo>
                  <a:lnTo>
                    <a:pt x="69" y="153"/>
                  </a:lnTo>
                  <a:lnTo>
                    <a:pt x="82" y="167"/>
                  </a:lnTo>
                  <a:lnTo>
                    <a:pt x="96" y="180"/>
                  </a:lnTo>
                  <a:lnTo>
                    <a:pt x="110" y="191"/>
                  </a:lnTo>
                  <a:lnTo>
                    <a:pt x="126" y="203"/>
                  </a:lnTo>
                  <a:lnTo>
                    <a:pt x="141" y="213"/>
                  </a:lnTo>
                  <a:lnTo>
                    <a:pt x="158" y="223"/>
                  </a:lnTo>
                  <a:lnTo>
                    <a:pt x="176" y="231"/>
                  </a:lnTo>
                  <a:lnTo>
                    <a:pt x="193" y="239"/>
                  </a:lnTo>
                  <a:lnTo>
                    <a:pt x="230" y="126"/>
                  </a:lnTo>
                  <a:lnTo>
                    <a:pt x="230" y="126"/>
                  </a:lnTo>
                  <a:lnTo>
                    <a:pt x="210" y="116"/>
                  </a:lnTo>
                  <a:lnTo>
                    <a:pt x="191" y="104"/>
                  </a:lnTo>
                  <a:lnTo>
                    <a:pt x="174" y="90"/>
                  </a:lnTo>
                  <a:lnTo>
                    <a:pt x="157" y="75"/>
                  </a:lnTo>
                  <a:lnTo>
                    <a:pt x="144" y="58"/>
                  </a:lnTo>
                  <a:lnTo>
                    <a:pt x="133" y="39"/>
                  </a:lnTo>
                  <a:lnTo>
                    <a:pt x="122" y="19"/>
                  </a:lnTo>
                  <a:lnTo>
                    <a:pt x="115" y="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12" name="Freeform 16"/>
            <p:cNvSpPr>
              <a:spLocks/>
            </p:cNvSpPr>
            <p:nvPr/>
          </p:nvSpPr>
          <p:spPr bwMode="auto">
            <a:xfrm>
              <a:off x="815" y="306"/>
              <a:ext cx="66" cy="69"/>
            </a:xfrm>
            <a:custGeom>
              <a:avLst/>
              <a:gdLst/>
              <a:ahLst/>
              <a:cxnLst>
                <a:cxn ang="0">
                  <a:pos x="113" y="240"/>
                </a:cxn>
                <a:cxn ang="0">
                  <a:pos x="230" y="214"/>
                </a:cxn>
                <a:cxn ang="0">
                  <a:pos x="230" y="214"/>
                </a:cxn>
                <a:cxn ang="0">
                  <a:pos x="225" y="197"/>
                </a:cxn>
                <a:cxn ang="0">
                  <a:pos x="218" y="179"/>
                </a:cxn>
                <a:cxn ang="0">
                  <a:pos x="211" y="162"/>
                </a:cxn>
                <a:cxn ang="0">
                  <a:pos x="203" y="146"/>
                </a:cxn>
                <a:cxn ang="0">
                  <a:pos x="194" y="129"/>
                </a:cxn>
                <a:cxn ang="0">
                  <a:pos x="183" y="114"/>
                </a:cxn>
                <a:cxn ang="0">
                  <a:pos x="173" y="99"/>
                </a:cxn>
                <a:cxn ang="0">
                  <a:pos x="160" y="85"/>
                </a:cxn>
                <a:cxn ang="0">
                  <a:pos x="147" y="71"/>
                </a:cxn>
                <a:cxn ang="0">
                  <a:pos x="134" y="58"/>
                </a:cxn>
                <a:cxn ang="0">
                  <a:pos x="119" y="47"/>
                </a:cxn>
                <a:cxn ang="0">
                  <a:pos x="104" y="35"/>
                </a:cxn>
                <a:cxn ang="0">
                  <a:pos x="88" y="25"/>
                </a:cxn>
                <a:cxn ang="0">
                  <a:pos x="72" y="15"/>
                </a:cxn>
                <a:cxn ang="0">
                  <a:pos x="54" y="7"/>
                </a:cxn>
                <a:cxn ang="0">
                  <a:pos x="36" y="0"/>
                </a:cxn>
                <a:cxn ang="0">
                  <a:pos x="0" y="112"/>
                </a:cxn>
                <a:cxn ang="0">
                  <a:pos x="0" y="112"/>
                </a:cxn>
                <a:cxn ang="0">
                  <a:pos x="20" y="122"/>
                </a:cxn>
                <a:cxn ang="0">
                  <a:pos x="39" y="134"/>
                </a:cxn>
                <a:cxn ang="0">
                  <a:pos x="57" y="148"/>
                </a:cxn>
                <a:cxn ang="0">
                  <a:pos x="72" y="164"/>
                </a:cxn>
                <a:cxn ang="0">
                  <a:pos x="86" y="181"/>
                </a:cxn>
                <a:cxn ang="0">
                  <a:pos x="97" y="199"/>
                </a:cxn>
                <a:cxn ang="0">
                  <a:pos x="106" y="219"/>
                </a:cxn>
                <a:cxn ang="0">
                  <a:pos x="113" y="240"/>
                </a:cxn>
                <a:cxn ang="0">
                  <a:pos x="113" y="240"/>
                </a:cxn>
              </a:cxnLst>
              <a:rect l="0" t="0" r="r" b="b"/>
              <a:pathLst>
                <a:path w="230" h="240">
                  <a:moveTo>
                    <a:pt x="113" y="240"/>
                  </a:moveTo>
                  <a:lnTo>
                    <a:pt x="230" y="214"/>
                  </a:lnTo>
                  <a:lnTo>
                    <a:pt x="230" y="214"/>
                  </a:lnTo>
                  <a:lnTo>
                    <a:pt x="225" y="197"/>
                  </a:lnTo>
                  <a:lnTo>
                    <a:pt x="218" y="179"/>
                  </a:lnTo>
                  <a:lnTo>
                    <a:pt x="211" y="162"/>
                  </a:lnTo>
                  <a:lnTo>
                    <a:pt x="203" y="146"/>
                  </a:lnTo>
                  <a:lnTo>
                    <a:pt x="194" y="129"/>
                  </a:lnTo>
                  <a:lnTo>
                    <a:pt x="183" y="114"/>
                  </a:lnTo>
                  <a:lnTo>
                    <a:pt x="173" y="99"/>
                  </a:lnTo>
                  <a:lnTo>
                    <a:pt x="160" y="85"/>
                  </a:lnTo>
                  <a:lnTo>
                    <a:pt x="147" y="71"/>
                  </a:lnTo>
                  <a:lnTo>
                    <a:pt x="134" y="58"/>
                  </a:lnTo>
                  <a:lnTo>
                    <a:pt x="119" y="47"/>
                  </a:lnTo>
                  <a:lnTo>
                    <a:pt x="104" y="35"/>
                  </a:lnTo>
                  <a:lnTo>
                    <a:pt x="88" y="25"/>
                  </a:lnTo>
                  <a:lnTo>
                    <a:pt x="72" y="15"/>
                  </a:lnTo>
                  <a:lnTo>
                    <a:pt x="54" y="7"/>
                  </a:lnTo>
                  <a:lnTo>
                    <a:pt x="36" y="0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20" y="122"/>
                  </a:lnTo>
                  <a:lnTo>
                    <a:pt x="39" y="134"/>
                  </a:lnTo>
                  <a:lnTo>
                    <a:pt x="57" y="148"/>
                  </a:lnTo>
                  <a:lnTo>
                    <a:pt x="72" y="164"/>
                  </a:lnTo>
                  <a:lnTo>
                    <a:pt x="86" y="181"/>
                  </a:lnTo>
                  <a:lnTo>
                    <a:pt x="97" y="199"/>
                  </a:lnTo>
                  <a:lnTo>
                    <a:pt x="106" y="219"/>
                  </a:lnTo>
                  <a:lnTo>
                    <a:pt x="113" y="240"/>
                  </a:lnTo>
                  <a:lnTo>
                    <a:pt x="113" y="24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13" name="Freeform 17"/>
            <p:cNvSpPr>
              <a:spLocks/>
            </p:cNvSpPr>
            <p:nvPr/>
          </p:nvSpPr>
          <p:spPr bwMode="auto">
            <a:xfrm>
              <a:off x="770" y="435"/>
              <a:ext cx="81" cy="46"/>
            </a:xfrm>
            <a:custGeom>
              <a:avLst/>
              <a:gdLst/>
              <a:ahLst/>
              <a:cxnLst>
                <a:cxn ang="0">
                  <a:pos x="37" y="36"/>
                </a:cxn>
                <a:cxn ang="0">
                  <a:pos x="0" y="148"/>
                </a:cxn>
                <a:cxn ang="0">
                  <a:pos x="0" y="148"/>
                </a:cxn>
                <a:cxn ang="0">
                  <a:pos x="19" y="153"/>
                </a:cxn>
                <a:cxn ang="0">
                  <a:pos x="38" y="156"/>
                </a:cxn>
                <a:cxn ang="0">
                  <a:pos x="57" y="158"/>
                </a:cxn>
                <a:cxn ang="0">
                  <a:pos x="76" y="159"/>
                </a:cxn>
                <a:cxn ang="0">
                  <a:pos x="96" y="159"/>
                </a:cxn>
                <a:cxn ang="0">
                  <a:pos x="114" y="158"/>
                </a:cxn>
                <a:cxn ang="0">
                  <a:pos x="133" y="155"/>
                </a:cxn>
                <a:cxn ang="0">
                  <a:pos x="150" y="152"/>
                </a:cxn>
                <a:cxn ang="0">
                  <a:pos x="169" y="147"/>
                </a:cxn>
                <a:cxn ang="0">
                  <a:pos x="186" y="141"/>
                </a:cxn>
                <a:cxn ang="0">
                  <a:pos x="204" y="136"/>
                </a:cxn>
                <a:cxn ang="0">
                  <a:pos x="220" y="127"/>
                </a:cxn>
                <a:cxn ang="0">
                  <a:pos x="238" y="119"/>
                </a:cxn>
                <a:cxn ang="0">
                  <a:pos x="253" y="110"/>
                </a:cxn>
                <a:cxn ang="0">
                  <a:pos x="268" y="99"/>
                </a:cxn>
                <a:cxn ang="0">
                  <a:pos x="283" y="88"/>
                </a:cxn>
                <a:cxn ang="0">
                  <a:pos x="204" y="0"/>
                </a:cxn>
                <a:cxn ang="0">
                  <a:pos x="204" y="0"/>
                </a:cxn>
                <a:cxn ang="0">
                  <a:pos x="185" y="12"/>
                </a:cxn>
                <a:cxn ang="0">
                  <a:pos x="167" y="23"/>
                </a:cxn>
                <a:cxn ang="0">
                  <a:pos x="146" y="31"/>
                </a:cxn>
                <a:cxn ang="0">
                  <a:pos x="125" y="37"/>
                </a:cxn>
                <a:cxn ang="0">
                  <a:pos x="104" y="40"/>
                </a:cxn>
                <a:cxn ang="0">
                  <a:pos x="82" y="41"/>
                </a:cxn>
                <a:cxn ang="0">
                  <a:pos x="59" y="39"/>
                </a:cxn>
                <a:cxn ang="0">
                  <a:pos x="37" y="36"/>
                </a:cxn>
                <a:cxn ang="0">
                  <a:pos x="37" y="36"/>
                </a:cxn>
              </a:cxnLst>
              <a:rect l="0" t="0" r="r" b="b"/>
              <a:pathLst>
                <a:path w="283" h="159">
                  <a:moveTo>
                    <a:pt x="37" y="36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19" y="153"/>
                  </a:lnTo>
                  <a:lnTo>
                    <a:pt x="38" y="156"/>
                  </a:lnTo>
                  <a:lnTo>
                    <a:pt x="57" y="158"/>
                  </a:lnTo>
                  <a:lnTo>
                    <a:pt x="76" y="159"/>
                  </a:lnTo>
                  <a:lnTo>
                    <a:pt x="96" y="159"/>
                  </a:lnTo>
                  <a:lnTo>
                    <a:pt x="114" y="158"/>
                  </a:lnTo>
                  <a:lnTo>
                    <a:pt x="133" y="155"/>
                  </a:lnTo>
                  <a:lnTo>
                    <a:pt x="150" y="152"/>
                  </a:lnTo>
                  <a:lnTo>
                    <a:pt x="169" y="147"/>
                  </a:lnTo>
                  <a:lnTo>
                    <a:pt x="186" y="141"/>
                  </a:lnTo>
                  <a:lnTo>
                    <a:pt x="204" y="136"/>
                  </a:lnTo>
                  <a:lnTo>
                    <a:pt x="220" y="127"/>
                  </a:lnTo>
                  <a:lnTo>
                    <a:pt x="238" y="119"/>
                  </a:lnTo>
                  <a:lnTo>
                    <a:pt x="253" y="110"/>
                  </a:lnTo>
                  <a:lnTo>
                    <a:pt x="268" y="99"/>
                  </a:lnTo>
                  <a:lnTo>
                    <a:pt x="283" y="88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185" y="12"/>
                  </a:lnTo>
                  <a:lnTo>
                    <a:pt x="167" y="23"/>
                  </a:lnTo>
                  <a:lnTo>
                    <a:pt x="146" y="31"/>
                  </a:lnTo>
                  <a:lnTo>
                    <a:pt x="125" y="37"/>
                  </a:lnTo>
                  <a:lnTo>
                    <a:pt x="104" y="40"/>
                  </a:lnTo>
                  <a:lnTo>
                    <a:pt x="82" y="41"/>
                  </a:lnTo>
                  <a:lnTo>
                    <a:pt x="59" y="39"/>
                  </a:lnTo>
                  <a:lnTo>
                    <a:pt x="37" y="36"/>
                  </a:lnTo>
                  <a:lnTo>
                    <a:pt x="37" y="36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124" name="Group 28"/>
          <p:cNvGrpSpPr>
            <a:grpSpLocks/>
          </p:cNvGrpSpPr>
          <p:nvPr/>
        </p:nvGrpSpPr>
        <p:grpSpPr bwMode="auto">
          <a:xfrm>
            <a:off x="8494713" y="5792788"/>
            <a:ext cx="554037" cy="552450"/>
            <a:chOff x="5369" y="3667"/>
            <a:chExt cx="349" cy="348"/>
          </a:xfrm>
        </p:grpSpPr>
        <p:sp>
          <p:nvSpPr>
            <p:cNvPr id="4125" name="Freeform 29"/>
            <p:cNvSpPr>
              <a:spLocks/>
            </p:cNvSpPr>
            <p:nvPr/>
          </p:nvSpPr>
          <p:spPr bwMode="auto">
            <a:xfrm>
              <a:off x="5396" y="3667"/>
              <a:ext cx="138" cy="112"/>
            </a:xfrm>
            <a:custGeom>
              <a:avLst/>
              <a:gdLst/>
              <a:ahLst/>
              <a:cxnLst>
                <a:cxn ang="0">
                  <a:pos x="182" y="86"/>
                </a:cxn>
                <a:cxn ang="0">
                  <a:pos x="182" y="0"/>
                </a:cxn>
                <a:cxn ang="0">
                  <a:pos x="182" y="0"/>
                </a:cxn>
                <a:cxn ang="0">
                  <a:pos x="154" y="2"/>
                </a:cxn>
                <a:cxn ang="0">
                  <a:pos x="128" y="10"/>
                </a:cxn>
                <a:cxn ang="0">
                  <a:pos x="102" y="18"/>
                </a:cxn>
                <a:cxn ang="0">
                  <a:pos x="78" y="30"/>
                </a:cxn>
                <a:cxn ang="0">
                  <a:pos x="56" y="46"/>
                </a:cxn>
                <a:cxn ang="0">
                  <a:pos x="36" y="64"/>
                </a:cxn>
                <a:cxn ang="0">
                  <a:pos x="16" y="82"/>
                </a:cxn>
                <a:cxn ang="0">
                  <a:pos x="0" y="104"/>
                </a:cxn>
                <a:cxn ang="0">
                  <a:pos x="76" y="148"/>
                </a:cxn>
                <a:cxn ang="0">
                  <a:pos x="76" y="148"/>
                </a:cxn>
                <a:cxn ang="0">
                  <a:pos x="86" y="136"/>
                </a:cxn>
                <a:cxn ang="0">
                  <a:pos x="96" y="124"/>
                </a:cxn>
                <a:cxn ang="0">
                  <a:pos x="108" y="114"/>
                </a:cxn>
                <a:cxn ang="0">
                  <a:pos x="122" y="104"/>
                </a:cxn>
                <a:cxn ang="0">
                  <a:pos x="136" y="98"/>
                </a:cxn>
                <a:cxn ang="0">
                  <a:pos x="150" y="92"/>
                </a:cxn>
                <a:cxn ang="0">
                  <a:pos x="166" y="88"/>
                </a:cxn>
                <a:cxn ang="0">
                  <a:pos x="182" y="86"/>
                </a:cxn>
                <a:cxn ang="0">
                  <a:pos x="182" y="86"/>
                </a:cxn>
              </a:cxnLst>
              <a:rect l="0" t="0" r="r" b="b"/>
              <a:pathLst>
                <a:path w="182" h="148">
                  <a:moveTo>
                    <a:pt x="182" y="86"/>
                  </a:moveTo>
                  <a:lnTo>
                    <a:pt x="182" y="0"/>
                  </a:lnTo>
                  <a:lnTo>
                    <a:pt x="182" y="0"/>
                  </a:lnTo>
                  <a:lnTo>
                    <a:pt x="154" y="2"/>
                  </a:lnTo>
                  <a:lnTo>
                    <a:pt x="128" y="10"/>
                  </a:lnTo>
                  <a:lnTo>
                    <a:pt x="102" y="18"/>
                  </a:lnTo>
                  <a:lnTo>
                    <a:pt x="78" y="30"/>
                  </a:lnTo>
                  <a:lnTo>
                    <a:pt x="56" y="46"/>
                  </a:lnTo>
                  <a:lnTo>
                    <a:pt x="36" y="64"/>
                  </a:lnTo>
                  <a:lnTo>
                    <a:pt x="16" y="82"/>
                  </a:lnTo>
                  <a:lnTo>
                    <a:pt x="0" y="104"/>
                  </a:lnTo>
                  <a:lnTo>
                    <a:pt x="76" y="148"/>
                  </a:lnTo>
                  <a:lnTo>
                    <a:pt x="76" y="148"/>
                  </a:lnTo>
                  <a:lnTo>
                    <a:pt x="86" y="136"/>
                  </a:lnTo>
                  <a:lnTo>
                    <a:pt x="96" y="124"/>
                  </a:lnTo>
                  <a:lnTo>
                    <a:pt x="108" y="114"/>
                  </a:lnTo>
                  <a:lnTo>
                    <a:pt x="122" y="104"/>
                  </a:lnTo>
                  <a:lnTo>
                    <a:pt x="136" y="98"/>
                  </a:lnTo>
                  <a:lnTo>
                    <a:pt x="150" y="92"/>
                  </a:lnTo>
                  <a:lnTo>
                    <a:pt x="166" y="88"/>
                  </a:lnTo>
                  <a:lnTo>
                    <a:pt x="182" y="86"/>
                  </a:lnTo>
                  <a:lnTo>
                    <a:pt x="182" y="86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26" name="Freeform 30"/>
            <p:cNvSpPr>
              <a:spLocks/>
            </p:cNvSpPr>
            <p:nvPr/>
          </p:nvSpPr>
          <p:spPr bwMode="auto">
            <a:xfrm>
              <a:off x="5642" y="3761"/>
              <a:ext cx="76" cy="160"/>
            </a:xfrm>
            <a:custGeom>
              <a:avLst/>
              <a:gdLst/>
              <a:ahLst/>
              <a:cxnLst>
                <a:cxn ang="0">
                  <a:pos x="14" y="106"/>
                </a:cxn>
                <a:cxn ang="0">
                  <a:pos x="14" y="106"/>
                </a:cxn>
                <a:cxn ang="0">
                  <a:pos x="14" y="122"/>
                </a:cxn>
                <a:cxn ang="0">
                  <a:pos x="10" y="138"/>
                </a:cxn>
                <a:cxn ang="0">
                  <a:pos x="6" y="152"/>
                </a:cxn>
                <a:cxn ang="0">
                  <a:pos x="0" y="168"/>
                </a:cxn>
                <a:cxn ang="0">
                  <a:pos x="74" y="210"/>
                </a:cxn>
                <a:cxn ang="0">
                  <a:pos x="74" y="210"/>
                </a:cxn>
                <a:cxn ang="0">
                  <a:pos x="86" y="186"/>
                </a:cxn>
                <a:cxn ang="0">
                  <a:pos x="94" y="160"/>
                </a:cxn>
                <a:cxn ang="0">
                  <a:pos x="98" y="134"/>
                </a:cxn>
                <a:cxn ang="0">
                  <a:pos x="100" y="106"/>
                </a:cxn>
                <a:cxn ang="0">
                  <a:pos x="100" y="106"/>
                </a:cxn>
                <a:cxn ang="0">
                  <a:pos x="98" y="78"/>
                </a:cxn>
                <a:cxn ang="0">
                  <a:pos x="94" y="50"/>
                </a:cxn>
                <a:cxn ang="0">
                  <a:pos x="86" y="24"/>
                </a:cxn>
                <a:cxn ang="0">
                  <a:pos x="74" y="0"/>
                </a:cxn>
                <a:cxn ang="0">
                  <a:pos x="0" y="44"/>
                </a:cxn>
                <a:cxn ang="0">
                  <a:pos x="0" y="44"/>
                </a:cxn>
                <a:cxn ang="0">
                  <a:pos x="6" y="58"/>
                </a:cxn>
                <a:cxn ang="0">
                  <a:pos x="10" y="72"/>
                </a:cxn>
                <a:cxn ang="0">
                  <a:pos x="14" y="88"/>
                </a:cxn>
                <a:cxn ang="0">
                  <a:pos x="14" y="106"/>
                </a:cxn>
                <a:cxn ang="0">
                  <a:pos x="14" y="106"/>
                </a:cxn>
              </a:cxnLst>
              <a:rect l="0" t="0" r="r" b="b"/>
              <a:pathLst>
                <a:path w="100" h="210">
                  <a:moveTo>
                    <a:pt x="14" y="106"/>
                  </a:moveTo>
                  <a:lnTo>
                    <a:pt x="14" y="106"/>
                  </a:lnTo>
                  <a:lnTo>
                    <a:pt x="14" y="122"/>
                  </a:lnTo>
                  <a:lnTo>
                    <a:pt x="10" y="138"/>
                  </a:lnTo>
                  <a:lnTo>
                    <a:pt x="6" y="152"/>
                  </a:lnTo>
                  <a:lnTo>
                    <a:pt x="0" y="168"/>
                  </a:lnTo>
                  <a:lnTo>
                    <a:pt x="74" y="210"/>
                  </a:lnTo>
                  <a:lnTo>
                    <a:pt x="74" y="210"/>
                  </a:lnTo>
                  <a:lnTo>
                    <a:pt x="86" y="186"/>
                  </a:lnTo>
                  <a:lnTo>
                    <a:pt x="94" y="160"/>
                  </a:lnTo>
                  <a:lnTo>
                    <a:pt x="98" y="134"/>
                  </a:lnTo>
                  <a:lnTo>
                    <a:pt x="100" y="106"/>
                  </a:lnTo>
                  <a:lnTo>
                    <a:pt x="100" y="106"/>
                  </a:lnTo>
                  <a:lnTo>
                    <a:pt x="98" y="78"/>
                  </a:lnTo>
                  <a:lnTo>
                    <a:pt x="94" y="50"/>
                  </a:lnTo>
                  <a:lnTo>
                    <a:pt x="86" y="24"/>
                  </a:lnTo>
                  <a:lnTo>
                    <a:pt x="74" y="0"/>
                  </a:lnTo>
                  <a:lnTo>
                    <a:pt x="0" y="44"/>
                  </a:lnTo>
                  <a:lnTo>
                    <a:pt x="0" y="44"/>
                  </a:lnTo>
                  <a:lnTo>
                    <a:pt x="6" y="58"/>
                  </a:lnTo>
                  <a:lnTo>
                    <a:pt x="10" y="72"/>
                  </a:lnTo>
                  <a:lnTo>
                    <a:pt x="14" y="88"/>
                  </a:lnTo>
                  <a:lnTo>
                    <a:pt x="14" y="106"/>
                  </a:lnTo>
                  <a:lnTo>
                    <a:pt x="14" y="106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27" name="Freeform 31"/>
            <p:cNvSpPr>
              <a:spLocks/>
            </p:cNvSpPr>
            <p:nvPr/>
          </p:nvSpPr>
          <p:spPr bwMode="auto">
            <a:xfrm>
              <a:off x="5369" y="3761"/>
              <a:ext cx="76" cy="160"/>
            </a:xfrm>
            <a:custGeom>
              <a:avLst/>
              <a:gdLst/>
              <a:ahLst/>
              <a:cxnLst>
                <a:cxn ang="0">
                  <a:pos x="86" y="106"/>
                </a:cxn>
                <a:cxn ang="0">
                  <a:pos x="86" y="106"/>
                </a:cxn>
                <a:cxn ang="0">
                  <a:pos x="86" y="88"/>
                </a:cxn>
                <a:cxn ang="0">
                  <a:pos x="90" y="72"/>
                </a:cxn>
                <a:cxn ang="0">
                  <a:pos x="94" y="58"/>
                </a:cxn>
                <a:cxn ang="0">
                  <a:pos x="100" y="44"/>
                </a:cxn>
                <a:cxn ang="0">
                  <a:pos x="26" y="0"/>
                </a:cxn>
                <a:cxn ang="0">
                  <a:pos x="26" y="0"/>
                </a:cxn>
                <a:cxn ang="0">
                  <a:pos x="14" y="24"/>
                </a:cxn>
                <a:cxn ang="0">
                  <a:pos x="6" y="50"/>
                </a:cxn>
                <a:cxn ang="0">
                  <a:pos x="2" y="78"/>
                </a:cxn>
                <a:cxn ang="0">
                  <a:pos x="0" y="106"/>
                </a:cxn>
                <a:cxn ang="0">
                  <a:pos x="0" y="106"/>
                </a:cxn>
                <a:cxn ang="0">
                  <a:pos x="2" y="134"/>
                </a:cxn>
                <a:cxn ang="0">
                  <a:pos x="6" y="160"/>
                </a:cxn>
                <a:cxn ang="0">
                  <a:pos x="14" y="186"/>
                </a:cxn>
                <a:cxn ang="0">
                  <a:pos x="26" y="210"/>
                </a:cxn>
                <a:cxn ang="0">
                  <a:pos x="100" y="168"/>
                </a:cxn>
                <a:cxn ang="0">
                  <a:pos x="100" y="168"/>
                </a:cxn>
                <a:cxn ang="0">
                  <a:pos x="94" y="152"/>
                </a:cxn>
                <a:cxn ang="0">
                  <a:pos x="90" y="138"/>
                </a:cxn>
                <a:cxn ang="0">
                  <a:pos x="86" y="122"/>
                </a:cxn>
                <a:cxn ang="0">
                  <a:pos x="86" y="106"/>
                </a:cxn>
                <a:cxn ang="0">
                  <a:pos x="86" y="106"/>
                </a:cxn>
              </a:cxnLst>
              <a:rect l="0" t="0" r="r" b="b"/>
              <a:pathLst>
                <a:path w="100" h="210">
                  <a:moveTo>
                    <a:pt x="86" y="106"/>
                  </a:moveTo>
                  <a:lnTo>
                    <a:pt x="86" y="106"/>
                  </a:lnTo>
                  <a:lnTo>
                    <a:pt x="86" y="88"/>
                  </a:lnTo>
                  <a:lnTo>
                    <a:pt x="90" y="72"/>
                  </a:lnTo>
                  <a:lnTo>
                    <a:pt x="94" y="58"/>
                  </a:lnTo>
                  <a:lnTo>
                    <a:pt x="100" y="44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14" y="24"/>
                  </a:lnTo>
                  <a:lnTo>
                    <a:pt x="6" y="50"/>
                  </a:lnTo>
                  <a:lnTo>
                    <a:pt x="2" y="78"/>
                  </a:lnTo>
                  <a:lnTo>
                    <a:pt x="0" y="106"/>
                  </a:lnTo>
                  <a:lnTo>
                    <a:pt x="0" y="106"/>
                  </a:lnTo>
                  <a:lnTo>
                    <a:pt x="2" y="134"/>
                  </a:lnTo>
                  <a:lnTo>
                    <a:pt x="6" y="160"/>
                  </a:lnTo>
                  <a:lnTo>
                    <a:pt x="14" y="186"/>
                  </a:lnTo>
                  <a:lnTo>
                    <a:pt x="26" y="210"/>
                  </a:lnTo>
                  <a:lnTo>
                    <a:pt x="100" y="168"/>
                  </a:lnTo>
                  <a:lnTo>
                    <a:pt x="100" y="168"/>
                  </a:lnTo>
                  <a:lnTo>
                    <a:pt x="94" y="152"/>
                  </a:lnTo>
                  <a:lnTo>
                    <a:pt x="90" y="138"/>
                  </a:lnTo>
                  <a:lnTo>
                    <a:pt x="86" y="122"/>
                  </a:lnTo>
                  <a:lnTo>
                    <a:pt x="86" y="106"/>
                  </a:lnTo>
                  <a:lnTo>
                    <a:pt x="86" y="106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28" name="Freeform 32"/>
            <p:cNvSpPr>
              <a:spLocks/>
            </p:cNvSpPr>
            <p:nvPr/>
          </p:nvSpPr>
          <p:spPr bwMode="auto">
            <a:xfrm>
              <a:off x="5396" y="3902"/>
              <a:ext cx="138" cy="113"/>
            </a:xfrm>
            <a:custGeom>
              <a:avLst/>
              <a:gdLst/>
              <a:ahLst/>
              <a:cxnLst>
                <a:cxn ang="0">
                  <a:pos x="76" y="0"/>
                </a:cxn>
                <a:cxn ang="0">
                  <a:pos x="0" y="44"/>
                </a:cxn>
                <a:cxn ang="0">
                  <a:pos x="0" y="44"/>
                </a:cxn>
                <a:cxn ang="0">
                  <a:pos x="16" y="66"/>
                </a:cxn>
                <a:cxn ang="0">
                  <a:pos x="36" y="84"/>
                </a:cxn>
                <a:cxn ang="0">
                  <a:pos x="56" y="102"/>
                </a:cxn>
                <a:cxn ang="0">
                  <a:pos x="78" y="118"/>
                </a:cxn>
                <a:cxn ang="0">
                  <a:pos x="102" y="130"/>
                </a:cxn>
                <a:cxn ang="0">
                  <a:pos x="128" y="138"/>
                </a:cxn>
                <a:cxn ang="0">
                  <a:pos x="154" y="146"/>
                </a:cxn>
                <a:cxn ang="0">
                  <a:pos x="182" y="148"/>
                </a:cxn>
                <a:cxn ang="0">
                  <a:pos x="182" y="62"/>
                </a:cxn>
                <a:cxn ang="0">
                  <a:pos x="182" y="62"/>
                </a:cxn>
                <a:cxn ang="0">
                  <a:pos x="166" y="60"/>
                </a:cxn>
                <a:cxn ang="0">
                  <a:pos x="150" y="56"/>
                </a:cxn>
                <a:cxn ang="0">
                  <a:pos x="136" y="50"/>
                </a:cxn>
                <a:cxn ang="0">
                  <a:pos x="122" y="44"/>
                </a:cxn>
                <a:cxn ang="0">
                  <a:pos x="108" y="34"/>
                </a:cxn>
                <a:cxn ang="0">
                  <a:pos x="96" y="24"/>
                </a:cxn>
                <a:cxn ang="0">
                  <a:pos x="86" y="14"/>
                </a:cxn>
                <a:cxn ang="0">
                  <a:pos x="76" y="0"/>
                </a:cxn>
                <a:cxn ang="0">
                  <a:pos x="76" y="0"/>
                </a:cxn>
              </a:cxnLst>
              <a:rect l="0" t="0" r="r" b="b"/>
              <a:pathLst>
                <a:path w="182" h="148">
                  <a:moveTo>
                    <a:pt x="76" y="0"/>
                  </a:moveTo>
                  <a:lnTo>
                    <a:pt x="0" y="44"/>
                  </a:lnTo>
                  <a:lnTo>
                    <a:pt x="0" y="44"/>
                  </a:lnTo>
                  <a:lnTo>
                    <a:pt x="16" y="66"/>
                  </a:lnTo>
                  <a:lnTo>
                    <a:pt x="36" y="84"/>
                  </a:lnTo>
                  <a:lnTo>
                    <a:pt x="56" y="102"/>
                  </a:lnTo>
                  <a:lnTo>
                    <a:pt x="78" y="118"/>
                  </a:lnTo>
                  <a:lnTo>
                    <a:pt x="102" y="130"/>
                  </a:lnTo>
                  <a:lnTo>
                    <a:pt x="128" y="138"/>
                  </a:lnTo>
                  <a:lnTo>
                    <a:pt x="154" y="146"/>
                  </a:lnTo>
                  <a:lnTo>
                    <a:pt x="182" y="148"/>
                  </a:lnTo>
                  <a:lnTo>
                    <a:pt x="182" y="62"/>
                  </a:lnTo>
                  <a:lnTo>
                    <a:pt x="182" y="62"/>
                  </a:lnTo>
                  <a:lnTo>
                    <a:pt x="166" y="60"/>
                  </a:lnTo>
                  <a:lnTo>
                    <a:pt x="150" y="56"/>
                  </a:lnTo>
                  <a:lnTo>
                    <a:pt x="136" y="50"/>
                  </a:lnTo>
                  <a:lnTo>
                    <a:pt x="122" y="44"/>
                  </a:lnTo>
                  <a:lnTo>
                    <a:pt x="108" y="34"/>
                  </a:lnTo>
                  <a:lnTo>
                    <a:pt x="96" y="24"/>
                  </a:lnTo>
                  <a:lnTo>
                    <a:pt x="86" y="14"/>
                  </a:lnTo>
                  <a:lnTo>
                    <a:pt x="76" y="0"/>
                  </a:lnTo>
                  <a:lnTo>
                    <a:pt x="76" y="0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29" name="Freeform 33"/>
            <p:cNvSpPr>
              <a:spLocks/>
            </p:cNvSpPr>
            <p:nvPr/>
          </p:nvSpPr>
          <p:spPr bwMode="auto">
            <a:xfrm>
              <a:off x="5553" y="3667"/>
              <a:ext cx="138" cy="112"/>
            </a:xfrm>
            <a:custGeom>
              <a:avLst/>
              <a:gdLst/>
              <a:ahLst/>
              <a:cxnLst>
                <a:cxn ang="0">
                  <a:pos x="106" y="148"/>
                </a:cxn>
                <a:cxn ang="0">
                  <a:pos x="182" y="104"/>
                </a:cxn>
                <a:cxn ang="0">
                  <a:pos x="182" y="104"/>
                </a:cxn>
                <a:cxn ang="0">
                  <a:pos x="166" y="82"/>
                </a:cxn>
                <a:cxn ang="0">
                  <a:pos x="148" y="64"/>
                </a:cxn>
                <a:cxn ang="0">
                  <a:pos x="126" y="46"/>
                </a:cxn>
                <a:cxn ang="0">
                  <a:pos x="104" y="30"/>
                </a:cxn>
                <a:cxn ang="0">
                  <a:pos x="80" y="18"/>
                </a:cxn>
                <a:cxn ang="0">
                  <a:pos x="54" y="10"/>
                </a:cxn>
                <a:cxn ang="0">
                  <a:pos x="28" y="2"/>
                </a:cxn>
                <a:cxn ang="0">
                  <a:pos x="0" y="0"/>
                </a:cxn>
                <a:cxn ang="0">
                  <a:pos x="0" y="86"/>
                </a:cxn>
                <a:cxn ang="0">
                  <a:pos x="0" y="86"/>
                </a:cxn>
                <a:cxn ang="0">
                  <a:pos x="16" y="88"/>
                </a:cxn>
                <a:cxn ang="0">
                  <a:pos x="32" y="92"/>
                </a:cxn>
                <a:cxn ang="0">
                  <a:pos x="46" y="98"/>
                </a:cxn>
                <a:cxn ang="0">
                  <a:pos x="60" y="104"/>
                </a:cxn>
                <a:cxn ang="0">
                  <a:pos x="74" y="114"/>
                </a:cxn>
                <a:cxn ang="0">
                  <a:pos x="86" y="124"/>
                </a:cxn>
                <a:cxn ang="0">
                  <a:pos x="98" y="136"/>
                </a:cxn>
                <a:cxn ang="0">
                  <a:pos x="106" y="148"/>
                </a:cxn>
                <a:cxn ang="0">
                  <a:pos x="106" y="148"/>
                </a:cxn>
              </a:cxnLst>
              <a:rect l="0" t="0" r="r" b="b"/>
              <a:pathLst>
                <a:path w="182" h="148">
                  <a:moveTo>
                    <a:pt x="106" y="148"/>
                  </a:moveTo>
                  <a:lnTo>
                    <a:pt x="182" y="104"/>
                  </a:lnTo>
                  <a:lnTo>
                    <a:pt x="182" y="104"/>
                  </a:lnTo>
                  <a:lnTo>
                    <a:pt x="166" y="82"/>
                  </a:lnTo>
                  <a:lnTo>
                    <a:pt x="148" y="64"/>
                  </a:lnTo>
                  <a:lnTo>
                    <a:pt x="126" y="46"/>
                  </a:lnTo>
                  <a:lnTo>
                    <a:pt x="104" y="30"/>
                  </a:lnTo>
                  <a:lnTo>
                    <a:pt x="80" y="18"/>
                  </a:lnTo>
                  <a:lnTo>
                    <a:pt x="54" y="10"/>
                  </a:lnTo>
                  <a:lnTo>
                    <a:pt x="28" y="2"/>
                  </a:lnTo>
                  <a:lnTo>
                    <a:pt x="0" y="0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16" y="88"/>
                  </a:lnTo>
                  <a:lnTo>
                    <a:pt x="32" y="92"/>
                  </a:lnTo>
                  <a:lnTo>
                    <a:pt x="46" y="98"/>
                  </a:lnTo>
                  <a:lnTo>
                    <a:pt x="60" y="104"/>
                  </a:lnTo>
                  <a:lnTo>
                    <a:pt x="74" y="114"/>
                  </a:lnTo>
                  <a:lnTo>
                    <a:pt x="86" y="124"/>
                  </a:lnTo>
                  <a:lnTo>
                    <a:pt x="98" y="136"/>
                  </a:lnTo>
                  <a:lnTo>
                    <a:pt x="106" y="148"/>
                  </a:lnTo>
                  <a:lnTo>
                    <a:pt x="106" y="148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30" name="Freeform 34"/>
            <p:cNvSpPr>
              <a:spLocks/>
            </p:cNvSpPr>
            <p:nvPr/>
          </p:nvSpPr>
          <p:spPr bwMode="auto">
            <a:xfrm>
              <a:off x="5553" y="3902"/>
              <a:ext cx="138" cy="113"/>
            </a:xfrm>
            <a:custGeom>
              <a:avLst/>
              <a:gdLst/>
              <a:ahLst/>
              <a:cxnLst>
                <a:cxn ang="0">
                  <a:pos x="0" y="62"/>
                </a:cxn>
                <a:cxn ang="0">
                  <a:pos x="0" y="148"/>
                </a:cxn>
                <a:cxn ang="0">
                  <a:pos x="0" y="148"/>
                </a:cxn>
                <a:cxn ang="0">
                  <a:pos x="28" y="146"/>
                </a:cxn>
                <a:cxn ang="0">
                  <a:pos x="54" y="138"/>
                </a:cxn>
                <a:cxn ang="0">
                  <a:pos x="80" y="130"/>
                </a:cxn>
                <a:cxn ang="0">
                  <a:pos x="104" y="118"/>
                </a:cxn>
                <a:cxn ang="0">
                  <a:pos x="126" y="102"/>
                </a:cxn>
                <a:cxn ang="0">
                  <a:pos x="148" y="84"/>
                </a:cxn>
                <a:cxn ang="0">
                  <a:pos x="166" y="66"/>
                </a:cxn>
                <a:cxn ang="0">
                  <a:pos x="182" y="44"/>
                </a:cxn>
                <a:cxn ang="0">
                  <a:pos x="106" y="0"/>
                </a:cxn>
                <a:cxn ang="0">
                  <a:pos x="106" y="0"/>
                </a:cxn>
                <a:cxn ang="0">
                  <a:pos x="98" y="14"/>
                </a:cxn>
                <a:cxn ang="0">
                  <a:pos x="86" y="24"/>
                </a:cxn>
                <a:cxn ang="0">
                  <a:pos x="74" y="34"/>
                </a:cxn>
                <a:cxn ang="0">
                  <a:pos x="60" y="44"/>
                </a:cxn>
                <a:cxn ang="0">
                  <a:pos x="46" y="50"/>
                </a:cxn>
                <a:cxn ang="0">
                  <a:pos x="32" y="56"/>
                </a:cxn>
                <a:cxn ang="0">
                  <a:pos x="16" y="60"/>
                </a:cxn>
                <a:cxn ang="0">
                  <a:pos x="0" y="62"/>
                </a:cxn>
                <a:cxn ang="0">
                  <a:pos x="0" y="62"/>
                </a:cxn>
              </a:cxnLst>
              <a:rect l="0" t="0" r="r" b="b"/>
              <a:pathLst>
                <a:path w="182" h="148">
                  <a:moveTo>
                    <a:pt x="0" y="62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28" y="146"/>
                  </a:lnTo>
                  <a:lnTo>
                    <a:pt x="54" y="138"/>
                  </a:lnTo>
                  <a:lnTo>
                    <a:pt x="80" y="130"/>
                  </a:lnTo>
                  <a:lnTo>
                    <a:pt x="104" y="118"/>
                  </a:lnTo>
                  <a:lnTo>
                    <a:pt x="126" y="102"/>
                  </a:lnTo>
                  <a:lnTo>
                    <a:pt x="148" y="84"/>
                  </a:lnTo>
                  <a:lnTo>
                    <a:pt x="166" y="66"/>
                  </a:lnTo>
                  <a:lnTo>
                    <a:pt x="182" y="44"/>
                  </a:lnTo>
                  <a:lnTo>
                    <a:pt x="106" y="0"/>
                  </a:lnTo>
                  <a:lnTo>
                    <a:pt x="106" y="0"/>
                  </a:lnTo>
                  <a:lnTo>
                    <a:pt x="98" y="14"/>
                  </a:lnTo>
                  <a:lnTo>
                    <a:pt x="86" y="24"/>
                  </a:lnTo>
                  <a:lnTo>
                    <a:pt x="74" y="34"/>
                  </a:lnTo>
                  <a:lnTo>
                    <a:pt x="60" y="44"/>
                  </a:lnTo>
                  <a:lnTo>
                    <a:pt x="46" y="50"/>
                  </a:lnTo>
                  <a:lnTo>
                    <a:pt x="32" y="56"/>
                  </a:lnTo>
                  <a:lnTo>
                    <a:pt x="16" y="60"/>
                  </a:lnTo>
                  <a:lnTo>
                    <a:pt x="0" y="62"/>
                  </a:lnTo>
                  <a:lnTo>
                    <a:pt x="0" y="6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131" name="Group 35"/>
          <p:cNvGrpSpPr>
            <a:grpSpLocks/>
          </p:cNvGrpSpPr>
          <p:nvPr/>
        </p:nvGrpSpPr>
        <p:grpSpPr bwMode="auto">
          <a:xfrm>
            <a:off x="8113713" y="6221413"/>
            <a:ext cx="554037" cy="552450"/>
            <a:chOff x="5129" y="3937"/>
            <a:chExt cx="349" cy="348"/>
          </a:xfrm>
        </p:grpSpPr>
        <p:sp>
          <p:nvSpPr>
            <p:cNvPr id="4132" name="Freeform 36"/>
            <p:cNvSpPr>
              <a:spLocks/>
            </p:cNvSpPr>
            <p:nvPr/>
          </p:nvSpPr>
          <p:spPr bwMode="auto">
            <a:xfrm>
              <a:off x="5193" y="3937"/>
              <a:ext cx="156" cy="87"/>
            </a:xfrm>
            <a:custGeom>
              <a:avLst/>
              <a:gdLst/>
              <a:ahLst/>
              <a:cxnLst>
                <a:cxn ang="0">
                  <a:pos x="180" y="88"/>
                </a:cxn>
                <a:cxn ang="0">
                  <a:pos x="206" y="8"/>
                </a:cxn>
                <a:cxn ang="0">
                  <a:pos x="206" y="8"/>
                </a:cxn>
                <a:cxn ang="0">
                  <a:pos x="178" y="2"/>
                </a:cxn>
                <a:cxn ang="0">
                  <a:pos x="150" y="0"/>
                </a:cxn>
                <a:cxn ang="0">
                  <a:pos x="124" y="0"/>
                </a:cxn>
                <a:cxn ang="0">
                  <a:pos x="96" y="4"/>
                </a:cxn>
                <a:cxn ang="0">
                  <a:pos x="70" y="12"/>
                </a:cxn>
                <a:cxn ang="0">
                  <a:pos x="46" y="22"/>
                </a:cxn>
                <a:cxn ang="0">
                  <a:pos x="22" y="36"/>
                </a:cxn>
                <a:cxn ang="0">
                  <a:pos x="0" y="50"/>
                </a:cxn>
                <a:cxn ang="0">
                  <a:pos x="58" y="114"/>
                </a:cxn>
                <a:cxn ang="0">
                  <a:pos x="58" y="114"/>
                </a:cxn>
                <a:cxn ang="0">
                  <a:pos x="72" y="106"/>
                </a:cxn>
                <a:cxn ang="0">
                  <a:pos x="86" y="98"/>
                </a:cxn>
                <a:cxn ang="0">
                  <a:pos x="100" y="92"/>
                </a:cxn>
                <a:cxn ang="0">
                  <a:pos x="116" y="88"/>
                </a:cxn>
                <a:cxn ang="0">
                  <a:pos x="130" y="86"/>
                </a:cxn>
                <a:cxn ang="0">
                  <a:pos x="146" y="84"/>
                </a:cxn>
                <a:cxn ang="0">
                  <a:pos x="164" y="86"/>
                </a:cxn>
                <a:cxn ang="0">
                  <a:pos x="180" y="88"/>
                </a:cxn>
                <a:cxn ang="0">
                  <a:pos x="180" y="88"/>
                </a:cxn>
              </a:cxnLst>
              <a:rect l="0" t="0" r="r" b="b"/>
              <a:pathLst>
                <a:path w="206" h="114">
                  <a:moveTo>
                    <a:pt x="180" y="88"/>
                  </a:moveTo>
                  <a:lnTo>
                    <a:pt x="206" y="8"/>
                  </a:lnTo>
                  <a:lnTo>
                    <a:pt x="206" y="8"/>
                  </a:lnTo>
                  <a:lnTo>
                    <a:pt x="178" y="2"/>
                  </a:lnTo>
                  <a:lnTo>
                    <a:pt x="150" y="0"/>
                  </a:lnTo>
                  <a:lnTo>
                    <a:pt x="124" y="0"/>
                  </a:lnTo>
                  <a:lnTo>
                    <a:pt x="96" y="4"/>
                  </a:lnTo>
                  <a:lnTo>
                    <a:pt x="70" y="12"/>
                  </a:lnTo>
                  <a:lnTo>
                    <a:pt x="46" y="22"/>
                  </a:lnTo>
                  <a:lnTo>
                    <a:pt x="22" y="36"/>
                  </a:lnTo>
                  <a:lnTo>
                    <a:pt x="0" y="50"/>
                  </a:lnTo>
                  <a:lnTo>
                    <a:pt x="58" y="114"/>
                  </a:lnTo>
                  <a:lnTo>
                    <a:pt x="58" y="114"/>
                  </a:lnTo>
                  <a:lnTo>
                    <a:pt x="72" y="106"/>
                  </a:lnTo>
                  <a:lnTo>
                    <a:pt x="86" y="98"/>
                  </a:lnTo>
                  <a:lnTo>
                    <a:pt x="100" y="92"/>
                  </a:lnTo>
                  <a:lnTo>
                    <a:pt x="116" y="88"/>
                  </a:lnTo>
                  <a:lnTo>
                    <a:pt x="130" y="86"/>
                  </a:lnTo>
                  <a:lnTo>
                    <a:pt x="146" y="84"/>
                  </a:lnTo>
                  <a:lnTo>
                    <a:pt x="164" y="86"/>
                  </a:lnTo>
                  <a:lnTo>
                    <a:pt x="180" y="88"/>
                  </a:lnTo>
                  <a:lnTo>
                    <a:pt x="180" y="88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33" name="Freeform 37"/>
            <p:cNvSpPr>
              <a:spLocks/>
            </p:cNvSpPr>
            <p:nvPr/>
          </p:nvSpPr>
          <p:spPr bwMode="auto">
            <a:xfrm>
              <a:off x="5383" y="4083"/>
              <a:ext cx="95" cy="152"/>
            </a:xfrm>
            <a:custGeom>
              <a:avLst/>
              <a:gdLst/>
              <a:ahLst/>
              <a:cxnLst>
                <a:cxn ang="0">
                  <a:pos x="32" y="82"/>
                </a:cxn>
                <a:cxn ang="0">
                  <a:pos x="32" y="82"/>
                </a:cxn>
                <a:cxn ang="0">
                  <a:pos x="26" y="96"/>
                </a:cxn>
                <a:cxn ang="0">
                  <a:pos x="20" y="110"/>
                </a:cxn>
                <a:cxn ang="0">
                  <a:pos x="10" y="124"/>
                </a:cxn>
                <a:cxn ang="0">
                  <a:pos x="0" y="136"/>
                </a:cxn>
                <a:cxn ang="0">
                  <a:pos x="58" y="200"/>
                </a:cxn>
                <a:cxn ang="0">
                  <a:pos x="58" y="200"/>
                </a:cxn>
                <a:cxn ang="0">
                  <a:pos x="76" y="180"/>
                </a:cxn>
                <a:cxn ang="0">
                  <a:pos x="92" y="158"/>
                </a:cxn>
                <a:cxn ang="0">
                  <a:pos x="104" y="134"/>
                </a:cxn>
                <a:cxn ang="0">
                  <a:pos x="114" y="108"/>
                </a:cxn>
                <a:cxn ang="0">
                  <a:pos x="114" y="108"/>
                </a:cxn>
                <a:cxn ang="0">
                  <a:pos x="122" y="80"/>
                </a:cxn>
                <a:cxn ang="0">
                  <a:pos x="126" y="54"/>
                </a:cxn>
                <a:cxn ang="0">
                  <a:pos x="126" y="26"/>
                </a:cxn>
                <a:cxn ang="0">
                  <a:pos x="122" y="0"/>
                </a:cxn>
                <a:cxn ang="0">
                  <a:pos x="38" y="18"/>
                </a:cxn>
                <a:cxn ang="0">
                  <a:pos x="38" y="18"/>
                </a:cxn>
                <a:cxn ang="0">
                  <a:pos x="40" y="34"/>
                </a:cxn>
                <a:cxn ang="0">
                  <a:pos x="40" y="50"/>
                </a:cxn>
                <a:cxn ang="0">
                  <a:pos x="38" y="66"/>
                </a:cxn>
                <a:cxn ang="0">
                  <a:pos x="32" y="82"/>
                </a:cxn>
                <a:cxn ang="0">
                  <a:pos x="32" y="82"/>
                </a:cxn>
              </a:cxnLst>
              <a:rect l="0" t="0" r="r" b="b"/>
              <a:pathLst>
                <a:path w="126" h="200">
                  <a:moveTo>
                    <a:pt x="32" y="82"/>
                  </a:moveTo>
                  <a:lnTo>
                    <a:pt x="32" y="82"/>
                  </a:lnTo>
                  <a:lnTo>
                    <a:pt x="26" y="96"/>
                  </a:lnTo>
                  <a:lnTo>
                    <a:pt x="20" y="110"/>
                  </a:lnTo>
                  <a:lnTo>
                    <a:pt x="10" y="124"/>
                  </a:lnTo>
                  <a:lnTo>
                    <a:pt x="0" y="136"/>
                  </a:lnTo>
                  <a:lnTo>
                    <a:pt x="58" y="200"/>
                  </a:lnTo>
                  <a:lnTo>
                    <a:pt x="58" y="200"/>
                  </a:lnTo>
                  <a:lnTo>
                    <a:pt x="76" y="180"/>
                  </a:lnTo>
                  <a:lnTo>
                    <a:pt x="92" y="158"/>
                  </a:lnTo>
                  <a:lnTo>
                    <a:pt x="104" y="134"/>
                  </a:lnTo>
                  <a:lnTo>
                    <a:pt x="114" y="108"/>
                  </a:lnTo>
                  <a:lnTo>
                    <a:pt x="114" y="108"/>
                  </a:lnTo>
                  <a:lnTo>
                    <a:pt x="122" y="80"/>
                  </a:lnTo>
                  <a:lnTo>
                    <a:pt x="126" y="54"/>
                  </a:lnTo>
                  <a:lnTo>
                    <a:pt x="126" y="26"/>
                  </a:lnTo>
                  <a:lnTo>
                    <a:pt x="122" y="0"/>
                  </a:lnTo>
                  <a:lnTo>
                    <a:pt x="38" y="18"/>
                  </a:lnTo>
                  <a:lnTo>
                    <a:pt x="38" y="18"/>
                  </a:lnTo>
                  <a:lnTo>
                    <a:pt x="40" y="34"/>
                  </a:lnTo>
                  <a:lnTo>
                    <a:pt x="40" y="50"/>
                  </a:lnTo>
                  <a:lnTo>
                    <a:pt x="38" y="66"/>
                  </a:lnTo>
                  <a:lnTo>
                    <a:pt x="32" y="82"/>
                  </a:lnTo>
                  <a:lnTo>
                    <a:pt x="32" y="8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34" name="Freeform 38"/>
            <p:cNvSpPr>
              <a:spLocks/>
            </p:cNvSpPr>
            <p:nvPr/>
          </p:nvSpPr>
          <p:spPr bwMode="auto">
            <a:xfrm>
              <a:off x="5129" y="3987"/>
              <a:ext cx="96" cy="152"/>
            </a:xfrm>
            <a:custGeom>
              <a:avLst/>
              <a:gdLst/>
              <a:ahLst/>
              <a:cxnLst>
                <a:cxn ang="0">
                  <a:pos x="92" y="118"/>
                </a:cxn>
                <a:cxn ang="0">
                  <a:pos x="92" y="118"/>
                </a:cxn>
                <a:cxn ang="0">
                  <a:pos x="98" y="104"/>
                </a:cxn>
                <a:cxn ang="0">
                  <a:pos x="106" y="88"/>
                </a:cxn>
                <a:cxn ang="0">
                  <a:pos x="116" y="76"/>
                </a:cxn>
                <a:cxn ang="0">
                  <a:pos x="126" y="64"/>
                </a:cxn>
                <a:cxn ang="0">
                  <a:pos x="68" y="0"/>
                </a:cxn>
                <a:cxn ang="0">
                  <a:pos x="68" y="0"/>
                </a:cxn>
                <a:cxn ang="0">
                  <a:pos x="50" y="20"/>
                </a:cxn>
                <a:cxn ang="0">
                  <a:pos x="34" y="42"/>
                </a:cxn>
                <a:cxn ang="0">
                  <a:pos x="22" y="66"/>
                </a:cxn>
                <a:cxn ang="0">
                  <a:pos x="12" y="92"/>
                </a:cxn>
                <a:cxn ang="0">
                  <a:pos x="12" y="92"/>
                </a:cxn>
                <a:cxn ang="0">
                  <a:pos x="4" y="118"/>
                </a:cxn>
                <a:cxn ang="0">
                  <a:pos x="0" y="146"/>
                </a:cxn>
                <a:cxn ang="0">
                  <a:pos x="0" y="174"/>
                </a:cxn>
                <a:cxn ang="0">
                  <a:pos x="4" y="200"/>
                </a:cxn>
                <a:cxn ang="0">
                  <a:pos x="88" y="182"/>
                </a:cxn>
                <a:cxn ang="0">
                  <a:pos x="88" y="182"/>
                </a:cxn>
                <a:cxn ang="0">
                  <a:pos x="86" y="166"/>
                </a:cxn>
                <a:cxn ang="0">
                  <a:pos x="86" y="150"/>
                </a:cxn>
                <a:cxn ang="0">
                  <a:pos x="88" y="134"/>
                </a:cxn>
                <a:cxn ang="0">
                  <a:pos x="92" y="118"/>
                </a:cxn>
                <a:cxn ang="0">
                  <a:pos x="92" y="118"/>
                </a:cxn>
              </a:cxnLst>
              <a:rect l="0" t="0" r="r" b="b"/>
              <a:pathLst>
                <a:path w="126" h="200">
                  <a:moveTo>
                    <a:pt x="92" y="118"/>
                  </a:moveTo>
                  <a:lnTo>
                    <a:pt x="92" y="118"/>
                  </a:lnTo>
                  <a:lnTo>
                    <a:pt x="98" y="104"/>
                  </a:lnTo>
                  <a:lnTo>
                    <a:pt x="106" y="88"/>
                  </a:lnTo>
                  <a:lnTo>
                    <a:pt x="116" y="76"/>
                  </a:lnTo>
                  <a:lnTo>
                    <a:pt x="126" y="64"/>
                  </a:lnTo>
                  <a:lnTo>
                    <a:pt x="68" y="0"/>
                  </a:lnTo>
                  <a:lnTo>
                    <a:pt x="68" y="0"/>
                  </a:lnTo>
                  <a:lnTo>
                    <a:pt x="50" y="20"/>
                  </a:lnTo>
                  <a:lnTo>
                    <a:pt x="34" y="42"/>
                  </a:lnTo>
                  <a:lnTo>
                    <a:pt x="22" y="66"/>
                  </a:lnTo>
                  <a:lnTo>
                    <a:pt x="12" y="92"/>
                  </a:lnTo>
                  <a:lnTo>
                    <a:pt x="12" y="92"/>
                  </a:lnTo>
                  <a:lnTo>
                    <a:pt x="4" y="118"/>
                  </a:lnTo>
                  <a:lnTo>
                    <a:pt x="0" y="146"/>
                  </a:lnTo>
                  <a:lnTo>
                    <a:pt x="0" y="174"/>
                  </a:lnTo>
                  <a:lnTo>
                    <a:pt x="4" y="200"/>
                  </a:lnTo>
                  <a:lnTo>
                    <a:pt x="88" y="182"/>
                  </a:lnTo>
                  <a:lnTo>
                    <a:pt x="88" y="182"/>
                  </a:lnTo>
                  <a:lnTo>
                    <a:pt x="86" y="166"/>
                  </a:lnTo>
                  <a:lnTo>
                    <a:pt x="86" y="150"/>
                  </a:lnTo>
                  <a:lnTo>
                    <a:pt x="88" y="134"/>
                  </a:lnTo>
                  <a:lnTo>
                    <a:pt x="92" y="118"/>
                  </a:lnTo>
                  <a:lnTo>
                    <a:pt x="92" y="118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35" name="Freeform 39"/>
            <p:cNvSpPr>
              <a:spLocks/>
            </p:cNvSpPr>
            <p:nvPr/>
          </p:nvSpPr>
          <p:spPr bwMode="auto">
            <a:xfrm>
              <a:off x="5135" y="4142"/>
              <a:ext cx="126" cy="132"/>
            </a:xfrm>
            <a:custGeom>
              <a:avLst/>
              <a:gdLst/>
              <a:ahLst/>
              <a:cxnLst>
                <a:cxn ang="0">
                  <a:pos x="84" y="0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8" y="44"/>
                </a:cxn>
                <a:cxn ang="0">
                  <a:pos x="20" y="68"/>
                </a:cxn>
                <a:cxn ang="0">
                  <a:pos x="34" y="90"/>
                </a:cxn>
                <a:cxn ang="0">
                  <a:pos x="50" y="112"/>
                </a:cxn>
                <a:cxn ang="0">
                  <a:pos x="70" y="130"/>
                </a:cxn>
                <a:cxn ang="0">
                  <a:pos x="90" y="148"/>
                </a:cxn>
                <a:cxn ang="0">
                  <a:pos x="114" y="162"/>
                </a:cxn>
                <a:cxn ang="0">
                  <a:pos x="140" y="174"/>
                </a:cxn>
                <a:cxn ang="0">
                  <a:pos x="166" y="92"/>
                </a:cxn>
                <a:cxn ang="0">
                  <a:pos x="166" y="92"/>
                </a:cxn>
                <a:cxn ang="0">
                  <a:pos x="152" y="84"/>
                </a:cxn>
                <a:cxn ang="0">
                  <a:pos x="138" y="76"/>
                </a:cxn>
                <a:cxn ang="0">
                  <a:pos x="126" y="66"/>
                </a:cxn>
                <a:cxn ang="0">
                  <a:pos x="114" y="54"/>
                </a:cxn>
                <a:cxn ang="0">
                  <a:pos x="104" y="42"/>
                </a:cxn>
                <a:cxn ang="0">
                  <a:pos x="96" y="28"/>
                </a:cxn>
                <a:cxn ang="0">
                  <a:pos x="90" y="14"/>
                </a:cxn>
                <a:cxn ang="0">
                  <a:pos x="84" y="0"/>
                </a:cxn>
                <a:cxn ang="0">
                  <a:pos x="84" y="0"/>
                </a:cxn>
              </a:cxnLst>
              <a:rect l="0" t="0" r="r" b="b"/>
              <a:pathLst>
                <a:path w="166" h="174">
                  <a:moveTo>
                    <a:pt x="84" y="0"/>
                  </a:moveTo>
                  <a:lnTo>
                    <a:pt x="0" y="18"/>
                  </a:lnTo>
                  <a:lnTo>
                    <a:pt x="0" y="18"/>
                  </a:lnTo>
                  <a:lnTo>
                    <a:pt x="8" y="44"/>
                  </a:lnTo>
                  <a:lnTo>
                    <a:pt x="20" y="68"/>
                  </a:lnTo>
                  <a:lnTo>
                    <a:pt x="34" y="90"/>
                  </a:lnTo>
                  <a:lnTo>
                    <a:pt x="50" y="112"/>
                  </a:lnTo>
                  <a:lnTo>
                    <a:pt x="70" y="130"/>
                  </a:lnTo>
                  <a:lnTo>
                    <a:pt x="90" y="148"/>
                  </a:lnTo>
                  <a:lnTo>
                    <a:pt x="114" y="162"/>
                  </a:lnTo>
                  <a:lnTo>
                    <a:pt x="140" y="174"/>
                  </a:lnTo>
                  <a:lnTo>
                    <a:pt x="166" y="92"/>
                  </a:lnTo>
                  <a:lnTo>
                    <a:pt x="166" y="92"/>
                  </a:lnTo>
                  <a:lnTo>
                    <a:pt x="152" y="84"/>
                  </a:lnTo>
                  <a:lnTo>
                    <a:pt x="138" y="76"/>
                  </a:lnTo>
                  <a:lnTo>
                    <a:pt x="126" y="66"/>
                  </a:lnTo>
                  <a:lnTo>
                    <a:pt x="114" y="54"/>
                  </a:lnTo>
                  <a:lnTo>
                    <a:pt x="104" y="42"/>
                  </a:lnTo>
                  <a:lnTo>
                    <a:pt x="96" y="28"/>
                  </a:lnTo>
                  <a:lnTo>
                    <a:pt x="90" y="14"/>
                  </a:lnTo>
                  <a:lnTo>
                    <a:pt x="84" y="0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36" name="Freeform 40"/>
            <p:cNvSpPr>
              <a:spLocks/>
            </p:cNvSpPr>
            <p:nvPr/>
          </p:nvSpPr>
          <p:spPr bwMode="auto">
            <a:xfrm>
              <a:off x="5345" y="3948"/>
              <a:ext cx="127" cy="132"/>
            </a:xfrm>
            <a:custGeom>
              <a:avLst/>
              <a:gdLst/>
              <a:ahLst/>
              <a:cxnLst>
                <a:cxn ang="0">
                  <a:pos x="84" y="174"/>
                </a:cxn>
                <a:cxn ang="0">
                  <a:pos x="168" y="156"/>
                </a:cxn>
                <a:cxn ang="0">
                  <a:pos x="168" y="156"/>
                </a:cxn>
                <a:cxn ang="0">
                  <a:pos x="160" y="130"/>
                </a:cxn>
                <a:cxn ang="0">
                  <a:pos x="148" y="106"/>
                </a:cxn>
                <a:cxn ang="0">
                  <a:pos x="134" y="84"/>
                </a:cxn>
                <a:cxn ang="0">
                  <a:pos x="118" y="62"/>
                </a:cxn>
                <a:cxn ang="0">
                  <a:pos x="98" y="44"/>
                </a:cxn>
                <a:cxn ang="0">
                  <a:pos x="76" y="26"/>
                </a:cxn>
                <a:cxn ang="0">
                  <a:pos x="54" y="12"/>
                </a:cxn>
                <a:cxn ang="0">
                  <a:pos x="28" y="0"/>
                </a:cxn>
                <a:cxn ang="0">
                  <a:pos x="0" y="82"/>
                </a:cxn>
                <a:cxn ang="0">
                  <a:pos x="0" y="82"/>
                </a:cxn>
                <a:cxn ang="0">
                  <a:pos x="16" y="90"/>
                </a:cxn>
                <a:cxn ang="0">
                  <a:pos x="30" y="98"/>
                </a:cxn>
                <a:cxn ang="0">
                  <a:pos x="42" y="108"/>
                </a:cxn>
                <a:cxn ang="0">
                  <a:pos x="54" y="120"/>
                </a:cxn>
                <a:cxn ang="0">
                  <a:pos x="64" y="132"/>
                </a:cxn>
                <a:cxn ang="0">
                  <a:pos x="72" y="144"/>
                </a:cxn>
                <a:cxn ang="0">
                  <a:pos x="78" y="160"/>
                </a:cxn>
                <a:cxn ang="0">
                  <a:pos x="84" y="174"/>
                </a:cxn>
                <a:cxn ang="0">
                  <a:pos x="84" y="174"/>
                </a:cxn>
              </a:cxnLst>
              <a:rect l="0" t="0" r="r" b="b"/>
              <a:pathLst>
                <a:path w="168" h="174">
                  <a:moveTo>
                    <a:pt x="84" y="174"/>
                  </a:moveTo>
                  <a:lnTo>
                    <a:pt x="168" y="156"/>
                  </a:lnTo>
                  <a:lnTo>
                    <a:pt x="168" y="156"/>
                  </a:lnTo>
                  <a:lnTo>
                    <a:pt x="160" y="130"/>
                  </a:lnTo>
                  <a:lnTo>
                    <a:pt x="148" y="106"/>
                  </a:lnTo>
                  <a:lnTo>
                    <a:pt x="134" y="84"/>
                  </a:lnTo>
                  <a:lnTo>
                    <a:pt x="118" y="62"/>
                  </a:lnTo>
                  <a:lnTo>
                    <a:pt x="98" y="44"/>
                  </a:lnTo>
                  <a:lnTo>
                    <a:pt x="76" y="26"/>
                  </a:lnTo>
                  <a:lnTo>
                    <a:pt x="54" y="12"/>
                  </a:lnTo>
                  <a:lnTo>
                    <a:pt x="28" y="0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16" y="90"/>
                  </a:lnTo>
                  <a:lnTo>
                    <a:pt x="30" y="98"/>
                  </a:lnTo>
                  <a:lnTo>
                    <a:pt x="42" y="108"/>
                  </a:lnTo>
                  <a:lnTo>
                    <a:pt x="54" y="120"/>
                  </a:lnTo>
                  <a:lnTo>
                    <a:pt x="64" y="132"/>
                  </a:lnTo>
                  <a:lnTo>
                    <a:pt x="72" y="144"/>
                  </a:lnTo>
                  <a:lnTo>
                    <a:pt x="78" y="160"/>
                  </a:lnTo>
                  <a:lnTo>
                    <a:pt x="84" y="174"/>
                  </a:lnTo>
                  <a:lnTo>
                    <a:pt x="84" y="174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37" name="Freeform 41"/>
            <p:cNvSpPr>
              <a:spLocks/>
            </p:cNvSpPr>
            <p:nvPr/>
          </p:nvSpPr>
          <p:spPr bwMode="auto">
            <a:xfrm>
              <a:off x="5258" y="4197"/>
              <a:ext cx="156" cy="88"/>
            </a:xfrm>
            <a:custGeom>
              <a:avLst/>
              <a:gdLst/>
              <a:ahLst/>
              <a:cxnLst>
                <a:cxn ang="0">
                  <a:pos x="26" y="26"/>
                </a:cxn>
                <a:cxn ang="0">
                  <a:pos x="0" y="108"/>
                </a:cxn>
                <a:cxn ang="0">
                  <a:pos x="0" y="108"/>
                </a:cxn>
                <a:cxn ang="0">
                  <a:pos x="28" y="114"/>
                </a:cxn>
                <a:cxn ang="0">
                  <a:pos x="56" y="116"/>
                </a:cxn>
                <a:cxn ang="0">
                  <a:pos x="82" y="116"/>
                </a:cxn>
                <a:cxn ang="0">
                  <a:pos x="110" y="112"/>
                </a:cxn>
                <a:cxn ang="0">
                  <a:pos x="136" y="104"/>
                </a:cxn>
                <a:cxn ang="0">
                  <a:pos x="160" y="94"/>
                </a:cxn>
                <a:cxn ang="0">
                  <a:pos x="184" y="80"/>
                </a:cxn>
                <a:cxn ang="0">
                  <a:pos x="206" y="64"/>
                </a:cxn>
                <a:cxn ang="0">
                  <a:pos x="148" y="0"/>
                </a:cxn>
                <a:cxn ang="0">
                  <a:pos x="148" y="0"/>
                </a:cxn>
                <a:cxn ang="0">
                  <a:pos x="134" y="10"/>
                </a:cxn>
                <a:cxn ang="0">
                  <a:pos x="120" y="18"/>
                </a:cxn>
                <a:cxn ang="0">
                  <a:pos x="106" y="24"/>
                </a:cxn>
                <a:cxn ang="0">
                  <a:pos x="90" y="28"/>
                </a:cxn>
                <a:cxn ang="0">
                  <a:pos x="74" y="30"/>
                </a:cxn>
                <a:cxn ang="0">
                  <a:pos x="58" y="30"/>
                </a:cxn>
                <a:cxn ang="0">
                  <a:pos x="42" y="30"/>
                </a:cxn>
                <a:cxn ang="0">
                  <a:pos x="26" y="26"/>
                </a:cxn>
                <a:cxn ang="0">
                  <a:pos x="26" y="26"/>
                </a:cxn>
              </a:cxnLst>
              <a:rect l="0" t="0" r="r" b="b"/>
              <a:pathLst>
                <a:path w="206" h="116">
                  <a:moveTo>
                    <a:pt x="26" y="26"/>
                  </a:moveTo>
                  <a:lnTo>
                    <a:pt x="0" y="108"/>
                  </a:lnTo>
                  <a:lnTo>
                    <a:pt x="0" y="108"/>
                  </a:lnTo>
                  <a:lnTo>
                    <a:pt x="28" y="114"/>
                  </a:lnTo>
                  <a:lnTo>
                    <a:pt x="56" y="116"/>
                  </a:lnTo>
                  <a:lnTo>
                    <a:pt x="82" y="116"/>
                  </a:lnTo>
                  <a:lnTo>
                    <a:pt x="110" y="112"/>
                  </a:lnTo>
                  <a:lnTo>
                    <a:pt x="136" y="104"/>
                  </a:lnTo>
                  <a:lnTo>
                    <a:pt x="160" y="94"/>
                  </a:lnTo>
                  <a:lnTo>
                    <a:pt x="184" y="80"/>
                  </a:lnTo>
                  <a:lnTo>
                    <a:pt x="206" y="64"/>
                  </a:lnTo>
                  <a:lnTo>
                    <a:pt x="148" y="0"/>
                  </a:lnTo>
                  <a:lnTo>
                    <a:pt x="148" y="0"/>
                  </a:lnTo>
                  <a:lnTo>
                    <a:pt x="134" y="10"/>
                  </a:lnTo>
                  <a:lnTo>
                    <a:pt x="120" y="18"/>
                  </a:lnTo>
                  <a:lnTo>
                    <a:pt x="106" y="24"/>
                  </a:lnTo>
                  <a:lnTo>
                    <a:pt x="90" y="28"/>
                  </a:lnTo>
                  <a:lnTo>
                    <a:pt x="74" y="30"/>
                  </a:lnTo>
                  <a:lnTo>
                    <a:pt x="58" y="30"/>
                  </a:lnTo>
                  <a:lnTo>
                    <a:pt x="42" y="30"/>
                  </a:lnTo>
                  <a:lnTo>
                    <a:pt x="26" y="26"/>
                  </a:lnTo>
                  <a:lnTo>
                    <a:pt x="26" y="26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138" name="Group 42"/>
          <p:cNvGrpSpPr>
            <a:grpSpLocks/>
          </p:cNvGrpSpPr>
          <p:nvPr/>
        </p:nvGrpSpPr>
        <p:grpSpPr bwMode="auto">
          <a:xfrm>
            <a:off x="8089900" y="5821363"/>
            <a:ext cx="390525" cy="390525"/>
            <a:chOff x="5114" y="3685"/>
            <a:chExt cx="246" cy="246"/>
          </a:xfrm>
        </p:grpSpPr>
        <p:sp>
          <p:nvSpPr>
            <p:cNvPr id="4139" name="Freeform 43"/>
            <p:cNvSpPr>
              <a:spLocks/>
            </p:cNvSpPr>
            <p:nvPr/>
          </p:nvSpPr>
          <p:spPr bwMode="auto">
            <a:xfrm>
              <a:off x="5135" y="3845"/>
              <a:ext cx="94" cy="86"/>
            </a:xfrm>
            <a:custGeom>
              <a:avLst/>
              <a:gdLst/>
              <a:ahLst/>
              <a:cxnLst>
                <a:cxn ang="0">
                  <a:pos x="70" y="0"/>
                </a:cxn>
                <a:cxn ang="0">
                  <a:pos x="0" y="42"/>
                </a:cxn>
                <a:cxn ang="0">
                  <a:pos x="0" y="42"/>
                </a:cxn>
                <a:cxn ang="0">
                  <a:pos x="10" y="56"/>
                </a:cxn>
                <a:cxn ang="0">
                  <a:pos x="22" y="70"/>
                </a:cxn>
                <a:cxn ang="0">
                  <a:pos x="36" y="82"/>
                </a:cxn>
                <a:cxn ang="0">
                  <a:pos x="52" y="92"/>
                </a:cxn>
                <a:cxn ang="0">
                  <a:pos x="68" y="100"/>
                </a:cxn>
                <a:cxn ang="0">
                  <a:pos x="86" y="108"/>
                </a:cxn>
                <a:cxn ang="0">
                  <a:pos x="104" y="112"/>
                </a:cxn>
                <a:cxn ang="0">
                  <a:pos x="124" y="114"/>
                </a:cxn>
                <a:cxn ang="0">
                  <a:pos x="124" y="32"/>
                </a:cxn>
                <a:cxn ang="0">
                  <a:pos x="124" y="32"/>
                </a:cxn>
                <a:cxn ang="0">
                  <a:pos x="108" y="28"/>
                </a:cxn>
                <a:cxn ang="0">
                  <a:pos x="94" y="22"/>
                </a:cxn>
                <a:cxn ang="0">
                  <a:pos x="82" y="12"/>
                </a:cxn>
                <a:cxn ang="0">
                  <a:pos x="70" y="0"/>
                </a:cxn>
                <a:cxn ang="0">
                  <a:pos x="70" y="0"/>
                </a:cxn>
              </a:cxnLst>
              <a:rect l="0" t="0" r="r" b="b"/>
              <a:pathLst>
                <a:path w="124" h="114">
                  <a:moveTo>
                    <a:pt x="70" y="0"/>
                  </a:moveTo>
                  <a:lnTo>
                    <a:pt x="0" y="42"/>
                  </a:lnTo>
                  <a:lnTo>
                    <a:pt x="0" y="42"/>
                  </a:lnTo>
                  <a:lnTo>
                    <a:pt x="10" y="56"/>
                  </a:lnTo>
                  <a:lnTo>
                    <a:pt x="22" y="70"/>
                  </a:lnTo>
                  <a:lnTo>
                    <a:pt x="36" y="82"/>
                  </a:lnTo>
                  <a:lnTo>
                    <a:pt x="52" y="92"/>
                  </a:lnTo>
                  <a:lnTo>
                    <a:pt x="68" y="100"/>
                  </a:lnTo>
                  <a:lnTo>
                    <a:pt x="86" y="108"/>
                  </a:lnTo>
                  <a:lnTo>
                    <a:pt x="104" y="112"/>
                  </a:lnTo>
                  <a:lnTo>
                    <a:pt x="124" y="114"/>
                  </a:lnTo>
                  <a:lnTo>
                    <a:pt x="124" y="32"/>
                  </a:lnTo>
                  <a:lnTo>
                    <a:pt x="124" y="32"/>
                  </a:lnTo>
                  <a:lnTo>
                    <a:pt x="108" y="28"/>
                  </a:lnTo>
                  <a:lnTo>
                    <a:pt x="94" y="22"/>
                  </a:lnTo>
                  <a:lnTo>
                    <a:pt x="82" y="12"/>
                  </a:lnTo>
                  <a:lnTo>
                    <a:pt x="70" y="0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40" name="Freeform 44"/>
            <p:cNvSpPr>
              <a:spLocks/>
            </p:cNvSpPr>
            <p:nvPr/>
          </p:nvSpPr>
          <p:spPr bwMode="auto">
            <a:xfrm>
              <a:off x="5135" y="3685"/>
              <a:ext cx="94" cy="87"/>
            </a:xfrm>
            <a:custGeom>
              <a:avLst/>
              <a:gdLst/>
              <a:ahLst/>
              <a:cxnLst>
                <a:cxn ang="0">
                  <a:pos x="124" y="82"/>
                </a:cxn>
                <a:cxn ang="0">
                  <a:pos x="124" y="0"/>
                </a:cxn>
                <a:cxn ang="0">
                  <a:pos x="124" y="0"/>
                </a:cxn>
                <a:cxn ang="0">
                  <a:pos x="104" y="2"/>
                </a:cxn>
                <a:cxn ang="0">
                  <a:pos x="86" y="8"/>
                </a:cxn>
                <a:cxn ang="0">
                  <a:pos x="68" y="14"/>
                </a:cxn>
                <a:cxn ang="0">
                  <a:pos x="52" y="22"/>
                </a:cxn>
                <a:cxn ang="0">
                  <a:pos x="36" y="32"/>
                </a:cxn>
                <a:cxn ang="0">
                  <a:pos x="22" y="44"/>
                </a:cxn>
                <a:cxn ang="0">
                  <a:pos x="10" y="58"/>
                </a:cxn>
                <a:cxn ang="0">
                  <a:pos x="0" y="72"/>
                </a:cxn>
                <a:cxn ang="0">
                  <a:pos x="70" y="114"/>
                </a:cxn>
                <a:cxn ang="0">
                  <a:pos x="70" y="114"/>
                </a:cxn>
                <a:cxn ang="0">
                  <a:pos x="82" y="102"/>
                </a:cxn>
                <a:cxn ang="0">
                  <a:pos x="94" y="92"/>
                </a:cxn>
                <a:cxn ang="0">
                  <a:pos x="108" y="86"/>
                </a:cxn>
                <a:cxn ang="0">
                  <a:pos x="124" y="82"/>
                </a:cxn>
                <a:cxn ang="0">
                  <a:pos x="124" y="82"/>
                </a:cxn>
              </a:cxnLst>
              <a:rect l="0" t="0" r="r" b="b"/>
              <a:pathLst>
                <a:path w="124" h="114">
                  <a:moveTo>
                    <a:pt x="124" y="82"/>
                  </a:moveTo>
                  <a:lnTo>
                    <a:pt x="124" y="0"/>
                  </a:lnTo>
                  <a:lnTo>
                    <a:pt x="124" y="0"/>
                  </a:lnTo>
                  <a:lnTo>
                    <a:pt x="104" y="2"/>
                  </a:lnTo>
                  <a:lnTo>
                    <a:pt x="86" y="8"/>
                  </a:lnTo>
                  <a:lnTo>
                    <a:pt x="68" y="14"/>
                  </a:lnTo>
                  <a:lnTo>
                    <a:pt x="52" y="22"/>
                  </a:lnTo>
                  <a:lnTo>
                    <a:pt x="36" y="32"/>
                  </a:lnTo>
                  <a:lnTo>
                    <a:pt x="22" y="44"/>
                  </a:lnTo>
                  <a:lnTo>
                    <a:pt x="10" y="58"/>
                  </a:lnTo>
                  <a:lnTo>
                    <a:pt x="0" y="72"/>
                  </a:lnTo>
                  <a:lnTo>
                    <a:pt x="70" y="114"/>
                  </a:lnTo>
                  <a:lnTo>
                    <a:pt x="70" y="114"/>
                  </a:lnTo>
                  <a:lnTo>
                    <a:pt x="82" y="102"/>
                  </a:lnTo>
                  <a:lnTo>
                    <a:pt x="94" y="92"/>
                  </a:lnTo>
                  <a:lnTo>
                    <a:pt x="108" y="86"/>
                  </a:lnTo>
                  <a:lnTo>
                    <a:pt x="124" y="82"/>
                  </a:lnTo>
                  <a:lnTo>
                    <a:pt x="124" y="8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41" name="Freeform 45"/>
            <p:cNvSpPr>
              <a:spLocks/>
            </p:cNvSpPr>
            <p:nvPr/>
          </p:nvSpPr>
          <p:spPr bwMode="auto">
            <a:xfrm>
              <a:off x="5114" y="3754"/>
              <a:ext cx="67" cy="109"/>
            </a:xfrm>
            <a:custGeom>
              <a:avLst/>
              <a:gdLst/>
              <a:ahLst/>
              <a:cxnLst>
                <a:cxn ang="0">
                  <a:pos x="82" y="72"/>
                </a:cxn>
                <a:cxn ang="0">
                  <a:pos x="82" y="72"/>
                </a:cxn>
                <a:cxn ang="0">
                  <a:pos x="84" y="56"/>
                </a:cxn>
                <a:cxn ang="0">
                  <a:pos x="88" y="42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0" y="16"/>
                </a:cxn>
                <a:cxn ang="0">
                  <a:pos x="4" y="34"/>
                </a:cxn>
                <a:cxn ang="0">
                  <a:pos x="2" y="54"/>
                </a:cxn>
                <a:cxn ang="0">
                  <a:pos x="0" y="72"/>
                </a:cxn>
                <a:cxn ang="0">
                  <a:pos x="0" y="72"/>
                </a:cxn>
                <a:cxn ang="0">
                  <a:pos x="2" y="92"/>
                </a:cxn>
                <a:cxn ang="0">
                  <a:pos x="4" y="110"/>
                </a:cxn>
                <a:cxn ang="0">
                  <a:pos x="10" y="128"/>
                </a:cxn>
                <a:cxn ang="0">
                  <a:pos x="18" y="144"/>
                </a:cxn>
                <a:cxn ang="0">
                  <a:pos x="88" y="104"/>
                </a:cxn>
                <a:cxn ang="0">
                  <a:pos x="88" y="104"/>
                </a:cxn>
                <a:cxn ang="0">
                  <a:pos x="84" y="88"/>
                </a:cxn>
                <a:cxn ang="0">
                  <a:pos x="82" y="72"/>
                </a:cxn>
                <a:cxn ang="0">
                  <a:pos x="82" y="72"/>
                </a:cxn>
              </a:cxnLst>
              <a:rect l="0" t="0" r="r" b="b"/>
              <a:pathLst>
                <a:path w="88" h="144">
                  <a:moveTo>
                    <a:pt x="82" y="72"/>
                  </a:moveTo>
                  <a:lnTo>
                    <a:pt x="82" y="72"/>
                  </a:lnTo>
                  <a:lnTo>
                    <a:pt x="84" y="56"/>
                  </a:lnTo>
                  <a:lnTo>
                    <a:pt x="88" y="42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0" y="16"/>
                  </a:lnTo>
                  <a:lnTo>
                    <a:pt x="4" y="34"/>
                  </a:lnTo>
                  <a:lnTo>
                    <a:pt x="2" y="54"/>
                  </a:lnTo>
                  <a:lnTo>
                    <a:pt x="0" y="72"/>
                  </a:lnTo>
                  <a:lnTo>
                    <a:pt x="0" y="72"/>
                  </a:lnTo>
                  <a:lnTo>
                    <a:pt x="2" y="92"/>
                  </a:lnTo>
                  <a:lnTo>
                    <a:pt x="4" y="110"/>
                  </a:lnTo>
                  <a:lnTo>
                    <a:pt x="10" y="128"/>
                  </a:lnTo>
                  <a:lnTo>
                    <a:pt x="18" y="144"/>
                  </a:lnTo>
                  <a:lnTo>
                    <a:pt x="88" y="104"/>
                  </a:lnTo>
                  <a:lnTo>
                    <a:pt x="88" y="104"/>
                  </a:lnTo>
                  <a:lnTo>
                    <a:pt x="84" y="88"/>
                  </a:lnTo>
                  <a:lnTo>
                    <a:pt x="82" y="72"/>
                  </a:lnTo>
                  <a:lnTo>
                    <a:pt x="82" y="7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42" name="Freeform 46"/>
            <p:cNvSpPr>
              <a:spLocks/>
            </p:cNvSpPr>
            <p:nvPr/>
          </p:nvSpPr>
          <p:spPr bwMode="auto">
            <a:xfrm>
              <a:off x="5293" y="3754"/>
              <a:ext cx="67" cy="109"/>
            </a:xfrm>
            <a:custGeom>
              <a:avLst/>
              <a:gdLst/>
              <a:ahLst/>
              <a:cxnLst>
                <a:cxn ang="0">
                  <a:pos x="6" y="72"/>
                </a:cxn>
                <a:cxn ang="0">
                  <a:pos x="6" y="72"/>
                </a:cxn>
                <a:cxn ang="0">
                  <a:pos x="6" y="88"/>
                </a:cxn>
                <a:cxn ang="0">
                  <a:pos x="0" y="104"/>
                </a:cxn>
                <a:cxn ang="0">
                  <a:pos x="72" y="144"/>
                </a:cxn>
                <a:cxn ang="0">
                  <a:pos x="72" y="144"/>
                </a:cxn>
                <a:cxn ang="0">
                  <a:pos x="78" y="128"/>
                </a:cxn>
                <a:cxn ang="0">
                  <a:pos x="84" y="110"/>
                </a:cxn>
                <a:cxn ang="0">
                  <a:pos x="88" y="92"/>
                </a:cxn>
                <a:cxn ang="0">
                  <a:pos x="88" y="72"/>
                </a:cxn>
                <a:cxn ang="0">
                  <a:pos x="88" y="72"/>
                </a:cxn>
                <a:cxn ang="0">
                  <a:pos x="88" y="54"/>
                </a:cxn>
                <a:cxn ang="0">
                  <a:pos x="84" y="34"/>
                </a:cxn>
                <a:cxn ang="0">
                  <a:pos x="78" y="16"/>
                </a:cxn>
                <a:cxn ang="0">
                  <a:pos x="72" y="0"/>
                </a:cxn>
                <a:cxn ang="0">
                  <a:pos x="0" y="42"/>
                </a:cxn>
                <a:cxn ang="0">
                  <a:pos x="0" y="42"/>
                </a:cxn>
                <a:cxn ang="0">
                  <a:pos x="6" y="56"/>
                </a:cxn>
                <a:cxn ang="0">
                  <a:pos x="6" y="72"/>
                </a:cxn>
                <a:cxn ang="0">
                  <a:pos x="6" y="72"/>
                </a:cxn>
              </a:cxnLst>
              <a:rect l="0" t="0" r="r" b="b"/>
              <a:pathLst>
                <a:path w="88" h="144">
                  <a:moveTo>
                    <a:pt x="6" y="72"/>
                  </a:moveTo>
                  <a:lnTo>
                    <a:pt x="6" y="72"/>
                  </a:lnTo>
                  <a:lnTo>
                    <a:pt x="6" y="88"/>
                  </a:lnTo>
                  <a:lnTo>
                    <a:pt x="0" y="104"/>
                  </a:lnTo>
                  <a:lnTo>
                    <a:pt x="72" y="144"/>
                  </a:lnTo>
                  <a:lnTo>
                    <a:pt x="72" y="144"/>
                  </a:lnTo>
                  <a:lnTo>
                    <a:pt x="78" y="128"/>
                  </a:lnTo>
                  <a:lnTo>
                    <a:pt x="84" y="110"/>
                  </a:lnTo>
                  <a:lnTo>
                    <a:pt x="88" y="92"/>
                  </a:lnTo>
                  <a:lnTo>
                    <a:pt x="88" y="72"/>
                  </a:lnTo>
                  <a:lnTo>
                    <a:pt x="88" y="72"/>
                  </a:lnTo>
                  <a:lnTo>
                    <a:pt x="88" y="54"/>
                  </a:lnTo>
                  <a:lnTo>
                    <a:pt x="84" y="34"/>
                  </a:lnTo>
                  <a:lnTo>
                    <a:pt x="78" y="16"/>
                  </a:lnTo>
                  <a:lnTo>
                    <a:pt x="72" y="0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6" y="56"/>
                  </a:lnTo>
                  <a:lnTo>
                    <a:pt x="6" y="72"/>
                  </a:lnTo>
                  <a:lnTo>
                    <a:pt x="6" y="72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43" name="Freeform 47"/>
            <p:cNvSpPr>
              <a:spLocks/>
            </p:cNvSpPr>
            <p:nvPr/>
          </p:nvSpPr>
          <p:spPr bwMode="auto">
            <a:xfrm>
              <a:off x="5245" y="3845"/>
              <a:ext cx="95" cy="86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114"/>
                </a:cxn>
                <a:cxn ang="0">
                  <a:pos x="0" y="114"/>
                </a:cxn>
                <a:cxn ang="0">
                  <a:pos x="20" y="112"/>
                </a:cxn>
                <a:cxn ang="0">
                  <a:pos x="38" y="108"/>
                </a:cxn>
                <a:cxn ang="0">
                  <a:pos x="56" y="100"/>
                </a:cxn>
                <a:cxn ang="0">
                  <a:pos x="72" y="92"/>
                </a:cxn>
                <a:cxn ang="0">
                  <a:pos x="88" y="82"/>
                </a:cxn>
                <a:cxn ang="0">
                  <a:pos x="102" y="70"/>
                </a:cxn>
                <a:cxn ang="0">
                  <a:pos x="114" y="56"/>
                </a:cxn>
                <a:cxn ang="0">
                  <a:pos x="126" y="42"/>
                </a:cxn>
                <a:cxn ang="0">
                  <a:pos x="54" y="0"/>
                </a:cxn>
                <a:cxn ang="0">
                  <a:pos x="54" y="0"/>
                </a:cxn>
                <a:cxn ang="0">
                  <a:pos x="44" y="12"/>
                </a:cxn>
                <a:cxn ang="0">
                  <a:pos x="30" y="22"/>
                </a:cxn>
                <a:cxn ang="0">
                  <a:pos x="16" y="28"/>
                </a:cxn>
                <a:cxn ang="0">
                  <a:pos x="0" y="32"/>
                </a:cxn>
                <a:cxn ang="0">
                  <a:pos x="0" y="32"/>
                </a:cxn>
              </a:cxnLst>
              <a:rect l="0" t="0" r="r" b="b"/>
              <a:pathLst>
                <a:path w="126" h="114">
                  <a:moveTo>
                    <a:pt x="0" y="32"/>
                  </a:moveTo>
                  <a:lnTo>
                    <a:pt x="0" y="114"/>
                  </a:lnTo>
                  <a:lnTo>
                    <a:pt x="0" y="114"/>
                  </a:lnTo>
                  <a:lnTo>
                    <a:pt x="20" y="112"/>
                  </a:lnTo>
                  <a:lnTo>
                    <a:pt x="38" y="108"/>
                  </a:lnTo>
                  <a:lnTo>
                    <a:pt x="56" y="100"/>
                  </a:lnTo>
                  <a:lnTo>
                    <a:pt x="72" y="92"/>
                  </a:lnTo>
                  <a:lnTo>
                    <a:pt x="88" y="82"/>
                  </a:lnTo>
                  <a:lnTo>
                    <a:pt x="102" y="70"/>
                  </a:lnTo>
                  <a:lnTo>
                    <a:pt x="114" y="56"/>
                  </a:lnTo>
                  <a:lnTo>
                    <a:pt x="126" y="42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44" y="12"/>
                  </a:lnTo>
                  <a:lnTo>
                    <a:pt x="30" y="22"/>
                  </a:lnTo>
                  <a:lnTo>
                    <a:pt x="16" y="28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44" name="Freeform 48"/>
            <p:cNvSpPr>
              <a:spLocks/>
            </p:cNvSpPr>
            <p:nvPr/>
          </p:nvSpPr>
          <p:spPr bwMode="auto">
            <a:xfrm>
              <a:off x="5245" y="3685"/>
              <a:ext cx="95" cy="87"/>
            </a:xfrm>
            <a:custGeom>
              <a:avLst/>
              <a:gdLst/>
              <a:ahLst/>
              <a:cxnLst>
                <a:cxn ang="0">
                  <a:pos x="54" y="114"/>
                </a:cxn>
                <a:cxn ang="0">
                  <a:pos x="126" y="72"/>
                </a:cxn>
                <a:cxn ang="0">
                  <a:pos x="126" y="72"/>
                </a:cxn>
                <a:cxn ang="0">
                  <a:pos x="114" y="58"/>
                </a:cxn>
                <a:cxn ang="0">
                  <a:pos x="102" y="44"/>
                </a:cxn>
                <a:cxn ang="0">
                  <a:pos x="88" y="32"/>
                </a:cxn>
                <a:cxn ang="0">
                  <a:pos x="72" y="22"/>
                </a:cxn>
                <a:cxn ang="0">
                  <a:pos x="56" y="14"/>
                </a:cxn>
                <a:cxn ang="0">
                  <a:pos x="38" y="8"/>
                </a:cxn>
                <a:cxn ang="0">
                  <a:pos x="20" y="2"/>
                </a:cxn>
                <a:cxn ang="0">
                  <a:pos x="0" y="0"/>
                </a:cxn>
                <a:cxn ang="0">
                  <a:pos x="0" y="82"/>
                </a:cxn>
                <a:cxn ang="0">
                  <a:pos x="0" y="82"/>
                </a:cxn>
                <a:cxn ang="0">
                  <a:pos x="16" y="86"/>
                </a:cxn>
                <a:cxn ang="0">
                  <a:pos x="30" y="92"/>
                </a:cxn>
                <a:cxn ang="0">
                  <a:pos x="44" y="102"/>
                </a:cxn>
                <a:cxn ang="0">
                  <a:pos x="54" y="114"/>
                </a:cxn>
                <a:cxn ang="0">
                  <a:pos x="54" y="114"/>
                </a:cxn>
              </a:cxnLst>
              <a:rect l="0" t="0" r="r" b="b"/>
              <a:pathLst>
                <a:path w="126" h="114">
                  <a:moveTo>
                    <a:pt x="54" y="114"/>
                  </a:moveTo>
                  <a:lnTo>
                    <a:pt x="126" y="72"/>
                  </a:lnTo>
                  <a:lnTo>
                    <a:pt x="126" y="72"/>
                  </a:lnTo>
                  <a:lnTo>
                    <a:pt x="114" y="58"/>
                  </a:lnTo>
                  <a:lnTo>
                    <a:pt x="102" y="44"/>
                  </a:lnTo>
                  <a:lnTo>
                    <a:pt x="88" y="32"/>
                  </a:lnTo>
                  <a:lnTo>
                    <a:pt x="72" y="22"/>
                  </a:lnTo>
                  <a:lnTo>
                    <a:pt x="56" y="14"/>
                  </a:lnTo>
                  <a:lnTo>
                    <a:pt x="38" y="8"/>
                  </a:lnTo>
                  <a:lnTo>
                    <a:pt x="20" y="2"/>
                  </a:lnTo>
                  <a:lnTo>
                    <a:pt x="0" y="0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16" y="86"/>
                  </a:lnTo>
                  <a:lnTo>
                    <a:pt x="30" y="92"/>
                  </a:lnTo>
                  <a:lnTo>
                    <a:pt x="44" y="102"/>
                  </a:lnTo>
                  <a:lnTo>
                    <a:pt x="54" y="114"/>
                  </a:lnTo>
                  <a:lnTo>
                    <a:pt x="54" y="114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400" b="1" dirty="0" smtClean="0">
                <a:solidFill>
                  <a:srgbClr val="024069"/>
                </a:solidFill>
                <a:cs typeface="Times New Roman" pitchFamily="18" charset="0"/>
              </a:rPr>
              <a:t>Control Statement</a:t>
            </a:r>
            <a:endParaRPr lang="en-US" sz="4400" b="1" dirty="0">
              <a:solidFill>
                <a:srgbClr val="024069"/>
              </a:solidFill>
              <a:cs typeface="Times New Roman" pitchFamily="18" charset="0"/>
            </a:endParaRPr>
          </a:p>
        </p:txBody>
      </p:sp>
      <p:sp>
        <p:nvSpPr>
          <p:cNvPr id="921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81000" y="1066801"/>
            <a:ext cx="8382000" cy="5486400"/>
          </a:xfrm>
        </p:spPr>
        <p:txBody>
          <a:bodyPr/>
          <a:lstStyle/>
          <a:p>
            <a:pPr eaLnBrk="1" hangingPunct="1">
              <a:spcBef>
                <a:spcPct val="75000"/>
              </a:spcBef>
              <a:buFont typeface="Wingdings" pitchFamily="2" charset="2"/>
              <a:buChar char="ü"/>
            </a:pPr>
            <a:r>
              <a:rPr lang="en-US" sz="2400" dirty="0" smtClean="0"/>
              <a:t>Java’s control statements can be put into following categories:</a:t>
            </a:r>
          </a:p>
          <a:p>
            <a:pPr lvl="1" eaLnBrk="1" hangingPunct="1">
              <a:spcBef>
                <a:spcPct val="75000"/>
              </a:spcBef>
              <a:buFont typeface="Wingdings" pitchFamily="2" charset="2"/>
              <a:buChar char="ü"/>
            </a:pPr>
            <a:r>
              <a:rPr lang="en-US" sz="2000" dirty="0" smtClean="0"/>
              <a:t>Sequence</a:t>
            </a:r>
          </a:p>
          <a:p>
            <a:pPr lvl="1" eaLnBrk="1" hangingPunct="1">
              <a:spcBef>
                <a:spcPct val="75000"/>
              </a:spcBef>
              <a:buFont typeface="Wingdings" pitchFamily="2" charset="2"/>
              <a:buChar char="ü"/>
            </a:pPr>
            <a:r>
              <a:rPr lang="en-US" sz="2000" dirty="0" smtClean="0"/>
              <a:t>Selection statement</a:t>
            </a:r>
          </a:p>
          <a:p>
            <a:pPr lvl="1" eaLnBrk="1" hangingPunct="1">
              <a:spcBef>
                <a:spcPct val="75000"/>
              </a:spcBef>
              <a:buFont typeface="Wingdings" pitchFamily="2" charset="2"/>
              <a:buChar char="ü"/>
            </a:pPr>
            <a:r>
              <a:rPr lang="en-US" sz="2000" dirty="0" smtClean="0"/>
              <a:t>Iteration statement</a:t>
            </a:r>
          </a:p>
          <a:p>
            <a:pPr lvl="1" eaLnBrk="1" hangingPunct="1">
              <a:spcBef>
                <a:spcPct val="75000"/>
              </a:spcBef>
              <a:buFont typeface="Wingdings" pitchFamily="2" charset="2"/>
              <a:buChar char="ü"/>
            </a:pPr>
            <a:r>
              <a:rPr lang="en-US" sz="2000" dirty="0" smtClean="0"/>
              <a:t>Jump statement</a:t>
            </a:r>
          </a:p>
          <a:p>
            <a:pPr eaLnBrk="1" hangingPunct="1">
              <a:spcBef>
                <a:spcPct val="75000"/>
              </a:spcBef>
              <a:buFont typeface="Wingdings" pitchFamily="2" charset="2"/>
              <a:buChar char="ü"/>
            </a:pPr>
            <a:r>
              <a:rPr lang="en-US" sz="2400" dirty="0" smtClean="0"/>
              <a:t>Three selection statements:</a:t>
            </a:r>
          </a:p>
          <a:p>
            <a:pPr eaLnBrk="1" hangingPunct="1">
              <a:spcBef>
                <a:spcPct val="75000"/>
              </a:spcBef>
              <a:buFont typeface="Wingdings" pitchFamily="2" charset="2"/>
              <a:buNone/>
            </a:pPr>
            <a:r>
              <a:rPr lang="en-US" sz="2400" dirty="0" smtClean="0"/>
              <a:t>	1. if statement</a:t>
            </a:r>
          </a:p>
          <a:p>
            <a:pPr eaLnBrk="1" hangingPunct="1">
              <a:spcBef>
                <a:spcPct val="75000"/>
              </a:spcBef>
              <a:buFont typeface="Wingdings" pitchFamily="2" charset="2"/>
              <a:buNone/>
            </a:pPr>
            <a:r>
              <a:rPr lang="en-US" sz="2400" dirty="0" smtClean="0"/>
              <a:t>	2. switch statement</a:t>
            </a:r>
          </a:p>
          <a:p>
            <a:pPr eaLnBrk="1" hangingPunct="1">
              <a:spcBef>
                <a:spcPct val="75000"/>
              </a:spcBef>
              <a:buFont typeface="Wingdings" pitchFamily="2" charset="2"/>
              <a:buNone/>
            </a:pPr>
            <a:r>
              <a:rPr lang="en-US" sz="2400" dirty="0" smtClean="0"/>
              <a:t>	3. conditional operator statement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400" b="1" dirty="0">
                <a:latin typeface="+mn-lt"/>
                <a:cs typeface="Times New Roman" pitchFamily="18" charset="0"/>
              </a:rPr>
              <a:t>The if Statement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811338"/>
            <a:ext cx="8229600" cy="627062"/>
          </a:xfrm>
        </p:spPr>
        <p:txBody>
          <a:bodyPr lIns="92075" tIns="46038" rIns="92075" bIns="46038"/>
          <a:lstStyle/>
          <a:p>
            <a:pPr eaLnBrk="1" hangingPunct="1">
              <a:buFont typeface="Wingdings" pitchFamily="2" charset="2"/>
              <a:buChar char="ü"/>
            </a:pPr>
            <a:r>
              <a:rPr lang="en-US" dirty="0" smtClean="0">
                <a:latin typeface="Times New Roman" pitchFamily="18" charset="0"/>
              </a:rPr>
              <a:t>The </a:t>
            </a:r>
            <a:r>
              <a:rPr lang="en-US" i="1" dirty="0" smtClean="0">
                <a:latin typeface="Times New Roman" pitchFamily="18" charset="0"/>
              </a:rPr>
              <a:t>if statement</a:t>
            </a:r>
            <a:r>
              <a:rPr lang="en-US" dirty="0" smtClean="0">
                <a:latin typeface="Times New Roman" pitchFamily="18" charset="0"/>
              </a:rPr>
              <a:t> has the following syntax:</a:t>
            </a:r>
          </a:p>
          <a:p>
            <a:pPr eaLnBrk="1" hangingPunct="1"/>
            <a:endParaRPr lang="en-US" dirty="0" smtClean="0">
              <a:latin typeface="Times New Roman" pitchFamily="18" charset="0"/>
            </a:endParaRPr>
          </a:p>
        </p:txBody>
      </p:sp>
      <p:sp>
        <p:nvSpPr>
          <p:cNvPr id="10244" name="Slide Number Placeholder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fld id="{DC23B774-DA72-4B51-A902-80397660C69E}" type="slidenum">
              <a:rPr lang="en-US" smtClean="0">
                <a:latin typeface="Arial" pitchFamily="34" charset="0"/>
              </a:rPr>
              <a:pPr/>
              <a:t>4</a:t>
            </a:fld>
            <a:endParaRPr lang="en-US" smtClean="0">
              <a:latin typeface="Arial" pitchFamily="34" charset="0"/>
            </a:endParaRPr>
          </a:p>
        </p:txBody>
      </p:sp>
      <p:sp>
        <p:nvSpPr>
          <p:cNvPr id="10245" name="Text Box 4"/>
          <p:cNvSpPr txBox="1">
            <a:spLocks noChangeArrowheads="1"/>
          </p:cNvSpPr>
          <p:nvPr/>
        </p:nvSpPr>
        <p:spPr bwMode="auto">
          <a:xfrm>
            <a:off x="3048000" y="4175125"/>
            <a:ext cx="3200400" cy="10064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anchor="ctr">
            <a:spAutoFit/>
          </a:bodyPr>
          <a:lstStyle/>
          <a:p>
            <a:pPr eaLnBrk="0" hangingPunct="0"/>
            <a:r>
              <a:rPr lang="en-US" sz="2000" b="1">
                <a:latin typeface="Times New Roman" pitchFamily="18" charset="0"/>
              </a:rPr>
              <a:t>if (</a:t>
            </a:r>
            <a:r>
              <a:rPr lang="en-US" sz="2000" b="1" i="1">
                <a:solidFill>
                  <a:schemeClr val="accent2"/>
                </a:solidFill>
                <a:latin typeface="Times New Roman" pitchFamily="18" charset="0"/>
              </a:rPr>
              <a:t>condition</a:t>
            </a:r>
            <a:r>
              <a:rPr lang="en-US" sz="2000" b="1">
                <a:latin typeface="Times New Roman" pitchFamily="18" charset="0"/>
              </a:rPr>
              <a:t>)</a:t>
            </a:r>
          </a:p>
          <a:p>
            <a:pPr eaLnBrk="0" hangingPunct="0"/>
            <a:r>
              <a:rPr lang="en-US" sz="2000" b="1">
                <a:latin typeface="Times New Roman" pitchFamily="18" charset="0"/>
              </a:rPr>
              <a:t>    </a:t>
            </a:r>
            <a:r>
              <a:rPr lang="en-US" sz="2000" b="1" i="1">
                <a:solidFill>
                  <a:schemeClr val="accent2"/>
                </a:solidFill>
                <a:latin typeface="Times New Roman" pitchFamily="18" charset="0"/>
              </a:rPr>
              <a:t>statement</a:t>
            </a:r>
            <a:r>
              <a:rPr lang="en-US" sz="2000" b="1">
                <a:latin typeface="Times New Roman" pitchFamily="18" charset="0"/>
              </a:rPr>
              <a:t>;</a:t>
            </a:r>
          </a:p>
          <a:p>
            <a:pPr eaLnBrk="0" hangingPunct="0"/>
            <a:r>
              <a:rPr lang="en-US" sz="2000" b="1">
                <a:solidFill>
                  <a:schemeClr val="accent2"/>
                </a:solidFill>
                <a:latin typeface="Times New Roman" pitchFamily="18" charset="0"/>
              </a:rPr>
              <a:t>Statement x;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914400" y="3108325"/>
            <a:ext cx="2057400" cy="990600"/>
            <a:chOff x="576" y="1488"/>
            <a:chExt cx="1296" cy="624"/>
          </a:xfrm>
        </p:grpSpPr>
        <p:sp>
          <p:nvSpPr>
            <p:cNvPr id="10253" name="Text Box 6"/>
            <p:cNvSpPr txBox="1">
              <a:spLocks noChangeArrowheads="1"/>
            </p:cNvSpPr>
            <p:nvPr/>
          </p:nvSpPr>
          <p:spPr bwMode="auto">
            <a:xfrm>
              <a:off x="576" y="1488"/>
              <a:ext cx="1098" cy="44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sz="2000" b="1" dirty="0">
                  <a:latin typeface="Times New Roman" pitchFamily="18" charset="0"/>
                </a:rPr>
                <a:t>if</a:t>
              </a:r>
              <a:r>
                <a:rPr lang="en-US" sz="2000" b="1" dirty="0">
                  <a:solidFill>
                    <a:schemeClr val="hlink"/>
                  </a:solidFill>
                  <a:latin typeface="Times New Roman" pitchFamily="18" charset="0"/>
                </a:rPr>
                <a:t> is a Java</a:t>
              </a:r>
            </a:p>
            <a:p>
              <a:pPr algn="ctr" eaLnBrk="0" hangingPunct="0"/>
              <a:r>
                <a:rPr lang="en-US" sz="2000" b="1" dirty="0">
                  <a:solidFill>
                    <a:schemeClr val="hlink"/>
                  </a:solidFill>
                  <a:latin typeface="Times New Roman" pitchFamily="18" charset="0"/>
                </a:rPr>
                <a:t>reserved word</a:t>
              </a:r>
            </a:p>
          </p:txBody>
        </p:sp>
        <p:sp>
          <p:nvSpPr>
            <p:cNvPr id="10254" name="Line 7"/>
            <p:cNvSpPr>
              <a:spLocks noChangeShapeType="1"/>
            </p:cNvSpPr>
            <p:nvPr/>
          </p:nvSpPr>
          <p:spPr bwMode="auto">
            <a:xfrm>
              <a:off x="1536" y="1968"/>
              <a:ext cx="336" cy="144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 type="none" w="sm" len="sm"/>
              <a:tailEnd type="triangle" w="lg" len="med"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3643313" y="2803525"/>
            <a:ext cx="4941887" cy="1219200"/>
            <a:chOff x="2409" y="1296"/>
            <a:chExt cx="3113" cy="768"/>
          </a:xfrm>
        </p:grpSpPr>
        <p:sp>
          <p:nvSpPr>
            <p:cNvPr id="10251" name="Text Box 9"/>
            <p:cNvSpPr txBox="1">
              <a:spLocks noChangeArrowheads="1"/>
            </p:cNvSpPr>
            <p:nvPr/>
          </p:nvSpPr>
          <p:spPr bwMode="auto">
            <a:xfrm>
              <a:off x="2409" y="1296"/>
              <a:ext cx="3113" cy="44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sz="2000" b="1">
                  <a:solidFill>
                    <a:schemeClr val="hlink"/>
                  </a:solidFill>
                  <a:latin typeface="Times New Roman" pitchFamily="18" charset="0"/>
                </a:rPr>
                <a:t>The </a:t>
              </a:r>
              <a:r>
                <a:rPr lang="en-US" sz="2000" b="1" i="1">
                  <a:solidFill>
                    <a:schemeClr val="accent2"/>
                  </a:solidFill>
                  <a:latin typeface="Times New Roman" pitchFamily="18" charset="0"/>
                </a:rPr>
                <a:t>condition</a:t>
              </a:r>
              <a:r>
                <a:rPr lang="en-US" sz="2000" b="1">
                  <a:solidFill>
                    <a:schemeClr val="hlink"/>
                  </a:solidFill>
                  <a:latin typeface="Times New Roman" pitchFamily="18" charset="0"/>
                </a:rPr>
                <a:t> must be a boolean expression.</a:t>
              </a:r>
            </a:p>
            <a:p>
              <a:pPr algn="ctr" eaLnBrk="0" hangingPunct="0"/>
              <a:r>
                <a:rPr lang="en-US" sz="2000" b="1">
                  <a:solidFill>
                    <a:schemeClr val="hlink"/>
                  </a:solidFill>
                  <a:latin typeface="Times New Roman" pitchFamily="18" charset="0"/>
                </a:rPr>
                <a:t>It must evaluate to either true or false.</a:t>
              </a:r>
            </a:p>
          </p:txBody>
        </p:sp>
        <p:sp>
          <p:nvSpPr>
            <p:cNvPr id="10252" name="Line 10"/>
            <p:cNvSpPr>
              <a:spLocks noChangeShapeType="1"/>
            </p:cNvSpPr>
            <p:nvPr/>
          </p:nvSpPr>
          <p:spPr bwMode="auto">
            <a:xfrm flipH="1">
              <a:off x="2880" y="1776"/>
              <a:ext cx="96" cy="288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 type="none" w="sm" len="sm"/>
              <a:tailEnd type="triangle" w="lg" len="med"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" name="Group 11"/>
          <p:cNvGrpSpPr>
            <a:grpSpLocks/>
          </p:cNvGrpSpPr>
          <p:nvPr/>
        </p:nvGrpSpPr>
        <p:grpSpPr bwMode="auto">
          <a:xfrm>
            <a:off x="1795463" y="5165725"/>
            <a:ext cx="5394325" cy="1235075"/>
            <a:chOff x="1131" y="2640"/>
            <a:chExt cx="3398" cy="778"/>
          </a:xfrm>
        </p:grpSpPr>
        <p:sp>
          <p:nvSpPr>
            <p:cNvPr id="10249" name="Text Box 12"/>
            <p:cNvSpPr txBox="1">
              <a:spLocks noChangeArrowheads="1"/>
            </p:cNvSpPr>
            <p:nvPr/>
          </p:nvSpPr>
          <p:spPr bwMode="auto">
            <a:xfrm>
              <a:off x="1131" y="2976"/>
              <a:ext cx="3398" cy="44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sz="2000" b="1">
                  <a:solidFill>
                    <a:schemeClr val="hlink"/>
                  </a:solidFill>
                  <a:latin typeface="Times New Roman" pitchFamily="18" charset="0"/>
                </a:rPr>
                <a:t>If the </a:t>
              </a:r>
              <a:r>
                <a:rPr lang="en-US" sz="2000" b="1" i="1">
                  <a:solidFill>
                    <a:schemeClr val="accent2"/>
                  </a:solidFill>
                  <a:latin typeface="Times New Roman" pitchFamily="18" charset="0"/>
                </a:rPr>
                <a:t>condition</a:t>
              </a:r>
              <a:r>
                <a:rPr lang="en-US" sz="2000" b="1">
                  <a:solidFill>
                    <a:schemeClr val="hlink"/>
                  </a:solidFill>
                  <a:latin typeface="Times New Roman" pitchFamily="18" charset="0"/>
                </a:rPr>
                <a:t> is true, the </a:t>
              </a:r>
              <a:r>
                <a:rPr lang="en-US" sz="2000" b="1" i="1">
                  <a:solidFill>
                    <a:schemeClr val="accent2"/>
                  </a:solidFill>
                  <a:latin typeface="Times New Roman" pitchFamily="18" charset="0"/>
                </a:rPr>
                <a:t>statement</a:t>
              </a:r>
              <a:r>
                <a:rPr lang="en-US" sz="2000" b="1">
                  <a:solidFill>
                    <a:schemeClr val="hlink"/>
                  </a:solidFill>
                  <a:latin typeface="Times New Roman" pitchFamily="18" charset="0"/>
                </a:rPr>
                <a:t> is executed.</a:t>
              </a:r>
            </a:p>
            <a:p>
              <a:pPr algn="ctr" eaLnBrk="0" hangingPunct="0"/>
              <a:r>
                <a:rPr lang="en-US" sz="2000" b="1">
                  <a:solidFill>
                    <a:schemeClr val="hlink"/>
                  </a:solidFill>
                  <a:latin typeface="Times New Roman" pitchFamily="18" charset="0"/>
                </a:rPr>
                <a:t>If it is false, the </a:t>
              </a:r>
              <a:r>
                <a:rPr lang="en-US" sz="2000" b="1" i="1">
                  <a:solidFill>
                    <a:schemeClr val="accent2"/>
                  </a:solidFill>
                  <a:latin typeface="Times New Roman" pitchFamily="18" charset="0"/>
                </a:rPr>
                <a:t>statement</a:t>
              </a:r>
              <a:r>
                <a:rPr lang="en-US" sz="2000" b="1">
                  <a:solidFill>
                    <a:schemeClr val="accent2"/>
                  </a:solidFill>
                  <a:latin typeface="Times New Roman" pitchFamily="18" charset="0"/>
                </a:rPr>
                <a:t> </a:t>
              </a:r>
              <a:r>
                <a:rPr lang="en-US" sz="2000" b="1">
                  <a:solidFill>
                    <a:schemeClr val="hlink"/>
                  </a:solidFill>
                  <a:latin typeface="Times New Roman" pitchFamily="18" charset="0"/>
                </a:rPr>
                <a:t>is skipped.</a:t>
              </a:r>
            </a:p>
          </p:txBody>
        </p:sp>
        <p:sp>
          <p:nvSpPr>
            <p:cNvPr id="10250" name="Line 13"/>
            <p:cNvSpPr>
              <a:spLocks noChangeShapeType="1"/>
            </p:cNvSpPr>
            <p:nvPr/>
          </p:nvSpPr>
          <p:spPr bwMode="auto">
            <a:xfrm flipV="1">
              <a:off x="2736" y="2640"/>
              <a:ext cx="0" cy="288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 type="none" w="sm" len="sm"/>
              <a:tailEnd type="triangle" w="lg" len="med"/>
            </a:ln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400" b="1" dirty="0">
                <a:cs typeface="Times New Roman" pitchFamily="18" charset="0"/>
              </a:rPr>
              <a:t>The if-else Statement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914400" y="1600200"/>
            <a:ext cx="7772400" cy="941388"/>
          </a:xfrm>
        </p:spPr>
        <p:txBody>
          <a:bodyPr lIns="92075" tIns="46038" rIns="92075" bIns="46038"/>
          <a:lstStyle/>
          <a:p>
            <a:pPr eaLnBrk="1" hangingPunct="1">
              <a:buFont typeface="Wingdings" pitchFamily="2" charset="2"/>
              <a:buChar char="ü"/>
            </a:pPr>
            <a:r>
              <a:rPr lang="en-US" dirty="0" smtClean="0">
                <a:latin typeface="Times New Roman" pitchFamily="18" charset="0"/>
              </a:rPr>
              <a:t>An </a:t>
            </a:r>
            <a:r>
              <a:rPr lang="en-US" i="1" dirty="0" smtClean="0">
                <a:latin typeface="Times New Roman" pitchFamily="18" charset="0"/>
              </a:rPr>
              <a:t>else clause</a:t>
            </a:r>
            <a:r>
              <a:rPr lang="en-US" dirty="0" smtClean="0">
                <a:latin typeface="Times New Roman" pitchFamily="18" charset="0"/>
              </a:rPr>
              <a:t> can be added to an if statement to make an </a:t>
            </a:r>
            <a:r>
              <a:rPr lang="en-US" i="1" dirty="0" smtClean="0">
                <a:latin typeface="Times New Roman" pitchFamily="18" charset="0"/>
              </a:rPr>
              <a:t>if-else statement</a:t>
            </a:r>
            <a:endParaRPr lang="en-US" dirty="0" smtClean="0">
              <a:latin typeface="Times New Roman" pitchFamily="18" charset="0"/>
            </a:endParaRPr>
          </a:p>
        </p:txBody>
      </p:sp>
      <p:sp>
        <p:nvSpPr>
          <p:cNvPr id="11268" name="Slide Number Placeholder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fld id="{75EBD81E-7F6A-4C76-BE01-0C5DDAFD3B0F}" type="slidenum">
              <a:rPr lang="en-US" smtClean="0">
                <a:latin typeface="Arial" pitchFamily="34" charset="0"/>
              </a:rPr>
              <a:pPr/>
              <a:t>5</a:t>
            </a:fld>
            <a:endParaRPr lang="en-US" smtClean="0">
              <a:latin typeface="Arial" pitchFamily="34" charset="0"/>
            </a:endParaRPr>
          </a:p>
        </p:txBody>
      </p:sp>
      <p:sp>
        <p:nvSpPr>
          <p:cNvPr id="11269" name="Text Box 4"/>
          <p:cNvSpPr txBox="1">
            <a:spLocks noChangeArrowheads="1"/>
          </p:cNvSpPr>
          <p:nvPr/>
        </p:nvSpPr>
        <p:spPr bwMode="auto">
          <a:xfrm>
            <a:off x="2895600" y="2430830"/>
            <a:ext cx="2441694" cy="1631216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2000" b="1" dirty="0">
                <a:latin typeface="Consolas" pitchFamily="49" charset="0"/>
              </a:rPr>
              <a:t>if ( </a:t>
            </a:r>
            <a:r>
              <a:rPr lang="en-US" sz="2000" b="1" i="1" dirty="0">
                <a:solidFill>
                  <a:schemeClr val="accent2"/>
                </a:solidFill>
                <a:latin typeface="Consolas" pitchFamily="49" charset="0"/>
              </a:rPr>
              <a:t>condition</a:t>
            </a:r>
            <a:r>
              <a:rPr lang="en-US" sz="2000" b="1" dirty="0">
                <a:latin typeface="Consolas" pitchFamily="49" charset="0"/>
              </a:rPr>
              <a:t> )</a:t>
            </a:r>
          </a:p>
          <a:p>
            <a:pPr eaLnBrk="0" hangingPunct="0"/>
            <a:r>
              <a:rPr lang="en-US" sz="2000" b="1" dirty="0">
                <a:latin typeface="Consolas" pitchFamily="49" charset="0"/>
              </a:rPr>
              <a:t>   </a:t>
            </a:r>
            <a:r>
              <a:rPr lang="en-US" sz="2000" b="1" i="1" dirty="0">
                <a:solidFill>
                  <a:schemeClr val="accent2"/>
                </a:solidFill>
                <a:latin typeface="Consolas" pitchFamily="49" charset="0"/>
              </a:rPr>
              <a:t>statement1</a:t>
            </a:r>
            <a:r>
              <a:rPr lang="en-US" sz="2000" b="1" dirty="0">
                <a:latin typeface="Consolas" pitchFamily="49" charset="0"/>
              </a:rPr>
              <a:t>;</a:t>
            </a:r>
          </a:p>
          <a:p>
            <a:pPr eaLnBrk="0" hangingPunct="0"/>
            <a:r>
              <a:rPr lang="en-US" sz="2000" b="1" dirty="0">
                <a:latin typeface="Consolas" pitchFamily="49" charset="0"/>
              </a:rPr>
              <a:t>else</a:t>
            </a:r>
          </a:p>
          <a:p>
            <a:pPr eaLnBrk="0" hangingPunct="0"/>
            <a:r>
              <a:rPr lang="en-US" sz="2000" b="1" dirty="0">
                <a:latin typeface="Consolas" pitchFamily="49" charset="0"/>
              </a:rPr>
              <a:t>   </a:t>
            </a:r>
            <a:r>
              <a:rPr lang="en-US" sz="2000" b="1" i="1" dirty="0">
                <a:solidFill>
                  <a:schemeClr val="accent2"/>
                </a:solidFill>
                <a:latin typeface="Consolas" pitchFamily="49" charset="0"/>
              </a:rPr>
              <a:t>statement2</a:t>
            </a:r>
            <a:r>
              <a:rPr lang="en-US" sz="2000" b="1" dirty="0">
                <a:latin typeface="Consolas" pitchFamily="49" charset="0"/>
              </a:rPr>
              <a:t>;</a:t>
            </a:r>
          </a:p>
          <a:p>
            <a:pPr eaLnBrk="0" hangingPunct="0"/>
            <a:r>
              <a:rPr lang="en-US" sz="2000" b="1" dirty="0">
                <a:solidFill>
                  <a:schemeClr val="accent2"/>
                </a:solidFill>
                <a:latin typeface="Consolas" pitchFamily="49" charset="0"/>
              </a:rPr>
              <a:t>Statement x;</a:t>
            </a:r>
          </a:p>
        </p:txBody>
      </p:sp>
      <p:sp>
        <p:nvSpPr>
          <p:cNvPr id="11270" name="Rectangle 6"/>
          <p:cNvSpPr>
            <a:spLocks noChangeArrowheads="1"/>
          </p:cNvSpPr>
          <p:nvPr/>
        </p:nvSpPr>
        <p:spPr bwMode="auto">
          <a:xfrm>
            <a:off x="457200" y="4800600"/>
            <a:ext cx="83058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eaLnBrk="0" hangingPunct="0"/>
            <a:r>
              <a:rPr lang="en-US" sz="2400" dirty="0">
                <a:latin typeface="Times New Roman" pitchFamily="18" charset="0"/>
              </a:rPr>
              <a:t>If the </a:t>
            </a:r>
            <a:r>
              <a:rPr lang="en-US" sz="2400" i="1" dirty="0">
                <a:latin typeface="Courier New" pitchFamily="49" charset="0"/>
              </a:rPr>
              <a:t>condition</a:t>
            </a:r>
            <a:r>
              <a:rPr lang="en-US" sz="2400" dirty="0">
                <a:latin typeface="Times New Roman" pitchFamily="18" charset="0"/>
              </a:rPr>
              <a:t> is true, </a:t>
            </a:r>
            <a:r>
              <a:rPr lang="en-US" sz="2400" i="1" dirty="0">
                <a:latin typeface="Courier New" pitchFamily="49" charset="0"/>
              </a:rPr>
              <a:t>statement1</a:t>
            </a:r>
            <a:r>
              <a:rPr lang="en-US" sz="2400" dirty="0">
                <a:latin typeface="Times New Roman" pitchFamily="18" charset="0"/>
              </a:rPr>
              <a:t> is executed;  if the condition is false, </a:t>
            </a:r>
            <a:r>
              <a:rPr lang="en-US" sz="2400" i="1" dirty="0">
                <a:latin typeface="Courier New" pitchFamily="49" charset="0"/>
              </a:rPr>
              <a:t>statement2</a:t>
            </a:r>
            <a:r>
              <a:rPr lang="en-US" sz="2400" dirty="0">
                <a:latin typeface="Times New Roman" pitchFamily="18" charset="0"/>
              </a:rPr>
              <a:t> is executed</a:t>
            </a:r>
            <a:endParaRPr lang="en-US" sz="2400" dirty="0">
              <a:latin typeface="Courier New" pitchFamily="49" charset="0"/>
            </a:endParaRPr>
          </a:p>
        </p:txBody>
      </p:sp>
      <p:sp>
        <p:nvSpPr>
          <p:cNvPr id="11271" name="Rectangle 7"/>
          <p:cNvSpPr>
            <a:spLocks noChangeArrowheads="1"/>
          </p:cNvSpPr>
          <p:nvPr/>
        </p:nvSpPr>
        <p:spPr bwMode="auto">
          <a:xfrm>
            <a:off x="457200" y="5753100"/>
            <a:ext cx="83058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eaLnBrk="0" hangingPunct="0"/>
            <a:r>
              <a:rPr lang="en-US" sz="2400">
                <a:latin typeface="Times New Roman" pitchFamily="18" charset="0"/>
              </a:rPr>
              <a:t>One or the other will be executed, but not both</a:t>
            </a:r>
            <a:endParaRPr lang="en-US" sz="2400">
              <a:latin typeface="Courier New" pitchFamily="49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>
            <a:normAutofit fontScale="900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400" b="1" dirty="0">
                <a:latin typeface="+mn-lt"/>
                <a:cs typeface="Times New Roman" pitchFamily="18" charset="0"/>
              </a:rPr>
              <a:t>Nested if….Else Statements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752600"/>
            <a:ext cx="8305800" cy="4876800"/>
          </a:xfrm>
        </p:spPr>
        <p:txBody>
          <a:bodyPr lIns="92075" tIns="46038" rIns="92075" bIns="46038"/>
          <a:lstStyle/>
          <a:p>
            <a:pPr eaLnBrk="1" hangingPunct="1">
              <a:spcBef>
                <a:spcPct val="75000"/>
              </a:spcBef>
              <a:buFont typeface="Wingdings" pitchFamily="2" charset="2"/>
              <a:buChar char="ü"/>
            </a:pPr>
            <a:r>
              <a:rPr lang="en-US" dirty="0" smtClean="0">
                <a:latin typeface="Times New Roman" pitchFamily="18" charset="0"/>
              </a:rPr>
              <a:t>The if..else statement can be contained in another if or else statement.</a:t>
            </a:r>
          </a:p>
          <a:p>
            <a:pPr eaLnBrk="1" hangingPunct="1">
              <a:lnSpc>
                <a:spcPct val="40000"/>
              </a:lnSpc>
              <a:spcBef>
                <a:spcPct val="40000"/>
              </a:spcBef>
              <a:buFont typeface="Wingdings" pitchFamily="2" charset="2"/>
              <a:buNone/>
            </a:pPr>
            <a:r>
              <a:rPr lang="en-US" dirty="0" smtClean="0">
                <a:latin typeface="Times New Roman" pitchFamily="18" charset="0"/>
              </a:rPr>
              <a:t>		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if (</a:t>
            </a:r>
            <a:r>
              <a:rPr lang="en-US" dirty="0" smtClean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test condition1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 eaLnBrk="1" hangingPunct="1">
              <a:lnSpc>
                <a:spcPct val="40000"/>
              </a:lnSpc>
              <a:spcBef>
                <a:spcPct val="40000"/>
              </a:spcBef>
              <a:buFont typeface="Wingdings" pitchFamily="2" charset="2"/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		{	</a:t>
            </a:r>
          </a:p>
          <a:p>
            <a:pPr eaLnBrk="1" hangingPunct="1">
              <a:lnSpc>
                <a:spcPct val="40000"/>
              </a:lnSpc>
              <a:spcBef>
                <a:spcPct val="40000"/>
              </a:spcBef>
              <a:buFont typeface="Wingdings" pitchFamily="2" charset="2"/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			if (</a:t>
            </a:r>
            <a:r>
              <a:rPr lang="en-US" dirty="0" smtClean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test condition2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 eaLnBrk="1" hangingPunct="1">
              <a:lnSpc>
                <a:spcPct val="40000"/>
              </a:lnSpc>
              <a:spcBef>
                <a:spcPct val="40000"/>
              </a:spcBef>
              <a:buFont typeface="Wingdings" pitchFamily="2" charset="2"/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				</a:t>
            </a:r>
            <a:r>
              <a:rPr lang="en-US" dirty="0" smtClean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statement-1;</a:t>
            </a:r>
          </a:p>
          <a:p>
            <a:pPr eaLnBrk="1" hangingPunct="1">
              <a:lnSpc>
                <a:spcPct val="40000"/>
              </a:lnSpc>
              <a:spcBef>
                <a:spcPct val="40000"/>
              </a:spcBef>
              <a:buFont typeface="Wingdings" pitchFamily="2" charset="2"/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			else</a:t>
            </a:r>
          </a:p>
          <a:p>
            <a:pPr eaLnBrk="1" hangingPunct="1">
              <a:lnSpc>
                <a:spcPct val="40000"/>
              </a:lnSpc>
              <a:spcBef>
                <a:spcPct val="40000"/>
              </a:spcBef>
              <a:buFont typeface="Wingdings" pitchFamily="2" charset="2"/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				</a:t>
            </a:r>
            <a:r>
              <a:rPr lang="en-US" dirty="0" smtClean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statement-2;</a:t>
            </a:r>
          </a:p>
          <a:p>
            <a:pPr eaLnBrk="1" hangingPunct="1">
              <a:lnSpc>
                <a:spcPct val="40000"/>
              </a:lnSpc>
              <a:spcBef>
                <a:spcPct val="40000"/>
              </a:spcBef>
              <a:buFont typeface="Wingdings" pitchFamily="2" charset="2"/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		}</a:t>
            </a:r>
          </a:p>
          <a:p>
            <a:pPr eaLnBrk="1" hangingPunct="1">
              <a:lnSpc>
                <a:spcPct val="40000"/>
              </a:lnSpc>
              <a:spcBef>
                <a:spcPct val="40000"/>
              </a:spcBef>
              <a:buFont typeface="Wingdings" pitchFamily="2" charset="2"/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		else</a:t>
            </a:r>
          </a:p>
          <a:p>
            <a:pPr eaLnBrk="1" hangingPunct="1">
              <a:lnSpc>
                <a:spcPct val="40000"/>
              </a:lnSpc>
              <a:spcBef>
                <a:spcPct val="40000"/>
              </a:spcBef>
              <a:buFont typeface="Wingdings" pitchFamily="2" charset="2"/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dirty="0" smtClean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statement-3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eaLnBrk="1" hangingPunct="1">
              <a:lnSpc>
                <a:spcPct val="40000"/>
              </a:lnSpc>
              <a:spcBef>
                <a:spcPct val="40000"/>
              </a:spcBef>
              <a:buFont typeface="Wingdings" pitchFamily="2" charset="2"/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		</a:t>
            </a:r>
          </a:p>
          <a:p>
            <a:pPr eaLnBrk="1" hangingPunct="1">
              <a:lnSpc>
                <a:spcPct val="40000"/>
              </a:lnSpc>
              <a:spcBef>
                <a:spcPct val="40000"/>
              </a:spcBef>
              <a:buFont typeface="Wingdings" pitchFamily="2" charset="2"/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dirty="0" smtClean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statement-x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lvl="3" algn="ctr" eaLnBrk="1" hangingPunct="1"/>
            <a:endParaRPr lang="en-US" sz="3200" dirty="0" smtClean="0">
              <a:latin typeface="Times New Roman" pitchFamily="18" charset="0"/>
            </a:endParaRPr>
          </a:p>
          <a:p>
            <a:pPr eaLnBrk="1" hangingPunct="1"/>
            <a:endParaRPr lang="en-US" dirty="0" smtClean="0"/>
          </a:p>
        </p:txBody>
      </p:sp>
      <p:sp>
        <p:nvSpPr>
          <p:cNvPr id="12292" name="Slide Number Placeholder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fld id="{487ED878-660E-4F9F-84C6-47CB8A488AC3}" type="slidenum">
              <a:rPr lang="en-US" smtClean="0">
                <a:latin typeface="Arial" pitchFamily="34" charset="0"/>
              </a:rPr>
              <a:pPr/>
              <a:t>6</a:t>
            </a:fld>
            <a:endParaRPr lang="en-US" smtClean="0">
              <a:latin typeface="Arial" pitchFamily="34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400" b="1" dirty="0">
                <a:latin typeface="+mn-lt"/>
                <a:cs typeface="Times New Roman" pitchFamily="18" charset="0"/>
              </a:rPr>
              <a:t>Nested if….Else Statements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066800"/>
            <a:ext cx="8229600" cy="5407025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75000"/>
              </a:spcBef>
              <a:buFont typeface="Wingdings" pitchFamily="2" charset="2"/>
              <a:buChar char="ü"/>
            </a:pPr>
            <a:r>
              <a:rPr lang="en-US" dirty="0" smtClean="0"/>
              <a:t>An else clause is matched to the last unmatched if (no matter what the indentation implies!)</a:t>
            </a:r>
          </a:p>
          <a:p>
            <a:pPr eaLnBrk="1" hangingPunct="1">
              <a:lnSpc>
                <a:spcPct val="90000"/>
              </a:lnSpc>
              <a:spcBef>
                <a:spcPct val="75000"/>
              </a:spcBef>
              <a:buFont typeface="Wingdings" pitchFamily="2" charset="2"/>
              <a:buChar char="ü"/>
            </a:pPr>
            <a:r>
              <a:rPr lang="en-US" dirty="0" smtClean="0"/>
              <a:t>Example: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en-US" dirty="0" smtClean="0"/>
              <a:t>	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if(female)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		if(bal&gt;5000)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			bon = 0.05 * bal;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	else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		bon = 0.02 * bal;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	bal = bal + bon;</a:t>
            </a:r>
          </a:p>
          <a:p>
            <a:pPr eaLnBrk="1" hangingPunct="1">
              <a:lnSpc>
                <a:spcPct val="90000"/>
              </a:lnSpc>
              <a:spcBef>
                <a:spcPct val="75000"/>
              </a:spcBef>
              <a:buFont typeface="Wingdings" pitchFamily="2" charset="2"/>
              <a:buChar char="ü"/>
            </a:pPr>
            <a:r>
              <a:rPr lang="en-US" dirty="0" smtClean="0"/>
              <a:t>Braces can be used to specify the if statement to which an else clause belongs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400" b="1" dirty="0" smtClean="0">
                <a:cs typeface="Times New Roman" pitchFamily="18" charset="0"/>
              </a:rPr>
              <a:t>The if-else-if ladder</a:t>
            </a:r>
            <a:endParaRPr lang="en-US" sz="4400" b="1" dirty="0">
              <a:cs typeface="Times New Roman" pitchFamily="18" charset="0"/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524000"/>
            <a:ext cx="8229600" cy="3886200"/>
          </a:xfrm>
        </p:spPr>
        <p:txBody>
          <a:bodyPr/>
          <a:lstStyle/>
          <a:p>
            <a:pPr eaLnBrk="1" hangingPunct="1">
              <a:buSzTx/>
              <a:buFont typeface="Wingdings" pitchFamily="2" charset="2"/>
              <a:buChar char="ü"/>
            </a:pPr>
            <a:r>
              <a:rPr lang="en-US" dirty="0" smtClean="0"/>
              <a:t>Sometime you want to select one option from several alternatives</a:t>
            </a:r>
          </a:p>
          <a:p>
            <a:pPr lvl="2" eaLnBrk="1" hangingPunct="1">
              <a:buSzTx/>
              <a:buFont typeface="Wingdings" pitchFamily="2" charset="2"/>
              <a:buChar char="ü"/>
            </a:pPr>
            <a:endParaRPr lang="en-US" dirty="0" smtClean="0">
              <a:latin typeface="Times New Roman" pitchFamily="18" charset="0"/>
            </a:endParaRPr>
          </a:p>
          <a:p>
            <a:pPr lvl="2" eaLnBrk="1" hangingPunct="1">
              <a:buFont typeface="Wingdings" pitchFamily="2" charset="2"/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if (</a:t>
            </a:r>
            <a:r>
              <a:rPr lang="en-US" dirty="0" smtClean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conditon1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 lvl="2" eaLnBrk="1" hangingPunct="1">
              <a:buFont typeface="Wingdings" pitchFamily="2" charset="2"/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dirty="0" smtClean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statement1;</a:t>
            </a:r>
          </a:p>
          <a:p>
            <a:pPr lvl="2" eaLnBrk="1" hangingPunct="1">
              <a:buFont typeface="Wingdings" pitchFamily="2" charset="2"/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else if (</a:t>
            </a:r>
            <a:r>
              <a:rPr lang="en-US" dirty="0" smtClean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condition2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 lvl="2" eaLnBrk="1" hangingPunct="1">
              <a:buFont typeface="Wingdings" pitchFamily="2" charset="2"/>
              <a:buNone/>
            </a:pPr>
            <a:r>
              <a:rPr lang="en-US" dirty="0" smtClean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    statement2;</a:t>
            </a:r>
          </a:p>
          <a:p>
            <a:pPr lvl="2" eaLnBrk="1" hangingPunct="1">
              <a:buFont typeface="Wingdings" pitchFamily="2" charset="2"/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else if (</a:t>
            </a:r>
            <a:r>
              <a:rPr lang="en-US" dirty="0" smtClean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condition3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 lvl="2" eaLnBrk="1" hangingPunct="1">
              <a:buFont typeface="Wingdings" pitchFamily="2" charset="2"/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dirty="0" smtClean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statement3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lvl="2" eaLnBrk="1" hangingPunct="1">
              <a:buFont typeface="Wingdings" pitchFamily="2" charset="2"/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else</a:t>
            </a:r>
          </a:p>
          <a:p>
            <a:pPr lvl="2" eaLnBrk="1" hangingPunct="1">
              <a:buFont typeface="Wingdings" pitchFamily="2" charset="2"/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dirty="0" smtClean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statement4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;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4953000" y="2133600"/>
            <a:ext cx="3879850" cy="4159250"/>
            <a:chOff x="2536" y="1268"/>
            <a:chExt cx="2444" cy="2620"/>
          </a:xfrm>
        </p:grpSpPr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2536" y="1460"/>
              <a:ext cx="1248" cy="480"/>
              <a:chOff x="2304" y="1440"/>
              <a:chExt cx="1248" cy="480"/>
            </a:xfrm>
          </p:grpSpPr>
          <p:sp>
            <p:nvSpPr>
              <p:cNvPr id="14365" name="AutoShape 6"/>
              <p:cNvSpPr>
                <a:spLocks noChangeArrowheads="1"/>
              </p:cNvSpPr>
              <p:nvPr/>
            </p:nvSpPr>
            <p:spPr bwMode="auto">
              <a:xfrm>
                <a:off x="2304" y="1440"/>
                <a:ext cx="1248" cy="480"/>
              </a:xfrm>
              <a:prstGeom prst="flowChartDecision">
                <a:avLst/>
              </a:prstGeom>
              <a:solidFill>
                <a:schemeClr val="folHlink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4366" name="Text Box 7"/>
              <p:cNvSpPr txBox="1">
                <a:spLocks noChangeArrowheads="1"/>
              </p:cNvSpPr>
              <p:nvPr/>
            </p:nvSpPr>
            <p:spPr bwMode="auto">
              <a:xfrm>
                <a:off x="2560" y="1498"/>
                <a:ext cx="729" cy="366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 anchorCtr="1">
                <a:spAutoFit/>
              </a:bodyPr>
              <a:lstStyle/>
              <a:p>
                <a:pPr algn="ctr" eaLnBrk="0" hangingPunct="0"/>
                <a:r>
                  <a:rPr lang="en-US" sz="1600" b="1">
                    <a:latin typeface="Arial Unicode MS" pitchFamily="34" charset="-128"/>
                  </a:rPr>
                  <a:t>conditon1</a:t>
                </a:r>
              </a:p>
              <a:p>
                <a:pPr algn="ctr" eaLnBrk="0" hangingPunct="0"/>
                <a:r>
                  <a:rPr lang="en-US" sz="1600" b="1">
                    <a:latin typeface="Arial Unicode MS" pitchFamily="34" charset="-128"/>
                  </a:rPr>
                  <a:t>evaluated</a:t>
                </a:r>
              </a:p>
            </p:txBody>
          </p:sp>
        </p:grpSp>
        <p:grpSp>
          <p:nvGrpSpPr>
            <p:cNvPr id="4" name="Group 8"/>
            <p:cNvGrpSpPr>
              <a:grpSpLocks/>
            </p:cNvGrpSpPr>
            <p:nvPr/>
          </p:nvGrpSpPr>
          <p:grpSpPr bwMode="auto">
            <a:xfrm>
              <a:off x="2536" y="2180"/>
              <a:ext cx="1248" cy="480"/>
              <a:chOff x="2304" y="1440"/>
              <a:chExt cx="1248" cy="480"/>
            </a:xfrm>
          </p:grpSpPr>
          <p:sp>
            <p:nvSpPr>
              <p:cNvPr id="14363" name="AutoShape 9"/>
              <p:cNvSpPr>
                <a:spLocks noChangeArrowheads="1"/>
              </p:cNvSpPr>
              <p:nvPr/>
            </p:nvSpPr>
            <p:spPr bwMode="auto">
              <a:xfrm>
                <a:off x="2304" y="1440"/>
                <a:ext cx="1248" cy="480"/>
              </a:xfrm>
              <a:prstGeom prst="flowChartDecision">
                <a:avLst/>
              </a:prstGeom>
              <a:solidFill>
                <a:schemeClr val="folHlink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4364" name="Text Box 10"/>
              <p:cNvSpPr txBox="1">
                <a:spLocks noChangeArrowheads="1"/>
              </p:cNvSpPr>
              <p:nvPr/>
            </p:nvSpPr>
            <p:spPr bwMode="auto">
              <a:xfrm>
                <a:off x="2560" y="1498"/>
                <a:ext cx="729" cy="366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 anchorCtr="1">
                <a:spAutoFit/>
              </a:bodyPr>
              <a:lstStyle/>
              <a:p>
                <a:pPr algn="ctr" eaLnBrk="0" hangingPunct="0"/>
                <a:r>
                  <a:rPr lang="en-US" sz="1600" b="1">
                    <a:latin typeface="Arial Unicode MS" pitchFamily="34" charset="-128"/>
                  </a:rPr>
                  <a:t>conditon2</a:t>
                </a:r>
              </a:p>
              <a:p>
                <a:pPr algn="ctr" eaLnBrk="0" hangingPunct="0"/>
                <a:r>
                  <a:rPr lang="en-US" sz="1600" b="1">
                    <a:latin typeface="Arial Unicode MS" pitchFamily="34" charset="-128"/>
                  </a:rPr>
                  <a:t>evaluated</a:t>
                </a:r>
              </a:p>
            </p:txBody>
          </p:sp>
        </p:grpSp>
        <p:grpSp>
          <p:nvGrpSpPr>
            <p:cNvPr id="5" name="Group 11"/>
            <p:cNvGrpSpPr>
              <a:grpSpLocks/>
            </p:cNvGrpSpPr>
            <p:nvPr/>
          </p:nvGrpSpPr>
          <p:grpSpPr bwMode="auto">
            <a:xfrm>
              <a:off x="2536" y="2900"/>
              <a:ext cx="1248" cy="480"/>
              <a:chOff x="2304" y="1440"/>
              <a:chExt cx="1248" cy="480"/>
            </a:xfrm>
          </p:grpSpPr>
          <p:sp>
            <p:nvSpPr>
              <p:cNvPr id="14361" name="AutoShape 12"/>
              <p:cNvSpPr>
                <a:spLocks noChangeArrowheads="1"/>
              </p:cNvSpPr>
              <p:nvPr/>
            </p:nvSpPr>
            <p:spPr bwMode="auto">
              <a:xfrm>
                <a:off x="2304" y="1440"/>
                <a:ext cx="1248" cy="480"/>
              </a:xfrm>
              <a:prstGeom prst="flowChartDecision">
                <a:avLst/>
              </a:prstGeom>
              <a:solidFill>
                <a:schemeClr val="folHlink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4362" name="Text Box 13"/>
              <p:cNvSpPr txBox="1">
                <a:spLocks noChangeArrowheads="1"/>
              </p:cNvSpPr>
              <p:nvPr/>
            </p:nvSpPr>
            <p:spPr bwMode="auto">
              <a:xfrm>
                <a:off x="2560" y="1498"/>
                <a:ext cx="729" cy="366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 anchorCtr="1">
                <a:spAutoFit/>
              </a:bodyPr>
              <a:lstStyle/>
              <a:p>
                <a:pPr algn="ctr" eaLnBrk="0" hangingPunct="0"/>
                <a:r>
                  <a:rPr lang="en-US" sz="1600" b="1">
                    <a:latin typeface="Arial Unicode MS" pitchFamily="34" charset="-128"/>
                  </a:rPr>
                  <a:t>conditon3</a:t>
                </a:r>
              </a:p>
              <a:p>
                <a:pPr algn="ctr" eaLnBrk="0" hangingPunct="0"/>
                <a:r>
                  <a:rPr lang="en-US" sz="1600" b="1">
                    <a:latin typeface="Arial Unicode MS" pitchFamily="34" charset="-128"/>
                  </a:rPr>
                  <a:t>evaluated</a:t>
                </a:r>
              </a:p>
            </p:txBody>
          </p:sp>
        </p:grpSp>
        <p:sp>
          <p:nvSpPr>
            <p:cNvPr id="14344" name="Text Box 14"/>
            <p:cNvSpPr txBox="1">
              <a:spLocks noChangeArrowheads="1"/>
            </p:cNvSpPr>
            <p:nvPr/>
          </p:nvSpPr>
          <p:spPr bwMode="auto">
            <a:xfrm>
              <a:off x="4084" y="1604"/>
              <a:ext cx="800" cy="220"/>
            </a:xfrm>
            <a:prstGeom prst="rect">
              <a:avLst/>
            </a:prstGeom>
            <a:solidFill>
              <a:schemeClr val="folHlink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Ctr="1">
              <a:spAutoFit/>
            </a:bodyPr>
            <a:lstStyle/>
            <a:p>
              <a:pPr algn="ctr" eaLnBrk="0" hangingPunct="0"/>
              <a:r>
                <a:rPr lang="en-US" sz="1600" b="1">
                  <a:latin typeface="Arial Unicode MS" pitchFamily="34" charset="-128"/>
                </a:rPr>
                <a:t>statement1</a:t>
              </a:r>
            </a:p>
          </p:txBody>
        </p:sp>
        <p:sp>
          <p:nvSpPr>
            <p:cNvPr id="14345" name="Text Box 15"/>
            <p:cNvSpPr txBox="1">
              <a:spLocks noChangeArrowheads="1"/>
            </p:cNvSpPr>
            <p:nvPr/>
          </p:nvSpPr>
          <p:spPr bwMode="auto">
            <a:xfrm>
              <a:off x="4132" y="2324"/>
              <a:ext cx="800" cy="220"/>
            </a:xfrm>
            <a:prstGeom prst="rect">
              <a:avLst/>
            </a:prstGeom>
            <a:solidFill>
              <a:schemeClr val="folHlink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Ctr="1">
              <a:spAutoFit/>
            </a:bodyPr>
            <a:lstStyle/>
            <a:p>
              <a:pPr algn="ctr" eaLnBrk="0" hangingPunct="0"/>
              <a:r>
                <a:rPr lang="en-US" sz="1600" b="1">
                  <a:latin typeface="Arial Unicode MS" pitchFamily="34" charset="-128"/>
                </a:rPr>
                <a:t>statement2</a:t>
              </a:r>
            </a:p>
          </p:txBody>
        </p:sp>
        <p:sp>
          <p:nvSpPr>
            <p:cNvPr id="14346" name="Text Box 16"/>
            <p:cNvSpPr txBox="1">
              <a:spLocks noChangeArrowheads="1"/>
            </p:cNvSpPr>
            <p:nvPr/>
          </p:nvSpPr>
          <p:spPr bwMode="auto">
            <a:xfrm>
              <a:off x="4180" y="2996"/>
              <a:ext cx="800" cy="220"/>
            </a:xfrm>
            <a:prstGeom prst="rect">
              <a:avLst/>
            </a:prstGeom>
            <a:solidFill>
              <a:schemeClr val="folHlink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Ctr="1">
              <a:spAutoFit/>
            </a:bodyPr>
            <a:lstStyle/>
            <a:p>
              <a:pPr algn="ctr" eaLnBrk="0" hangingPunct="0"/>
              <a:r>
                <a:rPr lang="en-US" sz="1600" b="1">
                  <a:latin typeface="Arial Unicode MS" pitchFamily="34" charset="-128"/>
                </a:rPr>
                <a:t>statement3</a:t>
              </a:r>
            </a:p>
          </p:txBody>
        </p:sp>
        <p:sp>
          <p:nvSpPr>
            <p:cNvPr id="14347" name="Text Box 17"/>
            <p:cNvSpPr txBox="1">
              <a:spLocks noChangeArrowheads="1"/>
            </p:cNvSpPr>
            <p:nvPr/>
          </p:nvSpPr>
          <p:spPr bwMode="auto">
            <a:xfrm>
              <a:off x="2740" y="3668"/>
              <a:ext cx="800" cy="220"/>
            </a:xfrm>
            <a:prstGeom prst="rect">
              <a:avLst/>
            </a:prstGeom>
            <a:solidFill>
              <a:schemeClr val="folHlink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Ctr="1">
              <a:spAutoFit/>
            </a:bodyPr>
            <a:lstStyle/>
            <a:p>
              <a:pPr algn="ctr" eaLnBrk="0" hangingPunct="0"/>
              <a:r>
                <a:rPr lang="en-US" sz="1600" b="1">
                  <a:latin typeface="Arial Unicode MS" pitchFamily="34" charset="-128"/>
                </a:rPr>
                <a:t>statement4</a:t>
              </a:r>
            </a:p>
          </p:txBody>
        </p:sp>
        <p:sp>
          <p:nvSpPr>
            <p:cNvPr id="14348" name="Line 18"/>
            <p:cNvSpPr>
              <a:spLocks noChangeShapeType="1"/>
            </p:cNvSpPr>
            <p:nvPr/>
          </p:nvSpPr>
          <p:spPr bwMode="auto">
            <a:xfrm>
              <a:off x="3160" y="1268"/>
              <a:ext cx="0" cy="192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 type="none" w="sm" len="sm"/>
              <a:tailEnd type="triangle" w="sm" len="sm"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4349" name="Line 19"/>
            <p:cNvSpPr>
              <a:spLocks noChangeShapeType="1"/>
            </p:cNvSpPr>
            <p:nvPr/>
          </p:nvSpPr>
          <p:spPr bwMode="auto">
            <a:xfrm>
              <a:off x="3160" y="1940"/>
              <a:ext cx="0" cy="24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 type="none" w="sm" len="sm"/>
              <a:tailEnd type="triangle" w="sm" len="sm"/>
            </a:ln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4350" name="Line 20"/>
            <p:cNvSpPr>
              <a:spLocks noChangeShapeType="1"/>
            </p:cNvSpPr>
            <p:nvPr/>
          </p:nvSpPr>
          <p:spPr bwMode="auto">
            <a:xfrm>
              <a:off x="3160" y="2660"/>
              <a:ext cx="0" cy="24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 type="none" w="sm" len="sm"/>
              <a:tailEnd type="triangle" w="sm" len="sm"/>
            </a:ln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4351" name="Line 21"/>
            <p:cNvSpPr>
              <a:spLocks noChangeShapeType="1"/>
            </p:cNvSpPr>
            <p:nvPr/>
          </p:nvSpPr>
          <p:spPr bwMode="auto">
            <a:xfrm>
              <a:off x="3160" y="3380"/>
              <a:ext cx="0" cy="288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 type="none" w="sm" len="sm"/>
              <a:tailEnd type="triangle" w="sm" len="sm"/>
            </a:ln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4352" name="Line 22"/>
            <p:cNvSpPr>
              <a:spLocks noChangeShapeType="1"/>
            </p:cNvSpPr>
            <p:nvPr/>
          </p:nvSpPr>
          <p:spPr bwMode="auto">
            <a:xfrm>
              <a:off x="3784" y="1700"/>
              <a:ext cx="288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 type="none" w="sm" len="sm"/>
              <a:tailEnd type="triangle" w="sm" len="sm"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4353" name="Line 23"/>
            <p:cNvSpPr>
              <a:spLocks noChangeShapeType="1"/>
            </p:cNvSpPr>
            <p:nvPr/>
          </p:nvSpPr>
          <p:spPr bwMode="auto">
            <a:xfrm>
              <a:off x="3784" y="2420"/>
              <a:ext cx="336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 type="none" w="sm" len="sm"/>
              <a:tailEnd type="triangle" w="sm" len="sm"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4354" name="Line 24"/>
            <p:cNvSpPr>
              <a:spLocks noChangeShapeType="1"/>
            </p:cNvSpPr>
            <p:nvPr/>
          </p:nvSpPr>
          <p:spPr bwMode="auto">
            <a:xfrm>
              <a:off x="3784" y="3140"/>
              <a:ext cx="384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 type="none" w="sm" len="sm"/>
              <a:tailEnd type="triangle" w="sm" len="sm"/>
            </a:ln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4355" name="Text Box 25"/>
            <p:cNvSpPr txBox="1">
              <a:spLocks noChangeArrowheads="1"/>
            </p:cNvSpPr>
            <p:nvPr/>
          </p:nvSpPr>
          <p:spPr bwMode="auto">
            <a:xfrm>
              <a:off x="3748" y="2208"/>
              <a:ext cx="358" cy="21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 anchorCtr="1">
              <a:spAutoFit/>
            </a:bodyPr>
            <a:lstStyle/>
            <a:p>
              <a:pPr algn="ctr" eaLnBrk="0" hangingPunct="0"/>
              <a:r>
                <a:rPr lang="en-US" sz="1600" b="1">
                  <a:solidFill>
                    <a:schemeClr val="tx2"/>
                  </a:solidFill>
                  <a:latin typeface="Arial Unicode MS" pitchFamily="34" charset="-128"/>
                </a:rPr>
                <a:t>true</a:t>
              </a:r>
            </a:p>
          </p:txBody>
        </p:sp>
        <p:sp>
          <p:nvSpPr>
            <p:cNvPr id="14356" name="Text Box 26"/>
            <p:cNvSpPr txBox="1">
              <a:spLocks noChangeArrowheads="1"/>
            </p:cNvSpPr>
            <p:nvPr/>
          </p:nvSpPr>
          <p:spPr bwMode="auto">
            <a:xfrm>
              <a:off x="3748" y="1440"/>
              <a:ext cx="358" cy="21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 anchorCtr="1">
              <a:spAutoFit/>
            </a:bodyPr>
            <a:lstStyle/>
            <a:p>
              <a:pPr algn="ctr" eaLnBrk="0" hangingPunct="0"/>
              <a:r>
                <a:rPr lang="en-US" sz="1600" b="1">
                  <a:solidFill>
                    <a:schemeClr val="tx2"/>
                  </a:solidFill>
                  <a:latin typeface="Arial Unicode MS" pitchFamily="34" charset="-128"/>
                </a:rPr>
                <a:t>true</a:t>
              </a:r>
            </a:p>
          </p:txBody>
        </p:sp>
        <p:sp>
          <p:nvSpPr>
            <p:cNvPr id="14357" name="Text Box 27"/>
            <p:cNvSpPr txBox="1">
              <a:spLocks noChangeArrowheads="1"/>
            </p:cNvSpPr>
            <p:nvPr/>
          </p:nvSpPr>
          <p:spPr bwMode="auto">
            <a:xfrm>
              <a:off x="3796" y="2928"/>
              <a:ext cx="358" cy="21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 anchorCtr="1">
              <a:spAutoFit/>
            </a:bodyPr>
            <a:lstStyle/>
            <a:p>
              <a:pPr algn="ctr" eaLnBrk="0" hangingPunct="0"/>
              <a:r>
                <a:rPr lang="en-US" sz="1600" b="1">
                  <a:solidFill>
                    <a:schemeClr val="tx2"/>
                  </a:solidFill>
                  <a:latin typeface="Arial Unicode MS" pitchFamily="34" charset="-128"/>
                </a:rPr>
                <a:t>true</a:t>
              </a:r>
            </a:p>
          </p:txBody>
        </p:sp>
        <p:sp>
          <p:nvSpPr>
            <p:cNvPr id="14358" name="Text Box 28"/>
            <p:cNvSpPr txBox="1">
              <a:spLocks noChangeArrowheads="1"/>
            </p:cNvSpPr>
            <p:nvPr/>
          </p:nvSpPr>
          <p:spPr bwMode="auto">
            <a:xfrm>
              <a:off x="2740" y="1920"/>
              <a:ext cx="408" cy="21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 anchorCtr="1">
              <a:spAutoFit/>
            </a:bodyPr>
            <a:lstStyle/>
            <a:p>
              <a:pPr algn="ctr" eaLnBrk="0" hangingPunct="0"/>
              <a:r>
                <a:rPr lang="en-US" sz="1600" b="1">
                  <a:solidFill>
                    <a:schemeClr val="tx2"/>
                  </a:solidFill>
                  <a:latin typeface="Arial Unicode MS" pitchFamily="34" charset="-128"/>
                </a:rPr>
                <a:t>false</a:t>
              </a:r>
            </a:p>
          </p:txBody>
        </p:sp>
        <p:sp>
          <p:nvSpPr>
            <p:cNvPr id="14359" name="Text Box 29"/>
            <p:cNvSpPr txBox="1">
              <a:spLocks noChangeArrowheads="1"/>
            </p:cNvSpPr>
            <p:nvPr/>
          </p:nvSpPr>
          <p:spPr bwMode="auto">
            <a:xfrm>
              <a:off x="2740" y="2640"/>
              <a:ext cx="408" cy="21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 anchorCtr="1">
              <a:spAutoFit/>
            </a:bodyPr>
            <a:lstStyle/>
            <a:p>
              <a:pPr algn="ctr" eaLnBrk="0" hangingPunct="0"/>
              <a:r>
                <a:rPr lang="en-US" sz="1600" b="1">
                  <a:solidFill>
                    <a:schemeClr val="tx2"/>
                  </a:solidFill>
                  <a:latin typeface="Arial Unicode MS" pitchFamily="34" charset="-128"/>
                </a:rPr>
                <a:t>false</a:t>
              </a:r>
            </a:p>
          </p:txBody>
        </p:sp>
        <p:sp>
          <p:nvSpPr>
            <p:cNvPr id="14360" name="Text Box 30"/>
            <p:cNvSpPr txBox="1">
              <a:spLocks noChangeArrowheads="1"/>
            </p:cNvSpPr>
            <p:nvPr/>
          </p:nvSpPr>
          <p:spPr bwMode="auto">
            <a:xfrm>
              <a:off x="2740" y="3408"/>
              <a:ext cx="408" cy="21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 anchorCtr="1">
              <a:spAutoFit/>
            </a:bodyPr>
            <a:lstStyle/>
            <a:p>
              <a:pPr algn="ctr" eaLnBrk="0" hangingPunct="0"/>
              <a:r>
                <a:rPr lang="en-US" sz="1600" b="1">
                  <a:solidFill>
                    <a:schemeClr val="tx2"/>
                  </a:solidFill>
                  <a:latin typeface="Arial Unicode MS" pitchFamily="34" charset="-128"/>
                </a:rPr>
                <a:t>false</a:t>
              </a:r>
            </a:p>
          </p:txBody>
        </p:sp>
      </p:grp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400" b="1" dirty="0" smtClean="0">
                <a:cs typeface="Times New Roman" pitchFamily="18" charset="0"/>
              </a:rPr>
              <a:t>The switch Statement</a:t>
            </a:r>
            <a:endParaRPr lang="en-US" sz="4400" b="1" dirty="0">
              <a:cs typeface="Times New Roman" pitchFamily="18" charset="0"/>
            </a:endParaRPr>
          </a:p>
        </p:txBody>
      </p:sp>
      <p:sp>
        <p:nvSpPr>
          <p:cNvPr id="1536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990600"/>
            <a:ext cx="8382000" cy="5867400"/>
          </a:xfrm>
        </p:spPr>
        <p:txBody>
          <a:bodyPr lIns="92075" tIns="46038" rIns="92075" bIns="46038"/>
          <a:lstStyle/>
          <a:p>
            <a:pPr eaLnBrk="1" hangingPunct="1">
              <a:spcBef>
                <a:spcPct val="75000"/>
              </a:spcBef>
              <a:buFont typeface="Wingdings" pitchFamily="2" charset="2"/>
              <a:buChar char="ü"/>
            </a:pPr>
            <a:r>
              <a:rPr lang="en-US" sz="2400" dirty="0" smtClean="0"/>
              <a:t>The </a:t>
            </a:r>
            <a:r>
              <a:rPr lang="en-US" sz="2400" i="1" dirty="0" smtClean="0"/>
              <a:t>switch statement</a:t>
            </a:r>
            <a:r>
              <a:rPr lang="en-US" sz="2400" dirty="0" smtClean="0"/>
              <a:t> provides another means to decide which statement to execute next</a:t>
            </a:r>
          </a:p>
          <a:p>
            <a:pPr eaLnBrk="1" hangingPunct="1">
              <a:spcBef>
                <a:spcPct val="75000"/>
              </a:spcBef>
              <a:buFont typeface="Wingdings" pitchFamily="2" charset="2"/>
              <a:buChar char="ü"/>
            </a:pPr>
            <a:r>
              <a:rPr lang="en-US" sz="2400" dirty="0" smtClean="0"/>
              <a:t>The switch statement evaluates an expression, then attempts to match the result to one of several possible </a:t>
            </a:r>
            <a:r>
              <a:rPr lang="en-US" sz="2400" i="1" dirty="0" smtClean="0"/>
              <a:t>cases</a:t>
            </a:r>
          </a:p>
          <a:p>
            <a:pPr eaLnBrk="1" hangingPunct="1">
              <a:spcBef>
                <a:spcPct val="75000"/>
              </a:spcBef>
              <a:buFont typeface="Wingdings" pitchFamily="2" charset="2"/>
              <a:buChar char="ü"/>
            </a:pPr>
            <a:r>
              <a:rPr lang="en-US" sz="2400" dirty="0" smtClean="0"/>
              <a:t>The expression of a switch statement must result in an </a:t>
            </a:r>
            <a:r>
              <a:rPr lang="en-US" sz="2400" i="1" dirty="0" smtClean="0"/>
              <a:t>integral type</a:t>
            </a:r>
            <a:r>
              <a:rPr lang="en-US" sz="2400" dirty="0" smtClean="0"/>
              <a:t> (byte, short, int, char etc)</a:t>
            </a:r>
          </a:p>
          <a:p>
            <a:pPr eaLnBrk="1" hangingPunct="1">
              <a:spcBef>
                <a:spcPct val="75000"/>
              </a:spcBef>
              <a:buFont typeface="Wingdings" pitchFamily="2" charset="2"/>
              <a:buNone/>
            </a:pPr>
            <a:r>
              <a:rPr lang="en-US" sz="2400" dirty="0" smtClean="0"/>
              <a:t>	</a:t>
            </a:r>
            <a:r>
              <a:rPr lang="en-US" sz="2400" b="1" u="sng" dirty="0" smtClean="0"/>
              <a:t>Note: </a:t>
            </a:r>
            <a:r>
              <a:rPr lang="en-US" sz="2400" dirty="0" smtClean="0"/>
              <a:t>JDK 7 allows expression can be of type </a:t>
            </a:r>
            <a:r>
              <a:rPr lang="en-US" sz="2400" b="1" dirty="0" smtClean="0"/>
              <a:t>String</a:t>
            </a:r>
            <a:r>
              <a:rPr lang="en-US" sz="2400" dirty="0" smtClean="0"/>
              <a:t>.</a:t>
            </a:r>
          </a:p>
          <a:p>
            <a:pPr eaLnBrk="1" hangingPunct="1">
              <a:spcBef>
                <a:spcPct val="75000"/>
              </a:spcBef>
              <a:buFont typeface="Wingdings" pitchFamily="2" charset="2"/>
              <a:buChar char="ü"/>
            </a:pPr>
            <a:r>
              <a:rPr lang="en-US" sz="2400" dirty="0" smtClean="0"/>
              <a:t>The flow of control transfers to statement associated with the first value that matches</a:t>
            </a:r>
          </a:p>
        </p:txBody>
      </p:sp>
      <p:sp>
        <p:nvSpPr>
          <p:cNvPr id="15364" name="Slide Number Placeholder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fld id="{E40C70F2-B922-4423-9CA5-BC41036E385D}" type="slidenum">
              <a:rPr lang="en-US" smtClean="0">
                <a:latin typeface="Arial" pitchFamily="34" charset="0"/>
              </a:rPr>
              <a:pPr/>
              <a:t>9</a:t>
            </a:fld>
            <a:endParaRPr lang="en-US" smtClean="0">
              <a:latin typeface="Arial" pitchFamily="34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400" b="1" dirty="0">
                <a:cs typeface="Times New Roman" pitchFamily="18" charset="0"/>
              </a:rPr>
              <a:t>The switch Statement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914400" y="1600200"/>
            <a:ext cx="7772400" cy="588963"/>
          </a:xfrm>
        </p:spPr>
        <p:txBody>
          <a:bodyPr/>
          <a:lstStyle/>
          <a:p>
            <a:pPr eaLnBrk="1" hangingPunct="1">
              <a:buFont typeface="Wingdings" pitchFamily="2" charset="2"/>
              <a:buChar char="ü"/>
            </a:pPr>
            <a:r>
              <a:rPr lang="en-US" smtClean="0">
                <a:latin typeface="Times New Roman" pitchFamily="18" charset="0"/>
              </a:rPr>
              <a:t>The general syntax of a switch statement is:</a:t>
            </a:r>
          </a:p>
        </p:txBody>
      </p:sp>
      <p:sp>
        <p:nvSpPr>
          <p:cNvPr id="16388" name="Text Box 4"/>
          <p:cNvSpPr txBox="1">
            <a:spLocks noChangeArrowheads="1"/>
          </p:cNvSpPr>
          <p:nvPr/>
        </p:nvSpPr>
        <p:spPr bwMode="auto">
          <a:xfrm>
            <a:off x="2619375" y="2403475"/>
            <a:ext cx="2405063" cy="40925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2000" b="1" dirty="0">
                <a:latin typeface="Times New Roman" pitchFamily="18" charset="0"/>
              </a:rPr>
              <a:t>switch (</a:t>
            </a:r>
            <a:r>
              <a:rPr lang="en-US" sz="2000" b="1" i="1" dirty="0">
                <a:solidFill>
                  <a:schemeClr val="accent2"/>
                </a:solidFill>
                <a:latin typeface="Times New Roman" pitchFamily="18" charset="0"/>
              </a:rPr>
              <a:t>expression</a:t>
            </a:r>
            <a:r>
              <a:rPr lang="en-US" sz="2000" b="1" dirty="0">
                <a:latin typeface="Times New Roman" pitchFamily="18" charset="0"/>
              </a:rPr>
              <a:t>) {</a:t>
            </a:r>
          </a:p>
          <a:p>
            <a:pPr eaLnBrk="0" hangingPunct="0"/>
            <a:r>
              <a:rPr lang="en-US" sz="2000" b="1" dirty="0">
                <a:latin typeface="Times New Roman" pitchFamily="18" charset="0"/>
              </a:rPr>
              <a:t>    case </a:t>
            </a:r>
            <a:r>
              <a:rPr lang="en-US" sz="2000" b="1" i="1" dirty="0">
                <a:solidFill>
                  <a:schemeClr val="accent2"/>
                </a:solidFill>
                <a:latin typeface="Times New Roman" pitchFamily="18" charset="0"/>
              </a:rPr>
              <a:t>value1</a:t>
            </a:r>
            <a:r>
              <a:rPr lang="en-US" sz="2000" b="1" dirty="0">
                <a:latin typeface="Times New Roman" pitchFamily="18" charset="0"/>
              </a:rPr>
              <a:t>:</a:t>
            </a:r>
          </a:p>
          <a:p>
            <a:pPr eaLnBrk="0" hangingPunct="0"/>
            <a:r>
              <a:rPr lang="en-US" sz="2000" b="1" dirty="0">
                <a:latin typeface="Times New Roman" pitchFamily="18" charset="0"/>
              </a:rPr>
              <a:t>        </a:t>
            </a:r>
            <a:r>
              <a:rPr lang="en-US" sz="2000" b="1" i="1" dirty="0">
                <a:solidFill>
                  <a:schemeClr val="accent2"/>
                </a:solidFill>
                <a:latin typeface="Times New Roman" pitchFamily="18" charset="0"/>
              </a:rPr>
              <a:t>statement-list1</a:t>
            </a:r>
          </a:p>
          <a:p>
            <a:pPr eaLnBrk="0" hangingPunct="0"/>
            <a:r>
              <a:rPr lang="en-US" sz="2000" b="1" i="1" dirty="0">
                <a:solidFill>
                  <a:schemeClr val="accent2"/>
                </a:solidFill>
                <a:latin typeface="Times New Roman" pitchFamily="18" charset="0"/>
              </a:rPr>
              <a:t>        break;</a:t>
            </a:r>
            <a:endParaRPr lang="en-US" sz="2000" b="1" dirty="0">
              <a:latin typeface="Times New Roman" pitchFamily="18" charset="0"/>
            </a:endParaRPr>
          </a:p>
          <a:p>
            <a:pPr eaLnBrk="0" hangingPunct="0"/>
            <a:r>
              <a:rPr lang="en-US" sz="2000" b="1" dirty="0">
                <a:latin typeface="Times New Roman" pitchFamily="18" charset="0"/>
              </a:rPr>
              <a:t>    case </a:t>
            </a:r>
            <a:r>
              <a:rPr lang="en-US" sz="2000" b="1" i="1" dirty="0">
                <a:solidFill>
                  <a:schemeClr val="accent2"/>
                </a:solidFill>
                <a:latin typeface="Times New Roman" pitchFamily="18" charset="0"/>
              </a:rPr>
              <a:t>value2</a:t>
            </a:r>
            <a:r>
              <a:rPr lang="en-US" sz="2000" b="1" dirty="0">
                <a:latin typeface="Times New Roman" pitchFamily="18" charset="0"/>
              </a:rPr>
              <a:t>:</a:t>
            </a:r>
          </a:p>
          <a:p>
            <a:pPr eaLnBrk="0" hangingPunct="0"/>
            <a:r>
              <a:rPr lang="en-US" sz="2000" b="1" dirty="0">
                <a:latin typeface="Times New Roman" pitchFamily="18" charset="0"/>
              </a:rPr>
              <a:t>        </a:t>
            </a:r>
            <a:r>
              <a:rPr lang="en-US" sz="2000" b="1" i="1" dirty="0">
                <a:solidFill>
                  <a:schemeClr val="accent2"/>
                </a:solidFill>
                <a:latin typeface="Times New Roman" pitchFamily="18" charset="0"/>
              </a:rPr>
              <a:t>statement-list2</a:t>
            </a:r>
          </a:p>
          <a:p>
            <a:pPr eaLnBrk="0" hangingPunct="0"/>
            <a:r>
              <a:rPr lang="en-US" sz="2000" b="1" i="1" dirty="0">
                <a:solidFill>
                  <a:schemeClr val="accent2"/>
                </a:solidFill>
                <a:latin typeface="Times New Roman" pitchFamily="18" charset="0"/>
              </a:rPr>
              <a:t>        break;</a:t>
            </a:r>
            <a:endParaRPr lang="en-US" sz="2000" b="1" dirty="0">
              <a:latin typeface="Times New Roman" pitchFamily="18" charset="0"/>
            </a:endParaRPr>
          </a:p>
          <a:p>
            <a:pPr eaLnBrk="0" hangingPunct="0"/>
            <a:r>
              <a:rPr lang="en-US" sz="2000" b="1" dirty="0">
                <a:latin typeface="Times New Roman" pitchFamily="18" charset="0"/>
              </a:rPr>
              <a:t>    case </a:t>
            </a:r>
            <a:r>
              <a:rPr lang="en-US" sz="2000" b="1" dirty="0">
                <a:solidFill>
                  <a:schemeClr val="accent2"/>
                </a:solidFill>
                <a:latin typeface="Times New Roman" pitchFamily="18" charset="0"/>
              </a:rPr>
              <a:t>value3</a:t>
            </a:r>
            <a:r>
              <a:rPr lang="en-US" sz="2000" b="1" dirty="0">
                <a:latin typeface="Times New Roman" pitchFamily="18" charset="0"/>
              </a:rPr>
              <a:t>:</a:t>
            </a:r>
            <a:endParaRPr lang="en-US" sz="2000" b="1" dirty="0">
              <a:solidFill>
                <a:srgbClr val="FFFF99"/>
              </a:solidFill>
              <a:latin typeface="Times New Roman" pitchFamily="18" charset="0"/>
            </a:endParaRPr>
          </a:p>
          <a:p>
            <a:pPr eaLnBrk="0" hangingPunct="0"/>
            <a:r>
              <a:rPr lang="en-US" sz="2000" b="1" dirty="0">
                <a:solidFill>
                  <a:srgbClr val="FFFF99"/>
                </a:solidFill>
                <a:latin typeface="Times New Roman" pitchFamily="18" charset="0"/>
              </a:rPr>
              <a:t>        </a:t>
            </a:r>
            <a:r>
              <a:rPr lang="en-US" sz="2000" b="1" dirty="0">
                <a:solidFill>
                  <a:schemeClr val="accent2"/>
                </a:solidFill>
                <a:latin typeface="Times New Roman" pitchFamily="18" charset="0"/>
              </a:rPr>
              <a:t>statement-list3</a:t>
            </a:r>
          </a:p>
          <a:p>
            <a:pPr eaLnBrk="0" hangingPunct="0"/>
            <a:r>
              <a:rPr lang="en-US" sz="2000" b="1" dirty="0">
                <a:solidFill>
                  <a:schemeClr val="accent2"/>
                </a:solidFill>
                <a:latin typeface="Times New Roman" pitchFamily="18" charset="0"/>
              </a:rPr>
              <a:t>        break;</a:t>
            </a:r>
          </a:p>
          <a:p>
            <a:pPr eaLnBrk="0" hangingPunct="0"/>
            <a:r>
              <a:rPr lang="en-US" sz="2000" b="1" dirty="0">
                <a:solidFill>
                  <a:schemeClr val="accent2"/>
                </a:solidFill>
                <a:latin typeface="Times New Roman" pitchFamily="18" charset="0"/>
              </a:rPr>
              <a:t>   </a:t>
            </a:r>
            <a:r>
              <a:rPr lang="en-US" sz="2000" b="1" dirty="0">
                <a:latin typeface="Times New Roman" pitchFamily="18" charset="0"/>
              </a:rPr>
              <a:t> case </a:t>
            </a:r>
            <a:r>
              <a:rPr lang="en-US" sz="2000" b="1" dirty="0">
                <a:solidFill>
                  <a:schemeClr val="accent2"/>
                </a:solidFill>
                <a:latin typeface="Times New Roman" pitchFamily="18" charset="0"/>
              </a:rPr>
              <a:t>default:</a:t>
            </a:r>
          </a:p>
          <a:p>
            <a:pPr eaLnBrk="0" hangingPunct="0"/>
            <a:r>
              <a:rPr lang="en-US" sz="2000" b="1" dirty="0">
                <a:solidFill>
                  <a:schemeClr val="accent2"/>
                </a:solidFill>
                <a:latin typeface="Times New Roman" pitchFamily="18" charset="0"/>
              </a:rPr>
              <a:t>        statement-list4</a:t>
            </a:r>
            <a:endParaRPr lang="en-US" sz="2000" b="1" dirty="0">
              <a:solidFill>
                <a:srgbClr val="FFFF99"/>
              </a:solidFill>
              <a:latin typeface="Times New Roman" pitchFamily="18" charset="0"/>
            </a:endParaRPr>
          </a:p>
          <a:p>
            <a:pPr eaLnBrk="0" hangingPunct="0"/>
            <a:r>
              <a:rPr lang="en-US" sz="2000" b="1" dirty="0">
                <a:latin typeface="Courier New" pitchFamily="49" charset="0"/>
              </a:rPr>
              <a:t>}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603250" y="3260725"/>
            <a:ext cx="1828800" cy="1920875"/>
            <a:chOff x="480" y="1536"/>
            <a:chExt cx="1152" cy="1210"/>
          </a:xfrm>
        </p:grpSpPr>
        <p:sp>
          <p:nvSpPr>
            <p:cNvPr id="16393" name="Text Box 6"/>
            <p:cNvSpPr txBox="1">
              <a:spLocks noChangeArrowheads="1"/>
            </p:cNvSpPr>
            <p:nvPr/>
          </p:nvSpPr>
          <p:spPr bwMode="auto">
            <a:xfrm>
              <a:off x="480" y="1536"/>
              <a:ext cx="702" cy="121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sz="2000" b="1">
                  <a:latin typeface="Times New Roman" pitchFamily="18" charset="0"/>
                </a:rPr>
                <a:t>switch</a:t>
              </a:r>
            </a:p>
            <a:p>
              <a:pPr algn="ctr" eaLnBrk="0" hangingPunct="0"/>
              <a:r>
                <a:rPr lang="en-US" sz="2000" b="1">
                  <a:solidFill>
                    <a:schemeClr val="hlink"/>
                  </a:solidFill>
                  <a:latin typeface="Times New Roman" pitchFamily="18" charset="0"/>
                </a:rPr>
                <a:t>and</a:t>
              </a:r>
            </a:p>
            <a:p>
              <a:pPr algn="ctr" eaLnBrk="0" hangingPunct="0"/>
              <a:r>
                <a:rPr lang="en-US" sz="2000" b="1">
                  <a:latin typeface="Times New Roman" pitchFamily="18" charset="0"/>
                </a:rPr>
                <a:t>case</a:t>
              </a:r>
            </a:p>
            <a:p>
              <a:pPr algn="ctr" eaLnBrk="0" hangingPunct="0"/>
              <a:r>
                <a:rPr lang="en-US" sz="2000" b="1">
                  <a:solidFill>
                    <a:schemeClr val="hlink"/>
                  </a:solidFill>
                  <a:latin typeface="Times New Roman" pitchFamily="18" charset="0"/>
                </a:rPr>
                <a:t>are</a:t>
              </a:r>
            </a:p>
            <a:p>
              <a:pPr algn="ctr" eaLnBrk="0" hangingPunct="0"/>
              <a:r>
                <a:rPr lang="en-US" sz="2000" b="1">
                  <a:solidFill>
                    <a:schemeClr val="hlink"/>
                  </a:solidFill>
                  <a:latin typeface="Times New Roman" pitchFamily="18" charset="0"/>
                </a:rPr>
                <a:t>reserved</a:t>
              </a:r>
            </a:p>
            <a:p>
              <a:pPr algn="ctr" eaLnBrk="0" hangingPunct="0"/>
              <a:r>
                <a:rPr lang="en-US" sz="2000" b="1">
                  <a:solidFill>
                    <a:schemeClr val="hlink"/>
                  </a:solidFill>
                  <a:latin typeface="Times New Roman" pitchFamily="18" charset="0"/>
                </a:rPr>
                <a:t>words</a:t>
              </a:r>
            </a:p>
          </p:txBody>
        </p:sp>
        <p:sp>
          <p:nvSpPr>
            <p:cNvPr id="16394" name="Line 7"/>
            <p:cNvSpPr>
              <a:spLocks noChangeShapeType="1"/>
            </p:cNvSpPr>
            <p:nvPr/>
          </p:nvSpPr>
          <p:spPr bwMode="auto">
            <a:xfrm>
              <a:off x="1152" y="1872"/>
              <a:ext cx="480" cy="0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 type="none" w="sm" len="sm"/>
              <a:tailEnd type="triangle" w="lg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395" name="Line 8"/>
            <p:cNvSpPr>
              <a:spLocks noChangeShapeType="1"/>
            </p:cNvSpPr>
            <p:nvPr/>
          </p:nvSpPr>
          <p:spPr bwMode="auto">
            <a:xfrm flipV="1">
              <a:off x="1152" y="1680"/>
              <a:ext cx="432" cy="192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 type="none" w="sm" len="sm"/>
              <a:tailEnd type="triangle" w="lg" len="med"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6581775" y="4403725"/>
            <a:ext cx="1889125" cy="1768475"/>
            <a:chOff x="4272" y="2448"/>
            <a:chExt cx="1190" cy="1114"/>
          </a:xfrm>
        </p:grpSpPr>
        <p:sp>
          <p:nvSpPr>
            <p:cNvPr id="16391" name="Text Box 10"/>
            <p:cNvSpPr txBox="1">
              <a:spLocks noChangeArrowheads="1"/>
            </p:cNvSpPr>
            <p:nvPr/>
          </p:nvSpPr>
          <p:spPr bwMode="auto">
            <a:xfrm>
              <a:off x="4272" y="2736"/>
              <a:ext cx="1190" cy="826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en-US" sz="2000" b="1">
                  <a:solidFill>
                    <a:schemeClr val="hlink"/>
                  </a:solidFill>
                  <a:latin typeface="Times New Roman" pitchFamily="18" charset="0"/>
                </a:rPr>
                <a:t>If </a:t>
              </a:r>
              <a:r>
                <a:rPr lang="en-US" sz="2000" b="1" i="1">
                  <a:solidFill>
                    <a:schemeClr val="accent2"/>
                  </a:solidFill>
                  <a:latin typeface="Times New Roman" pitchFamily="18" charset="0"/>
                </a:rPr>
                <a:t>expression</a:t>
              </a:r>
              <a:endParaRPr lang="en-US" sz="2000" b="1">
                <a:solidFill>
                  <a:srgbClr val="FFFF99"/>
                </a:solidFill>
                <a:latin typeface="Times New Roman" pitchFamily="18" charset="0"/>
              </a:endParaRPr>
            </a:p>
            <a:p>
              <a:pPr eaLnBrk="0" hangingPunct="0"/>
              <a:r>
                <a:rPr lang="en-US" sz="2000" b="1">
                  <a:solidFill>
                    <a:schemeClr val="hlink"/>
                  </a:solidFill>
                  <a:latin typeface="Times New Roman" pitchFamily="18" charset="0"/>
                </a:rPr>
                <a:t>matches </a:t>
              </a:r>
              <a:r>
                <a:rPr lang="en-US" sz="2000" b="1" i="1">
                  <a:solidFill>
                    <a:schemeClr val="accent2"/>
                  </a:solidFill>
                  <a:latin typeface="Times New Roman" pitchFamily="18" charset="0"/>
                </a:rPr>
                <a:t>value2</a:t>
              </a:r>
              <a:r>
                <a:rPr lang="en-US" sz="2000" b="1">
                  <a:solidFill>
                    <a:schemeClr val="hlink"/>
                  </a:solidFill>
                  <a:latin typeface="Times New Roman" pitchFamily="18" charset="0"/>
                </a:rPr>
                <a:t>,</a:t>
              </a:r>
            </a:p>
            <a:p>
              <a:pPr eaLnBrk="0" hangingPunct="0"/>
              <a:r>
                <a:rPr lang="en-US" sz="2000" b="1">
                  <a:solidFill>
                    <a:schemeClr val="hlink"/>
                  </a:solidFill>
                  <a:latin typeface="Times New Roman" pitchFamily="18" charset="0"/>
                </a:rPr>
                <a:t>control jumps</a:t>
              </a:r>
            </a:p>
            <a:p>
              <a:pPr eaLnBrk="0" hangingPunct="0"/>
              <a:r>
                <a:rPr lang="en-US" sz="2000" b="1">
                  <a:solidFill>
                    <a:schemeClr val="hlink"/>
                  </a:solidFill>
                  <a:latin typeface="Times New Roman" pitchFamily="18" charset="0"/>
                </a:rPr>
                <a:t>from here</a:t>
              </a:r>
            </a:p>
          </p:txBody>
        </p:sp>
        <p:cxnSp>
          <p:nvCxnSpPr>
            <p:cNvPr id="16392" name="AutoShape 11"/>
            <p:cNvCxnSpPr>
              <a:cxnSpLocks noChangeShapeType="1"/>
              <a:stCxn id="16391" idx="0"/>
            </p:cNvCxnSpPr>
            <p:nvPr/>
          </p:nvCxnSpPr>
          <p:spPr bwMode="auto">
            <a:xfrm rot="5400000" flipH="1">
              <a:off x="4426" y="2294"/>
              <a:ext cx="288" cy="595"/>
            </a:xfrm>
            <a:prstGeom prst="bentConnector2">
              <a:avLst/>
            </a:prstGeom>
            <a:noFill/>
            <a:ln w="31750">
              <a:solidFill>
                <a:srgbClr val="FF0000"/>
              </a:solidFill>
              <a:miter lim="800000"/>
              <a:headEnd type="none" w="sm" len="sm"/>
              <a:tailEnd type="triangle" w="lg" len="med"/>
            </a:ln>
          </p:spPr>
        </p:cxnSp>
      </p:grp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400" b="1" dirty="0">
                <a:latin typeface="+mn-lt"/>
                <a:cs typeface="Times New Roman" pitchFamily="18" charset="0"/>
              </a:rPr>
              <a:t>The switch Statement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219200"/>
            <a:ext cx="8534400" cy="4419600"/>
          </a:xfrm>
        </p:spPr>
        <p:txBody>
          <a:bodyPr/>
          <a:lstStyle/>
          <a:p>
            <a:pPr eaLnBrk="1" hangingPunct="1">
              <a:spcBef>
                <a:spcPct val="75000"/>
              </a:spcBef>
            </a:pPr>
            <a:r>
              <a:rPr lang="en-US" sz="2400" dirty="0" smtClean="0"/>
              <a:t>A break statement causes control to transfer to the end of the switch statement</a:t>
            </a:r>
          </a:p>
          <a:p>
            <a:pPr eaLnBrk="1" hangingPunct="1">
              <a:spcBef>
                <a:spcPct val="75000"/>
              </a:spcBef>
            </a:pPr>
            <a:r>
              <a:rPr lang="en-US" sz="2400" dirty="0" smtClean="0"/>
              <a:t>If a break statement is not used, the flow of control will continue into the next case</a:t>
            </a:r>
          </a:p>
          <a:p>
            <a:pPr eaLnBrk="1" hangingPunct="1">
              <a:spcBef>
                <a:spcPct val="75000"/>
              </a:spcBef>
            </a:pPr>
            <a:r>
              <a:rPr lang="en-US" sz="2400" dirty="0" smtClean="0"/>
              <a:t>Sometimes this can be appropriate, but usually we want to execute only the statements associated with one case</a:t>
            </a:r>
          </a:p>
          <a:p>
            <a:pPr eaLnBrk="1" hangingPunct="1"/>
            <a:endParaRPr lang="en-US" sz="2400" dirty="0" smtClean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400" b="1" dirty="0">
                <a:cs typeface="Times New Roman" pitchFamily="18" charset="0"/>
              </a:rPr>
              <a:t>The switch Statement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219200"/>
            <a:ext cx="8382000" cy="5254625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75000"/>
              </a:spcBef>
              <a:buFont typeface="Wingdings" pitchFamily="2" charset="2"/>
              <a:buChar char="ü"/>
            </a:pPr>
            <a:r>
              <a:rPr lang="en-US" dirty="0" smtClean="0"/>
              <a:t>A switch statement can have an optional </a:t>
            </a:r>
            <a:r>
              <a:rPr lang="en-US" i="1" dirty="0" smtClean="0"/>
              <a:t>default case</a:t>
            </a:r>
            <a:endParaRPr lang="en-US" dirty="0" smtClean="0"/>
          </a:p>
          <a:p>
            <a:pPr eaLnBrk="1" hangingPunct="1">
              <a:lnSpc>
                <a:spcPct val="90000"/>
              </a:lnSpc>
              <a:spcBef>
                <a:spcPct val="75000"/>
              </a:spcBef>
              <a:buFont typeface="Wingdings" pitchFamily="2" charset="2"/>
              <a:buChar char="ü"/>
            </a:pPr>
            <a:r>
              <a:rPr lang="en-US" dirty="0" smtClean="0"/>
              <a:t>The default case has no associated value and simply uses the reserved word default</a:t>
            </a:r>
          </a:p>
          <a:p>
            <a:pPr eaLnBrk="1" hangingPunct="1">
              <a:lnSpc>
                <a:spcPct val="90000"/>
              </a:lnSpc>
              <a:spcBef>
                <a:spcPct val="75000"/>
              </a:spcBef>
              <a:buFont typeface="Wingdings" pitchFamily="2" charset="2"/>
              <a:buChar char="ü"/>
            </a:pPr>
            <a:r>
              <a:rPr lang="en-US" dirty="0" smtClean="0"/>
              <a:t>If the default case is present, control will transfer to it if no other case value matches</a:t>
            </a:r>
          </a:p>
          <a:p>
            <a:pPr eaLnBrk="1" hangingPunct="1">
              <a:lnSpc>
                <a:spcPct val="90000"/>
              </a:lnSpc>
              <a:spcBef>
                <a:spcPct val="75000"/>
              </a:spcBef>
              <a:buFont typeface="Wingdings" pitchFamily="2" charset="2"/>
              <a:buChar char="ü"/>
            </a:pPr>
            <a:r>
              <a:rPr lang="en-US" dirty="0" smtClean="0"/>
              <a:t>If there is no default case, and no other value matches, control falls through to the statement after the switch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Switch example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0" y="1219200"/>
            <a:ext cx="4457700" cy="5486400"/>
          </a:xfrm>
        </p:spPr>
        <p:txBody>
          <a:bodyPr/>
          <a:lstStyle/>
          <a:p>
            <a:pPr eaLnBrk="1" hangingPunct="1">
              <a:lnSpc>
                <a:spcPct val="50000"/>
              </a:lnSpc>
              <a:spcBef>
                <a:spcPct val="50000"/>
              </a:spcBef>
              <a:buFont typeface="Wingdings" pitchFamily="2" charset="2"/>
              <a:buNone/>
            </a:pPr>
            <a:endParaRPr lang="en-US" sz="1800" dirty="0" smtClean="0">
              <a:latin typeface="Courier New" pitchFamily="49" charset="0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en-US" sz="1400" dirty="0" smtClean="0">
                <a:latin typeface="Courier New" pitchFamily="49" charset="0"/>
              </a:rPr>
              <a:t>char letter = 'b';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 typeface="Wingdings" pitchFamily="2" charset="2"/>
              <a:buNone/>
            </a:pPr>
            <a:endParaRPr lang="en-US" sz="1400" dirty="0" smtClean="0">
              <a:latin typeface="Courier New" pitchFamily="49" charset="0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en-US" sz="1400" dirty="0" smtClean="0">
                <a:latin typeface="Courier New" pitchFamily="49" charset="0"/>
              </a:rPr>
              <a:t>switch (letter) {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en-US" sz="1400" dirty="0" smtClean="0">
                <a:latin typeface="Courier New" pitchFamily="49" charset="0"/>
              </a:rPr>
              <a:t>    case 'a':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en-US" sz="1400" dirty="0" smtClean="0">
                <a:latin typeface="Courier New" pitchFamily="49" charset="0"/>
              </a:rPr>
              <a:t>        </a:t>
            </a:r>
            <a:r>
              <a:rPr lang="en-US" sz="1400" dirty="0" err="1" smtClean="0">
                <a:latin typeface="Courier New" pitchFamily="49" charset="0"/>
              </a:rPr>
              <a:t>System.out.println</a:t>
            </a:r>
            <a:r>
              <a:rPr lang="en-US" sz="1400" dirty="0" smtClean="0">
                <a:latin typeface="Courier New" pitchFamily="49" charset="0"/>
              </a:rPr>
              <a:t>("A");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en-US" sz="1400" dirty="0" smtClean="0">
                <a:latin typeface="Courier New" pitchFamily="49" charset="0"/>
              </a:rPr>
              <a:t>        break;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en-US" sz="1400" dirty="0" smtClean="0">
                <a:latin typeface="Courier New" pitchFamily="49" charset="0"/>
              </a:rPr>
              <a:t>    case 'b':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en-US" sz="1400" dirty="0" smtClean="0">
                <a:latin typeface="Courier New" pitchFamily="49" charset="0"/>
              </a:rPr>
              <a:t>        </a:t>
            </a:r>
            <a:r>
              <a:rPr lang="en-US" sz="1400" dirty="0" err="1" smtClean="0">
                <a:latin typeface="Courier New" pitchFamily="49" charset="0"/>
              </a:rPr>
              <a:t>System.out.println</a:t>
            </a:r>
            <a:r>
              <a:rPr lang="en-US" sz="1400" dirty="0" smtClean="0">
                <a:latin typeface="Courier New" pitchFamily="49" charset="0"/>
              </a:rPr>
              <a:t>("B");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en-US" sz="1400" dirty="0" smtClean="0">
                <a:latin typeface="Courier New" pitchFamily="49" charset="0"/>
              </a:rPr>
              <a:t>        break;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en-US" sz="1400" dirty="0" smtClean="0">
                <a:latin typeface="Courier New" pitchFamily="49" charset="0"/>
              </a:rPr>
              <a:t>    case 'c':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en-US" sz="1400" dirty="0" smtClean="0">
                <a:latin typeface="Courier New" pitchFamily="49" charset="0"/>
              </a:rPr>
              <a:t>        </a:t>
            </a:r>
            <a:r>
              <a:rPr lang="en-US" sz="1400" dirty="0" err="1" smtClean="0">
                <a:latin typeface="Courier New" pitchFamily="49" charset="0"/>
              </a:rPr>
              <a:t>System.out.println</a:t>
            </a:r>
            <a:r>
              <a:rPr lang="en-US" sz="1400" dirty="0" smtClean="0">
                <a:latin typeface="Courier New" pitchFamily="49" charset="0"/>
              </a:rPr>
              <a:t>("C");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en-US" sz="1400" dirty="0" smtClean="0">
                <a:latin typeface="Courier New" pitchFamily="49" charset="0"/>
              </a:rPr>
              <a:t>        break;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en-US" sz="1400" dirty="0" smtClean="0">
                <a:latin typeface="Courier New" pitchFamily="49" charset="0"/>
              </a:rPr>
              <a:t>    case 'd':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en-US" sz="1400" dirty="0" smtClean="0">
                <a:latin typeface="Courier New" pitchFamily="49" charset="0"/>
              </a:rPr>
              <a:t>        </a:t>
            </a:r>
            <a:r>
              <a:rPr lang="en-US" sz="1400" dirty="0" err="1" smtClean="0">
                <a:latin typeface="Courier New" pitchFamily="49" charset="0"/>
              </a:rPr>
              <a:t>System.out.println</a:t>
            </a:r>
            <a:r>
              <a:rPr lang="en-US" sz="1400" dirty="0" smtClean="0">
                <a:latin typeface="Courier New" pitchFamily="49" charset="0"/>
              </a:rPr>
              <a:t>("D");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en-US" sz="1400" dirty="0" smtClean="0">
                <a:latin typeface="Courier New" pitchFamily="49" charset="0"/>
              </a:rPr>
              <a:t>        break;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en-US" sz="1400" dirty="0" smtClean="0">
                <a:latin typeface="Courier New" pitchFamily="49" charset="0"/>
              </a:rPr>
              <a:t>    default: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en-US" sz="1400" dirty="0" smtClean="0">
                <a:latin typeface="Courier New" pitchFamily="49" charset="0"/>
              </a:rPr>
              <a:t>        </a:t>
            </a:r>
            <a:r>
              <a:rPr lang="en-US" sz="1400" dirty="0" err="1" smtClean="0">
                <a:latin typeface="Courier New" pitchFamily="49" charset="0"/>
              </a:rPr>
              <a:t>System.out.println</a:t>
            </a:r>
            <a:r>
              <a:rPr lang="en-US" sz="1400" dirty="0" smtClean="0">
                <a:latin typeface="Courier New" pitchFamily="49" charset="0"/>
              </a:rPr>
              <a:t>(”?");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en-US" sz="1400" dirty="0" smtClean="0">
                <a:latin typeface="Courier New" pitchFamily="49" charset="0"/>
              </a:rPr>
              <a:t>}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 typeface="Wingdings" pitchFamily="2" charset="2"/>
              <a:buNone/>
            </a:pPr>
            <a:endParaRPr lang="en-US" sz="1400" dirty="0" smtClean="0">
              <a:latin typeface="Courier New" pitchFamily="49" charset="0"/>
            </a:endParaRP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en-US" dirty="0" smtClean="0">
                <a:solidFill>
                  <a:schemeClr val="hlink"/>
                </a:solidFill>
                <a:latin typeface="Courier New" pitchFamily="49" charset="0"/>
              </a:rPr>
              <a:t>B</a:t>
            </a:r>
            <a:endParaRPr lang="en-US" sz="1800" dirty="0" smtClean="0">
              <a:latin typeface="Courier New" pitchFamily="49" charset="0"/>
            </a:endParaRPr>
          </a:p>
        </p:txBody>
      </p:sp>
      <p:sp>
        <p:nvSpPr>
          <p:cNvPr id="19460" name="Rectangle 4"/>
          <p:cNvSpPr>
            <a:spLocks noGrp="1" noChangeArrowheads="1"/>
          </p:cNvSpPr>
          <p:nvPr>
            <p:ph sz="quarter" idx="2"/>
          </p:nvPr>
        </p:nvSpPr>
        <p:spPr>
          <a:xfrm>
            <a:off x="4610100" y="1219200"/>
            <a:ext cx="4533900" cy="5486400"/>
          </a:xfrm>
        </p:spPr>
        <p:txBody>
          <a:bodyPr/>
          <a:lstStyle/>
          <a:p>
            <a:pPr eaLnBrk="1" hangingPunct="1">
              <a:lnSpc>
                <a:spcPct val="50000"/>
              </a:lnSpc>
              <a:spcBef>
                <a:spcPct val="50000"/>
              </a:spcBef>
              <a:buFont typeface="Wingdings" pitchFamily="2" charset="2"/>
              <a:buNone/>
            </a:pPr>
            <a:endParaRPr lang="en-US" sz="1800" dirty="0" smtClean="0">
              <a:latin typeface="Courier New" pitchFamily="49" charset="0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en-US" sz="1400" dirty="0" smtClean="0">
                <a:latin typeface="Courier New" pitchFamily="49" charset="0"/>
              </a:rPr>
              <a:t>char letter = 'b';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 typeface="Wingdings" pitchFamily="2" charset="2"/>
              <a:buNone/>
            </a:pPr>
            <a:endParaRPr lang="en-US" sz="1400" dirty="0" smtClean="0">
              <a:latin typeface="Courier New" pitchFamily="49" charset="0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en-US" sz="1400" dirty="0" smtClean="0">
                <a:latin typeface="Courier New" pitchFamily="49" charset="0"/>
              </a:rPr>
              <a:t>switch (letter) {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en-US" sz="1400" dirty="0" smtClean="0">
                <a:latin typeface="Courier New" pitchFamily="49" charset="0"/>
              </a:rPr>
              <a:t>    case 'a':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en-US" sz="1400" dirty="0" smtClean="0">
                <a:latin typeface="Courier New" pitchFamily="49" charset="0"/>
              </a:rPr>
              <a:t>        </a:t>
            </a:r>
            <a:r>
              <a:rPr lang="en-US" sz="1400" dirty="0" err="1" smtClean="0">
                <a:latin typeface="Courier New" pitchFamily="49" charset="0"/>
              </a:rPr>
              <a:t>System.out.println</a:t>
            </a:r>
            <a:r>
              <a:rPr lang="en-US" sz="1400" dirty="0" smtClean="0">
                <a:latin typeface="Courier New" pitchFamily="49" charset="0"/>
              </a:rPr>
              <a:t>("A");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en-US" sz="1400" dirty="0" smtClean="0">
                <a:latin typeface="Courier New" pitchFamily="49" charset="0"/>
              </a:rPr>
              <a:t>    case 'b':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en-US" sz="1400" dirty="0" smtClean="0">
                <a:latin typeface="Courier New" pitchFamily="49" charset="0"/>
              </a:rPr>
              <a:t>        </a:t>
            </a:r>
            <a:r>
              <a:rPr lang="en-US" sz="1400" dirty="0" err="1" smtClean="0">
                <a:latin typeface="Courier New" pitchFamily="49" charset="0"/>
              </a:rPr>
              <a:t>System.out.println</a:t>
            </a:r>
            <a:r>
              <a:rPr lang="en-US" sz="1400" dirty="0" smtClean="0">
                <a:latin typeface="Courier New" pitchFamily="49" charset="0"/>
              </a:rPr>
              <a:t>("B");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en-US" sz="1400" dirty="0" smtClean="0">
                <a:latin typeface="Courier New" pitchFamily="49" charset="0"/>
              </a:rPr>
              <a:t>    case 'c':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en-US" sz="1400" dirty="0" smtClean="0">
                <a:latin typeface="Courier New" pitchFamily="49" charset="0"/>
              </a:rPr>
              <a:t>        </a:t>
            </a:r>
            <a:r>
              <a:rPr lang="en-US" sz="1400" dirty="0" err="1" smtClean="0">
                <a:latin typeface="Courier New" pitchFamily="49" charset="0"/>
              </a:rPr>
              <a:t>System.out.println</a:t>
            </a:r>
            <a:r>
              <a:rPr lang="en-US" sz="1400" dirty="0" smtClean="0">
                <a:latin typeface="Courier New" pitchFamily="49" charset="0"/>
              </a:rPr>
              <a:t>("C");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en-US" sz="1400" dirty="0" smtClean="0">
                <a:latin typeface="Courier New" pitchFamily="49" charset="0"/>
              </a:rPr>
              <a:t>        break;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en-US" sz="1400" dirty="0" smtClean="0">
                <a:latin typeface="Courier New" pitchFamily="49" charset="0"/>
              </a:rPr>
              <a:t>    case 'd':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en-US" sz="1400" dirty="0" smtClean="0">
                <a:latin typeface="Courier New" pitchFamily="49" charset="0"/>
              </a:rPr>
              <a:t>        </a:t>
            </a:r>
            <a:r>
              <a:rPr lang="en-US" sz="1400" dirty="0" err="1" smtClean="0">
                <a:latin typeface="Courier New" pitchFamily="49" charset="0"/>
              </a:rPr>
              <a:t>System.out.println</a:t>
            </a:r>
            <a:r>
              <a:rPr lang="en-US" sz="1400" dirty="0" smtClean="0">
                <a:latin typeface="Courier New" pitchFamily="49" charset="0"/>
              </a:rPr>
              <a:t>("D");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en-US" sz="1400" dirty="0" smtClean="0">
                <a:latin typeface="Courier New" pitchFamily="49" charset="0"/>
              </a:rPr>
              <a:t>        break;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en-US" sz="1400" dirty="0" smtClean="0">
                <a:latin typeface="Courier New" pitchFamily="49" charset="0"/>
              </a:rPr>
              <a:t>    default: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en-US" sz="1400" dirty="0" smtClean="0">
                <a:latin typeface="Courier New" pitchFamily="49" charset="0"/>
              </a:rPr>
              <a:t>        </a:t>
            </a:r>
            <a:r>
              <a:rPr lang="en-US" sz="1400" dirty="0" err="1" smtClean="0">
                <a:latin typeface="Courier New" pitchFamily="49" charset="0"/>
              </a:rPr>
              <a:t>System.out.println</a:t>
            </a:r>
            <a:r>
              <a:rPr lang="en-US" sz="1400" dirty="0" smtClean="0">
                <a:latin typeface="Courier New" pitchFamily="49" charset="0"/>
              </a:rPr>
              <a:t>(”?");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en-US" sz="1400" dirty="0" smtClean="0">
                <a:latin typeface="Courier New" pitchFamily="49" charset="0"/>
              </a:rPr>
              <a:t>}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 typeface="Wingdings" pitchFamily="2" charset="2"/>
              <a:buNone/>
            </a:pPr>
            <a:endParaRPr lang="en-US" dirty="0" smtClean="0">
              <a:solidFill>
                <a:schemeClr val="hlink"/>
              </a:solidFill>
              <a:latin typeface="Courier New" pitchFamily="49" charset="0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en-US" dirty="0" smtClean="0">
                <a:solidFill>
                  <a:schemeClr val="hlink"/>
                </a:solidFill>
                <a:latin typeface="Courier New" pitchFamily="49" charset="0"/>
              </a:rPr>
              <a:t> 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en-US" dirty="0" smtClean="0">
                <a:solidFill>
                  <a:schemeClr val="hlink"/>
                </a:solidFill>
                <a:latin typeface="Courier New" pitchFamily="49" charset="0"/>
              </a:rPr>
              <a:t>        B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en-US" dirty="0" smtClean="0">
                <a:solidFill>
                  <a:schemeClr val="hlink"/>
                </a:solidFill>
                <a:latin typeface="Courier New" pitchFamily="49" charset="0"/>
              </a:rPr>
              <a:t>        C</a:t>
            </a:r>
          </a:p>
        </p:txBody>
      </p:sp>
      <p:sp>
        <p:nvSpPr>
          <p:cNvPr id="19461" name="Line 5"/>
          <p:cNvSpPr>
            <a:spLocks noChangeShapeType="1"/>
          </p:cNvSpPr>
          <p:nvPr/>
        </p:nvSpPr>
        <p:spPr bwMode="auto">
          <a:xfrm>
            <a:off x="304800" y="5334000"/>
            <a:ext cx="8458200" cy="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 type="none" w="sm" len="sm"/>
            <a:tailEnd type="none" w="sm" len="sm"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400" b="1" dirty="0">
                <a:cs typeface="Times New Roman" pitchFamily="18" charset="0"/>
              </a:rPr>
              <a:t>The Conditional Operator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219200"/>
            <a:ext cx="8458200" cy="5254625"/>
          </a:xfrm>
        </p:spPr>
        <p:txBody>
          <a:bodyPr lIns="92075" tIns="46038" rIns="92075" bIns="46038"/>
          <a:lstStyle/>
          <a:p>
            <a:pPr eaLnBrk="1" hangingPunct="1">
              <a:spcBef>
                <a:spcPct val="75000"/>
              </a:spcBef>
              <a:buFont typeface="Wingdings" pitchFamily="2" charset="2"/>
              <a:buChar char="ü"/>
            </a:pPr>
            <a:r>
              <a:rPr lang="en-US" sz="2400" dirty="0" smtClean="0"/>
              <a:t>Java has a </a:t>
            </a:r>
            <a:r>
              <a:rPr lang="en-US" sz="2400" i="1" dirty="0" smtClean="0"/>
              <a:t>conditional operator</a:t>
            </a:r>
            <a:r>
              <a:rPr lang="en-US" sz="2400" dirty="0" smtClean="0"/>
              <a:t> that evaluates a boolean condition that determines which of two other expressions is evaluated</a:t>
            </a:r>
          </a:p>
          <a:p>
            <a:pPr eaLnBrk="1" hangingPunct="1">
              <a:spcBef>
                <a:spcPct val="75000"/>
              </a:spcBef>
              <a:buFont typeface="Wingdings" pitchFamily="2" charset="2"/>
              <a:buChar char="ü"/>
            </a:pPr>
            <a:r>
              <a:rPr lang="en-US" sz="2400" dirty="0" smtClean="0"/>
              <a:t>The result of the chosen expression is the result of the entire conditional operator</a:t>
            </a:r>
          </a:p>
          <a:p>
            <a:pPr eaLnBrk="1" hangingPunct="1">
              <a:spcBef>
                <a:spcPct val="75000"/>
              </a:spcBef>
              <a:buFont typeface="Wingdings" pitchFamily="2" charset="2"/>
              <a:buChar char="ü"/>
            </a:pPr>
            <a:r>
              <a:rPr lang="en-US" sz="2400" dirty="0" smtClean="0"/>
              <a:t>Its syntax is:</a:t>
            </a:r>
          </a:p>
          <a:p>
            <a:pPr eaLnBrk="1" hangingPunct="1">
              <a:spcBef>
                <a:spcPct val="75000"/>
              </a:spcBef>
              <a:buFont typeface="Wingdings" pitchFamily="2" charset="2"/>
              <a:buChar char="ü"/>
            </a:pPr>
            <a:r>
              <a:rPr lang="en-US" sz="2400" i="1" dirty="0" smtClean="0"/>
              <a:t>		</a:t>
            </a:r>
            <a:r>
              <a:rPr lang="en-US" sz="2400" i="1" dirty="0" smtClean="0">
                <a:solidFill>
                  <a:schemeClr val="accent2"/>
                </a:solidFill>
              </a:rPr>
              <a:t>condition</a:t>
            </a:r>
            <a:r>
              <a:rPr lang="en-US" sz="2400" dirty="0" smtClean="0"/>
              <a:t> ? </a:t>
            </a:r>
            <a:r>
              <a:rPr lang="en-US" sz="2400" i="1" dirty="0" smtClean="0">
                <a:solidFill>
                  <a:schemeClr val="accent2"/>
                </a:solidFill>
              </a:rPr>
              <a:t>expression1</a:t>
            </a:r>
            <a:r>
              <a:rPr lang="en-US" sz="2400" dirty="0" smtClean="0"/>
              <a:t> : </a:t>
            </a:r>
            <a:r>
              <a:rPr lang="en-US" sz="2400" i="1" dirty="0" smtClean="0">
                <a:solidFill>
                  <a:schemeClr val="accent2"/>
                </a:solidFill>
              </a:rPr>
              <a:t>expression2</a:t>
            </a:r>
            <a:endParaRPr lang="en-US" sz="2400" i="1" dirty="0" smtClean="0">
              <a:solidFill>
                <a:srgbClr val="FFFF99"/>
              </a:solidFill>
            </a:endParaRPr>
          </a:p>
          <a:p>
            <a:pPr eaLnBrk="1" hangingPunct="1">
              <a:spcBef>
                <a:spcPct val="75000"/>
              </a:spcBef>
              <a:buFont typeface="Wingdings" pitchFamily="2" charset="2"/>
              <a:buChar char="ü"/>
            </a:pPr>
            <a:r>
              <a:rPr lang="en-US" sz="2400" dirty="0" smtClean="0"/>
              <a:t>If the </a:t>
            </a:r>
            <a:r>
              <a:rPr lang="en-US" sz="2400" i="1" dirty="0" smtClean="0">
                <a:solidFill>
                  <a:schemeClr val="accent2"/>
                </a:solidFill>
              </a:rPr>
              <a:t>condition</a:t>
            </a:r>
            <a:r>
              <a:rPr lang="en-US" sz="2400" dirty="0" smtClean="0"/>
              <a:t> is true, </a:t>
            </a:r>
            <a:r>
              <a:rPr lang="en-US" sz="2400" i="1" dirty="0" smtClean="0">
                <a:solidFill>
                  <a:schemeClr val="accent2"/>
                </a:solidFill>
              </a:rPr>
              <a:t>expression1</a:t>
            </a:r>
            <a:r>
              <a:rPr lang="en-US" sz="2400" dirty="0" smtClean="0"/>
              <a:t> is evaluated;  if it is false, </a:t>
            </a:r>
            <a:r>
              <a:rPr lang="en-US" sz="2400" i="1" dirty="0" smtClean="0">
                <a:solidFill>
                  <a:schemeClr val="accent2"/>
                </a:solidFill>
              </a:rPr>
              <a:t>expression2</a:t>
            </a:r>
            <a:r>
              <a:rPr lang="en-US" sz="2400" dirty="0" smtClean="0"/>
              <a:t> is evaluated</a:t>
            </a:r>
          </a:p>
        </p:txBody>
      </p:sp>
      <p:sp>
        <p:nvSpPr>
          <p:cNvPr id="20484" name="Slide Number Placeholder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fld id="{CF0C2D2E-9858-4761-B8BE-3B28721D8E99}" type="slidenum">
              <a:rPr lang="en-US" smtClean="0">
                <a:latin typeface="Arial" pitchFamily="34" charset="0"/>
              </a:rPr>
              <a:pPr/>
              <a:t>14</a:t>
            </a:fld>
            <a:endParaRPr lang="en-US" smtClean="0">
              <a:latin typeface="Arial" pitchFamily="34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400" b="1" dirty="0">
                <a:cs typeface="Times New Roman" pitchFamily="18" charset="0"/>
              </a:rPr>
              <a:t>The Conditional Operator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066800"/>
            <a:ext cx="8305800" cy="5407025"/>
          </a:xfrm>
        </p:spPr>
        <p:txBody>
          <a:bodyPr lIns="92075" tIns="46038" rIns="92075" bIns="46038"/>
          <a:lstStyle/>
          <a:p>
            <a:pPr eaLnBrk="1" hangingPunct="1">
              <a:spcBef>
                <a:spcPct val="75000"/>
              </a:spcBef>
              <a:buFont typeface="Wingdings" pitchFamily="2" charset="2"/>
              <a:buChar char="ü"/>
            </a:pPr>
            <a:r>
              <a:rPr lang="en-US" sz="2400" dirty="0" smtClean="0">
                <a:latin typeface="Times New Roman" pitchFamily="18" charset="0"/>
              </a:rPr>
              <a:t>The conditional operator is similar to an if-else statement, except that it forms an expression that returns a value</a:t>
            </a:r>
          </a:p>
          <a:p>
            <a:pPr eaLnBrk="1" hangingPunct="1">
              <a:spcBef>
                <a:spcPct val="75000"/>
              </a:spcBef>
              <a:buFont typeface="Wingdings" pitchFamily="2" charset="2"/>
              <a:buChar char="ü"/>
            </a:pPr>
            <a:r>
              <a:rPr lang="en-US" sz="2400" dirty="0" smtClean="0">
                <a:latin typeface="Times New Roman" pitchFamily="18" charset="0"/>
              </a:rPr>
              <a:t>For example:</a:t>
            </a:r>
          </a:p>
          <a:p>
            <a:pPr eaLnBrk="1" hangingPunct="1">
              <a:spcBef>
                <a:spcPct val="75000"/>
              </a:spcBef>
              <a:buFont typeface="Wingdings" pitchFamily="2" charset="2"/>
              <a:buChar char="ü"/>
            </a:pPr>
            <a:r>
              <a:rPr lang="en-US" sz="2400" dirty="0" smtClean="0">
                <a:latin typeface="Times New Roman" pitchFamily="18" charset="0"/>
              </a:rPr>
              <a:t>		larger = ((num1 &gt; num2) ? num1 : num2);</a:t>
            </a:r>
          </a:p>
          <a:p>
            <a:pPr eaLnBrk="1" hangingPunct="1">
              <a:spcBef>
                <a:spcPct val="75000"/>
              </a:spcBef>
              <a:buFont typeface="Wingdings" pitchFamily="2" charset="2"/>
              <a:buChar char="ü"/>
            </a:pPr>
            <a:r>
              <a:rPr lang="en-US" sz="2400" dirty="0" smtClean="0">
                <a:latin typeface="Times New Roman" pitchFamily="18" charset="0"/>
              </a:rPr>
              <a:t>    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if (</a:t>
            </a:r>
            <a:r>
              <a:rPr lang="en-US" sz="2400" smtClean="0">
                <a:latin typeface="Courier New" pitchFamily="49" charset="0"/>
                <a:cs typeface="Courier New" pitchFamily="49" charset="0"/>
              </a:rPr>
              <a:t>num1 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&gt;</a:t>
            </a:r>
            <a:r>
              <a:rPr lang="en-US" sz="240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num2)</a:t>
            </a:r>
          </a:p>
          <a:p>
            <a:pPr lvl="1" eaLnBrk="1" hangingPunct="1">
              <a:spcBef>
                <a:spcPct val="75000"/>
              </a:spcBef>
              <a:buFont typeface="Wingdings" pitchFamily="2" charset="2"/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		larger = num1;</a:t>
            </a:r>
          </a:p>
          <a:p>
            <a:pPr lvl="1" eaLnBrk="1" hangingPunct="1">
              <a:spcBef>
                <a:spcPct val="75000"/>
              </a:spcBef>
              <a:buFont typeface="Wingdings" pitchFamily="2" charset="2"/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else</a:t>
            </a:r>
          </a:p>
          <a:p>
            <a:pPr lvl="1" eaLnBrk="1" hangingPunct="1">
              <a:spcBef>
                <a:spcPct val="75000"/>
              </a:spcBef>
              <a:buFont typeface="Wingdings" pitchFamily="2" charset="2"/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	larger = num2;</a:t>
            </a:r>
          </a:p>
          <a:p>
            <a:pPr eaLnBrk="1" hangingPunct="1">
              <a:spcBef>
                <a:spcPct val="75000"/>
              </a:spcBef>
              <a:buFont typeface="Wingdings" pitchFamily="2" charset="2"/>
              <a:buChar char="ü"/>
            </a:pPr>
            <a:r>
              <a:rPr lang="en-US" sz="2400" dirty="0" smtClean="0">
                <a:latin typeface="Times New Roman" pitchFamily="18" charset="0"/>
              </a:rPr>
              <a:t>The conditional operator is </a:t>
            </a:r>
            <a:r>
              <a:rPr lang="en-US" sz="2400" i="1" dirty="0" smtClean="0">
                <a:latin typeface="Times New Roman" pitchFamily="18" charset="0"/>
              </a:rPr>
              <a:t>ternary</a:t>
            </a:r>
            <a:r>
              <a:rPr lang="en-US" sz="2400" dirty="0" smtClean="0">
                <a:latin typeface="Times New Roman" pitchFamily="18" charset="0"/>
              </a:rPr>
              <a:t> because it requires three operands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400" b="1" dirty="0" smtClean="0">
                <a:cs typeface="Times New Roman" pitchFamily="18" charset="0"/>
              </a:rPr>
              <a:t>Iteration Statements</a:t>
            </a:r>
            <a:endParaRPr lang="en-US" sz="4400" b="1" dirty="0">
              <a:cs typeface="Times New Roman" pitchFamily="18" charset="0"/>
            </a:endParaRPr>
          </a:p>
        </p:txBody>
      </p:sp>
      <p:sp>
        <p:nvSpPr>
          <p:cNvPr id="2253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8229600" cy="3886200"/>
          </a:xfrm>
        </p:spPr>
        <p:txBody>
          <a:bodyPr/>
          <a:lstStyle/>
          <a:p>
            <a:pPr eaLnBrk="1" hangingPunct="1">
              <a:spcBef>
                <a:spcPct val="50000"/>
              </a:spcBef>
              <a:buSzTx/>
              <a:buFont typeface="Wingdings" pitchFamily="2" charset="2"/>
              <a:buChar char="ü"/>
            </a:pPr>
            <a:r>
              <a:rPr lang="en-US" sz="2400" i="1" dirty="0" smtClean="0"/>
              <a:t>Iteration statements</a:t>
            </a:r>
            <a:r>
              <a:rPr lang="en-US" sz="2400" dirty="0" smtClean="0"/>
              <a:t> allow us to execute a statement multiple times until a termination condition is met.</a:t>
            </a:r>
          </a:p>
          <a:p>
            <a:pPr eaLnBrk="1" hangingPunct="1">
              <a:spcBef>
                <a:spcPct val="50000"/>
              </a:spcBef>
              <a:buSzTx/>
              <a:buFont typeface="Wingdings" pitchFamily="2" charset="2"/>
              <a:buChar char="ü"/>
            </a:pPr>
            <a:r>
              <a:rPr lang="en-US" sz="2400" dirty="0" smtClean="0"/>
              <a:t>Often they are referred to as </a:t>
            </a:r>
            <a:r>
              <a:rPr lang="en-US" sz="2400" i="1" dirty="0" smtClean="0"/>
              <a:t>loops</a:t>
            </a:r>
            <a:endParaRPr lang="en-US" sz="2400" dirty="0" smtClean="0"/>
          </a:p>
          <a:p>
            <a:pPr eaLnBrk="1" hangingPunct="1">
              <a:spcBef>
                <a:spcPct val="50000"/>
              </a:spcBef>
              <a:buSzTx/>
              <a:buFont typeface="Wingdings" pitchFamily="2" charset="2"/>
              <a:buChar char="ü"/>
            </a:pPr>
            <a:r>
              <a:rPr lang="en-US" sz="2400" dirty="0" smtClean="0"/>
              <a:t>Java has three kinds of iteration statements:</a:t>
            </a:r>
          </a:p>
          <a:p>
            <a:pPr lvl="1" eaLnBrk="1" hangingPunct="1">
              <a:spcBef>
                <a:spcPct val="50000"/>
              </a:spcBef>
              <a:buSzTx/>
              <a:buFont typeface="Wingdings" pitchFamily="2" charset="2"/>
              <a:buChar char="ü"/>
            </a:pPr>
            <a:r>
              <a:rPr lang="en-US" dirty="0" smtClean="0"/>
              <a:t>the </a:t>
            </a:r>
            <a:r>
              <a:rPr lang="en-US" i="1" dirty="0" smtClean="0"/>
              <a:t>while loop</a:t>
            </a:r>
            <a:endParaRPr lang="en-US" dirty="0" smtClean="0"/>
          </a:p>
          <a:p>
            <a:pPr lvl="1" eaLnBrk="1" hangingPunct="1">
              <a:buSzTx/>
              <a:buFont typeface="Wingdings" pitchFamily="2" charset="2"/>
              <a:buChar char="ü"/>
            </a:pPr>
            <a:r>
              <a:rPr lang="en-US" dirty="0" smtClean="0"/>
              <a:t>the </a:t>
            </a:r>
            <a:r>
              <a:rPr lang="en-US" i="1" dirty="0" smtClean="0"/>
              <a:t>do-while loop</a:t>
            </a:r>
            <a:endParaRPr lang="en-US" dirty="0" smtClean="0"/>
          </a:p>
          <a:p>
            <a:pPr lvl="1" eaLnBrk="1" hangingPunct="1">
              <a:buSzTx/>
              <a:buFont typeface="Wingdings" pitchFamily="2" charset="2"/>
              <a:buChar char="ü"/>
            </a:pPr>
            <a:r>
              <a:rPr lang="en-US" dirty="0" smtClean="0"/>
              <a:t>the </a:t>
            </a:r>
            <a:r>
              <a:rPr lang="en-US" i="1" dirty="0" smtClean="0"/>
              <a:t>for loop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400" b="1" dirty="0">
                <a:cs typeface="Times New Roman" pitchFamily="18" charset="0"/>
              </a:rPr>
              <a:t>The while Statement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914400" y="1600200"/>
            <a:ext cx="7772400" cy="731838"/>
          </a:xfrm>
        </p:spPr>
        <p:txBody>
          <a:bodyPr lIns="92075" tIns="46038" rIns="92075" bIns="46038"/>
          <a:lstStyle/>
          <a:p>
            <a:pPr eaLnBrk="1" hangingPunct="1">
              <a:buFont typeface="Wingdings" pitchFamily="2" charset="2"/>
              <a:buChar char="ü"/>
            </a:pPr>
            <a:r>
              <a:rPr lang="en-US" dirty="0" smtClean="0"/>
              <a:t>The </a:t>
            </a:r>
            <a:r>
              <a:rPr lang="en-US" i="1" dirty="0" smtClean="0"/>
              <a:t>while statement</a:t>
            </a:r>
            <a:r>
              <a:rPr lang="en-US" dirty="0" smtClean="0"/>
              <a:t> has the following syntax:</a:t>
            </a:r>
          </a:p>
          <a:p>
            <a:pPr eaLnBrk="1" hangingPunct="1">
              <a:buFont typeface="Wingdings" pitchFamily="2" charset="2"/>
              <a:buChar char="ü"/>
            </a:pPr>
            <a:endParaRPr lang="en-US" dirty="0" smtClean="0"/>
          </a:p>
        </p:txBody>
      </p:sp>
      <p:sp>
        <p:nvSpPr>
          <p:cNvPr id="23556" name="Slide Number Placeholder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fld id="{B122E23B-0145-4AC7-9338-01AD4A7516F2}" type="slidenum">
              <a:rPr lang="en-US" smtClean="0">
                <a:latin typeface="Arial" pitchFamily="34" charset="0"/>
              </a:rPr>
              <a:pPr/>
              <a:t>17</a:t>
            </a:fld>
            <a:endParaRPr lang="en-US" smtClean="0">
              <a:latin typeface="Arial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921000" y="3124200"/>
            <a:ext cx="1979613" cy="7016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2000" b="1">
                <a:latin typeface="Times New Roman" pitchFamily="18" charset="0"/>
              </a:rPr>
              <a:t>while (</a:t>
            </a:r>
            <a:r>
              <a:rPr lang="en-US" sz="2000" b="1" i="1">
                <a:solidFill>
                  <a:schemeClr val="accent2"/>
                </a:solidFill>
                <a:latin typeface="Times New Roman" pitchFamily="18" charset="0"/>
              </a:rPr>
              <a:t>condition</a:t>
            </a:r>
            <a:r>
              <a:rPr lang="en-US" sz="2000" b="1">
                <a:latin typeface="Times New Roman" pitchFamily="18" charset="0"/>
              </a:rPr>
              <a:t>)</a:t>
            </a:r>
          </a:p>
          <a:p>
            <a:pPr eaLnBrk="0" hangingPunct="0"/>
            <a:r>
              <a:rPr lang="en-US" sz="2000" b="1">
                <a:latin typeface="Times New Roman" pitchFamily="18" charset="0"/>
              </a:rPr>
              <a:t>    </a:t>
            </a:r>
            <a:r>
              <a:rPr lang="en-US" sz="2000" b="1" i="1">
                <a:solidFill>
                  <a:schemeClr val="accent2"/>
                </a:solidFill>
                <a:latin typeface="Times New Roman" pitchFamily="18" charset="0"/>
              </a:rPr>
              <a:t>statement</a:t>
            </a:r>
            <a:r>
              <a:rPr lang="en-US" sz="2000" b="1">
                <a:latin typeface="Times New Roman" pitchFamily="18" charset="0"/>
              </a:rPr>
              <a:t>;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635000" y="3276600"/>
            <a:ext cx="2133600" cy="701675"/>
            <a:chOff x="480" y="1584"/>
            <a:chExt cx="1344" cy="442"/>
          </a:xfrm>
        </p:grpSpPr>
        <p:sp>
          <p:nvSpPr>
            <p:cNvPr id="23563" name="Text Box 6"/>
            <p:cNvSpPr txBox="1">
              <a:spLocks noChangeArrowheads="1"/>
            </p:cNvSpPr>
            <p:nvPr/>
          </p:nvSpPr>
          <p:spPr bwMode="auto">
            <a:xfrm>
              <a:off x="480" y="1584"/>
              <a:ext cx="1098" cy="44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sz="2000" b="1">
                  <a:latin typeface="Times New Roman" pitchFamily="18" charset="0"/>
                </a:rPr>
                <a:t>while</a:t>
              </a:r>
              <a:r>
                <a:rPr lang="en-US" sz="2000" b="1">
                  <a:solidFill>
                    <a:schemeClr val="hlink"/>
                  </a:solidFill>
                  <a:latin typeface="Times New Roman" pitchFamily="18" charset="0"/>
                </a:rPr>
                <a:t> is a</a:t>
              </a:r>
            </a:p>
            <a:p>
              <a:pPr algn="ctr" eaLnBrk="0" hangingPunct="0"/>
              <a:r>
                <a:rPr lang="en-US" sz="2000" b="1">
                  <a:solidFill>
                    <a:schemeClr val="hlink"/>
                  </a:solidFill>
                  <a:latin typeface="Times New Roman" pitchFamily="18" charset="0"/>
                </a:rPr>
                <a:t>reserved word</a:t>
              </a:r>
              <a:endParaRPr lang="en-US" sz="2000">
                <a:solidFill>
                  <a:schemeClr val="hlink"/>
                </a:solidFill>
                <a:latin typeface="Times New Roman" pitchFamily="18" charset="0"/>
              </a:endParaRPr>
            </a:p>
          </p:txBody>
        </p:sp>
        <p:sp>
          <p:nvSpPr>
            <p:cNvPr id="23564" name="Line 7"/>
            <p:cNvSpPr>
              <a:spLocks noChangeShapeType="1"/>
            </p:cNvSpPr>
            <p:nvPr/>
          </p:nvSpPr>
          <p:spPr bwMode="auto">
            <a:xfrm flipV="1">
              <a:off x="1536" y="1632"/>
              <a:ext cx="288" cy="96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 type="none" w="sm" len="sm"/>
              <a:tailEnd type="triangle" w="lg" len="med"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2779713" y="3810000"/>
            <a:ext cx="5394325" cy="1387475"/>
            <a:chOff x="1947" y="1920"/>
            <a:chExt cx="3398" cy="874"/>
          </a:xfrm>
        </p:grpSpPr>
        <p:sp>
          <p:nvSpPr>
            <p:cNvPr id="23561" name="Text Box 9"/>
            <p:cNvSpPr txBox="1">
              <a:spLocks noChangeArrowheads="1"/>
            </p:cNvSpPr>
            <p:nvPr/>
          </p:nvSpPr>
          <p:spPr bwMode="auto">
            <a:xfrm>
              <a:off x="1947" y="2352"/>
              <a:ext cx="3398" cy="44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sz="2000" b="1" dirty="0">
                  <a:solidFill>
                    <a:schemeClr val="hlink"/>
                  </a:solidFill>
                  <a:latin typeface="Times New Roman" pitchFamily="18" charset="0"/>
                </a:rPr>
                <a:t>If the </a:t>
              </a:r>
              <a:r>
                <a:rPr lang="en-US" sz="2000" b="1" i="1" dirty="0">
                  <a:solidFill>
                    <a:schemeClr val="accent2"/>
                  </a:solidFill>
                  <a:latin typeface="Times New Roman" pitchFamily="18" charset="0"/>
                </a:rPr>
                <a:t>condition</a:t>
              </a:r>
              <a:r>
                <a:rPr lang="en-US" sz="2000" b="1" dirty="0">
                  <a:solidFill>
                    <a:schemeClr val="hlink"/>
                  </a:solidFill>
                  <a:latin typeface="Times New Roman" pitchFamily="18" charset="0"/>
                </a:rPr>
                <a:t> is true, the </a:t>
              </a:r>
              <a:r>
                <a:rPr lang="en-US" sz="2000" b="1" i="1" dirty="0">
                  <a:solidFill>
                    <a:schemeClr val="accent2"/>
                  </a:solidFill>
                  <a:latin typeface="Times New Roman" pitchFamily="18" charset="0"/>
                </a:rPr>
                <a:t>statement</a:t>
              </a:r>
              <a:r>
                <a:rPr lang="en-US" sz="2000" b="1" dirty="0">
                  <a:solidFill>
                    <a:schemeClr val="hlink"/>
                  </a:solidFill>
                  <a:latin typeface="Times New Roman" pitchFamily="18" charset="0"/>
                </a:rPr>
                <a:t> is executed.</a:t>
              </a:r>
            </a:p>
            <a:p>
              <a:pPr algn="ctr" eaLnBrk="0" hangingPunct="0"/>
              <a:r>
                <a:rPr lang="en-US" sz="2000" b="1" dirty="0">
                  <a:solidFill>
                    <a:schemeClr val="hlink"/>
                  </a:solidFill>
                  <a:latin typeface="Times New Roman" pitchFamily="18" charset="0"/>
                </a:rPr>
                <a:t>Then the </a:t>
              </a:r>
              <a:r>
                <a:rPr lang="en-US" sz="2000" b="1" i="1" dirty="0">
                  <a:solidFill>
                    <a:schemeClr val="accent2"/>
                  </a:solidFill>
                  <a:latin typeface="Times New Roman" pitchFamily="18" charset="0"/>
                </a:rPr>
                <a:t>condition</a:t>
              </a:r>
              <a:r>
                <a:rPr lang="en-US" sz="2000" b="1" dirty="0">
                  <a:solidFill>
                    <a:schemeClr val="hlink"/>
                  </a:solidFill>
                  <a:latin typeface="Times New Roman" pitchFamily="18" charset="0"/>
                </a:rPr>
                <a:t> is evaluated again.</a:t>
              </a:r>
              <a:endParaRPr lang="en-US" sz="2000" dirty="0">
                <a:solidFill>
                  <a:schemeClr val="hlink"/>
                </a:solidFill>
                <a:latin typeface="Times New Roman" pitchFamily="18" charset="0"/>
              </a:endParaRPr>
            </a:p>
          </p:txBody>
        </p:sp>
        <p:sp>
          <p:nvSpPr>
            <p:cNvPr id="23562" name="Line 10"/>
            <p:cNvSpPr>
              <a:spLocks noChangeShapeType="1"/>
            </p:cNvSpPr>
            <p:nvPr/>
          </p:nvSpPr>
          <p:spPr bwMode="auto">
            <a:xfrm flipH="1" flipV="1">
              <a:off x="3408" y="1920"/>
              <a:ext cx="192" cy="384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 type="none" w="sm" len="sm"/>
              <a:tailEnd type="triangle" w="lg" len="med"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3560" name="Text Box 11"/>
          <p:cNvSpPr txBox="1">
            <a:spLocks noChangeArrowheads="1"/>
          </p:cNvSpPr>
          <p:nvPr/>
        </p:nvSpPr>
        <p:spPr bwMode="auto">
          <a:xfrm>
            <a:off x="2047875" y="5715000"/>
            <a:ext cx="4684713" cy="7016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2000" b="1">
                <a:solidFill>
                  <a:schemeClr val="hlink"/>
                </a:solidFill>
                <a:latin typeface="Times New Roman" pitchFamily="18" charset="0"/>
              </a:rPr>
              <a:t>The </a:t>
            </a:r>
            <a:r>
              <a:rPr lang="en-US" sz="2000" b="1" i="1">
                <a:solidFill>
                  <a:schemeClr val="accent2"/>
                </a:solidFill>
                <a:latin typeface="Times New Roman" pitchFamily="18" charset="0"/>
              </a:rPr>
              <a:t>statement</a:t>
            </a:r>
            <a:r>
              <a:rPr lang="en-US" sz="2000" b="1">
                <a:solidFill>
                  <a:schemeClr val="hlink"/>
                </a:solidFill>
                <a:latin typeface="Times New Roman" pitchFamily="18" charset="0"/>
              </a:rPr>
              <a:t> is executed repeatedly until</a:t>
            </a:r>
          </a:p>
          <a:p>
            <a:pPr algn="ctr" eaLnBrk="0" hangingPunct="0"/>
            <a:r>
              <a:rPr lang="en-US" sz="2000" b="1">
                <a:solidFill>
                  <a:schemeClr val="hlink"/>
                </a:solidFill>
                <a:latin typeface="Times New Roman" pitchFamily="18" charset="0"/>
              </a:rPr>
              <a:t>the </a:t>
            </a:r>
            <a:r>
              <a:rPr lang="en-US" sz="2000" b="1" i="1">
                <a:solidFill>
                  <a:schemeClr val="accent2"/>
                </a:solidFill>
                <a:latin typeface="Times New Roman" pitchFamily="18" charset="0"/>
              </a:rPr>
              <a:t>condition</a:t>
            </a:r>
            <a:r>
              <a:rPr lang="en-US" sz="2000" b="1">
                <a:solidFill>
                  <a:schemeClr val="hlink"/>
                </a:solidFill>
                <a:latin typeface="Times New Roman" pitchFamily="18" charset="0"/>
              </a:rPr>
              <a:t> becomes false.</a:t>
            </a:r>
            <a:endParaRPr lang="en-US" sz="2000">
              <a:solidFill>
                <a:schemeClr val="hlink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400" b="1" dirty="0">
                <a:cs typeface="Times New Roman" pitchFamily="18" charset="0"/>
              </a:rPr>
              <a:t>Logic of a while Loop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3352800" y="3124200"/>
            <a:ext cx="1600200" cy="1295400"/>
            <a:chOff x="2112" y="1968"/>
            <a:chExt cx="1008" cy="816"/>
          </a:xfrm>
        </p:grpSpPr>
        <p:grpSp>
          <p:nvGrpSpPr>
            <p:cNvPr id="3" name="Group 4"/>
            <p:cNvGrpSpPr>
              <a:grpSpLocks/>
            </p:cNvGrpSpPr>
            <p:nvPr/>
          </p:nvGrpSpPr>
          <p:grpSpPr bwMode="auto">
            <a:xfrm>
              <a:off x="2112" y="2544"/>
              <a:ext cx="1008" cy="240"/>
              <a:chOff x="2112" y="2496"/>
              <a:chExt cx="1008" cy="240"/>
            </a:xfrm>
          </p:grpSpPr>
          <p:sp>
            <p:nvSpPr>
              <p:cNvPr id="24593" name="Rectangle 5"/>
              <p:cNvSpPr>
                <a:spLocks noChangeArrowheads="1"/>
              </p:cNvSpPr>
              <p:nvPr/>
            </p:nvSpPr>
            <p:spPr bwMode="auto">
              <a:xfrm>
                <a:off x="2112" y="2496"/>
                <a:ext cx="1008" cy="240"/>
              </a:xfrm>
              <a:prstGeom prst="rect">
                <a:avLst/>
              </a:prstGeom>
              <a:solidFill>
                <a:srgbClr val="FFCC99"/>
              </a:solidFill>
              <a:ln w="12700">
                <a:solidFill>
                  <a:schemeClr val="bg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594" name="Text Box 6"/>
              <p:cNvSpPr txBox="1">
                <a:spLocks noChangeArrowheads="1"/>
              </p:cNvSpPr>
              <p:nvPr/>
            </p:nvSpPr>
            <p:spPr bwMode="auto">
              <a:xfrm>
                <a:off x="2258" y="2496"/>
                <a:ext cx="716" cy="231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 anchor="ctr">
                <a:spAutoFit/>
              </a:bodyPr>
              <a:lstStyle/>
              <a:p>
                <a:pPr algn="ctr" eaLnBrk="0" hangingPunct="0"/>
                <a:r>
                  <a:rPr lang="en-US" b="1">
                    <a:solidFill>
                      <a:schemeClr val="bg2"/>
                    </a:solidFill>
                    <a:latin typeface="Times New Roman" pitchFamily="18" charset="0"/>
                  </a:rPr>
                  <a:t>statement</a:t>
                </a:r>
                <a:endParaRPr lang="en-US" sz="2400">
                  <a:latin typeface="Times New Roman" pitchFamily="18" charset="0"/>
                </a:endParaRPr>
              </a:p>
            </p:txBody>
          </p:sp>
        </p:grpSp>
        <p:cxnSp>
          <p:nvCxnSpPr>
            <p:cNvPr id="24591" name="AutoShape 7"/>
            <p:cNvCxnSpPr>
              <a:cxnSpLocks noChangeShapeType="1"/>
              <a:stCxn id="24588" idx="2"/>
              <a:endCxn id="24593" idx="0"/>
            </p:cNvCxnSpPr>
            <p:nvPr/>
          </p:nvCxnSpPr>
          <p:spPr bwMode="auto">
            <a:xfrm>
              <a:off x="2616" y="1968"/>
              <a:ext cx="0" cy="576"/>
            </a:xfrm>
            <a:prstGeom prst="straightConnector1">
              <a:avLst/>
            </a:prstGeom>
            <a:noFill/>
            <a:ln w="31750">
              <a:solidFill>
                <a:srgbClr val="FF0000"/>
              </a:solidFill>
              <a:round/>
              <a:headEnd type="none" w="sm" len="sm"/>
              <a:tailEnd type="triangle" w="lg" len="med"/>
            </a:ln>
          </p:spPr>
        </p:cxnSp>
        <p:sp>
          <p:nvSpPr>
            <p:cNvPr id="24592" name="Text Box 8"/>
            <p:cNvSpPr txBox="1">
              <a:spLocks noChangeArrowheads="1"/>
            </p:cNvSpPr>
            <p:nvPr/>
          </p:nvSpPr>
          <p:spPr bwMode="auto">
            <a:xfrm>
              <a:off x="2652" y="2112"/>
              <a:ext cx="372" cy="231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b="1">
                  <a:solidFill>
                    <a:schemeClr val="hlink"/>
                  </a:solidFill>
                  <a:latin typeface="Times New Roman" pitchFamily="18" charset="0"/>
                </a:rPr>
                <a:t>true</a:t>
              </a:r>
              <a:endParaRPr lang="en-US" sz="2400">
                <a:solidFill>
                  <a:schemeClr val="hlink"/>
                </a:solidFill>
                <a:latin typeface="Times New Roman" pitchFamily="18" charset="0"/>
              </a:endParaRPr>
            </a:p>
          </p:txBody>
        </p:sp>
      </p:grpSp>
      <p:cxnSp>
        <p:nvCxnSpPr>
          <p:cNvPr id="24580" name="AutoShape 9"/>
          <p:cNvCxnSpPr>
            <a:cxnSpLocks noChangeShapeType="1"/>
            <a:stCxn id="24593" idx="1"/>
            <a:endCxn id="24588" idx="1"/>
          </p:cNvCxnSpPr>
          <p:nvPr/>
        </p:nvCxnSpPr>
        <p:spPr bwMode="auto">
          <a:xfrm rot="10800000">
            <a:off x="3200400" y="2667000"/>
            <a:ext cx="152400" cy="1562100"/>
          </a:xfrm>
          <a:prstGeom prst="bentConnector3">
            <a:avLst>
              <a:gd name="adj1" fmla="val 250000"/>
            </a:avLst>
          </a:prstGeom>
          <a:noFill/>
          <a:ln w="31750">
            <a:solidFill>
              <a:srgbClr val="FF0000"/>
            </a:solidFill>
            <a:miter lim="800000"/>
            <a:headEnd type="none" w="sm" len="sm"/>
            <a:tailEnd type="triangle" w="lg" len="med"/>
          </a:ln>
        </p:spPr>
      </p:cxnSp>
      <p:grpSp>
        <p:nvGrpSpPr>
          <p:cNvPr id="4" name="Group 10"/>
          <p:cNvGrpSpPr>
            <a:grpSpLocks/>
          </p:cNvGrpSpPr>
          <p:nvPr/>
        </p:nvGrpSpPr>
        <p:grpSpPr bwMode="auto">
          <a:xfrm>
            <a:off x="3200400" y="1524000"/>
            <a:ext cx="1905000" cy="1600200"/>
            <a:chOff x="2016" y="960"/>
            <a:chExt cx="1200" cy="1008"/>
          </a:xfrm>
        </p:grpSpPr>
        <p:grpSp>
          <p:nvGrpSpPr>
            <p:cNvPr id="5" name="Group 11"/>
            <p:cNvGrpSpPr>
              <a:grpSpLocks/>
            </p:cNvGrpSpPr>
            <p:nvPr/>
          </p:nvGrpSpPr>
          <p:grpSpPr bwMode="auto">
            <a:xfrm>
              <a:off x="2016" y="1392"/>
              <a:ext cx="1200" cy="576"/>
              <a:chOff x="2016" y="1584"/>
              <a:chExt cx="1200" cy="576"/>
            </a:xfrm>
          </p:grpSpPr>
          <p:sp>
            <p:nvSpPr>
              <p:cNvPr id="24588" name="AutoShape 12"/>
              <p:cNvSpPr>
                <a:spLocks noChangeArrowheads="1"/>
              </p:cNvSpPr>
              <p:nvPr/>
            </p:nvSpPr>
            <p:spPr bwMode="auto">
              <a:xfrm>
                <a:off x="2016" y="1584"/>
                <a:ext cx="1200" cy="576"/>
              </a:xfrm>
              <a:prstGeom prst="diamond">
                <a:avLst/>
              </a:prstGeom>
              <a:solidFill>
                <a:srgbClr val="FFCC99"/>
              </a:solidFill>
              <a:ln w="12700">
                <a:solidFill>
                  <a:schemeClr val="bg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589" name="Text Box 13"/>
              <p:cNvSpPr txBox="1">
                <a:spLocks noChangeArrowheads="1"/>
              </p:cNvSpPr>
              <p:nvPr/>
            </p:nvSpPr>
            <p:spPr bwMode="auto">
              <a:xfrm>
                <a:off x="2262" y="1660"/>
                <a:ext cx="708" cy="404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 anchor="ctr">
                <a:spAutoFit/>
              </a:bodyPr>
              <a:lstStyle/>
              <a:p>
                <a:pPr algn="ctr" eaLnBrk="0" hangingPunct="0"/>
                <a:r>
                  <a:rPr lang="en-US" b="1">
                    <a:solidFill>
                      <a:schemeClr val="bg2"/>
                    </a:solidFill>
                    <a:latin typeface="Times New Roman" pitchFamily="18" charset="0"/>
                  </a:rPr>
                  <a:t>condition</a:t>
                </a:r>
              </a:p>
              <a:p>
                <a:pPr algn="ctr" eaLnBrk="0" hangingPunct="0"/>
                <a:r>
                  <a:rPr lang="en-US" b="1">
                    <a:solidFill>
                      <a:schemeClr val="bg2"/>
                    </a:solidFill>
                    <a:latin typeface="Times New Roman" pitchFamily="18" charset="0"/>
                  </a:rPr>
                  <a:t>evaluated</a:t>
                </a:r>
                <a:endParaRPr lang="en-US" sz="2400">
                  <a:latin typeface="Times New Roman" pitchFamily="18" charset="0"/>
                </a:endParaRPr>
              </a:p>
            </p:txBody>
          </p:sp>
        </p:grpSp>
        <p:cxnSp>
          <p:nvCxnSpPr>
            <p:cNvPr id="24587" name="AutoShape 14"/>
            <p:cNvCxnSpPr>
              <a:cxnSpLocks noChangeShapeType="1"/>
              <a:endCxn id="24588" idx="0"/>
            </p:cNvCxnSpPr>
            <p:nvPr/>
          </p:nvCxnSpPr>
          <p:spPr bwMode="auto">
            <a:xfrm>
              <a:off x="2616" y="960"/>
              <a:ext cx="0" cy="432"/>
            </a:xfrm>
            <a:prstGeom prst="straightConnector1">
              <a:avLst/>
            </a:prstGeom>
            <a:noFill/>
            <a:ln w="31750">
              <a:solidFill>
                <a:srgbClr val="FF0000"/>
              </a:solidFill>
              <a:round/>
              <a:headEnd type="none" w="sm" len="sm"/>
              <a:tailEnd type="triangle" w="lg" len="med"/>
            </a:ln>
          </p:spPr>
        </p:cxnSp>
      </p:grpSp>
      <p:grpSp>
        <p:nvGrpSpPr>
          <p:cNvPr id="6" name="Group 15"/>
          <p:cNvGrpSpPr>
            <a:grpSpLocks/>
          </p:cNvGrpSpPr>
          <p:nvPr/>
        </p:nvGrpSpPr>
        <p:grpSpPr bwMode="auto">
          <a:xfrm>
            <a:off x="4092575" y="2667000"/>
            <a:ext cx="1927225" cy="2514600"/>
            <a:chOff x="2578" y="1680"/>
            <a:chExt cx="1214" cy="1584"/>
          </a:xfrm>
        </p:grpSpPr>
        <p:cxnSp>
          <p:nvCxnSpPr>
            <p:cNvPr id="24584" name="AutoShape 16"/>
            <p:cNvCxnSpPr>
              <a:cxnSpLocks noChangeShapeType="1"/>
              <a:stCxn id="24588" idx="3"/>
            </p:cNvCxnSpPr>
            <p:nvPr/>
          </p:nvCxnSpPr>
          <p:spPr bwMode="auto">
            <a:xfrm flipH="1">
              <a:off x="2578" y="1680"/>
              <a:ext cx="638" cy="1584"/>
            </a:xfrm>
            <a:prstGeom prst="bentConnector4">
              <a:avLst>
                <a:gd name="adj1" fmla="val -22569"/>
                <a:gd name="adj2" fmla="val 83458"/>
              </a:avLst>
            </a:prstGeom>
            <a:noFill/>
            <a:ln w="31750">
              <a:solidFill>
                <a:srgbClr val="FF0000"/>
              </a:solidFill>
              <a:miter lim="800000"/>
              <a:headEnd type="none" w="sm" len="sm"/>
              <a:tailEnd type="triangle" w="lg" len="med"/>
            </a:ln>
          </p:spPr>
        </p:cxnSp>
        <p:sp>
          <p:nvSpPr>
            <p:cNvPr id="24585" name="Text Box 17"/>
            <p:cNvSpPr txBox="1">
              <a:spLocks noChangeArrowheads="1"/>
            </p:cNvSpPr>
            <p:nvPr/>
          </p:nvSpPr>
          <p:spPr bwMode="auto">
            <a:xfrm>
              <a:off x="3396" y="2112"/>
              <a:ext cx="396" cy="231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b="1">
                  <a:solidFill>
                    <a:schemeClr val="hlink"/>
                  </a:solidFill>
                  <a:latin typeface="Times New Roman" pitchFamily="18" charset="0"/>
                </a:rPr>
                <a:t>false</a:t>
              </a:r>
              <a:endParaRPr lang="en-US" sz="2400">
                <a:solidFill>
                  <a:schemeClr val="hlink"/>
                </a:solidFill>
                <a:latin typeface="Times New Roman" pitchFamily="18" charset="0"/>
              </a:endParaRPr>
            </a:p>
          </p:txBody>
        </p:sp>
      </p:grpSp>
      <p:sp>
        <p:nvSpPr>
          <p:cNvPr id="24583" name="Rectangle 18"/>
          <p:cNvSpPr>
            <a:spLocks noChangeArrowheads="1"/>
          </p:cNvSpPr>
          <p:nvPr/>
        </p:nvSpPr>
        <p:spPr bwMode="auto">
          <a:xfrm>
            <a:off x="762000" y="5562600"/>
            <a:ext cx="77724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 eaLnBrk="0" hangingPunct="0"/>
            <a:r>
              <a:rPr lang="en-US" sz="2400" dirty="0">
                <a:latin typeface="+mn-lt"/>
              </a:rPr>
              <a:t>Note that if the condition of a while statement is false initially, the statement is never executed. Therefore, the body of a while loop will execute zero or more times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400" b="1" dirty="0">
                <a:cs typeface="Times New Roman" pitchFamily="18" charset="0"/>
              </a:rPr>
              <a:t>while Loop Example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914400" y="1600200"/>
            <a:ext cx="7772400" cy="48006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smtClean="0">
                <a:latin typeface="Courier New" pitchFamily="49" charset="0"/>
              </a:rPr>
              <a:t>int LIMIT = 5;</a:t>
            </a:r>
          </a:p>
          <a:p>
            <a:pPr eaLnBrk="1" hangingPunct="1">
              <a:lnSpc>
                <a:spcPct val="50000"/>
              </a:lnSpc>
              <a:buFont typeface="Wingdings" pitchFamily="2" charset="2"/>
              <a:buNone/>
            </a:pPr>
            <a:r>
              <a:rPr lang="en-US" smtClean="0">
                <a:latin typeface="Courier New" pitchFamily="49" charset="0"/>
              </a:rPr>
              <a:t>int count = 1;</a:t>
            </a:r>
          </a:p>
          <a:p>
            <a:pPr eaLnBrk="1" hangingPunct="1">
              <a:buFont typeface="Wingdings" pitchFamily="2" charset="2"/>
              <a:buNone/>
            </a:pPr>
            <a:endParaRPr lang="en-US" smtClean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smtClean="0">
                <a:latin typeface="Courier New" pitchFamily="49" charset="0"/>
              </a:rPr>
              <a:t>while (count &lt;= LIMIT) {</a:t>
            </a:r>
          </a:p>
          <a:p>
            <a:pPr eaLnBrk="1" hangingPunct="1">
              <a:buFont typeface="Wingdings" pitchFamily="2" charset="2"/>
              <a:buNone/>
            </a:pPr>
            <a:endParaRPr lang="en-US" smtClean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smtClean="0">
                <a:latin typeface="Courier New" pitchFamily="49" charset="0"/>
              </a:rPr>
              <a:t>    System.out.println(count);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mtClean="0">
                <a:latin typeface="Courier New" pitchFamily="49" charset="0"/>
              </a:rPr>
              <a:t>    count += 1;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mtClean="0">
                <a:latin typeface="Courier New" pitchFamily="49" charset="0"/>
              </a:rPr>
              <a:t>}</a:t>
            </a:r>
          </a:p>
          <a:p>
            <a:pPr eaLnBrk="1" hangingPunct="1">
              <a:buFont typeface="Wingdings" pitchFamily="2" charset="2"/>
              <a:buNone/>
            </a:pPr>
            <a:endParaRPr lang="en-US" smtClean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smtClean="0">
                <a:latin typeface="Courier New" pitchFamily="49" charset="0"/>
              </a:rPr>
              <a:t>--</a:t>
            </a:r>
            <a:r>
              <a:rPr lang="en-US" b="1" smtClean="0">
                <a:latin typeface="Courier New" pitchFamily="49" charset="0"/>
              </a:rPr>
              <a:t>Null statements are valid in java.</a:t>
            </a:r>
          </a:p>
          <a:p>
            <a:pPr eaLnBrk="1" hangingPunct="1">
              <a:buFont typeface="Wingdings" pitchFamily="2" charset="2"/>
              <a:buNone/>
            </a:pPr>
            <a:endParaRPr lang="en-US" smtClean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endParaRPr lang="en-US" smtClean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endParaRPr lang="en-US" smtClean="0">
              <a:latin typeface="Courier New" pitchFamily="49" charset="0"/>
            </a:endParaRPr>
          </a:p>
        </p:txBody>
      </p:sp>
      <p:sp>
        <p:nvSpPr>
          <p:cNvPr id="25604" name="Text Box 4"/>
          <p:cNvSpPr txBox="1">
            <a:spLocks noChangeArrowheads="1"/>
          </p:cNvSpPr>
          <p:nvPr/>
        </p:nvSpPr>
        <p:spPr bwMode="auto">
          <a:xfrm>
            <a:off x="7281863" y="2436813"/>
            <a:ext cx="1211262" cy="2676525"/>
          </a:xfrm>
          <a:prstGeom prst="rect">
            <a:avLst/>
          </a:prstGeom>
          <a:solidFill>
            <a:srgbClr val="F8F8F8"/>
          </a:solidFill>
          <a:ln w="28575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wrap="none" anchorCtr="1">
            <a:spAutoFit/>
          </a:bodyPr>
          <a:lstStyle/>
          <a:p>
            <a:pPr algn="ctr" eaLnBrk="0" hangingPunct="0"/>
            <a:r>
              <a:rPr lang="en-US" sz="2400">
                <a:solidFill>
                  <a:schemeClr val="hlink"/>
                </a:solidFill>
              </a:rPr>
              <a:t>Output:</a:t>
            </a:r>
          </a:p>
          <a:p>
            <a:pPr algn="ctr" eaLnBrk="0" hangingPunct="0"/>
            <a:endParaRPr lang="en-US" sz="2400">
              <a:solidFill>
                <a:schemeClr val="hlink"/>
              </a:solidFill>
            </a:endParaRPr>
          </a:p>
          <a:p>
            <a:pPr algn="ctr" eaLnBrk="0" hangingPunct="0"/>
            <a:r>
              <a:rPr lang="en-US" sz="2400"/>
              <a:t>1</a:t>
            </a:r>
          </a:p>
          <a:p>
            <a:pPr algn="ctr" eaLnBrk="0" hangingPunct="0"/>
            <a:r>
              <a:rPr lang="en-US" sz="2400"/>
              <a:t>2</a:t>
            </a:r>
          </a:p>
          <a:p>
            <a:pPr algn="ctr" eaLnBrk="0" hangingPunct="0"/>
            <a:r>
              <a:rPr lang="en-US" sz="2400"/>
              <a:t>3</a:t>
            </a:r>
          </a:p>
          <a:p>
            <a:pPr algn="ctr" eaLnBrk="0" hangingPunct="0"/>
            <a:r>
              <a:rPr lang="en-US" sz="2400"/>
              <a:t>4</a:t>
            </a:r>
          </a:p>
          <a:p>
            <a:pPr algn="ctr" eaLnBrk="0" hangingPunct="0"/>
            <a:r>
              <a:rPr lang="en-US" sz="2400"/>
              <a:t>5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b="1" dirty="0"/>
              <a:t>Nested Loops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066800"/>
            <a:ext cx="8229600" cy="5407025"/>
          </a:xfrm>
        </p:spPr>
        <p:txBody>
          <a:bodyPr/>
          <a:lstStyle/>
          <a:p>
            <a:pPr algn="just" eaLnBrk="1" hangingPunct="1">
              <a:spcBef>
                <a:spcPct val="75000"/>
              </a:spcBef>
              <a:buFont typeface="Wingdings" pitchFamily="2" charset="2"/>
              <a:buChar char="ü"/>
            </a:pPr>
            <a:r>
              <a:rPr lang="en-US" dirty="0" smtClean="0"/>
              <a:t>Similar to nested if statements, loops can be nested as well</a:t>
            </a:r>
          </a:p>
          <a:p>
            <a:pPr algn="just" eaLnBrk="1" hangingPunct="1">
              <a:spcBef>
                <a:spcPct val="75000"/>
              </a:spcBef>
              <a:buFont typeface="Wingdings" pitchFamily="2" charset="2"/>
              <a:buChar char="ü"/>
            </a:pPr>
            <a:r>
              <a:rPr lang="en-US" dirty="0" smtClean="0"/>
              <a:t>That is, the body of a loop can contain another loop</a:t>
            </a:r>
          </a:p>
          <a:p>
            <a:pPr algn="just" eaLnBrk="1" hangingPunct="1">
              <a:spcBef>
                <a:spcPct val="75000"/>
              </a:spcBef>
              <a:buFont typeface="Wingdings" pitchFamily="2" charset="2"/>
              <a:buChar char="ü"/>
            </a:pPr>
            <a:r>
              <a:rPr lang="en-US" dirty="0" smtClean="0"/>
              <a:t>Each time through the outer loop, the inner loop goes through its full set of iterations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400" b="1" dirty="0">
                <a:cs typeface="Times New Roman" pitchFamily="18" charset="0"/>
              </a:rPr>
              <a:t>The </a:t>
            </a:r>
            <a:r>
              <a:rPr lang="en-US" sz="4400" b="1" dirty="0" smtClean="0">
                <a:cs typeface="Times New Roman" pitchFamily="18" charset="0"/>
              </a:rPr>
              <a:t>do-while </a:t>
            </a:r>
            <a:r>
              <a:rPr lang="en-US" sz="4400" b="1" dirty="0">
                <a:cs typeface="Times New Roman" pitchFamily="18" charset="0"/>
              </a:rPr>
              <a:t>Statement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914400" y="1600200"/>
            <a:ext cx="7772400" cy="588963"/>
          </a:xfrm>
        </p:spPr>
        <p:txBody>
          <a:bodyPr/>
          <a:lstStyle/>
          <a:p>
            <a:pPr eaLnBrk="1" hangingPunct="1">
              <a:buFont typeface="Wingdings" pitchFamily="2" charset="2"/>
              <a:buChar char="ü"/>
            </a:pPr>
            <a:r>
              <a:rPr lang="en-US" smtClean="0">
                <a:latin typeface="Times New Roman" pitchFamily="18" charset="0"/>
              </a:rPr>
              <a:t>The </a:t>
            </a:r>
            <a:r>
              <a:rPr lang="en-US" i="1" smtClean="0">
                <a:latin typeface="Times New Roman" pitchFamily="18" charset="0"/>
              </a:rPr>
              <a:t>do-while statement</a:t>
            </a:r>
            <a:r>
              <a:rPr lang="en-US" smtClean="0">
                <a:latin typeface="Times New Roman" pitchFamily="18" charset="0"/>
              </a:rPr>
              <a:t> has the following syntax:</a:t>
            </a:r>
          </a:p>
        </p:txBody>
      </p:sp>
      <p:sp>
        <p:nvSpPr>
          <p:cNvPr id="27652" name="Text Box 4"/>
          <p:cNvSpPr txBox="1">
            <a:spLocks noChangeArrowheads="1"/>
          </p:cNvSpPr>
          <p:nvPr/>
        </p:nvSpPr>
        <p:spPr bwMode="auto">
          <a:xfrm>
            <a:off x="3124200" y="2895600"/>
            <a:ext cx="2227263" cy="10064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2000" b="1">
                <a:latin typeface="Times New Roman" pitchFamily="18" charset="0"/>
              </a:rPr>
              <a:t>do{</a:t>
            </a:r>
          </a:p>
          <a:p>
            <a:pPr eaLnBrk="0" hangingPunct="0"/>
            <a:r>
              <a:rPr lang="en-US" sz="2000" b="1">
                <a:latin typeface="Times New Roman" pitchFamily="18" charset="0"/>
              </a:rPr>
              <a:t>    </a:t>
            </a:r>
            <a:r>
              <a:rPr lang="en-US" sz="2000" b="1" i="1">
                <a:solidFill>
                  <a:schemeClr val="accent2"/>
                </a:solidFill>
                <a:latin typeface="Times New Roman" pitchFamily="18" charset="0"/>
              </a:rPr>
              <a:t>statement</a:t>
            </a:r>
            <a:r>
              <a:rPr lang="en-US" sz="2000" b="1">
                <a:latin typeface="Times New Roman" pitchFamily="18" charset="0"/>
              </a:rPr>
              <a:t>;</a:t>
            </a:r>
          </a:p>
          <a:p>
            <a:pPr eaLnBrk="0" hangingPunct="0"/>
            <a:r>
              <a:rPr lang="en-US" sz="2000" b="1">
                <a:latin typeface="Times New Roman" pitchFamily="18" charset="0"/>
              </a:rPr>
              <a:t>} while (</a:t>
            </a:r>
            <a:r>
              <a:rPr lang="en-US" sz="2000" b="1" i="1">
                <a:solidFill>
                  <a:schemeClr val="accent2"/>
                </a:solidFill>
                <a:latin typeface="Times New Roman" pitchFamily="18" charset="0"/>
              </a:rPr>
              <a:t>condition</a:t>
            </a:r>
            <a:r>
              <a:rPr lang="en-US" sz="2000" b="1">
                <a:latin typeface="Times New Roman" pitchFamily="18" charset="0"/>
              </a:rPr>
              <a:t>);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855663" y="2819400"/>
            <a:ext cx="2039937" cy="1311275"/>
            <a:chOff x="539" y="1440"/>
            <a:chExt cx="1285" cy="826"/>
          </a:xfrm>
        </p:grpSpPr>
        <p:sp>
          <p:nvSpPr>
            <p:cNvPr id="27656" name="Text Box 6"/>
            <p:cNvSpPr txBox="1">
              <a:spLocks noChangeArrowheads="1"/>
            </p:cNvSpPr>
            <p:nvPr/>
          </p:nvSpPr>
          <p:spPr bwMode="auto">
            <a:xfrm>
              <a:off x="539" y="1440"/>
              <a:ext cx="742" cy="826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sz="2000" b="1">
                  <a:latin typeface="Times New Roman" pitchFamily="18" charset="0"/>
                </a:rPr>
                <a:t>do</a:t>
              </a:r>
              <a:r>
                <a:rPr lang="en-US" sz="2000" b="1">
                  <a:solidFill>
                    <a:schemeClr val="hlink"/>
                  </a:solidFill>
                  <a:latin typeface="Times New Roman" pitchFamily="18" charset="0"/>
                </a:rPr>
                <a:t> and</a:t>
              </a:r>
            </a:p>
            <a:p>
              <a:pPr algn="ctr" eaLnBrk="0" hangingPunct="0"/>
              <a:r>
                <a:rPr lang="en-US" sz="2000" b="1">
                  <a:latin typeface="Times New Roman" pitchFamily="18" charset="0"/>
                </a:rPr>
                <a:t>while</a:t>
              </a:r>
              <a:r>
                <a:rPr lang="en-US" sz="2000" b="1">
                  <a:solidFill>
                    <a:schemeClr val="hlink"/>
                  </a:solidFill>
                  <a:latin typeface="Times New Roman" pitchFamily="18" charset="0"/>
                </a:rPr>
                <a:t> are</a:t>
              </a:r>
            </a:p>
            <a:p>
              <a:pPr algn="ctr" eaLnBrk="0" hangingPunct="0"/>
              <a:r>
                <a:rPr lang="en-US" sz="2000" b="1">
                  <a:solidFill>
                    <a:schemeClr val="hlink"/>
                  </a:solidFill>
                  <a:latin typeface="Times New Roman" pitchFamily="18" charset="0"/>
                </a:rPr>
                <a:t>reserved</a:t>
              </a:r>
            </a:p>
            <a:p>
              <a:pPr algn="ctr" eaLnBrk="0" hangingPunct="0"/>
              <a:r>
                <a:rPr lang="en-US" sz="2000" b="1">
                  <a:solidFill>
                    <a:schemeClr val="hlink"/>
                  </a:solidFill>
                  <a:latin typeface="Times New Roman" pitchFamily="18" charset="0"/>
                </a:rPr>
                <a:t>words</a:t>
              </a:r>
            </a:p>
          </p:txBody>
        </p:sp>
        <p:sp>
          <p:nvSpPr>
            <p:cNvPr id="27657" name="Line 7"/>
            <p:cNvSpPr>
              <a:spLocks noChangeShapeType="1"/>
            </p:cNvSpPr>
            <p:nvPr/>
          </p:nvSpPr>
          <p:spPr bwMode="auto">
            <a:xfrm flipV="1">
              <a:off x="1392" y="1488"/>
              <a:ext cx="432" cy="144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 type="none" w="sm" len="sm"/>
              <a:tailEnd type="triangle" w="lg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58" name="Line 8"/>
            <p:cNvSpPr>
              <a:spLocks noChangeShapeType="1"/>
            </p:cNvSpPr>
            <p:nvPr/>
          </p:nvSpPr>
          <p:spPr bwMode="auto">
            <a:xfrm>
              <a:off x="1392" y="1872"/>
              <a:ext cx="432" cy="192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 type="none" w="sm" len="sm"/>
              <a:tailEnd type="triangle" w="lg" len="med"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7654" name="Text Box 9"/>
          <p:cNvSpPr txBox="1">
            <a:spLocks noChangeArrowheads="1"/>
          </p:cNvSpPr>
          <p:nvPr/>
        </p:nvSpPr>
        <p:spPr bwMode="auto">
          <a:xfrm>
            <a:off x="1560513" y="4648200"/>
            <a:ext cx="4422775" cy="7016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2000" b="1">
                <a:solidFill>
                  <a:schemeClr val="hlink"/>
                </a:solidFill>
                <a:latin typeface="Times New Roman" pitchFamily="18" charset="0"/>
              </a:rPr>
              <a:t>The </a:t>
            </a:r>
            <a:r>
              <a:rPr lang="en-US" sz="2000" b="1" i="1">
                <a:solidFill>
                  <a:schemeClr val="accent2"/>
                </a:solidFill>
                <a:latin typeface="Times New Roman" pitchFamily="18" charset="0"/>
              </a:rPr>
              <a:t>statement</a:t>
            </a:r>
            <a:r>
              <a:rPr lang="en-US" sz="2000" b="1">
                <a:solidFill>
                  <a:schemeClr val="hlink"/>
                </a:solidFill>
                <a:latin typeface="Times New Roman" pitchFamily="18" charset="0"/>
              </a:rPr>
              <a:t> is executed once initially,</a:t>
            </a:r>
          </a:p>
          <a:p>
            <a:pPr algn="ctr" eaLnBrk="0" hangingPunct="0"/>
            <a:r>
              <a:rPr lang="en-US" sz="2000" b="1">
                <a:solidFill>
                  <a:schemeClr val="hlink"/>
                </a:solidFill>
                <a:latin typeface="Times New Roman" pitchFamily="18" charset="0"/>
              </a:rPr>
              <a:t>and then the </a:t>
            </a:r>
            <a:r>
              <a:rPr lang="en-US" sz="2000" b="1" i="1">
                <a:solidFill>
                  <a:schemeClr val="accent2"/>
                </a:solidFill>
                <a:latin typeface="Times New Roman" pitchFamily="18" charset="0"/>
              </a:rPr>
              <a:t>condition</a:t>
            </a:r>
            <a:r>
              <a:rPr lang="en-US" sz="2000" b="1">
                <a:solidFill>
                  <a:schemeClr val="hlink"/>
                </a:solidFill>
                <a:latin typeface="Times New Roman" pitchFamily="18" charset="0"/>
              </a:rPr>
              <a:t> is evaluated</a:t>
            </a:r>
          </a:p>
        </p:txBody>
      </p:sp>
      <p:sp>
        <p:nvSpPr>
          <p:cNvPr id="27655" name="Text Box 10"/>
          <p:cNvSpPr txBox="1">
            <a:spLocks noChangeArrowheads="1"/>
          </p:cNvSpPr>
          <p:nvPr/>
        </p:nvSpPr>
        <p:spPr bwMode="auto">
          <a:xfrm>
            <a:off x="3152775" y="5622925"/>
            <a:ext cx="4178300" cy="7016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2000" b="1">
                <a:solidFill>
                  <a:schemeClr val="hlink"/>
                </a:solidFill>
                <a:latin typeface="Times New Roman" pitchFamily="18" charset="0"/>
              </a:rPr>
              <a:t>The </a:t>
            </a:r>
            <a:r>
              <a:rPr lang="en-US" sz="2000" b="1" i="1">
                <a:solidFill>
                  <a:schemeClr val="accent2"/>
                </a:solidFill>
                <a:latin typeface="Times New Roman" pitchFamily="18" charset="0"/>
              </a:rPr>
              <a:t>statement</a:t>
            </a:r>
            <a:r>
              <a:rPr lang="en-US" sz="2000" b="1">
                <a:solidFill>
                  <a:schemeClr val="hlink"/>
                </a:solidFill>
                <a:latin typeface="Times New Roman" pitchFamily="18" charset="0"/>
              </a:rPr>
              <a:t> is  executed repeatedly</a:t>
            </a:r>
          </a:p>
          <a:p>
            <a:pPr algn="ctr" eaLnBrk="0" hangingPunct="0"/>
            <a:r>
              <a:rPr lang="en-US" sz="2000" b="1">
                <a:solidFill>
                  <a:schemeClr val="hlink"/>
                </a:solidFill>
                <a:latin typeface="Times New Roman" pitchFamily="18" charset="0"/>
              </a:rPr>
              <a:t>until the </a:t>
            </a:r>
            <a:r>
              <a:rPr lang="en-US" sz="2000" b="1" i="1">
                <a:solidFill>
                  <a:schemeClr val="accent2"/>
                </a:solidFill>
                <a:latin typeface="Times New Roman" pitchFamily="18" charset="0"/>
              </a:rPr>
              <a:t>condition</a:t>
            </a:r>
            <a:r>
              <a:rPr lang="en-US" sz="2000" b="1">
                <a:solidFill>
                  <a:schemeClr val="hlink"/>
                </a:solidFill>
                <a:latin typeface="Times New Roman" pitchFamily="18" charset="0"/>
              </a:rPr>
              <a:t> becomes false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400" b="1" dirty="0">
                <a:cs typeface="Times New Roman" pitchFamily="18" charset="0"/>
              </a:rPr>
              <a:t>do-while Example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int LIMIT = 5;</a:t>
            </a:r>
          </a:p>
          <a:p>
            <a:pPr eaLnBrk="1" hangingPunct="1">
              <a:lnSpc>
                <a:spcPct val="50000"/>
              </a:lnSpc>
              <a:buFont typeface="Wingdings" pitchFamily="2" charset="2"/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int count = 1;</a:t>
            </a:r>
          </a:p>
          <a:p>
            <a:pPr eaLnBrk="1" hangingPunct="1">
              <a:buFont typeface="Wingdings" pitchFamily="2" charset="2"/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do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System.out.println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(count);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count += 1;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while (count &lt;= LIMIT); </a:t>
            </a:r>
          </a:p>
          <a:p>
            <a:pPr eaLnBrk="1" hangingPunct="1"/>
            <a:endParaRPr lang="en-US" dirty="0" smtClean="0"/>
          </a:p>
        </p:txBody>
      </p:sp>
      <p:sp>
        <p:nvSpPr>
          <p:cNvPr id="28676" name="Text Box 4"/>
          <p:cNvSpPr txBox="1">
            <a:spLocks noChangeArrowheads="1"/>
          </p:cNvSpPr>
          <p:nvPr/>
        </p:nvSpPr>
        <p:spPr bwMode="auto">
          <a:xfrm>
            <a:off x="7281863" y="2436813"/>
            <a:ext cx="1211262" cy="2676525"/>
          </a:xfrm>
          <a:prstGeom prst="rect">
            <a:avLst/>
          </a:prstGeom>
          <a:solidFill>
            <a:srgbClr val="F8F8F8"/>
          </a:solidFill>
          <a:ln w="28575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wrap="none" anchorCtr="1">
            <a:spAutoFit/>
          </a:bodyPr>
          <a:lstStyle/>
          <a:p>
            <a:pPr algn="ctr" eaLnBrk="0" hangingPunct="0"/>
            <a:r>
              <a:rPr lang="en-US" sz="2400">
                <a:solidFill>
                  <a:schemeClr val="hlink"/>
                </a:solidFill>
              </a:rPr>
              <a:t>Output:</a:t>
            </a:r>
          </a:p>
          <a:p>
            <a:pPr algn="ctr" eaLnBrk="0" hangingPunct="0"/>
            <a:endParaRPr lang="en-US" sz="2400">
              <a:solidFill>
                <a:schemeClr val="hlink"/>
              </a:solidFill>
            </a:endParaRPr>
          </a:p>
          <a:p>
            <a:pPr algn="ctr" eaLnBrk="0" hangingPunct="0"/>
            <a:r>
              <a:rPr lang="en-US" sz="2400"/>
              <a:t>1</a:t>
            </a:r>
          </a:p>
          <a:p>
            <a:pPr algn="ctr" eaLnBrk="0" hangingPunct="0"/>
            <a:r>
              <a:rPr lang="en-US" sz="2400"/>
              <a:t>2</a:t>
            </a:r>
          </a:p>
          <a:p>
            <a:pPr algn="ctr" eaLnBrk="0" hangingPunct="0"/>
            <a:r>
              <a:rPr lang="en-US" sz="2400"/>
              <a:t>3</a:t>
            </a:r>
          </a:p>
          <a:p>
            <a:pPr algn="ctr" eaLnBrk="0" hangingPunct="0"/>
            <a:r>
              <a:rPr lang="en-US" sz="2400"/>
              <a:t>4</a:t>
            </a:r>
          </a:p>
          <a:p>
            <a:pPr algn="ctr" eaLnBrk="0" hangingPunct="0"/>
            <a:r>
              <a:rPr lang="en-US" sz="2400"/>
              <a:t>5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Comparing while and </a:t>
            </a:r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do-while</a:t>
            </a:r>
            <a:endParaRPr lang="en-US" sz="3600" b="1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1524000" y="1371600"/>
            <a:ext cx="2819400" cy="4343400"/>
            <a:chOff x="960" y="864"/>
            <a:chExt cx="1776" cy="2736"/>
          </a:xfrm>
        </p:grpSpPr>
        <p:grpSp>
          <p:nvGrpSpPr>
            <p:cNvPr id="3" name="Group 4"/>
            <p:cNvGrpSpPr>
              <a:grpSpLocks/>
            </p:cNvGrpSpPr>
            <p:nvPr/>
          </p:nvGrpSpPr>
          <p:grpSpPr bwMode="auto">
            <a:xfrm>
              <a:off x="960" y="1296"/>
              <a:ext cx="1776" cy="2304"/>
              <a:chOff x="1104" y="1056"/>
              <a:chExt cx="1776" cy="2304"/>
            </a:xfrm>
          </p:grpSpPr>
          <p:grpSp>
            <p:nvGrpSpPr>
              <p:cNvPr id="4" name="Group 5"/>
              <p:cNvGrpSpPr>
                <a:grpSpLocks/>
              </p:cNvGrpSpPr>
              <p:nvPr/>
            </p:nvGrpSpPr>
            <p:grpSpPr bwMode="auto">
              <a:xfrm>
                <a:off x="1200" y="2064"/>
                <a:ext cx="1008" cy="816"/>
                <a:chOff x="2112" y="1968"/>
                <a:chExt cx="1008" cy="816"/>
              </a:xfrm>
            </p:grpSpPr>
            <p:grpSp>
              <p:nvGrpSpPr>
                <p:cNvPr id="5" name="Group 6"/>
                <p:cNvGrpSpPr>
                  <a:grpSpLocks/>
                </p:cNvGrpSpPr>
                <p:nvPr/>
              </p:nvGrpSpPr>
              <p:grpSpPr bwMode="auto">
                <a:xfrm>
                  <a:off x="2112" y="2544"/>
                  <a:ext cx="1008" cy="240"/>
                  <a:chOff x="2112" y="2496"/>
                  <a:chExt cx="1008" cy="240"/>
                </a:xfrm>
              </p:grpSpPr>
              <p:sp>
                <p:nvSpPr>
                  <p:cNvPr id="29734" name="Rectangle 7"/>
                  <p:cNvSpPr>
                    <a:spLocks noChangeArrowheads="1"/>
                  </p:cNvSpPr>
                  <p:nvPr/>
                </p:nvSpPr>
                <p:spPr bwMode="auto">
                  <a:xfrm>
                    <a:off x="2112" y="2496"/>
                    <a:ext cx="1008" cy="240"/>
                  </a:xfrm>
                  <a:prstGeom prst="rect">
                    <a:avLst/>
                  </a:prstGeom>
                  <a:solidFill>
                    <a:srgbClr val="FFCC99"/>
                  </a:solidFill>
                  <a:ln w="12700">
                    <a:solidFill>
                      <a:schemeClr val="bg2"/>
                    </a:solidFill>
                    <a:miter lim="800000"/>
                    <a:headEnd type="none" w="sm" len="sm"/>
                    <a:tailEnd type="none" w="sm" len="sm"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9735" name="Text Box 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258" y="2496"/>
                    <a:ext cx="716" cy="231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 type="none" w="sm" len="sm"/>
                    <a:tailEnd type="none" w="sm" len="sm"/>
                  </a:ln>
                </p:spPr>
                <p:txBody>
                  <a:bodyPr wrap="none" anchor="ctr">
                    <a:spAutoFit/>
                  </a:bodyPr>
                  <a:lstStyle/>
                  <a:p>
                    <a:pPr algn="ctr" eaLnBrk="0" hangingPunct="0"/>
                    <a:r>
                      <a:rPr lang="en-US" b="1">
                        <a:solidFill>
                          <a:schemeClr val="bg2"/>
                        </a:solidFill>
                        <a:latin typeface="Times New Roman" pitchFamily="18" charset="0"/>
                      </a:rPr>
                      <a:t>statement</a:t>
                    </a:r>
                    <a:endParaRPr lang="en-US" sz="2400">
                      <a:latin typeface="Times New Roman" pitchFamily="18" charset="0"/>
                    </a:endParaRPr>
                  </a:p>
                </p:txBody>
              </p:sp>
            </p:grpSp>
            <p:cxnSp>
              <p:nvCxnSpPr>
                <p:cNvPr id="29732" name="AutoShape 9"/>
                <p:cNvCxnSpPr>
                  <a:cxnSpLocks noChangeShapeType="1"/>
                  <a:stCxn id="29729" idx="2"/>
                  <a:endCxn id="29734" idx="0"/>
                </p:cNvCxnSpPr>
                <p:nvPr/>
              </p:nvCxnSpPr>
              <p:spPr bwMode="auto">
                <a:xfrm>
                  <a:off x="2616" y="1968"/>
                  <a:ext cx="0" cy="576"/>
                </a:xfrm>
                <a:prstGeom prst="straightConnector1">
                  <a:avLst/>
                </a:prstGeom>
                <a:noFill/>
                <a:ln w="31750">
                  <a:solidFill>
                    <a:srgbClr val="FF0000"/>
                  </a:solidFill>
                  <a:round/>
                  <a:headEnd type="none" w="sm" len="sm"/>
                  <a:tailEnd type="triangle" w="lg" len="med"/>
                </a:ln>
              </p:spPr>
            </p:cxnSp>
            <p:sp>
              <p:nvSpPr>
                <p:cNvPr id="29733" name="Text Box 10"/>
                <p:cNvSpPr txBox="1">
                  <a:spLocks noChangeArrowheads="1"/>
                </p:cNvSpPr>
                <p:nvPr/>
              </p:nvSpPr>
              <p:spPr bwMode="auto">
                <a:xfrm>
                  <a:off x="2652" y="2112"/>
                  <a:ext cx="372" cy="231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>
                  <a:spAutoFit/>
                </a:bodyPr>
                <a:lstStyle/>
                <a:p>
                  <a:pPr algn="ctr" eaLnBrk="0" hangingPunct="0"/>
                  <a:r>
                    <a:rPr lang="en-US" b="1">
                      <a:solidFill>
                        <a:schemeClr val="hlink"/>
                      </a:solidFill>
                      <a:latin typeface="Times New Roman" pitchFamily="18" charset="0"/>
                    </a:rPr>
                    <a:t>true</a:t>
                  </a:r>
                  <a:endParaRPr lang="en-US" sz="2400">
                    <a:solidFill>
                      <a:schemeClr val="hlink"/>
                    </a:solidFill>
                    <a:latin typeface="Times New Roman" pitchFamily="18" charset="0"/>
                  </a:endParaRPr>
                </a:p>
              </p:txBody>
            </p:sp>
          </p:grpSp>
          <p:cxnSp>
            <p:nvCxnSpPr>
              <p:cNvPr id="29722" name="AutoShape 11"/>
              <p:cNvCxnSpPr>
                <a:cxnSpLocks noChangeShapeType="1"/>
                <a:stCxn id="29734" idx="1"/>
                <a:endCxn id="29729" idx="1"/>
              </p:cNvCxnSpPr>
              <p:nvPr/>
            </p:nvCxnSpPr>
            <p:spPr bwMode="auto">
              <a:xfrm rot="10800000">
                <a:off x="1104" y="1776"/>
                <a:ext cx="96" cy="984"/>
              </a:xfrm>
              <a:prstGeom prst="bentConnector3">
                <a:avLst>
                  <a:gd name="adj1" fmla="val 250000"/>
                </a:avLst>
              </a:prstGeom>
              <a:noFill/>
              <a:ln w="31750">
                <a:solidFill>
                  <a:srgbClr val="FF0000"/>
                </a:solidFill>
                <a:miter lim="800000"/>
                <a:headEnd type="none" w="sm" len="sm"/>
                <a:tailEnd type="triangle" w="lg" len="med"/>
              </a:ln>
            </p:spPr>
          </p:cxnSp>
          <p:grpSp>
            <p:nvGrpSpPr>
              <p:cNvPr id="6" name="Group 12"/>
              <p:cNvGrpSpPr>
                <a:grpSpLocks/>
              </p:cNvGrpSpPr>
              <p:nvPr/>
            </p:nvGrpSpPr>
            <p:grpSpPr bwMode="auto">
              <a:xfrm>
                <a:off x="1104" y="1056"/>
                <a:ext cx="1200" cy="1008"/>
                <a:chOff x="2016" y="960"/>
                <a:chExt cx="1200" cy="1008"/>
              </a:xfrm>
            </p:grpSpPr>
            <p:grpSp>
              <p:nvGrpSpPr>
                <p:cNvPr id="7" name="Group 13"/>
                <p:cNvGrpSpPr>
                  <a:grpSpLocks/>
                </p:cNvGrpSpPr>
                <p:nvPr/>
              </p:nvGrpSpPr>
              <p:grpSpPr bwMode="auto">
                <a:xfrm>
                  <a:off x="2016" y="1392"/>
                  <a:ext cx="1200" cy="576"/>
                  <a:chOff x="2016" y="1584"/>
                  <a:chExt cx="1200" cy="576"/>
                </a:xfrm>
              </p:grpSpPr>
              <p:sp>
                <p:nvSpPr>
                  <p:cNvPr id="29729" name="AutoShape 14"/>
                  <p:cNvSpPr>
                    <a:spLocks noChangeArrowheads="1"/>
                  </p:cNvSpPr>
                  <p:nvPr/>
                </p:nvSpPr>
                <p:spPr bwMode="auto">
                  <a:xfrm>
                    <a:off x="2016" y="1584"/>
                    <a:ext cx="1200" cy="576"/>
                  </a:xfrm>
                  <a:prstGeom prst="diamond">
                    <a:avLst/>
                  </a:prstGeom>
                  <a:solidFill>
                    <a:srgbClr val="FFCC99"/>
                  </a:solidFill>
                  <a:ln w="12700">
                    <a:solidFill>
                      <a:schemeClr val="bg2"/>
                    </a:solidFill>
                    <a:miter lim="800000"/>
                    <a:headEnd type="none" w="sm" len="sm"/>
                    <a:tailEnd type="none" w="sm" len="sm"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9730" name="Text Box 1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262" y="1660"/>
                    <a:ext cx="708" cy="404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 type="none" w="sm" len="sm"/>
                    <a:tailEnd type="none" w="sm" len="sm"/>
                  </a:ln>
                </p:spPr>
                <p:txBody>
                  <a:bodyPr wrap="none" anchor="ctr">
                    <a:spAutoFit/>
                  </a:bodyPr>
                  <a:lstStyle/>
                  <a:p>
                    <a:pPr algn="ctr" eaLnBrk="0" hangingPunct="0"/>
                    <a:r>
                      <a:rPr lang="en-US" b="1">
                        <a:solidFill>
                          <a:schemeClr val="bg2"/>
                        </a:solidFill>
                        <a:latin typeface="Times New Roman" pitchFamily="18" charset="0"/>
                      </a:rPr>
                      <a:t>condition</a:t>
                    </a:r>
                  </a:p>
                  <a:p>
                    <a:pPr algn="ctr" eaLnBrk="0" hangingPunct="0"/>
                    <a:r>
                      <a:rPr lang="en-US" b="1">
                        <a:solidFill>
                          <a:schemeClr val="bg2"/>
                        </a:solidFill>
                        <a:latin typeface="Times New Roman" pitchFamily="18" charset="0"/>
                      </a:rPr>
                      <a:t>evaluated</a:t>
                    </a:r>
                    <a:endParaRPr lang="en-US" sz="2400">
                      <a:latin typeface="Times New Roman" pitchFamily="18" charset="0"/>
                    </a:endParaRPr>
                  </a:p>
                </p:txBody>
              </p:sp>
            </p:grpSp>
            <p:cxnSp>
              <p:nvCxnSpPr>
                <p:cNvPr id="29728" name="AutoShape 16"/>
                <p:cNvCxnSpPr>
                  <a:cxnSpLocks noChangeShapeType="1"/>
                  <a:endCxn id="29729" idx="0"/>
                </p:cNvCxnSpPr>
                <p:nvPr/>
              </p:nvCxnSpPr>
              <p:spPr bwMode="auto">
                <a:xfrm>
                  <a:off x="2616" y="960"/>
                  <a:ext cx="0" cy="432"/>
                </a:xfrm>
                <a:prstGeom prst="straightConnector1">
                  <a:avLst/>
                </a:prstGeom>
                <a:noFill/>
                <a:ln w="31750">
                  <a:solidFill>
                    <a:srgbClr val="FF0000"/>
                  </a:solidFill>
                  <a:round/>
                  <a:headEnd type="none" w="sm" len="sm"/>
                  <a:tailEnd type="triangle" w="lg" len="med"/>
                </a:ln>
              </p:spPr>
            </p:cxnSp>
          </p:grpSp>
          <p:grpSp>
            <p:nvGrpSpPr>
              <p:cNvPr id="8" name="Group 17"/>
              <p:cNvGrpSpPr>
                <a:grpSpLocks/>
              </p:cNvGrpSpPr>
              <p:nvPr/>
            </p:nvGrpSpPr>
            <p:grpSpPr bwMode="auto">
              <a:xfrm>
                <a:off x="1666" y="1776"/>
                <a:ext cx="1214" cy="1584"/>
                <a:chOff x="2578" y="1680"/>
                <a:chExt cx="1214" cy="1584"/>
              </a:xfrm>
            </p:grpSpPr>
            <p:cxnSp>
              <p:nvCxnSpPr>
                <p:cNvPr id="29725" name="AutoShape 18"/>
                <p:cNvCxnSpPr>
                  <a:cxnSpLocks noChangeShapeType="1"/>
                  <a:stCxn id="29729" idx="3"/>
                </p:cNvCxnSpPr>
                <p:nvPr/>
              </p:nvCxnSpPr>
              <p:spPr bwMode="auto">
                <a:xfrm flipH="1">
                  <a:off x="2578" y="1680"/>
                  <a:ext cx="638" cy="1584"/>
                </a:xfrm>
                <a:prstGeom prst="bentConnector4">
                  <a:avLst>
                    <a:gd name="adj1" fmla="val -22569"/>
                    <a:gd name="adj2" fmla="val 83458"/>
                  </a:avLst>
                </a:prstGeom>
                <a:noFill/>
                <a:ln w="31750">
                  <a:solidFill>
                    <a:srgbClr val="FF0000"/>
                  </a:solidFill>
                  <a:miter lim="800000"/>
                  <a:headEnd type="none" w="sm" len="sm"/>
                  <a:tailEnd type="triangle" w="lg" len="med"/>
                </a:ln>
              </p:spPr>
            </p:cxnSp>
            <p:sp>
              <p:nvSpPr>
                <p:cNvPr id="29726" name="Text Box 19"/>
                <p:cNvSpPr txBox="1">
                  <a:spLocks noChangeArrowheads="1"/>
                </p:cNvSpPr>
                <p:nvPr/>
              </p:nvSpPr>
              <p:spPr bwMode="auto">
                <a:xfrm>
                  <a:off x="3396" y="2112"/>
                  <a:ext cx="396" cy="231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>
                  <a:spAutoFit/>
                </a:bodyPr>
                <a:lstStyle/>
                <a:p>
                  <a:pPr algn="ctr" eaLnBrk="0" hangingPunct="0"/>
                  <a:r>
                    <a:rPr lang="en-US" b="1">
                      <a:solidFill>
                        <a:schemeClr val="hlink"/>
                      </a:solidFill>
                      <a:latin typeface="Times New Roman" pitchFamily="18" charset="0"/>
                    </a:rPr>
                    <a:t>false</a:t>
                  </a:r>
                  <a:endParaRPr lang="en-US" sz="2400">
                    <a:solidFill>
                      <a:schemeClr val="hlink"/>
                    </a:solidFill>
                    <a:latin typeface="Times New Roman" pitchFamily="18" charset="0"/>
                  </a:endParaRPr>
                </a:p>
              </p:txBody>
            </p:sp>
          </p:grpSp>
        </p:grpSp>
        <p:sp>
          <p:nvSpPr>
            <p:cNvPr id="29720" name="Text Box 20"/>
            <p:cNvSpPr txBox="1">
              <a:spLocks noChangeArrowheads="1"/>
            </p:cNvSpPr>
            <p:nvPr/>
          </p:nvSpPr>
          <p:spPr bwMode="auto">
            <a:xfrm>
              <a:off x="1152" y="864"/>
              <a:ext cx="813" cy="2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sz="2000" b="1" u="sng">
                  <a:solidFill>
                    <a:schemeClr val="hlink"/>
                  </a:solidFill>
                  <a:latin typeface="Times New Roman" pitchFamily="18" charset="0"/>
                </a:rPr>
                <a:t>while loop</a:t>
              </a:r>
              <a:endParaRPr lang="en-US" sz="2400" u="sng">
                <a:solidFill>
                  <a:schemeClr val="hlink"/>
                </a:solidFill>
                <a:latin typeface="Times New Roman" pitchFamily="18" charset="0"/>
              </a:endParaRPr>
            </a:p>
          </p:txBody>
        </p:sp>
      </p:grpSp>
      <p:grpSp>
        <p:nvGrpSpPr>
          <p:cNvPr id="9" name="Group 21"/>
          <p:cNvGrpSpPr>
            <a:grpSpLocks/>
          </p:cNvGrpSpPr>
          <p:nvPr/>
        </p:nvGrpSpPr>
        <p:grpSpPr bwMode="auto">
          <a:xfrm>
            <a:off x="4953000" y="1370013"/>
            <a:ext cx="2743200" cy="4192587"/>
            <a:chOff x="3072" y="863"/>
            <a:chExt cx="1728" cy="2641"/>
          </a:xfrm>
        </p:grpSpPr>
        <p:grpSp>
          <p:nvGrpSpPr>
            <p:cNvPr id="10" name="Group 22"/>
            <p:cNvGrpSpPr>
              <a:grpSpLocks/>
            </p:cNvGrpSpPr>
            <p:nvPr/>
          </p:nvGrpSpPr>
          <p:grpSpPr bwMode="auto">
            <a:xfrm>
              <a:off x="3072" y="1296"/>
              <a:ext cx="1728" cy="2208"/>
              <a:chOff x="3264" y="1209"/>
              <a:chExt cx="1728" cy="2208"/>
            </a:xfrm>
          </p:grpSpPr>
          <p:grpSp>
            <p:nvGrpSpPr>
              <p:cNvPr id="11" name="Group 23"/>
              <p:cNvGrpSpPr>
                <a:grpSpLocks/>
              </p:cNvGrpSpPr>
              <p:nvPr/>
            </p:nvGrpSpPr>
            <p:grpSpPr bwMode="auto">
              <a:xfrm>
                <a:off x="3264" y="1713"/>
                <a:ext cx="624" cy="840"/>
                <a:chOff x="1584" y="1608"/>
                <a:chExt cx="624" cy="840"/>
              </a:xfrm>
            </p:grpSpPr>
            <p:sp>
              <p:nvSpPr>
                <p:cNvPr id="29717" name="Text Box 24"/>
                <p:cNvSpPr txBox="1">
                  <a:spLocks noChangeArrowheads="1"/>
                </p:cNvSpPr>
                <p:nvPr/>
              </p:nvSpPr>
              <p:spPr bwMode="auto">
                <a:xfrm>
                  <a:off x="1584" y="1920"/>
                  <a:ext cx="372" cy="231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>
                  <a:spAutoFit/>
                </a:bodyPr>
                <a:lstStyle/>
                <a:p>
                  <a:pPr algn="ctr" eaLnBrk="0" hangingPunct="0"/>
                  <a:r>
                    <a:rPr lang="en-US" b="1">
                      <a:solidFill>
                        <a:schemeClr val="hlink"/>
                      </a:solidFill>
                      <a:latin typeface="Times New Roman" pitchFamily="18" charset="0"/>
                    </a:rPr>
                    <a:t>true</a:t>
                  </a:r>
                  <a:endParaRPr lang="en-US" sz="2400">
                    <a:solidFill>
                      <a:schemeClr val="hlink"/>
                    </a:solidFill>
                    <a:latin typeface="Times New Roman" pitchFamily="18" charset="0"/>
                  </a:endParaRPr>
                </a:p>
              </p:txBody>
            </p:sp>
            <p:cxnSp>
              <p:nvCxnSpPr>
                <p:cNvPr id="29718" name="AutoShape 25"/>
                <p:cNvCxnSpPr>
                  <a:cxnSpLocks noChangeShapeType="1"/>
                  <a:stCxn id="29711" idx="1"/>
                  <a:endCxn id="29715" idx="1"/>
                </p:cNvCxnSpPr>
                <p:nvPr/>
              </p:nvCxnSpPr>
              <p:spPr bwMode="auto">
                <a:xfrm rot="10800000" flipV="1">
                  <a:off x="2112" y="1608"/>
                  <a:ext cx="96" cy="840"/>
                </a:xfrm>
                <a:prstGeom prst="bentConnector3">
                  <a:avLst>
                    <a:gd name="adj1" fmla="val 250000"/>
                  </a:avLst>
                </a:prstGeom>
                <a:noFill/>
                <a:ln w="31750">
                  <a:solidFill>
                    <a:srgbClr val="FF0000"/>
                  </a:solidFill>
                  <a:miter lim="800000"/>
                  <a:headEnd type="triangle" w="lg" len="med"/>
                  <a:tailEnd type="none" w="sm" len="sm"/>
                </a:ln>
              </p:spPr>
            </p:cxnSp>
          </p:grpSp>
          <p:grpSp>
            <p:nvGrpSpPr>
              <p:cNvPr id="12" name="Group 26"/>
              <p:cNvGrpSpPr>
                <a:grpSpLocks/>
              </p:cNvGrpSpPr>
              <p:nvPr/>
            </p:nvGrpSpPr>
            <p:grpSpPr bwMode="auto">
              <a:xfrm>
                <a:off x="3792" y="1824"/>
                <a:ext cx="1200" cy="1017"/>
                <a:chOff x="2112" y="1719"/>
                <a:chExt cx="1200" cy="1017"/>
              </a:xfrm>
            </p:grpSpPr>
            <p:grpSp>
              <p:nvGrpSpPr>
                <p:cNvPr id="13" name="Group 27"/>
                <p:cNvGrpSpPr>
                  <a:grpSpLocks/>
                </p:cNvGrpSpPr>
                <p:nvPr/>
              </p:nvGrpSpPr>
              <p:grpSpPr bwMode="auto">
                <a:xfrm>
                  <a:off x="2112" y="2160"/>
                  <a:ext cx="1200" cy="576"/>
                  <a:chOff x="2016" y="1584"/>
                  <a:chExt cx="1200" cy="576"/>
                </a:xfrm>
              </p:grpSpPr>
              <p:sp>
                <p:nvSpPr>
                  <p:cNvPr id="29715" name="AutoShape 28"/>
                  <p:cNvSpPr>
                    <a:spLocks noChangeArrowheads="1"/>
                  </p:cNvSpPr>
                  <p:nvPr/>
                </p:nvSpPr>
                <p:spPr bwMode="auto">
                  <a:xfrm>
                    <a:off x="2016" y="1584"/>
                    <a:ext cx="1200" cy="576"/>
                  </a:xfrm>
                  <a:prstGeom prst="diamond">
                    <a:avLst/>
                  </a:prstGeom>
                  <a:solidFill>
                    <a:srgbClr val="FFCC99"/>
                  </a:solidFill>
                  <a:ln w="12700">
                    <a:solidFill>
                      <a:schemeClr val="bg2"/>
                    </a:solidFill>
                    <a:miter lim="800000"/>
                    <a:headEnd type="none" w="sm" len="sm"/>
                    <a:tailEnd type="none" w="sm" len="sm"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9716" name="Text Box 2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262" y="1660"/>
                    <a:ext cx="708" cy="404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 type="none" w="sm" len="sm"/>
                    <a:tailEnd type="none" w="sm" len="sm"/>
                  </a:ln>
                </p:spPr>
                <p:txBody>
                  <a:bodyPr wrap="none" anchor="ctr">
                    <a:spAutoFit/>
                  </a:bodyPr>
                  <a:lstStyle/>
                  <a:p>
                    <a:pPr algn="ctr" eaLnBrk="0" hangingPunct="0"/>
                    <a:r>
                      <a:rPr lang="en-US" b="1">
                        <a:solidFill>
                          <a:schemeClr val="bg2"/>
                        </a:solidFill>
                        <a:latin typeface="Times New Roman" pitchFamily="18" charset="0"/>
                      </a:rPr>
                      <a:t>condition</a:t>
                    </a:r>
                  </a:p>
                  <a:p>
                    <a:pPr algn="ctr" eaLnBrk="0" hangingPunct="0"/>
                    <a:r>
                      <a:rPr lang="en-US" b="1">
                        <a:solidFill>
                          <a:schemeClr val="bg2"/>
                        </a:solidFill>
                        <a:latin typeface="Times New Roman" pitchFamily="18" charset="0"/>
                      </a:rPr>
                      <a:t>evaluated</a:t>
                    </a:r>
                    <a:endParaRPr lang="en-US" sz="2400">
                      <a:latin typeface="Times New Roman" pitchFamily="18" charset="0"/>
                    </a:endParaRPr>
                  </a:p>
                </p:txBody>
              </p:sp>
            </p:grpSp>
            <p:cxnSp>
              <p:nvCxnSpPr>
                <p:cNvPr id="29714" name="AutoShape 30"/>
                <p:cNvCxnSpPr>
                  <a:cxnSpLocks noChangeShapeType="1"/>
                  <a:stCxn id="29712" idx="2"/>
                  <a:endCxn id="29715" idx="0"/>
                </p:cNvCxnSpPr>
                <p:nvPr/>
              </p:nvCxnSpPr>
              <p:spPr bwMode="auto">
                <a:xfrm>
                  <a:off x="2712" y="1719"/>
                  <a:ext cx="0" cy="441"/>
                </a:xfrm>
                <a:prstGeom prst="straightConnector1">
                  <a:avLst/>
                </a:prstGeom>
                <a:noFill/>
                <a:ln w="31750">
                  <a:solidFill>
                    <a:srgbClr val="FF0000"/>
                  </a:solidFill>
                  <a:round/>
                  <a:headEnd type="none" w="sm" len="sm"/>
                  <a:tailEnd type="triangle" w="lg" len="med"/>
                </a:ln>
              </p:spPr>
            </p:cxnSp>
          </p:grpSp>
          <p:grpSp>
            <p:nvGrpSpPr>
              <p:cNvPr id="14" name="Group 31"/>
              <p:cNvGrpSpPr>
                <a:grpSpLocks/>
              </p:cNvGrpSpPr>
              <p:nvPr/>
            </p:nvGrpSpPr>
            <p:grpSpPr bwMode="auto">
              <a:xfrm>
                <a:off x="3888" y="1209"/>
                <a:ext cx="1008" cy="624"/>
                <a:chOff x="2208" y="1104"/>
                <a:chExt cx="1008" cy="624"/>
              </a:xfrm>
            </p:grpSpPr>
            <p:cxnSp>
              <p:nvCxnSpPr>
                <p:cNvPr id="29709" name="AutoShape 32"/>
                <p:cNvCxnSpPr>
                  <a:cxnSpLocks noChangeShapeType="1"/>
                  <a:endCxn id="29712" idx="0"/>
                </p:cNvCxnSpPr>
                <p:nvPr/>
              </p:nvCxnSpPr>
              <p:spPr bwMode="auto">
                <a:xfrm>
                  <a:off x="2712" y="1104"/>
                  <a:ext cx="0" cy="384"/>
                </a:xfrm>
                <a:prstGeom prst="straightConnector1">
                  <a:avLst/>
                </a:prstGeom>
                <a:noFill/>
                <a:ln w="31750">
                  <a:solidFill>
                    <a:srgbClr val="FF0000"/>
                  </a:solidFill>
                  <a:round/>
                  <a:headEnd type="none" w="sm" len="sm"/>
                  <a:tailEnd type="triangle" w="lg" len="med"/>
                </a:ln>
              </p:spPr>
            </p:cxnSp>
            <p:grpSp>
              <p:nvGrpSpPr>
                <p:cNvPr id="15" name="Group 33"/>
                <p:cNvGrpSpPr>
                  <a:grpSpLocks/>
                </p:cNvGrpSpPr>
                <p:nvPr/>
              </p:nvGrpSpPr>
              <p:grpSpPr bwMode="auto">
                <a:xfrm>
                  <a:off x="2208" y="1488"/>
                  <a:ext cx="1008" cy="240"/>
                  <a:chOff x="2112" y="2496"/>
                  <a:chExt cx="1008" cy="240"/>
                </a:xfrm>
              </p:grpSpPr>
              <p:sp>
                <p:nvSpPr>
                  <p:cNvPr id="29711" name="Rectangle 34"/>
                  <p:cNvSpPr>
                    <a:spLocks noChangeArrowheads="1"/>
                  </p:cNvSpPr>
                  <p:nvPr/>
                </p:nvSpPr>
                <p:spPr bwMode="auto">
                  <a:xfrm>
                    <a:off x="2112" y="2496"/>
                    <a:ext cx="1008" cy="240"/>
                  </a:xfrm>
                  <a:prstGeom prst="rect">
                    <a:avLst/>
                  </a:prstGeom>
                  <a:solidFill>
                    <a:srgbClr val="FFCC99"/>
                  </a:solidFill>
                  <a:ln w="12700">
                    <a:solidFill>
                      <a:schemeClr val="bg2"/>
                    </a:solidFill>
                    <a:miter lim="800000"/>
                    <a:headEnd type="none" w="sm" len="sm"/>
                    <a:tailEnd type="none" w="sm" len="sm"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9712" name="Text Box 3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258" y="2496"/>
                    <a:ext cx="716" cy="231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 type="none" w="sm" len="sm"/>
                    <a:tailEnd type="none" w="sm" len="sm"/>
                  </a:ln>
                </p:spPr>
                <p:txBody>
                  <a:bodyPr wrap="none" anchor="ctr">
                    <a:spAutoFit/>
                  </a:bodyPr>
                  <a:lstStyle/>
                  <a:p>
                    <a:pPr algn="ctr" eaLnBrk="0" hangingPunct="0"/>
                    <a:r>
                      <a:rPr lang="en-US" b="1">
                        <a:solidFill>
                          <a:schemeClr val="bg2"/>
                        </a:solidFill>
                        <a:latin typeface="Times New Roman" pitchFamily="18" charset="0"/>
                      </a:rPr>
                      <a:t>statement</a:t>
                    </a:r>
                    <a:endParaRPr lang="en-US" sz="2400">
                      <a:latin typeface="Times New Roman" pitchFamily="18" charset="0"/>
                    </a:endParaRPr>
                  </a:p>
                </p:txBody>
              </p:sp>
            </p:grpSp>
          </p:grpSp>
          <p:grpSp>
            <p:nvGrpSpPr>
              <p:cNvPr id="16" name="Group 36"/>
              <p:cNvGrpSpPr>
                <a:grpSpLocks/>
              </p:cNvGrpSpPr>
              <p:nvPr/>
            </p:nvGrpSpPr>
            <p:grpSpPr bwMode="auto">
              <a:xfrm>
                <a:off x="4392" y="2841"/>
                <a:ext cx="408" cy="576"/>
                <a:chOff x="2712" y="2736"/>
                <a:chExt cx="408" cy="576"/>
              </a:xfrm>
            </p:grpSpPr>
            <p:cxnSp>
              <p:nvCxnSpPr>
                <p:cNvPr id="29707" name="AutoShape 37"/>
                <p:cNvCxnSpPr>
                  <a:cxnSpLocks noChangeShapeType="1"/>
                  <a:stCxn id="29715" idx="2"/>
                </p:cNvCxnSpPr>
                <p:nvPr/>
              </p:nvCxnSpPr>
              <p:spPr bwMode="auto">
                <a:xfrm>
                  <a:off x="2712" y="2736"/>
                  <a:ext cx="0" cy="576"/>
                </a:xfrm>
                <a:prstGeom prst="straightConnector1">
                  <a:avLst/>
                </a:prstGeom>
                <a:noFill/>
                <a:ln w="31750">
                  <a:solidFill>
                    <a:srgbClr val="FF0000"/>
                  </a:solidFill>
                  <a:round/>
                  <a:headEnd type="none" w="sm" len="sm"/>
                  <a:tailEnd type="triangle" w="lg" len="med"/>
                </a:ln>
              </p:spPr>
            </p:cxnSp>
            <p:sp>
              <p:nvSpPr>
                <p:cNvPr id="29708" name="Text Box 38"/>
                <p:cNvSpPr txBox="1">
                  <a:spLocks noChangeArrowheads="1"/>
                </p:cNvSpPr>
                <p:nvPr/>
              </p:nvSpPr>
              <p:spPr bwMode="auto">
                <a:xfrm>
                  <a:off x="2724" y="2880"/>
                  <a:ext cx="396" cy="231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>
                  <a:spAutoFit/>
                </a:bodyPr>
                <a:lstStyle/>
                <a:p>
                  <a:pPr algn="ctr" eaLnBrk="0" hangingPunct="0"/>
                  <a:r>
                    <a:rPr lang="en-US" b="1">
                      <a:solidFill>
                        <a:schemeClr val="hlink"/>
                      </a:solidFill>
                      <a:latin typeface="Times New Roman" pitchFamily="18" charset="0"/>
                    </a:rPr>
                    <a:t>false</a:t>
                  </a:r>
                  <a:endParaRPr lang="en-US" sz="2400">
                    <a:solidFill>
                      <a:schemeClr val="hlink"/>
                    </a:solidFill>
                    <a:latin typeface="Times New Roman" pitchFamily="18" charset="0"/>
                  </a:endParaRPr>
                </a:p>
              </p:txBody>
            </p:sp>
          </p:grpSp>
        </p:grpSp>
        <p:sp>
          <p:nvSpPr>
            <p:cNvPr id="29702" name="Text Box 39"/>
            <p:cNvSpPr txBox="1">
              <a:spLocks noChangeArrowheads="1"/>
            </p:cNvSpPr>
            <p:nvPr/>
          </p:nvSpPr>
          <p:spPr bwMode="auto">
            <a:xfrm>
              <a:off x="3667" y="863"/>
              <a:ext cx="1072" cy="25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sz="2000" b="1" u="sng">
                  <a:solidFill>
                    <a:schemeClr val="hlink"/>
                  </a:solidFill>
                  <a:latin typeface="Times New Roman" pitchFamily="18" charset="0"/>
                </a:rPr>
                <a:t>Do-while loop</a:t>
              </a:r>
              <a:endParaRPr lang="en-US" sz="2400" u="sng">
                <a:solidFill>
                  <a:schemeClr val="hlink"/>
                </a:solidFill>
                <a:latin typeface="Times New Roman" pitchFamily="18" charset="0"/>
              </a:endParaRPr>
            </a:p>
          </p:txBody>
        </p:sp>
      </p:grp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The for Statement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76400"/>
            <a:ext cx="8229600" cy="627063"/>
          </a:xfrm>
        </p:spPr>
        <p:txBody>
          <a:bodyPr/>
          <a:lstStyle/>
          <a:p>
            <a:pPr eaLnBrk="1" hangingPunct="1">
              <a:buFont typeface="Wingdings" pitchFamily="2" charset="2"/>
              <a:buChar char="ü"/>
            </a:pPr>
            <a:r>
              <a:rPr lang="en-US" smtClean="0">
                <a:latin typeface="Times New Roman" pitchFamily="18" charset="0"/>
              </a:rPr>
              <a:t>The </a:t>
            </a:r>
            <a:r>
              <a:rPr lang="en-US" i="1" smtClean="0">
                <a:latin typeface="Times New Roman" pitchFamily="18" charset="0"/>
              </a:rPr>
              <a:t>for statement</a:t>
            </a:r>
            <a:r>
              <a:rPr lang="en-US" smtClean="0">
                <a:latin typeface="Times New Roman" pitchFamily="18" charset="0"/>
              </a:rPr>
              <a:t> has the following syntax:</a:t>
            </a:r>
          </a:p>
        </p:txBody>
      </p:sp>
      <p:sp>
        <p:nvSpPr>
          <p:cNvPr id="30724" name="Text Box 4"/>
          <p:cNvSpPr txBox="1">
            <a:spLocks noChangeArrowheads="1"/>
          </p:cNvSpPr>
          <p:nvPr/>
        </p:nvSpPr>
        <p:spPr bwMode="auto">
          <a:xfrm>
            <a:off x="1077913" y="4572000"/>
            <a:ext cx="6313487" cy="7016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anchor="ctr">
            <a:spAutoFit/>
          </a:bodyPr>
          <a:lstStyle/>
          <a:p>
            <a:pPr eaLnBrk="0" hangingPunct="0"/>
            <a:r>
              <a:rPr lang="en-US" sz="2000" b="1">
                <a:latin typeface="Times New Roman" pitchFamily="18" charset="0"/>
              </a:rPr>
              <a:t>for (</a:t>
            </a:r>
            <a:r>
              <a:rPr lang="en-US" sz="2000" b="1" i="1">
                <a:solidFill>
                  <a:schemeClr val="accent2"/>
                </a:solidFill>
                <a:latin typeface="Times New Roman" pitchFamily="18" charset="0"/>
              </a:rPr>
              <a:t>initialization</a:t>
            </a:r>
            <a:r>
              <a:rPr lang="en-US" sz="2000" b="1">
                <a:latin typeface="Times New Roman" pitchFamily="18" charset="0"/>
              </a:rPr>
              <a:t>; </a:t>
            </a:r>
            <a:r>
              <a:rPr lang="en-US" sz="2000" b="1" i="1">
                <a:solidFill>
                  <a:schemeClr val="accent2"/>
                </a:solidFill>
                <a:latin typeface="Times New Roman" pitchFamily="18" charset="0"/>
              </a:rPr>
              <a:t>condition</a:t>
            </a:r>
            <a:r>
              <a:rPr lang="en-US" sz="2000" b="1">
                <a:latin typeface="Times New Roman" pitchFamily="18" charset="0"/>
              </a:rPr>
              <a:t>; </a:t>
            </a:r>
            <a:r>
              <a:rPr lang="en-US" sz="2000" b="1" i="1">
                <a:solidFill>
                  <a:schemeClr val="accent2"/>
                </a:solidFill>
                <a:latin typeface="Times New Roman" pitchFamily="18" charset="0"/>
              </a:rPr>
              <a:t>increment</a:t>
            </a:r>
            <a:r>
              <a:rPr lang="en-US" sz="2000" b="1">
                <a:latin typeface="Times New Roman" pitchFamily="18" charset="0"/>
              </a:rPr>
              <a:t>)</a:t>
            </a:r>
          </a:p>
          <a:p>
            <a:pPr eaLnBrk="0" hangingPunct="0"/>
            <a:r>
              <a:rPr lang="en-US" sz="2000" b="1">
                <a:latin typeface="Times New Roman" pitchFamily="18" charset="0"/>
              </a:rPr>
              <a:t>    </a:t>
            </a:r>
            <a:r>
              <a:rPr lang="en-US" sz="2000" b="1" i="1">
                <a:solidFill>
                  <a:schemeClr val="accent2"/>
                </a:solidFill>
                <a:latin typeface="Times New Roman" pitchFamily="18" charset="0"/>
              </a:rPr>
              <a:t>statement</a:t>
            </a:r>
            <a:r>
              <a:rPr lang="en-US" sz="2000" b="1">
                <a:latin typeface="Times New Roman" pitchFamily="18" charset="0"/>
              </a:rPr>
              <a:t>;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849313" y="3200400"/>
            <a:ext cx="1185862" cy="1295400"/>
            <a:chOff x="576" y="1536"/>
            <a:chExt cx="747" cy="816"/>
          </a:xfrm>
        </p:grpSpPr>
        <p:sp>
          <p:nvSpPr>
            <p:cNvPr id="30735" name="Text Box 6"/>
            <p:cNvSpPr txBox="1">
              <a:spLocks noChangeArrowheads="1"/>
            </p:cNvSpPr>
            <p:nvPr/>
          </p:nvSpPr>
          <p:spPr bwMode="auto">
            <a:xfrm>
              <a:off x="576" y="1536"/>
              <a:ext cx="747" cy="44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sz="2000" b="1">
                  <a:solidFill>
                    <a:schemeClr val="hlink"/>
                  </a:solidFill>
                  <a:latin typeface="Times New Roman" pitchFamily="18" charset="0"/>
                </a:rPr>
                <a:t>Reserved</a:t>
              </a:r>
            </a:p>
            <a:p>
              <a:pPr algn="ctr" eaLnBrk="0" hangingPunct="0"/>
              <a:r>
                <a:rPr lang="en-US" sz="2000" b="1">
                  <a:solidFill>
                    <a:schemeClr val="hlink"/>
                  </a:solidFill>
                  <a:latin typeface="Times New Roman" pitchFamily="18" charset="0"/>
                </a:rPr>
                <a:t>word</a:t>
              </a:r>
              <a:endParaRPr lang="en-US" sz="2400">
                <a:solidFill>
                  <a:schemeClr val="hlink"/>
                </a:solidFill>
                <a:latin typeface="Times New Roman" pitchFamily="18" charset="0"/>
              </a:endParaRPr>
            </a:p>
          </p:txBody>
        </p:sp>
        <p:sp>
          <p:nvSpPr>
            <p:cNvPr id="30736" name="Line 7"/>
            <p:cNvSpPr>
              <a:spLocks noChangeShapeType="1"/>
            </p:cNvSpPr>
            <p:nvPr/>
          </p:nvSpPr>
          <p:spPr bwMode="auto">
            <a:xfrm>
              <a:off x="912" y="2016"/>
              <a:ext cx="0" cy="336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 type="none" w="sm" len="sm"/>
              <a:tailEnd type="triangle" w="lg" len="med"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1828800" y="3048000"/>
            <a:ext cx="2559050" cy="1447800"/>
            <a:chOff x="1691" y="1440"/>
            <a:chExt cx="1612" cy="912"/>
          </a:xfrm>
        </p:grpSpPr>
        <p:sp>
          <p:nvSpPr>
            <p:cNvPr id="30733" name="Text Box 9"/>
            <p:cNvSpPr txBox="1">
              <a:spLocks noChangeArrowheads="1"/>
            </p:cNvSpPr>
            <p:nvPr/>
          </p:nvSpPr>
          <p:spPr bwMode="auto">
            <a:xfrm>
              <a:off x="1691" y="1440"/>
              <a:ext cx="1612" cy="634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sz="2000" b="1">
                  <a:solidFill>
                    <a:schemeClr val="hlink"/>
                  </a:solidFill>
                  <a:latin typeface="Times New Roman" pitchFamily="18" charset="0"/>
                </a:rPr>
                <a:t>The </a:t>
              </a:r>
              <a:r>
                <a:rPr lang="en-US" sz="2000" b="1" i="1">
                  <a:solidFill>
                    <a:schemeClr val="accent2"/>
                  </a:solidFill>
                  <a:latin typeface="Times New Roman" pitchFamily="18" charset="0"/>
                </a:rPr>
                <a:t>initialization</a:t>
              </a:r>
              <a:endParaRPr lang="en-US" sz="2000" b="1">
                <a:solidFill>
                  <a:schemeClr val="accent2"/>
                </a:solidFill>
                <a:latin typeface="Times New Roman" pitchFamily="18" charset="0"/>
              </a:endParaRPr>
            </a:p>
            <a:p>
              <a:pPr algn="ctr" eaLnBrk="0" hangingPunct="0"/>
              <a:r>
                <a:rPr lang="en-US" sz="2000" b="1">
                  <a:solidFill>
                    <a:schemeClr val="hlink"/>
                  </a:solidFill>
                  <a:latin typeface="Times New Roman" pitchFamily="18" charset="0"/>
                </a:rPr>
                <a:t>is executed once</a:t>
              </a:r>
            </a:p>
            <a:p>
              <a:pPr algn="ctr" eaLnBrk="0" hangingPunct="0"/>
              <a:r>
                <a:rPr lang="en-US" sz="2000" b="1">
                  <a:solidFill>
                    <a:schemeClr val="hlink"/>
                  </a:solidFill>
                  <a:latin typeface="Times New Roman" pitchFamily="18" charset="0"/>
                </a:rPr>
                <a:t>before the loop begins</a:t>
              </a:r>
              <a:endParaRPr lang="en-US" sz="2400">
                <a:solidFill>
                  <a:schemeClr val="hlink"/>
                </a:solidFill>
                <a:latin typeface="Times New Roman" pitchFamily="18" charset="0"/>
              </a:endParaRPr>
            </a:p>
          </p:txBody>
        </p:sp>
        <p:sp>
          <p:nvSpPr>
            <p:cNvPr id="30734" name="Line 10"/>
            <p:cNvSpPr>
              <a:spLocks noChangeShapeType="1"/>
            </p:cNvSpPr>
            <p:nvPr/>
          </p:nvSpPr>
          <p:spPr bwMode="auto">
            <a:xfrm flipH="1">
              <a:off x="2112" y="2112"/>
              <a:ext cx="144" cy="240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 type="none" w="sm" len="sm"/>
              <a:tailEnd type="triangle" w="lg" len="med"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" name="Group 11"/>
          <p:cNvGrpSpPr>
            <a:grpSpLocks/>
          </p:cNvGrpSpPr>
          <p:nvPr/>
        </p:nvGrpSpPr>
        <p:grpSpPr bwMode="auto">
          <a:xfrm>
            <a:off x="4267200" y="3048000"/>
            <a:ext cx="2759075" cy="1447800"/>
            <a:chOff x="3648" y="1440"/>
            <a:chExt cx="1738" cy="912"/>
          </a:xfrm>
        </p:grpSpPr>
        <p:sp>
          <p:nvSpPr>
            <p:cNvPr id="30731" name="Text Box 12"/>
            <p:cNvSpPr txBox="1">
              <a:spLocks noChangeArrowheads="1"/>
            </p:cNvSpPr>
            <p:nvPr/>
          </p:nvSpPr>
          <p:spPr bwMode="auto">
            <a:xfrm>
              <a:off x="3682" y="1440"/>
              <a:ext cx="1704" cy="634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sz="2000" b="1">
                  <a:solidFill>
                    <a:schemeClr val="hlink"/>
                  </a:solidFill>
                  <a:latin typeface="Times New Roman" pitchFamily="18" charset="0"/>
                </a:rPr>
                <a:t>The </a:t>
              </a:r>
              <a:r>
                <a:rPr lang="en-US" sz="2000" b="1" i="1">
                  <a:solidFill>
                    <a:schemeClr val="accent2"/>
                  </a:solidFill>
                  <a:latin typeface="Times New Roman" pitchFamily="18" charset="0"/>
                </a:rPr>
                <a:t>statement</a:t>
              </a:r>
              <a:r>
                <a:rPr lang="en-US" sz="2000" b="1">
                  <a:solidFill>
                    <a:schemeClr val="hlink"/>
                  </a:solidFill>
                  <a:latin typeface="Times New Roman" pitchFamily="18" charset="0"/>
                </a:rPr>
                <a:t> is</a:t>
              </a:r>
            </a:p>
            <a:p>
              <a:pPr algn="ctr" eaLnBrk="0" hangingPunct="0"/>
              <a:r>
                <a:rPr lang="en-US" sz="2000" b="1">
                  <a:solidFill>
                    <a:schemeClr val="hlink"/>
                  </a:solidFill>
                  <a:latin typeface="Times New Roman" pitchFamily="18" charset="0"/>
                </a:rPr>
                <a:t>executed until the</a:t>
              </a:r>
            </a:p>
            <a:p>
              <a:pPr algn="ctr" eaLnBrk="0" hangingPunct="0"/>
              <a:r>
                <a:rPr lang="en-US" sz="2000" b="1" i="1">
                  <a:solidFill>
                    <a:schemeClr val="accent2"/>
                  </a:solidFill>
                  <a:latin typeface="Times New Roman" pitchFamily="18" charset="0"/>
                </a:rPr>
                <a:t>condition</a:t>
              </a:r>
              <a:r>
                <a:rPr lang="en-US" sz="2000" b="1">
                  <a:solidFill>
                    <a:schemeClr val="accent2"/>
                  </a:solidFill>
                  <a:latin typeface="Times New Roman" pitchFamily="18" charset="0"/>
                </a:rPr>
                <a:t> </a:t>
              </a:r>
              <a:r>
                <a:rPr lang="en-US" sz="2000" b="1">
                  <a:solidFill>
                    <a:schemeClr val="hlink"/>
                  </a:solidFill>
                  <a:latin typeface="Times New Roman" pitchFamily="18" charset="0"/>
                </a:rPr>
                <a:t>becomes false</a:t>
              </a:r>
              <a:endParaRPr lang="en-US" sz="2400">
                <a:solidFill>
                  <a:schemeClr val="hlink"/>
                </a:solidFill>
                <a:latin typeface="Times New Roman" pitchFamily="18" charset="0"/>
              </a:endParaRPr>
            </a:p>
          </p:txBody>
        </p:sp>
        <p:sp>
          <p:nvSpPr>
            <p:cNvPr id="30732" name="Line 13"/>
            <p:cNvSpPr>
              <a:spLocks noChangeShapeType="1"/>
            </p:cNvSpPr>
            <p:nvPr/>
          </p:nvSpPr>
          <p:spPr bwMode="auto">
            <a:xfrm flipH="1">
              <a:off x="3648" y="2064"/>
              <a:ext cx="432" cy="288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 type="none" w="sm" len="sm"/>
              <a:tailEnd type="triangle" w="lg" len="med"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" name="Group 14"/>
          <p:cNvGrpSpPr>
            <a:grpSpLocks/>
          </p:cNvGrpSpPr>
          <p:nvPr/>
        </p:nvGrpSpPr>
        <p:grpSpPr bwMode="auto">
          <a:xfrm>
            <a:off x="990600" y="4953000"/>
            <a:ext cx="4876800" cy="1749425"/>
            <a:chOff x="740" y="2726"/>
            <a:chExt cx="4361" cy="1045"/>
          </a:xfrm>
        </p:grpSpPr>
        <p:sp>
          <p:nvSpPr>
            <p:cNvPr id="30729" name="Text Box 15"/>
            <p:cNvSpPr txBox="1">
              <a:spLocks noChangeArrowheads="1"/>
            </p:cNvSpPr>
            <p:nvPr/>
          </p:nvSpPr>
          <p:spPr bwMode="auto">
            <a:xfrm>
              <a:off x="740" y="2988"/>
              <a:ext cx="4361" cy="783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anchor="ctr">
              <a:spAutoFit/>
            </a:bodyPr>
            <a:lstStyle/>
            <a:p>
              <a:pPr algn="just" eaLnBrk="0" hangingPunct="0"/>
              <a:r>
                <a:rPr lang="en-US" sz="2000" b="1">
                  <a:solidFill>
                    <a:schemeClr val="hlink"/>
                  </a:solidFill>
                  <a:latin typeface="Times New Roman" pitchFamily="18" charset="0"/>
                </a:rPr>
                <a:t>The </a:t>
              </a:r>
              <a:r>
                <a:rPr lang="en-US" sz="2000" b="1" i="1">
                  <a:solidFill>
                    <a:schemeClr val="accent2"/>
                  </a:solidFill>
                  <a:latin typeface="Times New Roman" pitchFamily="18" charset="0"/>
                </a:rPr>
                <a:t>increment</a:t>
              </a:r>
              <a:r>
                <a:rPr lang="en-US" sz="2000" b="1">
                  <a:solidFill>
                    <a:schemeClr val="hlink"/>
                  </a:solidFill>
                  <a:latin typeface="Times New Roman" pitchFamily="18" charset="0"/>
                </a:rPr>
                <a:t> portion is executed at the end of each iteration</a:t>
              </a:r>
            </a:p>
            <a:p>
              <a:pPr algn="just" eaLnBrk="0" hangingPunct="0"/>
              <a:r>
                <a:rPr lang="en-US" sz="2000" b="1">
                  <a:solidFill>
                    <a:schemeClr val="hlink"/>
                  </a:solidFill>
                  <a:latin typeface="Times New Roman" pitchFamily="18" charset="0"/>
                </a:rPr>
                <a:t>The </a:t>
              </a:r>
              <a:r>
                <a:rPr lang="en-US" sz="2000" b="1" i="1">
                  <a:solidFill>
                    <a:schemeClr val="accent2"/>
                  </a:solidFill>
                  <a:latin typeface="Times New Roman" pitchFamily="18" charset="0"/>
                </a:rPr>
                <a:t>condition</a:t>
              </a:r>
              <a:r>
                <a:rPr lang="en-US" sz="2000" b="1" i="1">
                  <a:solidFill>
                    <a:schemeClr val="hlink"/>
                  </a:solidFill>
                  <a:latin typeface="Times New Roman" pitchFamily="18" charset="0"/>
                </a:rPr>
                <a:t>-</a:t>
              </a:r>
              <a:r>
                <a:rPr lang="en-US" sz="2000" b="1" i="1">
                  <a:solidFill>
                    <a:schemeClr val="accent2"/>
                  </a:solidFill>
                  <a:latin typeface="Times New Roman" pitchFamily="18" charset="0"/>
                </a:rPr>
                <a:t>statement</a:t>
              </a:r>
              <a:r>
                <a:rPr lang="en-US" sz="2000" b="1" i="1">
                  <a:solidFill>
                    <a:schemeClr val="hlink"/>
                  </a:solidFill>
                  <a:latin typeface="Times New Roman" pitchFamily="18" charset="0"/>
                </a:rPr>
                <a:t>-</a:t>
              </a:r>
              <a:r>
                <a:rPr lang="en-US" sz="2000" b="1" i="1">
                  <a:solidFill>
                    <a:schemeClr val="accent2"/>
                  </a:solidFill>
                  <a:latin typeface="Times New Roman" pitchFamily="18" charset="0"/>
                </a:rPr>
                <a:t>increment</a:t>
              </a:r>
              <a:r>
                <a:rPr lang="en-US" sz="2000" b="1">
                  <a:solidFill>
                    <a:schemeClr val="accent2"/>
                  </a:solidFill>
                  <a:latin typeface="Times New Roman" pitchFamily="18" charset="0"/>
                </a:rPr>
                <a:t> </a:t>
              </a:r>
              <a:r>
                <a:rPr lang="en-US" sz="2000" b="1">
                  <a:solidFill>
                    <a:schemeClr val="hlink"/>
                  </a:solidFill>
                  <a:latin typeface="Times New Roman" pitchFamily="18" charset="0"/>
                </a:rPr>
                <a:t>cycle is executed repeatedly</a:t>
              </a:r>
              <a:endParaRPr lang="en-US" sz="2400">
                <a:solidFill>
                  <a:schemeClr val="hlink"/>
                </a:solidFill>
                <a:latin typeface="Times New Roman" pitchFamily="18" charset="0"/>
              </a:endParaRPr>
            </a:p>
          </p:txBody>
        </p:sp>
        <p:sp>
          <p:nvSpPr>
            <p:cNvPr id="30730" name="Line 16"/>
            <p:cNvSpPr>
              <a:spLocks noChangeShapeType="1"/>
            </p:cNvSpPr>
            <p:nvPr/>
          </p:nvSpPr>
          <p:spPr bwMode="auto">
            <a:xfrm flipV="1">
              <a:off x="3696" y="2726"/>
              <a:ext cx="672" cy="442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 type="none" w="sm" len="sm"/>
              <a:tailEnd type="triangle" w="lg" len="med"/>
            </a:ln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The for Statement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pPr eaLnBrk="1" hangingPunct="1">
              <a:buFont typeface="Wingdings" pitchFamily="2" charset="2"/>
              <a:buChar char="ü"/>
            </a:pPr>
            <a:r>
              <a:rPr lang="en-US" smtClean="0">
                <a:latin typeface="Times New Roman" pitchFamily="18" charset="0"/>
              </a:rPr>
              <a:t>A for loop is functionally equivalent to the following while loop structure:</a:t>
            </a:r>
          </a:p>
        </p:txBody>
      </p:sp>
      <p:sp>
        <p:nvSpPr>
          <p:cNvPr id="31748" name="Text Box 4"/>
          <p:cNvSpPr txBox="1">
            <a:spLocks noChangeArrowheads="1"/>
          </p:cNvSpPr>
          <p:nvPr/>
        </p:nvSpPr>
        <p:spPr bwMode="auto">
          <a:xfrm>
            <a:off x="2819400" y="3581400"/>
            <a:ext cx="2143125" cy="16160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2000" b="1" i="1">
                <a:solidFill>
                  <a:schemeClr val="accent2"/>
                </a:solidFill>
                <a:latin typeface="Times New Roman" pitchFamily="18" charset="0"/>
              </a:rPr>
              <a:t>initialization</a:t>
            </a:r>
            <a:r>
              <a:rPr lang="en-US" sz="2000" b="1">
                <a:latin typeface="Times New Roman" pitchFamily="18" charset="0"/>
              </a:rPr>
              <a:t>;</a:t>
            </a:r>
          </a:p>
          <a:p>
            <a:pPr eaLnBrk="0" hangingPunct="0"/>
            <a:r>
              <a:rPr lang="en-US" sz="2000" b="1">
                <a:latin typeface="Times New Roman" pitchFamily="18" charset="0"/>
              </a:rPr>
              <a:t>while (</a:t>
            </a:r>
            <a:r>
              <a:rPr lang="en-US" sz="2000" b="1" i="1">
                <a:solidFill>
                  <a:schemeClr val="accent2"/>
                </a:solidFill>
                <a:latin typeface="Times New Roman" pitchFamily="18" charset="0"/>
              </a:rPr>
              <a:t>condition</a:t>
            </a:r>
            <a:r>
              <a:rPr lang="en-US" sz="2000" b="1">
                <a:latin typeface="Times New Roman" pitchFamily="18" charset="0"/>
              </a:rPr>
              <a:t>) {</a:t>
            </a:r>
          </a:p>
          <a:p>
            <a:pPr eaLnBrk="0" hangingPunct="0"/>
            <a:r>
              <a:rPr lang="en-US" sz="2000" b="1">
                <a:latin typeface="Times New Roman" pitchFamily="18" charset="0"/>
              </a:rPr>
              <a:t>    </a:t>
            </a:r>
            <a:r>
              <a:rPr lang="en-US" sz="2000" b="1" i="1">
                <a:solidFill>
                  <a:schemeClr val="accent2"/>
                </a:solidFill>
                <a:latin typeface="Times New Roman" pitchFamily="18" charset="0"/>
              </a:rPr>
              <a:t>statement</a:t>
            </a:r>
            <a:r>
              <a:rPr lang="en-US" sz="2000" b="1">
                <a:latin typeface="Times New Roman" pitchFamily="18" charset="0"/>
              </a:rPr>
              <a:t>;</a:t>
            </a:r>
          </a:p>
          <a:p>
            <a:pPr eaLnBrk="0" hangingPunct="0"/>
            <a:r>
              <a:rPr lang="en-US" sz="2000" b="1">
                <a:latin typeface="Times New Roman" pitchFamily="18" charset="0"/>
              </a:rPr>
              <a:t>    </a:t>
            </a:r>
            <a:r>
              <a:rPr lang="en-US" sz="2000" b="1" i="1">
                <a:solidFill>
                  <a:schemeClr val="accent2"/>
                </a:solidFill>
                <a:latin typeface="Times New Roman" pitchFamily="18" charset="0"/>
              </a:rPr>
              <a:t>increment</a:t>
            </a:r>
            <a:r>
              <a:rPr lang="en-US" sz="2000" b="1">
                <a:latin typeface="Times New Roman" pitchFamily="18" charset="0"/>
              </a:rPr>
              <a:t>;</a:t>
            </a:r>
          </a:p>
          <a:p>
            <a:pPr eaLnBrk="0" hangingPunct="0"/>
            <a:r>
              <a:rPr lang="en-US" sz="2000" b="1">
                <a:latin typeface="Times New Roman" pitchFamily="18" charset="0"/>
              </a:rPr>
              <a:t>}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Logic of a for loop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3352800" y="3581400"/>
            <a:ext cx="1600200" cy="1066800"/>
            <a:chOff x="2112" y="2256"/>
            <a:chExt cx="1008" cy="672"/>
          </a:xfrm>
        </p:grpSpPr>
        <p:grpSp>
          <p:nvGrpSpPr>
            <p:cNvPr id="3" name="Group 4"/>
            <p:cNvGrpSpPr>
              <a:grpSpLocks/>
            </p:cNvGrpSpPr>
            <p:nvPr/>
          </p:nvGrpSpPr>
          <p:grpSpPr bwMode="auto">
            <a:xfrm>
              <a:off x="2112" y="2688"/>
              <a:ext cx="1008" cy="240"/>
              <a:chOff x="2112" y="2496"/>
              <a:chExt cx="1008" cy="240"/>
            </a:xfrm>
          </p:grpSpPr>
          <p:sp>
            <p:nvSpPr>
              <p:cNvPr id="32794" name="Rectangle 5"/>
              <p:cNvSpPr>
                <a:spLocks noChangeArrowheads="1"/>
              </p:cNvSpPr>
              <p:nvPr/>
            </p:nvSpPr>
            <p:spPr bwMode="auto">
              <a:xfrm>
                <a:off x="2112" y="2496"/>
                <a:ext cx="1008" cy="240"/>
              </a:xfrm>
              <a:prstGeom prst="rect">
                <a:avLst/>
              </a:prstGeom>
              <a:solidFill>
                <a:srgbClr val="FFCC99"/>
              </a:solidFill>
              <a:ln w="12700">
                <a:solidFill>
                  <a:schemeClr val="bg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795" name="Text Box 6"/>
              <p:cNvSpPr txBox="1">
                <a:spLocks noChangeArrowheads="1"/>
              </p:cNvSpPr>
              <p:nvPr/>
            </p:nvSpPr>
            <p:spPr bwMode="auto">
              <a:xfrm>
                <a:off x="2258" y="2496"/>
                <a:ext cx="716" cy="231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 anchor="ctr">
                <a:spAutoFit/>
              </a:bodyPr>
              <a:lstStyle/>
              <a:p>
                <a:pPr algn="ctr" eaLnBrk="0" hangingPunct="0"/>
                <a:r>
                  <a:rPr lang="en-US" b="1">
                    <a:solidFill>
                      <a:schemeClr val="bg2"/>
                    </a:solidFill>
                    <a:latin typeface="Times New Roman" pitchFamily="18" charset="0"/>
                  </a:rPr>
                  <a:t>statement</a:t>
                </a:r>
                <a:endParaRPr lang="en-US" sz="2400">
                  <a:latin typeface="Times New Roman" pitchFamily="18" charset="0"/>
                </a:endParaRPr>
              </a:p>
            </p:txBody>
          </p:sp>
        </p:grpSp>
        <p:cxnSp>
          <p:nvCxnSpPr>
            <p:cNvPr id="32792" name="AutoShape 7"/>
            <p:cNvCxnSpPr>
              <a:cxnSpLocks noChangeShapeType="1"/>
              <a:stCxn id="32789" idx="2"/>
              <a:endCxn id="32794" idx="0"/>
            </p:cNvCxnSpPr>
            <p:nvPr/>
          </p:nvCxnSpPr>
          <p:spPr bwMode="auto">
            <a:xfrm>
              <a:off x="2616" y="2256"/>
              <a:ext cx="0" cy="432"/>
            </a:xfrm>
            <a:prstGeom prst="straightConnector1">
              <a:avLst/>
            </a:prstGeom>
            <a:noFill/>
            <a:ln w="31750">
              <a:solidFill>
                <a:srgbClr val="FF0000"/>
              </a:solidFill>
              <a:round/>
              <a:headEnd type="none" w="sm" len="sm"/>
              <a:tailEnd type="triangle" w="lg" len="med"/>
            </a:ln>
          </p:spPr>
        </p:cxnSp>
        <p:sp>
          <p:nvSpPr>
            <p:cNvPr id="32793" name="Text Box 8"/>
            <p:cNvSpPr txBox="1">
              <a:spLocks noChangeArrowheads="1"/>
            </p:cNvSpPr>
            <p:nvPr/>
          </p:nvSpPr>
          <p:spPr bwMode="auto">
            <a:xfrm>
              <a:off x="2652" y="2352"/>
              <a:ext cx="372" cy="231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b="1">
                  <a:solidFill>
                    <a:schemeClr val="hlink"/>
                  </a:solidFill>
                  <a:latin typeface="Times New Roman" pitchFamily="18" charset="0"/>
                </a:rPr>
                <a:t>true</a:t>
              </a:r>
              <a:endParaRPr lang="en-US" sz="2400">
                <a:solidFill>
                  <a:schemeClr val="hlink"/>
                </a:solidFill>
                <a:latin typeface="Times New Roman" pitchFamily="18" charset="0"/>
              </a:endParaRPr>
            </a:p>
          </p:txBody>
        </p:sp>
      </p:grpSp>
      <p:cxnSp>
        <p:nvCxnSpPr>
          <p:cNvPr id="32772" name="AutoShape 9"/>
          <p:cNvCxnSpPr>
            <a:cxnSpLocks noChangeShapeType="1"/>
            <a:stCxn id="32783" idx="1"/>
            <a:endCxn id="32789" idx="1"/>
          </p:cNvCxnSpPr>
          <p:nvPr/>
        </p:nvCxnSpPr>
        <p:spPr bwMode="auto">
          <a:xfrm rot="10800000">
            <a:off x="3200400" y="3124200"/>
            <a:ext cx="152400" cy="2019300"/>
          </a:xfrm>
          <a:prstGeom prst="bentConnector3">
            <a:avLst>
              <a:gd name="adj1" fmla="val 250000"/>
            </a:avLst>
          </a:prstGeom>
          <a:noFill/>
          <a:ln w="31750">
            <a:solidFill>
              <a:srgbClr val="FF0000"/>
            </a:solidFill>
            <a:miter lim="800000"/>
            <a:headEnd type="none" w="sm" len="sm"/>
            <a:tailEnd type="triangle" w="lg" len="med"/>
          </a:ln>
        </p:spPr>
      </p:cxnSp>
      <p:grpSp>
        <p:nvGrpSpPr>
          <p:cNvPr id="4" name="Group 10"/>
          <p:cNvGrpSpPr>
            <a:grpSpLocks/>
          </p:cNvGrpSpPr>
          <p:nvPr/>
        </p:nvGrpSpPr>
        <p:grpSpPr bwMode="auto">
          <a:xfrm>
            <a:off x="3200400" y="2271713"/>
            <a:ext cx="1905000" cy="1309687"/>
            <a:chOff x="2016" y="1431"/>
            <a:chExt cx="1200" cy="825"/>
          </a:xfrm>
        </p:grpSpPr>
        <p:grpSp>
          <p:nvGrpSpPr>
            <p:cNvPr id="5" name="Group 11"/>
            <p:cNvGrpSpPr>
              <a:grpSpLocks/>
            </p:cNvGrpSpPr>
            <p:nvPr/>
          </p:nvGrpSpPr>
          <p:grpSpPr bwMode="auto">
            <a:xfrm>
              <a:off x="2016" y="1680"/>
              <a:ext cx="1200" cy="576"/>
              <a:chOff x="2016" y="1584"/>
              <a:chExt cx="1200" cy="576"/>
            </a:xfrm>
          </p:grpSpPr>
          <p:sp>
            <p:nvSpPr>
              <p:cNvPr id="32789" name="AutoShape 12"/>
              <p:cNvSpPr>
                <a:spLocks noChangeArrowheads="1"/>
              </p:cNvSpPr>
              <p:nvPr/>
            </p:nvSpPr>
            <p:spPr bwMode="auto">
              <a:xfrm>
                <a:off x="2016" y="1584"/>
                <a:ext cx="1200" cy="576"/>
              </a:xfrm>
              <a:prstGeom prst="diamond">
                <a:avLst/>
              </a:prstGeom>
              <a:solidFill>
                <a:srgbClr val="FFCC99"/>
              </a:solidFill>
              <a:ln w="12700">
                <a:solidFill>
                  <a:schemeClr val="bg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790" name="Text Box 13"/>
              <p:cNvSpPr txBox="1">
                <a:spLocks noChangeArrowheads="1"/>
              </p:cNvSpPr>
              <p:nvPr/>
            </p:nvSpPr>
            <p:spPr bwMode="auto">
              <a:xfrm>
                <a:off x="2262" y="1660"/>
                <a:ext cx="708" cy="404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 anchor="ctr">
                <a:spAutoFit/>
              </a:bodyPr>
              <a:lstStyle/>
              <a:p>
                <a:pPr algn="ctr" eaLnBrk="0" hangingPunct="0"/>
                <a:r>
                  <a:rPr lang="en-US" b="1">
                    <a:solidFill>
                      <a:schemeClr val="bg2"/>
                    </a:solidFill>
                    <a:latin typeface="Times New Roman" pitchFamily="18" charset="0"/>
                  </a:rPr>
                  <a:t>condition</a:t>
                </a:r>
              </a:p>
              <a:p>
                <a:pPr algn="ctr" eaLnBrk="0" hangingPunct="0"/>
                <a:r>
                  <a:rPr lang="en-US" b="1">
                    <a:solidFill>
                      <a:schemeClr val="bg2"/>
                    </a:solidFill>
                    <a:latin typeface="Times New Roman" pitchFamily="18" charset="0"/>
                  </a:rPr>
                  <a:t>evaluated</a:t>
                </a:r>
                <a:endParaRPr lang="en-US" sz="2400">
                  <a:latin typeface="Times New Roman" pitchFamily="18" charset="0"/>
                </a:endParaRPr>
              </a:p>
            </p:txBody>
          </p:sp>
        </p:grpSp>
        <p:cxnSp>
          <p:nvCxnSpPr>
            <p:cNvPr id="32788" name="AutoShape 14"/>
            <p:cNvCxnSpPr>
              <a:cxnSpLocks noChangeShapeType="1"/>
              <a:stCxn id="32780" idx="2"/>
              <a:endCxn id="32789" idx="0"/>
            </p:cNvCxnSpPr>
            <p:nvPr/>
          </p:nvCxnSpPr>
          <p:spPr bwMode="auto">
            <a:xfrm>
              <a:off x="2616" y="1431"/>
              <a:ext cx="0" cy="249"/>
            </a:xfrm>
            <a:prstGeom prst="straightConnector1">
              <a:avLst/>
            </a:prstGeom>
            <a:noFill/>
            <a:ln w="31750">
              <a:solidFill>
                <a:srgbClr val="FF0000"/>
              </a:solidFill>
              <a:round/>
              <a:headEnd type="none" w="sm" len="sm"/>
              <a:tailEnd type="triangle" w="lg" len="med"/>
            </a:ln>
          </p:spPr>
        </p:cxnSp>
      </p:grpSp>
      <p:grpSp>
        <p:nvGrpSpPr>
          <p:cNvPr id="6" name="Group 15"/>
          <p:cNvGrpSpPr>
            <a:grpSpLocks/>
          </p:cNvGrpSpPr>
          <p:nvPr/>
        </p:nvGrpSpPr>
        <p:grpSpPr bwMode="auto">
          <a:xfrm>
            <a:off x="4114800" y="3124200"/>
            <a:ext cx="1905000" cy="2895600"/>
            <a:chOff x="2592" y="1968"/>
            <a:chExt cx="1200" cy="1824"/>
          </a:xfrm>
        </p:grpSpPr>
        <p:cxnSp>
          <p:nvCxnSpPr>
            <p:cNvPr id="32785" name="AutoShape 16"/>
            <p:cNvCxnSpPr>
              <a:cxnSpLocks noChangeShapeType="1"/>
              <a:stCxn id="32789" idx="3"/>
            </p:cNvCxnSpPr>
            <p:nvPr/>
          </p:nvCxnSpPr>
          <p:spPr bwMode="auto">
            <a:xfrm flipH="1">
              <a:off x="2592" y="1968"/>
              <a:ext cx="624" cy="1824"/>
            </a:xfrm>
            <a:prstGeom prst="bentConnector4">
              <a:avLst>
                <a:gd name="adj1" fmla="val -23079"/>
                <a:gd name="adj2" fmla="val 87444"/>
              </a:avLst>
            </a:prstGeom>
            <a:noFill/>
            <a:ln w="31750">
              <a:solidFill>
                <a:srgbClr val="FF0000"/>
              </a:solidFill>
              <a:miter lim="800000"/>
              <a:headEnd type="none" w="sm" len="sm"/>
              <a:tailEnd type="triangle" w="lg" len="med"/>
            </a:ln>
          </p:spPr>
        </p:cxnSp>
        <p:sp>
          <p:nvSpPr>
            <p:cNvPr id="32786" name="Text Box 17"/>
            <p:cNvSpPr txBox="1">
              <a:spLocks noChangeArrowheads="1"/>
            </p:cNvSpPr>
            <p:nvPr/>
          </p:nvSpPr>
          <p:spPr bwMode="auto">
            <a:xfrm>
              <a:off x="3396" y="2352"/>
              <a:ext cx="396" cy="231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b="1">
                  <a:solidFill>
                    <a:schemeClr val="hlink"/>
                  </a:solidFill>
                  <a:latin typeface="Times New Roman" pitchFamily="18" charset="0"/>
                </a:rPr>
                <a:t>false</a:t>
              </a:r>
              <a:endParaRPr lang="en-US" sz="2400">
                <a:solidFill>
                  <a:schemeClr val="hlink"/>
                </a:solidFill>
                <a:latin typeface="Times New Roman" pitchFamily="18" charset="0"/>
              </a:endParaRPr>
            </a:p>
          </p:txBody>
        </p:sp>
      </p:grpSp>
      <p:grpSp>
        <p:nvGrpSpPr>
          <p:cNvPr id="7" name="Group 18"/>
          <p:cNvGrpSpPr>
            <a:grpSpLocks/>
          </p:cNvGrpSpPr>
          <p:nvPr/>
        </p:nvGrpSpPr>
        <p:grpSpPr bwMode="auto">
          <a:xfrm>
            <a:off x="3352800" y="4648200"/>
            <a:ext cx="1600200" cy="685800"/>
            <a:chOff x="2112" y="2928"/>
            <a:chExt cx="1008" cy="432"/>
          </a:xfrm>
        </p:grpSpPr>
        <p:grpSp>
          <p:nvGrpSpPr>
            <p:cNvPr id="8" name="Group 19"/>
            <p:cNvGrpSpPr>
              <a:grpSpLocks/>
            </p:cNvGrpSpPr>
            <p:nvPr/>
          </p:nvGrpSpPr>
          <p:grpSpPr bwMode="auto">
            <a:xfrm>
              <a:off x="2112" y="3120"/>
              <a:ext cx="1008" cy="240"/>
              <a:chOff x="2112" y="2496"/>
              <a:chExt cx="1008" cy="240"/>
            </a:xfrm>
          </p:grpSpPr>
          <p:sp>
            <p:nvSpPr>
              <p:cNvPr id="32783" name="Rectangle 20"/>
              <p:cNvSpPr>
                <a:spLocks noChangeArrowheads="1"/>
              </p:cNvSpPr>
              <p:nvPr/>
            </p:nvSpPr>
            <p:spPr bwMode="auto">
              <a:xfrm>
                <a:off x="2112" y="2496"/>
                <a:ext cx="1008" cy="240"/>
              </a:xfrm>
              <a:prstGeom prst="rect">
                <a:avLst/>
              </a:prstGeom>
              <a:solidFill>
                <a:srgbClr val="FFCC99"/>
              </a:solidFill>
              <a:ln w="12700">
                <a:solidFill>
                  <a:schemeClr val="bg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784" name="Text Box 21"/>
              <p:cNvSpPr txBox="1">
                <a:spLocks noChangeArrowheads="1"/>
              </p:cNvSpPr>
              <p:nvPr/>
            </p:nvSpPr>
            <p:spPr bwMode="auto">
              <a:xfrm>
                <a:off x="2246" y="2496"/>
                <a:ext cx="740" cy="231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 anchor="ctr">
                <a:spAutoFit/>
              </a:bodyPr>
              <a:lstStyle/>
              <a:p>
                <a:pPr algn="ctr" eaLnBrk="0" hangingPunct="0"/>
                <a:r>
                  <a:rPr lang="en-US" b="1">
                    <a:solidFill>
                      <a:schemeClr val="bg2"/>
                    </a:solidFill>
                    <a:latin typeface="Times New Roman" pitchFamily="18" charset="0"/>
                  </a:rPr>
                  <a:t>increment</a:t>
                </a:r>
                <a:endParaRPr lang="en-US" sz="2400">
                  <a:latin typeface="Times New Roman" pitchFamily="18" charset="0"/>
                </a:endParaRPr>
              </a:p>
            </p:txBody>
          </p:sp>
        </p:grpSp>
        <p:cxnSp>
          <p:nvCxnSpPr>
            <p:cNvPr id="32782" name="AutoShape 22"/>
            <p:cNvCxnSpPr>
              <a:cxnSpLocks noChangeShapeType="1"/>
              <a:stCxn id="32794" idx="2"/>
              <a:endCxn id="32784" idx="0"/>
            </p:cNvCxnSpPr>
            <p:nvPr/>
          </p:nvCxnSpPr>
          <p:spPr bwMode="auto">
            <a:xfrm>
              <a:off x="2616" y="2928"/>
              <a:ext cx="0" cy="192"/>
            </a:xfrm>
            <a:prstGeom prst="straightConnector1">
              <a:avLst/>
            </a:prstGeom>
            <a:noFill/>
            <a:ln w="31750">
              <a:solidFill>
                <a:srgbClr val="FF0000"/>
              </a:solidFill>
              <a:round/>
              <a:headEnd type="none" w="sm" len="sm"/>
              <a:tailEnd type="triangle" w="lg" len="med"/>
            </a:ln>
          </p:spPr>
        </p:cxnSp>
      </p:grpSp>
      <p:grpSp>
        <p:nvGrpSpPr>
          <p:cNvPr id="9" name="Group 23"/>
          <p:cNvGrpSpPr>
            <a:grpSpLocks/>
          </p:cNvGrpSpPr>
          <p:nvPr/>
        </p:nvGrpSpPr>
        <p:grpSpPr bwMode="auto">
          <a:xfrm>
            <a:off x="3352800" y="1371600"/>
            <a:ext cx="1600200" cy="914400"/>
            <a:chOff x="2112" y="864"/>
            <a:chExt cx="1008" cy="576"/>
          </a:xfrm>
        </p:grpSpPr>
        <p:grpSp>
          <p:nvGrpSpPr>
            <p:cNvPr id="10" name="Group 24"/>
            <p:cNvGrpSpPr>
              <a:grpSpLocks/>
            </p:cNvGrpSpPr>
            <p:nvPr/>
          </p:nvGrpSpPr>
          <p:grpSpPr bwMode="auto">
            <a:xfrm>
              <a:off x="2112" y="1200"/>
              <a:ext cx="1008" cy="240"/>
              <a:chOff x="2112" y="2496"/>
              <a:chExt cx="1008" cy="240"/>
            </a:xfrm>
          </p:grpSpPr>
          <p:sp>
            <p:nvSpPr>
              <p:cNvPr id="32779" name="Rectangle 25"/>
              <p:cNvSpPr>
                <a:spLocks noChangeArrowheads="1"/>
              </p:cNvSpPr>
              <p:nvPr/>
            </p:nvSpPr>
            <p:spPr bwMode="auto">
              <a:xfrm>
                <a:off x="2112" y="2496"/>
                <a:ext cx="1008" cy="240"/>
              </a:xfrm>
              <a:prstGeom prst="rect">
                <a:avLst/>
              </a:prstGeom>
              <a:solidFill>
                <a:srgbClr val="FFCC99"/>
              </a:solidFill>
              <a:ln w="12700">
                <a:solidFill>
                  <a:schemeClr val="bg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780" name="Text Box 26"/>
              <p:cNvSpPr txBox="1">
                <a:spLocks noChangeArrowheads="1"/>
              </p:cNvSpPr>
              <p:nvPr/>
            </p:nvSpPr>
            <p:spPr bwMode="auto">
              <a:xfrm>
                <a:off x="2170" y="2496"/>
                <a:ext cx="892" cy="231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 anchor="ctr">
                <a:spAutoFit/>
              </a:bodyPr>
              <a:lstStyle/>
              <a:p>
                <a:pPr algn="ctr" eaLnBrk="0" hangingPunct="0"/>
                <a:r>
                  <a:rPr lang="en-US" b="1">
                    <a:solidFill>
                      <a:schemeClr val="bg2"/>
                    </a:solidFill>
                    <a:latin typeface="Times New Roman" pitchFamily="18" charset="0"/>
                  </a:rPr>
                  <a:t>initialization</a:t>
                </a:r>
                <a:endParaRPr lang="en-US" sz="2400">
                  <a:latin typeface="Times New Roman" pitchFamily="18" charset="0"/>
                </a:endParaRPr>
              </a:p>
            </p:txBody>
          </p:sp>
        </p:grpSp>
        <p:cxnSp>
          <p:nvCxnSpPr>
            <p:cNvPr id="32778" name="AutoShape 27"/>
            <p:cNvCxnSpPr>
              <a:cxnSpLocks noChangeShapeType="1"/>
              <a:endCxn id="32780" idx="0"/>
            </p:cNvCxnSpPr>
            <p:nvPr/>
          </p:nvCxnSpPr>
          <p:spPr bwMode="auto">
            <a:xfrm>
              <a:off x="2616" y="864"/>
              <a:ext cx="0" cy="336"/>
            </a:xfrm>
            <a:prstGeom prst="straightConnector1">
              <a:avLst/>
            </a:prstGeom>
            <a:noFill/>
            <a:ln w="31750">
              <a:solidFill>
                <a:srgbClr val="FF0000"/>
              </a:solidFill>
              <a:round/>
              <a:headEnd type="none" w="sm" len="sm"/>
              <a:tailEnd type="triangle" w="lg" len="med"/>
            </a:ln>
          </p:spPr>
        </p:cxnSp>
      </p:grp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for Example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81000" y="1952625"/>
            <a:ext cx="8763000" cy="4905375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sz="2000" smtClean="0">
                <a:latin typeface="Times New Roman" pitchFamily="18" charset="0"/>
                <a:cs typeface="Times New Roman" pitchFamily="18" charset="0"/>
              </a:rPr>
              <a:t>int LIMIT = 5;</a:t>
            </a:r>
          </a:p>
          <a:p>
            <a:pPr eaLnBrk="1" hangingPunct="1">
              <a:lnSpc>
                <a:spcPct val="50000"/>
              </a:lnSpc>
              <a:buFont typeface="Wingdings" pitchFamily="2" charset="2"/>
              <a:buNone/>
            </a:pPr>
            <a:endParaRPr lang="en-US" sz="2000" smtClean="0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lnSpc>
                <a:spcPct val="50000"/>
              </a:lnSpc>
              <a:buFont typeface="Wingdings" pitchFamily="2" charset="2"/>
              <a:buNone/>
            </a:pPr>
            <a:r>
              <a:rPr lang="en-US" sz="2000" smtClean="0">
                <a:latin typeface="Times New Roman" pitchFamily="18" charset="0"/>
                <a:cs typeface="Times New Roman" pitchFamily="18" charset="0"/>
              </a:rPr>
              <a:t>for (int count = 1; count &lt;= LIMIT; count++) {</a:t>
            </a:r>
          </a:p>
          <a:p>
            <a:pPr eaLnBrk="1" hangingPunct="1">
              <a:lnSpc>
                <a:spcPct val="50000"/>
              </a:lnSpc>
              <a:buFont typeface="Wingdings" pitchFamily="2" charset="2"/>
              <a:buNone/>
            </a:pPr>
            <a:endParaRPr lang="en-US" sz="2000" smtClean="0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lnSpc>
                <a:spcPct val="50000"/>
              </a:lnSpc>
              <a:buFont typeface="Wingdings" pitchFamily="2" charset="2"/>
              <a:buNone/>
            </a:pPr>
            <a:r>
              <a:rPr lang="en-US" sz="2000" smtClean="0">
                <a:latin typeface="Times New Roman" pitchFamily="18" charset="0"/>
                <a:cs typeface="Times New Roman" pitchFamily="18" charset="0"/>
              </a:rPr>
              <a:t>    System.out.println(count);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000" smtClean="0"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pPr eaLnBrk="1" hangingPunct="1"/>
            <a:endParaRPr lang="en-US" sz="2000" smtClean="0"/>
          </a:p>
        </p:txBody>
      </p:sp>
      <p:sp>
        <p:nvSpPr>
          <p:cNvPr id="33796" name="Text Box 4"/>
          <p:cNvSpPr txBox="1">
            <a:spLocks noChangeArrowheads="1"/>
          </p:cNvSpPr>
          <p:nvPr/>
        </p:nvSpPr>
        <p:spPr bwMode="auto">
          <a:xfrm>
            <a:off x="3200400" y="4105275"/>
            <a:ext cx="1211263" cy="2676525"/>
          </a:xfrm>
          <a:prstGeom prst="rect">
            <a:avLst/>
          </a:prstGeom>
          <a:solidFill>
            <a:srgbClr val="F8F8F8"/>
          </a:solidFill>
          <a:ln w="28575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wrap="none" anchorCtr="1">
            <a:spAutoFit/>
          </a:bodyPr>
          <a:lstStyle/>
          <a:p>
            <a:pPr algn="ctr" eaLnBrk="0" hangingPunct="0"/>
            <a:r>
              <a:rPr lang="en-US" sz="2400">
                <a:solidFill>
                  <a:schemeClr val="hlink"/>
                </a:solidFill>
              </a:rPr>
              <a:t>Output:</a:t>
            </a:r>
          </a:p>
          <a:p>
            <a:pPr algn="ctr" eaLnBrk="0" hangingPunct="0"/>
            <a:endParaRPr lang="en-US" sz="2400">
              <a:solidFill>
                <a:schemeClr val="hlink"/>
              </a:solidFill>
            </a:endParaRPr>
          </a:p>
          <a:p>
            <a:pPr algn="ctr" eaLnBrk="0" hangingPunct="0"/>
            <a:r>
              <a:rPr lang="en-US" sz="2400"/>
              <a:t>1</a:t>
            </a:r>
          </a:p>
          <a:p>
            <a:pPr algn="ctr" eaLnBrk="0" hangingPunct="0"/>
            <a:r>
              <a:rPr lang="en-US" sz="2400"/>
              <a:t>2</a:t>
            </a:r>
          </a:p>
          <a:p>
            <a:pPr algn="ctr" eaLnBrk="0" hangingPunct="0"/>
            <a:r>
              <a:rPr lang="en-US" sz="2400"/>
              <a:t>3</a:t>
            </a:r>
          </a:p>
          <a:p>
            <a:pPr algn="ctr" eaLnBrk="0" hangingPunct="0"/>
            <a:r>
              <a:rPr lang="en-US" sz="2400"/>
              <a:t>4</a:t>
            </a:r>
          </a:p>
          <a:p>
            <a:pPr algn="ctr" eaLnBrk="0" hangingPunct="0"/>
            <a:r>
              <a:rPr lang="en-US" sz="2400"/>
              <a:t>5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b="1" dirty="0"/>
              <a:t>The for Statement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SzTx/>
              <a:buFont typeface="Wingdings" pitchFamily="2" charset="2"/>
              <a:buChar char="ü"/>
            </a:pPr>
            <a:r>
              <a:rPr lang="en-US" dirty="0" smtClean="0"/>
              <a:t>Each expression in the header of a for loop is optional</a:t>
            </a:r>
          </a:p>
          <a:p>
            <a:pPr lvl="3" eaLnBrk="1" hangingPunct="1">
              <a:lnSpc>
                <a:spcPct val="90000"/>
              </a:lnSpc>
              <a:buFont typeface="Wingdings" pitchFamily="2" charset="2"/>
              <a:buChar char="ü"/>
            </a:pPr>
            <a:endParaRPr lang="en-US" sz="2400" dirty="0" smtClean="0"/>
          </a:p>
          <a:p>
            <a:pPr lvl="1" eaLnBrk="1" hangingPunct="1">
              <a:lnSpc>
                <a:spcPct val="90000"/>
              </a:lnSpc>
              <a:buSzTx/>
              <a:buFont typeface="Wingdings" pitchFamily="2" charset="2"/>
              <a:buChar char="ü"/>
            </a:pPr>
            <a:r>
              <a:rPr lang="en-US" sz="2400" dirty="0" smtClean="0"/>
              <a:t>If the </a:t>
            </a:r>
            <a:r>
              <a:rPr lang="en-US" sz="2400" i="1" dirty="0" smtClean="0">
                <a:solidFill>
                  <a:schemeClr val="accent2"/>
                </a:solidFill>
              </a:rPr>
              <a:t>initialization</a:t>
            </a:r>
            <a:r>
              <a:rPr lang="en-US" sz="2400" dirty="0" smtClean="0"/>
              <a:t> is left out, no initialization is performed</a:t>
            </a:r>
          </a:p>
          <a:p>
            <a:pPr lvl="1" eaLnBrk="1" hangingPunct="1">
              <a:lnSpc>
                <a:spcPct val="90000"/>
              </a:lnSpc>
              <a:buSzTx/>
              <a:buFont typeface="Wingdings" pitchFamily="2" charset="2"/>
              <a:buChar char="ü"/>
            </a:pPr>
            <a:r>
              <a:rPr lang="en-US" sz="2400" dirty="0" smtClean="0"/>
              <a:t>If the </a:t>
            </a:r>
            <a:r>
              <a:rPr lang="en-US" sz="2400" i="1" dirty="0" smtClean="0">
                <a:solidFill>
                  <a:schemeClr val="accent2"/>
                </a:solidFill>
              </a:rPr>
              <a:t>condition</a:t>
            </a:r>
            <a:r>
              <a:rPr lang="en-US" sz="2400" dirty="0" smtClean="0"/>
              <a:t> is left out, it is always considered to be true, and therefore creates an infinite loop</a:t>
            </a:r>
          </a:p>
          <a:p>
            <a:pPr lvl="1" eaLnBrk="1" hangingPunct="1">
              <a:lnSpc>
                <a:spcPct val="90000"/>
              </a:lnSpc>
              <a:buSzTx/>
              <a:buFont typeface="Wingdings" pitchFamily="2" charset="2"/>
              <a:buChar char="ü"/>
            </a:pPr>
            <a:r>
              <a:rPr lang="en-US" sz="2400" dirty="0" smtClean="0"/>
              <a:t>If the </a:t>
            </a:r>
            <a:r>
              <a:rPr lang="en-US" sz="2400" i="1" dirty="0" smtClean="0">
                <a:solidFill>
                  <a:schemeClr val="accent2"/>
                </a:solidFill>
              </a:rPr>
              <a:t>increment</a:t>
            </a:r>
            <a:r>
              <a:rPr lang="en-US" sz="2400" dirty="0" smtClean="0"/>
              <a:t> is left out, no increment operation is performed</a:t>
            </a:r>
          </a:p>
          <a:p>
            <a:pPr lvl="1" eaLnBrk="1" hangingPunct="1">
              <a:lnSpc>
                <a:spcPct val="90000"/>
              </a:lnSpc>
              <a:buSzTx/>
              <a:buFont typeface="Wingdings" pitchFamily="2" charset="2"/>
              <a:buChar char="ü"/>
            </a:pPr>
            <a:endParaRPr lang="en-US" sz="2400" dirty="0" smtClean="0"/>
          </a:p>
          <a:p>
            <a:pPr eaLnBrk="1" hangingPunct="1">
              <a:lnSpc>
                <a:spcPct val="90000"/>
              </a:lnSpc>
              <a:buSzTx/>
              <a:buFont typeface="Wingdings" pitchFamily="2" charset="2"/>
              <a:buChar char="ü"/>
            </a:pPr>
            <a:r>
              <a:rPr lang="en-US" dirty="0" smtClean="0"/>
              <a:t>Both semi-colons are always required in the for loop header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/>
            </a:pPr>
            <a:r>
              <a:rPr lang="en-US" sz="4400" b="1" dirty="0" smtClean="0">
                <a:cs typeface="Times New Roman" pitchFamily="18" charset="0"/>
              </a:rPr>
              <a:t>Jump Statements-Break</a:t>
            </a:r>
            <a:endParaRPr lang="en-US" sz="4400" b="1" dirty="0"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33400" y="1600200"/>
            <a:ext cx="7467600" cy="4873625"/>
          </a:xfrm>
        </p:spPr>
        <p:txBody>
          <a:bodyPr/>
          <a:lstStyle/>
          <a:p>
            <a:pPr>
              <a:defRPr/>
            </a:pPr>
            <a:r>
              <a:rPr lang="en-US" dirty="0" smtClean="0">
                <a:cs typeface="Times New Roman" pitchFamily="18" charset="0"/>
              </a:rPr>
              <a:t>The break statement has three uses:</a:t>
            </a:r>
          </a:p>
          <a:p>
            <a:pPr lvl="1">
              <a:defRPr/>
            </a:pPr>
            <a:r>
              <a:rPr lang="en-US" dirty="0" smtClean="0">
                <a:cs typeface="Times New Roman" pitchFamily="18" charset="0"/>
              </a:rPr>
              <a:t>It terminates a statement sequence in a switch statement.</a:t>
            </a:r>
          </a:p>
          <a:p>
            <a:pPr lvl="1">
              <a:defRPr/>
            </a:pPr>
            <a:r>
              <a:rPr lang="en-US" dirty="0" smtClean="0">
                <a:cs typeface="Times New Roman" pitchFamily="18" charset="0"/>
              </a:rPr>
              <a:t>It can be used to exit a loop.</a:t>
            </a:r>
          </a:p>
          <a:p>
            <a:pPr lvl="1">
              <a:defRPr/>
            </a:pPr>
            <a:r>
              <a:rPr lang="en-US" dirty="0" smtClean="0">
                <a:cs typeface="Times New Roman" pitchFamily="18" charset="0"/>
              </a:rPr>
              <a:t>It can be used as a civilized form of </a:t>
            </a:r>
            <a:r>
              <a:rPr lang="en-US" dirty="0" err="1" smtClean="0">
                <a:cs typeface="Times New Roman" pitchFamily="18" charset="0"/>
              </a:rPr>
              <a:t>goto</a:t>
            </a:r>
            <a:r>
              <a:rPr lang="en-US" dirty="0" smtClean="0">
                <a:cs typeface="Times New Roman" pitchFamily="18" charset="0"/>
              </a:rPr>
              <a:t>.</a:t>
            </a:r>
          </a:p>
          <a:p>
            <a:pPr marL="85725" lvl="1" indent="0">
              <a:defRPr/>
            </a:pPr>
            <a:r>
              <a:rPr lang="en-US" b="1" u="sng" dirty="0" smtClean="0">
                <a:cs typeface="Times New Roman" pitchFamily="18" charset="0"/>
              </a:rPr>
              <a:t> Civilized Form of </a:t>
            </a:r>
            <a:r>
              <a:rPr lang="en-US" b="1" u="sng" dirty="0" err="1" smtClean="0">
                <a:cs typeface="Times New Roman" pitchFamily="18" charset="0"/>
              </a:rPr>
              <a:t>Goto</a:t>
            </a:r>
            <a:r>
              <a:rPr lang="en-US" b="1" u="sng" dirty="0" smtClean="0">
                <a:cs typeface="Times New Roman" pitchFamily="18" charset="0"/>
              </a:rPr>
              <a:t> Statement</a:t>
            </a:r>
          </a:p>
          <a:p>
            <a:pPr marL="85725" lvl="1" indent="0">
              <a:defRPr/>
            </a:pPr>
            <a:r>
              <a:rPr lang="en-US" dirty="0" smtClean="0">
                <a:cs typeface="Times New Roman" pitchFamily="18" charset="0"/>
              </a:rPr>
              <a:t> break </a:t>
            </a:r>
            <a:r>
              <a:rPr lang="en-US" i="1" dirty="0" smtClean="0">
                <a:cs typeface="Times New Roman" pitchFamily="18" charset="0"/>
              </a:rPr>
              <a:t>label</a:t>
            </a:r>
            <a:r>
              <a:rPr lang="en-US" dirty="0" smtClean="0">
                <a:cs typeface="Times New Roman" pitchFamily="18" charset="0"/>
              </a:rPr>
              <a:t>;</a:t>
            </a:r>
          </a:p>
          <a:p>
            <a:pPr marL="85725" lvl="1" indent="0">
              <a:buFont typeface="Wingdings 2" pitchFamily="18" charset="2"/>
              <a:buNone/>
              <a:defRPr/>
            </a:pPr>
            <a:r>
              <a:rPr lang="en-US" dirty="0" smtClean="0">
                <a:cs typeface="Times New Roman" pitchFamily="18" charset="0"/>
              </a:rPr>
              <a:t>   where </a:t>
            </a:r>
            <a:r>
              <a:rPr lang="en-US" i="1" dirty="0" smtClean="0">
                <a:cs typeface="Times New Roman" pitchFamily="18" charset="0"/>
              </a:rPr>
              <a:t>label</a:t>
            </a:r>
            <a:r>
              <a:rPr lang="en-US" dirty="0" smtClean="0">
                <a:cs typeface="Times New Roman" pitchFamily="18" charset="0"/>
              </a:rPr>
              <a:t> is the name of the block enclosing the break statement.</a:t>
            </a:r>
          </a:p>
          <a:p>
            <a:pPr marL="85725" lvl="1" indent="0">
              <a:buFont typeface="Arial" pitchFamily="34" charset="0"/>
              <a:buChar char="•"/>
              <a:defRPr/>
            </a:pPr>
            <a:r>
              <a:rPr lang="en-US" dirty="0" smtClean="0">
                <a:cs typeface="Times New Roman" pitchFamily="18" charset="0"/>
              </a:rPr>
              <a:t> </a:t>
            </a:r>
            <a:r>
              <a:rPr lang="en-US" dirty="0" err="1" smtClean="0">
                <a:cs typeface="Times New Roman" pitchFamily="18" charset="0"/>
              </a:rPr>
              <a:t>Labeld</a:t>
            </a:r>
            <a:r>
              <a:rPr lang="en-US" dirty="0" smtClean="0">
                <a:cs typeface="Times New Roman" pitchFamily="18" charset="0"/>
              </a:rPr>
              <a:t> break is used to  transfer control from a set of nested blocks.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411162"/>
          </a:xfrm>
        </p:spPr>
        <p:txBody>
          <a:bodyPr>
            <a:normAutofit fontScale="90000"/>
          </a:bodyPr>
          <a:lstStyle/>
          <a:p>
            <a:pPr algn="ctr">
              <a:defRPr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Example-break statement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6867" name="Content Placeholder 2"/>
          <p:cNvSpPr>
            <a:spLocks noGrp="1"/>
          </p:cNvSpPr>
          <p:nvPr>
            <p:ph sz="quarter" idx="1"/>
          </p:nvPr>
        </p:nvSpPr>
        <p:spPr>
          <a:xfrm>
            <a:off x="533400" y="914400"/>
            <a:ext cx="8382000" cy="56388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class test_break1</a:t>
            </a:r>
          </a:p>
          <a:p>
            <a:pPr>
              <a:buFont typeface="Wingdings" pitchFamily="2" charset="2"/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{       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public static void main(String 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args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[])</a:t>
            </a:r>
          </a:p>
          <a:p>
            <a:pPr>
              <a:buFont typeface="Wingdings" pitchFamily="2" charset="2"/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       {</a:t>
            </a:r>
          </a:p>
          <a:p>
            <a:pPr>
              <a:buFont typeface="Wingdings" pitchFamily="2" charset="2"/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               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boolean t =true;</a:t>
            </a:r>
          </a:p>
          <a:p>
            <a:pPr>
              <a:buFont typeface="Wingdings" pitchFamily="2" charset="2"/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         	    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first:{</a:t>
            </a:r>
          </a:p>
          <a:p>
            <a:pPr>
              <a:buFont typeface="Wingdings" pitchFamily="2" charset="2"/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                       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second:{</a:t>
            </a:r>
          </a:p>
          <a:p>
            <a:pPr>
              <a:buFont typeface="Wingdings" pitchFamily="2" charset="2"/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                               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third:{</a:t>
            </a:r>
          </a:p>
          <a:p>
            <a:pPr>
              <a:buFont typeface="Wingdings" pitchFamily="2" charset="2"/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                                       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("Before the break.");</a:t>
            </a:r>
          </a:p>
          <a:p>
            <a:pPr>
              <a:buFont typeface="Wingdings" pitchFamily="2" charset="2"/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	                                  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if(t)</a:t>
            </a:r>
          </a:p>
          <a:p>
            <a:pPr>
              <a:buFont typeface="Wingdings" pitchFamily="2" charset="2"/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                                       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break second;</a:t>
            </a:r>
          </a:p>
          <a:p>
            <a:pPr>
              <a:buFont typeface="Wingdings" pitchFamily="2" charset="2"/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                                       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("This won't execute");</a:t>
            </a:r>
          </a:p>
          <a:p>
            <a:pPr>
              <a:buFont typeface="Wingdings" pitchFamily="2" charset="2"/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                               }</a:t>
            </a:r>
          </a:p>
          <a:p>
            <a:pPr>
              <a:buFont typeface="Wingdings" pitchFamily="2" charset="2"/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                               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("This won't execute");</a:t>
            </a:r>
          </a:p>
          <a:p>
            <a:pPr>
              <a:buFont typeface="Wingdings" pitchFamily="2" charset="2"/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                       }</a:t>
            </a:r>
          </a:p>
          <a:p>
            <a:pPr>
              <a:buFont typeface="Wingdings" pitchFamily="2" charset="2"/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                       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("This is after second block.");</a:t>
            </a:r>
          </a:p>
          <a:p>
            <a:pPr>
              <a:buFont typeface="Wingdings" pitchFamily="2" charset="2"/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               }</a:t>
            </a:r>
          </a:p>
          <a:p>
            <a:pPr>
              <a:buFont typeface="Wingdings" pitchFamily="2" charset="2"/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       }</a:t>
            </a:r>
          </a:p>
          <a:p>
            <a:pPr>
              <a:buFont typeface="Wingdings" pitchFamily="2" charset="2"/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endParaRPr lang="en-US" dirty="0" smtClean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63562"/>
          </a:xfrm>
        </p:spPr>
        <p:txBody>
          <a:bodyPr/>
          <a:lstStyle/>
          <a:p>
            <a:pPr algn="ctr">
              <a:defRPr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Example-break statement</a:t>
            </a:r>
            <a:endParaRPr lang="en-US" dirty="0"/>
          </a:p>
        </p:txBody>
      </p:sp>
      <p:sp>
        <p:nvSpPr>
          <p:cNvPr id="37891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990600"/>
            <a:ext cx="7924800" cy="52578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class test_break2</a:t>
            </a:r>
          </a:p>
          <a:p>
            <a:pPr>
              <a:buFont typeface="Wingdings" pitchFamily="2" charset="2"/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>
              <a:buFont typeface="Wingdings" pitchFamily="2" charset="2"/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public static void main(String </a:t>
            </a:r>
            <a:r>
              <a:rPr lang="en-US" sz="1800" dirty="0" err="1" smtClean="0">
                <a:latin typeface="Courier New" pitchFamily="49" charset="0"/>
                <a:cs typeface="Courier New" pitchFamily="49" charset="0"/>
              </a:rPr>
              <a:t>args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[])</a:t>
            </a:r>
          </a:p>
          <a:p>
            <a:pPr>
              <a:buFont typeface="Wingdings" pitchFamily="2" charset="2"/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       {</a:t>
            </a:r>
          </a:p>
          <a:p>
            <a:pPr>
              <a:buFont typeface="Wingdings" pitchFamily="2" charset="2"/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               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one: for(int </a:t>
            </a:r>
            <a:r>
              <a:rPr lang="en-US" sz="1800" dirty="0" err="1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=0;i&lt;3;i++)</a:t>
            </a:r>
          </a:p>
          <a:p>
            <a:pPr>
              <a:buFont typeface="Wingdings" pitchFamily="2" charset="2"/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               {</a:t>
            </a:r>
          </a:p>
          <a:p>
            <a:pPr>
              <a:buFont typeface="Wingdings" pitchFamily="2" charset="2"/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                       </a:t>
            </a:r>
            <a:r>
              <a:rPr lang="en-US" sz="1800" dirty="0" err="1" smtClean="0">
                <a:latin typeface="Courier New" pitchFamily="49" charset="0"/>
                <a:cs typeface="Courier New" pitchFamily="49" charset="0"/>
              </a:rPr>
              <a:t>System.out.print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("Pass: "+</a:t>
            </a:r>
            <a:r>
              <a:rPr lang="en-US" sz="1800" dirty="0" err="1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+": ");</a:t>
            </a:r>
          </a:p>
          <a:p>
            <a:pPr>
              <a:buFont typeface="Wingdings" pitchFamily="2" charset="2"/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               }</a:t>
            </a:r>
          </a:p>
          <a:p>
            <a:pPr>
              <a:buFont typeface="Wingdings" pitchFamily="2" charset="2"/>
              <a:buNone/>
            </a:pPr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               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for(int j=0; j&lt;100;j++)</a:t>
            </a:r>
          </a:p>
          <a:p>
            <a:pPr>
              <a:buFont typeface="Wingdings" pitchFamily="2" charset="2"/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               {</a:t>
            </a:r>
          </a:p>
          <a:p>
            <a:pPr>
              <a:buFont typeface="Wingdings" pitchFamily="2" charset="2"/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                       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if(j==10) break one;  //Wrong</a:t>
            </a:r>
          </a:p>
          <a:p>
            <a:pPr>
              <a:buFont typeface="Wingdings" pitchFamily="2" charset="2"/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                       </a:t>
            </a:r>
            <a:r>
              <a:rPr lang="en-US" sz="1800" dirty="0" err="1" smtClean="0">
                <a:latin typeface="Courier New" pitchFamily="49" charset="0"/>
                <a:cs typeface="Courier New" pitchFamily="49" charset="0"/>
              </a:rPr>
              <a:t>System.out.print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(j+" ");</a:t>
            </a:r>
          </a:p>
          <a:p>
            <a:pPr>
              <a:buFont typeface="Wingdings" pitchFamily="2" charset="2"/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               }</a:t>
            </a:r>
          </a:p>
          <a:p>
            <a:pPr>
              <a:buFont typeface="Wingdings" pitchFamily="2" charset="2"/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       }</a:t>
            </a:r>
          </a:p>
          <a:p>
            <a:pPr>
              <a:buFont typeface="Wingdings" pitchFamily="2" charset="2"/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endParaRPr lang="en-US" sz="1800" dirty="0" smtClean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639762"/>
          </a:xfrm>
        </p:spPr>
        <p:txBody>
          <a:bodyPr>
            <a:noAutofit/>
          </a:bodyPr>
          <a:lstStyle/>
          <a:p>
            <a:pPr algn="ctr">
              <a:defRPr/>
            </a:pPr>
            <a:r>
              <a:rPr lang="en-US" sz="4400" b="1" dirty="0" smtClean="0">
                <a:cs typeface="Times New Roman" pitchFamily="18" charset="0"/>
              </a:rPr>
              <a:t>Jump statement-continue</a:t>
            </a:r>
            <a:endParaRPr lang="en-US" sz="4400" b="1" dirty="0">
              <a:cs typeface="Times New Roman" pitchFamily="18" charset="0"/>
            </a:endParaRPr>
          </a:p>
        </p:txBody>
      </p:sp>
      <p:sp>
        <p:nvSpPr>
          <p:cNvPr id="38915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305800" cy="5254625"/>
          </a:xfrm>
        </p:spPr>
        <p:txBody>
          <a:bodyPr/>
          <a:lstStyle/>
          <a:p>
            <a:pPr algn="just"/>
            <a:r>
              <a:rPr lang="en-US" dirty="0" smtClean="0">
                <a:cs typeface="Times New Roman" pitchFamily="18" charset="0"/>
              </a:rPr>
              <a:t>Continue statement is used to run a loop but stop processing the remainder of the code in its body for a particular iteration.</a:t>
            </a:r>
          </a:p>
          <a:p>
            <a:pPr algn="just"/>
            <a:endParaRPr lang="en-US" dirty="0" smtClean="0">
              <a:cs typeface="Times New Roman" pitchFamily="18" charset="0"/>
            </a:endParaRPr>
          </a:p>
          <a:p>
            <a:pPr algn="just"/>
            <a:r>
              <a:rPr lang="en-US" dirty="0" smtClean="0">
                <a:cs typeface="Times New Roman" pitchFamily="18" charset="0"/>
              </a:rPr>
              <a:t>In </a:t>
            </a:r>
            <a:r>
              <a:rPr lang="en-US" b="1" dirty="0" smtClean="0">
                <a:cs typeface="Times New Roman" pitchFamily="18" charset="0"/>
              </a:rPr>
              <a:t>while</a:t>
            </a:r>
            <a:r>
              <a:rPr lang="en-US" dirty="0" smtClean="0">
                <a:cs typeface="Times New Roman" pitchFamily="18" charset="0"/>
              </a:rPr>
              <a:t> and </a:t>
            </a:r>
            <a:r>
              <a:rPr lang="en-US" b="1" dirty="0" smtClean="0">
                <a:cs typeface="Times New Roman" pitchFamily="18" charset="0"/>
              </a:rPr>
              <a:t>do-while</a:t>
            </a:r>
            <a:r>
              <a:rPr lang="en-US" dirty="0" smtClean="0">
                <a:cs typeface="Times New Roman" pitchFamily="18" charset="0"/>
              </a:rPr>
              <a:t> loop, a continue statement causes control to be transferred directly to the conditional expression.  In a </a:t>
            </a:r>
            <a:r>
              <a:rPr lang="en-US" b="1" dirty="0" smtClean="0">
                <a:cs typeface="Times New Roman" pitchFamily="18" charset="0"/>
              </a:rPr>
              <a:t>for</a:t>
            </a:r>
            <a:r>
              <a:rPr lang="en-US" dirty="0" smtClean="0">
                <a:cs typeface="Times New Roman" pitchFamily="18" charset="0"/>
              </a:rPr>
              <a:t> loop, control goes first to the iteration portion of the for statement and then to the conditional expression.</a:t>
            </a:r>
          </a:p>
          <a:p>
            <a:pPr algn="just"/>
            <a:endParaRPr lang="en-US" sz="2000" dirty="0" smtClean="0">
              <a:cs typeface="Times New Roman" pitchFamily="18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868362"/>
          </a:xfrm>
        </p:spPr>
        <p:txBody>
          <a:bodyPr/>
          <a:lstStyle/>
          <a:p>
            <a:pPr algn="ctr">
              <a:defRPr/>
            </a:pPr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Example-Continue statement</a:t>
            </a:r>
            <a:endParaRPr lang="en-US" sz="4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9939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95400"/>
            <a:ext cx="8001000" cy="5178425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class </a:t>
            </a:r>
            <a:r>
              <a:rPr lang="en-US" sz="1800" dirty="0" err="1" smtClean="0">
                <a:latin typeface="Courier New" pitchFamily="49" charset="0"/>
                <a:cs typeface="Courier New" pitchFamily="49" charset="0"/>
              </a:rPr>
              <a:t>test_continue</a:t>
            </a:r>
            <a:endParaRPr lang="en-US" sz="1800" dirty="0" smtClean="0">
              <a:latin typeface="Courier New" pitchFamily="49" charset="0"/>
              <a:cs typeface="Courier New" pitchFamily="49" charset="0"/>
            </a:endParaRPr>
          </a:p>
          <a:p>
            <a:pPr>
              <a:buFont typeface="Wingdings" pitchFamily="2" charset="2"/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{        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public static void main(String </a:t>
            </a:r>
            <a:r>
              <a:rPr lang="en-US" sz="1800" dirty="0" err="1" smtClean="0">
                <a:latin typeface="Courier New" pitchFamily="49" charset="0"/>
                <a:cs typeface="Courier New" pitchFamily="49" charset="0"/>
              </a:rPr>
              <a:t>args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[])</a:t>
            </a:r>
          </a:p>
          <a:p>
            <a:pPr>
              <a:buFont typeface="Wingdings" pitchFamily="2" charset="2"/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       {      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outer: for(int </a:t>
            </a:r>
            <a:r>
              <a:rPr lang="en-US" sz="1800" dirty="0" err="1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=0; </a:t>
            </a:r>
            <a:r>
              <a:rPr lang="en-US" sz="1800" dirty="0" err="1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&lt;4;i++){</a:t>
            </a:r>
          </a:p>
          <a:p>
            <a:pPr>
              <a:buFont typeface="Wingdings" pitchFamily="2" charset="2"/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                       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for(int j=0;j&lt;4;j++) {</a:t>
            </a:r>
          </a:p>
          <a:p>
            <a:pPr>
              <a:buFont typeface="Wingdings" pitchFamily="2" charset="2"/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		           	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if(j&gt;</a:t>
            </a:r>
            <a:r>
              <a:rPr lang="en-US" sz="1800" dirty="0" err="1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) {</a:t>
            </a:r>
          </a:p>
          <a:p>
            <a:pPr>
              <a:buFont typeface="Wingdings" pitchFamily="2" charset="2"/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                                       </a:t>
            </a:r>
            <a:r>
              <a:rPr lang="en-US" sz="1800" dirty="0" err="1" smtClean="0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>
              <a:buFont typeface="Wingdings" pitchFamily="2" charset="2"/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                                       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continue outer;</a:t>
            </a:r>
          </a:p>
          <a:p>
            <a:pPr>
              <a:buFont typeface="Wingdings" pitchFamily="2" charset="2"/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                               }                     </a:t>
            </a:r>
          </a:p>
          <a:p>
            <a:pPr>
              <a:buFont typeface="Wingdings" pitchFamily="2" charset="2"/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                               </a:t>
            </a:r>
            <a:r>
              <a:rPr lang="en-US" sz="1800" dirty="0" err="1" smtClean="0">
                <a:latin typeface="Courier New" pitchFamily="49" charset="0"/>
                <a:cs typeface="Courier New" pitchFamily="49" charset="0"/>
              </a:rPr>
              <a:t>System.out.print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(" "+(</a:t>
            </a:r>
            <a:r>
              <a:rPr lang="en-US" sz="1800" dirty="0" err="1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*j));</a:t>
            </a:r>
          </a:p>
          <a:p>
            <a:pPr>
              <a:buFont typeface="Wingdings" pitchFamily="2" charset="2"/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                       }</a:t>
            </a:r>
          </a:p>
          <a:p>
            <a:pPr>
              <a:buFont typeface="Wingdings" pitchFamily="2" charset="2"/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               }</a:t>
            </a:r>
          </a:p>
          <a:p>
            <a:pPr>
              <a:buFont typeface="Wingdings" pitchFamily="2" charset="2"/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               </a:t>
            </a:r>
            <a:r>
              <a:rPr lang="en-US" sz="1800" dirty="0" err="1" smtClean="0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>
              <a:buFont typeface="Wingdings" pitchFamily="2" charset="2"/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       }                         </a:t>
            </a:r>
          </a:p>
          <a:p>
            <a:pPr>
              <a:buFont typeface="Wingdings" pitchFamily="2" charset="2"/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endParaRPr lang="en-US" sz="3200" dirty="0" smtClean="0"/>
          </a:p>
        </p:txBody>
      </p:sp>
      <p:sp>
        <p:nvSpPr>
          <p:cNvPr id="39940" name="TextBox 3"/>
          <p:cNvSpPr txBox="1">
            <a:spLocks noChangeArrowheads="1"/>
          </p:cNvSpPr>
          <p:nvPr/>
        </p:nvSpPr>
        <p:spPr bwMode="auto">
          <a:xfrm>
            <a:off x="6477000" y="4572000"/>
            <a:ext cx="2514600" cy="175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b="1" dirty="0"/>
              <a:t>Output:</a:t>
            </a:r>
          </a:p>
          <a:p>
            <a:r>
              <a:rPr lang="en-US" b="1" dirty="0"/>
              <a:t>0</a:t>
            </a:r>
          </a:p>
          <a:p>
            <a:r>
              <a:rPr lang="en-US" b="1" dirty="0"/>
              <a:t>0 1</a:t>
            </a:r>
          </a:p>
          <a:p>
            <a:r>
              <a:rPr lang="en-US" b="1" dirty="0"/>
              <a:t>0 2 4</a:t>
            </a:r>
          </a:p>
          <a:p>
            <a:r>
              <a:rPr lang="en-US" b="1" dirty="0"/>
              <a:t>0 3 6 9</a:t>
            </a:r>
          </a:p>
          <a:p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/>
            </a:pPr>
            <a:r>
              <a:rPr lang="en-US" sz="4400" b="1" dirty="0" smtClean="0">
                <a:latin typeface="Times New Roman" pitchFamily="18" charset="0"/>
                <a:cs typeface="Times New Roman" pitchFamily="18" charset="0"/>
              </a:rPr>
              <a:t>Jump Statement-return</a:t>
            </a:r>
            <a:endParaRPr lang="en-US" sz="4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096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sz="2300" dirty="0" smtClean="0">
                <a:latin typeface="Courier New" pitchFamily="49" charset="0"/>
                <a:cs typeface="Courier New" pitchFamily="49" charset="0"/>
              </a:rPr>
              <a:t>class test{</a:t>
            </a:r>
          </a:p>
          <a:p>
            <a:pPr>
              <a:buFont typeface="Wingdings" pitchFamily="2" charset="2"/>
              <a:buNone/>
            </a:pPr>
            <a:r>
              <a:rPr lang="en-US" sz="2300" dirty="0" smtClean="0">
                <a:latin typeface="Courier New" pitchFamily="49" charset="0"/>
                <a:cs typeface="Courier New" pitchFamily="49" charset="0"/>
              </a:rPr>
              <a:t>	public static void main (String </a:t>
            </a:r>
            <a:r>
              <a:rPr lang="en-US" sz="2300" dirty="0" err="1" smtClean="0">
                <a:latin typeface="Courier New" pitchFamily="49" charset="0"/>
                <a:cs typeface="Courier New" pitchFamily="49" charset="0"/>
              </a:rPr>
              <a:t>args</a:t>
            </a:r>
            <a:r>
              <a:rPr lang="en-US" sz="2300" dirty="0" smtClean="0">
                <a:latin typeface="Courier New" pitchFamily="49" charset="0"/>
                <a:cs typeface="Courier New" pitchFamily="49" charset="0"/>
              </a:rPr>
              <a:t>[])</a:t>
            </a:r>
          </a:p>
          <a:p>
            <a:pPr>
              <a:buFont typeface="Wingdings" pitchFamily="2" charset="2"/>
              <a:buNone/>
            </a:pPr>
            <a:r>
              <a:rPr lang="en-US" sz="2300" dirty="0" smtClean="0">
                <a:latin typeface="Courier New" pitchFamily="49" charset="0"/>
                <a:cs typeface="Courier New" pitchFamily="49" charset="0"/>
              </a:rPr>
              <a:t>	{</a:t>
            </a:r>
          </a:p>
          <a:p>
            <a:pPr>
              <a:buFont typeface="Wingdings" pitchFamily="2" charset="2"/>
              <a:buNone/>
            </a:pPr>
            <a:r>
              <a:rPr lang="en-US" sz="2300" dirty="0" smtClean="0">
                <a:latin typeface="Courier New" pitchFamily="49" charset="0"/>
                <a:cs typeface="Courier New" pitchFamily="49" charset="0"/>
              </a:rPr>
              <a:t>		boolean t =true;</a:t>
            </a:r>
          </a:p>
          <a:p>
            <a:pPr>
              <a:buFont typeface="Wingdings" pitchFamily="2" charset="2"/>
              <a:buNone/>
            </a:pPr>
            <a:r>
              <a:rPr lang="en-US" sz="2300" dirty="0" smtClean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2300" dirty="0" err="1" smtClean="0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2300" dirty="0" smtClean="0">
                <a:latin typeface="Courier New" pitchFamily="49" charset="0"/>
                <a:cs typeface="Courier New" pitchFamily="49" charset="0"/>
              </a:rPr>
              <a:t>(“Before the return”);</a:t>
            </a:r>
          </a:p>
          <a:p>
            <a:pPr>
              <a:buFont typeface="Wingdings" pitchFamily="2" charset="2"/>
              <a:buNone/>
            </a:pPr>
            <a:r>
              <a:rPr lang="en-US" sz="2300" dirty="0" smtClean="0">
                <a:latin typeface="Courier New" pitchFamily="49" charset="0"/>
                <a:cs typeface="Courier New" pitchFamily="49" charset="0"/>
              </a:rPr>
              <a:t>		if(t) return;</a:t>
            </a:r>
          </a:p>
          <a:p>
            <a:pPr>
              <a:buFont typeface="Wingdings" pitchFamily="2" charset="2"/>
              <a:buNone/>
            </a:pPr>
            <a:r>
              <a:rPr lang="en-US" sz="2300" dirty="0" smtClean="0">
                <a:latin typeface="Courier New" pitchFamily="49" charset="0"/>
                <a:cs typeface="Courier New" pitchFamily="49" charset="0"/>
              </a:rPr>
              <a:t>		</a:t>
            </a:r>
          </a:p>
          <a:p>
            <a:pPr>
              <a:buFont typeface="Wingdings" pitchFamily="2" charset="2"/>
              <a:buNone/>
            </a:pPr>
            <a:r>
              <a:rPr lang="en-US" sz="2300" dirty="0" smtClean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2300" dirty="0" err="1" smtClean="0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2300" dirty="0" smtClean="0">
                <a:latin typeface="Courier New" pitchFamily="49" charset="0"/>
                <a:cs typeface="Courier New" pitchFamily="49" charset="0"/>
              </a:rPr>
              <a:t>(“This won’t execute.”);</a:t>
            </a:r>
          </a:p>
          <a:p>
            <a:pPr>
              <a:buFont typeface="Wingdings" pitchFamily="2" charset="2"/>
              <a:buNone/>
            </a:pPr>
            <a:r>
              <a:rPr lang="en-US" sz="2300" dirty="0" smtClean="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>
              <a:buFont typeface="Wingdings" pitchFamily="2" charset="2"/>
              <a:buNone/>
            </a:pPr>
            <a:r>
              <a:rPr lang="en-US" sz="2300" dirty="0" smtClean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399"/>
            <a:ext cx="8229600" cy="4495801"/>
          </a:xfrm>
        </p:spPr>
        <p:txBody>
          <a:bodyPr/>
          <a:lstStyle/>
          <a:p>
            <a:pPr>
              <a:buNone/>
            </a:pPr>
            <a:endParaRPr lang="en-US" sz="7200" noProof="1">
              <a:solidFill>
                <a:srgbClr val="024069"/>
              </a:solidFill>
            </a:endParaRPr>
          </a:p>
          <a:p>
            <a:pPr marL="0" indent="0" algn="ctr">
              <a:buNone/>
            </a:pPr>
            <a:r>
              <a:rPr lang="en-US" sz="7200" noProof="1" smtClean="0">
                <a:solidFill>
                  <a:srgbClr val="024069"/>
                </a:solidFill>
              </a:rPr>
              <a:t>Thank You</a:t>
            </a:r>
          </a:p>
        </p:txBody>
      </p:sp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609600" y="533400"/>
            <a:ext cx="303213" cy="303213"/>
            <a:chOff x="703" y="300"/>
            <a:chExt cx="181" cy="181"/>
          </a:xfrm>
        </p:grpSpPr>
        <p:sp>
          <p:nvSpPr>
            <p:cNvPr id="4108" name="Freeform 12"/>
            <p:cNvSpPr>
              <a:spLocks/>
            </p:cNvSpPr>
            <p:nvPr/>
          </p:nvSpPr>
          <p:spPr bwMode="auto">
            <a:xfrm>
              <a:off x="736" y="300"/>
              <a:ext cx="81" cy="46"/>
            </a:xfrm>
            <a:custGeom>
              <a:avLst/>
              <a:gdLst/>
              <a:ahLst/>
              <a:cxnLst>
                <a:cxn ang="0">
                  <a:pos x="247" y="124"/>
                </a:cxn>
                <a:cxn ang="0">
                  <a:pos x="283" y="11"/>
                </a:cxn>
                <a:cxn ang="0">
                  <a:pos x="283" y="11"/>
                </a:cxn>
                <a:cxn ang="0">
                  <a:pos x="264" y="6"/>
                </a:cxn>
                <a:cxn ang="0">
                  <a:pos x="244" y="3"/>
                </a:cxn>
                <a:cxn ang="0">
                  <a:pos x="226" y="2"/>
                </a:cxn>
                <a:cxn ang="0">
                  <a:pos x="206" y="0"/>
                </a:cxn>
                <a:cxn ang="0">
                  <a:pos x="187" y="0"/>
                </a:cxn>
                <a:cxn ang="0">
                  <a:pos x="169" y="2"/>
                </a:cxn>
                <a:cxn ang="0">
                  <a:pos x="150" y="4"/>
                </a:cxn>
                <a:cxn ang="0">
                  <a:pos x="131" y="7"/>
                </a:cxn>
                <a:cxn ang="0">
                  <a:pos x="114" y="12"/>
                </a:cxn>
                <a:cxn ang="0">
                  <a:pos x="97" y="18"/>
                </a:cxn>
                <a:cxn ang="0">
                  <a:pos x="79" y="24"/>
                </a:cxn>
                <a:cxn ang="0">
                  <a:pos x="62" y="32"/>
                </a:cxn>
                <a:cxn ang="0">
                  <a:pos x="45" y="40"/>
                </a:cxn>
                <a:cxn ang="0">
                  <a:pos x="29" y="49"/>
                </a:cxn>
                <a:cxn ang="0">
                  <a:pos x="14" y="60"/>
                </a:cxn>
                <a:cxn ang="0">
                  <a:pos x="0" y="71"/>
                </a:cxn>
                <a:cxn ang="0">
                  <a:pos x="79" y="160"/>
                </a:cxn>
                <a:cxn ang="0">
                  <a:pos x="79" y="160"/>
                </a:cxn>
                <a:cxn ang="0">
                  <a:pos x="97" y="147"/>
                </a:cxn>
                <a:cxn ang="0">
                  <a:pos x="116" y="136"/>
                </a:cxn>
                <a:cxn ang="0">
                  <a:pos x="136" y="128"/>
                </a:cxn>
                <a:cxn ang="0">
                  <a:pos x="157" y="123"/>
                </a:cxn>
                <a:cxn ang="0">
                  <a:pos x="179" y="119"/>
                </a:cxn>
                <a:cxn ang="0">
                  <a:pos x="201" y="118"/>
                </a:cxn>
                <a:cxn ang="0">
                  <a:pos x="223" y="120"/>
                </a:cxn>
                <a:cxn ang="0">
                  <a:pos x="247" y="124"/>
                </a:cxn>
                <a:cxn ang="0">
                  <a:pos x="247" y="124"/>
                </a:cxn>
              </a:cxnLst>
              <a:rect l="0" t="0" r="r" b="b"/>
              <a:pathLst>
                <a:path w="283" h="160">
                  <a:moveTo>
                    <a:pt x="247" y="124"/>
                  </a:moveTo>
                  <a:lnTo>
                    <a:pt x="283" y="11"/>
                  </a:lnTo>
                  <a:lnTo>
                    <a:pt x="283" y="11"/>
                  </a:lnTo>
                  <a:lnTo>
                    <a:pt x="264" y="6"/>
                  </a:lnTo>
                  <a:lnTo>
                    <a:pt x="244" y="3"/>
                  </a:lnTo>
                  <a:lnTo>
                    <a:pt x="226" y="2"/>
                  </a:lnTo>
                  <a:lnTo>
                    <a:pt x="206" y="0"/>
                  </a:lnTo>
                  <a:lnTo>
                    <a:pt x="187" y="0"/>
                  </a:lnTo>
                  <a:lnTo>
                    <a:pt x="169" y="2"/>
                  </a:lnTo>
                  <a:lnTo>
                    <a:pt x="150" y="4"/>
                  </a:lnTo>
                  <a:lnTo>
                    <a:pt x="131" y="7"/>
                  </a:lnTo>
                  <a:lnTo>
                    <a:pt x="114" y="12"/>
                  </a:lnTo>
                  <a:lnTo>
                    <a:pt x="97" y="18"/>
                  </a:lnTo>
                  <a:lnTo>
                    <a:pt x="79" y="24"/>
                  </a:lnTo>
                  <a:lnTo>
                    <a:pt x="62" y="32"/>
                  </a:lnTo>
                  <a:lnTo>
                    <a:pt x="45" y="40"/>
                  </a:lnTo>
                  <a:lnTo>
                    <a:pt x="29" y="49"/>
                  </a:lnTo>
                  <a:lnTo>
                    <a:pt x="14" y="60"/>
                  </a:lnTo>
                  <a:lnTo>
                    <a:pt x="0" y="71"/>
                  </a:lnTo>
                  <a:lnTo>
                    <a:pt x="79" y="160"/>
                  </a:lnTo>
                  <a:lnTo>
                    <a:pt x="79" y="160"/>
                  </a:lnTo>
                  <a:lnTo>
                    <a:pt x="97" y="147"/>
                  </a:lnTo>
                  <a:lnTo>
                    <a:pt x="116" y="136"/>
                  </a:lnTo>
                  <a:lnTo>
                    <a:pt x="136" y="128"/>
                  </a:lnTo>
                  <a:lnTo>
                    <a:pt x="157" y="123"/>
                  </a:lnTo>
                  <a:lnTo>
                    <a:pt x="179" y="119"/>
                  </a:lnTo>
                  <a:lnTo>
                    <a:pt x="201" y="118"/>
                  </a:lnTo>
                  <a:lnTo>
                    <a:pt x="223" y="120"/>
                  </a:lnTo>
                  <a:lnTo>
                    <a:pt x="247" y="124"/>
                  </a:lnTo>
                  <a:lnTo>
                    <a:pt x="247" y="124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09" name="Freeform 13"/>
            <p:cNvSpPr>
              <a:spLocks/>
            </p:cNvSpPr>
            <p:nvPr/>
          </p:nvSpPr>
          <p:spPr bwMode="auto">
            <a:xfrm>
              <a:off x="835" y="376"/>
              <a:ext cx="49" cy="79"/>
            </a:xfrm>
            <a:custGeom>
              <a:avLst/>
              <a:gdLst/>
              <a:ahLst/>
              <a:cxnLst>
                <a:cxn ang="0">
                  <a:pos x="44" y="113"/>
                </a:cxn>
                <a:cxn ang="0">
                  <a:pos x="44" y="113"/>
                </a:cxn>
                <a:cxn ang="0">
                  <a:pos x="36" y="134"/>
                </a:cxn>
                <a:cxn ang="0">
                  <a:pos x="26" y="154"/>
                </a:cxn>
                <a:cxn ang="0">
                  <a:pos x="14" y="171"/>
                </a:cxn>
                <a:cxn ang="0">
                  <a:pos x="0" y="188"/>
                </a:cxn>
                <a:cxn ang="0">
                  <a:pos x="79" y="276"/>
                </a:cxn>
                <a:cxn ang="0">
                  <a:pos x="79" y="276"/>
                </a:cxn>
                <a:cxn ang="0">
                  <a:pos x="92" y="263"/>
                </a:cxn>
                <a:cxn ang="0">
                  <a:pos x="104" y="249"/>
                </a:cxn>
                <a:cxn ang="0">
                  <a:pos x="115" y="234"/>
                </a:cxn>
                <a:cxn ang="0">
                  <a:pos x="125" y="219"/>
                </a:cxn>
                <a:cxn ang="0">
                  <a:pos x="135" y="203"/>
                </a:cxn>
                <a:cxn ang="0">
                  <a:pos x="143" y="185"/>
                </a:cxn>
                <a:cxn ang="0">
                  <a:pos x="150" y="168"/>
                </a:cxn>
                <a:cxn ang="0">
                  <a:pos x="157" y="149"/>
                </a:cxn>
                <a:cxn ang="0">
                  <a:pos x="157" y="149"/>
                </a:cxn>
                <a:cxn ang="0">
                  <a:pos x="163" y="131"/>
                </a:cxn>
                <a:cxn ang="0">
                  <a:pos x="166" y="112"/>
                </a:cxn>
                <a:cxn ang="0">
                  <a:pos x="170" y="93"/>
                </a:cxn>
                <a:cxn ang="0">
                  <a:pos x="172" y="75"/>
                </a:cxn>
                <a:cxn ang="0">
                  <a:pos x="172" y="56"/>
                </a:cxn>
                <a:cxn ang="0">
                  <a:pos x="172" y="38"/>
                </a:cxn>
                <a:cxn ang="0">
                  <a:pos x="171" y="19"/>
                </a:cxn>
                <a:cxn ang="0">
                  <a:pos x="169" y="0"/>
                </a:cxn>
                <a:cxn ang="0">
                  <a:pos x="52" y="26"/>
                </a:cxn>
                <a:cxn ang="0">
                  <a:pos x="52" y="26"/>
                </a:cxn>
                <a:cxn ang="0">
                  <a:pos x="54" y="47"/>
                </a:cxn>
                <a:cxn ang="0">
                  <a:pos x="54" y="69"/>
                </a:cxn>
                <a:cxn ang="0">
                  <a:pos x="50" y="91"/>
                </a:cxn>
                <a:cxn ang="0">
                  <a:pos x="44" y="113"/>
                </a:cxn>
                <a:cxn ang="0">
                  <a:pos x="44" y="113"/>
                </a:cxn>
              </a:cxnLst>
              <a:rect l="0" t="0" r="r" b="b"/>
              <a:pathLst>
                <a:path w="172" h="276">
                  <a:moveTo>
                    <a:pt x="44" y="113"/>
                  </a:moveTo>
                  <a:lnTo>
                    <a:pt x="44" y="113"/>
                  </a:lnTo>
                  <a:lnTo>
                    <a:pt x="36" y="134"/>
                  </a:lnTo>
                  <a:lnTo>
                    <a:pt x="26" y="154"/>
                  </a:lnTo>
                  <a:lnTo>
                    <a:pt x="14" y="171"/>
                  </a:lnTo>
                  <a:lnTo>
                    <a:pt x="0" y="188"/>
                  </a:lnTo>
                  <a:lnTo>
                    <a:pt x="79" y="276"/>
                  </a:lnTo>
                  <a:lnTo>
                    <a:pt x="79" y="276"/>
                  </a:lnTo>
                  <a:lnTo>
                    <a:pt x="92" y="263"/>
                  </a:lnTo>
                  <a:lnTo>
                    <a:pt x="104" y="249"/>
                  </a:lnTo>
                  <a:lnTo>
                    <a:pt x="115" y="234"/>
                  </a:lnTo>
                  <a:lnTo>
                    <a:pt x="125" y="219"/>
                  </a:lnTo>
                  <a:lnTo>
                    <a:pt x="135" y="203"/>
                  </a:lnTo>
                  <a:lnTo>
                    <a:pt x="143" y="185"/>
                  </a:lnTo>
                  <a:lnTo>
                    <a:pt x="150" y="168"/>
                  </a:lnTo>
                  <a:lnTo>
                    <a:pt x="157" y="149"/>
                  </a:lnTo>
                  <a:lnTo>
                    <a:pt x="157" y="149"/>
                  </a:lnTo>
                  <a:lnTo>
                    <a:pt x="163" y="131"/>
                  </a:lnTo>
                  <a:lnTo>
                    <a:pt x="166" y="112"/>
                  </a:lnTo>
                  <a:lnTo>
                    <a:pt x="170" y="93"/>
                  </a:lnTo>
                  <a:lnTo>
                    <a:pt x="172" y="75"/>
                  </a:lnTo>
                  <a:lnTo>
                    <a:pt x="172" y="56"/>
                  </a:lnTo>
                  <a:lnTo>
                    <a:pt x="172" y="38"/>
                  </a:lnTo>
                  <a:lnTo>
                    <a:pt x="171" y="19"/>
                  </a:lnTo>
                  <a:lnTo>
                    <a:pt x="169" y="0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54" y="47"/>
                  </a:lnTo>
                  <a:lnTo>
                    <a:pt x="54" y="69"/>
                  </a:lnTo>
                  <a:lnTo>
                    <a:pt x="50" y="91"/>
                  </a:lnTo>
                  <a:lnTo>
                    <a:pt x="44" y="113"/>
                  </a:lnTo>
                  <a:lnTo>
                    <a:pt x="44" y="113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10" name="Freeform 14"/>
            <p:cNvSpPr>
              <a:spLocks/>
            </p:cNvSpPr>
            <p:nvPr/>
          </p:nvSpPr>
          <p:spPr bwMode="auto">
            <a:xfrm>
              <a:off x="703" y="326"/>
              <a:ext cx="50" cy="79"/>
            </a:xfrm>
            <a:custGeom>
              <a:avLst/>
              <a:gdLst/>
              <a:ahLst/>
              <a:cxnLst>
                <a:cxn ang="0">
                  <a:pos x="128" y="163"/>
                </a:cxn>
                <a:cxn ang="0">
                  <a:pos x="128" y="163"/>
                </a:cxn>
                <a:cxn ang="0">
                  <a:pos x="136" y="142"/>
                </a:cxn>
                <a:cxn ang="0">
                  <a:pos x="146" y="122"/>
                </a:cxn>
                <a:cxn ang="0">
                  <a:pos x="159" y="105"/>
                </a:cxn>
                <a:cxn ang="0">
                  <a:pos x="173" y="89"/>
                </a:cxn>
                <a:cxn ang="0">
                  <a:pos x="94" y="0"/>
                </a:cxn>
                <a:cxn ang="0">
                  <a:pos x="94" y="0"/>
                </a:cxn>
                <a:cxn ang="0">
                  <a:pos x="81" y="13"/>
                </a:cxn>
                <a:cxn ang="0">
                  <a:pos x="69" y="27"/>
                </a:cxn>
                <a:cxn ang="0">
                  <a:pos x="58" y="42"/>
                </a:cxn>
                <a:cxn ang="0">
                  <a:pos x="47" y="57"/>
                </a:cxn>
                <a:cxn ang="0">
                  <a:pos x="38" y="74"/>
                </a:cxn>
                <a:cxn ang="0">
                  <a:pos x="30" y="91"/>
                </a:cxn>
                <a:cxn ang="0">
                  <a:pos x="22" y="108"/>
                </a:cxn>
                <a:cxn ang="0">
                  <a:pos x="16" y="127"/>
                </a:cxn>
                <a:cxn ang="0">
                  <a:pos x="16" y="127"/>
                </a:cxn>
                <a:cxn ang="0">
                  <a:pos x="10" y="146"/>
                </a:cxn>
                <a:cxn ang="0">
                  <a:pos x="6" y="164"/>
                </a:cxn>
                <a:cxn ang="0">
                  <a:pos x="3" y="183"/>
                </a:cxn>
                <a:cxn ang="0">
                  <a:pos x="1" y="201"/>
                </a:cxn>
                <a:cxn ang="0">
                  <a:pos x="0" y="220"/>
                </a:cxn>
                <a:cxn ang="0">
                  <a:pos x="1" y="239"/>
                </a:cxn>
                <a:cxn ang="0">
                  <a:pos x="2" y="257"/>
                </a:cxn>
                <a:cxn ang="0">
                  <a:pos x="4" y="276"/>
                </a:cxn>
                <a:cxn ang="0">
                  <a:pos x="121" y="250"/>
                </a:cxn>
                <a:cxn ang="0">
                  <a:pos x="121" y="250"/>
                </a:cxn>
                <a:cxn ang="0">
                  <a:pos x="118" y="229"/>
                </a:cxn>
                <a:cxn ang="0">
                  <a:pos x="119" y="207"/>
                </a:cxn>
                <a:cxn ang="0">
                  <a:pos x="122" y="185"/>
                </a:cxn>
                <a:cxn ang="0">
                  <a:pos x="128" y="163"/>
                </a:cxn>
                <a:cxn ang="0">
                  <a:pos x="128" y="163"/>
                </a:cxn>
              </a:cxnLst>
              <a:rect l="0" t="0" r="r" b="b"/>
              <a:pathLst>
                <a:path w="173" h="276">
                  <a:moveTo>
                    <a:pt x="128" y="163"/>
                  </a:moveTo>
                  <a:lnTo>
                    <a:pt x="128" y="163"/>
                  </a:lnTo>
                  <a:lnTo>
                    <a:pt x="136" y="142"/>
                  </a:lnTo>
                  <a:lnTo>
                    <a:pt x="146" y="122"/>
                  </a:lnTo>
                  <a:lnTo>
                    <a:pt x="159" y="105"/>
                  </a:lnTo>
                  <a:lnTo>
                    <a:pt x="173" y="89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81" y="13"/>
                  </a:lnTo>
                  <a:lnTo>
                    <a:pt x="69" y="27"/>
                  </a:lnTo>
                  <a:lnTo>
                    <a:pt x="58" y="42"/>
                  </a:lnTo>
                  <a:lnTo>
                    <a:pt x="47" y="57"/>
                  </a:lnTo>
                  <a:lnTo>
                    <a:pt x="38" y="74"/>
                  </a:lnTo>
                  <a:lnTo>
                    <a:pt x="30" y="91"/>
                  </a:lnTo>
                  <a:lnTo>
                    <a:pt x="22" y="108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0" y="146"/>
                  </a:lnTo>
                  <a:lnTo>
                    <a:pt x="6" y="164"/>
                  </a:lnTo>
                  <a:lnTo>
                    <a:pt x="3" y="183"/>
                  </a:lnTo>
                  <a:lnTo>
                    <a:pt x="1" y="201"/>
                  </a:lnTo>
                  <a:lnTo>
                    <a:pt x="0" y="220"/>
                  </a:lnTo>
                  <a:lnTo>
                    <a:pt x="1" y="239"/>
                  </a:lnTo>
                  <a:lnTo>
                    <a:pt x="2" y="257"/>
                  </a:lnTo>
                  <a:lnTo>
                    <a:pt x="4" y="276"/>
                  </a:lnTo>
                  <a:lnTo>
                    <a:pt x="121" y="250"/>
                  </a:lnTo>
                  <a:lnTo>
                    <a:pt x="121" y="250"/>
                  </a:lnTo>
                  <a:lnTo>
                    <a:pt x="118" y="229"/>
                  </a:lnTo>
                  <a:lnTo>
                    <a:pt x="119" y="207"/>
                  </a:lnTo>
                  <a:lnTo>
                    <a:pt x="122" y="185"/>
                  </a:lnTo>
                  <a:lnTo>
                    <a:pt x="128" y="163"/>
                  </a:lnTo>
                  <a:lnTo>
                    <a:pt x="128" y="163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11" name="Freeform 15"/>
            <p:cNvSpPr>
              <a:spLocks/>
            </p:cNvSpPr>
            <p:nvPr/>
          </p:nvSpPr>
          <p:spPr bwMode="auto">
            <a:xfrm>
              <a:off x="706" y="407"/>
              <a:ext cx="66" cy="68"/>
            </a:xfrm>
            <a:custGeom>
              <a:avLst/>
              <a:gdLst/>
              <a:ahLst/>
              <a:cxnLst>
                <a:cxn ang="0">
                  <a:pos x="115" y="0"/>
                </a:cxn>
                <a:cxn ang="0">
                  <a:pos x="0" y="24"/>
                </a:cxn>
                <a:cxn ang="0">
                  <a:pos x="0" y="24"/>
                </a:cxn>
                <a:cxn ang="0">
                  <a:pos x="5" y="41"/>
                </a:cxn>
                <a:cxn ang="0">
                  <a:pos x="11" y="59"/>
                </a:cxn>
                <a:cxn ang="0">
                  <a:pos x="19" y="76"/>
                </a:cxn>
                <a:cxn ang="0">
                  <a:pos x="27" y="93"/>
                </a:cxn>
                <a:cxn ang="0">
                  <a:pos x="36" y="109"/>
                </a:cxn>
                <a:cxn ang="0">
                  <a:pos x="47" y="124"/>
                </a:cxn>
                <a:cxn ang="0">
                  <a:pos x="57" y="139"/>
                </a:cxn>
                <a:cxn ang="0">
                  <a:pos x="69" y="153"/>
                </a:cxn>
                <a:cxn ang="0">
                  <a:pos x="82" y="167"/>
                </a:cxn>
                <a:cxn ang="0">
                  <a:pos x="96" y="180"/>
                </a:cxn>
                <a:cxn ang="0">
                  <a:pos x="110" y="191"/>
                </a:cxn>
                <a:cxn ang="0">
                  <a:pos x="126" y="203"/>
                </a:cxn>
                <a:cxn ang="0">
                  <a:pos x="141" y="213"/>
                </a:cxn>
                <a:cxn ang="0">
                  <a:pos x="158" y="223"/>
                </a:cxn>
                <a:cxn ang="0">
                  <a:pos x="176" y="231"/>
                </a:cxn>
                <a:cxn ang="0">
                  <a:pos x="193" y="239"/>
                </a:cxn>
                <a:cxn ang="0">
                  <a:pos x="230" y="126"/>
                </a:cxn>
                <a:cxn ang="0">
                  <a:pos x="230" y="126"/>
                </a:cxn>
                <a:cxn ang="0">
                  <a:pos x="210" y="116"/>
                </a:cxn>
                <a:cxn ang="0">
                  <a:pos x="191" y="104"/>
                </a:cxn>
                <a:cxn ang="0">
                  <a:pos x="174" y="90"/>
                </a:cxn>
                <a:cxn ang="0">
                  <a:pos x="157" y="75"/>
                </a:cxn>
                <a:cxn ang="0">
                  <a:pos x="144" y="58"/>
                </a:cxn>
                <a:cxn ang="0">
                  <a:pos x="133" y="39"/>
                </a:cxn>
                <a:cxn ang="0">
                  <a:pos x="122" y="19"/>
                </a:cxn>
                <a:cxn ang="0">
                  <a:pos x="115" y="0"/>
                </a:cxn>
                <a:cxn ang="0">
                  <a:pos x="115" y="0"/>
                </a:cxn>
              </a:cxnLst>
              <a:rect l="0" t="0" r="r" b="b"/>
              <a:pathLst>
                <a:path w="230" h="239">
                  <a:moveTo>
                    <a:pt x="115" y="0"/>
                  </a:moveTo>
                  <a:lnTo>
                    <a:pt x="0" y="24"/>
                  </a:lnTo>
                  <a:lnTo>
                    <a:pt x="0" y="24"/>
                  </a:lnTo>
                  <a:lnTo>
                    <a:pt x="5" y="41"/>
                  </a:lnTo>
                  <a:lnTo>
                    <a:pt x="11" y="59"/>
                  </a:lnTo>
                  <a:lnTo>
                    <a:pt x="19" y="76"/>
                  </a:lnTo>
                  <a:lnTo>
                    <a:pt x="27" y="93"/>
                  </a:lnTo>
                  <a:lnTo>
                    <a:pt x="36" y="109"/>
                  </a:lnTo>
                  <a:lnTo>
                    <a:pt x="47" y="124"/>
                  </a:lnTo>
                  <a:lnTo>
                    <a:pt x="57" y="139"/>
                  </a:lnTo>
                  <a:lnTo>
                    <a:pt x="69" y="153"/>
                  </a:lnTo>
                  <a:lnTo>
                    <a:pt x="82" y="167"/>
                  </a:lnTo>
                  <a:lnTo>
                    <a:pt x="96" y="180"/>
                  </a:lnTo>
                  <a:lnTo>
                    <a:pt x="110" y="191"/>
                  </a:lnTo>
                  <a:lnTo>
                    <a:pt x="126" y="203"/>
                  </a:lnTo>
                  <a:lnTo>
                    <a:pt x="141" y="213"/>
                  </a:lnTo>
                  <a:lnTo>
                    <a:pt x="158" y="223"/>
                  </a:lnTo>
                  <a:lnTo>
                    <a:pt x="176" y="231"/>
                  </a:lnTo>
                  <a:lnTo>
                    <a:pt x="193" y="239"/>
                  </a:lnTo>
                  <a:lnTo>
                    <a:pt x="230" y="126"/>
                  </a:lnTo>
                  <a:lnTo>
                    <a:pt x="230" y="126"/>
                  </a:lnTo>
                  <a:lnTo>
                    <a:pt x="210" y="116"/>
                  </a:lnTo>
                  <a:lnTo>
                    <a:pt x="191" y="104"/>
                  </a:lnTo>
                  <a:lnTo>
                    <a:pt x="174" y="90"/>
                  </a:lnTo>
                  <a:lnTo>
                    <a:pt x="157" y="75"/>
                  </a:lnTo>
                  <a:lnTo>
                    <a:pt x="144" y="58"/>
                  </a:lnTo>
                  <a:lnTo>
                    <a:pt x="133" y="39"/>
                  </a:lnTo>
                  <a:lnTo>
                    <a:pt x="122" y="19"/>
                  </a:lnTo>
                  <a:lnTo>
                    <a:pt x="115" y="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12" name="Freeform 16"/>
            <p:cNvSpPr>
              <a:spLocks/>
            </p:cNvSpPr>
            <p:nvPr/>
          </p:nvSpPr>
          <p:spPr bwMode="auto">
            <a:xfrm>
              <a:off x="815" y="306"/>
              <a:ext cx="66" cy="69"/>
            </a:xfrm>
            <a:custGeom>
              <a:avLst/>
              <a:gdLst/>
              <a:ahLst/>
              <a:cxnLst>
                <a:cxn ang="0">
                  <a:pos x="113" y="240"/>
                </a:cxn>
                <a:cxn ang="0">
                  <a:pos x="230" y="214"/>
                </a:cxn>
                <a:cxn ang="0">
                  <a:pos x="230" y="214"/>
                </a:cxn>
                <a:cxn ang="0">
                  <a:pos x="225" y="197"/>
                </a:cxn>
                <a:cxn ang="0">
                  <a:pos x="218" y="179"/>
                </a:cxn>
                <a:cxn ang="0">
                  <a:pos x="211" y="162"/>
                </a:cxn>
                <a:cxn ang="0">
                  <a:pos x="203" y="146"/>
                </a:cxn>
                <a:cxn ang="0">
                  <a:pos x="194" y="129"/>
                </a:cxn>
                <a:cxn ang="0">
                  <a:pos x="183" y="114"/>
                </a:cxn>
                <a:cxn ang="0">
                  <a:pos x="173" y="99"/>
                </a:cxn>
                <a:cxn ang="0">
                  <a:pos x="160" y="85"/>
                </a:cxn>
                <a:cxn ang="0">
                  <a:pos x="147" y="71"/>
                </a:cxn>
                <a:cxn ang="0">
                  <a:pos x="134" y="58"/>
                </a:cxn>
                <a:cxn ang="0">
                  <a:pos x="119" y="47"/>
                </a:cxn>
                <a:cxn ang="0">
                  <a:pos x="104" y="35"/>
                </a:cxn>
                <a:cxn ang="0">
                  <a:pos x="88" y="25"/>
                </a:cxn>
                <a:cxn ang="0">
                  <a:pos x="72" y="15"/>
                </a:cxn>
                <a:cxn ang="0">
                  <a:pos x="54" y="7"/>
                </a:cxn>
                <a:cxn ang="0">
                  <a:pos x="36" y="0"/>
                </a:cxn>
                <a:cxn ang="0">
                  <a:pos x="0" y="112"/>
                </a:cxn>
                <a:cxn ang="0">
                  <a:pos x="0" y="112"/>
                </a:cxn>
                <a:cxn ang="0">
                  <a:pos x="20" y="122"/>
                </a:cxn>
                <a:cxn ang="0">
                  <a:pos x="39" y="134"/>
                </a:cxn>
                <a:cxn ang="0">
                  <a:pos x="57" y="148"/>
                </a:cxn>
                <a:cxn ang="0">
                  <a:pos x="72" y="164"/>
                </a:cxn>
                <a:cxn ang="0">
                  <a:pos x="86" y="181"/>
                </a:cxn>
                <a:cxn ang="0">
                  <a:pos x="97" y="199"/>
                </a:cxn>
                <a:cxn ang="0">
                  <a:pos x="106" y="219"/>
                </a:cxn>
                <a:cxn ang="0">
                  <a:pos x="113" y="240"/>
                </a:cxn>
                <a:cxn ang="0">
                  <a:pos x="113" y="240"/>
                </a:cxn>
              </a:cxnLst>
              <a:rect l="0" t="0" r="r" b="b"/>
              <a:pathLst>
                <a:path w="230" h="240">
                  <a:moveTo>
                    <a:pt x="113" y="240"/>
                  </a:moveTo>
                  <a:lnTo>
                    <a:pt x="230" y="214"/>
                  </a:lnTo>
                  <a:lnTo>
                    <a:pt x="230" y="214"/>
                  </a:lnTo>
                  <a:lnTo>
                    <a:pt x="225" y="197"/>
                  </a:lnTo>
                  <a:lnTo>
                    <a:pt x="218" y="179"/>
                  </a:lnTo>
                  <a:lnTo>
                    <a:pt x="211" y="162"/>
                  </a:lnTo>
                  <a:lnTo>
                    <a:pt x="203" y="146"/>
                  </a:lnTo>
                  <a:lnTo>
                    <a:pt x="194" y="129"/>
                  </a:lnTo>
                  <a:lnTo>
                    <a:pt x="183" y="114"/>
                  </a:lnTo>
                  <a:lnTo>
                    <a:pt x="173" y="99"/>
                  </a:lnTo>
                  <a:lnTo>
                    <a:pt x="160" y="85"/>
                  </a:lnTo>
                  <a:lnTo>
                    <a:pt x="147" y="71"/>
                  </a:lnTo>
                  <a:lnTo>
                    <a:pt x="134" y="58"/>
                  </a:lnTo>
                  <a:lnTo>
                    <a:pt x="119" y="47"/>
                  </a:lnTo>
                  <a:lnTo>
                    <a:pt x="104" y="35"/>
                  </a:lnTo>
                  <a:lnTo>
                    <a:pt x="88" y="25"/>
                  </a:lnTo>
                  <a:lnTo>
                    <a:pt x="72" y="15"/>
                  </a:lnTo>
                  <a:lnTo>
                    <a:pt x="54" y="7"/>
                  </a:lnTo>
                  <a:lnTo>
                    <a:pt x="36" y="0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20" y="122"/>
                  </a:lnTo>
                  <a:lnTo>
                    <a:pt x="39" y="134"/>
                  </a:lnTo>
                  <a:lnTo>
                    <a:pt x="57" y="148"/>
                  </a:lnTo>
                  <a:lnTo>
                    <a:pt x="72" y="164"/>
                  </a:lnTo>
                  <a:lnTo>
                    <a:pt x="86" y="181"/>
                  </a:lnTo>
                  <a:lnTo>
                    <a:pt x="97" y="199"/>
                  </a:lnTo>
                  <a:lnTo>
                    <a:pt x="106" y="219"/>
                  </a:lnTo>
                  <a:lnTo>
                    <a:pt x="113" y="240"/>
                  </a:lnTo>
                  <a:lnTo>
                    <a:pt x="113" y="24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13" name="Freeform 17"/>
            <p:cNvSpPr>
              <a:spLocks/>
            </p:cNvSpPr>
            <p:nvPr/>
          </p:nvSpPr>
          <p:spPr bwMode="auto">
            <a:xfrm>
              <a:off x="770" y="435"/>
              <a:ext cx="81" cy="46"/>
            </a:xfrm>
            <a:custGeom>
              <a:avLst/>
              <a:gdLst/>
              <a:ahLst/>
              <a:cxnLst>
                <a:cxn ang="0">
                  <a:pos x="37" y="36"/>
                </a:cxn>
                <a:cxn ang="0">
                  <a:pos x="0" y="148"/>
                </a:cxn>
                <a:cxn ang="0">
                  <a:pos x="0" y="148"/>
                </a:cxn>
                <a:cxn ang="0">
                  <a:pos x="19" y="153"/>
                </a:cxn>
                <a:cxn ang="0">
                  <a:pos x="38" y="156"/>
                </a:cxn>
                <a:cxn ang="0">
                  <a:pos x="57" y="158"/>
                </a:cxn>
                <a:cxn ang="0">
                  <a:pos x="76" y="159"/>
                </a:cxn>
                <a:cxn ang="0">
                  <a:pos x="96" y="159"/>
                </a:cxn>
                <a:cxn ang="0">
                  <a:pos x="114" y="158"/>
                </a:cxn>
                <a:cxn ang="0">
                  <a:pos x="133" y="155"/>
                </a:cxn>
                <a:cxn ang="0">
                  <a:pos x="150" y="152"/>
                </a:cxn>
                <a:cxn ang="0">
                  <a:pos x="169" y="147"/>
                </a:cxn>
                <a:cxn ang="0">
                  <a:pos x="186" y="141"/>
                </a:cxn>
                <a:cxn ang="0">
                  <a:pos x="204" y="136"/>
                </a:cxn>
                <a:cxn ang="0">
                  <a:pos x="220" y="127"/>
                </a:cxn>
                <a:cxn ang="0">
                  <a:pos x="238" y="119"/>
                </a:cxn>
                <a:cxn ang="0">
                  <a:pos x="253" y="110"/>
                </a:cxn>
                <a:cxn ang="0">
                  <a:pos x="268" y="99"/>
                </a:cxn>
                <a:cxn ang="0">
                  <a:pos x="283" y="88"/>
                </a:cxn>
                <a:cxn ang="0">
                  <a:pos x="204" y="0"/>
                </a:cxn>
                <a:cxn ang="0">
                  <a:pos x="204" y="0"/>
                </a:cxn>
                <a:cxn ang="0">
                  <a:pos x="185" y="12"/>
                </a:cxn>
                <a:cxn ang="0">
                  <a:pos x="167" y="23"/>
                </a:cxn>
                <a:cxn ang="0">
                  <a:pos x="146" y="31"/>
                </a:cxn>
                <a:cxn ang="0">
                  <a:pos x="125" y="37"/>
                </a:cxn>
                <a:cxn ang="0">
                  <a:pos x="104" y="40"/>
                </a:cxn>
                <a:cxn ang="0">
                  <a:pos x="82" y="41"/>
                </a:cxn>
                <a:cxn ang="0">
                  <a:pos x="59" y="39"/>
                </a:cxn>
                <a:cxn ang="0">
                  <a:pos x="37" y="36"/>
                </a:cxn>
                <a:cxn ang="0">
                  <a:pos x="37" y="36"/>
                </a:cxn>
              </a:cxnLst>
              <a:rect l="0" t="0" r="r" b="b"/>
              <a:pathLst>
                <a:path w="283" h="159">
                  <a:moveTo>
                    <a:pt x="37" y="36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19" y="153"/>
                  </a:lnTo>
                  <a:lnTo>
                    <a:pt x="38" y="156"/>
                  </a:lnTo>
                  <a:lnTo>
                    <a:pt x="57" y="158"/>
                  </a:lnTo>
                  <a:lnTo>
                    <a:pt x="76" y="159"/>
                  </a:lnTo>
                  <a:lnTo>
                    <a:pt x="96" y="159"/>
                  </a:lnTo>
                  <a:lnTo>
                    <a:pt x="114" y="158"/>
                  </a:lnTo>
                  <a:lnTo>
                    <a:pt x="133" y="155"/>
                  </a:lnTo>
                  <a:lnTo>
                    <a:pt x="150" y="152"/>
                  </a:lnTo>
                  <a:lnTo>
                    <a:pt x="169" y="147"/>
                  </a:lnTo>
                  <a:lnTo>
                    <a:pt x="186" y="141"/>
                  </a:lnTo>
                  <a:lnTo>
                    <a:pt x="204" y="136"/>
                  </a:lnTo>
                  <a:lnTo>
                    <a:pt x="220" y="127"/>
                  </a:lnTo>
                  <a:lnTo>
                    <a:pt x="238" y="119"/>
                  </a:lnTo>
                  <a:lnTo>
                    <a:pt x="253" y="110"/>
                  </a:lnTo>
                  <a:lnTo>
                    <a:pt x="268" y="99"/>
                  </a:lnTo>
                  <a:lnTo>
                    <a:pt x="283" y="88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185" y="12"/>
                  </a:lnTo>
                  <a:lnTo>
                    <a:pt x="167" y="23"/>
                  </a:lnTo>
                  <a:lnTo>
                    <a:pt x="146" y="31"/>
                  </a:lnTo>
                  <a:lnTo>
                    <a:pt x="125" y="37"/>
                  </a:lnTo>
                  <a:lnTo>
                    <a:pt x="104" y="40"/>
                  </a:lnTo>
                  <a:lnTo>
                    <a:pt x="82" y="41"/>
                  </a:lnTo>
                  <a:lnTo>
                    <a:pt x="59" y="39"/>
                  </a:lnTo>
                  <a:lnTo>
                    <a:pt x="37" y="36"/>
                  </a:lnTo>
                  <a:lnTo>
                    <a:pt x="37" y="36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3" name="Group 28"/>
          <p:cNvGrpSpPr>
            <a:grpSpLocks/>
          </p:cNvGrpSpPr>
          <p:nvPr/>
        </p:nvGrpSpPr>
        <p:grpSpPr bwMode="auto">
          <a:xfrm>
            <a:off x="8494713" y="5792788"/>
            <a:ext cx="554037" cy="552450"/>
            <a:chOff x="5369" y="3667"/>
            <a:chExt cx="349" cy="348"/>
          </a:xfrm>
        </p:grpSpPr>
        <p:sp>
          <p:nvSpPr>
            <p:cNvPr id="4125" name="Freeform 29"/>
            <p:cNvSpPr>
              <a:spLocks/>
            </p:cNvSpPr>
            <p:nvPr/>
          </p:nvSpPr>
          <p:spPr bwMode="auto">
            <a:xfrm>
              <a:off x="5396" y="3667"/>
              <a:ext cx="138" cy="112"/>
            </a:xfrm>
            <a:custGeom>
              <a:avLst/>
              <a:gdLst/>
              <a:ahLst/>
              <a:cxnLst>
                <a:cxn ang="0">
                  <a:pos x="182" y="86"/>
                </a:cxn>
                <a:cxn ang="0">
                  <a:pos x="182" y="0"/>
                </a:cxn>
                <a:cxn ang="0">
                  <a:pos x="182" y="0"/>
                </a:cxn>
                <a:cxn ang="0">
                  <a:pos x="154" y="2"/>
                </a:cxn>
                <a:cxn ang="0">
                  <a:pos x="128" y="10"/>
                </a:cxn>
                <a:cxn ang="0">
                  <a:pos x="102" y="18"/>
                </a:cxn>
                <a:cxn ang="0">
                  <a:pos x="78" y="30"/>
                </a:cxn>
                <a:cxn ang="0">
                  <a:pos x="56" y="46"/>
                </a:cxn>
                <a:cxn ang="0">
                  <a:pos x="36" y="64"/>
                </a:cxn>
                <a:cxn ang="0">
                  <a:pos x="16" y="82"/>
                </a:cxn>
                <a:cxn ang="0">
                  <a:pos x="0" y="104"/>
                </a:cxn>
                <a:cxn ang="0">
                  <a:pos x="76" y="148"/>
                </a:cxn>
                <a:cxn ang="0">
                  <a:pos x="76" y="148"/>
                </a:cxn>
                <a:cxn ang="0">
                  <a:pos x="86" y="136"/>
                </a:cxn>
                <a:cxn ang="0">
                  <a:pos x="96" y="124"/>
                </a:cxn>
                <a:cxn ang="0">
                  <a:pos x="108" y="114"/>
                </a:cxn>
                <a:cxn ang="0">
                  <a:pos x="122" y="104"/>
                </a:cxn>
                <a:cxn ang="0">
                  <a:pos x="136" y="98"/>
                </a:cxn>
                <a:cxn ang="0">
                  <a:pos x="150" y="92"/>
                </a:cxn>
                <a:cxn ang="0">
                  <a:pos x="166" y="88"/>
                </a:cxn>
                <a:cxn ang="0">
                  <a:pos x="182" y="86"/>
                </a:cxn>
                <a:cxn ang="0">
                  <a:pos x="182" y="86"/>
                </a:cxn>
              </a:cxnLst>
              <a:rect l="0" t="0" r="r" b="b"/>
              <a:pathLst>
                <a:path w="182" h="148">
                  <a:moveTo>
                    <a:pt x="182" y="86"/>
                  </a:moveTo>
                  <a:lnTo>
                    <a:pt x="182" y="0"/>
                  </a:lnTo>
                  <a:lnTo>
                    <a:pt x="182" y="0"/>
                  </a:lnTo>
                  <a:lnTo>
                    <a:pt x="154" y="2"/>
                  </a:lnTo>
                  <a:lnTo>
                    <a:pt x="128" y="10"/>
                  </a:lnTo>
                  <a:lnTo>
                    <a:pt x="102" y="18"/>
                  </a:lnTo>
                  <a:lnTo>
                    <a:pt x="78" y="30"/>
                  </a:lnTo>
                  <a:lnTo>
                    <a:pt x="56" y="46"/>
                  </a:lnTo>
                  <a:lnTo>
                    <a:pt x="36" y="64"/>
                  </a:lnTo>
                  <a:lnTo>
                    <a:pt x="16" y="82"/>
                  </a:lnTo>
                  <a:lnTo>
                    <a:pt x="0" y="104"/>
                  </a:lnTo>
                  <a:lnTo>
                    <a:pt x="76" y="148"/>
                  </a:lnTo>
                  <a:lnTo>
                    <a:pt x="76" y="148"/>
                  </a:lnTo>
                  <a:lnTo>
                    <a:pt x="86" y="136"/>
                  </a:lnTo>
                  <a:lnTo>
                    <a:pt x="96" y="124"/>
                  </a:lnTo>
                  <a:lnTo>
                    <a:pt x="108" y="114"/>
                  </a:lnTo>
                  <a:lnTo>
                    <a:pt x="122" y="104"/>
                  </a:lnTo>
                  <a:lnTo>
                    <a:pt x="136" y="98"/>
                  </a:lnTo>
                  <a:lnTo>
                    <a:pt x="150" y="92"/>
                  </a:lnTo>
                  <a:lnTo>
                    <a:pt x="166" y="88"/>
                  </a:lnTo>
                  <a:lnTo>
                    <a:pt x="182" y="86"/>
                  </a:lnTo>
                  <a:lnTo>
                    <a:pt x="182" y="86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26" name="Freeform 30"/>
            <p:cNvSpPr>
              <a:spLocks/>
            </p:cNvSpPr>
            <p:nvPr/>
          </p:nvSpPr>
          <p:spPr bwMode="auto">
            <a:xfrm>
              <a:off x="5642" y="3761"/>
              <a:ext cx="76" cy="160"/>
            </a:xfrm>
            <a:custGeom>
              <a:avLst/>
              <a:gdLst/>
              <a:ahLst/>
              <a:cxnLst>
                <a:cxn ang="0">
                  <a:pos x="14" y="106"/>
                </a:cxn>
                <a:cxn ang="0">
                  <a:pos x="14" y="106"/>
                </a:cxn>
                <a:cxn ang="0">
                  <a:pos x="14" y="122"/>
                </a:cxn>
                <a:cxn ang="0">
                  <a:pos x="10" y="138"/>
                </a:cxn>
                <a:cxn ang="0">
                  <a:pos x="6" y="152"/>
                </a:cxn>
                <a:cxn ang="0">
                  <a:pos x="0" y="168"/>
                </a:cxn>
                <a:cxn ang="0">
                  <a:pos x="74" y="210"/>
                </a:cxn>
                <a:cxn ang="0">
                  <a:pos x="74" y="210"/>
                </a:cxn>
                <a:cxn ang="0">
                  <a:pos x="86" y="186"/>
                </a:cxn>
                <a:cxn ang="0">
                  <a:pos x="94" y="160"/>
                </a:cxn>
                <a:cxn ang="0">
                  <a:pos x="98" y="134"/>
                </a:cxn>
                <a:cxn ang="0">
                  <a:pos x="100" y="106"/>
                </a:cxn>
                <a:cxn ang="0">
                  <a:pos x="100" y="106"/>
                </a:cxn>
                <a:cxn ang="0">
                  <a:pos x="98" y="78"/>
                </a:cxn>
                <a:cxn ang="0">
                  <a:pos x="94" y="50"/>
                </a:cxn>
                <a:cxn ang="0">
                  <a:pos x="86" y="24"/>
                </a:cxn>
                <a:cxn ang="0">
                  <a:pos x="74" y="0"/>
                </a:cxn>
                <a:cxn ang="0">
                  <a:pos x="0" y="44"/>
                </a:cxn>
                <a:cxn ang="0">
                  <a:pos x="0" y="44"/>
                </a:cxn>
                <a:cxn ang="0">
                  <a:pos x="6" y="58"/>
                </a:cxn>
                <a:cxn ang="0">
                  <a:pos x="10" y="72"/>
                </a:cxn>
                <a:cxn ang="0">
                  <a:pos x="14" y="88"/>
                </a:cxn>
                <a:cxn ang="0">
                  <a:pos x="14" y="106"/>
                </a:cxn>
                <a:cxn ang="0">
                  <a:pos x="14" y="106"/>
                </a:cxn>
              </a:cxnLst>
              <a:rect l="0" t="0" r="r" b="b"/>
              <a:pathLst>
                <a:path w="100" h="210">
                  <a:moveTo>
                    <a:pt x="14" y="106"/>
                  </a:moveTo>
                  <a:lnTo>
                    <a:pt x="14" y="106"/>
                  </a:lnTo>
                  <a:lnTo>
                    <a:pt x="14" y="122"/>
                  </a:lnTo>
                  <a:lnTo>
                    <a:pt x="10" y="138"/>
                  </a:lnTo>
                  <a:lnTo>
                    <a:pt x="6" y="152"/>
                  </a:lnTo>
                  <a:lnTo>
                    <a:pt x="0" y="168"/>
                  </a:lnTo>
                  <a:lnTo>
                    <a:pt x="74" y="210"/>
                  </a:lnTo>
                  <a:lnTo>
                    <a:pt x="74" y="210"/>
                  </a:lnTo>
                  <a:lnTo>
                    <a:pt x="86" y="186"/>
                  </a:lnTo>
                  <a:lnTo>
                    <a:pt x="94" y="160"/>
                  </a:lnTo>
                  <a:lnTo>
                    <a:pt x="98" y="134"/>
                  </a:lnTo>
                  <a:lnTo>
                    <a:pt x="100" y="106"/>
                  </a:lnTo>
                  <a:lnTo>
                    <a:pt x="100" y="106"/>
                  </a:lnTo>
                  <a:lnTo>
                    <a:pt x="98" y="78"/>
                  </a:lnTo>
                  <a:lnTo>
                    <a:pt x="94" y="50"/>
                  </a:lnTo>
                  <a:lnTo>
                    <a:pt x="86" y="24"/>
                  </a:lnTo>
                  <a:lnTo>
                    <a:pt x="74" y="0"/>
                  </a:lnTo>
                  <a:lnTo>
                    <a:pt x="0" y="44"/>
                  </a:lnTo>
                  <a:lnTo>
                    <a:pt x="0" y="44"/>
                  </a:lnTo>
                  <a:lnTo>
                    <a:pt x="6" y="58"/>
                  </a:lnTo>
                  <a:lnTo>
                    <a:pt x="10" y="72"/>
                  </a:lnTo>
                  <a:lnTo>
                    <a:pt x="14" y="88"/>
                  </a:lnTo>
                  <a:lnTo>
                    <a:pt x="14" y="106"/>
                  </a:lnTo>
                  <a:lnTo>
                    <a:pt x="14" y="106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27" name="Freeform 31"/>
            <p:cNvSpPr>
              <a:spLocks/>
            </p:cNvSpPr>
            <p:nvPr/>
          </p:nvSpPr>
          <p:spPr bwMode="auto">
            <a:xfrm>
              <a:off x="5369" y="3761"/>
              <a:ext cx="76" cy="160"/>
            </a:xfrm>
            <a:custGeom>
              <a:avLst/>
              <a:gdLst/>
              <a:ahLst/>
              <a:cxnLst>
                <a:cxn ang="0">
                  <a:pos x="86" y="106"/>
                </a:cxn>
                <a:cxn ang="0">
                  <a:pos x="86" y="106"/>
                </a:cxn>
                <a:cxn ang="0">
                  <a:pos x="86" y="88"/>
                </a:cxn>
                <a:cxn ang="0">
                  <a:pos x="90" y="72"/>
                </a:cxn>
                <a:cxn ang="0">
                  <a:pos x="94" y="58"/>
                </a:cxn>
                <a:cxn ang="0">
                  <a:pos x="100" y="44"/>
                </a:cxn>
                <a:cxn ang="0">
                  <a:pos x="26" y="0"/>
                </a:cxn>
                <a:cxn ang="0">
                  <a:pos x="26" y="0"/>
                </a:cxn>
                <a:cxn ang="0">
                  <a:pos x="14" y="24"/>
                </a:cxn>
                <a:cxn ang="0">
                  <a:pos x="6" y="50"/>
                </a:cxn>
                <a:cxn ang="0">
                  <a:pos x="2" y="78"/>
                </a:cxn>
                <a:cxn ang="0">
                  <a:pos x="0" y="106"/>
                </a:cxn>
                <a:cxn ang="0">
                  <a:pos x="0" y="106"/>
                </a:cxn>
                <a:cxn ang="0">
                  <a:pos x="2" y="134"/>
                </a:cxn>
                <a:cxn ang="0">
                  <a:pos x="6" y="160"/>
                </a:cxn>
                <a:cxn ang="0">
                  <a:pos x="14" y="186"/>
                </a:cxn>
                <a:cxn ang="0">
                  <a:pos x="26" y="210"/>
                </a:cxn>
                <a:cxn ang="0">
                  <a:pos x="100" y="168"/>
                </a:cxn>
                <a:cxn ang="0">
                  <a:pos x="100" y="168"/>
                </a:cxn>
                <a:cxn ang="0">
                  <a:pos x="94" y="152"/>
                </a:cxn>
                <a:cxn ang="0">
                  <a:pos x="90" y="138"/>
                </a:cxn>
                <a:cxn ang="0">
                  <a:pos x="86" y="122"/>
                </a:cxn>
                <a:cxn ang="0">
                  <a:pos x="86" y="106"/>
                </a:cxn>
                <a:cxn ang="0">
                  <a:pos x="86" y="106"/>
                </a:cxn>
              </a:cxnLst>
              <a:rect l="0" t="0" r="r" b="b"/>
              <a:pathLst>
                <a:path w="100" h="210">
                  <a:moveTo>
                    <a:pt x="86" y="106"/>
                  </a:moveTo>
                  <a:lnTo>
                    <a:pt x="86" y="106"/>
                  </a:lnTo>
                  <a:lnTo>
                    <a:pt x="86" y="88"/>
                  </a:lnTo>
                  <a:lnTo>
                    <a:pt x="90" y="72"/>
                  </a:lnTo>
                  <a:lnTo>
                    <a:pt x="94" y="58"/>
                  </a:lnTo>
                  <a:lnTo>
                    <a:pt x="100" y="44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14" y="24"/>
                  </a:lnTo>
                  <a:lnTo>
                    <a:pt x="6" y="50"/>
                  </a:lnTo>
                  <a:lnTo>
                    <a:pt x="2" y="78"/>
                  </a:lnTo>
                  <a:lnTo>
                    <a:pt x="0" y="106"/>
                  </a:lnTo>
                  <a:lnTo>
                    <a:pt x="0" y="106"/>
                  </a:lnTo>
                  <a:lnTo>
                    <a:pt x="2" y="134"/>
                  </a:lnTo>
                  <a:lnTo>
                    <a:pt x="6" y="160"/>
                  </a:lnTo>
                  <a:lnTo>
                    <a:pt x="14" y="186"/>
                  </a:lnTo>
                  <a:lnTo>
                    <a:pt x="26" y="210"/>
                  </a:lnTo>
                  <a:lnTo>
                    <a:pt x="100" y="168"/>
                  </a:lnTo>
                  <a:lnTo>
                    <a:pt x="100" y="168"/>
                  </a:lnTo>
                  <a:lnTo>
                    <a:pt x="94" y="152"/>
                  </a:lnTo>
                  <a:lnTo>
                    <a:pt x="90" y="138"/>
                  </a:lnTo>
                  <a:lnTo>
                    <a:pt x="86" y="122"/>
                  </a:lnTo>
                  <a:lnTo>
                    <a:pt x="86" y="106"/>
                  </a:lnTo>
                  <a:lnTo>
                    <a:pt x="86" y="106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28" name="Freeform 32"/>
            <p:cNvSpPr>
              <a:spLocks/>
            </p:cNvSpPr>
            <p:nvPr/>
          </p:nvSpPr>
          <p:spPr bwMode="auto">
            <a:xfrm>
              <a:off x="5396" y="3902"/>
              <a:ext cx="138" cy="113"/>
            </a:xfrm>
            <a:custGeom>
              <a:avLst/>
              <a:gdLst/>
              <a:ahLst/>
              <a:cxnLst>
                <a:cxn ang="0">
                  <a:pos x="76" y="0"/>
                </a:cxn>
                <a:cxn ang="0">
                  <a:pos x="0" y="44"/>
                </a:cxn>
                <a:cxn ang="0">
                  <a:pos x="0" y="44"/>
                </a:cxn>
                <a:cxn ang="0">
                  <a:pos x="16" y="66"/>
                </a:cxn>
                <a:cxn ang="0">
                  <a:pos x="36" y="84"/>
                </a:cxn>
                <a:cxn ang="0">
                  <a:pos x="56" y="102"/>
                </a:cxn>
                <a:cxn ang="0">
                  <a:pos x="78" y="118"/>
                </a:cxn>
                <a:cxn ang="0">
                  <a:pos x="102" y="130"/>
                </a:cxn>
                <a:cxn ang="0">
                  <a:pos x="128" y="138"/>
                </a:cxn>
                <a:cxn ang="0">
                  <a:pos x="154" y="146"/>
                </a:cxn>
                <a:cxn ang="0">
                  <a:pos x="182" y="148"/>
                </a:cxn>
                <a:cxn ang="0">
                  <a:pos x="182" y="62"/>
                </a:cxn>
                <a:cxn ang="0">
                  <a:pos x="182" y="62"/>
                </a:cxn>
                <a:cxn ang="0">
                  <a:pos x="166" y="60"/>
                </a:cxn>
                <a:cxn ang="0">
                  <a:pos x="150" y="56"/>
                </a:cxn>
                <a:cxn ang="0">
                  <a:pos x="136" y="50"/>
                </a:cxn>
                <a:cxn ang="0">
                  <a:pos x="122" y="44"/>
                </a:cxn>
                <a:cxn ang="0">
                  <a:pos x="108" y="34"/>
                </a:cxn>
                <a:cxn ang="0">
                  <a:pos x="96" y="24"/>
                </a:cxn>
                <a:cxn ang="0">
                  <a:pos x="86" y="14"/>
                </a:cxn>
                <a:cxn ang="0">
                  <a:pos x="76" y="0"/>
                </a:cxn>
                <a:cxn ang="0">
                  <a:pos x="76" y="0"/>
                </a:cxn>
              </a:cxnLst>
              <a:rect l="0" t="0" r="r" b="b"/>
              <a:pathLst>
                <a:path w="182" h="148">
                  <a:moveTo>
                    <a:pt x="76" y="0"/>
                  </a:moveTo>
                  <a:lnTo>
                    <a:pt x="0" y="44"/>
                  </a:lnTo>
                  <a:lnTo>
                    <a:pt x="0" y="44"/>
                  </a:lnTo>
                  <a:lnTo>
                    <a:pt x="16" y="66"/>
                  </a:lnTo>
                  <a:lnTo>
                    <a:pt x="36" y="84"/>
                  </a:lnTo>
                  <a:lnTo>
                    <a:pt x="56" y="102"/>
                  </a:lnTo>
                  <a:lnTo>
                    <a:pt x="78" y="118"/>
                  </a:lnTo>
                  <a:lnTo>
                    <a:pt x="102" y="130"/>
                  </a:lnTo>
                  <a:lnTo>
                    <a:pt x="128" y="138"/>
                  </a:lnTo>
                  <a:lnTo>
                    <a:pt x="154" y="146"/>
                  </a:lnTo>
                  <a:lnTo>
                    <a:pt x="182" y="148"/>
                  </a:lnTo>
                  <a:lnTo>
                    <a:pt x="182" y="62"/>
                  </a:lnTo>
                  <a:lnTo>
                    <a:pt x="182" y="62"/>
                  </a:lnTo>
                  <a:lnTo>
                    <a:pt x="166" y="60"/>
                  </a:lnTo>
                  <a:lnTo>
                    <a:pt x="150" y="56"/>
                  </a:lnTo>
                  <a:lnTo>
                    <a:pt x="136" y="50"/>
                  </a:lnTo>
                  <a:lnTo>
                    <a:pt x="122" y="44"/>
                  </a:lnTo>
                  <a:lnTo>
                    <a:pt x="108" y="34"/>
                  </a:lnTo>
                  <a:lnTo>
                    <a:pt x="96" y="24"/>
                  </a:lnTo>
                  <a:lnTo>
                    <a:pt x="86" y="14"/>
                  </a:lnTo>
                  <a:lnTo>
                    <a:pt x="76" y="0"/>
                  </a:lnTo>
                  <a:lnTo>
                    <a:pt x="76" y="0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29" name="Freeform 33"/>
            <p:cNvSpPr>
              <a:spLocks/>
            </p:cNvSpPr>
            <p:nvPr/>
          </p:nvSpPr>
          <p:spPr bwMode="auto">
            <a:xfrm>
              <a:off x="5553" y="3667"/>
              <a:ext cx="138" cy="112"/>
            </a:xfrm>
            <a:custGeom>
              <a:avLst/>
              <a:gdLst/>
              <a:ahLst/>
              <a:cxnLst>
                <a:cxn ang="0">
                  <a:pos x="106" y="148"/>
                </a:cxn>
                <a:cxn ang="0">
                  <a:pos x="182" y="104"/>
                </a:cxn>
                <a:cxn ang="0">
                  <a:pos x="182" y="104"/>
                </a:cxn>
                <a:cxn ang="0">
                  <a:pos x="166" y="82"/>
                </a:cxn>
                <a:cxn ang="0">
                  <a:pos x="148" y="64"/>
                </a:cxn>
                <a:cxn ang="0">
                  <a:pos x="126" y="46"/>
                </a:cxn>
                <a:cxn ang="0">
                  <a:pos x="104" y="30"/>
                </a:cxn>
                <a:cxn ang="0">
                  <a:pos x="80" y="18"/>
                </a:cxn>
                <a:cxn ang="0">
                  <a:pos x="54" y="10"/>
                </a:cxn>
                <a:cxn ang="0">
                  <a:pos x="28" y="2"/>
                </a:cxn>
                <a:cxn ang="0">
                  <a:pos x="0" y="0"/>
                </a:cxn>
                <a:cxn ang="0">
                  <a:pos x="0" y="86"/>
                </a:cxn>
                <a:cxn ang="0">
                  <a:pos x="0" y="86"/>
                </a:cxn>
                <a:cxn ang="0">
                  <a:pos x="16" y="88"/>
                </a:cxn>
                <a:cxn ang="0">
                  <a:pos x="32" y="92"/>
                </a:cxn>
                <a:cxn ang="0">
                  <a:pos x="46" y="98"/>
                </a:cxn>
                <a:cxn ang="0">
                  <a:pos x="60" y="104"/>
                </a:cxn>
                <a:cxn ang="0">
                  <a:pos x="74" y="114"/>
                </a:cxn>
                <a:cxn ang="0">
                  <a:pos x="86" y="124"/>
                </a:cxn>
                <a:cxn ang="0">
                  <a:pos x="98" y="136"/>
                </a:cxn>
                <a:cxn ang="0">
                  <a:pos x="106" y="148"/>
                </a:cxn>
                <a:cxn ang="0">
                  <a:pos x="106" y="148"/>
                </a:cxn>
              </a:cxnLst>
              <a:rect l="0" t="0" r="r" b="b"/>
              <a:pathLst>
                <a:path w="182" h="148">
                  <a:moveTo>
                    <a:pt x="106" y="148"/>
                  </a:moveTo>
                  <a:lnTo>
                    <a:pt x="182" y="104"/>
                  </a:lnTo>
                  <a:lnTo>
                    <a:pt x="182" y="104"/>
                  </a:lnTo>
                  <a:lnTo>
                    <a:pt x="166" y="82"/>
                  </a:lnTo>
                  <a:lnTo>
                    <a:pt x="148" y="64"/>
                  </a:lnTo>
                  <a:lnTo>
                    <a:pt x="126" y="46"/>
                  </a:lnTo>
                  <a:lnTo>
                    <a:pt x="104" y="30"/>
                  </a:lnTo>
                  <a:lnTo>
                    <a:pt x="80" y="18"/>
                  </a:lnTo>
                  <a:lnTo>
                    <a:pt x="54" y="10"/>
                  </a:lnTo>
                  <a:lnTo>
                    <a:pt x="28" y="2"/>
                  </a:lnTo>
                  <a:lnTo>
                    <a:pt x="0" y="0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16" y="88"/>
                  </a:lnTo>
                  <a:lnTo>
                    <a:pt x="32" y="92"/>
                  </a:lnTo>
                  <a:lnTo>
                    <a:pt x="46" y="98"/>
                  </a:lnTo>
                  <a:lnTo>
                    <a:pt x="60" y="104"/>
                  </a:lnTo>
                  <a:lnTo>
                    <a:pt x="74" y="114"/>
                  </a:lnTo>
                  <a:lnTo>
                    <a:pt x="86" y="124"/>
                  </a:lnTo>
                  <a:lnTo>
                    <a:pt x="98" y="136"/>
                  </a:lnTo>
                  <a:lnTo>
                    <a:pt x="106" y="148"/>
                  </a:lnTo>
                  <a:lnTo>
                    <a:pt x="106" y="148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30" name="Freeform 34"/>
            <p:cNvSpPr>
              <a:spLocks/>
            </p:cNvSpPr>
            <p:nvPr/>
          </p:nvSpPr>
          <p:spPr bwMode="auto">
            <a:xfrm>
              <a:off x="5553" y="3902"/>
              <a:ext cx="138" cy="113"/>
            </a:xfrm>
            <a:custGeom>
              <a:avLst/>
              <a:gdLst/>
              <a:ahLst/>
              <a:cxnLst>
                <a:cxn ang="0">
                  <a:pos x="0" y="62"/>
                </a:cxn>
                <a:cxn ang="0">
                  <a:pos x="0" y="148"/>
                </a:cxn>
                <a:cxn ang="0">
                  <a:pos x="0" y="148"/>
                </a:cxn>
                <a:cxn ang="0">
                  <a:pos x="28" y="146"/>
                </a:cxn>
                <a:cxn ang="0">
                  <a:pos x="54" y="138"/>
                </a:cxn>
                <a:cxn ang="0">
                  <a:pos x="80" y="130"/>
                </a:cxn>
                <a:cxn ang="0">
                  <a:pos x="104" y="118"/>
                </a:cxn>
                <a:cxn ang="0">
                  <a:pos x="126" y="102"/>
                </a:cxn>
                <a:cxn ang="0">
                  <a:pos x="148" y="84"/>
                </a:cxn>
                <a:cxn ang="0">
                  <a:pos x="166" y="66"/>
                </a:cxn>
                <a:cxn ang="0">
                  <a:pos x="182" y="44"/>
                </a:cxn>
                <a:cxn ang="0">
                  <a:pos x="106" y="0"/>
                </a:cxn>
                <a:cxn ang="0">
                  <a:pos x="106" y="0"/>
                </a:cxn>
                <a:cxn ang="0">
                  <a:pos x="98" y="14"/>
                </a:cxn>
                <a:cxn ang="0">
                  <a:pos x="86" y="24"/>
                </a:cxn>
                <a:cxn ang="0">
                  <a:pos x="74" y="34"/>
                </a:cxn>
                <a:cxn ang="0">
                  <a:pos x="60" y="44"/>
                </a:cxn>
                <a:cxn ang="0">
                  <a:pos x="46" y="50"/>
                </a:cxn>
                <a:cxn ang="0">
                  <a:pos x="32" y="56"/>
                </a:cxn>
                <a:cxn ang="0">
                  <a:pos x="16" y="60"/>
                </a:cxn>
                <a:cxn ang="0">
                  <a:pos x="0" y="62"/>
                </a:cxn>
                <a:cxn ang="0">
                  <a:pos x="0" y="62"/>
                </a:cxn>
              </a:cxnLst>
              <a:rect l="0" t="0" r="r" b="b"/>
              <a:pathLst>
                <a:path w="182" h="148">
                  <a:moveTo>
                    <a:pt x="0" y="62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28" y="146"/>
                  </a:lnTo>
                  <a:lnTo>
                    <a:pt x="54" y="138"/>
                  </a:lnTo>
                  <a:lnTo>
                    <a:pt x="80" y="130"/>
                  </a:lnTo>
                  <a:lnTo>
                    <a:pt x="104" y="118"/>
                  </a:lnTo>
                  <a:lnTo>
                    <a:pt x="126" y="102"/>
                  </a:lnTo>
                  <a:lnTo>
                    <a:pt x="148" y="84"/>
                  </a:lnTo>
                  <a:lnTo>
                    <a:pt x="166" y="66"/>
                  </a:lnTo>
                  <a:lnTo>
                    <a:pt x="182" y="44"/>
                  </a:lnTo>
                  <a:lnTo>
                    <a:pt x="106" y="0"/>
                  </a:lnTo>
                  <a:lnTo>
                    <a:pt x="106" y="0"/>
                  </a:lnTo>
                  <a:lnTo>
                    <a:pt x="98" y="14"/>
                  </a:lnTo>
                  <a:lnTo>
                    <a:pt x="86" y="24"/>
                  </a:lnTo>
                  <a:lnTo>
                    <a:pt x="74" y="34"/>
                  </a:lnTo>
                  <a:lnTo>
                    <a:pt x="60" y="44"/>
                  </a:lnTo>
                  <a:lnTo>
                    <a:pt x="46" y="50"/>
                  </a:lnTo>
                  <a:lnTo>
                    <a:pt x="32" y="56"/>
                  </a:lnTo>
                  <a:lnTo>
                    <a:pt x="16" y="60"/>
                  </a:lnTo>
                  <a:lnTo>
                    <a:pt x="0" y="62"/>
                  </a:lnTo>
                  <a:lnTo>
                    <a:pt x="0" y="6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4" name="Group 35"/>
          <p:cNvGrpSpPr>
            <a:grpSpLocks/>
          </p:cNvGrpSpPr>
          <p:nvPr/>
        </p:nvGrpSpPr>
        <p:grpSpPr bwMode="auto">
          <a:xfrm>
            <a:off x="8113713" y="6221413"/>
            <a:ext cx="554037" cy="552450"/>
            <a:chOff x="5129" y="3937"/>
            <a:chExt cx="349" cy="348"/>
          </a:xfrm>
        </p:grpSpPr>
        <p:sp>
          <p:nvSpPr>
            <p:cNvPr id="4132" name="Freeform 36"/>
            <p:cNvSpPr>
              <a:spLocks/>
            </p:cNvSpPr>
            <p:nvPr/>
          </p:nvSpPr>
          <p:spPr bwMode="auto">
            <a:xfrm>
              <a:off x="5193" y="3937"/>
              <a:ext cx="156" cy="87"/>
            </a:xfrm>
            <a:custGeom>
              <a:avLst/>
              <a:gdLst/>
              <a:ahLst/>
              <a:cxnLst>
                <a:cxn ang="0">
                  <a:pos x="180" y="88"/>
                </a:cxn>
                <a:cxn ang="0">
                  <a:pos x="206" y="8"/>
                </a:cxn>
                <a:cxn ang="0">
                  <a:pos x="206" y="8"/>
                </a:cxn>
                <a:cxn ang="0">
                  <a:pos x="178" y="2"/>
                </a:cxn>
                <a:cxn ang="0">
                  <a:pos x="150" y="0"/>
                </a:cxn>
                <a:cxn ang="0">
                  <a:pos x="124" y="0"/>
                </a:cxn>
                <a:cxn ang="0">
                  <a:pos x="96" y="4"/>
                </a:cxn>
                <a:cxn ang="0">
                  <a:pos x="70" y="12"/>
                </a:cxn>
                <a:cxn ang="0">
                  <a:pos x="46" y="22"/>
                </a:cxn>
                <a:cxn ang="0">
                  <a:pos x="22" y="36"/>
                </a:cxn>
                <a:cxn ang="0">
                  <a:pos x="0" y="50"/>
                </a:cxn>
                <a:cxn ang="0">
                  <a:pos x="58" y="114"/>
                </a:cxn>
                <a:cxn ang="0">
                  <a:pos x="58" y="114"/>
                </a:cxn>
                <a:cxn ang="0">
                  <a:pos x="72" y="106"/>
                </a:cxn>
                <a:cxn ang="0">
                  <a:pos x="86" y="98"/>
                </a:cxn>
                <a:cxn ang="0">
                  <a:pos x="100" y="92"/>
                </a:cxn>
                <a:cxn ang="0">
                  <a:pos x="116" y="88"/>
                </a:cxn>
                <a:cxn ang="0">
                  <a:pos x="130" y="86"/>
                </a:cxn>
                <a:cxn ang="0">
                  <a:pos x="146" y="84"/>
                </a:cxn>
                <a:cxn ang="0">
                  <a:pos x="164" y="86"/>
                </a:cxn>
                <a:cxn ang="0">
                  <a:pos x="180" y="88"/>
                </a:cxn>
                <a:cxn ang="0">
                  <a:pos x="180" y="88"/>
                </a:cxn>
              </a:cxnLst>
              <a:rect l="0" t="0" r="r" b="b"/>
              <a:pathLst>
                <a:path w="206" h="114">
                  <a:moveTo>
                    <a:pt x="180" y="88"/>
                  </a:moveTo>
                  <a:lnTo>
                    <a:pt x="206" y="8"/>
                  </a:lnTo>
                  <a:lnTo>
                    <a:pt x="206" y="8"/>
                  </a:lnTo>
                  <a:lnTo>
                    <a:pt x="178" y="2"/>
                  </a:lnTo>
                  <a:lnTo>
                    <a:pt x="150" y="0"/>
                  </a:lnTo>
                  <a:lnTo>
                    <a:pt x="124" y="0"/>
                  </a:lnTo>
                  <a:lnTo>
                    <a:pt x="96" y="4"/>
                  </a:lnTo>
                  <a:lnTo>
                    <a:pt x="70" y="12"/>
                  </a:lnTo>
                  <a:lnTo>
                    <a:pt x="46" y="22"/>
                  </a:lnTo>
                  <a:lnTo>
                    <a:pt x="22" y="36"/>
                  </a:lnTo>
                  <a:lnTo>
                    <a:pt x="0" y="50"/>
                  </a:lnTo>
                  <a:lnTo>
                    <a:pt x="58" y="114"/>
                  </a:lnTo>
                  <a:lnTo>
                    <a:pt x="58" y="114"/>
                  </a:lnTo>
                  <a:lnTo>
                    <a:pt x="72" y="106"/>
                  </a:lnTo>
                  <a:lnTo>
                    <a:pt x="86" y="98"/>
                  </a:lnTo>
                  <a:lnTo>
                    <a:pt x="100" y="92"/>
                  </a:lnTo>
                  <a:lnTo>
                    <a:pt x="116" y="88"/>
                  </a:lnTo>
                  <a:lnTo>
                    <a:pt x="130" y="86"/>
                  </a:lnTo>
                  <a:lnTo>
                    <a:pt x="146" y="84"/>
                  </a:lnTo>
                  <a:lnTo>
                    <a:pt x="164" y="86"/>
                  </a:lnTo>
                  <a:lnTo>
                    <a:pt x="180" y="88"/>
                  </a:lnTo>
                  <a:lnTo>
                    <a:pt x="180" y="88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33" name="Freeform 37"/>
            <p:cNvSpPr>
              <a:spLocks/>
            </p:cNvSpPr>
            <p:nvPr/>
          </p:nvSpPr>
          <p:spPr bwMode="auto">
            <a:xfrm>
              <a:off x="5383" y="4083"/>
              <a:ext cx="95" cy="152"/>
            </a:xfrm>
            <a:custGeom>
              <a:avLst/>
              <a:gdLst/>
              <a:ahLst/>
              <a:cxnLst>
                <a:cxn ang="0">
                  <a:pos x="32" y="82"/>
                </a:cxn>
                <a:cxn ang="0">
                  <a:pos x="32" y="82"/>
                </a:cxn>
                <a:cxn ang="0">
                  <a:pos x="26" y="96"/>
                </a:cxn>
                <a:cxn ang="0">
                  <a:pos x="20" y="110"/>
                </a:cxn>
                <a:cxn ang="0">
                  <a:pos x="10" y="124"/>
                </a:cxn>
                <a:cxn ang="0">
                  <a:pos x="0" y="136"/>
                </a:cxn>
                <a:cxn ang="0">
                  <a:pos x="58" y="200"/>
                </a:cxn>
                <a:cxn ang="0">
                  <a:pos x="58" y="200"/>
                </a:cxn>
                <a:cxn ang="0">
                  <a:pos x="76" y="180"/>
                </a:cxn>
                <a:cxn ang="0">
                  <a:pos x="92" y="158"/>
                </a:cxn>
                <a:cxn ang="0">
                  <a:pos x="104" y="134"/>
                </a:cxn>
                <a:cxn ang="0">
                  <a:pos x="114" y="108"/>
                </a:cxn>
                <a:cxn ang="0">
                  <a:pos x="114" y="108"/>
                </a:cxn>
                <a:cxn ang="0">
                  <a:pos x="122" y="80"/>
                </a:cxn>
                <a:cxn ang="0">
                  <a:pos x="126" y="54"/>
                </a:cxn>
                <a:cxn ang="0">
                  <a:pos x="126" y="26"/>
                </a:cxn>
                <a:cxn ang="0">
                  <a:pos x="122" y="0"/>
                </a:cxn>
                <a:cxn ang="0">
                  <a:pos x="38" y="18"/>
                </a:cxn>
                <a:cxn ang="0">
                  <a:pos x="38" y="18"/>
                </a:cxn>
                <a:cxn ang="0">
                  <a:pos x="40" y="34"/>
                </a:cxn>
                <a:cxn ang="0">
                  <a:pos x="40" y="50"/>
                </a:cxn>
                <a:cxn ang="0">
                  <a:pos x="38" y="66"/>
                </a:cxn>
                <a:cxn ang="0">
                  <a:pos x="32" y="82"/>
                </a:cxn>
                <a:cxn ang="0">
                  <a:pos x="32" y="82"/>
                </a:cxn>
              </a:cxnLst>
              <a:rect l="0" t="0" r="r" b="b"/>
              <a:pathLst>
                <a:path w="126" h="200">
                  <a:moveTo>
                    <a:pt x="32" y="82"/>
                  </a:moveTo>
                  <a:lnTo>
                    <a:pt x="32" y="82"/>
                  </a:lnTo>
                  <a:lnTo>
                    <a:pt x="26" y="96"/>
                  </a:lnTo>
                  <a:lnTo>
                    <a:pt x="20" y="110"/>
                  </a:lnTo>
                  <a:lnTo>
                    <a:pt x="10" y="124"/>
                  </a:lnTo>
                  <a:lnTo>
                    <a:pt x="0" y="136"/>
                  </a:lnTo>
                  <a:lnTo>
                    <a:pt x="58" y="200"/>
                  </a:lnTo>
                  <a:lnTo>
                    <a:pt x="58" y="200"/>
                  </a:lnTo>
                  <a:lnTo>
                    <a:pt x="76" y="180"/>
                  </a:lnTo>
                  <a:lnTo>
                    <a:pt x="92" y="158"/>
                  </a:lnTo>
                  <a:lnTo>
                    <a:pt x="104" y="134"/>
                  </a:lnTo>
                  <a:lnTo>
                    <a:pt x="114" y="108"/>
                  </a:lnTo>
                  <a:lnTo>
                    <a:pt x="114" y="108"/>
                  </a:lnTo>
                  <a:lnTo>
                    <a:pt x="122" y="80"/>
                  </a:lnTo>
                  <a:lnTo>
                    <a:pt x="126" y="54"/>
                  </a:lnTo>
                  <a:lnTo>
                    <a:pt x="126" y="26"/>
                  </a:lnTo>
                  <a:lnTo>
                    <a:pt x="122" y="0"/>
                  </a:lnTo>
                  <a:lnTo>
                    <a:pt x="38" y="18"/>
                  </a:lnTo>
                  <a:lnTo>
                    <a:pt x="38" y="18"/>
                  </a:lnTo>
                  <a:lnTo>
                    <a:pt x="40" y="34"/>
                  </a:lnTo>
                  <a:lnTo>
                    <a:pt x="40" y="50"/>
                  </a:lnTo>
                  <a:lnTo>
                    <a:pt x="38" y="66"/>
                  </a:lnTo>
                  <a:lnTo>
                    <a:pt x="32" y="82"/>
                  </a:lnTo>
                  <a:lnTo>
                    <a:pt x="32" y="8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34" name="Freeform 38"/>
            <p:cNvSpPr>
              <a:spLocks/>
            </p:cNvSpPr>
            <p:nvPr/>
          </p:nvSpPr>
          <p:spPr bwMode="auto">
            <a:xfrm>
              <a:off x="5129" y="3987"/>
              <a:ext cx="96" cy="152"/>
            </a:xfrm>
            <a:custGeom>
              <a:avLst/>
              <a:gdLst/>
              <a:ahLst/>
              <a:cxnLst>
                <a:cxn ang="0">
                  <a:pos x="92" y="118"/>
                </a:cxn>
                <a:cxn ang="0">
                  <a:pos x="92" y="118"/>
                </a:cxn>
                <a:cxn ang="0">
                  <a:pos x="98" y="104"/>
                </a:cxn>
                <a:cxn ang="0">
                  <a:pos x="106" y="88"/>
                </a:cxn>
                <a:cxn ang="0">
                  <a:pos x="116" y="76"/>
                </a:cxn>
                <a:cxn ang="0">
                  <a:pos x="126" y="64"/>
                </a:cxn>
                <a:cxn ang="0">
                  <a:pos x="68" y="0"/>
                </a:cxn>
                <a:cxn ang="0">
                  <a:pos x="68" y="0"/>
                </a:cxn>
                <a:cxn ang="0">
                  <a:pos x="50" y="20"/>
                </a:cxn>
                <a:cxn ang="0">
                  <a:pos x="34" y="42"/>
                </a:cxn>
                <a:cxn ang="0">
                  <a:pos x="22" y="66"/>
                </a:cxn>
                <a:cxn ang="0">
                  <a:pos x="12" y="92"/>
                </a:cxn>
                <a:cxn ang="0">
                  <a:pos x="12" y="92"/>
                </a:cxn>
                <a:cxn ang="0">
                  <a:pos x="4" y="118"/>
                </a:cxn>
                <a:cxn ang="0">
                  <a:pos x="0" y="146"/>
                </a:cxn>
                <a:cxn ang="0">
                  <a:pos x="0" y="174"/>
                </a:cxn>
                <a:cxn ang="0">
                  <a:pos x="4" y="200"/>
                </a:cxn>
                <a:cxn ang="0">
                  <a:pos x="88" y="182"/>
                </a:cxn>
                <a:cxn ang="0">
                  <a:pos x="88" y="182"/>
                </a:cxn>
                <a:cxn ang="0">
                  <a:pos x="86" y="166"/>
                </a:cxn>
                <a:cxn ang="0">
                  <a:pos x="86" y="150"/>
                </a:cxn>
                <a:cxn ang="0">
                  <a:pos x="88" y="134"/>
                </a:cxn>
                <a:cxn ang="0">
                  <a:pos x="92" y="118"/>
                </a:cxn>
                <a:cxn ang="0">
                  <a:pos x="92" y="118"/>
                </a:cxn>
              </a:cxnLst>
              <a:rect l="0" t="0" r="r" b="b"/>
              <a:pathLst>
                <a:path w="126" h="200">
                  <a:moveTo>
                    <a:pt x="92" y="118"/>
                  </a:moveTo>
                  <a:lnTo>
                    <a:pt x="92" y="118"/>
                  </a:lnTo>
                  <a:lnTo>
                    <a:pt x="98" y="104"/>
                  </a:lnTo>
                  <a:lnTo>
                    <a:pt x="106" y="88"/>
                  </a:lnTo>
                  <a:lnTo>
                    <a:pt x="116" y="76"/>
                  </a:lnTo>
                  <a:lnTo>
                    <a:pt x="126" y="64"/>
                  </a:lnTo>
                  <a:lnTo>
                    <a:pt x="68" y="0"/>
                  </a:lnTo>
                  <a:lnTo>
                    <a:pt x="68" y="0"/>
                  </a:lnTo>
                  <a:lnTo>
                    <a:pt x="50" y="20"/>
                  </a:lnTo>
                  <a:lnTo>
                    <a:pt x="34" y="42"/>
                  </a:lnTo>
                  <a:lnTo>
                    <a:pt x="22" y="66"/>
                  </a:lnTo>
                  <a:lnTo>
                    <a:pt x="12" y="92"/>
                  </a:lnTo>
                  <a:lnTo>
                    <a:pt x="12" y="92"/>
                  </a:lnTo>
                  <a:lnTo>
                    <a:pt x="4" y="118"/>
                  </a:lnTo>
                  <a:lnTo>
                    <a:pt x="0" y="146"/>
                  </a:lnTo>
                  <a:lnTo>
                    <a:pt x="0" y="174"/>
                  </a:lnTo>
                  <a:lnTo>
                    <a:pt x="4" y="200"/>
                  </a:lnTo>
                  <a:lnTo>
                    <a:pt x="88" y="182"/>
                  </a:lnTo>
                  <a:lnTo>
                    <a:pt x="88" y="182"/>
                  </a:lnTo>
                  <a:lnTo>
                    <a:pt x="86" y="166"/>
                  </a:lnTo>
                  <a:lnTo>
                    <a:pt x="86" y="150"/>
                  </a:lnTo>
                  <a:lnTo>
                    <a:pt x="88" y="134"/>
                  </a:lnTo>
                  <a:lnTo>
                    <a:pt x="92" y="118"/>
                  </a:lnTo>
                  <a:lnTo>
                    <a:pt x="92" y="118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35" name="Freeform 39"/>
            <p:cNvSpPr>
              <a:spLocks/>
            </p:cNvSpPr>
            <p:nvPr/>
          </p:nvSpPr>
          <p:spPr bwMode="auto">
            <a:xfrm>
              <a:off x="5135" y="4142"/>
              <a:ext cx="126" cy="132"/>
            </a:xfrm>
            <a:custGeom>
              <a:avLst/>
              <a:gdLst/>
              <a:ahLst/>
              <a:cxnLst>
                <a:cxn ang="0">
                  <a:pos x="84" y="0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8" y="44"/>
                </a:cxn>
                <a:cxn ang="0">
                  <a:pos x="20" y="68"/>
                </a:cxn>
                <a:cxn ang="0">
                  <a:pos x="34" y="90"/>
                </a:cxn>
                <a:cxn ang="0">
                  <a:pos x="50" y="112"/>
                </a:cxn>
                <a:cxn ang="0">
                  <a:pos x="70" y="130"/>
                </a:cxn>
                <a:cxn ang="0">
                  <a:pos x="90" y="148"/>
                </a:cxn>
                <a:cxn ang="0">
                  <a:pos x="114" y="162"/>
                </a:cxn>
                <a:cxn ang="0">
                  <a:pos x="140" y="174"/>
                </a:cxn>
                <a:cxn ang="0">
                  <a:pos x="166" y="92"/>
                </a:cxn>
                <a:cxn ang="0">
                  <a:pos x="166" y="92"/>
                </a:cxn>
                <a:cxn ang="0">
                  <a:pos x="152" y="84"/>
                </a:cxn>
                <a:cxn ang="0">
                  <a:pos x="138" y="76"/>
                </a:cxn>
                <a:cxn ang="0">
                  <a:pos x="126" y="66"/>
                </a:cxn>
                <a:cxn ang="0">
                  <a:pos x="114" y="54"/>
                </a:cxn>
                <a:cxn ang="0">
                  <a:pos x="104" y="42"/>
                </a:cxn>
                <a:cxn ang="0">
                  <a:pos x="96" y="28"/>
                </a:cxn>
                <a:cxn ang="0">
                  <a:pos x="90" y="14"/>
                </a:cxn>
                <a:cxn ang="0">
                  <a:pos x="84" y="0"/>
                </a:cxn>
                <a:cxn ang="0">
                  <a:pos x="84" y="0"/>
                </a:cxn>
              </a:cxnLst>
              <a:rect l="0" t="0" r="r" b="b"/>
              <a:pathLst>
                <a:path w="166" h="174">
                  <a:moveTo>
                    <a:pt x="84" y="0"/>
                  </a:moveTo>
                  <a:lnTo>
                    <a:pt x="0" y="18"/>
                  </a:lnTo>
                  <a:lnTo>
                    <a:pt x="0" y="18"/>
                  </a:lnTo>
                  <a:lnTo>
                    <a:pt x="8" y="44"/>
                  </a:lnTo>
                  <a:lnTo>
                    <a:pt x="20" y="68"/>
                  </a:lnTo>
                  <a:lnTo>
                    <a:pt x="34" y="90"/>
                  </a:lnTo>
                  <a:lnTo>
                    <a:pt x="50" y="112"/>
                  </a:lnTo>
                  <a:lnTo>
                    <a:pt x="70" y="130"/>
                  </a:lnTo>
                  <a:lnTo>
                    <a:pt x="90" y="148"/>
                  </a:lnTo>
                  <a:lnTo>
                    <a:pt x="114" y="162"/>
                  </a:lnTo>
                  <a:lnTo>
                    <a:pt x="140" y="174"/>
                  </a:lnTo>
                  <a:lnTo>
                    <a:pt x="166" y="92"/>
                  </a:lnTo>
                  <a:lnTo>
                    <a:pt x="166" y="92"/>
                  </a:lnTo>
                  <a:lnTo>
                    <a:pt x="152" y="84"/>
                  </a:lnTo>
                  <a:lnTo>
                    <a:pt x="138" y="76"/>
                  </a:lnTo>
                  <a:lnTo>
                    <a:pt x="126" y="66"/>
                  </a:lnTo>
                  <a:lnTo>
                    <a:pt x="114" y="54"/>
                  </a:lnTo>
                  <a:lnTo>
                    <a:pt x="104" y="42"/>
                  </a:lnTo>
                  <a:lnTo>
                    <a:pt x="96" y="28"/>
                  </a:lnTo>
                  <a:lnTo>
                    <a:pt x="90" y="14"/>
                  </a:lnTo>
                  <a:lnTo>
                    <a:pt x="84" y="0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36" name="Freeform 40"/>
            <p:cNvSpPr>
              <a:spLocks/>
            </p:cNvSpPr>
            <p:nvPr/>
          </p:nvSpPr>
          <p:spPr bwMode="auto">
            <a:xfrm>
              <a:off x="5345" y="3948"/>
              <a:ext cx="127" cy="132"/>
            </a:xfrm>
            <a:custGeom>
              <a:avLst/>
              <a:gdLst/>
              <a:ahLst/>
              <a:cxnLst>
                <a:cxn ang="0">
                  <a:pos x="84" y="174"/>
                </a:cxn>
                <a:cxn ang="0">
                  <a:pos x="168" y="156"/>
                </a:cxn>
                <a:cxn ang="0">
                  <a:pos x="168" y="156"/>
                </a:cxn>
                <a:cxn ang="0">
                  <a:pos x="160" y="130"/>
                </a:cxn>
                <a:cxn ang="0">
                  <a:pos x="148" y="106"/>
                </a:cxn>
                <a:cxn ang="0">
                  <a:pos x="134" y="84"/>
                </a:cxn>
                <a:cxn ang="0">
                  <a:pos x="118" y="62"/>
                </a:cxn>
                <a:cxn ang="0">
                  <a:pos x="98" y="44"/>
                </a:cxn>
                <a:cxn ang="0">
                  <a:pos x="76" y="26"/>
                </a:cxn>
                <a:cxn ang="0">
                  <a:pos x="54" y="12"/>
                </a:cxn>
                <a:cxn ang="0">
                  <a:pos x="28" y="0"/>
                </a:cxn>
                <a:cxn ang="0">
                  <a:pos x="0" y="82"/>
                </a:cxn>
                <a:cxn ang="0">
                  <a:pos x="0" y="82"/>
                </a:cxn>
                <a:cxn ang="0">
                  <a:pos x="16" y="90"/>
                </a:cxn>
                <a:cxn ang="0">
                  <a:pos x="30" y="98"/>
                </a:cxn>
                <a:cxn ang="0">
                  <a:pos x="42" y="108"/>
                </a:cxn>
                <a:cxn ang="0">
                  <a:pos x="54" y="120"/>
                </a:cxn>
                <a:cxn ang="0">
                  <a:pos x="64" y="132"/>
                </a:cxn>
                <a:cxn ang="0">
                  <a:pos x="72" y="144"/>
                </a:cxn>
                <a:cxn ang="0">
                  <a:pos x="78" y="160"/>
                </a:cxn>
                <a:cxn ang="0">
                  <a:pos x="84" y="174"/>
                </a:cxn>
                <a:cxn ang="0">
                  <a:pos x="84" y="174"/>
                </a:cxn>
              </a:cxnLst>
              <a:rect l="0" t="0" r="r" b="b"/>
              <a:pathLst>
                <a:path w="168" h="174">
                  <a:moveTo>
                    <a:pt x="84" y="174"/>
                  </a:moveTo>
                  <a:lnTo>
                    <a:pt x="168" y="156"/>
                  </a:lnTo>
                  <a:lnTo>
                    <a:pt x="168" y="156"/>
                  </a:lnTo>
                  <a:lnTo>
                    <a:pt x="160" y="130"/>
                  </a:lnTo>
                  <a:lnTo>
                    <a:pt x="148" y="106"/>
                  </a:lnTo>
                  <a:lnTo>
                    <a:pt x="134" y="84"/>
                  </a:lnTo>
                  <a:lnTo>
                    <a:pt x="118" y="62"/>
                  </a:lnTo>
                  <a:lnTo>
                    <a:pt x="98" y="44"/>
                  </a:lnTo>
                  <a:lnTo>
                    <a:pt x="76" y="26"/>
                  </a:lnTo>
                  <a:lnTo>
                    <a:pt x="54" y="12"/>
                  </a:lnTo>
                  <a:lnTo>
                    <a:pt x="28" y="0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16" y="90"/>
                  </a:lnTo>
                  <a:lnTo>
                    <a:pt x="30" y="98"/>
                  </a:lnTo>
                  <a:lnTo>
                    <a:pt x="42" y="108"/>
                  </a:lnTo>
                  <a:lnTo>
                    <a:pt x="54" y="120"/>
                  </a:lnTo>
                  <a:lnTo>
                    <a:pt x="64" y="132"/>
                  </a:lnTo>
                  <a:lnTo>
                    <a:pt x="72" y="144"/>
                  </a:lnTo>
                  <a:lnTo>
                    <a:pt x="78" y="160"/>
                  </a:lnTo>
                  <a:lnTo>
                    <a:pt x="84" y="174"/>
                  </a:lnTo>
                  <a:lnTo>
                    <a:pt x="84" y="174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37" name="Freeform 41"/>
            <p:cNvSpPr>
              <a:spLocks/>
            </p:cNvSpPr>
            <p:nvPr/>
          </p:nvSpPr>
          <p:spPr bwMode="auto">
            <a:xfrm>
              <a:off x="5258" y="4197"/>
              <a:ext cx="156" cy="88"/>
            </a:xfrm>
            <a:custGeom>
              <a:avLst/>
              <a:gdLst/>
              <a:ahLst/>
              <a:cxnLst>
                <a:cxn ang="0">
                  <a:pos x="26" y="26"/>
                </a:cxn>
                <a:cxn ang="0">
                  <a:pos x="0" y="108"/>
                </a:cxn>
                <a:cxn ang="0">
                  <a:pos x="0" y="108"/>
                </a:cxn>
                <a:cxn ang="0">
                  <a:pos x="28" y="114"/>
                </a:cxn>
                <a:cxn ang="0">
                  <a:pos x="56" y="116"/>
                </a:cxn>
                <a:cxn ang="0">
                  <a:pos x="82" y="116"/>
                </a:cxn>
                <a:cxn ang="0">
                  <a:pos x="110" y="112"/>
                </a:cxn>
                <a:cxn ang="0">
                  <a:pos x="136" y="104"/>
                </a:cxn>
                <a:cxn ang="0">
                  <a:pos x="160" y="94"/>
                </a:cxn>
                <a:cxn ang="0">
                  <a:pos x="184" y="80"/>
                </a:cxn>
                <a:cxn ang="0">
                  <a:pos x="206" y="64"/>
                </a:cxn>
                <a:cxn ang="0">
                  <a:pos x="148" y="0"/>
                </a:cxn>
                <a:cxn ang="0">
                  <a:pos x="148" y="0"/>
                </a:cxn>
                <a:cxn ang="0">
                  <a:pos x="134" y="10"/>
                </a:cxn>
                <a:cxn ang="0">
                  <a:pos x="120" y="18"/>
                </a:cxn>
                <a:cxn ang="0">
                  <a:pos x="106" y="24"/>
                </a:cxn>
                <a:cxn ang="0">
                  <a:pos x="90" y="28"/>
                </a:cxn>
                <a:cxn ang="0">
                  <a:pos x="74" y="30"/>
                </a:cxn>
                <a:cxn ang="0">
                  <a:pos x="58" y="30"/>
                </a:cxn>
                <a:cxn ang="0">
                  <a:pos x="42" y="30"/>
                </a:cxn>
                <a:cxn ang="0">
                  <a:pos x="26" y="26"/>
                </a:cxn>
                <a:cxn ang="0">
                  <a:pos x="26" y="26"/>
                </a:cxn>
              </a:cxnLst>
              <a:rect l="0" t="0" r="r" b="b"/>
              <a:pathLst>
                <a:path w="206" h="116">
                  <a:moveTo>
                    <a:pt x="26" y="26"/>
                  </a:moveTo>
                  <a:lnTo>
                    <a:pt x="0" y="108"/>
                  </a:lnTo>
                  <a:lnTo>
                    <a:pt x="0" y="108"/>
                  </a:lnTo>
                  <a:lnTo>
                    <a:pt x="28" y="114"/>
                  </a:lnTo>
                  <a:lnTo>
                    <a:pt x="56" y="116"/>
                  </a:lnTo>
                  <a:lnTo>
                    <a:pt x="82" y="116"/>
                  </a:lnTo>
                  <a:lnTo>
                    <a:pt x="110" y="112"/>
                  </a:lnTo>
                  <a:lnTo>
                    <a:pt x="136" y="104"/>
                  </a:lnTo>
                  <a:lnTo>
                    <a:pt x="160" y="94"/>
                  </a:lnTo>
                  <a:lnTo>
                    <a:pt x="184" y="80"/>
                  </a:lnTo>
                  <a:lnTo>
                    <a:pt x="206" y="64"/>
                  </a:lnTo>
                  <a:lnTo>
                    <a:pt x="148" y="0"/>
                  </a:lnTo>
                  <a:lnTo>
                    <a:pt x="148" y="0"/>
                  </a:lnTo>
                  <a:lnTo>
                    <a:pt x="134" y="10"/>
                  </a:lnTo>
                  <a:lnTo>
                    <a:pt x="120" y="18"/>
                  </a:lnTo>
                  <a:lnTo>
                    <a:pt x="106" y="24"/>
                  </a:lnTo>
                  <a:lnTo>
                    <a:pt x="90" y="28"/>
                  </a:lnTo>
                  <a:lnTo>
                    <a:pt x="74" y="30"/>
                  </a:lnTo>
                  <a:lnTo>
                    <a:pt x="58" y="30"/>
                  </a:lnTo>
                  <a:lnTo>
                    <a:pt x="42" y="30"/>
                  </a:lnTo>
                  <a:lnTo>
                    <a:pt x="26" y="26"/>
                  </a:lnTo>
                  <a:lnTo>
                    <a:pt x="26" y="26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5" name="Group 42"/>
          <p:cNvGrpSpPr>
            <a:grpSpLocks/>
          </p:cNvGrpSpPr>
          <p:nvPr/>
        </p:nvGrpSpPr>
        <p:grpSpPr bwMode="auto">
          <a:xfrm>
            <a:off x="8089900" y="5821363"/>
            <a:ext cx="390525" cy="390525"/>
            <a:chOff x="5114" y="3685"/>
            <a:chExt cx="246" cy="246"/>
          </a:xfrm>
        </p:grpSpPr>
        <p:sp>
          <p:nvSpPr>
            <p:cNvPr id="4139" name="Freeform 43"/>
            <p:cNvSpPr>
              <a:spLocks/>
            </p:cNvSpPr>
            <p:nvPr/>
          </p:nvSpPr>
          <p:spPr bwMode="auto">
            <a:xfrm>
              <a:off x="5135" y="3845"/>
              <a:ext cx="94" cy="86"/>
            </a:xfrm>
            <a:custGeom>
              <a:avLst/>
              <a:gdLst/>
              <a:ahLst/>
              <a:cxnLst>
                <a:cxn ang="0">
                  <a:pos x="70" y="0"/>
                </a:cxn>
                <a:cxn ang="0">
                  <a:pos x="0" y="42"/>
                </a:cxn>
                <a:cxn ang="0">
                  <a:pos x="0" y="42"/>
                </a:cxn>
                <a:cxn ang="0">
                  <a:pos x="10" y="56"/>
                </a:cxn>
                <a:cxn ang="0">
                  <a:pos x="22" y="70"/>
                </a:cxn>
                <a:cxn ang="0">
                  <a:pos x="36" y="82"/>
                </a:cxn>
                <a:cxn ang="0">
                  <a:pos x="52" y="92"/>
                </a:cxn>
                <a:cxn ang="0">
                  <a:pos x="68" y="100"/>
                </a:cxn>
                <a:cxn ang="0">
                  <a:pos x="86" y="108"/>
                </a:cxn>
                <a:cxn ang="0">
                  <a:pos x="104" y="112"/>
                </a:cxn>
                <a:cxn ang="0">
                  <a:pos x="124" y="114"/>
                </a:cxn>
                <a:cxn ang="0">
                  <a:pos x="124" y="32"/>
                </a:cxn>
                <a:cxn ang="0">
                  <a:pos x="124" y="32"/>
                </a:cxn>
                <a:cxn ang="0">
                  <a:pos x="108" y="28"/>
                </a:cxn>
                <a:cxn ang="0">
                  <a:pos x="94" y="22"/>
                </a:cxn>
                <a:cxn ang="0">
                  <a:pos x="82" y="12"/>
                </a:cxn>
                <a:cxn ang="0">
                  <a:pos x="70" y="0"/>
                </a:cxn>
                <a:cxn ang="0">
                  <a:pos x="70" y="0"/>
                </a:cxn>
              </a:cxnLst>
              <a:rect l="0" t="0" r="r" b="b"/>
              <a:pathLst>
                <a:path w="124" h="114">
                  <a:moveTo>
                    <a:pt x="70" y="0"/>
                  </a:moveTo>
                  <a:lnTo>
                    <a:pt x="0" y="42"/>
                  </a:lnTo>
                  <a:lnTo>
                    <a:pt x="0" y="42"/>
                  </a:lnTo>
                  <a:lnTo>
                    <a:pt x="10" y="56"/>
                  </a:lnTo>
                  <a:lnTo>
                    <a:pt x="22" y="70"/>
                  </a:lnTo>
                  <a:lnTo>
                    <a:pt x="36" y="82"/>
                  </a:lnTo>
                  <a:lnTo>
                    <a:pt x="52" y="92"/>
                  </a:lnTo>
                  <a:lnTo>
                    <a:pt x="68" y="100"/>
                  </a:lnTo>
                  <a:lnTo>
                    <a:pt x="86" y="108"/>
                  </a:lnTo>
                  <a:lnTo>
                    <a:pt x="104" y="112"/>
                  </a:lnTo>
                  <a:lnTo>
                    <a:pt x="124" y="114"/>
                  </a:lnTo>
                  <a:lnTo>
                    <a:pt x="124" y="32"/>
                  </a:lnTo>
                  <a:lnTo>
                    <a:pt x="124" y="32"/>
                  </a:lnTo>
                  <a:lnTo>
                    <a:pt x="108" y="28"/>
                  </a:lnTo>
                  <a:lnTo>
                    <a:pt x="94" y="22"/>
                  </a:lnTo>
                  <a:lnTo>
                    <a:pt x="82" y="12"/>
                  </a:lnTo>
                  <a:lnTo>
                    <a:pt x="70" y="0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40" name="Freeform 44"/>
            <p:cNvSpPr>
              <a:spLocks/>
            </p:cNvSpPr>
            <p:nvPr/>
          </p:nvSpPr>
          <p:spPr bwMode="auto">
            <a:xfrm>
              <a:off x="5135" y="3685"/>
              <a:ext cx="94" cy="87"/>
            </a:xfrm>
            <a:custGeom>
              <a:avLst/>
              <a:gdLst/>
              <a:ahLst/>
              <a:cxnLst>
                <a:cxn ang="0">
                  <a:pos x="124" y="82"/>
                </a:cxn>
                <a:cxn ang="0">
                  <a:pos x="124" y="0"/>
                </a:cxn>
                <a:cxn ang="0">
                  <a:pos x="124" y="0"/>
                </a:cxn>
                <a:cxn ang="0">
                  <a:pos x="104" y="2"/>
                </a:cxn>
                <a:cxn ang="0">
                  <a:pos x="86" y="8"/>
                </a:cxn>
                <a:cxn ang="0">
                  <a:pos x="68" y="14"/>
                </a:cxn>
                <a:cxn ang="0">
                  <a:pos x="52" y="22"/>
                </a:cxn>
                <a:cxn ang="0">
                  <a:pos x="36" y="32"/>
                </a:cxn>
                <a:cxn ang="0">
                  <a:pos x="22" y="44"/>
                </a:cxn>
                <a:cxn ang="0">
                  <a:pos x="10" y="58"/>
                </a:cxn>
                <a:cxn ang="0">
                  <a:pos x="0" y="72"/>
                </a:cxn>
                <a:cxn ang="0">
                  <a:pos x="70" y="114"/>
                </a:cxn>
                <a:cxn ang="0">
                  <a:pos x="70" y="114"/>
                </a:cxn>
                <a:cxn ang="0">
                  <a:pos x="82" y="102"/>
                </a:cxn>
                <a:cxn ang="0">
                  <a:pos x="94" y="92"/>
                </a:cxn>
                <a:cxn ang="0">
                  <a:pos x="108" y="86"/>
                </a:cxn>
                <a:cxn ang="0">
                  <a:pos x="124" y="82"/>
                </a:cxn>
                <a:cxn ang="0">
                  <a:pos x="124" y="82"/>
                </a:cxn>
              </a:cxnLst>
              <a:rect l="0" t="0" r="r" b="b"/>
              <a:pathLst>
                <a:path w="124" h="114">
                  <a:moveTo>
                    <a:pt x="124" y="82"/>
                  </a:moveTo>
                  <a:lnTo>
                    <a:pt x="124" y="0"/>
                  </a:lnTo>
                  <a:lnTo>
                    <a:pt x="124" y="0"/>
                  </a:lnTo>
                  <a:lnTo>
                    <a:pt x="104" y="2"/>
                  </a:lnTo>
                  <a:lnTo>
                    <a:pt x="86" y="8"/>
                  </a:lnTo>
                  <a:lnTo>
                    <a:pt x="68" y="14"/>
                  </a:lnTo>
                  <a:lnTo>
                    <a:pt x="52" y="22"/>
                  </a:lnTo>
                  <a:lnTo>
                    <a:pt x="36" y="32"/>
                  </a:lnTo>
                  <a:lnTo>
                    <a:pt x="22" y="44"/>
                  </a:lnTo>
                  <a:lnTo>
                    <a:pt x="10" y="58"/>
                  </a:lnTo>
                  <a:lnTo>
                    <a:pt x="0" y="72"/>
                  </a:lnTo>
                  <a:lnTo>
                    <a:pt x="70" y="114"/>
                  </a:lnTo>
                  <a:lnTo>
                    <a:pt x="70" y="114"/>
                  </a:lnTo>
                  <a:lnTo>
                    <a:pt x="82" y="102"/>
                  </a:lnTo>
                  <a:lnTo>
                    <a:pt x="94" y="92"/>
                  </a:lnTo>
                  <a:lnTo>
                    <a:pt x="108" y="86"/>
                  </a:lnTo>
                  <a:lnTo>
                    <a:pt x="124" y="82"/>
                  </a:lnTo>
                  <a:lnTo>
                    <a:pt x="124" y="8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41" name="Freeform 45"/>
            <p:cNvSpPr>
              <a:spLocks/>
            </p:cNvSpPr>
            <p:nvPr/>
          </p:nvSpPr>
          <p:spPr bwMode="auto">
            <a:xfrm>
              <a:off x="5114" y="3754"/>
              <a:ext cx="67" cy="109"/>
            </a:xfrm>
            <a:custGeom>
              <a:avLst/>
              <a:gdLst/>
              <a:ahLst/>
              <a:cxnLst>
                <a:cxn ang="0">
                  <a:pos x="82" y="72"/>
                </a:cxn>
                <a:cxn ang="0">
                  <a:pos x="82" y="72"/>
                </a:cxn>
                <a:cxn ang="0">
                  <a:pos x="84" y="56"/>
                </a:cxn>
                <a:cxn ang="0">
                  <a:pos x="88" y="42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0" y="16"/>
                </a:cxn>
                <a:cxn ang="0">
                  <a:pos x="4" y="34"/>
                </a:cxn>
                <a:cxn ang="0">
                  <a:pos x="2" y="54"/>
                </a:cxn>
                <a:cxn ang="0">
                  <a:pos x="0" y="72"/>
                </a:cxn>
                <a:cxn ang="0">
                  <a:pos x="0" y="72"/>
                </a:cxn>
                <a:cxn ang="0">
                  <a:pos x="2" y="92"/>
                </a:cxn>
                <a:cxn ang="0">
                  <a:pos x="4" y="110"/>
                </a:cxn>
                <a:cxn ang="0">
                  <a:pos x="10" y="128"/>
                </a:cxn>
                <a:cxn ang="0">
                  <a:pos x="18" y="144"/>
                </a:cxn>
                <a:cxn ang="0">
                  <a:pos x="88" y="104"/>
                </a:cxn>
                <a:cxn ang="0">
                  <a:pos x="88" y="104"/>
                </a:cxn>
                <a:cxn ang="0">
                  <a:pos x="84" y="88"/>
                </a:cxn>
                <a:cxn ang="0">
                  <a:pos x="82" y="72"/>
                </a:cxn>
                <a:cxn ang="0">
                  <a:pos x="82" y="72"/>
                </a:cxn>
              </a:cxnLst>
              <a:rect l="0" t="0" r="r" b="b"/>
              <a:pathLst>
                <a:path w="88" h="144">
                  <a:moveTo>
                    <a:pt x="82" y="72"/>
                  </a:moveTo>
                  <a:lnTo>
                    <a:pt x="82" y="72"/>
                  </a:lnTo>
                  <a:lnTo>
                    <a:pt x="84" y="56"/>
                  </a:lnTo>
                  <a:lnTo>
                    <a:pt x="88" y="42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0" y="16"/>
                  </a:lnTo>
                  <a:lnTo>
                    <a:pt x="4" y="34"/>
                  </a:lnTo>
                  <a:lnTo>
                    <a:pt x="2" y="54"/>
                  </a:lnTo>
                  <a:lnTo>
                    <a:pt x="0" y="72"/>
                  </a:lnTo>
                  <a:lnTo>
                    <a:pt x="0" y="72"/>
                  </a:lnTo>
                  <a:lnTo>
                    <a:pt x="2" y="92"/>
                  </a:lnTo>
                  <a:lnTo>
                    <a:pt x="4" y="110"/>
                  </a:lnTo>
                  <a:lnTo>
                    <a:pt x="10" y="128"/>
                  </a:lnTo>
                  <a:lnTo>
                    <a:pt x="18" y="144"/>
                  </a:lnTo>
                  <a:lnTo>
                    <a:pt x="88" y="104"/>
                  </a:lnTo>
                  <a:lnTo>
                    <a:pt x="88" y="104"/>
                  </a:lnTo>
                  <a:lnTo>
                    <a:pt x="84" y="88"/>
                  </a:lnTo>
                  <a:lnTo>
                    <a:pt x="82" y="72"/>
                  </a:lnTo>
                  <a:lnTo>
                    <a:pt x="82" y="7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42" name="Freeform 46"/>
            <p:cNvSpPr>
              <a:spLocks/>
            </p:cNvSpPr>
            <p:nvPr/>
          </p:nvSpPr>
          <p:spPr bwMode="auto">
            <a:xfrm>
              <a:off x="5293" y="3754"/>
              <a:ext cx="67" cy="109"/>
            </a:xfrm>
            <a:custGeom>
              <a:avLst/>
              <a:gdLst/>
              <a:ahLst/>
              <a:cxnLst>
                <a:cxn ang="0">
                  <a:pos x="6" y="72"/>
                </a:cxn>
                <a:cxn ang="0">
                  <a:pos x="6" y="72"/>
                </a:cxn>
                <a:cxn ang="0">
                  <a:pos x="6" y="88"/>
                </a:cxn>
                <a:cxn ang="0">
                  <a:pos x="0" y="104"/>
                </a:cxn>
                <a:cxn ang="0">
                  <a:pos x="72" y="144"/>
                </a:cxn>
                <a:cxn ang="0">
                  <a:pos x="72" y="144"/>
                </a:cxn>
                <a:cxn ang="0">
                  <a:pos x="78" y="128"/>
                </a:cxn>
                <a:cxn ang="0">
                  <a:pos x="84" y="110"/>
                </a:cxn>
                <a:cxn ang="0">
                  <a:pos x="88" y="92"/>
                </a:cxn>
                <a:cxn ang="0">
                  <a:pos x="88" y="72"/>
                </a:cxn>
                <a:cxn ang="0">
                  <a:pos x="88" y="72"/>
                </a:cxn>
                <a:cxn ang="0">
                  <a:pos x="88" y="54"/>
                </a:cxn>
                <a:cxn ang="0">
                  <a:pos x="84" y="34"/>
                </a:cxn>
                <a:cxn ang="0">
                  <a:pos x="78" y="16"/>
                </a:cxn>
                <a:cxn ang="0">
                  <a:pos x="72" y="0"/>
                </a:cxn>
                <a:cxn ang="0">
                  <a:pos x="0" y="42"/>
                </a:cxn>
                <a:cxn ang="0">
                  <a:pos x="0" y="42"/>
                </a:cxn>
                <a:cxn ang="0">
                  <a:pos x="6" y="56"/>
                </a:cxn>
                <a:cxn ang="0">
                  <a:pos x="6" y="72"/>
                </a:cxn>
                <a:cxn ang="0">
                  <a:pos x="6" y="72"/>
                </a:cxn>
              </a:cxnLst>
              <a:rect l="0" t="0" r="r" b="b"/>
              <a:pathLst>
                <a:path w="88" h="144">
                  <a:moveTo>
                    <a:pt x="6" y="72"/>
                  </a:moveTo>
                  <a:lnTo>
                    <a:pt x="6" y="72"/>
                  </a:lnTo>
                  <a:lnTo>
                    <a:pt x="6" y="88"/>
                  </a:lnTo>
                  <a:lnTo>
                    <a:pt x="0" y="104"/>
                  </a:lnTo>
                  <a:lnTo>
                    <a:pt x="72" y="144"/>
                  </a:lnTo>
                  <a:lnTo>
                    <a:pt x="72" y="144"/>
                  </a:lnTo>
                  <a:lnTo>
                    <a:pt x="78" y="128"/>
                  </a:lnTo>
                  <a:lnTo>
                    <a:pt x="84" y="110"/>
                  </a:lnTo>
                  <a:lnTo>
                    <a:pt x="88" y="92"/>
                  </a:lnTo>
                  <a:lnTo>
                    <a:pt x="88" y="72"/>
                  </a:lnTo>
                  <a:lnTo>
                    <a:pt x="88" y="72"/>
                  </a:lnTo>
                  <a:lnTo>
                    <a:pt x="88" y="54"/>
                  </a:lnTo>
                  <a:lnTo>
                    <a:pt x="84" y="34"/>
                  </a:lnTo>
                  <a:lnTo>
                    <a:pt x="78" y="16"/>
                  </a:lnTo>
                  <a:lnTo>
                    <a:pt x="72" y="0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6" y="56"/>
                  </a:lnTo>
                  <a:lnTo>
                    <a:pt x="6" y="72"/>
                  </a:lnTo>
                  <a:lnTo>
                    <a:pt x="6" y="72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43" name="Freeform 47"/>
            <p:cNvSpPr>
              <a:spLocks/>
            </p:cNvSpPr>
            <p:nvPr/>
          </p:nvSpPr>
          <p:spPr bwMode="auto">
            <a:xfrm>
              <a:off x="5245" y="3845"/>
              <a:ext cx="95" cy="86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114"/>
                </a:cxn>
                <a:cxn ang="0">
                  <a:pos x="0" y="114"/>
                </a:cxn>
                <a:cxn ang="0">
                  <a:pos x="20" y="112"/>
                </a:cxn>
                <a:cxn ang="0">
                  <a:pos x="38" y="108"/>
                </a:cxn>
                <a:cxn ang="0">
                  <a:pos x="56" y="100"/>
                </a:cxn>
                <a:cxn ang="0">
                  <a:pos x="72" y="92"/>
                </a:cxn>
                <a:cxn ang="0">
                  <a:pos x="88" y="82"/>
                </a:cxn>
                <a:cxn ang="0">
                  <a:pos x="102" y="70"/>
                </a:cxn>
                <a:cxn ang="0">
                  <a:pos x="114" y="56"/>
                </a:cxn>
                <a:cxn ang="0">
                  <a:pos x="126" y="42"/>
                </a:cxn>
                <a:cxn ang="0">
                  <a:pos x="54" y="0"/>
                </a:cxn>
                <a:cxn ang="0">
                  <a:pos x="54" y="0"/>
                </a:cxn>
                <a:cxn ang="0">
                  <a:pos x="44" y="12"/>
                </a:cxn>
                <a:cxn ang="0">
                  <a:pos x="30" y="22"/>
                </a:cxn>
                <a:cxn ang="0">
                  <a:pos x="16" y="28"/>
                </a:cxn>
                <a:cxn ang="0">
                  <a:pos x="0" y="32"/>
                </a:cxn>
                <a:cxn ang="0">
                  <a:pos x="0" y="32"/>
                </a:cxn>
              </a:cxnLst>
              <a:rect l="0" t="0" r="r" b="b"/>
              <a:pathLst>
                <a:path w="126" h="114">
                  <a:moveTo>
                    <a:pt x="0" y="32"/>
                  </a:moveTo>
                  <a:lnTo>
                    <a:pt x="0" y="114"/>
                  </a:lnTo>
                  <a:lnTo>
                    <a:pt x="0" y="114"/>
                  </a:lnTo>
                  <a:lnTo>
                    <a:pt x="20" y="112"/>
                  </a:lnTo>
                  <a:lnTo>
                    <a:pt x="38" y="108"/>
                  </a:lnTo>
                  <a:lnTo>
                    <a:pt x="56" y="100"/>
                  </a:lnTo>
                  <a:lnTo>
                    <a:pt x="72" y="92"/>
                  </a:lnTo>
                  <a:lnTo>
                    <a:pt x="88" y="82"/>
                  </a:lnTo>
                  <a:lnTo>
                    <a:pt x="102" y="70"/>
                  </a:lnTo>
                  <a:lnTo>
                    <a:pt x="114" y="56"/>
                  </a:lnTo>
                  <a:lnTo>
                    <a:pt x="126" y="42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44" y="12"/>
                  </a:lnTo>
                  <a:lnTo>
                    <a:pt x="30" y="22"/>
                  </a:lnTo>
                  <a:lnTo>
                    <a:pt x="16" y="28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44" name="Freeform 48"/>
            <p:cNvSpPr>
              <a:spLocks/>
            </p:cNvSpPr>
            <p:nvPr/>
          </p:nvSpPr>
          <p:spPr bwMode="auto">
            <a:xfrm>
              <a:off x="5245" y="3685"/>
              <a:ext cx="95" cy="87"/>
            </a:xfrm>
            <a:custGeom>
              <a:avLst/>
              <a:gdLst/>
              <a:ahLst/>
              <a:cxnLst>
                <a:cxn ang="0">
                  <a:pos x="54" y="114"/>
                </a:cxn>
                <a:cxn ang="0">
                  <a:pos x="126" y="72"/>
                </a:cxn>
                <a:cxn ang="0">
                  <a:pos x="126" y="72"/>
                </a:cxn>
                <a:cxn ang="0">
                  <a:pos x="114" y="58"/>
                </a:cxn>
                <a:cxn ang="0">
                  <a:pos x="102" y="44"/>
                </a:cxn>
                <a:cxn ang="0">
                  <a:pos x="88" y="32"/>
                </a:cxn>
                <a:cxn ang="0">
                  <a:pos x="72" y="22"/>
                </a:cxn>
                <a:cxn ang="0">
                  <a:pos x="56" y="14"/>
                </a:cxn>
                <a:cxn ang="0">
                  <a:pos x="38" y="8"/>
                </a:cxn>
                <a:cxn ang="0">
                  <a:pos x="20" y="2"/>
                </a:cxn>
                <a:cxn ang="0">
                  <a:pos x="0" y="0"/>
                </a:cxn>
                <a:cxn ang="0">
                  <a:pos x="0" y="82"/>
                </a:cxn>
                <a:cxn ang="0">
                  <a:pos x="0" y="82"/>
                </a:cxn>
                <a:cxn ang="0">
                  <a:pos x="16" y="86"/>
                </a:cxn>
                <a:cxn ang="0">
                  <a:pos x="30" y="92"/>
                </a:cxn>
                <a:cxn ang="0">
                  <a:pos x="44" y="102"/>
                </a:cxn>
                <a:cxn ang="0">
                  <a:pos x="54" y="114"/>
                </a:cxn>
                <a:cxn ang="0">
                  <a:pos x="54" y="114"/>
                </a:cxn>
              </a:cxnLst>
              <a:rect l="0" t="0" r="r" b="b"/>
              <a:pathLst>
                <a:path w="126" h="114">
                  <a:moveTo>
                    <a:pt x="54" y="114"/>
                  </a:moveTo>
                  <a:lnTo>
                    <a:pt x="126" y="72"/>
                  </a:lnTo>
                  <a:lnTo>
                    <a:pt x="126" y="72"/>
                  </a:lnTo>
                  <a:lnTo>
                    <a:pt x="114" y="58"/>
                  </a:lnTo>
                  <a:lnTo>
                    <a:pt x="102" y="44"/>
                  </a:lnTo>
                  <a:lnTo>
                    <a:pt x="88" y="32"/>
                  </a:lnTo>
                  <a:lnTo>
                    <a:pt x="72" y="22"/>
                  </a:lnTo>
                  <a:lnTo>
                    <a:pt x="56" y="14"/>
                  </a:lnTo>
                  <a:lnTo>
                    <a:pt x="38" y="8"/>
                  </a:lnTo>
                  <a:lnTo>
                    <a:pt x="20" y="2"/>
                  </a:lnTo>
                  <a:lnTo>
                    <a:pt x="0" y="0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16" y="86"/>
                  </a:lnTo>
                  <a:lnTo>
                    <a:pt x="30" y="92"/>
                  </a:lnTo>
                  <a:lnTo>
                    <a:pt x="44" y="102"/>
                  </a:lnTo>
                  <a:lnTo>
                    <a:pt x="54" y="114"/>
                  </a:lnTo>
                  <a:lnTo>
                    <a:pt x="54" y="114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65440-4C8F-497D-8DC5-47855554306F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2749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0191 -0.00185 L -2.77778E-6 5.78035E-7 " pathEditMode="relative" rAng="0" ptsTypes="AA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0100" y="10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" presetID="8" presetClass="emp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m62-mechanical">
  <a:themeElements>
    <a:clrScheme name="m62-mechanical 15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024069"/>
      </a:accent2>
      <a:accent3>
        <a:srgbClr val="FFFFFF"/>
      </a:accent3>
      <a:accent4>
        <a:srgbClr val="000000"/>
      </a:accent4>
      <a:accent5>
        <a:srgbClr val="DAEDEF"/>
      </a:accent5>
      <a:accent6>
        <a:srgbClr val="02395E"/>
      </a:accent6>
      <a:hlink>
        <a:srgbClr val="03548A"/>
      </a:hlink>
      <a:folHlink>
        <a:srgbClr val="027ED1"/>
      </a:folHlink>
    </a:clrScheme>
    <a:fontScheme name="m62-mechanic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m62-mechanical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62-mechanical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62-mechanical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62-mechanical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62-mechanical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62-mechanical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62-mechanical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62-mechanical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62-mechanical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62-mechanical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62-mechanical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62-mechanical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62-mechanical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02406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02395E"/>
        </a:accent6>
        <a:hlink>
          <a:srgbClr val="03548A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62-mechanical 1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27ED1"/>
        </a:accent1>
        <a:accent2>
          <a:srgbClr val="024069"/>
        </a:accent2>
        <a:accent3>
          <a:srgbClr val="FFFFFF"/>
        </a:accent3>
        <a:accent4>
          <a:srgbClr val="000000"/>
        </a:accent4>
        <a:accent5>
          <a:srgbClr val="AAC0E5"/>
        </a:accent5>
        <a:accent6>
          <a:srgbClr val="02395E"/>
        </a:accent6>
        <a:hlink>
          <a:srgbClr val="03548A"/>
        </a:hlink>
        <a:folHlink>
          <a:srgbClr val="0368A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62-mechanical 1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02406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02395E"/>
        </a:accent6>
        <a:hlink>
          <a:srgbClr val="03548A"/>
        </a:hlink>
        <a:folHlink>
          <a:srgbClr val="027ED1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It’s not the design of your template">
  <a:themeElements>
    <a:clrScheme name="1_It’s not the design of your template 1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135971"/>
      </a:hlink>
      <a:folHlink>
        <a:srgbClr val="99CC00"/>
      </a:folHlink>
    </a:clrScheme>
    <a:fontScheme name="1_It’s not the design of your template">
      <a:majorFont>
        <a:latin typeface="Neo San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It’s not the design of your 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It’s not the design of your templ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It’s not the design of your templ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It’s not the design of your templ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It’s not the design of your templ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It’s not the design of your templ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It’s not the design of your templ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It’s not the design of your templ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It’s not the design of your templ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It’s not the design of your templ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It’s not the design of your templ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It’s not the design of your templ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It’s not the design of your template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135971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m62-mechanical</Template>
  <TotalTime>1980</TotalTime>
  <Words>1893</Words>
  <Application>Microsoft Office PowerPoint</Application>
  <PresentationFormat>On-screen Show (4:3)</PresentationFormat>
  <Paragraphs>423</Paragraphs>
  <Slides>35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35</vt:i4>
      </vt:variant>
    </vt:vector>
  </HeadingPairs>
  <TitlesOfParts>
    <vt:vector size="46" baseType="lpstr">
      <vt:lpstr>Arial Unicode MS</vt:lpstr>
      <vt:lpstr>Arial</vt:lpstr>
      <vt:lpstr>Calibri</vt:lpstr>
      <vt:lpstr>Consolas</vt:lpstr>
      <vt:lpstr>Courier New</vt:lpstr>
      <vt:lpstr>Neo Sans</vt:lpstr>
      <vt:lpstr>Times New Roman</vt:lpstr>
      <vt:lpstr>Wingdings</vt:lpstr>
      <vt:lpstr>Wingdings 2</vt:lpstr>
      <vt:lpstr>m62-mechanical</vt:lpstr>
      <vt:lpstr>1_It’s not the design of your template</vt:lpstr>
      <vt:lpstr> Object Oriented Programming CSE 2101  Lecture - 05 </vt:lpstr>
      <vt:lpstr>Outline</vt:lpstr>
      <vt:lpstr>Control Statement</vt:lpstr>
      <vt:lpstr>The if Statement</vt:lpstr>
      <vt:lpstr>The if-else Statement</vt:lpstr>
      <vt:lpstr>Nested if….Else Statements</vt:lpstr>
      <vt:lpstr>Nested if….Else Statements</vt:lpstr>
      <vt:lpstr>The if-else-if ladder</vt:lpstr>
      <vt:lpstr>The switch Statement</vt:lpstr>
      <vt:lpstr>The switch Statement</vt:lpstr>
      <vt:lpstr>The switch Statement</vt:lpstr>
      <vt:lpstr>The switch Statement</vt:lpstr>
      <vt:lpstr>Switch example</vt:lpstr>
      <vt:lpstr>The Conditional Operator</vt:lpstr>
      <vt:lpstr>The Conditional Operator</vt:lpstr>
      <vt:lpstr>Iteration Statements</vt:lpstr>
      <vt:lpstr>The while Statement</vt:lpstr>
      <vt:lpstr>Logic of a while Loop</vt:lpstr>
      <vt:lpstr>while Loop Example</vt:lpstr>
      <vt:lpstr>Nested Loops</vt:lpstr>
      <vt:lpstr>The do-while Statement</vt:lpstr>
      <vt:lpstr>do-while Example</vt:lpstr>
      <vt:lpstr>Comparing while and do-while</vt:lpstr>
      <vt:lpstr>The for Statement</vt:lpstr>
      <vt:lpstr>The for Statement</vt:lpstr>
      <vt:lpstr>Logic of a for loop</vt:lpstr>
      <vt:lpstr>for Example</vt:lpstr>
      <vt:lpstr>The for Statement</vt:lpstr>
      <vt:lpstr>Jump Statements-Break</vt:lpstr>
      <vt:lpstr>Example-break statement</vt:lpstr>
      <vt:lpstr>Example-break statement</vt:lpstr>
      <vt:lpstr>Jump statement-continue</vt:lpstr>
      <vt:lpstr>Example-Continue statement</vt:lpstr>
      <vt:lpstr>Jump Statement-return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text to go here</dc:title>
  <dc:creator>Windows User</dc:creator>
  <cp:lastModifiedBy>user</cp:lastModifiedBy>
  <cp:revision>1078</cp:revision>
  <dcterms:created xsi:type="dcterms:W3CDTF">2015-05-03T19:01:06Z</dcterms:created>
  <dcterms:modified xsi:type="dcterms:W3CDTF">2024-11-04T07:44:05Z</dcterms:modified>
</cp:coreProperties>
</file>