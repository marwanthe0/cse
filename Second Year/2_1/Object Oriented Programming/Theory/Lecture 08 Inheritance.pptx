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21"/>
  </p:notesMasterIdLst>
  <p:sldIdLst>
    <p:sldId id="412" r:id="rId3"/>
    <p:sldId id="257" r:id="rId4"/>
    <p:sldId id="395" r:id="rId5"/>
    <p:sldId id="396" r:id="rId6"/>
    <p:sldId id="397" r:id="rId7"/>
    <p:sldId id="410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394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</a:t>
            </a:r>
            <a:r>
              <a:rPr lang="en-US" sz="2800" b="1">
                <a:solidFill>
                  <a:srgbClr val="024069"/>
                </a:solidFill>
              </a:rPr>
              <a:t>- </a:t>
            </a:r>
            <a:r>
              <a:rPr lang="en-US" sz="2800" b="1" smtClean="0">
                <a:solidFill>
                  <a:srgbClr val="024069"/>
                </a:solidFill>
              </a:rPr>
              <a:t>08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38894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Inheritance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Deriving Subclasses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Member Access and Inheritance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Visibility of Fields in a Class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Superclass Variable Referencing a Subclass Object</a:t>
            </a:r>
          </a:p>
          <a:p>
            <a:r>
              <a:rPr lang="en-US" noProof="1" smtClean="0">
                <a:latin typeface="Times New Roman" pitchFamily="18" charset="0"/>
                <a:cs typeface="Times New Roman" pitchFamily="18" charset="0"/>
              </a:rPr>
              <a:t>Super Reference Example</a:t>
            </a:r>
            <a:endParaRPr lang="en-US" sz="2400" noProof="1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Inheritance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066801"/>
            <a:ext cx="8610600" cy="548640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Allows the creation of hierarchical classification.</a:t>
            </a:r>
          </a:p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It allows a software developer to derive a new class from an existing one</a:t>
            </a:r>
          </a:p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existing class is called the </a:t>
            </a:r>
            <a:r>
              <a:rPr lang="en-US" sz="2400" b="1" dirty="0" smtClean="0">
                <a:latin typeface="Times New Roman" pitchFamily="18" charset="0"/>
              </a:rPr>
              <a:t>superclass</a:t>
            </a:r>
          </a:p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derived class is called the </a:t>
            </a:r>
            <a:r>
              <a:rPr lang="en-US" sz="2400" b="1" dirty="0" smtClean="0">
                <a:latin typeface="Times New Roman" pitchFamily="18" charset="0"/>
              </a:rPr>
              <a:t>subclass</a:t>
            </a:r>
            <a:r>
              <a:rPr lang="en-US" sz="2400" dirty="0" smtClean="0">
                <a:latin typeface="Times New Roman" pitchFamily="18" charset="0"/>
              </a:rPr>
              <a:t>.</a:t>
            </a:r>
          </a:p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subclass is a more specific version of the Original</a:t>
            </a:r>
          </a:p>
          <a:p>
            <a:pPr eaLnBrk="1" hangingPunct="1">
              <a:spcBef>
                <a:spcPct val="70000"/>
              </a:spcBef>
              <a:buSzTx/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superclass contains the generalized properties.</a:t>
            </a:r>
          </a:p>
          <a:p>
            <a:pPr eaLnBrk="1" hangingPunct="1">
              <a:lnSpc>
                <a:spcPct val="50000"/>
              </a:lnSpc>
              <a:spcBef>
                <a:spcPct val="70000"/>
              </a:spcBef>
              <a:buSzTx/>
              <a:buFont typeface="Wingdings" pitchFamily="2" charset="2"/>
              <a:buNone/>
            </a:pPr>
            <a:endParaRPr lang="en-US" sz="20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Inheritance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229600" cy="5407025"/>
          </a:xfrm>
        </p:spPr>
        <p:txBody>
          <a:bodyPr/>
          <a:lstStyle/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child class inherits the methods and data defined for the parent class 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To tailor a derived class, the programmer can add new variables or methods, or can modify the inherited ones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Software reuse is at the heart of inheritance.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62200" y="3810000"/>
            <a:ext cx="4121150" cy="2603500"/>
            <a:chOff x="1471" y="1776"/>
            <a:chExt cx="2596" cy="1640"/>
          </a:xfrm>
        </p:grpSpPr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2197" y="1776"/>
              <a:ext cx="562" cy="296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400" dirty="0">
                  <a:solidFill>
                    <a:schemeClr val="tx2"/>
                  </a:solidFill>
                  <a:latin typeface="Arial" charset="0"/>
                </a:rPr>
                <a:t>Book</a:t>
              </a:r>
            </a:p>
          </p:txBody>
        </p:sp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2592" y="2400"/>
              <a:ext cx="864" cy="296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Novel</a:t>
              </a:r>
            </a:p>
          </p:txBody>
        </p:sp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1471" y="2400"/>
              <a:ext cx="979" cy="296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Dictionary</a:t>
              </a:r>
            </a:p>
          </p:txBody>
        </p:sp>
        <p:sp>
          <p:nvSpPr>
            <p:cNvPr id="10248" name="Rectangle 8"/>
            <p:cNvSpPr>
              <a:spLocks noChangeArrowheads="1"/>
            </p:cNvSpPr>
            <p:nvPr/>
          </p:nvSpPr>
          <p:spPr bwMode="auto">
            <a:xfrm>
              <a:off x="2064" y="3120"/>
              <a:ext cx="796" cy="296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Mystery</a:t>
              </a:r>
            </a:p>
          </p:txBody>
        </p:sp>
        <p:sp>
          <p:nvSpPr>
            <p:cNvPr id="10249" name="Rectangle 9"/>
            <p:cNvSpPr>
              <a:spLocks noChangeArrowheads="1"/>
            </p:cNvSpPr>
            <p:nvPr/>
          </p:nvSpPr>
          <p:spPr bwMode="auto">
            <a:xfrm>
              <a:off x="3120" y="3120"/>
              <a:ext cx="947" cy="296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Romance</a:t>
              </a:r>
            </a:p>
          </p:txBody>
        </p:sp>
        <p:cxnSp>
          <p:nvCxnSpPr>
            <p:cNvPr id="10250" name="AutoShape 10"/>
            <p:cNvCxnSpPr>
              <a:cxnSpLocks noChangeShapeType="1"/>
              <a:stCxn id="10247" idx="0"/>
              <a:endCxn id="10245" idx="2"/>
            </p:cNvCxnSpPr>
            <p:nvPr/>
          </p:nvCxnSpPr>
          <p:spPr bwMode="auto">
            <a:xfrm rot="-5400000">
              <a:off x="2056" y="1977"/>
              <a:ext cx="328" cy="517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triangle" w="lg" len="lg"/>
            </a:ln>
          </p:spPr>
        </p:cxnSp>
        <p:cxnSp>
          <p:nvCxnSpPr>
            <p:cNvPr id="10251" name="AutoShape 11"/>
            <p:cNvCxnSpPr>
              <a:cxnSpLocks noChangeShapeType="1"/>
              <a:stCxn id="10246" idx="0"/>
              <a:endCxn id="10245" idx="2"/>
            </p:cNvCxnSpPr>
            <p:nvPr/>
          </p:nvCxnSpPr>
          <p:spPr bwMode="auto">
            <a:xfrm rot="5400000" flipH="1">
              <a:off x="2587" y="1963"/>
              <a:ext cx="328" cy="546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</p:cxnSp>
        <p:cxnSp>
          <p:nvCxnSpPr>
            <p:cNvPr id="10252" name="AutoShape 12"/>
            <p:cNvCxnSpPr>
              <a:cxnSpLocks noChangeShapeType="1"/>
              <a:stCxn id="10248" idx="0"/>
              <a:endCxn id="10246" idx="2"/>
            </p:cNvCxnSpPr>
            <p:nvPr/>
          </p:nvCxnSpPr>
          <p:spPr bwMode="auto">
            <a:xfrm rot="-5400000">
              <a:off x="2531" y="2627"/>
              <a:ext cx="424" cy="562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triangle" w="lg" len="lg"/>
            </a:ln>
          </p:spPr>
        </p:cxnSp>
        <p:cxnSp>
          <p:nvCxnSpPr>
            <p:cNvPr id="10253" name="AutoShape 13"/>
            <p:cNvCxnSpPr>
              <a:cxnSpLocks noChangeShapeType="1"/>
              <a:stCxn id="10249" idx="0"/>
              <a:endCxn id="10246" idx="2"/>
            </p:cNvCxnSpPr>
            <p:nvPr/>
          </p:nvCxnSpPr>
          <p:spPr bwMode="auto">
            <a:xfrm rot="5400000" flipH="1">
              <a:off x="3097" y="2623"/>
              <a:ext cx="424" cy="570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Deriving Subclasses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772400" cy="119697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In Java, we use the reserved word </a:t>
            </a:r>
            <a:r>
              <a:rPr lang="en-US" smtClean="0">
                <a:solidFill>
                  <a:srgbClr val="0000CC"/>
                </a:solidFill>
                <a:latin typeface="Times New Roman" pitchFamily="18" charset="0"/>
              </a:rPr>
              <a:t>extends</a:t>
            </a:r>
            <a:r>
              <a:rPr lang="en-US" smtClean="0">
                <a:latin typeface="Times New Roman" pitchFamily="18" charset="0"/>
              </a:rPr>
              <a:t> to establish an inheritance relationship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urier New" pitchFamily="49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381000" y="2819400"/>
            <a:ext cx="7848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>
              <a:spcBef>
                <a:spcPct val="0"/>
              </a:spcBef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class Dictionary extends Book </a:t>
            </a: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0"/>
              </a:spcBef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{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0"/>
              </a:spcBef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0"/>
              </a:spcBef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	   // class contents</a:t>
            </a:r>
          </a:p>
          <a:p>
            <a:pPr eaLnBrk="0" hangingPunct="0">
              <a:spcBef>
                <a:spcPct val="0"/>
              </a:spcBef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spcBef>
                <a:spcPct val="0"/>
              </a:spcBef>
            </a:pPr>
            <a:endParaRPr lang="en-US" sz="2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Example-Inheritance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0" y="838200"/>
            <a:ext cx="91440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Book{  </a:t>
            </a: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int page;</a:t>
            </a:r>
          </a:p>
          <a:p>
            <a:pPr>
              <a:spcBef>
                <a:spcPct val="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	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(){  </a:t>
            </a: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(“Number of pages: ” + pages); 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Dictionary extends Book{	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private int def = 52500;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defMsg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(“Number of definitions:” +def);                                  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(“Definitions per page:” +(def/page));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test{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static void main (String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Dictionary D = new Dictionary();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D.page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=1500;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D.msg();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D.defmsg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();	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867400" y="4800600"/>
            <a:ext cx="3048000" cy="1604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 dirty="0"/>
              <a:t>Output:</a:t>
            </a:r>
          </a:p>
          <a:p>
            <a:r>
              <a:rPr lang="en-US" dirty="0"/>
              <a:t>Number of pages: 1500</a:t>
            </a:r>
          </a:p>
          <a:p>
            <a:r>
              <a:rPr lang="en-US" dirty="0"/>
              <a:t>Number of definitions: 52500</a:t>
            </a:r>
          </a:p>
          <a:p>
            <a:r>
              <a:rPr lang="en-US" dirty="0"/>
              <a:t>Definitions per page: 35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Some Inheritance Details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686800" cy="48736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</a:rPr>
              <a:t>Superclass can be used as completely independent, stand-alone class.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</a:rPr>
              <a:t>Inheritance is a one-way street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Times New Roman" pitchFamily="18" charset="0"/>
              </a:rPr>
              <a:t>-The Book class cannot use variables or methods declared explicitly in the Dictionary </a:t>
            </a:r>
            <a:r>
              <a:rPr lang="en-US" sz="2400" dirty="0" smtClean="0">
                <a:latin typeface="Times New Roman" pitchFamily="18" charset="0"/>
              </a:rPr>
              <a:t>class</a:t>
            </a:r>
          </a:p>
          <a:p>
            <a:pPr marL="360363" lvl="1" indent="-360363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dirty="0" smtClean="0">
                <a:latin typeface="Times New Roman" pitchFamily="18" charset="0"/>
              </a:rPr>
              <a:t>Only one superclass for each subclass.</a:t>
            </a:r>
          </a:p>
          <a:p>
            <a:pPr marL="360363" lvl="1" indent="-360363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400" dirty="0" smtClean="0">
                <a:latin typeface="Times New Roman" pitchFamily="18" charset="0"/>
              </a:rPr>
              <a:t>Java does not allow the inheritance of multiple </a:t>
            </a:r>
            <a:r>
              <a:rPr lang="en-US" sz="2400" dirty="0" err="1" smtClean="0">
                <a:latin typeface="Times New Roman" pitchFamily="18" charset="0"/>
              </a:rPr>
              <a:t>superclasses</a:t>
            </a:r>
            <a:r>
              <a:rPr lang="en-US" sz="2400" dirty="0" smtClean="0">
                <a:latin typeface="Times New Roman" pitchFamily="18" charset="0"/>
              </a:rPr>
              <a:t> into a subclass.</a:t>
            </a:r>
            <a:endParaRPr lang="en-US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05800" cy="1265238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Member Access and Inheritance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4582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Variables and methods declared as </a:t>
            </a:r>
            <a:r>
              <a:rPr lang="en-US" dirty="0" smtClean="0">
                <a:solidFill>
                  <a:srgbClr val="3333FF"/>
                </a:solidFill>
                <a:latin typeface="Times New Roman" pitchFamily="18" charset="0"/>
              </a:rPr>
              <a:t>public</a:t>
            </a:r>
            <a:r>
              <a:rPr lang="en-US" dirty="0" smtClean="0">
                <a:latin typeface="Times New Roman" pitchFamily="18" charset="0"/>
              </a:rPr>
              <a:t> are inherited by the subclass.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Variables and methods declared as </a:t>
            </a:r>
            <a:r>
              <a:rPr lang="en-US" dirty="0" smtClean="0">
                <a:solidFill>
                  <a:srgbClr val="3333FF"/>
                </a:solidFill>
                <a:latin typeface="Times New Roman" pitchFamily="18" charset="0"/>
              </a:rPr>
              <a:t>private</a:t>
            </a:r>
            <a:r>
              <a:rPr lang="en-US" dirty="0" smtClean="0">
                <a:latin typeface="Times New Roman" pitchFamily="18" charset="0"/>
              </a:rPr>
              <a:t> remain private to it’s class. It is not accessible by any code outside it’s class, including subclass.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solidFill>
                  <a:srgbClr val="3333FF"/>
                </a:solidFill>
                <a:latin typeface="Times New Roman" pitchFamily="18" charset="0"/>
              </a:rPr>
              <a:t>Public</a:t>
            </a:r>
            <a:r>
              <a:rPr lang="en-US" dirty="0" smtClean="0">
                <a:latin typeface="Times New Roman" pitchFamily="18" charset="0"/>
              </a:rPr>
              <a:t> members violates the principle of encapsulation.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Solution is </a:t>
            </a:r>
            <a:r>
              <a:rPr lang="en-US" dirty="0" smtClean="0">
                <a:solidFill>
                  <a:srgbClr val="3333FF"/>
                </a:solidFill>
                <a:latin typeface="Times New Roman" pitchFamily="18" charset="0"/>
              </a:rPr>
              <a:t>protected</a:t>
            </a:r>
            <a:r>
              <a:rPr lang="en-US" dirty="0" smtClean="0">
                <a:latin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solidFill>
                  <a:srgbClr val="3333FF"/>
                </a:solidFill>
                <a:latin typeface="Times New Roman" pitchFamily="18" charset="0"/>
              </a:rPr>
              <a:t>Protected </a:t>
            </a:r>
            <a:r>
              <a:rPr lang="en-US" dirty="0" smtClean="0">
                <a:latin typeface="Times New Roman" pitchFamily="18" charset="0"/>
              </a:rPr>
              <a:t>modifier allows the variables and methods of the super class to be inherited by the subclass.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86836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Visibility of Fields in a Class</a:t>
            </a:r>
          </a:p>
        </p:txBody>
      </p:sp>
      <p:graphicFrame>
        <p:nvGraphicFramePr>
          <p:cNvPr id="27734" name="Group 86"/>
          <p:cNvGraphicFramePr>
            <a:graphicFrameLocks noGrp="1"/>
          </p:cNvGraphicFramePr>
          <p:nvPr>
            <p:ph sz="quarter" idx="1"/>
          </p:nvPr>
        </p:nvGraphicFramePr>
        <p:xfrm>
          <a:off x="1371600" y="1143000"/>
          <a:ext cx="6819900" cy="5551362"/>
        </p:xfrm>
        <a:graphic>
          <a:graphicData uri="http://schemas.openxmlformats.org/drawingml/2006/table">
            <a:tbl>
              <a:tblPr/>
              <a:tblGrid>
                <a:gridCol w="11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3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public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protected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friendly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(default)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private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Subclass in the same package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Other class in the same package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Subclass in other packages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56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Non-subclass in other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package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7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052513"/>
            <a:ext cx="4267200" cy="5073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      int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private int j;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void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setij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(int x, int y)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=x;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	j=y;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B extends 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int total;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void sum()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total=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i+j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 //ERROR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sz="12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0" y="2362200"/>
            <a:ext cx="5334000" cy="38100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t_inherit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B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obB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=new B();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obB.setij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(12,13);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obB.j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=125;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obB.sum();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("Total:"+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obB.total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Char char=""/>
              <a:defRPr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2"/>
            <a:ext cx="8218488" cy="1030287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Superclass Variable Referencing a Subclass Object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820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A reference variable of a superclass can be assigned a reference to any subclass derived from that superclass.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Type of the reference variable not the type of the object it refers to- determines what member can be accessed.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Example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52400" y="914400"/>
            <a:ext cx="8763000" cy="615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Book {</a:t>
            </a: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int page;</a:t>
            </a:r>
          </a:p>
          <a:p>
            <a:pPr>
              <a:spcBef>
                <a:spcPct val="0"/>
              </a:spcBef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(“Number of pages: ” + pages); 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spcBef>
                <a:spcPct val="0"/>
              </a:spcBef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Dictionary extends Book 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public int def 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defMsg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(“Number of definitions:” +def);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(“Definitions per page: ” +(def/page));</a:t>
            </a:r>
            <a:br>
              <a:rPr lang="en-US" sz="16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test {   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public static void main (String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Dictionary D = new Dictionary();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D.page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=1500;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D.def=52500;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Book B = new Book();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B=D;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B .page = 1300;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	B.def = 34500;   //Invalid   }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438" name="Rectangle 9"/>
          <p:cNvSpPr>
            <a:spLocks noChangeArrowheads="1"/>
          </p:cNvSpPr>
          <p:nvPr/>
        </p:nvSpPr>
        <p:spPr bwMode="auto">
          <a:xfrm>
            <a:off x="7162800" y="4267200"/>
            <a:ext cx="1524000" cy="4572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439" name="Rectangle 10"/>
          <p:cNvSpPr>
            <a:spLocks noChangeArrowheads="1"/>
          </p:cNvSpPr>
          <p:nvPr/>
        </p:nvSpPr>
        <p:spPr bwMode="auto">
          <a:xfrm>
            <a:off x="5867400" y="4038600"/>
            <a:ext cx="838200" cy="685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440" name="Rectangle 11"/>
          <p:cNvSpPr>
            <a:spLocks noChangeArrowheads="1"/>
          </p:cNvSpPr>
          <p:nvPr/>
        </p:nvSpPr>
        <p:spPr bwMode="auto">
          <a:xfrm>
            <a:off x="7315200" y="5105400"/>
            <a:ext cx="1447800" cy="4572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441" name="Rectangle 12"/>
          <p:cNvSpPr>
            <a:spLocks noChangeArrowheads="1"/>
          </p:cNvSpPr>
          <p:nvPr/>
        </p:nvSpPr>
        <p:spPr bwMode="auto">
          <a:xfrm>
            <a:off x="5943600" y="5106988"/>
            <a:ext cx="990600" cy="37623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5943600" y="4268788"/>
            <a:ext cx="990600" cy="37623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41998" name="Line 14"/>
          <p:cNvSpPr>
            <a:spLocks noChangeShapeType="1"/>
          </p:cNvSpPr>
          <p:nvPr/>
        </p:nvSpPr>
        <p:spPr bwMode="auto">
          <a:xfrm>
            <a:off x="6934200" y="4419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1999" name="Line 15"/>
          <p:cNvSpPr>
            <a:spLocks noChangeShapeType="1"/>
          </p:cNvSpPr>
          <p:nvPr/>
        </p:nvSpPr>
        <p:spPr bwMode="auto">
          <a:xfrm>
            <a:off x="6934200" y="5334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cxnSp>
        <p:nvCxnSpPr>
          <p:cNvPr id="42001" name="AutoShape 17"/>
          <p:cNvCxnSpPr>
            <a:cxnSpLocks noChangeShapeType="1"/>
          </p:cNvCxnSpPr>
          <p:nvPr/>
        </p:nvCxnSpPr>
        <p:spPr bwMode="auto">
          <a:xfrm rot="-5400000">
            <a:off x="6838950" y="4819650"/>
            <a:ext cx="495300" cy="304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9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/>
      <p:bldP spid="41998" grpId="0" animBg="1"/>
      <p:bldP spid="41998" grpId="1" animBg="1"/>
      <p:bldP spid="41999" grpId="0" animBg="1"/>
      <p:bldP spid="4199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 lIns="92075" tIns="46038" rIns="92075" bIns="46038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The super Reference-Accessing Constructor in Superclass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Constructors are not inherited, even though they have public visibility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</a:rPr>
              <a:t>super</a:t>
            </a:r>
            <a:r>
              <a:rPr lang="en-US" sz="2400" dirty="0" smtClean="0">
                <a:latin typeface="Times New Roman" pitchFamily="18" charset="0"/>
              </a:rPr>
              <a:t> reference can be used to refer to the parent class, and often is used to invoke the parent's constructor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 child’s constructor is responsible for calling the parent’s constructor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first line of a child’s constructor should use the super reference to call the parent’s constructor.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Super() always refers to the superclass immediately above the calling class.</a:t>
            </a: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spcBef>
                <a:spcPct val="70000"/>
              </a:spcBef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Example-Super Reference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686800" cy="53308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Book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protected int pages;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Book(int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pages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Dictionary  extends Book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private int definitions;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Dictionary(int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, int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numDefinitions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pages=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definitions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numDefinitions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Example-Super Reference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990600"/>
            <a:ext cx="8458200" cy="54832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Book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private int pages;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Book(int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pages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Dictionary extends Book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private int definitions;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Dictionary(int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, int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numDefinitions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super(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numPages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definitions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numDefinitions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Super Reference-Accessing Members of Superclass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General form: </a:t>
            </a:r>
            <a:r>
              <a:rPr lang="en-US" b="1" dirty="0" smtClean="0">
                <a:latin typeface="Times New Roman" pitchFamily="18" charset="0"/>
              </a:rPr>
              <a:t>super . member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</a:rPr>
              <a:t>	where, member can be either a method or an instance variable.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Useful in situation where member names of a subclass hide members by the same name in the superclass.</a:t>
            </a:r>
          </a:p>
          <a:p>
            <a:pPr eaLnBrk="1" hangingPunct="1">
              <a:buFont typeface="Wingdings" pitchFamily="2" charset="2"/>
              <a:buChar char="ü"/>
            </a:pPr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Example-Super Reference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990600"/>
            <a:ext cx="8534400" cy="58674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class Book 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pages;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class Dictionary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extends Book{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pages;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   Dictionary(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a,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b) 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       super . pages=a;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       pages=b;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class test{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public static void main(String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	Dictionary D=new Dictionary(1500,3500);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2005</TotalTime>
  <Words>1063</Words>
  <Application>Microsoft Office PowerPoint</Application>
  <PresentationFormat>On-screen Show (4:3)</PresentationFormat>
  <Paragraphs>228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 Object Oriented Programming CSE 2101  Lecture - 08 </vt:lpstr>
      <vt:lpstr>Outline</vt:lpstr>
      <vt:lpstr>Inheritance</vt:lpstr>
      <vt:lpstr>Inheritance</vt:lpstr>
      <vt:lpstr>Deriving Subclasses</vt:lpstr>
      <vt:lpstr>Example-Inheritance</vt:lpstr>
      <vt:lpstr>Some Inheritance Details</vt:lpstr>
      <vt:lpstr>Member Access and Inheritance</vt:lpstr>
      <vt:lpstr>Visibility of Fields in a Class</vt:lpstr>
      <vt:lpstr>Example</vt:lpstr>
      <vt:lpstr>Superclass Variable Referencing a Subclass Object</vt:lpstr>
      <vt:lpstr>Example</vt:lpstr>
      <vt:lpstr>The super Reference-Accessing Constructor in Superclass</vt:lpstr>
      <vt:lpstr>Example-Super Reference</vt:lpstr>
      <vt:lpstr>Example-Super Reference</vt:lpstr>
      <vt:lpstr>Super Reference-Accessing Members of Superclass</vt:lpstr>
      <vt:lpstr>Example-Super 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1100</cp:revision>
  <dcterms:created xsi:type="dcterms:W3CDTF">2015-05-03T19:01:06Z</dcterms:created>
  <dcterms:modified xsi:type="dcterms:W3CDTF">2024-11-26T04:45:54Z</dcterms:modified>
</cp:coreProperties>
</file>