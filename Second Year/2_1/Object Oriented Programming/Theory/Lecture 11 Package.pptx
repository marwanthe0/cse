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8"/>
  </p:notesMasterIdLst>
  <p:sldIdLst>
    <p:sldId id="422" r:id="rId3"/>
    <p:sldId id="257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394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2" autoAdjust="0"/>
    <p:restoredTop sz="99821" autoAdjust="0"/>
  </p:normalViewPr>
  <p:slideViewPr>
    <p:cSldViewPr>
      <p:cViewPr varScale="1">
        <p:scale>
          <a:sx n="73" d="100"/>
          <a:sy n="73" d="100"/>
        </p:scale>
        <p:origin x="118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0BF978-99B9-4948-8FCF-7AE60DC322A5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DA8EE5-EB80-4E42-B78B-71A8AA052110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60FE2-3667-4A59-B4CF-A68632AF022D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CE81A8-D7A9-4E8D-9788-510BF086B9F7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CDC54C-701E-4E65-B807-EC3757585A4D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0240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1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02406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- </a:t>
            </a:r>
            <a:r>
              <a:rPr lang="en-US" sz="2800" b="1" dirty="0" smtClean="0"/>
              <a:t>11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79383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pPr algn="l"/>
            <a:r>
              <a:rPr lang="en-US" sz="4400" dirty="0" smtClean="0">
                <a:solidFill>
                  <a:schemeClr val="accent6"/>
                </a:solidFill>
              </a:rPr>
              <a:t>Outline</a:t>
            </a:r>
            <a:endParaRPr lang="en-US" sz="4400" dirty="0">
              <a:solidFill>
                <a:schemeClr val="accent6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300" noProof="1" smtClean="0"/>
              <a:t>Packages in Java</a:t>
            </a:r>
          </a:p>
          <a:p>
            <a:r>
              <a:rPr lang="en-US" sz="2300" noProof="1" smtClean="0"/>
              <a:t>Creating a Package</a:t>
            </a:r>
          </a:p>
          <a:p>
            <a:r>
              <a:rPr lang="en-US" sz="2300" noProof="1" smtClean="0"/>
              <a:t>Default Package</a:t>
            </a:r>
          </a:p>
          <a:p>
            <a:r>
              <a:rPr lang="en-US" sz="2300" noProof="1" smtClean="0"/>
              <a:t>Level of Access Control</a:t>
            </a:r>
          </a:p>
          <a:p>
            <a:r>
              <a:rPr lang="en-US" sz="2300" noProof="1" smtClean="0"/>
              <a:t>Examples of Package</a:t>
            </a:r>
          </a:p>
          <a:p>
            <a:pPr lvl="1"/>
            <a:r>
              <a:rPr lang="en-US" sz="1900" noProof="1" smtClean="0"/>
              <a:t>Subclass in the same package</a:t>
            </a:r>
          </a:p>
          <a:p>
            <a:pPr lvl="1"/>
            <a:r>
              <a:rPr lang="en-US" sz="1900" noProof="1" smtClean="0"/>
              <a:t>Subclass in another package</a:t>
            </a:r>
          </a:p>
          <a:p>
            <a:pPr lvl="1"/>
            <a:r>
              <a:rPr lang="en-US" sz="1900" noProof="1" smtClean="0"/>
              <a:t>Non subclass in another package</a:t>
            </a:r>
          </a:p>
          <a:p>
            <a:pPr lvl="1"/>
            <a:endParaRPr lang="en-US" sz="1900" noProof="1" smtClean="0"/>
          </a:p>
          <a:p>
            <a:endParaRPr lang="en-US" sz="2300" noProof="1" smtClean="0"/>
          </a:p>
          <a:p>
            <a:endParaRPr lang="en-US" sz="2300" noProof="1" smtClean="0"/>
          </a:p>
          <a:p>
            <a:endParaRPr lang="en-US" sz="2300" noProof="1" smtClean="0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792162"/>
          </a:xfrm>
        </p:spPr>
        <p:txBody>
          <a:bodyPr/>
          <a:lstStyle/>
          <a:p>
            <a:pPr algn="ctr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Package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924800" cy="54070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Provides a mechanism for grouping a variety of classes and / or interfaces and packages together.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Grouping is based on functionality.</a:t>
            </a:r>
          </a:p>
          <a:p>
            <a:pPr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b="1" u="sng" dirty="0" smtClean="0">
                <a:latin typeface="Times New Roman" pitchFamily="18" charset="0"/>
              </a:rPr>
              <a:t>Benefits: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In packages, classes can be unique compared with classes in other packages.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Packages provides a way to hide classes.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467600" cy="73183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Packages in Java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2546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Two types of packages: 1. Java API packages 2. User defined packages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3200" b="1" u="sng" smtClean="0">
                <a:latin typeface="Times New Roman" pitchFamily="18" charset="0"/>
              </a:rPr>
              <a:t>Java API Packages: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A large number of classes grouped into different packages based on functionality. Examples: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1. java.lang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    2. java.util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3. java.io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4. java.awt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5.java.net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6.java. applet etc.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 rot="5400000">
            <a:off x="6989763" y="3736975"/>
            <a:ext cx="32004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l"/>
            <a:fld id="{35A62A31-B412-4A75-A972-0C5738B6DA8C}" type="slidenum">
              <a:rPr lang="en-US" sz="1200" b="0" smtClean="0">
                <a:solidFill>
                  <a:schemeClr val="tx2"/>
                </a:solidFill>
              </a:rPr>
              <a:pPr algn="l"/>
              <a:t>5</a:t>
            </a:fld>
            <a:endParaRPr lang="en-US" sz="1200" b="0" smtClean="0">
              <a:solidFill>
                <a:schemeClr val="tx2"/>
              </a:solidFill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Package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838200" y="1752600"/>
            <a:ext cx="3962400" cy="4800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143000" y="2286000"/>
            <a:ext cx="3276600" cy="396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0" name="Rectangle 9"/>
          <p:cNvSpPr>
            <a:spLocks noChangeArrowheads="1"/>
          </p:cNvSpPr>
          <p:nvPr/>
        </p:nvSpPr>
        <p:spPr bwMode="auto">
          <a:xfrm>
            <a:off x="1676400" y="2819400"/>
            <a:ext cx="1905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Color</a:t>
            </a:r>
          </a:p>
        </p:txBody>
      </p:sp>
      <p:sp>
        <p:nvSpPr>
          <p:cNvPr id="11271" name="Rectangle 10"/>
          <p:cNvSpPr>
            <a:spLocks noChangeArrowheads="1"/>
          </p:cNvSpPr>
          <p:nvPr/>
        </p:nvSpPr>
        <p:spPr bwMode="auto">
          <a:xfrm>
            <a:off x="1676400" y="3505200"/>
            <a:ext cx="1905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Graphics</a:t>
            </a:r>
          </a:p>
        </p:txBody>
      </p:sp>
      <p:sp>
        <p:nvSpPr>
          <p:cNvPr id="11272" name="Rectangle 11"/>
          <p:cNvSpPr>
            <a:spLocks noChangeArrowheads="1"/>
          </p:cNvSpPr>
          <p:nvPr/>
        </p:nvSpPr>
        <p:spPr bwMode="auto">
          <a:xfrm>
            <a:off x="1676400" y="5334000"/>
            <a:ext cx="19050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1273" name="Line 12"/>
          <p:cNvSpPr>
            <a:spLocks noChangeShapeType="1"/>
          </p:cNvSpPr>
          <p:nvPr/>
        </p:nvSpPr>
        <p:spPr bwMode="auto">
          <a:xfrm>
            <a:off x="2514600" y="4038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74" name="Text Box 13"/>
          <p:cNvSpPr txBox="1">
            <a:spLocks noChangeArrowheads="1"/>
          </p:cNvSpPr>
          <p:nvPr/>
        </p:nvSpPr>
        <p:spPr bwMode="auto">
          <a:xfrm>
            <a:off x="762000" y="1447800"/>
            <a:ext cx="182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Java</a:t>
            </a:r>
          </a:p>
        </p:txBody>
      </p:sp>
      <p:sp>
        <p:nvSpPr>
          <p:cNvPr id="11275" name="Text Box 14"/>
          <p:cNvSpPr txBox="1">
            <a:spLocks noChangeArrowheads="1"/>
          </p:cNvSpPr>
          <p:nvPr/>
        </p:nvSpPr>
        <p:spPr bwMode="auto">
          <a:xfrm>
            <a:off x="1219200" y="19812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awt</a:t>
            </a:r>
          </a:p>
        </p:txBody>
      </p:sp>
      <p:sp>
        <p:nvSpPr>
          <p:cNvPr id="11276" name="Text Box 15"/>
          <p:cNvSpPr txBox="1">
            <a:spLocks noChangeArrowheads="1"/>
          </p:cNvSpPr>
          <p:nvPr/>
        </p:nvSpPr>
        <p:spPr bwMode="auto">
          <a:xfrm>
            <a:off x="5410200" y="1752600"/>
            <a:ext cx="3200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Package containing awt package</a:t>
            </a:r>
          </a:p>
        </p:txBody>
      </p:sp>
      <p:sp>
        <p:nvSpPr>
          <p:cNvPr id="11277" name="Text Box 16"/>
          <p:cNvSpPr txBox="1">
            <a:spLocks noChangeArrowheads="1"/>
          </p:cNvSpPr>
          <p:nvPr/>
        </p:nvSpPr>
        <p:spPr bwMode="auto">
          <a:xfrm>
            <a:off x="5486400" y="2909888"/>
            <a:ext cx="320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Package containing classes</a:t>
            </a:r>
          </a:p>
        </p:txBody>
      </p:sp>
      <p:sp>
        <p:nvSpPr>
          <p:cNvPr id="11278" name="Line 17"/>
          <p:cNvSpPr>
            <a:spLocks noChangeShapeType="1"/>
          </p:cNvSpPr>
          <p:nvPr/>
        </p:nvSpPr>
        <p:spPr bwMode="auto">
          <a:xfrm flipH="1">
            <a:off x="4800600" y="1905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9" name="Line 18"/>
          <p:cNvSpPr>
            <a:spLocks noChangeShapeType="1"/>
          </p:cNvSpPr>
          <p:nvPr/>
        </p:nvSpPr>
        <p:spPr bwMode="auto">
          <a:xfrm flipH="1">
            <a:off x="4267200" y="3124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153400" cy="63976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Accessing Classes in a Package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153400" cy="5559425"/>
          </a:xfrm>
        </p:spPr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smtClean="0">
                <a:latin typeface="Times New Roman" pitchFamily="18" charset="0"/>
              </a:rPr>
              <a:t>Fully Qualified class name: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Example:java.awt.Color</a:t>
            </a:r>
          </a:p>
          <a:p>
            <a:pPr marL="533400" indent="-533400">
              <a:buFont typeface="Wingdings" pitchFamily="2" charset="2"/>
              <a:buAutoNum type="arabicPeriod" startAt="2"/>
            </a:pPr>
            <a:r>
              <a:rPr lang="en-US" b="1" smtClean="0">
                <a:latin typeface="Times New Roman" pitchFamily="18" charset="0"/>
              </a:rPr>
              <a:t>import</a:t>
            </a:r>
            <a:r>
              <a:rPr lang="en-US" smtClean="0">
                <a:latin typeface="Times New Roman" pitchFamily="18" charset="0"/>
              </a:rPr>
              <a:t> packagename.classname;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Example: import java.awt.Color;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        or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      </a:t>
            </a:r>
            <a:r>
              <a:rPr lang="en-US" b="1" smtClean="0">
                <a:latin typeface="Times New Roman" pitchFamily="18" charset="0"/>
              </a:rPr>
              <a:t>import</a:t>
            </a:r>
            <a:r>
              <a:rPr lang="en-US" smtClean="0">
                <a:latin typeface="Times New Roman" pitchFamily="18" charset="0"/>
              </a:rPr>
              <a:t> packagename.*;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	Example: import java.awt.*;</a:t>
            </a:r>
          </a:p>
          <a:p>
            <a:pPr marL="533400" indent="-533400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Import statement must appear at the top of the file, before any class declaration.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Creating Packages</a:t>
            </a:r>
          </a:p>
        </p:txBody>
      </p:sp>
      <p:sp>
        <p:nvSpPr>
          <p:cNvPr id="13315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C50DAB14-E7EE-437B-9CEA-8FBAD1F291BA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4648200" cy="4572000"/>
          </a:xfrm>
        </p:spPr>
        <p:txBody>
          <a:bodyPr/>
          <a:lstStyle/>
          <a:p>
            <a:pPr marL="457200" indent="-457200" eaLnBrk="1" hangingPunct="1">
              <a:buFont typeface="Wingdings" pitchFamily="2" charset="2"/>
              <a:buAutoNum type="arabicPeriod"/>
            </a:pPr>
            <a:r>
              <a:rPr lang="en-US" sz="1800" dirty="0" smtClean="0">
                <a:latin typeface="Times New Roman" pitchFamily="18" charset="0"/>
              </a:rPr>
              <a:t>Declare the package at the beginning of a file using the form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</a:rPr>
              <a:t>		package </a:t>
            </a:r>
            <a:r>
              <a:rPr lang="en-US" sz="1800" i="1" dirty="0" err="1" smtClean="0">
                <a:latin typeface="Times New Roman" pitchFamily="18" charset="0"/>
              </a:rPr>
              <a:t>packagename</a:t>
            </a:r>
            <a:r>
              <a:rPr lang="en-US" sz="1800" i="1" dirty="0" smtClean="0">
                <a:latin typeface="Times New Roman" pitchFamily="18" charset="0"/>
              </a:rPr>
              <a:t>;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sz="1800" dirty="0" smtClean="0">
                <a:latin typeface="Times New Roman" pitchFamily="18" charset="0"/>
              </a:rPr>
              <a:t>2.    Define the class that is to be put in the package and declare it public or default.</a:t>
            </a:r>
          </a:p>
          <a:p>
            <a:pPr marL="457200" indent="-457200" eaLnBrk="1" hangingPunct="1">
              <a:buFont typeface="Wingdings" pitchFamily="2" charset="2"/>
              <a:buAutoNum type="arabicPeriod" startAt="3"/>
            </a:pPr>
            <a:r>
              <a:rPr lang="en-US" sz="1800" dirty="0" smtClean="0">
                <a:latin typeface="Times New Roman" pitchFamily="18" charset="0"/>
              </a:rPr>
              <a:t>Create a subdirectory under the directory where the main source files are stored.</a:t>
            </a:r>
          </a:p>
          <a:p>
            <a:pPr marL="457200" indent="-457200" eaLnBrk="1" hangingPunct="1">
              <a:buFont typeface="Wingdings" pitchFamily="2" charset="2"/>
              <a:buAutoNum type="arabicPeriod" startAt="3"/>
            </a:pPr>
            <a:r>
              <a:rPr lang="en-US" sz="1800" dirty="0" smtClean="0">
                <a:latin typeface="Times New Roman" pitchFamily="18" charset="0"/>
              </a:rPr>
              <a:t>Store the listing as classname.java in the subdirectory created.</a:t>
            </a:r>
          </a:p>
          <a:p>
            <a:pPr marL="457200" indent="-457200" eaLnBrk="1" hangingPunct="1">
              <a:buFont typeface="Wingdings" pitchFamily="2" charset="2"/>
              <a:buAutoNum type="arabicPeriod" startAt="3"/>
            </a:pPr>
            <a:r>
              <a:rPr lang="en-US" sz="1800" dirty="0" smtClean="0">
                <a:latin typeface="Times New Roman" pitchFamily="18" charset="0"/>
              </a:rPr>
              <a:t>Compile the file. This creates .class file in the subdirectory.</a:t>
            </a:r>
          </a:p>
        </p:txBody>
      </p:sp>
      <p:sp>
        <p:nvSpPr>
          <p:cNvPr id="13317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181600" y="1600200"/>
            <a:ext cx="36576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1800" b="1" dirty="0" smtClean="0">
                <a:latin typeface="Times New Roman" pitchFamily="18" charset="0"/>
              </a:rPr>
              <a:t>Example: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firstPackage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FirstClass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	//Body of the class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Creating Packages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447800"/>
            <a:ext cx="8229600" cy="45307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A java package can contain more than one class definitions.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Classes can be scattered over many files and thus a package is a collection of classes belonging to a number of files.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</a:rPr>
              <a:t>Only one of the classes may be declared </a:t>
            </a:r>
            <a:r>
              <a:rPr lang="en-US" sz="2400" b="1" dirty="0" smtClean="0">
                <a:latin typeface="Times New Roman" pitchFamily="18" charset="0"/>
              </a:rPr>
              <a:t>public </a:t>
            </a:r>
            <a:r>
              <a:rPr lang="en-US" sz="2400" dirty="0" smtClean="0">
                <a:latin typeface="Times New Roman" pitchFamily="18" charset="0"/>
              </a:rPr>
              <a:t>and that class name with </a:t>
            </a:r>
            <a:r>
              <a:rPr lang="en-US" sz="2400" b="1" dirty="0" smtClean="0">
                <a:latin typeface="Times New Roman" pitchFamily="18" charset="0"/>
              </a:rPr>
              <a:t>.java</a:t>
            </a:r>
            <a:r>
              <a:rPr lang="en-US" sz="2400" dirty="0" smtClean="0">
                <a:latin typeface="Times New Roman" pitchFamily="18" charset="0"/>
              </a:rPr>
              <a:t> extension is the source file name.</a:t>
            </a:r>
            <a:endParaRPr lang="en-US" sz="2400" b="1" dirty="0" smtClean="0">
              <a:latin typeface="Times New Roman" pitchFamily="18" charset="0"/>
            </a:endParaRP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60665C6-7567-452C-AB44-4EC0E2D38140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Example1-Package</a:t>
            </a:r>
          </a:p>
        </p:txBody>
      </p:sp>
      <p:sp>
        <p:nvSpPr>
          <p:cNvPr id="1536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EC150DEA-F354-455F-9727-F631C9DE0D73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143000"/>
            <a:ext cx="3810000" cy="3124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package1;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ClassA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displayA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 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(“Class A”);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365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4648200" y="1143000"/>
            <a:ext cx="4267200" cy="4876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package1.ClassA;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PackageTest1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=new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obA.displayA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838200" y="5181600"/>
            <a:ext cx="4038600" cy="119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Source file – ClassA.java</a:t>
            </a:r>
          </a:p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Subdirectory-package1</a:t>
            </a:r>
          </a:p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ClassA.Java and ClassA.class-&gt;package1</a:t>
            </a: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5105400" y="5257800"/>
            <a:ext cx="3581400" cy="132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Source file-PackageTest1.java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PackageTest1.java and PackageTest1.class-&gt;in a directory of which </a:t>
            </a:r>
            <a:r>
              <a:rPr lang="en-US" i="1" dirty="0">
                <a:latin typeface="Times New Roman" pitchFamily="18" charset="0"/>
              </a:rPr>
              <a:t>package1</a:t>
            </a:r>
            <a:r>
              <a:rPr lang="en-US" dirty="0">
                <a:latin typeface="Times New Roman" pitchFamily="18" charset="0"/>
              </a:rPr>
              <a:t> is subdirectory.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Example2-Package</a:t>
            </a:r>
          </a:p>
        </p:txBody>
      </p:sp>
      <p:sp>
        <p:nvSpPr>
          <p:cNvPr id="16387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4DF8E473-A016-4DC9-B31B-66E5845870BB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143000"/>
            <a:ext cx="5105400" cy="50736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package2;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ClassB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protected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m =10;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void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displayB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(“Class B”);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(“m= “+m);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389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410200" y="1143000"/>
            <a:ext cx="34290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package1.*;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package2.*;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PackageTest2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=new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=new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obA.displayA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obB.displayB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 3- Package</a:t>
            </a:r>
          </a:p>
        </p:txBody>
      </p:sp>
      <p:sp>
        <p:nvSpPr>
          <p:cNvPr id="17411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74A477C8-7977-4267-A4EF-568D2F060D87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052513"/>
            <a:ext cx="5181600" cy="50736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package2.ClassB;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extends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ClassB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n=20;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void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displayC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(“Class C”);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(“m= “+m);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(“n= “+n);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413" name="Rectangle 4"/>
          <p:cNvSpPr>
            <a:spLocks noGrp="1" noChangeArrowheads="1"/>
          </p:cNvSpPr>
          <p:nvPr>
            <p:ph sz="quarter" idx="2"/>
          </p:nvPr>
        </p:nvSpPr>
        <p:spPr>
          <a:xfrm>
            <a:off x="5486400" y="1219200"/>
            <a:ext cx="36576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PackageTest3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static void main(String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ClassC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obC.displayB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obC.displayC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Default Package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>
              <a:spcAft>
                <a:spcPct val="30000"/>
              </a:spcAft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If a source file does not begin with the </a:t>
            </a:r>
            <a:r>
              <a:rPr lang="en-GB" i="1" smtClean="0">
                <a:latin typeface="Times New Roman" pitchFamily="18" charset="0"/>
              </a:rPr>
              <a:t>package</a:t>
            </a:r>
            <a:r>
              <a:rPr lang="en-GB" smtClean="0">
                <a:latin typeface="Times New Roman" pitchFamily="18" charset="0"/>
              </a:rPr>
              <a:t> statement, the classes contained in the source file reside in the </a:t>
            </a:r>
            <a:r>
              <a:rPr lang="en-GB" i="1" smtClean="0">
                <a:latin typeface="Times New Roman" pitchFamily="18" charset="0"/>
              </a:rPr>
              <a:t>default package</a:t>
            </a:r>
          </a:p>
          <a:p>
            <a:pPr eaLnBrk="1" hangingPunct="1">
              <a:spcAft>
                <a:spcPct val="30000"/>
              </a:spcAft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The java compiler automatically looks in the default package to find classes.</a:t>
            </a:r>
            <a:endParaRPr lang="en-US" smtClean="0">
              <a:latin typeface="Times New Roman" pitchFamily="18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2D06FF4-A960-43E6-B361-227D93B4865A}" type="slidenum">
              <a:rPr lang="en-US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Adding a Class to a Package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696200" cy="1676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Every java source file can contain only class declared as </a:t>
            </a:r>
            <a:r>
              <a:rPr lang="en-US" b="1" smtClean="0">
                <a:latin typeface="Times New Roman" pitchFamily="18" charset="0"/>
              </a:rPr>
              <a:t>public.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mtClean="0">
                <a:latin typeface="Times New Roman" pitchFamily="18" charset="0"/>
              </a:rPr>
              <a:t>The name of the source file should be same as the name of the public class with </a:t>
            </a:r>
            <a:r>
              <a:rPr lang="en-US" b="1" smtClean="0">
                <a:latin typeface="Times New Roman" pitchFamily="18" charset="0"/>
              </a:rPr>
              <a:t>.java</a:t>
            </a:r>
            <a:r>
              <a:rPr lang="en-US" smtClean="0">
                <a:latin typeface="Times New Roman" pitchFamily="18" charset="0"/>
              </a:rPr>
              <a:t> extension.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B0001296-1DE0-4148-AF44-EB89DA379E43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838200" y="3733800"/>
            <a:ext cx="342900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package p1;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ClassA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 ……………}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classC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{……}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Source file : ClassA.java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Subdirectory: p1</a:t>
            </a:r>
          </a:p>
        </p:txBody>
      </p:sp>
      <p:sp>
        <p:nvSpPr>
          <p:cNvPr id="9222" name="Text Box 5"/>
          <p:cNvSpPr txBox="1">
            <a:spLocks noChangeArrowheads="1"/>
          </p:cNvSpPr>
          <p:nvPr/>
        </p:nvSpPr>
        <p:spPr bwMode="auto">
          <a:xfrm>
            <a:off x="4572000" y="3733800"/>
            <a:ext cx="34290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package p1;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ClassB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{…………}</a:t>
            </a:r>
          </a:p>
          <a:p>
            <a:pPr>
              <a:spcBef>
                <a:spcPct val="50000"/>
              </a:spcBef>
            </a:pPr>
            <a:endParaRPr lang="en-US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Source file: ClassB.java</a:t>
            </a:r>
          </a:p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Subdirectory:p1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305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Visibility of classes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764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SzTx/>
              <a:buFont typeface="Wingdings" pitchFamily="2" charset="2"/>
              <a:buChar char="ü"/>
            </a:pPr>
            <a:r>
              <a:rPr lang="en-GB" smtClean="0">
                <a:latin typeface="Times New Roman" pitchFamily="18" charset="0"/>
              </a:rPr>
              <a:t>A class has two levels of visibility:</a:t>
            </a: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SzTx/>
              <a:buFont typeface="Wingdings" pitchFamily="2" charset="2"/>
              <a:buNone/>
            </a:pPr>
            <a:r>
              <a:rPr lang="en-GB" smtClean="0">
                <a:latin typeface="Times New Roman" pitchFamily="18" charset="0"/>
              </a:rPr>
              <a:t>	-</a:t>
            </a:r>
            <a:r>
              <a:rPr lang="en-GB" b="1" smtClean="0">
                <a:latin typeface="Times New Roman" pitchFamily="18" charset="0"/>
              </a:rPr>
              <a:t>public</a:t>
            </a:r>
            <a:r>
              <a:rPr lang="en-GB" smtClean="0">
                <a:latin typeface="Times New Roman" pitchFamily="18" charset="0"/>
              </a:rPr>
              <a:t> scope means it is visible outside its containing package</a:t>
            </a: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SzTx/>
              <a:buFont typeface="Wingdings" pitchFamily="2" charset="2"/>
              <a:buNone/>
            </a:pPr>
            <a:r>
              <a:rPr lang="en-GB" smtClean="0">
                <a:latin typeface="Times New Roman" pitchFamily="18" charset="0"/>
              </a:rPr>
              <a:t>	- default scope means it is visible only inside the package. (package scope/ friendly scope)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F77E5C8-3A8A-44FF-A4D6-00874AE23BE1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05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sz="4400" b="1" dirty="0">
                <a:latin typeface="Times New Roman" pitchFamily="18" charset="0"/>
                <a:cs typeface="Times New Roman" pitchFamily="18" charset="0"/>
              </a:rPr>
              <a:t>Example 1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6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655A394-CE4C-44E0-A985-BAD9F7A711A6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914400" y="1600200"/>
            <a:ext cx="7467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my_package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class A		// package scope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// A’s public &amp; private members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public class B		// public scope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// B’s public and private members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Example-2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71CE5994-31E2-4651-955E-669F5CD5BF4D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62000" y="1295400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another_package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import my_package.*;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class C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// C’s public &amp; private members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// class C ‘knows’ about class B 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400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B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		//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OK – class B has public scope</a:t>
            </a: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2400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A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       //ERROR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Example-3</a:t>
            </a: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25DDAE92-1FBD-4520-8C83-12E2533F1A64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609600" y="1143000"/>
            <a:ext cx="7924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package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my_package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class D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// D’s public &amp; private members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// Class D ‘knows’ about classes A and B 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private B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b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		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// OK – class B has public scope</a:t>
            </a: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		private A 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;		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// OK – class A has package scope</a:t>
            </a: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en-GB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GB" sz="2400" dirty="0">
              <a:latin typeface="Courier New" pitchFamily="49" charset="0"/>
              <a:cs typeface="Courier New" pitchFamily="49" charset="0"/>
            </a:endParaRPr>
          </a:p>
          <a:p>
            <a:pPr marL="342900" indent="-342900" defTabSz="381000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Class and package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>
            <a:normAutofit fontScale="850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Class: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is a container for data and code.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the basic unit of encapsulation.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Package:</a:t>
            </a:r>
          </a:p>
          <a:p>
            <a:pPr marL="457200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Package is the container for classes and other subordinate packages.</a:t>
            </a:r>
          </a:p>
          <a:p>
            <a:pPr marL="457200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provides 4 categories of visibility of class members:</a:t>
            </a:r>
          </a:p>
          <a:p>
            <a:pPr marL="822960" lvl="1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Subclasses in the same package.</a:t>
            </a:r>
          </a:p>
          <a:p>
            <a:pPr marL="822960" lvl="1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Non-subclasses in the same package.</a:t>
            </a:r>
          </a:p>
          <a:p>
            <a:pPr marL="822960" lvl="1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Subclasses in different package</a:t>
            </a:r>
          </a:p>
          <a:p>
            <a:pPr marL="822960" lvl="1" indent="-457200" eaLnBrk="1" fontAlgn="auto" hangingPunct="1"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Classes that are neither in the same package nor subclasses.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96F56E0F-F92B-4159-8819-84F817E9A48D}" type="slidenum">
              <a:rPr lang="en-US" smtClean="0"/>
              <a:pPr/>
              <a:t>18</a:t>
            </a:fld>
            <a:endParaRPr lang="en-US" smtClean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467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Levels of Access Control</a:t>
            </a:r>
          </a:p>
        </p:txBody>
      </p:sp>
      <p:graphicFrame>
        <p:nvGraphicFramePr>
          <p:cNvPr id="30775" name="Group 55"/>
          <p:cNvGraphicFramePr>
            <a:graphicFrameLocks noGrp="1"/>
          </p:cNvGraphicFramePr>
          <p:nvPr>
            <p:ph sz="quarter" idx="1"/>
          </p:nvPr>
        </p:nvGraphicFramePr>
        <p:xfrm>
          <a:off x="838200" y="1524000"/>
          <a:ext cx="7471411" cy="4530726"/>
        </p:xfrm>
        <a:graphic>
          <a:graphicData uri="http://schemas.openxmlformats.org/drawingml/2006/table">
            <a:tbl>
              <a:tblPr/>
              <a:tblGrid>
                <a:gridCol w="2841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public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protected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friendly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(default)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private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Same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Subclass in the same 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Other class in the same 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Subclass in other packages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Non-subclass in other package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07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073B1704-8BB3-4380-BBDC-93767D55CBC2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143000"/>
            <a:ext cx="8534400" cy="54102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package p1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          //Source File: protection.java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protection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n=1;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2;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protected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3;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4;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protection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(“n = “+n);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“ +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3C3814A3-298D-43EA-A0BB-DC331AADF051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77813"/>
            <a:ext cx="8610600" cy="712787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Example-Subclass in the Same Package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066800"/>
            <a:ext cx="8382000" cy="54070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p1;             //Source File: derived.java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class derived extends protection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	public derived 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(“n = “+n);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 +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//ERROR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438B3EA8-0EFB-4E2F-8FD1-DD1271135777}" type="slidenum">
              <a:rPr lang="en-US" smtClean="0"/>
              <a:pPr/>
              <a:t>21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01758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Example-Non Subclass in Same Package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p1;        //Source File: samepackage.java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samepackage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samepackage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protection p = new protection();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(“n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 +p.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//ERROR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13474C1D-6E6A-40B8-B08E-16389BBC71C3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58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Example-Subclass in Another Package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8458200" cy="48736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p2;       //Source File: protection2.java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p1.*;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protection2 extends protection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protection2 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(“n = “+n); //ERROR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 +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//ERROR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endParaRPr lang="en-US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1A832FDE-AE06-4B95-A7EB-B3C94AEC5A56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915400" cy="1017587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Example-Non Subclass in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Another Package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305800" cy="4873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package p2;    //Source File: otherpackage.java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import p1.*;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otherpackage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otherpackage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protection p = new protection();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(“n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//ERROR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 +p.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n_pri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//ERROR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p.n_pro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//ERROR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p.n_pub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129588" y="5734050"/>
            <a:ext cx="609600" cy="5207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fld id="{BC9BEDBE-E8B2-4D6B-94C2-C7D724ABACA8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 smtClean="0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1992</TotalTime>
  <Words>1426</Words>
  <Application>Microsoft Office PowerPoint</Application>
  <PresentationFormat>On-screen Show (4:3)</PresentationFormat>
  <Paragraphs>343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- 11 </vt:lpstr>
      <vt:lpstr>Outline</vt:lpstr>
      <vt:lpstr>Package </vt:lpstr>
      <vt:lpstr>Packages in Java</vt:lpstr>
      <vt:lpstr>Package</vt:lpstr>
      <vt:lpstr>Accessing Classes in a Package</vt:lpstr>
      <vt:lpstr>Creating Packages</vt:lpstr>
      <vt:lpstr>Creating Packages</vt:lpstr>
      <vt:lpstr>Example1-Package</vt:lpstr>
      <vt:lpstr>Example2-Package</vt:lpstr>
      <vt:lpstr>Example 3- Package</vt:lpstr>
      <vt:lpstr>Default Package</vt:lpstr>
      <vt:lpstr>Adding a Class to a Package</vt:lpstr>
      <vt:lpstr>Visibility of classes</vt:lpstr>
      <vt:lpstr>Example 1</vt:lpstr>
      <vt:lpstr>Example-2</vt:lpstr>
      <vt:lpstr>Example-3</vt:lpstr>
      <vt:lpstr>Class and package</vt:lpstr>
      <vt:lpstr>Levels of Access Control</vt:lpstr>
      <vt:lpstr>Example</vt:lpstr>
      <vt:lpstr>Example-Subclass in the Same Package</vt:lpstr>
      <vt:lpstr>Example-Non Subclass in Same Package</vt:lpstr>
      <vt:lpstr>Example-Subclass in Another Package</vt:lpstr>
      <vt:lpstr>Example-Non Subclass in Another Package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1104</cp:revision>
  <dcterms:created xsi:type="dcterms:W3CDTF">2015-05-03T19:01:06Z</dcterms:created>
  <dcterms:modified xsi:type="dcterms:W3CDTF">2024-12-21T08:29:25Z</dcterms:modified>
</cp:coreProperties>
</file>