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651" r:id="rId2"/>
  </p:sldMasterIdLst>
  <p:notesMasterIdLst>
    <p:notesMasterId r:id="rId16"/>
  </p:notesMasterIdLst>
  <p:sldIdLst>
    <p:sldId id="486" r:id="rId3"/>
    <p:sldId id="257" r:id="rId4"/>
    <p:sldId id="395" r:id="rId5"/>
    <p:sldId id="396" r:id="rId6"/>
    <p:sldId id="397" r:id="rId7"/>
    <p:sldId id="398" r:id="rId8"/>
    <p:sldId id="399" r:id="rId9"/>
    <p:sldId id="400" r:id="rId10"/>
    <p:sldId id="401" r:id="rId11"/>
    <p:sldId id="402" r:id="rId12"/>
    <p:sldId id="403" r:id="rId13"/>
    <p:sldId id="404" r:id="rId14"/>
    <p:sldId id="394" r:id="rId1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4069"/>
    <a:srgbClr val="CACACA"/>
    <a:srgbClr val="0066CC"/>
    <a:srgbClr val="0099CC"/>
    <a:srgbClr val="3864A9"/>
    <a:srgbClr val="273691"/>
    <a:srgbClr val="2737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342" autoAdjust="0"/>
    <p:restoredTop sz="99821" autoAdjust="0"/>
  </p:normalViewPr>
  <p:slideViewPr>
    <p:cSldViewPr>
      <p:cViewPr varScale="1">
        <p:scale>
          <a:sx n="73" d="100"/>
          <a:sy n="73" d="100"/>
        </p:scale>
        <p:origin x="1182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E9439C-4193-43FD-B7ED-FDDC753C38E4}" type="datetimeFigureOut">
              <a:rPr lang="en-US" smtClean="0"/>
              <a:pPr/>
              <a:t>11/4/2024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3FFEB6-3655-496E-AF33-E2CC2D71E3D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8388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3FFEB6-3655-496E-AF33-E2CC2D71E3DD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9348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50" name="Picture 30" descr="background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6553200" y="6248400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351B2EE7-5072-467A-9223-02257C03FF2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20"/>
                            </p:stCondLst>
                            <p:childTnLst>
                              <p:par>
                                <p:cTn id="11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2" grpId="0"/>
      <p:bldP spid="5123" grpId="0" build="p">
        <p:tmplLst>
          <p:tmpl lvl="1">
            <p:tnLst>
              <p:par>
                <p:cTn presetID="53" presetClass="entr" presetSubtype="0" fill="hold" nodeType="afterEffect">
                  <p:stCondLst>
                    <p:cond delay="0"/>
                  </p:stCondLst>
                  <p:iterate type="lt">
                    <p:tmPct val="4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123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123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512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24069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l">
              <a:defRPr sz="1600" i="0"/>
            </a:lvl1pPr>
          </a:lstStyle>
          <a:p>
            <a:fld id="{F0065440-4C8F-497D-8DC5-47855554306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0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E826E5F-98C7-427D-BD7E-0BE0F1A9683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052513"/>
            <a:ext cx="4038600" cy="50736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052513"/>
            <a:ext cx="4038600" cy="50736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553200" y="6248400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F69F05A-DCBD-4B85-B11F-DDBCF8E9200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553200" y="6248400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94C1862-9D7D-4867-B015-B11771DE47F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553200" y="6248400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FBD6026-5CE8-486A-9BC0-1C41C23FE70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553200" y="6248400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F5884D9-B953-4650-A00D-DBE79B42910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553200" y="6248400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8D01A79-9865-49FA-B323-8C97083EEA8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553200" y="6248400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AFD685-CBDA-4730-95DC-3E6CBC63D80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0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FCFE8F2-027C-4C57-9B26-E402534C899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88913"/>
            <a:ext cx="2057400" cy="59372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88913"/>
            <a:ext cx="6019800" cy="59372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0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CCFE25D-8A1D-46F6-BEBF-C85E3072F96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hyperlink" Target="http://www.m62.net/" TargetMode="External"/><Relationship Id="rId18" Type="http://schemas.openxmlformats.org/officeDocument/2006/relationships/image" Target="../media/image5.png"/><Relationship Id="rId3" Type="http://schemas.openxmlformats.org/officeDocument/2006/relationships/slideLayout" Target="../slideLayouts/slideLayout14.xml"/><Relationship Id="rId21" Type="http://schemas.openxmlformats.org/officeDocument/2006/relationships/image" Target="../media/image7.png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17" Type="http://schemas.openxmlformats.org/officeDocument/2006/relationships/hyperlink" Target="http://www.m62.net/powerpoint-slides/" TargetMode="External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4.png"/><Relationship Id="rId20" Type="http://schemas.openxmlformats.org/officeDocument/2006/relationships/image" Target="../media/image6.pn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hyperlink" Target="http://www.m62.net/presentation-theory/bullet-points-dont-work/beyond-bullet-points/" TargetMode="External"/><Relationship Id="rId10" Type="http://schemas.openxmlformats.org/officeDocument/2006/relationships/slideLayout" Target="../slideLayouts/slideLayout21.xml"/><Relationship Id="rId19" Type="http://schemas.openxmlformats.org/officeDocument/2006/relationships/hyperlink" Target="http://www.m62.net/powerpoint-training/" TargetMode="Externa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2" name="Picture 38" descr="background2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7916" y="14844"/>
            <a:ext cx="9144000" cy="6858000"/>
          </a:xfrm>
          <a:prstGeom prst="rect">
            <a:avLst/>
          </a:prstGeom>
          <a:noFill/>
        </p:spPr>
      </p:pic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88913"/>
            <a:ext cx="8218488" cy="565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052513"/>
            <a:ext cx="8229600" cy="5073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533400" y="624840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4D7511D7-B783-4CDA-BF26-3E6D5B8F4FFE}" type="slidenum">
              <a:rPr lang="en-US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20"/>
                            </p:stCondLst>
                            <p:childTnLst>
                              <p:par>
                                <p:cTn id="11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40"/>
                            </p:stCondLst>
                            <p:childTnLst>
                              <p:par>
                                <p:cTn id="17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740"/>
                            </p:stCondLst>
                            <p:childTnLst>
                              <p:par>
                                <p:cTn id="23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420"/>
                            </p:stCondLst>
                            <p:childTnLst>
                              <p:par>
                                <p:cTn id="2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4120"/>
                            </p:stCondLst>
                            <p:childTnLst>
                              <p:par>
                                <p:cTn id="3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0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0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6" grpId="0"/>
      <p:bldP spid="1027" grpId="0" build="p">
        <p:tmplLst>
          <p:tmpl lvl="1">
            <p:tnLst>
              <p:par>
                <p:cTn presetID="53" presetClass="entr" presetSubtype="0" fill="hold" nodeType="afterEffect">
                  <p:stCondLst>
                    <p:cond delay="0"/>
                  </p:stCondLst>
                  <p:iterate type="lt">
                    <p:tmPct val="4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1027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53" presetClass="entr" presetSubtype="0" fill="hold" nodeType="afterEffect">
                  <p:stCondLst>
                    <p:cond delay="0"/>
                  </p:stCondLst>
                  <p:iterate type="lt">
                    <p:tmPct val="4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1027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53" presetClass="entr" presetSubtype="0" fill="hold" nodeType="afterEffect">
                  <p:stCondLst>
                    <p:cond delay="0"/>
                  </p:stCondLst>
                  <p:iterate type="lt">
                    <p:tmPct val="4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1027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53" presetClass="entr" presetSubtype="0" fill="hold" nodeType="afterEffect">
                  <p:stCondLst>
                    <p:cond delay="0"/>
                  </p:stCondLst>
                  <p:iterate type="lt">
                    <p:tmPct val="4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1027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53" presetClass="entr" presetSubtype="0" fill="hold" nodeType="afterEffect">
                  <p:stCondLst>
                    <p:cond delay="0"/>
                  </p:stCondLst>
                  <p:iterate type="lt">
                    <p:tmPct val="4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102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000">
          <a:solidFill>
            <a:srgbClr val="024069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18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dirty="0"/>
          </a:p>
        </p:txBody>
      </p:sp>
      <p:sp>
        <p:nvSpPr>
          <p:cNvPr id="7171" name="Rectangle 3"/>
          <p:cNvSpPr>
            <a:spLocks noChangeArrowheads="1"/>
          </p:cNvSpPr>
          <p:nvPr/>
        </p:nvSpPr>
        <p:spPr bwMode="auto">
          <a:xfrm>
            <a:off x="-93663" y="6453188"/>
            <a:ext cx="8532813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algn="r"/>
            <a:r>
              <a:rPr lang="en-US" sz="1200" dirty="0">
                <a:solidFill>
                  <a:srgbClr val="4D4D4D"/>
                </a:solidFill>
                <a:latin typeface="Neo Sans" pitchFamily="34" charset="0"/>
              </a:rPr>
              <a:t>m62 </a:t>
            </a:r>
            <a:r>
              <a:rPr lang="en-US" sz="1200" dirty="0" err="1">
                <a:solidFill>
                  <a:srgbClr val="4D4D4D"/>
                </a:solidFill>
                <a:latin typeface="Neo Sans" pitchFamily="34" charset="0"/>
              </a:rPr>
              <a:t>visualcommunications</a:t>
            </a:r>
            <a:r>
              <a:rPr lang="en-US" sz="1200" dirty="0">
                <a:solidFill>
                  <a:srgbClr val="4D4D4D"/>
                </a:solidFill>
                <a:latin typeface="Neo Sans" pitchFamily="34" charset="0"/>
              </a:rPr>
              <a:t> is the global leader in presentation effectiveness, from offices in the UK, USA, and Singapore</a:t>
            </a:r>
          </a:p>
        </p:txBody>
      </p:sp>
      <p:pic>
        <p:nvPicPr>
          <p:cNvPr id="7172" name="Picture 4" descr="m62-logo">
            <a:hlinkClick r:id="rId13"/>
          </p:cNvPr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8502650" y="6484938"/>
            <a:ext cx="381000" cy="257175"/>
          </a:xfrm>
          <a:prstGeom prst="rect">
            <a:avLst/>
          </a:prstGeom>
          <a:noFill/>
        </p:spPr>
      </p:pic>
      <p:pic>
        <p:nvPicPr>
          <p:cNvPr id="7173" name="Picture 5" descr="1">
            <a:hlinkClick r:id="rId15"/>
          </p:cNvPr>
          <p:cNvPicPr>
            <a:picLocks noChangeAspect="1"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260350" y="777875"/>
            <a:ext cx="2000250" cy="1457325"/>
          </a:xfrm>
          <a:prstGeom prst="rect">
            <a:avLst/>
          </a:prstGeom>
          <a:noFill/>
        </p:spPr>
      </p:pic>
      <p:pic>
        <p:nvPicPr>
          <p:cNvPr id="7174" name="Picture 6" descr="2">
            <a:hlinkClick r:id="rId17"/>
          </p:cNvPr>
          <p:cNvPicPr>
            <a:picLocks noChangeAspect="1" noChangeArrowheads="1"/>
          </p:cNvPicPr>
          <p:nvPr/>
        </p:nvPicPr>
        <p:blipFill>
          <a:blip r:embed="rId18" cstate="print"/>
          <a:srcRect/>
          <a:stretch>
            <a:fillRect/>
          </a:stretch>
        </p:blipFill>
        <p:spPr bwMode="auto">
          <a:xfrm>
            <a:off x="287338" y="2673350"/>
            <a:ext cx="2000250" cy="1457325"/>
          </a:xfrm>
          <a:prstGeom prst="rect">
            <a:avLst/>
          </a:prstGeom>
          <a:noFill/>
        </p:spPr>
      </p:pic>
      <p:pic>
        <p:nvPicPr>
          <p:cNvPr id="7175" name="Picture 7" descr="3">
            <a:hlinkClick r:id="rId19"/>
          </p:cNvPr>
          <p:cNvPicPr>
            <a:picLocks noChangeAspect="1" noChangeArrowheads="1"/>
          </p:cNvPicPr>
          <p:nvPr/>
        </p:nvPicPr>
        <p:blipFill>
          <a:blip r:embed="rId20" cstate="print"/>
          <a:srcRect/>
          <a:stretch>
            <a:fillRect/>
          </a:stretch>
        </p:blipFill>
        <p:spPr bwMode="auto">
          <a:xfrm>
            <a:off x="287338" y="4568825"/>
            <a:ext cx="2000250" cy="1457325"/>
          </a:xfrm>
          <a:prstGeom prst="rect">
            <a:avLst/>
          </a:prstGeom>
          <a:noFill/>
        </p:spPr>
      </p:pic>
      <p:sp>
        <p:nvSpPr>
          <p:cNvPr id="7176" name="Text Box 8">
            <a:hlinkClick r:id="rId15"/>
          </p:cNvPr>
          <p:cNvSpPr txBox="1">
            <a:spLocks noChangeArrowheads="1"/>
          </p:cNvSpPr>
          <p:nvPr/>
        </p:nvSpPr>
        <p:spPr bwMode="auto">
          <a:xfrm>
            <a:off x="379413" y="2290763"/>
            <a:ext cx="1636712" cy="2127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bIns="0" anchor="ctr">
            <a:spAutoFit/>
          </a:bodyPr>
          <a:lstStyle/>
          <a:p>
            <a:r>
              <a:rPr lang="en-US" sz="1400">
                <a:solidFill>
                  <a:srgbClr val="135971"/>
                </a:solidFill>
                <a:latin typeface="Neo Sans" pitchFamily="34" charset="0"/>
              </a:rPr>
              <a:t>Beyond Bullet Points</a:t>
            </a:r>
          </a:p>
        </p:txBody>
      </p:sp>
      <p:sp>
        <p:nvSpPr>
          <p:cNvPr id="7177" name="Text Box 9">
            <a:hlinkClick r:id="rId17"/>
          </p:cNvPr>
          <p:cNvSpPr txBox="1">
            <a:spLocks noChangeArrowheads="1"/>
          </p:cNvSpPr>
          <p:nvPr/>
        </p:nvSpPr>
        <p:spPr bwMode="auto">
          <a:xfrm>
            <a:off x="379413" y="4189413"/>
            <a:ext cx="1417637" cy="2127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bIns="0" anchor="ctr">
            <a:spAutoFit/>
          </a:bodyPr>
          <a:lstStyle/>
          <a:p>
            <a:r>
              <a:rPr lang="en-US" sz="1400">
                <a:solidFill>
                  <a:srgbClr val="135971"/>
                </a:solidFill>
                <a:latin typeface="Neo Sans" pitchFamily="34" charset="0"/>
              </a:rPr>
              <a:t>PowerPoint Slides</a:t>
            </a:r>
          </a:p>
        </p:txBody>
      </p:sp>
      <p:sp>
        <p:nvSpPr>
          <p:cNvPr id="7178" name="Text Box 10">
            <a:hlinkClick r:id="rId19"/>
          </p:cNvPr>
          <p:cNvSpPr txBox="1">
            <a:spLocks noChangeArrowheads="1"/>
          </p:cNvSpPr>
          <p:nvPr/>
        </p:nvSpPr>
        <p:spPr bwMode="auto">
          <a:xfrm>
            <a:off x="379413" y="6084888"/>
            <a:ext cx="1598612" cy="2127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bIns="0" anchor="ctr">
            <a:spAutoFit/>
          </a:bodyPr>
          <a:lstStyle/>
          <a:p>
            <a:r>
              <a:rPr lang="en-US" sz="1400">
                <a:solidFill>
                  <a:srgbClr val="135971"/>
                </a:solidFill>
                <a:latin typeface="Neo Sans" pitchFamily="34" charset="0"/>
              </a:rPr>
              <a:t>PowerPoint Training</a:t>
            </a:r>
          </a:p>
        </p:txBody>
      </p:sp>
      <p:pic>
        <p:nvPicPr>
          <p:cNvPr id="7179" name="Picture 11" descr="bg"/>
          <p:cNvPicPr>
            <a:picLocks noChangeAspect="1" noChangeArrowheads="1"/>
          </p:cNvPicPr>
          <p:nvPr/>
        </p:nvPicPr>
        <p:blipFill>
          <a:blip r:embed="rId21" cstate="print"/>
          <a:srcRect/>
          <a:stretch>
            <a:fillRect/>
          </a:stretch>
        </p:blipFill>
        <p:spPr bwMode="auto">
          <a:xfrm>
            <a:off x="2520950" y="777875"/>
            <a:ext cx="6362700" cy="5248275"/>
          </a:xfrm>
          <a:prstGeom prst="rect">
            <a:avLst/>
          </a:prstGeom>
          <a:noFill/>
        </p:spPr>
      </p:pic>
      <p:sp>
        <p:nvSpPr>
          <p:cNvPr id="7180" name="Text Box 12"/>
          <p:cNvSpPr txBox="1">
            <a:spLocks noChangeArrowheads="1"/>
          </p:cNvSpPr>
          <p:nvPr/>
        </p:nvSpPr>
        <p:spPr bwMode="auto">
          <a:xfrm>
            <a:off x="28575" y="188913"/>
            <a:ext cx="9115425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algn="ctr"/>
            <a:r>
              <a:rPr lang="en-US" sz="2100">
                <a:solidFill>
                  <a:srgbClr val="333333"/>
                </a:solidFill>
                <a:latin typeface="Neo Sans" pitchFamily="34" charset="0"/>
              </a:rPr>
              <a:t>It’s not the </a:t>
            </a:r>
            <a:r>
              <a:rPr lang="en-US" sz="2100" b="1">
                <a:solidFill>
                  <a:srgbClr val="333333"/>
                </a:solidFill>
                <a:latin typeface="Neo Sans" pitchFamily="34" charset="0"/>
              </a:rPr>
              <a:t>design</a:t>
            </a:r>
            <a:r>
              <a:rPr lang="en-US" sz="2100">
                <a:solidFill>
                  <a:srgbClr val="333333"/>
                </a:solidFill>
                <a:latin typeface="Neo Sans" pitchFamily="34" charset="0"/>
              </a:rPr>
              <a:t> of your template, it’s what you </a:t>
            </a:r>
            <a:r>
              <a:rPr lang="en-US" sz="2100" b="1">
                <a:solidFill>
                  <a:srgbClr val="333333"/>
                </a:solidFill>
                <a:latin typeface="Neo Sans" pitchFamily="34" charset="0"/>
              </a:rPr>
              <a:t>do with it</a:t>
            </a:r>
            <a:r>
              <a:rPr lang="en-US" sz="2100">
                <a:solidFill>
                  <a:srgbClr val="333333"/>
                </a:solidFill>
                <a:latin typeface="Neo Sans" pitchFamily="34" charset="0"/>
              </a:rPr>
              <a:t> that counts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2000">
          <a:solidFill>
            <a:srgbClr val="333333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2000">
          <a:solidFill>
            <a:srgbClr val="333333"/>
          </a:solidFill>
          <a:latin typeface="Neo Sans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2000">
          <a:solidFill>
            <a:srgbClr val="333333"/>
          </a:solidFill>
          <a:latin typeface="Neo Sans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2000">
          <a:solidFill>
            <a:srgbClr val="333333"/>
          </a:solidFill>
          <a:latin typeface="Neo Sans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2000">
          <a:solidFill>
            <a:srgbClr val="333333"/>
          </a:solidFill>
          <a:latin typeface="Neo Sans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2000">
          <a:solidFill>
            <a:srgbClr val="333333"/>
          </a:solidFill>
          <a:latin typeface="Neo Sans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2000">
          <a:solidFill>
            <a:srgbClr val="333333"/>
          </a:solidFill>
          <a:latin typeface="Neo Sans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2000">
          <a:solidFill>
            <a:srgbClr val="333333"/>
          </a:solidFill>
          <a:latin typeface="Neo Sans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2000">
          <a:solidFill>
            <a:srgbClr val="333333"/>
          </a:solidFill>
          <a:latin typeface="Neo Sans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57200" y="1676400"/>
            <a:ext cx="8382000" cy="1470025"/>
          </a:xfrm>
        </p:spPr>
        <p:txBody>
          <a:bodyPr/>
          <a:lstStyle/>
          <a:p>
            <a:r>
              <a:rPr lang="en-US" sz="4400" b="1" dirty="0"/>
              <a:t/>
            </a:r>
            <a:br>
              <a:rPr lang="en-US" sz="4400" b="1" dirty="0"/>
            </a:br>
            <a:r>
              <a:rPr lang="en-US" sz="4200" b="1" dirty="0" smtClean="0">
                <a:solidFill>
                  <a:srgbClr val="024069"/>
                </a:solidFill>
              </a:rPr>
              <a:t>Object Oriented Programming</a:t>
            </a:r>
            <a:r>
              <a:rPr lang="en-US" sz="4200" b="1" dirty="0">
                <a:solidFill>
                  <a:srgbClr val="024069"/>
                </a:solidFill>
              </a:rPr>
              <a:t/>
            </a:r>
            <a:br>
              <a:rPr lang="en-US" sz="4200" b="1" dirty="0">
                <a:solidFill>
                  <a:srgbClr val="024069"/>
                </a:solidFill>
              </a:rPr>
            </a:br>
            <a:r>
              <a:rPr lang="en-US" sz="4200" b="1" dirty="0">
                <a:solidFill>
                  <a:srgbClr val="024069"/>
                </a:solidFill>
              </a:rPr>
              <a:t>CSE </a:t>
            </a:r>
            <a:r>
              <a:rPr lang="en-US" sz="4200" b="1" dirty="0" smtClean="0">
                <a:solidFill>
                  <a:srgbClr val="024069"/>
                </a:solidFill>
              </a:rPr>
              <a:t>2101</a:t>
            </a:r>
            <a:r>
              <a:rPr lang="en-US" sz="4400" b="1" dirty="0">
                <a:solidFill>
                  <a:srgbClr val="024069"/>
                </a:solidFill>
              </a:rPr>
              <a:t/>
            </a:r>
            <a:br>
              <a:rPr lang="en-US" sz="4400" b="1" dirty="0">
                <a:solidFill>
                  <a:srgbClr val="024069"/>
                </a:solidFill>
              </a:rPr>
            </a:br>
            <a:r>
              <a:rPr lang="en-US" sz="4400" b="1" dirty="0">
                <a:solidFill>
                  <a:srgbClr val="024069"/>
                </a:solidFill>
              </a:rPr>
              <a:t/>
            </a:r>
            <a:br>
              <a:rPr lang="en-US" sz="4400" b="1" dirty="0">
                <a:solidFill>
                  <a:srgbClr val="024069"/>
                </a:solidFill>
              </a:rPr>
            </a:br>
            <a:r>
              <a:rPr lang="en-US" sz="2800" b="1" dirty="0">
                <a:solidFill>
                  <a:srgbClr val="024069"/>
                </a:solidFill>
              </a:rPr>
              <a:t>Lecture </a:t>
            </a:r>
            <a:r>
              <a:rPr lang="en-US" sz="2800" b="1">
                <a:solidFill>
                  <a:srgbClr val="024069"/>
                </a:solidFill>
              </a:rPr>
              <a:t>- </a:t>
            </a:r>
            <a:r>
              <a:rPr lang="en-US" sz="2800" b="1" smtClean="0">
                <a:solidFill>
                  <a:srgbClr val="024069"/>
                </a:solidFill>
              </a:rPr>
              <a:t>03</a:t>
            </a:r>
            <a:r>
              <a:rPr lang="en-US" sz="3200" b="1" dirty="0"/>
              <a:t/>
            </a:r>
            <a:br>
              <a:rPr lang="en-US" sz="3200" b="1" dirty="0"/>
            </a:br>
            <a:endParaRPr lang="en-US" sz="3200" b="1" dirty="0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267200"/>
            <a:ext cx="6934200" cy="1752600"/>
          </a:xfrm>
        </p:spPr>
        <p:txBody>
          <a:bodyPr/>
          <a:lstStyle/>
          <a:p>
            <a:r>
              <a:rPr lang="en-US" dirty="0"/>
              <a:t>Jubayer Al Mahmud</a:t>
            </a:r>
          </a:p>
          <a:p>
            <a:r>
              <a:rPr lang="en-US" sz="2400" dirty="0" smtClean="0"/>
              <a:t>Lecturer</a:t>
            </a:r>
            <a:endParaRPr lang="en-US" sz="2400" dirty="0"/>
          </a:p>
          <a:p>
            <a:r>
              <a:rPr lang="en-US" sz="2400" dirty="0" smtClean="0"/>
              <a:t>Jashore </a:t>
            </a:r>
            <a:r>
              <a:rPr lang="en-US" sz="2400" dirty="0"/>
              <a:t>University of </a:t>
            </a:r>
            <a:r>
              <a:rPr lang="en-US" sz="2400" dirty="0" smtClean="0"/>
              <a:t>Science </a:t>
            </a:r>
            <a:r>
              <a:rPr lang="en-US" sz="2400" dirty="0"/>
              <a:t>&amp; Technology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2078" name="AutoShape 30"/>
          <p:cNvSpPr>
            <a:spLocks noChangeAspect="1" noChangeArrowheads="1" noTextEdit="1"/>
          </p:cNvSpPr>
          <p:nvPr/>
        </p:nvSpPr>
        <p:spPr bwMode="auto">
          <a:xfrm>
            <a:off x="468313" y="6367463"/>
            <a:ext cx="958850" cy="981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2115" name="Group 67"/>
          <p:cNvGrpSpPr>
            <a:grpSpLocks/>
          </p:cNvGrpSpPr>
          <p:nvPr/>
        </p:nvGrpSpPr>
        <p:grpSpPr bwMode="auto">
          <a:xfrm>
            <a:off x="228600" y="1371600"/>
            <a:ext cx="431800" cy="430213"/>
            <a:chOff x="5129" y="3937"/>
            <a:chExt cx="349" cy="348"/>
          </a:xfrm>
        </p:grpSpPr>
        <p:sp>
          <p:nvSpPr>
            <p:cNvPr id="2116" name="Freeform 68"/>
            <p:cNvSpPr>
              <a:spLocks/>
            </p:cNvSpPr>
            <p:nvPr/>
          </p:nvSpPr>
          <p:spPr bwMode="auto">
            <a:xfrm>
              <a:off x="5193" y="3937"/>
              <a:ext cx="156" cy="87"/>
            </a:xfrm>
            <a:custGeom>
              <a:avLst/>
              <a:gdLst/>
              <a:ahLst/>
              <a:cxnLst>
                <a:cxn ang="0">
                  <a:pos x="180" y="88"/>
                </a:cxn>
                <a:cxn ang="0">
                  <a:pos x="206" y="8"/>
                </a:cxn>
                <a:cxn ang="0">
                  <a:pos x="206" y="8"/>
                </a:cxn>
                <a:cxn ang="0">
                  <a:pos x="178" y="2"/>
                </a:cxn>
                <a:cxn ang="0">
                  <a:pos x="150" y="0"/>
                </a:cxn>
                <a:cxn ang="0">
                  <a:pos x="124" y="0"/>
                </a:cxn>
                <a:cxn ang="0">
                  <a:pos x="96" y="4"/>
                </a:cxn>
                <a:cxn ang="0">
                  <a:pos x="70" y="12"/>
                </a:cxn>
                <a:cxn ang="0">
                  <a:pos x="46" y="22"/>
                </a:cxn>
                <a:cxn ang="0">
                  <a:pos x="22" y="36"/>
                </a:cxn>
                <a:cxn ang="0">
                  <a:pos x="0" y="50"/>
                </a:cxn>
                <a:cxn ang="0">
                  <a:pos x="58" y="114"/>
                </a:cxn>
                <a:cxn ang="0">
                  <a:pos x="58" y="114"/>
                </a:cxn>
                <a:cxn ang="0">
                  <a:pos x="72" y="106"/>
                </a:cxn>
                <a:cxn ang="0">
                  <a:pos x="86" y="98"/>
                </a:cxn>
                <a:cxn ang="0">
                  <a:pos x="100" y="92"/>
                </a:cxn>
                <a:cxn ang="0">
                  <a:pos x="116" y="88"/>
                </a:cxn>
                <a:cxn ang="0">
                  <a:pos x="130" y="86"/>
                </a:cxn>
                <a:cxn ang="0">
                  <a:pos x="146" y="84"/>
                </a:cxn>
                <a:cxn ang="0">
                  <a:pos x="164" y="86"/>
                </a:cxn>
                <a:cxn ang="0">
                  <a:pos x="180" y="88"/>
                </a:cxn>
                <a:cxn ang="0">
                  <a:pos x="180" y="88"/>
                </a:cxn>
              </a:cxnLst>
              <a:rect l="0" t="0" r="r" b="b"/>
              <a:pathLst>
                <a:path w="206" h="114">
                  <a:moveTo>
                    <a:pt x="180" y="88"/>
                  </a:moveTo>
                  <a:lnTo>
                    <a:pt x="206" y="8"/>
                  </a:lnTo>
                  <a:lnTo>
                    <a:pt x="206" y="8"/>
                  </a:lnTo>
                  <a:lnTo>
                    <a:pt x="178" y="2"/>
                  </a:lnTo>
                  <a:lnTo>
                    <a:pt x="150" y="0"/>
                  </a:lnTo>
                  <a:lnTo>
                    <a:pt x="124" y="0"/>
                  </a:lnTo>
                  <a:lnTo>
                    <a:pt x="96" y="4"/>
                  </a:lnTo>
                  <a:lnTo>
                    <a:pt x="70" y="12"/>
                  </a:lnTo>
                  <a:lnTo>
                    <a:pt x="46" y="22"/>
                  </a:lnTo>
                  <a:lnTo>
                    <a:pt x="22" y="36"/>
                  </a:lnTo>
                  <a:lnTo>
                    <a:pt x="0" y="50"/>
                  </a:lnTo>
                  <a:lnTo>
                    <a:pt x="58" y="114"/>
                  </a:lnTo>
                  <a:lnTo>
                    <a:pt x="58" y="114"/>
                  </a:lnTo>
                  <a:lnTo>
                    <a:pt x="72" y="106"/>
                  </a:lnTo>
                  <a:lnTo>
                    <a:pt x="86" y="98"/>
                  </a:lnTo>
                  <a:lnTo>
                    <a:pt x="100" y="92"/>
                  </a:lnTo>
                  <a:lnTo>
                    <a:pt x="116" y="88"/>
                  </a:lnTo>
                  <a:lnTo>
                    <a:pt x="130" y="86"/>
                  </a:lnTo>
                  <a:lnTo>
                    <a:pt x="146" y="84"/>
                  </a:lnTo>
                  <a:lnTo>
                    <a:pt x="164" y="86"/>
                  </a:lnTo>
                  <a:lnTo>
                    <a:pt x="180" y="88"/>
                  </a:lnTo>
                  <a:lnTo>
                    <a:pt x="180" y="88"/>
                  </a:ln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17" name="Freeform 69"/>
            <p:cNvSpPr>
              <a:spLocks/>
            </p:cNvSpPr>
            <p:nvPr/>
          </p:nvSpPr>
          <p:spPr bwMode="auto">
            <a:xfrm>
              <a:off x="5383" y="4083"/>
              <a:ext cx="95" cy="152"/>
            </a:xfrm>
            <a:custGeom>
              <a:avLst/>
              <a:gdLst/>
              <a:ahLst/>
              <a:cxnLst>
                <a:cxn ang="0">
                  <a:pos x="32" y="82"/>
                </a:cxn>
                <a:cxn ang="0">
                  <a:pos x="32" y="82"/>
                </a:cxn>
                <a:cxn ang="0">
                  <a:pos x="26" y="96"/>
                </a:cxn>
                <a:cxn ang="0">
                  <a:pos x="20" y="110"/>
                </a:cxn>
                <a:cxn ang="0">
                  <a:pos x="10" y="124"/>
                </a:cxn>
                <a:cxn ang="0">
                  <a:pos x="0" y="136"/>
                </a:cxn>
                <a:cxn ang="0">
                  <a:pos x="58" y="200"/>
                </a:cxn>
                <a:cxn ang="0">
                  <a:pos x="58" y="200"/>
                </a:cxn>
                <a:cxn ang="0">
                  <a:pos x="76" y="180"/>
                </a:cxn>
                <a:cxn ang="0">
                  <a:pos x="92" y="158"/>
                </a:cxn>
                <a:cxn ang="0">
                  <a:pos x="104" y="134"/>
                </a:cxn>
                <a:cxn ang="0">
                  <a:pos x="114" y="108"/>
                </a:cxn>
                <a:cxn ang="0">
                  <a:pos x="114" y="108"/>
                </a:cxn>
                <a:cxn ang="0">
                  <a:pos x="122" y="80"/>
                </a:cxn>
                <a:cxn ang="0">
                  <a:pos x="126" y="54"/>
                </a:cxn>
                <a:cxn ang="0">
                  <a:pos x="126" y="26"/>
                </a:cxn>
                <a:cxn ang="0">
                  <a:pos x="122" y="0"/>
                </a:cxn>
                <a:cxn ang="0">
                  <a:pos x="38" y="18"/>
                </a:cxn>
                <a:cxn ang="0">
                  <a:pos x="38" y="18"/>
                </a:cxn>
                <a:cxn ang="0">
                  <a:pos x="40" y="34"/>
                </a:cxn>
                <a:cxn ang="0">
                  <a:pos x="40" y="50"/>
                </a:cxn>
                <a:cxn ang="0">
                  <a:pos x="38" y="66"/>
                </a:cxn>
                <a:cxn ang="0">
                  <a:pos x="32" y="82"/>
                </a:cxn>
                <a:cxn ang="0">
                  <a:pos x="32" y="82"/>
                </a:cxn>
              </a:cxnLst>
              <a:rect l="0" t="0" r="r" b="b"/>
              <a:pathLst>
                <a:path w="126" h="200">
                  <a:moveTo>
                    <a:pt x="32" y="82"/>
                  </a:moveTo>
                  <a:lnTo>
                    <a:pt x="32" y="82"/>
                  </a:lnTo>
                  <a:lnTo>
                    <a:pt x="26" y="96"/>
                  </a:lnTo>
                  <a:lnTo>
                    <a:pt x="20" y="110"/>
                  </a:lnTo>
                  <a:lnTo>
                    <a:pt x="10" y="124"/>
                  </a:lnTo>
                  <a:lnTo>
                    <a:pt x="0" y="136"/>
                  </a:lnTo>
                  <a:lnTo>
                    <a:pt x="58" y="200"/>
                  </a:lnTo>
                  <a:lnTo>
                    <a:pt x="58" y="200"/>
                  </a:lnTo>
                  <a:lnTo>
                    <a:pt x="76" y="180"/>
                  </a:lnTo>
                  <a:lnTo>
                    <a:pt x="92" y="158"/>
                  </a:lnTo>
                  <a:lnTo>
                    <a:pt x="104" y="134"/>
                  </a:lnTo>
                  <a:lnTo>
                    <a:pt x="114" y="108"/>
                  </a:lnTo>
                  <a:lnTo>
                    <a:pt x="114" y="108"/>
                  </a:lnTo>
                  <a:lnTo>
                    <a:pt x="122" y="80"/>
                  </a:lnTo>
                  <a:lnTo>
                    <a:pt x="126" y="54"/>
                  </a:lnTo>
                  <a:lnTo>
                    <a:pt x="126" y="26"/>
                  </a:lnTo>
                  <a:lnTo>
                    <a:pt x="122" y="0"/>
                  </a:lnTo>
                  <a:lnTo>
                    <a:pt x="38" y="18"/>
                  </a:lnTo>
                  <a:lnTo>
                    <a:pt x="38" y="18"/>
                  </a:lnTo>
                  <a:lnTo>
                    <a:pt x="40" y="34"/>
                  </a:lnTo>
                  <a:lnTo>
                    <a:pt x="40" y="50"/>
                  </a:lnTo>
                  <a:lnTo>
                    <a:pt x="38" y="66"/>
                  </a:lnTo>
                  <a:lnTo>
                    <a:pt x="32" y="82"/>
                  </a:lnTo>
                  <a:lnTo>
                    <a:pt x="32" y="82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18" name="Freeform 70"/>
            <p:cNvSpPr>
              <a:spLocks/>
            </p:cNvSpPr>
            <p:nvPr/>
          </p:nvSpPr>
          <p:spPr bwMode="auto">
            <a:xfrm>
              <a:off x="5129" y="3987"/>
              <a:ext cx="96" cy="152"/>
            </a:xfrm>
            <a:custGeom>
              <a:avLst/>
              <a:gdLst/>
              <a:ahLst/>
              <a:cxnLst>
                <a:cxn ang="0">
                  <a:pos x="92" y="118"/>
                </a:cxn>
                <a:cxn ang="0">
                  <a:pos x="92" y="118"/>
                </a:cxn>
                <a:cxn ang="0">
                  <a:pos x="98" y="104"/>
                </a:cxn>
                <a:cxn ang="0">
                  <a:pos x="106" y="88"/>
                </a:cxn>
                <a:cxn ang="0">
                  <a:pos x="116" y="76"/>
                </a:cxn>
                <a:cxn ang="0">
                  <a:pos x="126" y="64"/>
                </a:cxn>
                <a:cxn ang="0">
                  <a:pos x="68" y="0"/>
                </a:cxn>
                <a:cxn ang="0">
                  <a:pos x="68" y="0"/>
                </a:cxn>
                <a:cxn ang="0">
                  <a:pos x="50" y="20"/>
                </a:cxn>
                <a:cxn ang="0">
                  <a:pos x="34" y="42"/>
                </a:cxn>
                <a:cxn ang="0">
                  <a:pos x="22" y="66"/>
                </a:cxn>
                <a:cxn ang="0">
                  <a:pos x="12" y="92"/>
                </a:cxn>
                <a:cxn ang="0">
                  <a:pos x="12" y="92"/>
                </a:cxn>
                <a:cxn ang="0">
                  <a:pos x="4" y="118"/>
                </a:cxn>
                <a:cxn ang="0">
                  <a:pos x="0" y="146"/>
                </a:cxn>
                <a:cxn ang="0">
                  <a:pos x="0" y="174"/>
                </a:cxn>
                <a:cxn ang="0">
                  <a:pos x="4" y="200"/>
                </a:cxn>
                <a:cxn ang="0">
                  <a:pos x="88" y="182"/>
                </a:cxn>
                <a:cxn ang="0">
                  <a:pos x="88" y="182"/>
                </a:cxn>
                <a:cxn ang="0">
                  <a:pos x="86" y="166"/>
                </a:cxn>
                <a:cxn ang="0">
                  <a:pos x="86" y="150"/>
                </a:cxn>
                <a:cxn ang="0">
                  <a:pos x="88" y="134"/>
                </a:cxn>
                <a:cxn ang="0">
                  <a:pos x="92" y="118"/>
                </a:cxn>
                <a:cxn ang="0">
                  <a:pos x="92" y="118"/>
                </a:cxn>
              </a:cxnLst>
              <a:rect l="0" t="0" r="r" b="b"/>
              <a:pathLst>
                <a:path w="126" h="200">
                  <a:moveTo>
                    <a:pt x="92" y="118"/>
                  </a:moveTo>
                  <a:lnTo>
                    <a:pt x="92" y="118"/>
                  </a:lnTo>
                  <a:lnTo>
                    <a:pt x="98" y="104"/>
                  </a:lnTo>
                  <a:lnTo>
                    <a:pt x="106" y="88"/>
                  </a:lnTo>
                  <a:lnTo>
                    <a:pt x="116" y="76"/>
                  </a:lnTo>
                  <a:lnTo>
                    <a:pt x="126" y="64"/>
                  </a:lnTo>
                  <a:lnTo>
                    <a:pt x="68" y="0"/>
                  </a:lnTo>
                  <a:lnTo>
                    <a:pt x="68" y="0"/>
                  </a:lnTo>
                  <a:lnTo>
                    <a:pt x="50" y="20"/>
                  </a:lnTo>
                  <a:lnTo>
                    <a:pt x="34" y="42"/>
                  </a:lnTo>
                  <a:lnTo>
                    <a:pt x="22" y="66"/>
                  </a:lnTo>
                  <a:lnTo>
                    <a:pt x="12" y="92"/>
                  </a:lnTo>
                  <a:lnTo>
                    <a:pt x="12" y="92"/>
                  </a:lnTo>
                  <a:lnTo>
                    <a:pt x="4" y="118"/>
                  </a:lnTo>
                  <a:lnTo>
                    <a:pt x="0" y="146"/>
                  </a:lnTo>
                  <a:lnTo>
                    <a:pt x="0" y="174"/>
                  </a:lnTo>
                  <a:lnTo>
                    <a:pt x="4" y="200"/>
                  </a:lnTo>
                  <a:lnTo>
                    <a:pt x="88" y="182"/>
                  </a:lnTo>
                  <a:lnTo>
                    <a:pt x="88" y="182"/>
                  </a:lnTo>
                  <a:lnTo>
                    <a:pt x="86" y="166"/>
                  </a:lnTo>
                  <a:lnTo>
                    <a:pt x="86" y="150"/>
                  </a:lnTo>
                  <a:lnTo>
                    <a:pt x="88" y="134"/>
                  </a:lnTo>
                  <a:lnTo>
                    <a:pt x="92" y="118"/>
                  </a:lnTo>
                  <a:lnTo>
                    <a:pt x="92" y="118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19" name="Freeform 71"/>
            <p:cNvSpPr>
              <a:spLocks/>
            </p:cNvSpPr>
            <p:nvPr/>
          </p:nvSpPr>
          <p:spPr bwMode="auto">
            <a:xfrm>
              <a:off x="5135" y="4142"/>
              <a:ext cx="126" cy="132"/>
            </a:xfrm>
            <a:custGeom>
              <a:avLst/>
              <a:gdLst/>
              <a:ahLst/>
              <a:cxnLst>
                <a:cxn ang="0">
                  <a:pos x="84" y="0"/>
                </a:cxn>
                <a:cxn ang="0">
                  <a:pos x="0" y="18"/>
                </a:cxn>
                <a:cxn ang="0">
                  <a:pos x="0" y="18"/>
                </a:cxn>
                <a:cxn ang="0">
                  <a:pos x="8" y="44"/>
                </a:cxn>
                <a:cxn ang="0">
                  <a:pos x="20" y="68"/>
                </a:cxn>
                <a:cxn ang="0">
                  <a:pos x="34" y="90"/>
                </a:cxn>
                <a:cxn ang="0">
                  <a:pos x="50" y="112"/>
                </a:cxn>
                <a:cxn ang="0">
                  <a:pos x="70" y="130"/>
                </a:cxn>
                <a:cxn ang="0">
                  <a:pos x="90" y="148"/>
                </a:cxn>
                <a:cxn ang="0">
                  <a:pos x="114" y="162"/>
                </a:cxn>
                <a:cxn ang="0">
                  <a:pos x="140" y="174"/>
                </a:cxn>
                <a:cxn ang="0">
                  <a:pos x="166" y="92"/>
                </a:cxn>
                <a:cxn ang="0">
                  <a:pos x="166" y="92"/>
                </a:cxn>
                <a:cxn ang="0">
                  <a:pos x="152" y="84"/>
                </a:cxn>
                <a:cxn ang="0">
                  <a:pos x="138" y="76"/>
                </a:cxn>
                <a:cxn ang="0">
                  <a:pos x="126" y="66"/>
                </a:cxn>
                <a:cxn ang="0">
                  <a:pos x="114" y="54"/>
                </a:cxn>
                <a:cxn ang="0">
                  <a:pos x="104" y="42"/>
                </a:cxn>
                <a:cxn ang="0">
                  <a:pos x="96" y="28"/>
                </a:cxn>
                <a:cxn ang="0">
                  <a:pos x="90" y="14"/>
                </a:cxn>
                <a:cxn ang="0">
                  <a:pos x="84" y="0"/>
                </a:cxn>
                <a:cxn ang="0">
                  <a:pos x="84" y="0"/>
                </a:cxn>
              </a:cxnLst>
              <a:rect l="0" t="0" r="r" b="b"/>
              <a:pathLst>
                <a:path w="166" h="174">
                  <a:moveTo>
                    <a:pt x="84" y="0"/>
                  </a:moveTo>
                  <a:lnTo>
                    <a:pt x="0" y="18"/>
                  </a:lnTo>
                  <a:lnTo>
                    <a:pt x="0" y="18"/>
                  </a:lnTo>
                  <a:lnTo>
                    <a:pt x="8" y="44"/>
                  </a:lnTo>
                  <a:lnTo>
                    <a:pt x="20" y="68"/>
                  </a:lnTo>
                  <a:lnTo>
                    <a:pt x="34" y="90"/>
                  </a:lnTo>
                  <a:lnTo>
                    <a:pt x="50" y="112"/>
                  </a:lnTo>
                  <a:lnTo>
                    <a:pt x="70" y="130"/>
                  </a:lnTo>
                  <a:lnTo>
                    <a:pt x="90" y="148"/>
                  </a:lnTo>
                  <a:lnTo>
                    <a:pt x="114" y="162"/>
                  </a:lnTo>
                  <a:lnTo>
                    <a:pt x="140" y="174"/>
                  </a:lnTo>
                  <a:lnTo>
                    <a:pt x="166" y="92"/>
                  </a:lnTo>
                  <a:lnTo>
                    <a:pt x="166" y="92"/>
                  </a:lnTo>
                  <a:lnTo>
                    <a:pt x="152" y="84"/>
                  </a:lnTo>
                  <a:lnTo>
                    <a:pt x="138" y="76"/>
                  </a:lnTo>
                  <a:lnTo>
                    <a:pt x="126" y="66"/>
                  </a:lnTo>
                  <a:lnTo>
                    <a:pt x="114" y="54"/>
                  </a:lnTo>
                  <a:lnTo>
                    <a:pt x="104" y="42"/>
                  </a:lnTo>
                  <a:lnTo>
                    <a:pt x="96" y="28"/>
                  </a:lnTo>
                  <a:lnTo>
                    <a:pt x="90" y="14"/>
                  </a:lnTo>
                  <a:lnTo>
                    <a:pt x="84" y="0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20" name="Freeform 72"/>
            <p:cNvSpPr>
              <a:spLocks/>
            </p:cNvSpPr>
            <p:nvPr/>
          </p:nvSpPr>
          <p:spPr bwMode="auto">
            <a:xfrm>
              <a:off x="5345" y="3948"/>
              <a:ext cx="127" cy="132"/>
            </a:xfrm>
            <a:custGeom>
              <a:avLst/>
              <a:gdLst/>
              <a:ahLst/>
              <a:cxnLst>
                <a:cxn ang="0">
                  <a:pos x="84" y="174"/>
                </a:cxn>
                <a:cxn ang="0">
                  <a:pos x="168" y="156"/>
                </a:cxn>
                <a:cxn ang="0">
                  <a:pos x="168" y="156"/>
                </a:cxn>
                <a:cxn ang="0">
                  <a:pos x="160" y="130"/>
                </a:cxn>
                <a:cxn ang="0">
                  <a:pos x="148" y="106"/>
                </a:cxn>
                <a:cxn ang="0">
                  <a:pos x="134" y="84"/>
                </a:cxn>
                <a:cxn ang="0">
                  <a:pos x="118" y="62"/>
                </a:cxn>
                <a:cxn ang="0">
                  <a:pos x="98" y="44"/>
                </a:cxn>
                <a:cxn ang="0">
                  <a:pos x="76" y="26"/>
                </a:cxn>
                <a:cxn ang="0">
                  <a:pos x="54" y="12"/>
                </a:cxn>
                <a:cxn ang="0">
                  <a:pos x="28" y="0"/>
                </a:cxn>
                <a:cxn ang="0">
                  <a:pos x="0" y="82"/>
                </a:cxn>
                <a:cxn ang="0">
                  <a:pos x="0" y="82"/>
                </a:cxn>
                <a:cxn ang="0">
                  <a:pos x="16" y="90"/>
                </a:cxn>
                <a:cxn ang="0">
                  <a:pos x="30" y="98"/>
                </a:cxn>
                <a:cxn ang="0">
                  <a:pos x="42" y="108"/>
                </a:cxn>
                <a:cxn ang="0">
                  <a:pos x="54" y="120"/>
                </a:cxn>
                <a:cxn ang="0">
                  <a:pos x="64" y="132"/>
                </a:cxn>
                <a:cxn ang="0">
                  <a:pos x="72" y="144"/>
                </a:cxn>
                <a:cxn ang="0">
                  <a:pos x="78" y="160"/>
                </a:cxn>
                <a:cxn ang="0">
                  <a:pos x="84" y="174"/>
                </a:cxn>
                <a:cxn ang="0">
                  <a:pos x="84" y="174"/>
                </a:cxn>
              </a:cxnLst>
              <a:rect l="0" t="0" r="r" b="b"/>
              <a:pathLst>
                <a:path w="168" h="174">
                  <a:moveTo>
                    <a:pt x="84" y="174"/>
                  </a:moveTo>
                  <a:lnTo>
                    <a:pt x="168" y="156"/>
                  </a:lnTo>
                  <a:lnTo>
                    <a:pt x="168" y="156"/>
                  </a:lnTo>
                  <a:lnTo>
                    <a:pt x="160" y="130"/>
                  </a:lnTo>
                  <a:lnTo>
                    <a:pt x="148" y="106"/>
                  </a:lnTo>
                  <a:lnTo>
                    <a:pt x="134" y="84"/>
                  </a:lnTo>
                  <a:lnTo>
                    <a:pt x="118" y="62"/>
                  </a:lnTo>
                  <a:lnTo>
                    <a:pt x="98" y="44"/>
                  </a:lnTo>
                  <a:lnTo>
                    <a:pt x="76" y="26"/>
                  </a:lnTo>
                  <a:lnTo>
                    <a:pt x="54" y="12"/>
                  </a:lnTo>
                  <a:lnTo>
                    <a:pt x="28" y="0"/>
                  </a:lnTo>
                  <a:lnTo>
                    <a:pt x="0" y="82"/>
                  </a:lnTo>
                  <a:lnTo>
                    <a:pt x="0" y="82"/>
                  </a:lnTo>
                  <a:lnTo>
                    <a:pt x="16" y="90"/>
                  </a:lnTo>
                  <a:lnTo>
                    <a:pt x="30" y="98"/>
                  </a:lnTo>
                  <a:lnTo>
                    <a:pt x="42" y="108"/>
                  </a:lnTo>
                  <a:lnTo>
                    <a:pt x="54" y="120"/>
                  </a:lnTo>
                  <a:lnTo>
                    <a:pt x="64" y="132"/>
                  </a:lnTo>
                  <a:lnTo>
                    <a:pt x="72" y="144"/>
                  </a:lnTo>
                  <a:lnTo>
                    <a:pt x="78" y="160"/>
                  </a:lnTo>
                  <a:lnTo>
                    <a:pt x="84" y="174"/>
                  </a:lnTo>
                  <a:lnTo>
                    <a:pt x="84" y="174"/>
                  </a:ln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21" name="Freeform 73"/>
            <p:cNvSpPr>
              <a:spLocks/>
            </p:cNvSpPr>
            <p:nvPr/>
          </p:nvSpPr>
          <p:spPr bwMode="auto">
            <a:xfrm>
              <a:off x="5258" y="4197"/>
              <a:ext cx="156" cy="88"/>
            </a:xfrm>
            <a:custGeom>
              <a:avLst/>
              <a:gdLst/>
              <a:ahLst/>
              <a:cxnLst>
                <a:cxn ang="0">
                  <a:pos x="26" y="26"/>
                </a:cxn>
                <a:cxn ang="0">
                  <a:pos x="0" y="108"/>
                </a:cxn>
                <a:cxn ang="0">
                  <a:pos x="0" y="108"/>
                </a:cxn>
                <a:cxn ang="0">
                  <a:pos x="28" y="114"/>
                </a:cxn>
                <a:cxn ang="0">
                  <a:pos x="56" y="116"/>
                </a:cxn>
                <a:cxn ang="0">
                  <a:pos x="82" y="116"/>
                </a:cxn>
                <a:cxn ang="0">
                  <a:pos x="110" y="112"/>
                </a:cxn>
                <a:cxn ang="0">
                  <a:pos x="136" y="104"/>
                </a:cxn>
                <a:cxn ang="0">
                  <a:pos x="160" y="94"/>
                </a:cxn>
                <a:cxn ang="0">
                  <a:pos x="184" y="80"/>
                </a:cxn>
                <a:cxn ang="0">
                  <a:pos x="206" y="64"/>
                </a:cxn>
                <a:cxn ang="0">
                  <a:pos x="148" y="0"/>
                </a:cxn>
                <a:cxn ang="0">
                  <a:pos x="148" y="0"/>
                </a:cxn>
                <a:cxn ang="0">
                  <a:pos x="134" y="10"/>
                </a:cxn>
                <a:cxn ang="0">
                  <a:pos x="120" y="18"/>
                </a:cxn>
                <a:cxn ang="0">
                  <a:pos x="106" y="24"/>
                </a:cxn>
                <a:cxn ang="0">
                  <a:pos x="90" y="28"/>
                </a:cxn>
                <a:cxn ang="0">
                  <a:pos x="74" y="30"/>
                </a:cxn>
                <a:cxn ang="0">
                  <a:pos x="58" y="30"/>
                </a:cxn>
                <a:cxn ang="0">
                  <a:pos x="42" y="30"/>
                </a:cxn>
                <a:cxn ang="0">
                  <a:pos x="26" y="26"/>
                </a:cxn>
                <a:cxn ang="0">
                  <a:pos x="26" y="26"/>
                </a:cxn>
              </a:cxnLst>
              <a:rect l="0" t="0" r="r" b="b"/>
              <a:pathLst>
                <a:path w="206" h="116">
                  <a:moveTo>
                    <a:pt x="26" y="26"/>
                  </a:moveTo>
                  <a:lnTo>
                    <a:pt x="0" y="108"/>
                  </a:lnTo>
                  <a:lnTo>
                    <a:pt x="0" y="108"/>
                  </a:lnTo>
                  <a:lnTo>
                    <a:pt x="28" y="114"/>
                  </a:lnTo>
                  <a:lnTo>
                    <a:pt x="56" y="116"/>
                  </a:lnTo>
                  <a:lnTo>
                    <a:pt x="82" y="116"/>
                  </a:lnTo>
                  <a:lnTo>
                    <a:pt x="110" y="112"/>
                  </a:lnTo>
                  <a:lnTo>
                    <a:pt x="136" y="104"/>
                  </a:lnTo>
                  <a:lnTo>
                    <a:pt x="160" y="94"/>
                  </a:lnTo>
                  <a:lnTo>
                    <a:pt x="184" y="80"/>
                  </a:lnTo>
                  <a:lnTo>
                    <a:pt x="206" y="64"/>
                  </a:lnTo>
                  <a:lnTo>
                    <a:pt x="148" y="0"/>
                  </a:lnTo>
                  <a:lnTo>
                    <a:pt x="148" y="0"/>
                  </a:lnTo>
                  <a:lnTo>
                    <a:pt x="134" y="10"/>
                  </a:lnTo>
                  <a:lnTo>
                    <a:pt x="120" y="18"/>
                  </a:lnTo>
                  <a:lnTo>
                    <a:pt x="106" y="24"/>
                  </a:lnTo>
                  <a:lnTo>
                    <a:pt x="90" y="28"/>
                  </a:lnTo>
                  <a:lnTo>
                    <a:pt x="74" y="30"/>
                  </a:lnTo>
                  <a:lnTo>
                    <a:pt x="58" y="30"/>
                  </a:lnTo>
                  <a:lnTo>
                    <a:pt x="42" y="30"/>
                  </a:lnTo>
                  <a:lnTo>
                    <a:pt x="26" y="26"/>
                  </a:lnTo>
                  <a:lnTo>
                    <a:pt x="26" y="26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22" name="Group 74"/>
          <p:cNvGrpSpPr>
            <a:grpSpLocks/>
          </p:cNvGrpSpPr>
          <p:nvPr/>
        </p:nvGrpSpPr>
        <p:grpSpPr bwMode="auto">
          <a:xfrm>
            <a:off x="457200" y="1143000"/>
            <a:ext cx="219075" cy="219075"/>
            <a:chOff x="5114" y="3685"/>
            <a:chExt cx="246" cy="246"/>
          </a:xfrm>
        </p:grpSpPr>
        <p:sp>
          <p:nvSpPr>
            <p:cNvPr id="2123" name="Freeform 75"/>
            <p:cNvSpPr>
              <a:spLocks/>
            </p:cNvSpPr>
            <p:nvPr/>
          </p:nvSpPr>
          <p:spPr bwMode="auto">
            <a:xfrm>
              <a:off x="5135" y="3845"/>
              <a:ext cx="94" cy="86"/>
            </a:xfrm>
            <a:custGeom>
              <a:avLst/>
              <a:gdLst/>
              <a:ahLst/>
              <a:cxnLst>
                <a:cxn ang="0">
                  <a:pos x="70" y="0"/>
                </a:cxn>
                <a:cxn ang="0">
                  <a:pos x="0" y="42"/>
                </a:cxn>
                <a:cxn ang="0">
                  <a:pos x="0" y="42"/>
                </a:cxn>
                <a:cxn ang="0">
                  <a:pos x="10" y="56"/>
                </a:cxn>
                <a:cxn ang="0">
                  <a:pos x="22" y="70"/>
                </a:cxn>
                <a:cxn ang="0">
                  <a:pos x="36" y="82"/>
                </a:cxn>
                <a:cxn ang="0">
                  <a:pos x="52" y="92"/>
                </a:cxn>
                <a:cxn ang="0">
                  <a:pos x="68" y="100"/>
                </a:cxn>
                <a:cxn ang="0">
                  <a:pos x="86" y="108"/>
                </a:cxn>
                <a:cxn ang="0">
                  <a:pos x="104" y="112"/>
                </a:cxn>
                <a:cxn ang="0">
                  <a:pos x="124" y="114"/>
                </a:cxn>
                <a:cxn ang="0">
                  <a:pos x="124" y="32"/>
                </a:cxn>
                <a:cxn ang="0">
                  <a:pos x="124" y="32"/>
                </a:cxn>
                <a:cxn ang="0">
                  <a:pos x="108" y="28"/>
                </a:cxn>
                <a:cxn ang="0">
                  <a:pos x="94" y="22"/>
                </a:cxn>
                <a:cxn ang="0">
                  <a:pos x="82" y="12"/>
                </a:cxn>
                <a:cxn ang="0">
                  <a:pos x="70" y="0"/>
                </a:cxn>
                <a:cxn ang="0">
                  <a:pos x="70" y="0"/>
                </a:cxn>
              </a:cxnLst>
              <a:rect l="0" t="0" r="r" b="b"/>
              <a:pathLst>
                <a:path w="124" h="114">
                  <a:moveTo>
                    <a:pt x="70" y="0"/>
                  </a:moveTo>
                  <a:lnTo>
                    <a:pt x="0" y="42"/>
                  </a:lnTo>
                  <a:lnTo>
                    <a:pt x="0" y="42"/>
                  </a:lnTo>
                  <a:lnTo>
                    <a:pt x="10" y="56"/>
                  </a:lnTo>
                  <a:lnTo>
                    <a:pt x="22" y="70"/>
                  </a:lnTo>
                  <a:lnTo>
                    <a:pt x="36" y="82"/>
                  </a:lnTo>
                  <a:lnTo>
                    <a:pt x="52" y="92"/>
                  </a:lnTo>
                  <a:lnTo>
                    <a:pt x="68" y="100"/>
                  </a:lnTo>
                  <a:lnTo>
                    <a:pt x="86" y="108"/>
                  </a:lnTo>
                  <a:lnTo>
                    <a:pt x="104" y="112"/>
                  </a:lnTo>
                  <a:lnTo>
                    <a:pt x="124" y="114"/>
                  </a:lnTo>
                  <a:lnTo>
                    <a:pt x="124" y="32"/>
                  </a:lnTo>
                  <a:lnTo>
                    <a:pt x="124" y="32"/>
                  </a:lnTo>
                  <a:lnTo>
                    <a:pt x="108" y="28"/>
                  </a:lnTo>
                  <a:lnTo>
                    <a:pt x="94" y="22"/>
                  </a:lnTo>
                  <a:lnTo>
                    <a:pt x="82" y="12"/>
                  </a:lnTo>
                  <a:lnTo>
                    <a:pt x="70" y="0"/>
                  </a:lnTo>
                  <a:lnTo>
                    <a:pt x="70" y="0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24" name="Freeform 76"/>
            <p:cNvSpPr>
              <a:spLocks/>
            </p:cNvSpPr>
            <p:nvPr/>
          </p:nvSpPr>
          <p:spPr bwMode="auto">
            <a:xfrm>
              <a:off x="5135" y="3685"/>
              <a:ext cx="94" cy="87"/>
            </a:xfrm>
            <a:custGeom>
              <a:avLst/>
              <a:gdLst/>
              <a:ahLst/>
              <a:cxnLst>
                <a:cxn ang="0">
                  <a:pos x="124" y="82"/>
                </a:cxn>
                <a:cxn ang="0">
                  <a:pos x="124" y="0"/>
                </a:cxn>
                <a:cxn ang="0">
                  <a:pos x="124" y="0"/>
                </a:cxn>
                <a:cxn ang="0">
                  <a:pos x="104" y="2"/>
                </a:cxn>
                <a:cxn ang="0">
                  <a:pos x="86" y="8"/>
                </a:cxn>
                <a:cxn ang="0">
                  <a:pos x="68" y="14"/>
                </a:cxn>
                <a:cxn ang="0">
                  <a:pos x="52" y="22"/>
                </a:cxn>
                <a:cxn ang="0">
                  <a:pos x="36" y="32"/>
                </a:cxn>
                <a:cxn ang="0">
                  <a:pos x="22" y="44"/>
                </a:cxn>
                <a:cxn ang="0">
                  <a:pos x="10" y="58"/>
                </a:cxn>
                <a:cxn ang="0">
                  <a:pos x="0" y="72"/>
                </a:cxn>
                <a:cxn ang="0">
                  <a:pos x="70" y="114"/>
                </a:cxn>
                <a:cxn ang="0">
                  <a:pos x="70" y="114"/>
                </a:cxn>
                <a:cxn ang="0">
                  <a:pos x="82" y="102"/>
                </a:cxn>
                <a:cxn ang="0">
                  <a:pos x="94" y="92"/>
                </a:cxn>
                <a:cxn ang="0">
                  <a:pos x="108" y="86"/>
                </a:cxn>
                <a:cxn ang="0">
                  <a:pos x="124" y="82"/>
                </a:cxn>
                <a:cxn ang="0">
                  <a:pos x="124" y="82"/>
                </a:cxn>
              </a:cxnLst>
              <a:rect l="0" t="0" r="r" b="b"/>
              <a:pathLst>
                <a:path w="124" h="114">
                  <a:moveTo>
                    <a:pt x="124" y="82"/>
                  </a:moveTo>
                  <a:lnTo>
                    <a:pt x="124" y="0"/>
                  </a:lnTo>
                  <a:lnTo>
                    <a:pt x="124" y="0"/>
                  </a:lnTo>
                  <a:lnTo>
                    <a:pt x="104" y="2"/>
                  </a:lnTo>
                  <a:lnTo>
                    <a:pt x="86" y="8"/>
                  </a:lnTo>
                  <a:lnTo>
                    <a:pt x="68" y="14"/>
                  </a:lnTo>
                  <a:lnTo>
                    <a:pt x="52" y="22"/>
                  </a:lnTo>
                  <a:lnTo>
                    <a:pt x="36" y="32"/>
                  </a:lnTo>
                  <a:lnTo>
                    <a:pt x="22" y="44"/>
                  </a:lnTo>
                  <a:lnTo>
                    <a:pt x="10" y="58"/>
                  </a:lnTo>
                  <a:lnTo>
                    <a:pt x="0" y="72"/>
                  </a:lnTo>
                  <a:lnTo>
                    <a:pt x="70" y="114"/>
                  </a:lnTo>
                  <a:lnTo>
                    <a:pt x="70" y="114"/>
                  </a:lnTo>
                  <a:lnTo>
                    <a:pt x="82" y="102"/>
                  </a:lnTo>
                  <a:lnTo>
                    <a:pt x="94" y="92"/>
                  </a:lnTo>
                  <a:lnTo>
                    <a:pt x="108" y="86"/>
                  </a:lnTo>
                  <a:lnTo>
                    <a:pt x="124" y="82"/>
                  </a:lnTo>
                  <a:lnTo>
                    <a:pt x="124" y="82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25" name="Freeform 77"/>
            <p:cNvSpPr>
              <a:spLocks/>
            </p:cNvSpPr>
            <p:nvPr/>
          </p:nvSpPr>
          <p:spPr bwMode="auto">
            <a:xfrm>
              <a:off x="5114" y="3754"/>
              <a:ext cx="67" cy="109"/>
            </a:xfrm>
            <a:custGeom>
              <a:avLst/>
              <a:gdLst/>
              <a:ahLst/>
              <a:cxnLst>
                <a:cxn ang="0">
                  <a:pos x="82" y="72"/>
                </a:cxn>
                <a:cxn ang="0">
                  <a:pos x="82" y="72"/>
                </a:cxn>
                <a:cxn ang="0">
                  <a:pos x="84" y="56"/>
                </a:cxn>
                <a:cxn ang="0">
                  <a:pos x="88" y="42"/>
                </a:cxn>
                <a:cxn ang="0">
                  <a:pos x="18" y="0"/>
                </a:cxn>
                <a:cxn ang="0">
                  <a:pos x="18" y="0"/>
                </a:cxn>
                <a:cxn ang="0">
                  <a:pos x="10" y="16"/>
                </a:cxn>
                <a:cxn ang="0">
                  <a:pos x="4" y="34"/>
                </a:cxn>
                <a:cxn ang="0">
                  <a:pos x="2" y="54"/>
                </a:cxn>
                <a:cxn ang="0">
                  <a:pos x="0" y="72"/>
                </a:cxn>
                <a:cxn ang="0">
                  <a:pos x="0" y="72"/>
                </a:cxn>
                <a:cxn ang="0">
                  <a:pos x="2" y="92"/>
                </a:cxn>
                <a:cxn ang="0">
                  <a:pos x="4" y="110"/>
                </a:cxn>
                <a:cxn ang="0">
                  <a:pos x="10" y="128"/>
                </a:cxn>
                <a:cxn ang="0">
                  <a:pos x="18" y="144"/>
                </a:cxn>
                <a:cxn ang="0">
                  <a:pos x="88" y="104"/>
                </a:cxn>
                <a:cxn ang="0">
                  <a:pos x="88" y="104"/>
                </a:cxn>
                <a:cxn ang="0">
                  <a:pos x="84" y="88"/>
                </a:cxn>
                <a:cxn ang="0">
                  <a:pos x="82" y="72"/>
                </a:cxn>
                <a:cxn ang="0">
                  <a:pos x="82" y="72"/>
                </a:cxn>
              </a:cxnLst>
              <a:rect l="0" t="0" r="r" b="b"/>
              <a:pathLst>
                <a:path w="88" h="144">
                  <a:moveTo>
                    <a:pt x="82" y="72"/>
                  </a:moveTo>
                  <a:lnTo>
                    <a:pt x="82" y="72"/>
                  </a:lnTo>
                  <a:lnTo>
                    <a:pt x="84" y="56"/>
                  </a:lnTo>
                  <a:lnTo>
                    <a:pt x="88" y="42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0" y="16"/>
                  </a:lnTo>
                  <a:lnTo>
                    <a:pt x="4" y="34"/>
                  </a:lnTo>
                  <a:lnTo>
                    <a:pt x="2" y="54"/>
                  </a:lnTo>
                  <a:lnTo>
                    <a:pt x="0" y="72"/>
                  </a:lnTo>
                  <a:lnTo>
                    <a:pt x="0" y="72"/>
                  </a:lnTo>
                  <a:lnTo>
                    <a:pt x="2" y="92"/>
                  </a:lnTo>
                  <a:lnTo>
                    <a:pt x="4" y="110"/>
                  </a:lnTo>
                  <a:lnTo>
                    <a:pt x="10" y="128"/>
                  </a:lnTo>
                  <a:lnTo>
                    <a:pt x="18" y="144"/>
                  </a:lnTo>
                  <a:lnTo>
                    <a:pt x="88" y="104"/>
                  </a:lnTo>
                  <a:lnTo>
                    <a:pt x="88" y="104"/>
                  </a:lnTo>
                  <a:lnTo>
                    <a:pt x="84" y="88"/>
                  </a:lnTo>
                  <a:lnTo>
                    <a:pt x="82" y="72"/>
                  </a:lnTo>
                  <a:lnTo>
                    <a:pt x="82" y="72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26" name="Freeform 78"/>
            <p:cNvSpPr>
              <a:spLocks/>
            </p:cNvSpPr>
            <p:nvPr/>
          </p:nvSpPr>
          <p:spPr bwMode="auto">
            <a:xfrm>
              <a:off x="5293" y="3754"/>
              <a:ext cx="67" cy="109"/>
            </a:xfrm>
            <a:custGeom>
              <a:avLst/>
              <a:gdLst/>
              <a:ahLst/>
              <a:cxnLst>
                <a:cxn ang="0">
                  <a:pos x="6" y="72"/>
                </a:cxn>
                <a:cxn ang="0">
                  <a:pos x="6" y="72"/>
                </a:cxn>
                <a:cxn ang="0">
                  <a:pos x="6" y="88"/>
                </a:cxn>
                <a:cxn ang="0">
                  <a:pos x="0" y="104"/>
                </a:cxn>
                <a:cxn ang="0">
                  <a:pos x="72" y="144"/>
                </a:cxn>
                <a:cxn ang="0">
                  <a:pos x="72" y="144"/>
                </a:cxn>
                <a:cxn ang="0">
                  <a:pos x="78" y="128"/>
                </a:cxn>
                <a:cxn ang="0">
                  <a:pos x="84" y="110"/>
                </a:cxn>
                <a:cxn ang="0">
                  <a:pos x="88" y="92"/>
                </a:cxn>
                <a:cxn ang="0">
                  <a:pos x="88" y="72"/>
                </a:cxn>
                <a:cxn ang="0">
                  <a:pos x="88" y="72"/>
                </a:cxn>
                <a:cxn ang="0">
                  <a:pos x="88" y="54"/>
                </a:cxn>
                <a:cxn ang="0">
                  <a:pos x="84" y="34"/>
                </a:cxn>
                <a:cxn ang="0">
                  <a:pos x="78" y="16"/>
                </a:cxn>
                <a:cxn ang="0">
                  <a:pos x="72" y="0"/>
                </a:cxn>
                <a:cxn ang="0">
                  <a:pos x="0" y="42"/>
                </a:cxn>
                <a:cxn ang="0">
                  <a:pos x="0" y="42"/>
                </a:cxn>
                <a:cxn ang="0">
                  <a:pos x="6" y="56"/>
                </a:cxn>
                <a:cxn ang="0">
                  <a:pos x="6" y="72"/>
                </a:cxn>
                <a:cxn ang="0">
                  <a:pos x="6" y="72"/>
                </a:cxn>
              </a:cxnLst>
              <a:rect l="0" t="0" r="r" b="b"/>
              <a:pathLst>
                <a:path w="88" h="144">
                  <a:moveTo>
                    <a:pt x="6" y="72"/>
                  </a:moveTo>
                  <a:lnTo>
                    <a:pt x="6" y="72"/>
                  </a:lnTo>
                  <a:lnTo>
                    <a:pt x="6" y="88"/>
                  </a:lnTo>
                  <a:lnTo>
                    <a:pt x="0" y="104"/>
                  </a:lnTo>
                  <a:lnTo>
                    <a:pt x="72" y="144"/>
                  </a:lnTo>
                  <a:lnTo>
                    <a:pt x="72" y="144"/>
                  </a:lnTo>
                  <a:lnTo>
                    <a:pt x="78" y="128"/>
                  </a:lnTo>
                  <a:lnTo>
                    <a:pt x="84" y="110"/>
                  </a:lnTo>
                  <a:lnTo>
                    <a:pt x="88" y="92"/>
                  </a:lnTo>
                  <a:lnTo>
                    <a:pt x="88" y="72"/>
                  </a:lnTo>
                  <a:lnTo>
                    <a:pt x="88" y="72"/>
                  </a:lnTo>
                  <a:lnTo>
                    <a:pt x="88" y="54"/>
                  </a:lnTo>
                  <a:lnTo>
                    <a:pt x="84" y="34"/>
                  </a:lnTo>
                  <a:lnTo>
                    <a:pt x="78" y="16"/>
                  </a:lnTo>
                  <a:lnTo>
                    <a:pt x="72" y="0"/>
                  </a:lnTo>
                  <a:lnTo>
                    <a:pt x="0" y="42"/>
                  </a:lnTo>
                  <a:lnTo>
                    <a:pt x="0" y="42"/>
                  </a:lnTo>
                  <a:lnTo>
                    <a:pt x="6" y="56"/>
                  </a:lnTo>
                  <a:lnTo>
                    <a:pt x="6" y="72"/>
                  </a:lnTo>
                  <a:lnTo>
                    <a:pt x="6" y="72"/>
                  </a:ln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27" name="Freeform 79"/>
            <p:cNvSpPr>
              <a:spLocks/>
            </p:cNvSpPr>
            <p:nvPr/>
          </p:nvSpPr>
          <p:spPr bwMode="auto">
            <a:xfrm>
              <a:off x="5245" y="3845"/>
              <a:ext cx="95" cy="86"/>
            </a:xfrm>
            <a:custGeom>
              <a:avLst/>
              <a:gdLst/>
              <a:ahLst/>
              <a:cxnLst>
                <a:cxn ang="0">
                  <a:pos x="0" y="32"/>
                </a:cxn>
                <a:cxn ang="0">
                  <a:pos x="0" y="114"/>
                </a:cxn>
                <a:cxn ang="0">
                  <a:pos x="0" y="114"/>
                </a:cxn>
                <a:cxn ang="0">
                  <a:pos x="20" y="112"/>
                </a:cxn>
                <a:cxn ang="0">
                  <a:pos x="38" y="108"/>
                </a:cxn>
                <a:cxn ang="0">
                  <a:pos x="56" y="100"/>
                </a:cxn>
                <a:cxn ang="0">
                  <a:pos x="72" y="92"/>
                </a:cxn>
                <a:cxn ang="0">
                  <a:pos x="88" y="82"/>
                </a:cxn>
                <a:cxn ang="0">
                  <a:pos x="102" y="70"/>
                </a:cxn>
                <a:cxn ang="0">
                  <a:pos x="114" y="56"/>
                </a:cxn>
                <a:cxn ang="0">
                  <a:pos x="126" y="42"/>
                </a:cxn>
                <a:cxn ang="0">
                  <a:pos x="54" y="0"/>
                </a:cxn>
                <a:cxn ang="0">
                  <a:pos x="54" y="0"/>
                </a:cxn>
                <a:cxn ang="0">
                  <a:pos x="44" y="12"/>
                </a:cxn>
                <a:cxn ang="0">
                  <a:pos x="30" y="22"/>
                </a:cxn>
                <a:cxn ang="0">
                  <a:pos x="16" y="28"/>
                </a:cxn>
                <a:cxn ang="0">
                  <a:pos x="0" y="32"/>
                </a:cxn>
                <a:cxn ang="0">
                  <a:pos x="0" y="32"/>
                </a:cxn>
              </a:cxnLst>
              <a:rect l="0" t="0" r="r" b="b"/>
              <a:pathLst>
                <a:path w="126" h="114">
                  <a:moveTo>
                    <a:pt x="0" y="32"/>
                  </a:moveTo>
                  <a:lnTo>
                    <a:pt x="0" y="114"/>
                  </a:lnTo>
                  <a:lnTo>
                    <a:pt x="0" y="114"/>
                  </a:lnTo>
                  <a:lnTo>
                    <a:pt x="20" y="112"/>
                  </a:lnTo>
                  <a:lnTo>
                    <a:pt x="38" y="108"/>
                  </a:lnTo>
                  <a:lnTo>
                    <a:pt x="56" y="100"/>
                  </a:lnTo>
                  <a:lnTo>
                    <a:pt x="72" y="92"/>
                  </a:lnTo>
                  <a:lnTo>
                    <a:pt x="88" y="82"/>
                  </a:lnTo>
                  <a:lnTo>
                    <a:pt x="102" y="70"/>
                  </a:lnTo>
                  <a:lnTo>
                    <a:pt x="114" y="56"/>
                  </a:lnTo>
                  <a:lnTo>
                    <a:pt x="126" y="42"/>
                  </a:lnTo>
                  <a:lnTo>
                    <a:pt x="54" y="0"/>
                  </a:lnTo>
                  <a:lnTo>
                    <a:pt x="54" y="0"/>
                  </a:lnTo>
                  <a:lnTo>
                    <a:pt x="44" y="12"/>
                  </a:lnTo>
                  <a:lnTo>
                    <a:pt x="30" y="22"/>
                  </a:lnTo>
                  <a:lnTo>
                    <a:pt x="16" y="28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28" name="Freeform 80"/>
            <p:cNvSpPr>
              <a:spLocks/>
            </p:cNvSpPr>
            <p:nvPr/>
          </p:nvSpPr>
          <p:spPr bwMode="auto">
            <a:xfrm>
              <a:off x="5245" y="3685"/>
              <a:ext cx="95" cy="87"/>
            </a:xfrm>
            <a:custGeom>
              <a:avLst/>
              <a:gdLst/>
              <a:ahLst/>
              <a:cxnLst>
                <a:cxn ang="0">
                  <a:pos x="54" y="114"/>
                </a:cxn>
                <a:cxn ang="0">
                  <a:pos x="126" y="72"/>
                </a:cxn>
                <a:cxn ang="0">
                  <a:pos x="126" y="72"/>
                </a:cxn>
                <a:cxn ang="0">
                  <a:pos x="114" y="58"/>
                </a:cxn>
                <a:cxn ang="0">
                  <a:pos x="102" y="44"/>
                </a:cxn>
                <a:cxn ang="0">
                  <a:pos x="88" y="32"/>
                </a:cxn>
                <a:cxn ang="0">
                  <a:pos x="72" y="22"/>
                </a:cxn>
                <a:cxn ang="0">
                  <a:pos x="56" y="14"/>
                </a:cxn>
                <a:cxn ang="0">
                  <a:pos x="38" y="8"/>
                </a:cxn>
                <a:cxn ang="0">
                  <a:pos x="20" y="2"/>
                </a:cxn>
                <a:cxn ang="0">
                  <a:pos x="0" y="0"/>
                </a:cxn>
                <a:cxn ang="0">
                  <a:pos x="0" y="82"/>
                </a:cxn>
                <a:cxn ang="0">
                  <a:pos x="0" y="82"/>
                </a:cxn>
                <a:cxn ang="0">
                  <a:pos x="16" y="86"/>
                </a:cxn>
                <a:cxn ang="0">
                  <a:pos x="30" y="92"/>
                </a:cxn>
                <a:cxn ang="0">
                  <a:pos x="44" y="102"/>
                </a:cxn>
                <a:cxn ang="0">
                  <a:pos x="54" y="114"/>
                </a:cxn>
                <a:cxn ang="0">
                  <a:pos x="54" y="114"/>
                </a:cxn>
              </a:cxnLst>
              <a:rect l="0" t="0" r="r" b="b"/>
              <a:pathLst>
                <a:path w="126" h="114">
                  <a:moveTo>
                    <a:pt x="54" y="114"/>
                  </a:moveTo>
                  <a:lnTo>
                    <a:pt x="126" y="72"/>
                  </a:lnTo>
                  <a:lnTo>
                    <a:pt x="126" y="72"/>
                  </a:lnTo>
                  <a:lnTo>
                    <a:pt x="114" y="58"/>
                  </a:lnTo>
                  <a:lnTo>
                    <a:pt x="102" y="44"/>
                  </a:lnTo>
                  <a:lnTo>
                    <a:pt x="88" y="32"/>
                  </a:lnTo>
                  <a:lnTo>
                    <a:pt x="72" y="22"/>
                  </a:lnTo>
                  <a:lnTo>
                    <a:pt x="56" y="14"/>
                  </a:lnTo>
                  <a:lnTo>
                    <a:pt x="38" y="8"/>
                  </a:lnTo>
                  <a:lnTo>
                    <a:pt x="20" y="2"/>
                  </a:lnTo>
                  <a:lnTo>
                    <a:pt x="0" y="0"/>
                  </a:lnTo>
                  <a:lnTo>
                    <a:pt x="0" y="82"/>
                  </a:lnTo>
                  <a:lnTo>
                    <a:pt x="0" y="82"/>
                  </a:lnTo>
                  <a:lnTo>
                    <a:pt x="16" y="86"/>
                  </a:lnTo>
                  <a:lnTo>
                    <a:pt x="30" y="92"/>
                  </a:lnTo>
                  <a:lnTo>
                    <a:pt x="44" y="102"/>
                  </a:lnTo>
                  <a:lnTo>
                    <a:pt x="54" y="114"/>
                  </a:lnTo>
                  <a:lnTo>
                    <a:pt x="54" y="114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8052506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9" dur="1000" fill="hold"/>
                                        <p:tgtEl>
                                          <p:spTgt spid="21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1" dur="1000" fill="hold"/>
                                        <p:tgtEl>
                                          <p:spTgt spid="21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0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0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0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228600"/>
            <a:ext cx="7651750" cy="1143001"/>
          </a:xfrm>
        </p:spPr>
        <p:txBody>
          <a:bodyPr/>
          <a:lstStyle/>
          <a:p>
            <a:r>
              <a:rPr lang="en-US" sz="4400" dirty="0">
                <a:solidFill>
                  <a:schemeClr val="accent6"/>
                </a:solidFill>
              </a:rPr>
              <a:t>Outline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28625" y="1296987"/>
            <a:ext cx="8229600" cy="4495801"/>
          </a:xfrm>
        </p:spPr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Variables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Scope and Lifetime of a variable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Automatic Type Conversion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Casting Type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Automatic Type Promotion</a:t>
            </a:r>
          </a:p>
        </p:txBody>
      </p:sp>
      <p:grpSp>
        <p:nvGrpSpPr>
          <p:cNvPr id="4107" name="Group 11"/>
          <p:cNvGrpSpPr>
            <a:grpSpLocks/>
          </p:cNvGrpSpPr>
          <p:nvPr/>
        </p:nvGrpSpPr>
        <p:grpSpPr bwMode="auto">
          <a:xfrm>
            <a:off x="609600" y="533400"/>
            <a:ext cx="303213" cy="303213"/>
            <a:chOff x="703" y="300"/>
            <a:chExt cx="181" cy="181"/>
          </a:xfrm>
        </p:grpSpPr>
        <p:sp>
          <p:nvSpPr>
            <p:cNvPr id="4108" name="Freeform 12"/>
            <p:cNvSpPr>
              <a:spLocks/>
            </p:cNvSpPr>
            <p:nvPr/>
          </p:nvSpPr>
          <p:spPr bwMode="auto">
            <a:xfrm>
              <a:off x="736" y="300"/>
              <a:ext cx="81" cy="46"/>
            </a:xfrm>
            <a:custGeom>
              <a:avLst/>
              <a:gdLst/>
              <a:ahLst/>
              <a:cxnLst>
                <a:cxn ang="0">
                  <a:pos x="247" y="124"/>
                </a:cxn>
                <a:cxn ang="0">
                  <a:pos x="283" y="11"/>
                </a:cxn>
                <a:cxn ang="0">
                  <a:pos x="283" y="11"/>
                </a:cxn>
                <a:cxn ang="0">
                  <a:pos x="264" y="6"/>
                </a:cxn>
                <a:cxn ang="0">
                  <a:pos x="244" y="3"/>
                </a:cxn>
                <a:cxn ang="0">
                  <a:pos x="226" y="2"/>
                </a:cxn>
                <a:cxn ang="0">
                  <a:pos x="206" y="0"/>
                </a:cxn>
                <a:cxn ang="0">
                  <a:pos x="187" y="0"/>
                </a:cxn>
                <a:cxn ang="0">
                  <a:pos x="169" y="2"/>
                </a:cxn>
                <a:cxn ang="0">
                  <a:pos x="150" y="4"/>
                </a:cxn>
                <a:cxn ang="0">
                  <a:pos x="131" y="7"/>
                </a:cxn>
                <a:cxn ang="0">
                  <a:pos x="114" y="12"/>
                </a:cxn>
                <a:cxn ang="0">
                  <a:pos x="97" y="18"/>
                </a:cxn>
                <a:cxn ang="0">
                  <a:pos x="79" y="24"/>
                </a:cxn>
                <a:cxn ang="0">
                  <a:pos x="62" y="32"/>
                </a:cxn>
                <a:cxn ang="0">
                  <a:pos x="45" y="40"/>
                </a:cxn>
                <a:cxn ang="0">
                  <a:pos x="29" y="49"/>
                </a:cxn>
                <a:cxn ang="0">
                  <a:pos x="14" y="60"/>
                </a:cxn>
                <a:cxn ang="0">
                  <a:pos x="0" y="71"/>
                </a:cxn>
                <a:cxn ang="0">
                  <a:pos x="79" y="160"/>
                </a:cxn>
                <a:cxn ang="0">
                  <a:pos x="79" y="160"/>
                </a:cxn>
                <a:cxn ang="0">
                  <a:pos x="97" y="147"/>
                </a:cxn>
                <a:cxn ang="0">
                  <a:pos x="116" y="136"/>
                </a:cxn>
                <a:cxn ang="0">
                  <a:pos x="136" y="128"/>
                </a:cxn>
                <a:cxn ang="0">
                  <a:pos x="157" y="123"/>
                </a:cxn>
                <a:cxn ang="0">
                  <a:pos x="179" y="119"/>
                </a:cxn>
                <a:cxn ang="0">
                  <a:pos x="201" y="118"/>
                </a:cxn>
                <a:cxn ang="0">
                  <a:pos x="223" y="120"/>
                </a:cxn>
                <a:cxn ang="0">
                  <a:pos x="247" y="124"/>
                </a:cxn>
                <a:cxn ang="0">
                  <a:pos x="247" y="124"/>
                </a:cxn>
              </a:cxnLst>
              <a:rect l="0" t="0" r="r" b="b"/>
              <a:pathLst>
                <a:path w="283" h="160">
                  <a:moveTo>
                    <a:pt x="247" y="124"/>
                  </a:moveTo>
                  <a:lnTo>
                    <a:pt x="283" y="11"/>
                  </a:lnTo>
                  <a:lnTo>
                    <a:pt x="283" y="11"/>
                  </a:lnTo>
                  <a:lnTo>
                    <a:pt x="264" y="6"/>
                  </a:lnTo>
                  <a:lnTo>
                    <a:pt x="244" y="3"/>
                  </a:lnTo>
                  <a:lnTo>
                    <a:pt x="226" y="2"/>
                  </a:lnTo>
                  <a:lnTo>
                    <a:pt x="206" y="0"/>
                  </a:lnTo>
                  <a:lnTo>
                    <a:pt x="187" y="0"/>
                  </a:lnTo>
                  <a:lnTo>
                    <a:pt x="169" y="2"/>
                  </a:lnTo>
                  <a:lnTo>
                    <a:pt x="150" y="4"/>
                  </a:lnTo>
                  <a:lnTo>
                    <a:pt x="131" y="7"/>
                  </a:lnTo>
                  <a:lnTo>
                    <a:pt x="114" y="12"/>
                  </a:lnTo>
                  <a:lnTo>
                    <a:pt x="97" y="18"/>
                  </a:lnTo>
                  <a:lnTo>
                    <a:pt x="79" y="24"/>
                  </a:lnTo>
                  <a:lnTo>
                    <a:pt x="62" y="32"/>
                  </a:lnTo>
                  <a:lnTo>
                    <a:pt x="45" y="40"/>
                  </a:lnTo>
                  <a:lnTo>
                    <a:pt x="29" y="49"/>
                  </a:lnTo>
                  <a:lnTo>
                    <a:pt x="14" y="60"/>
                  </a:lnTo>
                  <a:lnTo>
                    <a:pt x="0" y="71"/>
                  </a:lnTo>
                  <a:lnTo>
                    <a:pt x="79" y="160"/>
                  </a:lnTo>
                  <a:lnTo>
                    <a:pt x="79" y="160"/>
                  </a:lnTo>
                  <a:lnTo>
                    <a:pt x="97" y="147"/>
                  </a:lnTo>
                  <a:lnTo>
                    <a:pt x="116" y="136"/>
                  </a:lnTo>
                  <a:lnTo>
                    <a:pt x="136" y="128"/>
                  </a:lnTo>
                  <a:lnTo>
                    <a:pt x="157" y="123"/>
                  </a:lnTo>
                  <a:lnTo>
                    <a:pt x="179" y="119"/>
                  </a:lnTo>
                  <a:lnTo>
                    <a:pt x="201" y="118"/>
                  </a:lnTo>
                  <a:lnTo>
                    <a:pt x="223" y="120"/>
                  </a:lnTo>
                  <a:lnTo>
                    <a:pt x="247" y="124"/>
                  </a:lnTo>
                  <a:lnTo>
                    <a:pt x="247" y="124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09" name="Freeform 13"/>
            <p:cNvSpPr>
              <a:spLocks/>
            </p:cNvSpPr>
            <p:nvPr/>
          </p:nvSpPr>
          <p:spPr bwMode="auto">
            <a:xfrm>
              <a:off x="835" y="376"/>
              <a:ext cx="49" cy="79"/>
            </a:xfrm>
            <a:custGeom>
              <a:avLst/>
              <a:gdLst/>
              <a:ahLst/>
              <a:cxnLst>
                <a:cxn ang="0">
                  <a:pos x="44" y="113"/>
                </a:cxn>
                <a:cxn ang="0">
                  <a:pos x="44" y="113"/>
                </a:cxn>
                <a:cxn ang="0">
                  <a:pos x="36" y="134"/>
                </a:cxn>
                <a:cxn ang="0">
                  <a:pos x="26" y="154"/>
                </a:cxn>
                <a:cxn ang="0">
                  <a:pos x="14" y="171"/>
                </a:cxn>
                <a:cxn ang="0">
                  <a:pos x="0" y="188"/>
                </a:cxn>
                <a:cxn ang="0">
                  <a:pos x="79" y="276"/>
                </a:cxn>
                <a:cxn ang="0">
                  <a:pos x="79" y="276"/>
                </a:cxn>
                <a:cxn ang="0">
                  <a:pos x="92" y="263"/>
                </a:cxn>
                <a:cxn ang="0">
                  <a:pos x="104" y="249"/>
                </a:cxn>
                <a:cxn ang="0">
                  <a:pos x="115" y="234"/>
                </a:cxn>
                <a:cxn ang="0">
                  <a:pos x="125" y="219"/>
                </a:cxn>
                <a:cxn ang="0">
                  <a:pos x="135" y="203"/>
                </a:cxn>
                <a:cxn ang="0">
                  <a:pos x="143" y="185"/>
                </a:cxn>
                <a:cxn ang="0">
                  <a:pos x="150" y="168"/>
                </a:cxn>
                <a:cxn ang="0">
                  <a:pos x="157" y="149"/>
                </a:cxn>
                <a:cxn ang="0">
                  <a:pos x="157" y="149"/>
                </a:cxn>
                <a:cxn ang="0">
                  <a:pos x="163" y="131"/>
                </a:cxn>
                <a:cxn ang="0">
                  <a:pos x="166" y="112"/>
                </a:cxn>
                <a:cxn ang="0">
                  <a:pos x="170" y="93"/>
                </a:cxn>
                <a:cxn ang="0">
                  <a:pos x="172" y="75"/>
                </a:cxn>
                <a:cxn ang="0">
                  <a:pos x="172" y="56"/>
                </a:cxn>
                <a:cxn ang="0">
                  <a:pos x="172" y="38"/>
                </a:cxn>
                <a:cxn ang="0">
                  <a:pos x="171" y="19"/>
                </a:cxn>
                <a:cxn ang="0">
                  <a:pos x="169" y="0"/>
                </a:cxn>
                <a:cxn ang="0">
                  <a:pos x="52" y="26"/>
                </a:cxn>
                <a:cxn ang="0">
                  <a:pos x="52" y="26"/>
                </a:cxn>
                <a:cxn ang="0">
                  <a:pos x="54" y="47"/>
                </a:cxn>
                <a:cxn ang="0">
                  <a:pos x="54" y="69"/>
                </a:cxn>
                <a:cxn ang="0">
                  <a:pos x="50" y="91"/>
                </a:cxn>
                <a:cxn ang="0">
                  <a:pos x="44" y="113"/>
                </a:cxn>
                <a:cxn ang="0">
                  <a:pos x="44" y="113"/>
                </a:cxn>
              </a:cxnLst>
              <a:rect l="0" t="0" r="r" b="b"/>
              <a:pathLst>
                <a:path w="172" h="276">
                  <a:moveTo>
                    <a:pt x="44" y="113"/>
                  </a:moveTo>
                  <a:lnTo>
                    <a:pt x="44" y="113"/>
                  </a:lnTo>
                  <a:lnTo>
                    <a:pt x="36" y="134"/>
                  </a:lnTo>
                  <a:lnTo>
                    <a:pt x="26" y="154"/>
                  </a:lnTo>
                  <a:lnTo>
                    <a:pt x="14" y="171"/>
                  </a:lnTo>
                  <a:lnTo>
                    <a:pt x="0" y="188"/>
                  </a:lnTo>
                  <a:lnTo>
                    <a:pt x="79" y="276"/>
                  </a:lnTo>
                  <a:lnTo>
                    <a:pt x="79" y="276"/>
                  </a:lnTo>
                  <a:lnTo>
                    <a:pt x="92" y="263"/>
                  </a:lnTo>
                  <a:lnTo>
                    <a:pt x="104" y="249"/>
                  </a:lnTo>
                  <a:lnTo>
                    <a:pt x="115" y="234"/>
                  </a:lnTo>
                  <a:lnTo>
                    <a:pt x="125" y="219"/>
                  </a:lnTo>
                  <a:lnTo>
                    <a:pt x="135" y="203"/>
                  </a:lnTo>
                  <a:lnTo>
                    <a:pt x="143" y="185"/>
                  </a:lnTo>
                  <a:lnTo>
                    <a:pt x="150" y="168"/>
                  </a:lnTo>
                  <a:lnTo>
                    <a:pt x="157" y="149"/>
                  </a:lnTo>
                  <a:lnTo>
                    <a:pt x="157" y="149"/>
                  </a:lnTo>
                  <a:lnTo>
                    <a:pt x="163" y="131"/>
                  </a:lnTo>
                  <a:lnTo>
                    <a:pt x="166" y="112"/>
                  </a:lnTo>
                  <a:lnTo>
                    <a:pt x="170" y="93"/>
                  </a:lnTo>
                  <a:lnTo>
                    <a:pt x="172" y="75"/>
                  </a:lnTo>
                  <a:lnTo>
                    <a:pt x="172" y="56"/>
                  </a:lnTo>
                  <a:lnTo>
                    <a:pt x="172" y="38"/>
                  </a:lnTo>
                  <a:lnTo>
                    <a:pt x="171" y="19"/>
                  </a:lnTo>
                  <a:lnTo>
                    <a:pt x="169" y="0"/>
                  </a:lnTo>
                  <a:lnTo>
                    <a:pt x="52" y="26"/>
                  </a:lnTo>
                  <a:lnTo>
                    <a:pt x="52" y="26"/>
                  </a:lnTo>
                  <a:lnTo>
                    <a:pt x="54" y="47"/>
                  </a:lnTo>
                  <a:lnTo>
                    <a:pt x="54" y="69"/>
                  </a:lnTo>
                  <a:lnTo>
                    <a:pt x="50" y="91"/>
                  </a:lnTo>
                  <a:lnTo>
                    <a:pt x="44" y="113"/>
                  </a:lnTo>
                  <a:lnTo>
                    <a:pt x="44" y="113"/>
                  </a:lnTo>
                  <a:close/>
                </a:path>
              </a:pathLst>
            </a:custGeom>
            <a:solidFill>
              <a:schemeClr val="accent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10" name="Freeform 14"/>
            <p:cNvSpPr>
              <a:spLocks/>
            </p:cNvSpPr>
            <p:nvPr/>
          </p:nvSpPr>
          <p:spPr bwMode="auto">
            <a:xfrm>
              <a:off x="703" y="326"/>
              <a:ext cx="50" cy="79"/>
            </a:xfrm>
            <a:custGeom>
              <a:avLst/>
              <a:gdLst/>
              <a:ahLst/>
              <a:cxnLst>
                <a:cxn ang="0">
                  <a:pos x="128" y="163"/>
                </a:cxn>
                <a:cxn ang="0">
                  <a:pos x="128" y="163"/>
                </a:cxn>
                <a:cxn ang="0">
                  <a:pos x="136" y="142"/>
                </a:cxn>
                <a:cxn ang="0">
                  <a:pos x="146" y="122"/>
                </a:cxn>
                <a:cxn ang="0">
                  <a:pos x="159" y="105"/>
                </a:cxn>
                <a:cxn ang="0">
                  <a:pos x="173" y="89"/>
                </a:cxn>
                <a:cxn ang="0">
                  <a:pos x="94" y="0"/>
                </a:cxn>
                <a:cxn ang="0">
                  <a:pos x="94" y="0"/>
                </a:cxn>
                <a:cxn ang="0">
                  <a:pos x="81" y="13"/>
                </a:cxn>
                <a:cxn ang="0">
                  <a:pos x="69" y="27"/>
                </a:cxn>
                <a:cxn ang="0">
                  <a:pos x="58" y="42"/>
                </a:cxn>
                <a:cxn ang="0">
                  <a:pos x="47" y="57"/>
                </a:cxn>
                <a:cxn ang="0">
                  <a:pos x="38" y="74"/>
                </a:cxn>
                <a:cxn ang="0">
                  <a:pos x="30" y="91"/>
                </a:cxn>
                <a:cxn ang="0">
                  <a:pos x="22" y="108"/>
                </a:cxn>
                <a:cxn ang="0">
                  <a:pos x="16" y="127"/>
                </a:cxn>
                <a:cxn ang="0">
                  <a:pos x="16" y="127"/>
                </a:cxn>
                <a:cxn ang="0">
                  <a:pos x="10" y="146"/>
                </a:cxn>
                <a:cxn ang="0">
                  <a:pos x="6" y="164"/>
                </a:cxn>
                <a:cxn ang="0">
                  <a:pos x="3" y="183"/>
                </a:cxn>
                <a:cxn ang="0">
                  <a:pos x="1" y="201"/>
                </a:cxn>
                <a:cxn ang="0">
                  <a:pos x="0" y="220"/>
                </a:cxn>
                <a:cxn ang="0">
                  <a:pos x="1" y="239"/>
                </a:cxn>
                <a:cxn ang="0">
                  <a:pos x="2" y="257"/>
                </a:cxn>
                <a:cxn ang="0">
                  <a:pos x="4" y="276"/>
                </a:cxn>
                <a:cxn ang="0">
                  <a:pos x="121" y="250"/>
                </a:cxn>
                <a:cxn ang="0">
                  <a:pos x="121" y="250"/>
                </a:cxn>
                <a:cxn ang="0">
                  <a:pos x="118" y="229"/>
                </a:cxn>
                <a:cxn ang="0">
                  <a:pos x="119" y="207"/>
                </a:cxn>
                <a:cxn ang="0">
                  <a:pos x="122" y="185"/>
                </a:cxn>
                <a:cxn ang="0">
                  <a:pos x="128" y="163"/>
                </a:cxn>
                <a:cxn ang="0">
                  <a:pos x="128" y="163"/>
                </a:cxn>
              </a:cxnLst>
              <a:rect l="0" t="0" r="r" b="b"/>
              <a:pathLst>
                <a:path w="173" h="276">
                  <a:moveTo>
                    <a:pt x="128" y="163"/>
                  </a:moveTo>
                  <a:lnTo>
                    <a:pt x="128" y="163"/>
                  </a:lnTo>
                  <a:lnTo>
                    <a:pt x="136" y="142"/>
                  </a:lnTo>
                  <a:lnTo>
                    <a:pt x="146" y="122"/>
                  </a:lnTo>
                  <a:lnTo>
                    <a:pt x="159" y="105"/>
                  </a:lnTo>
                  <a:lnTo>
                    <a:pt x="173" y="89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81" y="13"/>
                  </a:lnTo>
                  <a:lnTo>
                    <a:pt x="69" y="27"/>
                  </a:lnTo>
                  <a:lnTo>
                    <a:pt x="58" y="42"/>
                  </a:lnTo>
                  <a:lnTo>
                    <a:pt x="47" y="57"/>
                  </a:lnTo>
                  <a:lnTo>
                    <a:pt x="38" y="74"/>
                  </a:lnTo>
                  <a:lnTo>
                    <a:pt x="30" y="91"/>
                  </a:lnTo>
                  <a:lnTo>
                    <a:pt x="22" y="108"/>
                  </a:lnTo>
                  <a:lnTo>
                    <a:pt x="16" y="127"/>
                  </a:lnTo>
                  <a:lnTo>
                    <a:pt x="16" y="127"/>
                  </a:lnTo>
                  <a:lnTo>
                    <a:pt x="10" y="146"/>
                  </a:lnTo>
                  <a:lnTo>
                    <a:pt x="6" y="164"/>
                  </a:lnTo>
                  <a:lnTo>
                    <a:pt x="3" y="183"/>
                  </a:lnTo>
                  <a:lnTo>
                    <a:pt x="1" y="201"/>
                  </a:lnTo>
                  <a:lnTo>
                    <a:pt x="0" y="220"/>
                  </a:lnTo>
                  <a:lnTo>
                    <a:pt x="1" y="239"/>
                  </a:lnTo>
                  <a:lnTo>
                    <a:pt x="2" y="257"/>
                  </a:lnTo>
                  <a:lnTo>
                    <a:pt x="4" y="276"/>
                  </a:lnTo>
                  <a:lnTo>
                    <a:pt x="121" y="250"/>
                  </a:lnTo>
                  <a:lnTo>
                    <a:pt x="121" y="250"/>
                  </a:lnTo>
                  <a:lnTo>
                    <a:pt x="118" y="229"/>
                  </a:lnTo>
                  <a:lnTo>
                    <a:pt x="119" y="207"/>
                  </a:lnTo>
                  <a:lnTo>
                    <a:pt x="122" y="185"/>
                  </a:lnTo>
                  <a:lnTo>
                    <a:pt x="128" y="163"/>
                  </a:lnTo>
                  <a:lnTo>
                    <a:pt x="128" y="163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11" name="Freeform 15"/>
            <p:cNvSpPr>
              <a:spLocks/>
            </p:cNvSpPr>
            <p:nvPr/>
          </p:nvSpPr>
          <p:spPr bwMode="auto">
            <a:xfrm>
              <a:off x="706" y="407"/>
              <a:ext cx="66" cy="68"/>
            </a:xfrm>
            <a:custGeom>
              <a:avLst/>
              <a:gdLst/>
              <a:ahLst/>
              <a:cxnLst>
                <a:cxn ang="0">
                  <a:pos x="115" y="0"/>
                </a:cxn>
                <a:cxn ang="0">
                  <a:pos x="0" y="24"/>
                </a:cxn>
                <a:cxn ang="0">
                  <a:pos x="0" y="24"/>
                </a:cxn>
                <a:cxn ang="0">
                  <a:pos x="5" y="41"/>
                </a:cxn>
                <a:cxn ang="0">
                  <a:pos x="11" y="59"/>
                </a:cxn>
                <a:cxn ang="0">
                  <a:pos x="19" y="76"/>
                </a:cxn>
                <a:cxn ang="0">
                  <a:pos x="27" y="93"/>
                </a:cxn>
                <a:cxn ang="0">
                  <a:pos x="36" y="109"/>
                </a:cxn>
                <a:cxn ang="0">
                  <a:pos x="47" y="124"/>
                </a:cxn>
                <a:cxn ang="0">
                  <a:pos x="57" y="139"/>
                </a:cxn>
                <a:cxn ang="0">
                  <a:pos x="69" y="153"/>
                </a:cxn>
                <a:cxn ang="0">
                  <a:pos x="82" y="167"/>
                </a:cxn>
                <a:cxn ang="0">
                  <a:pos x="96" y="180"/>
                </a:cxn>
                <a:cxn ang="0">
                  <a:pos x="110" y="191"/>
                </a:cxn>
                <a:cxn ang="0">
                  <a:pos x="126" y="203"/>
                </a:cxn>
                <a:cxn ang="0">
                  <a:pos x="141" y="213"/>
                </a:cxn>
                <a:cxn ang="0">
                  <a:pos x="158" y="223"/>
                </a:cxn>
                <a:cxn ang="0">
                  <a:pos x="176" y="231"/>
                </a:cxn>
                <a:cxn ang="0">
                  <a:pos x="193" y="239"/>
                </a:cxn>
                <a:cxn ang="0">
                  <a:pos x="230" y="126"/>
                </a:cxn>
                <a:cxn ang="0">
                  <a:pos x="230" y="126"/>
                </a:cxn>
                <a:cxn ang="0">
                  <a:pos x="210" y="116"/>
                </a:cxn>
                <a:cxn ang="0">
                  <a:pos x="191" y="104"/>
                </a:cxn>
                <a:cxn ang="0">
                  <a:pos x="174" y="90"/>
                </a:cxn>
                <a:cxn ang="0">
                  <a:pos x="157" y="75"/>
                </a:cxn>
                <a:cxn ang="0">
                  <a:pos x="144" y="58"/>
                </a:cxn>
                <a:cxn ang="0">
                  <a:pos x="133" y="39"/>
                </a:cxn>
                <a:cxn ang="0">
                  <a:pos x="122" y="19"/>
                </a:cxn>
                <a:cxn ang="0">
                  <a:pos x="115" y="0"/>
                </a:cxn>
                <a:cxn ang="0">
                  <a:pos x="115" y="0"/>
                </a:cxn>
              </a:cxnLst>
              <a:rect l="0" t="0" r="r" b="b"/>
              <a:pathLst>
                <a:path w="230" h="239">
                  <a:moveTo>
                    <a:pt x="115" y="0"/>
                  </a:moveTo>
                  <a:lnTo>
                    <a:pt x="0" y="24"/>
                  </a:lnTo>
                  <a:lnTo>
                    <a:pt x="0" y="24"/>
                  </a:lnTo>
                  <a:lnTo>
                    <a:pt x="5" y="41"/>
                  </a:lnTo>
                  <a:lnTo>
                    <a:pt x="11" y="59"/>
                  </a:lnTo>
                  <a:lnTo>
                    <a:pt x="19" y="76"/>
                  </a:lnTo>
                  <a:lnTo>
                    <a:pt x="27" y="93"/>
                  </a:lnTo>
                  <a:lnTo>
                    <a:pt x="36" y="109"/>
                  </a:lnTo>
                  <a:lnTo>
                    <a:pt x="47" y="124"/>
                  </a:lnTo>
                  <a:lnTo>
                    <a:pt x="57" y="139"/>
                  </a:lnTo>
                  <a:lnTo>
                    <a:pt x="69" y="153"/>
                  </a:lnTo>
                  <a:lnTo>
                    <a:pt x="82" y="167"/>
                  </a:lnTo>
                  <a:lnTo>
                    <a:pt x="96" y="180"/>
                  </a:lnTo>
                  <a:lnTo>
                    <a:pt x="110" y="191"/>
                  </a:lnTo>
                  <a:lnTo>
                    <a:pt x="126" y="203"/>
                  </a:lnTo>
                  <a:lnTo>
                    <a:pt x="141" y="213"/>
                  </a:lnTo>
                  <a:lnTo>
                    <a:pt x="158" y="223"/>
                  </a:lnTo>
                  <a:lnTo>
                    <a:pt x="176" y="231"/>
                  </a:lnTo>
                  <a:lnTo>
                    <a:pt x="193" y="239"/>
                  </a:lnTo>
                  <a:lnTo>
                    <a:pt x="230" y="126"/>
                  </a:lnTo>
                  <a:lnTo>
                    <a:pt x="230" y="126"/>
                  </a:lnTo>
                  <a:lnTo>
                    <a:pt x="210" y="116"/>
                  </a:lnTo>
                  <a:lnTo>
                    <a:pt x="191" y="104"/>
                  </a:lnTo>
                  <a:lnTo>
                    <a:pt x="174" y="90"/>
                  </a:lnTo>
                  <a:lnTo>
                    <a:pt x="157" y="75"/>
                  </a:lnTo>
                  <a:lnTo>
                    <a:pt x="144" y="58"/>
                  </a:lnTo>
                  <a:lnTo>
                    <a:pt x="133" y="39"/>
                  </a:lnTo>
                  <a:lnTo>
                    <a:pt x="122" y="19"/>
                  </a:lnTo>
                  <a:lnTo>
                    <a:pt x="115" y="0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12" name="Freeform 16"/>
            <p:cNvSpPr>
              <a:spLocks/>
            </p:cNvSpPr>
            <p:nvPr/>
          </p:nvSpPr>
          <p:spPr bwMode="auto">
            <a:xfrm>
              <a:off x="815" y="306"/>
              <a:ext cx="66" cy="69"/>
            </a:xfrm>
            <a:custGeom>
              <a:avLst/>
              <a:gdLst/>
              <a:ahLst/>
              <a:cxnLst>
                <a:cxn ang="0">
                  <a:pos x="113" y="240"/>
                </a:cxn>
                <a:cxn ang="0">
                  <a:pos x="230" y="214"/>
                </a:cxn>
                <a:cxn ang="0">
                  <a:pos x="230" y="214"/>
                </a:cxn>
                <a:cxn ang="0">
                  <a:pos x="225" y="197"/>
                </a:cxn>
                <a:cxn ang="0">
                  <a:pos x="218" y="179"/>
                </a:cxn>
                <a:cxn ang="0">
                  <a:pos x="211" y="162"/>
                </a:cxn>
                <a:cxn ang="0">
                  <a:pos x="203" y="146"/>
                </a:cxn>
                <a:cxn ang="0">
                  <a:pos x="194" y="129"/>
                </a:cxn>
                <a:cxn ang="0">
                  <a:pos x="183" y="114"/>
                </a:cxn>
                <a:cxn ang="0">
                  <a:pos x="173" y="99"/>
                </a:cxn>
                <a:cxn ang="0">
                  <a:pos x="160" y="85"/>
                </a:cxn>
                <a:cxn ang="0">
                  <a:pos x="147" y="71"/>
                </a:cxn>
                <a:cxn ang="0">
                  <a:pos x="134" y="58"/>
                </a:cxn>
                <a:cxn ang="0">
                  <a:pos x="119" y="47"/>
                </a:cxn>
                <a:cxn ang="0">
                  <a:pos x="104" y="35"/>
                </a:cxn>
                <a:cxn ang="0">
                  <a:pos x="88" y="25"/>
                </a:cxn>
                <a:cxn ang="0">
                  <a:pos x="72" y="15"/>
                </a:cxn>
                <a:cxn ang="0">
                  <a:pos x="54" y="7"/>
                </a:cxn>
                <a:cxn ang="0">
                  <a:pos x="36" y="0"/>
                </a:cxn>
                <a:cxn ang="0">
                  <a:pos x="0" y="112"/>
                </a:cxn>
                <a:cxn ang="0">
                  <a:pos x="0" y="112"/>
                </a:cxn>
                <a:cxn ang="0">
                  <a:pos x="20" y="122"/>
                </a:cxn>
                <a:cxn ang="0">
                  <a:pos x="39" y="134"/>
                </a:cxn>
                <a:cxn ang="0">
                  <a:pos x="57" y="148"/>
                </a:cxn>
                <a:cxn ang="0">
                  <a:pos x="72" y="164"/>
                </a:cxn>
                <a:cxn ang="0">
                  <a:pos x="86" y="181"/>
                </a:cxn>
                <a:cxn ang="0">
                  <a:pos x="97" y="199"/>
                </a:cxn>
                <a:cxn ang="0">
                  <a:pos x="106" y="219"/>
                </a:cxn>
                <a:cxn ang="0">
                  <a:pos x="113" y="240"/>
                </a:cxn>
                <a:cxn ang="0">
                  <a:pos x="113" y="240"/>
                </a:cxn>
              </a:cxnLst>
              <a:rect l="0" t="0" r="r" b="b"/>
              <a:pathLst>
                <a:path w="230" h="240">
                  <a:moveTo>
                    <a:pt x="113" y="240"/>
                  </a:moveTo>
                  <a:lnTo>
                    <a:pt x="230" y="214"/>
                  </a:lnTo>
                  <a:lnTo>
                    <a:pt x="230" y="214"/>
                  </a:lnTo>
                  <a:lnTo>
                    <a:pt x="225" y="197"/>
                  </a:lnTo>
                  <a:lnTo>
                    <a:pt x="218" y="179"/>
                  </a:lnTo>
                  <a:lnTo>
                    <a:pt x="211" y="162"/>
                  </a:lnTo>
                  <a:lnTo>
                    <a:pt x="203" y="146"/>
                  </a:lnTo>
                  <a:lnTo>
                    <a:pt x="194" y="129"/>
                  </a:lnTo>
                  <a:lnTo>
                    <a:pt x="183" y="114"/>
                  </a:lnTo>
                  <a:lnTo>
                    <a:pt x="173" y="99"/>
                  </a:lnTo>
                  <a:lnTo>
                    <a:pt x="160" y="85"/>
                  </a:lnTo>
                  <a:lnTo>
                    <a:pt x="147" y="71"/>
                  </a:lnTo>
                  <a:lnTo>
                    <a:pt x="134" y="58"/>
                  </a:lnTo>
                  <a:lnTo>
                    <a:pt x="119" y="47"/>
                  </a:lnTo>
                  <a:lnTo>
                    <a:pt x="104" y="35"/>
                  </a:lnTo>
                  <a:lnTo>
                    <a:pt x="88" y="25"/>
                  </a:lnTo>
                  <a:lnTo>
                    <a:pt x="72" y="15"/>
                  </a:lnTo>
                  <a:lnTo>
                    <a:pt x="54" y="7"/>
                  </a:lnTo>
                  <a:lnTo>
                    <a:pt x="36" y="0"/>
                  </a:lnTo>
                  <a:lnTo>
                    <a:pt x="0" y="112"/>
                  </a:lnTo>
                  <a:lnTo>
                    <a:pt x="0" y="112"/>
                  </a:lnTo>
                  <a:lnTo>
                    <a:pt x="20" y="122"/>
                  </a:lnTo>
                  <a:lnTo>
                    <a:pt x="39" y="134"/>
                  </a:lnTo>
                  <a:lnTo>
                    <a:pt x="57" y="148"/>
                  </a:lnTo>
                  <a:lnTo>
                    <a:pt x="72" y="164"/>
                  </a:lnTo>
                  <a:lnTo>
                    <a:pt x="86" y="181"/>
                  </a:lnTo>
                  <a:lnTo>
                    <a:pt x="97" y="199"/>
                  </a:lnTo>
                  <a:lnTo>
                    <a:pt x="106" y="219"/>
                  </a:lnTo>
                  <a:lnTo>
                    <a:pt x="113" y="240"/>
                  </a:lnTo>
                  <a:lnTo>
                    <a:pt x="113" y="24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13" name="Freeform 17"/>
            <p:cNvSpPr>
              <a:spLocks/>
            </p:cNvSpPr>
            <p:nvPr/>
          </p:nvSpPr>
          <p:spPr bwMode="auto">
            <a:xfrm>
              <a:off x="770" y="435"/>
              <a:ext cx="81" cy="46"/>
            </a:xfrm>
            <a:custGeom>
              <a:avLst/>
              <a:gdLst/>
              <a:ahLst/>
              <a:cxnLst>
                <a:cxn ang="0">
                  <a:pos x="37" y="36"/>
                </a:cxn>
                <a:cxn ang="0">
                  <a:pos x="0" y="148"/>
                </a:cxn>
                <a:cxn ang="0">
                  <a:pos x="0" y="148"/>
                </a:cxn>
                <a:cxn ang="0">
                  <a:pos x="19" y="153"/>
                </a:cxn>
                <a:cxn ang="0">
                  <a:pos x="38" y="156"/>
                </a:cxn>
                <a:cxn ang="0">
                  <a:pos x="57" y="158"/>
                </a:cxn>
                <a:cxn ang="0">
                  <a:pos x="76" y="159"/>
                </a:cxn>
                <a:cxn ang="0">
                  <a:pos x="96" y="159"/>
                </a:cxn>
                <a:cxn ang="0">
                  <a:pos x="114" y="158"/>
                </a:cxn>
                <a:cxn ang="0">
                  <a:pos x="133" y="155"/>
                </a:cxn>
                <a:cxn ang="0">
                  <a:pos x="150" y="152"/>
                </a:cxn>
                <a:cxn ang="0">
                  <a:pos x="169" y="147"/>
                </a:cxn>
                <a:cxn ang="0">
                  <a:pos x="186" y="141"/>
                </a:cxn>
                <a:cxn ang="0">
                  <a:pos x="204" y="136"/>
                </a:cxn>
                <a:cxn ang="0">
                  <a:pos x="220" y="127"/>
                </a:cxn>
                <a:cxn ang="0">
                  <a:pos x="238" y="119"/>
                </a:cxn>
                <a:cxn ang="0">
                  <a:pos x="253" y="110"/>
                </a:cxn>
                <a:cxn ang="0">
                  <a:pos x="268" y="99"/>
                </a:cxn>
                <a:cxn ang="0">
                  <a:pos x="283" y="88"/>
                </a:cxn>
                <a:cxn ang="0">
                  <a:pos x="204" y="0"/>
                </a:cxn>
                <a:cxn ang="0">
                  <a:pos x="204" y="0"/>
                </a:cxn>
                <a:cxn ang="0">
                  <a:pos x="185" y="12"/>
                </a:cxn>
                <a:cxn ang="0">
                  <a:pos x="167" y="23"/>
                </a:cxn>
                <a:cxn ang="0">
                  <a:pos x="146" y="31"/>
                </a:cxn>
                <a:cxn ang="0">
                  <a:pos x="125" y="37"/>
                </a:cxn>
                <a:cxn ang="0">
                  <a:pos x="104" y="40"/>
                </a:cxn>
                <a:cxn ang="0">
                  <a:pos x="82" y="41"/>
                </a:cxn>
                <a:cxn ang="0">
                  <a:pos x="59" y="39"/>
                </a:cxn>
                <a:cxn ang="0">
                  <a:pos x="37" y="36"/>
                </a:cxn>
                <a:cxn ang="0">
                  <a:pos x="37" y="36"/>
                </a:cxn>
              </a:cxnLst>
              <a:rect l="0" t="0" r="r" b="b"/>
              <a:pathLst>
                <a:path w="283" h="159">
                  <a:moveTo>
                    <a:pt x="37" y="36"/>
                  </a:moveTo>
                  <a:lnTo>
                    <a:pt x="0" y="148"/>
                  </a:lnTo>
                  <a:lnTo>
                    <a:pt x="0" y="148"/>
                  </a:lnTo>
                  <a:lnTo>
                    <a:pt x="19" y="153"/>
                  </a:lnTo>
                  <a:lnTo>
                    <a:pt x="38" y="156"/>
                  </a:lnTo>
                  <a:lnTo>
                    <a:pt x="57" y="158"/>
                  </a:lnTo>
                  <a:lnTo>
                    <a:pt x="76" y="159"/>
                  </a:lnTo>
                  <a:lnTo>
                    <a:pt x="96" y="159"/>
                  </a:lnTo>
                  <a:lnTo>
                    <a:pt x="114" y="158"/>
                  </a:lnTo>
                  <a:lnTo>
                    <a:pt x="133" y="155"/>
                  </a:lnTo>
                  <a:lnTo>
                    <a:pt x="150" y="152"/>
                  </a:lnTo>
                  <a:lnTo>
                    <a:pt x="169" y="147"/>
                  </a:lnTo>
                  <a:lnTo>
                    <a:pt x="186" y="141"/>
                  </a:lnTo>
                  <a:lnTo>
                    <a:pt x="204" y="136"/>
                  </a:lnTo>
                  <a:lnTo>
                    <a:pt x="220" y="127"/>
                  </a:lnTo>
                  <a:lnTo>
                    <a:pt x="238" y="119"/>
                  </a:lnTo>
                  <a:lnTo>
                    <a:pt x="253" y="110"/>
                  </a:lnTo>
                  <a:lnTo>
                    <a:pt x="268" y="99"/>
                  </a:lnTo>
                  <a:lnTo>
                    <a:pt x="283" y="88"/>
                  </a:lnTo>
                  <a:lnTo>
                    <a:pt x="204" y="0"/>
                  </a:lnTo>
                  <a:lnTo>
                    <a:pt x="204" y="0"/>
                  </a:lnTo>
                  <a:lnTo>
                    <a:pt x="185" y="12"/>
                  </a:lnTo>
                  <a:lnTo>
                    <a:pt x="167" y="23"/>
                  </a:lnTo>
                  <a:lnTo>
                    <a:pt x="146" y="31"/>
                  </a:lnTo>
                  <a:lnTo>
                    <a:pt x="125" y="37"/>
                  </a:lnTo>
                  <a:lnTo>
                    <a:pt x="104" y="40"/>
                  </a:lnTo>
                  <a:lnTo>
                    <a:pt x="82" y="41"/>
                  </a:lnTo>
                  <a:lnTo>
                    <a:pt x="59" y="39"/>
                  </a:lnTo>
                  <a:lnTo>
                    <a:pt x="37" y="36"/>
                  </a:lnTo>
                  <a:lnTo>
                    <a:pt x="37" y="36"/>
                  </a:lnTo>
                  <a:close/>
                </a:path>
              </a:pathLst>
            </a:custGeom>
            <a:solidFill>
              <a:schemeClr val="accent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124" name="Group 28"/>
          <p:cNvGrpSpPr>
            <a:grpSpLocks/>
          </p:cNvGrpSpPr>
          <p:nvPr/>
        </p:nvGrpSpPr>
        <p:grpSpPr bwMode="auto">
          <a:xfrm>
            <a:off x="8494713" y="5792788"/>
            <a:ext cx="554037" cy="552450"/>
            <a:chOff x="5369" y="3667"/>
            <a:chExt cx="349" cy="348"/>
          </a:xfrm>
        </p:grpSpPr>
        <p:sp>
          <p:nvSpPr>
            <p:cNvPr id="4125" name="Freeform 29"/>
            <p:cNvSpPr>
              <a:spLocks/>
            </p:cNvSpPr>
            <p:nvPr/>
          </p:nvSpPr>
          <p:spPr bwMode="auto">
            <a:xfrm>
              <a:off x="5396" y="3667"/>
              <a:ext cx="138" cy="112"/>
            </a:xfrm>
            <a:custGeom>
              <a:avLst/>
              <a:gdLst/>
              <a:ahLst/>
              <a:cxnLst>
                <a:cxn ang="0">
                  <a:pos x="182" y="86"/>
                </a:cxn>
                <a:cxn ang="0">
                  <a:pos x="182" y="0"/>
                </a:cxn>
                <a:cxn ang="0">
                  <a:pos x="182" y="0"/>
                </a:cxn>
                <a:cxn ang="0">
                  <a:pos x="154" y="2"/>
                </a:cxn>
                <a:cxn ang="0">
                  <a:pos x="128" y="10"/>
                </a:cxn>
                <a:cxn ang="0">
                  <a:pos x="102" y="18"/>
                </a:cxn>
                <a:cxn ang="0">
                  <a:pos x="78" y="30"/>
                </a:cxn>
                <a:cxn ang="0">
                  <a:pos x="56" y="46"/>
                </a:cxn>
                <a:cxn ang="0">
                  <a:pos x="36" y="64"/>
                </a:cxn>
                <a:cxn ang="0">
                  <a:pos x="16" y="82"/>
                </a:cxn>
                <a:cxn ang="0">
                  <a:pos x="0" y="104"/>
                </a:cxn>
                <a:cxn ang="0">
                  <a:pos x="76" y="148"/>
                </a:cxn>
                <a:cxn ang="0">
                  <a:pos x="76" y="148"/>
                </a:cxn>
                <a:cxn ang="0">
                  <a:pos x="86" y="136"/>
                </a:cxn>
                <a:cxn ang="0">
                  <a:pos x="96" y="124"/>
                </a:cxn>
                <a:cxn ang="0">
                  <a:pos x="108" y="114"/>
                </a:cxn>
                <a:cxn ang="0">
                  <a:pos x="122" y="104"/>
                </a:cxn>
                <a:cxn ang="0">
                  <a:pos x="136" y="98"/>
                </a:cxn>
                <a:cxn ang="0">
                  <a:pos x="150" y="92"/>
                </a:cxn>
                <a:cxn ang="0">
                  <a:pos x="166" y="88"/>
                </a:cxn>
                <a:cxn ang="0">
                  <a:pos x="182" y="86"/>
                </a:cxn>
                <a:cxn ang="0">
                  <a:pos x="182" y="86"/>
                </a:cxn>
              </a:cxnLst>
              <a:rect l="0" t="0" r="r" b="b"/>
              <a:pathLst>
                <a:path w="182" h="148">
                  <a:moveTo>
                    <a:pt x="182" y="86"/>
                  </a:moveTo>
                  <a:lnTo>
                    <a:pt x="182" y="0"/>
                  </a:lnTo>
                  <a:lnTo>
                    <a:pt x="182" y="0"/>
                  </a:lnTo>
                  <a:lnTo>
                    <a:pt x="154" y="2"/>
                  </a:lnTo>
                  <a:lnTo>
                    <a:pt x="128" y="10"/>
                  </a:lnTo>
                  <a:lnTo>
                    <a:pt x="102" y="18"/>
                  </a:lnTo>
                  <a:lnTo>
                    <a:pt x="78" y="30"/>
                  </a:lnTo>
                  <a:lnTo>
                    <a:pt x="56" y="46"/>
                  </a:lnTo>
                  <a:lnTo>
                    <a:pt x="36" y="64"/>
                  </a:lnTo>
                  <a:lnTo>
                    <a:pt x="16" y="82"/>
                  </a:lnTo>
                  <a:lnTo>
                    <a:pt x="0" y="104"/>
                  </a:lnTo>
                  <a:lnTo>
                    <a:pt x="76" y="148"/>
                  </a:lnTo>
                  <a:lnTo>
                    <a:pt x="76" y="148"/>
                  </a:lnTo>
                  <a:lnTo>
                    <a:pt x="86" y="136"/>
                  </a:lnTo>
                  <a:lnTo>
                    <a:pt x="96" y="124"/>
                  </a:lnTo>
                  <a:lnTo>
                    <a:pt x="108" y="114"/>
                  </a:lnTo>
                  <a:lnTo>
                    <a:pt x="122" y="104"/>
                  </a:lnTo>
                  <a:lnTo>
                    <a:pt x="136" y="98"/>
                  </a:lnTo>
                  <a:lnTo>
                    <a:pt x="150" y="92"/>
                  </a:lnTo>
                  <a:lnTo>
                    <a:pt x="166" y="88"/>
                  </a:lnTo>
                  <a:lnTo>
                    <a:pt x="182" y="86"/>
                  </a:lnTo>
                  <a:lnTo>
                    <a:pt x="182" y="86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26" name="Freeform 30"/>
            <p:cNvSpPr>
              <a:spLocks/>
            </p:cNvSpPr>
            <p:nvPr/>
          </p:nvSpPr>
          <p:spPr bwMode="auto">
            <a:xfrm>
              <a:off x="5642" y="3761"/>
              <a:ext cx="76" cy="160"/>
            </a:xfrm>
            <a:custGeom>
              <a:avLst/>
              <a:gdLst/>
              <a:ahLst/>
              <a:cxnLst>
                <a:cxn ang="0">
                  <a:pos x="14" y="106"/>
                </a:cxn>
                <a:cxn ang="0">
                  <a:pos x="14" y="106"/>
                </a:cxn>
                <a:cxn ang="0">
                  <a:pos x="14" y="122"/>
                </a:cxn>
                <a:cxn ang="0">
                  <a:pos x="10" y="138"/>
                </a:cxn>
                <a:cxn ang="0">
                  <a:pos x="6" y="152"/>
                </a:cxn>
                <a:cxn ang="0">
                  <a:pos x="0" y="168"/>
                </a:cxn>
                <a:cxn ang="0">
                  <a:pos x="74" y="210"/>
                </a:cxn>
                <a:cxn ang="0">
                  <a:pos x="74" y="210"/>
                </a:cxn>
                <a:cxn ang="0">
                  <a:pos x="86" y="186"/>
                </a:cxn>
                <a:cxn ang="0">
                  <a:pos x="94" y="160"/>
                </a:cxn>
                <a:cxn ang="0">
                  <a:pos x="98" y="134"/>
                </a:cxn>
                <a:cxn ang="0">
                  <a:pos x="100" y="106"/>
                </a:cxn>
                <a:cxn ang="0">
                  <a:pos x="100" y="106"/>
                </a:cxn>
                <a:cxn ang="0">
                  <a:pos x="98" y="78"/>
                </a:cxn>
                <a:cxn ang="0">
                  <a:pos x="94" y="50"/>
                </a:cxn>
                <a:cxn ang="0">
                  <a:pos x="86" y="24"/>
                </a:cxn>
                <a:cxn ang="0">
                  <a:pos x="74" y="0"/>
                </a:cxn>
                <a:cxn ang="0">
                  <a:pos x="0" y="44"/>
                </a:cxn>
                <a:cxn ang="0">
                  <a:pos x="0" y="44"/>
                </a:cxn>
                <a:cxn ang="0">
                  <a:pos x="6" y="58"/>
                </a:cxn>
                <a:cxn ang="0">
                  <a:pos x="10" y="72"/>
                </a:cxn>
                <a:cxn ang="0">
                  <a:pos x="14" y="88"/>
                </a:cxn>
                <a:cxn ang="0">
                  <a:pos x="14" y="106"/>
                </a:cxn>
                <a:cxn ang="0">
                  <a:pos x="14" y="106"/>
                </a:cxn>
              </a:cxnLst>
              <a:rect l="0" t="0" r="r" b="b"/>
              <a:pathLst>
                <a:path w="100" h="210">
                  <a:moveTo>
                    <a:pt x="14" y="106"/>
                  </a:moveTo>
                  <a:lnTo>
                    <a:pt x="14" y="106"/>
                  </a:lnTo>
                  <a:lnTo>
                    <a:pt x="14" y="122"/>
                  </a:lnTo>
                  <a:lnTo>
                    <a:pt x="10" y="138"/>
                  </a:lnTo>
                  <a:lnTo>
                    <a:pt x="6" y="152"/>
                  </a:lnTo>
                  <a:lnTo>
                    <a:pt x="0" y="168"/>
                  </a:lnTo>
                  <a:lnTo>
                    <a:pt x="74" y="210"/>
                  </a:lnTo>
                  <a:lnTo>
                    <a:pt x="74" y="210"/>
                  </a:lnTo>
                  <a:lnTo>
                    <a:pt x="86" y="186"/>
                  </a:lnTo>
                  <a:lnTo>
                    <a:pt x="94" y="160"/>
                  </a:lnTo>
                  <a:lnTo>
                    <a:pt x="98" y="134"/>
                  </a:lnTo>
                  <a:lnTo>
                    <a:pt x="100" y="106"/>
                  </a:lnTo>
                  <a:lnTo>
                    <a:pt x="100" y="106"/>
                  </a:lnTo>
                  <a:lnTo>
                    <a:pt x="98" y="78"/>
                  </a:lnTo>
                  <a:lnTo>
                    <a:pt x="94" y="50"/>
                  </a:lnTo>
                  <a:lnTo>
                    <a:pt x="86" y="24"/>
                  </a:lnTo>
                  <a:lnTo>
                    <a:pt x="74" y="0"/>
                  </a:lnTo>
                  <a:lnTo>
                    <a:pt x="0" y="44"/>
                  </a:lnTo>
                  <a:lnTo>
                    <a:pt x="0" y="44"/>
                  </a:lnTo>
                  <a:lnTo>
                    <a:pt x="6" y="58"/>
                  </a:lnTo>
                  <a:lnTo>
                    <a:pt x="10" y="72"/>
                  </a:lnTo>
                  <a:lnTo>
                    <a:pt x="14" y="88"/>
                  </a:lnTo>
                  <a:lnTo>
                    <a:pt x="14" y="106"/>
                  </a:lnTo>
                  <a:lnTo>
                    <a:pt x="14" y="106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27" name="Freeform 31"/>
            <p:cNvSpPr>
              <a:spLocks/>
            </p:cNvSpPr>
            <p:nvPr/>
          </p:nvSpPr>
          <p:spPr bwMode="auto">
            <a:xfrm>
              <a:off x="5369" y="3761"/>
              <a:ext cx="76" cy="160"/>
            </a:xfrm>
            <a:custGeom>
              <a:avLst/>
              <a:gdLst/>
              <a:ahLst/>
              <a:cxnLst>
                <a:cxn ang="0">
                  <a:pos x="86" y="106"/>
                </a:cxn>
                <a:cxn ang="0">
                  <a:pos x="86" y="106"/>
                </a:cxn>
                <a:cxn ang="0">
                  <a:pos x="86" y="88"/>
                </a:cxn>
                <a:cxn ang="0">
                  <a:pos x="90" y="72"/>
                </a:cxn>
                <a:cxn ang="0">
                  <a:pos x="94" y="58"/>
                </a:cxn>
                <a:cxn ang="0">
                  <a:pos x="100" y="44"/>
                </a:cxn>
                <a:cxn ang="0">
                  <a:pos x="26" y="0"/>
                </a:cxn>
                <a:cxn ang="0">
                  <a:pos x="26" y="0"/>
                </a:cxn>
                <a:cxn ang="0">
                  <a:pos x="14" y="24"/>
                </a:cxn>
                <a:cxn ang="0">
                  <a:pos x="6" y="50"/>
                </a:cxn>
                <a:cxn ang="0">
                  <a:pos x="2" y="78"/>
                </a:cxn>
                <a:cxn ang="0">
                  <a:pos x="0" y="106"/>
                </a:cxn>
                <a:cxn ang="0">
                  <a:pos x="0" y="106"/>
                </a:cxn>
                <a:cxn ang="0">
                  <a:pos x="2" y="134"/>
                </a:cxn>
                <a:cxn ang="0">
                  <a:pos x="6" y="160"/>
                </a:cxn>
                <a:cxn ang="0">
                  <a:pos x="14" y="186"/>
                </a:cxn>
                <a:cxn ang="0">
                  <a:pos x="26" y="210"/>
                </a:cxn>
                <a:cxn ang="0">
                  <a:pos x="100" y="168"/>
                </a:cxn>
                <a:cxn ang="0">
                  <a:pos x="100" y="168"/>
                </a:cxn>
                <a:cxn ang="0">
                  <a:pos x="94" y="152"/>
                </a:cxn>
                <a:cxn ang="0">
                  <a:pos x="90" y="138"/>
                </a:cxn>
                <a:cxn ang="0">
                  <a:pos x="86" y="122"/>
                </a:cxn>
                <a:cxn ang="0">
                  <a:pos x="86" y="106"/>
                </a:cxn>
                <a:cxn ang="0">
                  <a:pos x="86" y="106"/>
                </a:cxn>
              </a:cxnLst>
              <a:rect l="0" t="0" r="r" b="b"/>
              <a:pathLst>
                <a:path w="100" h="210">
                  <a:moveTo>
                    <a:pt x="86" y="106"/>
                  </a:moveTo>
                  <a:lnTo>
                    <a:pt x="86" y="106"/>
                  </a:lnTo>
                  <a:lnTo>
                    <a:pt x="86" y="88"/>
                  </a:lnTo>
                  <a:lnTo>
                    <a:pt x="90" y="72"/>
                  </a:lnTo>
                  <a:lnTo>
                    <a:pt x="94" y="58"/>
                  </a:lnTo>
                  <a:lnTo>
                    <a:pt x="100" y="44"/>
                  </a:lnTo>
                  <a:lnTo>
                    <a:pt x="26" y="0"/>
                  </a:lnTo>
                  <a:lnTo>
                    <a:pt x="26" y="0"/>
                  </a:lnTo>
                  <a:lnTo>
                    <a:pt x="14" y="24"/>
                  </a:lnTo>
                  <a:lnTo>
                    <a:pt x="6" y="50"/>
                  </a:lnTo>
                  <a:lnTo>
                    <a:pt x="2" y="78"/>
                  </a:lnTo>
                  <a:lnTo>
                    <a:pt x="0" y="106"/>
                  </a:lnTo>
                  <a:lnTo>
                    <a:pt x="0" y="106"/>
                  </a:lnTo>
                  <a:lnTo>
                    <a:pt x="2" y="134"/>
                  </a:lnTo>
                  <a:lnTo>
                    <a:pt x="6" y="160"/>
                  </a:lnTo>
                  <a:lnTo>
                    <a:pt x="14" y="186"/>
                  </a:lnTo>
                  <a:lnTo>
                    <a:pt x="26" y="210"/>
                  </a:lnTo>
                  <a:lnTo>
                    <a:pt x="100" y="168"/>
                  </a:lnTo>
                  <a:lnTo>
                    <a:pt x="100" y="168"/>
                  </a:lnTo>
                  <a:lnTo>
                    <a:pt x="94" y="152"/>
                  </a:lnTo>
                  <a:lnTo>
                    <a:pt x="90" y="138"/>
                  </a:lnTo>
                  <a:lnTo>
                    <a:pt x="86" y="122"/>
                  </a:lnTo>
                  <a:lnTo>
                    <a:pt x="86" y="106"/>
                  </a:lnTo>
                  <a:lnTo>
                    <a:pt x="86" y="106"/>
                  </a:ln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28" name="Freeform 32"/>
            <p:cNvSpPr>
              <a:spLocks/>
            </p:cNvSpPr>
            <p:nvPr/>
          </p:nvSpPr>
          <p:spPr bwMode="auto">
            <a:xfrm>
              <a:off x="5396" y="3902"/>
              <a:ext cx="138" cy="113"/>
            </a:xfrm>
            <a:custGeom>
              <a:avLst/>
              <a:gdLst/>
              <a:ahLst/>
              <a:cxnLst>
                <a:cxn ang="0">
                  <a:pos x="76" y="0"/>
                </a:cxn>
                <a:cxn ang="0">
                  <a:pos x="0" y="44"/>
                </a:cxn>
                <a:cxn ang="0">
                  <a:pos x="0" y="44"/>
                </a:cxn>
                <a:cxn ang="0">
                  <a:pos x="16" y="66"/>
                </a:cxn>
                <a:cxn ang="0">
                  <a:pos x="36" y="84"/>
                </a:cxn>
                <a:cxn ang="0">
                  <a:pos x="56" y="102"/>
                </a:cxn>
                <a:cxn ang="0">
                  <a:pos x="78" y="118"/>
                </a:cxn>
                <a:cxn ang="0">
                  <a:pos x="102" y="130"/>
                </a:cxn>
                <a:cxn ang="0">
                  <a:pos x="128" y="138"/>
                </a:cxn>
                <a:cxn ang="0">
                  <a:pos x="154" y="146"/>
                </a:cxn>
                <a:cxn ang="0">
                  <a:pos x="182" y="148"/>
                </a:cxn>
                <a:cxn ang="0">
                  <a:pos x="182" y="62"/>
                </a:cxn>
                <a:cxn ang="0">
                  <a:pos x="182" y="62"/>
                </a:cxn>
                <a:cxn ang="0">
                  <a:pos x="166" y="60"/>
                </a:cxn>
                <a:cxn ang="0">
                  <a:pos x="150" y="56"/>
                </a:cxn>
                <a:cxn ang="0">
                  <a:pos x="136" y="50"/>
                </a:cxn>
                <a:cxn ang="0">
                  <a:pos x="122" y="44"/>
                </a:cxn>
                <a:cxn ang="0">
                  <a:pos x="108" y="34"/>
                </a:cxn>
                <a:cxn ang="0">
                  <a:pos x="96" y="24"/>
                </a:cxn>
                <a:cxn ang="0">
                  <a:pos x="86" y="14"/>
                </a:cxn>
                <a:cxn ang="0">
                  <a:pos x="76" y="0"/>
                </a:cxn>
                <a:cxn ang="0">
                  <a:pos x="76" y="0"/>
                </a:cxn>
              </a:cxnLst>
              <a:rect l="0" t="0" r="r" b="b"/>
              <a:pathLst>
                <a:path w="182" h="148">
                  <a:moveTo>
                    <a:pt x="76" y="0"/>
                  </a:moveTo>
                  <a:lnTo>
                    <a:pt x="0" y="44"/>
                  </a:lnTo>
                  <a:lnTo>
                    <a:pt x="0" y="44"/>
                  </a:lnTo>
                  <a:lnTo>
                    <a:pt x="16" y="66"/>
                  </a:lnTo>
                  <a:lnTo>
                    <a:pt x="36" y="84"/>
                  </a:lnTo>
                  <a:lnTo>
                    <a:pt x="56" y="102"/>
                  </a:lnTo>
                  <a:lnTo>
                    <a:pt x="78" y="118"/>
                  </a:lnTo>
                  <a:lnTo>
                    <a:pt x="102" y="130"/>
                  </a:lnTo>
                  <a:lnTo>
                    <a:pt x="128" y="138"/>
                  </a:lnTo>
                  <a:lnTo>
                    <a:pt x="154" y="146"/>
                  </a:lnTo>
                  <a:lnTo>
                    <a:pt x="182" y="148"/>
                  </a:lnTo>
                  <a:lnTo>
                    <a:pt x="182" y="62"/>
                  </a:lnTo>
                  <a:lnTo>
                    <a:pt x="182" y="62"/>
                  </a:lnTo>
                  <a:lnTo>
                    <a:pt x="166" y="60"/>
                  </a:lnTo>
                  <a:lnTo>
                    <a:pt x="150" y="56"/>
                  </a:lnTo>
                  <a:lnTo>
                    <a:pt x="136" y="50"/>
                  </a:lnTo>
                  <a:lnTo>
                    <a:pt x="122" y="44"/>
                  </a:lnTo>
                  <a:lnTo>
                    <a:pt x="108" y="34"/>
                  </a:lnTo>
                  <a:lnTo>
                    <a:pt x="96" y="24"/>
                  </a:lnTo>
                  <a:lnTo>
                    <a:pt x="86" y="14"/>
                  </a:lnTo>
                  <a:lnTo>
                    <a:pt x="76" y="0"/>
                  </a:lnTo>
                  <a:lnTo>
                    <a:pt x="76" y="0"/>
                  </a:ln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29" name="Freeform 33"/>
            <p:cNvSpPr>
              <a:spLocks/>
            </p:cNvSpPr>
            <p:nvPr/>
          </p:nvSpPr>
          <p:spPr bwMode="auto">
            <a:xfrm>
              <a:off x="5553" y="3667"/>
              <a:ext cx="138" cy="112"/>
            </a:xfrm>
            <a:custGeom>
              <a:avLst/>
              <a:gdLst/>
              <a:ahLst/>
              <a:cxnLst>
                <a:cxn ang="0">
                  <a:pos x="106" y="148"/>
                </a:cxn>
                <a:cxn ang="0">
                  <a:pos x="182" y="104"/>
                </a:cxn>
                <a:cxn ang="0">
                  <a:pos x="182" y="104"/>
                </a:cxn>
                <a:cxn ang="0">
                  <a:pos x="166" y="82"/>
                </a:cxn>
                <a:cxn ang="0">
                  <a:pos x="148" y="64"/>
                </a:cxn>
                <a:cxn ang="0">
                  <a:pos x="126" y="46"/>
                </a:cxn>
                <a:cxn ang="0">
                  <a:pos x="104" y="30"/>
                </a:cxn>
                <a:cxn ang="0">
                  <a:pos x="80" y="18"/>
                </a:cxn>
                <a:cxn ang="0">
                  <a:pos x="54" y="10"/>
                </a:cxn>
                <a:cxn ang="0">
                  <a:pos x="28" y="2"/>
                </a:cxn>
                <a:cxn ang="0">
                  <a:pos x="0" y="0"/>
                </a:cxn>
                <a:cxn ang="0">
                  <a:pos x="0" y="86"/>
                </a:cxn>
                <a:cxn ang="0">
                  <a:pos x="0" y="86"/>
                </a:cxn>
                <a:cxn ang="0">
                  <a:pos x="16" y="88"/>
                </a:cxn>
                <a:cxn ang="0">
                  <a:pos x="32" y="92"/>
                </a:cxn>
                <a:cxn ang="0">
                  <a:pos x="46" y="98"/>
                </a:cxn>
                <a:cxn ang="0">
                  <a:pos x="60" y="104"/>
                </a:cxn>
                <a:cxn ang="0">
                  <a:pos x="74" y="114"/>
                </a:cxn>
                <a:cxn ang="0">
                  <a:pos x="86" y="124"/>
                </a:cxn>
                <a:cxn ang="0">
                  <a:pos x="98" y="136"/>
                </a:cxn>
                <a:cxn ang="0">
                  <a:pos x="106" y="148"/>
                </a:cxn>
                <a:cxn ang="0">
                  <a:pos x="106" y="148"/>
                </a:cxn>
              </a:cxnLst>
              <a:rect l="0" t="0" r="r" b="b"/>
              <a:pathLst>
                <a:path w="182" h="148">
                  <a:moveTo>
                    <a:pt x="106" y="148"/>
                  </a:moveTo>
                  <a:lnTo>
                    <a:pt x="182" y="104"/>
                  </a:lnTo>
                  <a:lnTo>
                    <a:pt x="182" y="104"/>
                  </a:lnTo>
                  <a:lnTo>
                    <a:pt x="166" y="82"/>
                  </a:lnTo>
                  <a:lnTo>
                    <a:pt x="148" y="64"/>
                  </a:lnTo>
                  <a:lnTo>
                    <a:pt x="126" y="46"/>
                  </a:lnTo>
                  <a:lnTo>
                    <a:pt x="104" y="30"/>
                  </a:lnTo>
                  <a:lnTo>
                    <a:pt x="80" y="18"/>
                  </a:lnTo>
                  <a:lnTo>
                    <a:pt x="54" y="10"/>
                  </a:lnTo>
                  <a:lnTo>
                    <a:pt x="28" y="2"/>
                  </a:lnTo>
                  <a:lnTo>
                    <a:pt x="0" y="0"/>
                  </a:lnTo>
                  <a:lnTo>
                    <a:pt x="0" y="86"/>
                  </a:lnTo>
                  <a:lnTo>
                    <a:pt x="0" y="86"/>
                  </a:lnTo>
                  <a:lnTo>
                    <a:pt x="16" y="88"/>
                  </a:lnTo>
                  <a:lnTo>
                    <a:pt x="32" y="92"/>
                  </a:lnTo>
                  <a:lnTo>
                    <a:pt x="46" y="98"/>
                  </a:lnTo>
                  <a:lnTo>
                    <a:pt x="60" y="104"/>
                  </a:lnTo>
                  <a:lnTo>
                    <a:pt x="74" y="114"/>
                  </a:lnTo>
                  <a:lnTo>
                    <a:pt x="86" y="124"/>
                  </a:lnTo>
                  <a:lnTo>
                    <a:pt x="98" y="136"/>
                  </a:lnTo>
                  <a:lnTo>
                    <a:pt x="106" y="148"/>
                  </a:lnTo>
                  <a:lnTo>
                    <a:pt x="106" y="148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30" name="Freeform 34"/>
            <p:cNvSpPr>
              <a:spLocks/>
            </p:cNvSpPr>
            <p:nvPr/>
          </p:nvSpPr>
          <p:spPr bwMode="auto">
            <a:xfrm>
              <a:off x="5553" y="3902"/>
              <a:ext cx="138" cy="113"/>
            </a:xfrm>
            <a:custGeom>
              <a:avLst/>
              <a:gdLst/>
              <a:ahLst/>
              <a:cxnLst>
                <a:cxn ang="0">
                  <a:pos x="0" y="62"/>
                </a:cxn>
                <a:cxn ang="0">
                  <a:pos x="0" y="148"/>
                </a:cxn>
                <a:cxn ang="0">
                  <a:pos x="0" y="148"/>
                </a:cxn>
                <a:cxn ang="0">
                  <a:pos x="28" y="146"/>
                </a:cxn>
                <a:cxn ang="0">
                  <a:pos x="54" y="138"/>
                </a:cxn>
                <a:cxn ang="0">
                  <a:pos x="80" y="130"/>
                </a:cxn>
                <a:cxn ang="0">
                  <a:pos x="104" y="118"/>
                </a:cxn>
                <a:cxn ang="0">
                  <a:pos x="126" y="102"/>
                </a:cxn>
                <a:cxn ang="0">
                  <a:pos x="148" y="84"/>
                </a:cxn>
                <a:cxn ang="0">
                  <a:pos x="166" y="66"/>
                </a:cxn>
                <a:cxn ang="0">
                  <a:pos x="182" y="44"/>
                </a:cxn>
                <a:cxn ang="0">
                  <a:pos x="106" y="0"/>
                </a:cxn>
                <a:cxn ang="0">
                  <a:pos x="106" y="0"/>
                </a:cxn>
                <a:cxn ang="0">
                  <a:pos x="98" y="14"/>
                </a:cxn>
                <a:cxn ang="0">
                  <a:pos x="86" y="24"/>
                </a:cxn>
                <a:cxn ang="0">
                  <a:pos x="74" y="34"/>
                </a:cxn>
                <a:cxn ang="0">
                  <a:pos x="60" y="44"/>
                </a:cxn>
                <a:cxn ang="0">
                  <a:pos x="46" y="50"/>
                </a:cxn>
                <a:cxn ang="0">
                  <a:pos x="32" y="56"/>
                </a:cxn>
                <a:cxn ang="0">
                  <a:pos x="16" y="60"/>
                </a:cxn>
                <a:cxn ang="0">
                  <a:pos x="0" y="62"/>
                </a:cxn>
                <a:cxn ang="0">
                  <a:pos x="0" y="62"/>
                </a:cxn>
              </a:cxnLst>
              <a:rect l="0" t="0" r="r" b="b"/>
              <a:pathLst>
                <a:path w="182" h="148">
                  <a:moveTo>
                    <a:pt x="0" y="62"/>
                  </a:moveTo>
                  <a:lnTo>
                    <a:pt x="0" y="148"/>
                  </a:lnTo>
                  <a:lnTo>
                    <a:pt x="0" y="148"/>
                  </a:lnTo>
                  <a:lnTo>
                    <a:pt x="28" y="146"/>
                  </a:lnTo>
                  <a:lnTo>
                    <a:pt x="54" y="138"/>
                  </a:lnTo>
                  <a:lnTo>
                    <a:pt x="80" y="130"/>
                  </a:lnTo>
                  <a:lnTo>
                    <a:pt x="104" y="118"/>
                  </a:lnTo>
                  <a:lnTo>
                    <a:pt x="126" y="102"/>
                  </a:lnTo>
                  <a:lnTo>
                    <a:pt x="148" y="84"/>
                  </a:lnTo>
                  <a:lnTo>
                    <a:pt x="166" y="66"/>
                  </a:lnTo>
                  <a:lnTo>
                    <a:pt x="182" y="44"/>
                  </a:lnTo>
                  <a:lnTo>
                    <a:pt x="106" y="0"/>
                  </a:lnTo>
                  <a:lnTo>
                    <a:pt x="106" y="0"/>
                  </a:lnTo>
                  <a:lnTo>
                    <a:pt x="98" y="14"/>
                  </a:lnTo>
                  <a:lnTo>
                    <a:pt x="86" y="24"/>
                  </a:lnTo>
                  <a:lnTo>
                    <a:pt x="74" y="34"/>
                  </a:lnTo>
                  <a:lnTo>
                    <a:pt x="60" y="44"/>
                  </a:lnTo>
                  <a:lnTo>
                    <a:pt x="46" y="50"/>
                  </a:lnTo>
                  <a:lnTo>
                    <a:pt x="32" y="56"/>
                  </a:lnTo>
                  <a:lnTo>
                    <a:pt x="16" y="60"/>
                  </a:lnTo>
                  <a:lnTo>
                    <a:pt x="0" y="62"/>
                  </a:lnTo>
                  <a:lnTo>
                    <a:pt x="0" y="62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131" name="Group 35"/>
          <p:cNvGrpSpPr>
            <a:grpSpLocks/>
          </p:cNvGrpSpPr>
          <p:nvPr/>
        </p:nvGrpSpPr>
        <p:grpSpPr bwMode="auto">
          <a:xfrm>
            <a:off x="8113713" y="6221413"/>
            <a:ext cx="554037" cy="552450"/>
            <a:chOff x="5129" y="3937"/>
            <a:chExt cx="349" cy="348"/>
          </a:xfrm>
        </p:grpSpPr>
        <p:sp>
          <p:nvSpPr>
            <p:cNvPr id="4132" name="Freeform 36"/>
            <p:cNvSpPr>
              <a:spLocks/>
            </p:cNvSpPr>
            <p:nvPr/>
          </p:nvSpPr>
          <p:spPr bwMode="auto">
            <a:xfrm>
              <a:off x="5193" y="3937"/>
              <a:ext cx="156" cy="87"/>
            </a:xfrm>
            <a:custGeom>
              <a:avLst/>
              <a:gdLst/>
              <a:ahLst/>
              <a:cxnLst>
                <a:cxn ang="0">
                  <a:pos x="180" y="88"/>
                </a:cxn>
                <a:cxn ang="0">
                  <a:pos x="206" y="8"/>
                </a:cxn>
                <a:cxn ang="0">
                  <a:pos x="206" y="8"/>
                </a:cxn>
                <a:cxn ang="0">
                  <a:pos x="178" y="2"/>
                </a:cxn>
                <a:cxn ang="0">
                  <a:pos x="150" y="0"/>
                </a:cxn>
                <a:cxn ang="0">
                  <a:pos x="124" y="0"/>
                </a:cxn>
                <a:cxn ang="0">
                  <a:pos x="96" y="4"/>
                </a:cxn>
                <a:cxn ang="0">
                  <a:pos x="70" y="12"/>
                </a:cxn>
                <a:cxn ang="0">
                  <a:pos x="46" y="22"/>
                </a:cxn>
                <a:cxn ang="0">
                  <a:pos x="22" y="36"/>
                </a:cxn>
                <a:cxn ang="0">
                  <a:pos x="0" y="50"/>
                </a:cxn>
                <a:cxn ang="0">
                  <a:pos x="58" y="114"/>
                </a:cxn>
                <a:cxn ang="0">
                  <a:pos x="58" y="114"/>
                </a:cxn>
                <a:cxn ang="0">
                  <a:pos x="72" y="106"/>
                </a:cxn>
                <a:cxn ang="0">
                  <a:pos x="86" y="98"/>
                </a:cxn>
                <a:cxn ang="0">
                  <a:pos x="100" y="92"/>
                </a:cxn>
                <a:cxn ang="0">
                  <a:pos x="116" y="88"/>
                </a:cxn>
                <a:cxn ang="0">
                  <a:pos x="130" y="86"/>
                </a:cxn>
                <a:cxn ang="0">
                  <a:pos x="146" y="84"/>
                </a:cxn>
                <a:cxn ang="0">
                  <a:pos x="164" y="86"/>
                </a:cxn>
                <a:cxn ang="0">
                  <a:pos x="180" y="88"/>
                </a:cxn>
                <a:cxn ang="0">
                  <a:pos x="180" y="88"/>
                </a:cxn>
              </a:cxnLst>
              <a:rect l="0" t="0" r="r" b="b"/>
              <a:pathLst>
                <a:path w="206" h="114">
                  <a:moveTo>
                    <a:pt x="180" y="88"/>
                  </a:moveTo>
                  <a:lnTo>
                    <a:pt x="206" y="8"/>
                  </a:lnTo>
                  <a:lnTo>
                    <a:pt x="206" y="8"/>
                  </a:lnTo>
                  <a:lnTo>
                    <a:pt x="178" y="2"/>
                  </a:lnTo>
                  <a:lnTo>
                    <a:pt x="150" y="0"/>
                  </a:lnTo>
                  <a:lnTo>
                    <a:pt x="124" y="0"/>
                  </a:lnTo>
                  <a:lnTo>
                    <a:pt x="96" y="4"/>
                  </a:lnTo>
                  <a:lnTo>
                    <a:pt x="70" y="12"/>
                  </a:lnTo>
                  <a:lnTo>
                    <a:pt x="46" y="22"/>
                  </a:lnTo>
                  <a:lnTo>
                    <a:pt x="22" y="36"/>
                  </a:lnTo>
                  <a:lnTo>
                    <a:pt x="0" y="50"/>
                  </a:lnTo>
                  <a:lnTo>
                    <a:pt x="58" y="114"/>
                  </a:lnTo>
                  <a:lnTo>
                    <a:pt x="58" y="114"/>
                  </a:lnTo>
                  <a:lnTo>
                    <a:pt x="72" y="106"/>
                  </a:lnTo>
                  <a:lnTo>
                    <a:pt x="86" y="98"/>
                  </a:lnTo>
                  <a:lnTo>
                    <a:pt x="100" y="92"/>
                  </a:lnTo>
                  <a:lnTo>
                    <a:pt x="116" y="88"/>
                  </a:lnTo>
                  <a:lnTo>
                    <a:pt x="130" y="86"/>
                  </a:lnTo>
                  <a:lnTo>
                    <a:pt x="146" y="84"/>
                  </a:lnTo>
                  <a:lnTo>
                    <a:pt x="164" y="86"/>
                  </a:lnTo>
                  <a:lnTo>
                    <a:pt x="180" y="88"/>
                  </a:lnTo>
                  <a:lnTo>
                    <a:pt x="180" y="88"/>
                  </a:ln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33" name="Freeform 37"/>
            <p:cNvSpPr>
              <a:spLocks/>
            </p:cNvSpPr>
            <p:nvPr/>
          </p:nvSpPr>
          <p:spPr bwMode="auto">
            <a:xfrm>
              <a:off x="5383" y="4083"/>
              <a:ext cx="95" cy="152"/>
            </a:xfrm>
            <a:custGeom>
              <a:avLst/>
              <a:gdLst/>
              <a:ahLst/>
              <a:cxnLst>
                <a:cxn ang="0">
                  <a:pos x="32" y="82"/>
                </a:cxn>
                <a:cxn ang="0">
                  <a:pos x="32" y="82"/>
                </a:cxn>
                <a:cxn ang="0">
                  <a:pos x="26" y="96"/>
                </a:cxn>
                <a:cxn ang="0">
                  <a:pos x="20" y="110"/>
                </a:cxn>
                <a:cxn ang="0">
                  <a:pos x="10" y="124"/>
                </a:cxn>
                <a:cxn ang="0">
                  <a:pos x="0" y="136"/>
                </a:cxn>
                <a:cxn ang="0">
                  <a:pos x="58" y="200"/>
                </a:cxn>
                <a:cxn ang="0">
                  <a:pos x="58" y="200"/>
                </a:cxn>
                <a:cxn ang="0">
                  <a:pos x="76" y="180"/>
                </a:cxn>
                <a:cxn ang="0">
                  <a:pos x="92" y="158"/>
                </a:cxn>
                <a:cxn ang="0">
                  <a:pos x="104" y="134"/>
                </a:cxn>
                <a:cxn ang="0">
                  <a:pos x="114" y="108"/>
                </a:cxn>
                <a:cxn ang="0">
                  <a:pos x="114" y="108"/>
                </a:cxn>
                <a:cxn ang="0">
                  <a:pos x="122" y="80"/>
                </a:cxn>
                <a:cxn ang="0">
                  <a:pos x="126" y="54"/>
                </a:cxn>
                <a:cxn ang="0">
                  <a:pos x="126" y="26"/>
                </a:cxn>
                <a:cxn ang="0">
                  <a:pos x="122" y="0"/>
                </a:cxn>
                <a:cxn ang="0">
                  <a:pos x="38" y="18"/>
                </a:cxn>
                <a:cxn ang="0">
                  <a:pos x="38" y="18"/>
                </a:cxn>
                <a:cxn ang="0">
                  <a:pos x="40" y="34"/>
                </a:cxn>
                <a:cxn ang="0">
                  <a:pos x="40" y="50"/>
                </a:cxn>
                <a:cxn ang="0">
                  <a:pos x="38" y="66"/>
                </a:cxn>
                <a:cxn ang="0">
                  <a:pos x="32" y="82"/>
                </a:cxn>
                <a:cxn ang="0">
                  <a:pos x="32" y="82"/>
                </a:cxn>
              </a:cxnLst>
              <a:rect l="0" t="0" r="r" b="b"/>
              <a:pathLst>
                <a:path w="126" h="200">
                  <a:moveTo>
                    <a:pt x="32" y="82"/>
                  </a:moveTo>
                  <a:lnTo>
                    <a:pt x="32" y="82"/>
                  </a:lnTo>
                  <a:lnTo>
                    <a:pt x="26" y="96"/>
                  </a:lnTo>
                  <a:lnTo>
                    <a:pt x="20" y="110"/>
                  </a:lnTo>
                  <a:lnTo>
                    <a:pt x="10" y="124"/>
                  </a:lnTo>
                  <a:lnTo>
                    <a:pt x="0" y="136"/>
                  </a:lnTo>
                  <a:lnTo>
                    <a:pt x="58" y="200"/>
                  </a:lnTo>
                  <a:lnTo>
                    <a:pt x="58" y="200"/>
                  </a:lnTo>
                  <a:lnTo>
                    <a:pt x="76" y="180"/>
                  </a:lnTo>
                  <a:lnTo>
                    <a:pt x="92" y="158"/>
                  </a:lnTo>
                  <a:lnTo>
                    <a:pt x="104" y="134"/>
                  </a:lnTo>
                  <a:lnTo>
                    <a:pt x="114" y="108"/>
                  </a:lnTo>
                  <a:lnTo>
                    <a:pt x="114" y="108"/>
                  </a:lnTo>
                  <a:lnTo>
                    <a:pt x="122" y="80"/>
                  </a:lnTo>
                  <a:lnTo>
                    <a:pt x="126" y="54"/>
                  </a:lnTo>
                  <a:lnTo>
                    <a:pt x="126" y="26"/>
                  </a:lnTo>
                  <a:lnTo>
                    <a:pt x="122" y="0"/>
                  </a:lnTo>
                  <a:lnTo>
                    <a:pt x="38" y="18"/>
                  </a:lnTo>
                  <a:lnTo>
                    <a:pt x="38" y="18"/>
                  </a:lnTo>
                  <a:lnTo>
                    <a:pt x="40" y="34"/>
                  </a:lnTo>
                  <a:lnTo>
                    <a:pt x="40" y="50"/>
                  </a:lnTo>
                  <a:lnTo>
                    <a:pt x="38" y="66"/>
                  </a:lnTo>
                  <a:lnTo>
                    <a:pt x="32" y="82"/>
                  </a:lnTo>
                  <a:lnTo>
                    <a:pt x="32" y="82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34" name="Freeform 38"/>
            <p:cNvSpPr>
              <a:spLocks/>
            </p:cNvSpPr>
            <p:nvPr/>
          </p:nvSpPr>
          <p:spPr bwMode="auto">
            <a:xfrm>
              <a:off x="5129" y="3987"/>
              <a:ext cx="96" cy="152"/>
            </a:xfrm>
            <a:custGeom>
              <a:avLst/>
              <a:gdLst/>
              <a:ahLst/>
              <a:cxnLst>
                <a:cxn ang="0">
                  <a:pos x="92" y="118"/>
                </a:cxn>
                <a:cxn ang="0">
                  <a:pos x="92" y="118"/>
                </a:cxn>
                <a:cxn ang="0">
                  <a:pos x="98" y="104"/>
                </a:cxn>
                <a:cxn ang="0">
                  <a:pos x="106" y="88"/>
                </a:cxn>
                <a:cxn ang="0">
                  <a:pos x="116" y="76"/>
                </a:cxn>
                <a:cxn ang="0">
                  <a:pos x="126" y="64"/>
                </a:cxn>
                <a:cxn ang="0">
                  <a:pos x="68" y="0"/>
                </a:cxn>
                <a:cxn ang="0">
                  <a:pos x="68" y="0"/>
                </a:cxn>
                <a:cxn ang="0">
                  <a:pos x="50" y="20"/>
                </a:cxn>
                <a:cxn ang="0">
                  <a:pos x="34" y="42"/>
                </a:cxn>
                <a:cxn ang="0">
                  <a:pos x="22" y="66"/>
                </a:cxn>
                <a:cxn ang="0">
                  <a:pos x="12" y="92"/>
                </a:cxn>
                <a:cxn ang="0">
                  <a:pos x="12" y="92"/>
                </a:cxn>
                <a:cxn ang="0">
                  <a:pos x="4" y="118"/>
                </a:cxn>
                <a:cxn ang="0">
                  <a:pos x="0" y="146"/>
                </a:cxn>
                <a:cxn ang="0">
                  <a:pos x="0" y="174"/>
                </a:cxn>
                <a:cxn ang="0">
                  <a:pos x="4" y="200"/>
                </a:cxn>
                <a:cxn ang="0">
                  <a:pos x="88" y="182"/>
                </a:cxn>
                <a:cxn ang="0">
                  <a:pos x="88" y="182"/>
                </a:cxn>
                <a:cxn ang="0">
                  <a:pos x="86" y="166"/>
                </a:cxn>
                <a:cxn ang="0">
                  <a:pos x="86" y="150"/>
                </a:cxn>
                <a:cxn ang="0">
                  <a:pos x="88" y="134"/>
                </a:cxn>
                <a:cxn ang="0">
                  <a:pos x="92" y="118"/>
                </a:cxn>
                <a:cxn ang="0">
                  <a:pos x="92" y="118"/>
                </a:cxn>
              </a:cxnLst>
              <a:rect l="0" t="0" r="r" b="b"/>
              <a:pathLst>
                <a:path w="126" h="200">
                  <a:moveTo>
                    <a:pt x="92" y="118"/>
                  </a:moveTo>
                  <a:lnTo>
                    <a:pt x="92" y="118"/>
                  </a:lnTo>
                  <a:lnTo>
                    <a:pt x="98" y="104"/>
                  </a:lnTo>
                  <a:lnTo>
                    <a:pt x="106" y="88"/>
                  </a:lnTo>
                  <a:lnTo>
                    <a:pt x="116" y="76"/>
                  </a:lnTo>
                  <a:lnTo>
                    <a:pt x="126" y="64"/>
                  </a:lnTo>
                  <a:lnTo>
                    <a:pt x="68" y="0"/>
                  </a:lnTo>
                  <a:lnTo>
                    <a:pt x="68" y="0"/>
                  </a:lnTo>
                  <a:lnTo>
                    <a:pt x="50" y="20"/>
                  </a:lnTo>
                  <a:lnTo>
                    <a:pt x="34" y="42"/>
                  </a:lnTo>
                  <a:lnTo>
                    <a:pt x="22" y="66"/>
                  </a:lnTo>
                  <a:lnTo>
                    <a:pt x="12" y="92"/>
                  </a:lnTo>
                  <a:lnTo>
                    <a:pt x="12" y="92"/>
                  </a:lnTo>
                  <a:lnTo>
                    <a:pt x="4" y="118"/>
                  </a:lnTo>
                  <a:lnTo>
                    <a:pt x="0" y="146"/>
                  </a:lnTo>
                  <a:lnTo>
                    <a:pt x="0" y="174"/>
                  </a:lnTo>
                  <a:lnTo>
                    <a:pt x="4" y="200"/>
                  </a:lnTo>
                  <a:lnTo>
                    <a:pt x="88" y="182"/>
                  </a:lnTo>
                  <a:lnTo>
                    <a:pt x="88" y="182"/>
                  </a:lnTo>
                  <a:lnTo>
                    <a:pt x="86" y="166"/>
                  </a:lnTo>
                  <a:lnTo>
                    <a:pt x="86" y="150"/>
                  </a:lnTo>
                  <a:lnTo>
                    <a:pt x="88" y="134"/>
                  </a:lnTo>
                  <a:lnTo>
                    <a:pt x="92" y="118"/>
                  </a:lnTo>
                  <a:lnTo>
                    <a:pt x="92" y="118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35" name="Freeform 39"/>
            <p:cNvSpPr>
              <a:spLocks/>
            </p:cNvSpPr>
            <p:nvPr/>
          </p:nvSpPr>
          <p:spPr bwMode="auto">
            <a:xfrm>
              <a:off x="5135" y="4142"/>
              <a:ext cx="126" cy="132"/>
            </a:xfrm>
            <a:custGeom>
              <a:avLst/>
              <a:gdLst/>
              <a:ahLst/>
              <a:cxnLst>
                <a:cxn ang="0">
                  <a:pos x="84" y="0"/>
                </a:cxn>
                <a:cxn ang="0">
                  <a:pos x="0" y="18"/>
                </a:cxn>
                <a:cxn ang="0">
                  <a:pos x="0" y="18"/>
                </a:cxn>
                <a:cxn ang="0">
                  <a:pos x="8" y="44"/>
                </a:cxn>
                <a:cxn ang="0">
                  <a:pos x="20" y="68"/>
                </a:cxn>
                <a:cxn ang="0">
                  <a:pos x="34" y="90"/>
                </a:cxn>
                <a:cxn ang="0">
                  <a:pos x="50" y="112"/>
                </a:cxn>
                <a:cxn ang="0">
                  <a:pos x="70" y="130"/>
                </a:cxn>
                <a:cxn ang="0">
                  <a:pos x="90" y="148"/>
                </a:cxn>
                <a:cxn ang="0">
                  <a:pos x="114" y="162"/>
                </a:cxn>
                <a:cxn ang="0">
                  <a:pos x="140" y="174"/>
                </a:cxn>
                <a:cxn ang="0">
                  <a:pos x="166" y="92"/>
                </a:cxn>
                <a:cxn ang="0">
                  <a:pos x="166" y="92"/>
                </a:cxn>
                <a:cxn ang="0">
                  <a:pos x="152" y="84"/>
                </a:cxn>
                <a:cxn ang="0">
                  <a:pos x="138" y="76"/>
                </a:cxn>
                <a:cxn ang="0">
                  <a:pos x="126" y="66"/>
                </a:cxn>
                <a:cxn ang="0">
                  <a:pos x="114" y="54"/>
                </a:cxn>
                <a:cxn ang="0">
                  <a:pos x="104" y="42"/>
                </a:cxn>
                <a:cxn ang="0">
                  <a:pos x="96" y="28"/>
                </a:cxn>
                <a:cxn ang="0">
                  <a:pos x="90" y="14"/>
                </a:cxn>
                <a:cxn ang="0">
                  <a:pos x="84" y="0"/>
                </a:cxn>
                <a:cxn ang="0">
                  <a:pos x="84" y="0"/>
                </a:cxn>
              </a:cxnLst>
              <a:rect l="0" t="0" r="r" b="b"/>
              <a:pathLst>
                <a:path w="166" h="174">
                  <a:moveTo>
                    <a:pt x="84" y="0"/>
                  </a:moveTo>
                  <a:lnTo>
                    <a:pt x="0" y="18"/>
                  </a:lnTo>
                  <a:lnTo>
                    <a:pt x="0" y="18"/>
                  </a:lnTo>
                  <a:lnTo>
                    <a:pt x="8" y="44"/>
                  </a:lnTo>
                  <a:lnTo>
                    <a:pt x="20" y="68"/>
                  </a:lnTo>
                  <a:lnTo>
                    <a:pt x="34" y="90"/>
                  </a:lnTo>
                  <a:lnTo>
                    <a:pt x="50" y="112"/>
                  </a:lnTo>
                  <a:lnTo>
                    <a:pt x="70" y="130"/>
                  </a:lnTo>
                  <a:lnTo>
                    <a:pt x="90" y="148"/>
                  </a:lnTo>
                  <a:lnTo>
                    <a:pt x="114" y="162"/>
                  </a:lnTo>
                  <a:lnTo>
                    <a:pt x="140" y="174"/>
                  </a:lnTo>
                  <a:lnTo>
                    <a:pt x="166" y="92"/>
                  </a:lnTo>
                  <a:lnTo>
                    <a:pt x="166" y="92"/>
                  </a:lnTo>
                  <a:lnTo>
                    <a:pt x="152" y="84"/>
                  </a:lnTo>
                  <a:lnTo>
                    <a:pt x="138" y="76"/>
                  </a:lnTo>
                  <a:lnTo>
                    <a:pt x="126" y="66"/>
                  </a:lnTo>
                  <a:lnTo>
                    <a:pt x="114" y="54"/>
                  </a:lnTo>
                  <a:lnTo>
                    <a:pt x="104" y="42"/>
                  </a:lnTo>
                  <a:lnTo>
                    <a:pt x="96" y="28"/>
                  </a:lnTo>
                  <a:lnTo>
                    <a:pt x="90" y="14"/>
                  </a:lnTo>
                  <a:lnTo>
                    <a:pt x="84" y="0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36" name="Freeform 40"/>
            <p:cNvSpPr>
              <a:spLocks/>
            </p:cNvSpPr>
            <p:nvPr/>
          </p:nvSpPr>
          <p:spPr bwMode="auto">
            <a:xfrm>
              <a:off x="5345" y="3948"/>
              <a:ext cx="127" cy="132"/>
            </a:xfrm>
            <a:custGeom>
              <a:avLst/>
              <a:gdLst/>
              <a:ahLst/>
              <a:cxnLst>
                <a:cxn ang="0">
                  <a:pos x="84" y="174"/>
                </a:cxn>
                <a:cxn ang="0">
                  <a:pos x="168" y="156"/>
                </a:cxn>
                <a:cxn ang="0">
                  <a:pos x="168" y="156"/>
                </a:cxn>
                <a:cxn ang="0">
                  <a:pos x="160" y="130"/>
                </a:cxn>
                <a:cxn ang="0">
                  <a:pos x="148" y="106"/>
                </a:cxn>
                <a:cxn ang="0">
                  <a:pos x="134" y="84"/>
                </a:cxn>
                <a:cxn ang="0">
                  <a:pos x="118" y="62"/>
                </a:cxn>
                <a:cxn ang="0">
                  <a:pos x="98" y="44"/>
                </a:cxn>
                <a:cxn ang="0">
                  <a:pos x="76" y="26"/>
                </a:cxn>
                <a:cxn ang="0">
                  <a:pos x="54" y="12"/>
                </a:cxn>
                <a:cxn ang="0">
                  <a:pos x="28" y="0"/>
                </a:cxn>
                <a:cxn ang="0">
                  <a:pos x="0" y="82"/>
                </a:cxn>
                <a:cxn ang="0">
                  <a:pos x="0" y="82"/>
                </a:cxn>
                <a:cxn ang="0">
                  <a:pos x="16" y="90"/>
                </a:cxn>
                <a:cxn ang="0">
                  <a:pos x="30" y="98"/>
                </a:cxn>
                <a:cxn ang="0">
                  <a:pos x="42" y="108"/>
                </a:cxn>
                <a:cxn ang="0">
                  <a:pos x="54" y="120"/>
                </a:cxn>
                <a:cxn ang="0">
                  <a:pos x="64" y="132"/>
                </a:cxn>
                <a:cxn ang="0">
                  <a:pos x="72" y="144"/>
                </a:cxn>
                <a:cxn ang="0">
                  <a:pos x="78" y="160"/>
                </a:cxn>
                <a:cxn ang="0">
                  <a:pos x="84" y="174"/>
                </a:cxn>
                <a:cxn ang="0">
                  <a:pos x="84" y="174"/>
                </a:cxn>
              </a:cxnLst>
              <a:rect l="0" t="0" r="r" b="b"/>
              <a:pathLst>
                <a:path w="168" h="174">
                  <a:moveTo>
                    <a:pt x="84" y="174"/>
                  </a:moveTo>
                  <a:lnTo>
                    <a:pt x="168" y="156"/>
                  </a:lnTo>
                  <a:lnTo>
                    <a:pt x="168" y="156"/>
                  </a:lnTo>
                  <a:lnTo>
                    <a:pt x="160" y="130"/>
                  </a:lnTo>
                  <a:lnTo>
                    <a:pt x="148" y="106"/>
                  </a:lnTo>
                  <a:lnTo>
                    <a:pt x="134" y="84"/>
                  </a:lnTo>
                  <a:lnTo>
                    <a:pt x="118" y="62"/>
                  </a:lnTo>
                  <a:lnTo>
                    <a:pt x="98" y="44"/>
                  </a:lnTo>
                  <a:lnTo>
                    <a:pt x="76" y="26"/>
                  </a:lnTo>
                  <a:lnTo>
                    <a:pt x="54" y="12"/>
                  </a:lnTo>
                  <a:lnTo>
                    <a:pt x="28" y="0"/>
                  </a:lnTo>
                  <a:lnTo>
                    <a:pt x="0" y="82"/>
                  </a:lnTo>
                  <a:lnTo>
                    <a:pt x="0" y="82"/>
                  </a:lnTo>
                  <a:lnTo>
                    <a:pt x="16" y="90"/>
                  </a:lnTo>
                  <a:lnTo>
                    <a:pt x="30" y="98"/>
                  </a:lnTo>
                  <a:lnTo>
                    <a:pt x="42" y="108"/>
                  </a:lnTo>
                  <a:lnTo>
                    <a:pt x="54" y="120"/>
                  </a:lnTo>
                  <a:lnTo>
                    <a:pt x="64" y="132"/>
                  </a:lnTo>
                  <a:lnTo>
                    <a:pt x="72" y="144"/>
                  </a:lnTo>
                  <a:lnTo>
                    <a:pt x="78" y="160"/>
                  </a:lnTo>
                  <a:lnTo>
                    <a:pt x="84" y="174"/>
                  </a:lnTo>
                  <a:lnTo>
                    <a:pt x="84" y="174"/>
                  </a:ln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37" name="Freeform 41"/>
            <p:cNvSpPr>
              <a:spLocks/>
            </p:cNvSpPr>
            <p:nvPr/>
          </p:nvSpPr>
          <p:spPr bwMode="auto">
            <a:xfrm>
              <a:off x="5258" y="4197"/>
              <a:ext cx="156" cy="88"/>
            </a:xfrm>
            <a:custGeom>
              <a:avLst/>
              <a:gdLst/>
              <a:ahLst/>
              <a:cxnLst>
                <a:cxn ang="0">
                  <a:pos x="26" y="26"/>
                </a:cxn>
                <a:cxn ang="0">
                  <a:pos x="0" y="108"/>
                </a:cxn>
                <a:cxn ang="0">
                  <a:pos x="0" y="108"/>
                </a:cxn>
                <a:cxn ang="0">
                  <a:pos x="28" y="114"/>
                </a:cxn>
                <a:cxn ang="0">
                  <a:pos x="56" y="116"/>
                </a:cxn>
                <a:cxn ang="0">
                  <a:pos x="82" y="116"/>
                </a:cxn>
                <a:cxn ang="0">
                  <a:pos x="110" y="112"/>
                </a:cxn>
                <a:cxn ang="0">
                  <a:pos x="136" y="104"/>
                </a:cxn>
                <a:cxn ang="0">
                  <a:pos x="160" y="94"/>
                </a:cxn>
                <a:cxn ang="0">
                  <a:pos x="184" y="80"/>
                </a:cxn>
                <a:cxn ang="0">
                  <a:pos x="206" y="64"/>
                </a:cxn>
                <a:cxn ang="0">
                  <a:pos x="148" y="0"/>
                </a:cxn>
                <a:cxn ang="0">
                  <a:pos x="148" y="0"/>
                </a:cxn>
                <a:cxn ang="0">
                  <a:pos x="134" y="10"/>
                </a:cxn>
                <a:cxn ang="0">
                  <a:pos x="120" y="18"/>
                </a:cxn>
                <a:cxn ang="0">
                  <a:pos x="106" y="24"/>
                </a:cxn>
                <a:cxn ang="0">
                  <a:pos x="90" y="28"/>
                </a:cxn>
                <a:cxn ang="0">
                  <a:pos x="74" y="30"/>
                </a:cxn>
                <a:cxn ang="0">
                  <a:pos x="58" y="30"/>
                </a:cxn>
                <a:cxn ang="0">
                  <a:pos x="42" y="30"/>
                </a:cxn>
                <a:cxn ang="0">
                  <a:pos x="26" y="26"/>
                </a:cxn>
                <a:cxn ang="0">
                  <a:pos x="26" y="26"/>
                </a:cxn>
              </a:cxnLst>
              <a:rect l="0" t="0" r="r" b="b"/>
              <a:pathLst>
                <a:path w="206" h="116">
                  <a:moveTo>
                    <a:pt x="26" y="26"/>
                  </a:moveTo>
                  <a:lnTo>
                    <a:pt x="0" y="108"/>
                  </a:lnTo>
                  <a:lnTo>
                    <a:pt x="0" y="108"/>
                  </a:lnTo>
                  <a:lnTo>
                    <a:pt x="28" y="114"/>
                  </a:lnTo>
                  <a:lnTo>
                    <a:pt x="56" y="116"/>
                  </a:lnTo>
                  <a:lnTo>
                    <a:pt x="82" y="116"/>
                  </a:lnTo>
                  <a:lnTo>
                    <a:pt x="110" y="112"/>
                  </a:lnTo>
                  <a:lnTo>
                    <a:pt x="136" y="104"/>
                  </a:lnTo>
                  <a:lnTo>
                    <a:pt x="160" y="94"/>
                  </a:lnTo>
                  <a:lnTo>
                    <a:pt x="184" y="80"/>
                  </a:lnTo>
                  <a:lnTo>
                    <a:pt x="206" y="64"/>
                  </a:lnTo>
                  <a:lnTo>
                    <a:pt x="148" y="0"/>
                  </a:lnTo>
                  <a:lnTo>
                    <a:pt x="148" y="0"/>
                  </a:lnTo>
                  <a:lnTo>
                    <a:pt x="134" y="10"/>
                  </a:lnTo>
                  <a:lnTo>
                    <a:pt x="120" y="18"/>
                  </a:lnTo>
                  <a:lnTo>
                    <a:pt x="106" y="24"/>
                  </a:lnTo>
                  <a:lnTo>
                    <a:pt x="90" y="28"/>
                  </a:lnTo>
                  <a:lnTo>
                    <a:pt x="74" y="30"/>
                  </a:lnTo>
                  <a:lnTo>
                    <a:pt x="58" y="30"/>
                  </a:lnTo>
                  <a:lnTo>
                    <a:pt x="42" y="30"/>
                  </a:lnTo>
                  <a:lnTo>
                    <a:pt x="26" y="26"/>
                  </a:lnTo>
                  <a:lnTo>
                    <a:pt x="26" y="26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138" name="Group 42"/>
          <p:cNvGrpSpPr>
            <a:grpSpLocks/>
          </p:cNvGrpSpPr>
          <p:nvPr/>
        </p:nvGrpSpPr>
        <p:grpSpPr bwMode="auto">
          <a:xfrm>
            <a:off x="8089900" y="5821363"/>
            <a:ext cx="390525" cy="390525"/>
            <a:chOff x="5114" y="3685"/>
            <a:chExt cx="246" cy="246"/>
          </a:xfrm>
        </p:grpSpPr>
        <p:sp>
          <p:nvSpPr>
            <p:cNvPr id="4139" name="Freeform 43"/>
            <p:cNvSpPr>
              <a:spLocks/>
            </p:cNvSpPr>
            <p:nvPr/>
          </p:nvSpPr>
          <p:spPr bwMode="auto">
            <a:xfrm>
              <a:off x="5135" y="3845"/>
              <a:ext cx="94" cy="86"/>
            </a:xfrm>
            <a:custGeom>
              <a:avLst/>
              <a:gdLst/>
              <a:ahLst/>
              <a:cxnLst>
                <a:cxn ang="0">
                  <a:pos x="70" y="0"/>
                </a:cxn>
                <a:cxn ang="0">
                  <a:pos x="0" y="42"/>
                </a:cxn>
                <a:cxn ang="0">
                  <a:pos x="0" y="42"/>
                </a:cxn>
                <a:cxn ang="0">
                  <a:pos x="10" y="56"/>
                </a:cxn>
                <a:cxn ang="0">
                  <a:pos x="22" y="70"/>
                </a:cxn>
                <a:cxn ang="0">
                  <a:pos x="36" y="82"/>
                </a:cxn>
                <a:cxn ang="0">
                  <a:pos x="52" y="92"/>
                </a:cxn>
                <a:cxn ang="0">
                  <a:pos x="68" y="100"/>
                </a:cxn>
                <a:cxn ang="0">
                  <a:pos x="86" y="108"/>
                </a:cxn>
                <a:cxn ang="0">
                  <a:pos x="104" y="112"/>
                </a:cxn>
                <a:cxn ang="0">
                  <a:pos x="124" y="114"/>
                </a:cxn>
                <a:cxn ang="0">
                  <a:pos x="124" y="32"/>
                </a:cxn>
                <a:cxn ang="0">
                  <a:pos x="124" y="32"/>
                </a:cxn>
                <a:cxn ang="0">
                  <a:pos x="108" y="28"/>
                </a:cxn>
                <a:cxn ang="0">
                  <a:pos x="94" y="22"/>
                </a:cxn>
                <a:cxn ang="0">
                  <a:pos x="82" y="12"/>
                </a:cxn>
                <a:cxn ang="0">
                  <a:pos x="70" y="0"/>
                </a:cxn>
                <a:cxn ang="0">
                  <a:pos x="70" y="0"/>
                </a:cxn>
              </a:cxnLst>
              <a:rect l="0" t="0" r="r" b="b"/>
              <a:pathLst>
                <a:path w="124" h="114">
                  <a:moveTo>
                    <a:pt x="70" y="0"/>
                  </a:moveTo>
                  <a:lnTo>
                    <a:pt x="0" y="42"/>
                  </a:lnTo>
                  <a:lnTo>
                    <a:pt x="0" y="42"/>
                  </a:lnTo>
                  <a:lnTo>
                    <a:pt x="10" y="56"/>
                  </a:lnTo>
                  <a:lnTo>
                    <a:pt x="22" y="70"/>
                  </a:lnTo>
                  <a:lnTo>
                    <a:pt x="36" y="82"/>
                  </a:lnTo>
                  <a:lnTo>
                    <a:pt x="52" y="92"/>
                  </a:lnTo>
                  <a:lnTo>
                    <a:pt x="68" y="100"/>
                  </a:lnTo>
                  <a:lnTo>
                    <a:pt x="86" y="108"/>
                  </a:lnTo>
                  <a:lnTo>
                    <a:pt x="104" y="112"/>
                  </a:lnTo>
                  <a:lnTo>
                    <a:pt x="124" y="114"/>
                  </a:lnTo>
                  <a:lnTo>
                    <a:pt x="124" y="32"/>
                  </a:lnTo>
                  <a:lnTo>
                    <a:pt x="124" y="32"/>
                  </a:lnTo>
                  <a:lnTo>
                    <a:pt x="108" y="28"/>
                  </a:lnTo>
                  <a:lnTo>
                    <a:pt x="94" y="22"/>
                  </a:lnTo>
                  <a:lnTo>
                    <a:pt x="82" y="12"/>
                  </a:lnTo>
                  <a:lnTo>
                    <a:pt x="70" y="0"/>
                  </a:lnTo>
                  <a:lnTo>
                    <a:pt x="70" y="0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40" name="Freeform 44"/>
            <p:cNvSpPr>
              <a:spLocks/>
            </p:cNvSpPr>
            <p:nvPr/>
          </p:nvSpPr>
          <p:spPr bwMode="auto">
            <a:xfrm>
              <a:off x="5135" y="3685"/>
              <a:ext cx="94" cy="87"/>
            </a:xfrm>
            <a:custGeom>
              <a:avLst/>
              <a:gdLst/>
              <a:ahLst/>
              <a:cxnLst>
                <a:cxn ang="0">
                  <a:pos x="124" y="82"/>
                </a:cxn>
                <a:cxn ang="0">
                  <a:pos x="124" y="0"/>
                </a:cxn>
                <a:cxn ang="0">
                  <a:pos x="124" y="0"/>
                </a:cxn>
                <a:cxn ang="0">
                  <a:pos x="104" y="2"/>
                </a:cxn>
                <a:cxn ang="0">
                  <a:pos x="86" y="8"/>
                </a:cxn>
                <a:cxn ang="0">
                  <a:pos x="68" y="14"/>
                </a:cxn>
                <a:cxn ang="0">
                  <a:pos x="52" y="22"/>
                </a:cxn>
                <a:cxn ang="0">
                  <a:pos x="36" y="32"/>
                </a:cxn>
                <a:cxn ang="0">
                  <a:pos x="22" y="44"/>
                </a:cxn>
                <a:cxn ang="0">
                  <a:pos x="10" y="58"/>
                </a:cxn>
                <a:cxn ang="0">
                  <a:pos x="0" y="72"/>
                </a:cxn>
                <a:cxn ang="0">
                  <a:pos x="70" y="114"/>
                </a:cxn>
                <a:cxn ang="0">
                  <a:pos x="70" y="114"/>
                </a:cxn>
                <a:cxn ang="0">
                  <a:pos x="82" y="102"/>
                </a:cxn>
                <a:cxn ang="0">
                  <a:pos x="94" y="92"/>
                </a:cxn>
                <a:cxn ang="0">
                  <a:pos x="108" y="86"/>
                </a:cxn>
                <a:cxn ang="0">
                  <a:pos x="124" y="82"/>
                </a:cxn>
                <a:cxn ang="0">
                  <a:pos x="124" y="82"/>
                </a:cxn>
              </a:cxnLst>
              <a:rect l="0" t="0" r="r" b="b"/>
              <a:pathLst>
                <a:path w="124" h="114">
                  <a:moveTo>
                    <a:pt x="124" y="82"/>
                  </a:moveTo>
                  <a:lnTo>
                    <a:pt x="124" y="0"/>
                  </a:lnTo>
                  <a:lnTo>
                    <a:pt x="124" y="0"/>
                  </a:lnTo>
                  <a:lnTo>
                    <a:pt x="104" y="2"/>
                  </a:lnTo>
                  <a:lnTo>
                    <a:pt x="86" y="8"/>
                  </a:lnTo>
                  <a:lnTo>
                    <a:pt x="68" y="14"/>
                  </a:lnTo>
                  <a:lnTo>
                    <a:pt x="52" y="22"/>
                  </a:lnTo>
                  <a:lnTo>
                    <a:pt x="36" y="32"/>
                  </a:lnTo>
                  <a:lnTo>
                    <a:pt x="22" y="44"/>
                  </a:lnTo>
                  <a:lnTo>
                    <a:pt x="10" y="58"/>
                  </a:lnTo>
                  <a:lnTo>
                    <a:pt x="0" y="72"/>
                  </a:lnTo>
                  <a:lnTo>
                    <a:pt x="70" y="114"/>
                  </a:lnTo>
                  <a:lnTo>
                    <a:pt x="70" y="114"/>
                  </a:lnTo>
                  <a:lnTo>
                    <a:pt x="82" y="102"/>
                  </a:lnTo>
                  <a:lnTo>
                    <a:pt x="94" y="92"/>
                  </a:lnTo>
                  <a:lnTo>
                    <a:pt x="108" y="86"/>
                  </a:lnTo>
                  <a:lnTo>
                    <a:pt x="124" y="82"/>
                  </a:lnTo>
                  <a:lnTo>
                    <a:pt x="124" y="82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41" name="Freeform 45"/>
            <p:cNvSpPr>
              <a:spLocks/>
            </p:cNvSpPr>
            <p:nvPr/>
          </p:nvSpPr>
          <p:spPr bwMode="auto">
            <a:xfrm>
              <a:off x="5114" y="3754"/>
              <a:ext cx="67" cy="109"/>
            </a:xfrm>
            <a:custGeom>
              <a:avLst/>
              <a:gdLst/>
              <a:ahLst/>
              <a:cxnLst>
                <a:cxn ang="0">
                  <a:pos x="82" y="72"/>
                </a:cxn>
                <a:cxn ang="0">
                  <a:pos x="82" y="72"/>
                </a:cxn>
                <a:cxn ang="0">
                  <a:pos x="84" y="56"/>
                </a:cxn>
                <a:cxn ang="0">
                  <a:pos x="88" y="42"/>
                </a:cxn>
                <a:cxn ang="0">
                  <a:pos x="18" y="0"/>
                </a:cxn>
                <a:cxn ang="0">
                  <a:pos x="18" y="0"/>
                </a:cxn>
                <a:cxn ang="0">
                  <a:pos x="10" y="16"/>
                </a:cxn>
                <a:cxn ang="0">
                  <a:pos x="4" y="34"/>
                </a:cxn>
                <a:cxn ang="0">
                  <a:pos x="2" y="54"/>
                </a:cxn>
                <a:cxn ang="0">
                  <a:pos x="0" y="72"/>
                </a:cxn>
                <a:cxn ang="0">
                  <a:pos x="0" y="72"/>
                </a:cxn>
                <a:cxn ang="0">
                  <a:pos x="2" y="92"/>
                </a:cxn>
                <a:cxn ang="0">
                  <a:pos x="4" y="110"/>
                </a:cxn>
                <a:cxn ang="0">
                  <a:pos x="10" y="128"/>
                </a:cxn>
                <a:cxn ang="0">
                  <a:pos x="18" y="144"/>
                </a:cxn>
                <a:cxn ang="0">
                  <a:pos x="88" y="104"/>
                </a:cxn>
                <a:cxn ang="0">
                  <a:pos x="88" y="104"/>
                </a:cxn>
                <a:cxn ang="0">
                  <a:pos x="84" y="88"/>
                </a:cxn>
                <a:cxn ang="0">
                  <a:pos x="82" y="72"/>
                </a:cxn>
                <a:cxn ang="0">
                  <a:pos x="82" y="72"/>
                </a:cxn>
              </a:cxnLst>
              <a:rect l="0" t="0" r="r" b="b"/>
              <a:pathLst>
                <a:path w="88" h="144">
                  <a:moveTo>
                    <a:pt x="82" y="72"/>
                  </a:moveTo>
                  <a:lnTo>
                    <a:pt x="82" y="72"/>
                  </a:lnTo>
                  <a:lnTo>
                    <a:pt x="84" y="56"/>
                  </a:lnTo>
                  <a:lnTo>
                    <a:pt x="88" y="42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0" y="16"/>
                  </a:lnTo>
                  <a:lnTo>
                    <a:pt x="4" y="34"/>
                  </a:lnTo>
                  <a:lnTo>
                    <a:pt x="2" y="54"/>
                  </a:lnTo>
                  <a:lnTo>
                    <a:pt x="0" y="72"/>
                  </a:lnTo>
                  <a:lnTo>
                    <a:pt x="0" y="72"/>
                  </a:lnTo>
                  <a:lnTo>
                    <a:pt x="2" y="92"/>
                  </a:lnTo>
                  <a:lnTo>
                    <a:pt x="4" y="110"/>
                  </a:lnTo>
                  <a:lnTo>
                    <a:pt x="10" y="128"/>
                  </a:lnTo>
                  <a:lnTo>
                    <a:pt x="18" y="144"/>
                  </a:lnTo>
                  <a:lnTo>
                    <a:pt x="88" y="104"/>
                  </a:lnTo>
                  <a:lnTo>
                    <a:pt x="88" y="104"/>
                  </a:lnTo>
                  <a:lnTo>
                    <a:pt x="84" y="88"/>
                  </a:lnTo>
                  <a:lnTo>
                    <a:pt x="82" y="72"/>
                  </a:lnTo>
                  <a:lnTo>
                    <a:pt x="82" y="72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42" name="Freeform 46"/>
            <p:cNvSpPr>
              <a:spLocks/>
            </p:cNvSpPr>
            <p:nvPr/>
          </p:nvSpPr>
          <p:spPr bwMode="auto">
            <a:xfrm>
              <a:off x="5293" y="3754"/>
              <a:ext cx="67" cy="109"/>
            </a:xfrm>
            <a:custGeom>
              <a:avLst/>
              <a:gdLst/>
              <a:ahLst/>
              <a:cxnLst>
                <a:cxn ang="0">
                  <a:pos x="6" y="72"/>
                </a:cxn>
                <a:cxn ang="0">
                  <a:pos x="6" y="72"/>
                </a:cxn>
                <a:cxn ang="0">
                  <a:pos x="6" y="88"/>
                </a:cxn>
                <a:cxn ang="0">
                  <a:pos x="0" y="104"/>
                </a:cxn>
                <a:cxn ang="0">
                  <a:pos x="72" y="144"/>
                </a:cxn>
                <a:cxn ang="0">
                  <a:pos x="72" y="144"/>
                </a:cxn>
                <a:cxn ang="0">
                  <a:pos x="78" y="128"/>
                </a:cxn>
                <a:cxn ang="0">
                  <a:pos x="84" y="110"/>
                </a:cxn>
                <a:cxn ang="0">
                  <a:pos x="88" y="92"/>
                </a:cxn>
                <a:cxn ang="0">
                  <a:pos x="88" y="72"/>
                </a:cxn>
                <a:cxn ang="0">
                  <a:pos x="88" y="72"/>
                </a:cxn>
                <a:cxn ang="0">
                  <a:pos x="88" y="54"/>
                </a:cxn>
                <a:cxn ang="0">
                  <a:pos x="84" y="34"/>
                </a:cxn>
                <a:cxn ang="0">
                  <a:pos x="78" y="16"/>
                </a:cxn>
                <a:cxn ang="0">
                  <a:pos x="72" y="0"/>
                </a:cxn>
                <a:cxn ang="0">
                  <a:pos x="0" y="42"/>
                </a:cxn>
                <a:cxn ang="0">
                  <a:pos x="0" y="42"/>
                </a:cxn>
                <a:cxn ang="0">
                  <a:pos x="6" y="56"/>
                </a:cxn>
                <a:cxn ang="0">
                  <a:pos x="6" y="72"/>
                </a:cxn>
                <a:cxn ang="0">
                  <a:pos x="6" y="72"/>
                </a:cxn>
              </a:cxnLst>
              <a:rect l="0" t="0" r="r" b="b"/>
              <a:pathLst>
                <a:path w="88" h="144">
                  <a:moveTo>
                    <a:pt x="6" y="72"/>
                  </a:moveTo>
                  <a:lnTo>
                    <a:pt x="6" y="72"/>
                  </a:lnTo>
                  <a:lnTo>
                    <a:pt x="6" y="88"/>
                  </a:lnTo>
                  <a:lnTo>
                    <a:pt x="0" y="104"/>
                  </a:lnTo>
                  <a:lnTo>
                    <a:pt x="72" y="144"/>
                  </a:lnTo>
                  <a:lnTo>
                    <a:pt x="72" y="144"/>
                  </a:lnTo>
                  <a:lnTo>
                    <a:pt x="78" y="128"/>
                  </a:lnTo>
                  <a:lnTo>
                    <a:pt x="84" y="110"/>
                  </a:lnTo>
                  <a:lnTo>
                    <a:pt x="88" y="92"/>
                  </a:lnTo>
                  <a:lnTo>
                    <a:pt x="88" y="72"/>
                  </a:lnTo>
                  <a:lnTo>
                    <a:pt x="88" y="72"/>
                  </a:lnTo>
                  <a:lnTo>
                    <a:pt x="88" y="54"/>
                  </a:lnTo>
                  <a:lnTo>
                    <a:pt x="84" y="34"/>
                  </a:lnTo>
                  <a:lnTo>
                    <a:pt x="78" y="16"/>
                  </a:lnTo>
                  <a:lnTo>
                    <a:pt x="72" y="0"/>
                  </a:lnTo>
                  <a:lnTo>
                    <a:pt x="0" y="42"/>
                  </a:lnTo>
                  <a:lnTo>
                    <a:pt x="0" y="42"/>
                  </a:lnTo>
                  <a:lnTo>
                    <a:pt x="6" y="56"/>
                  </a:lnTo>
                  <a:lnTo>
                    <a:pt x="6" y="72"/>
                  </a:lnTo>
                  <a:lnTo>
                    <a:pt x="6" y="72"/>
                  </a:ln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43" name="Freeform 47"/>
            <p:cNvSpPr>
              <a:spLocks/>
            </p:cNvSpPr>
            <p:nvPr/>
          </p:nvSpPr>
          <p:spPr bwMode="auto">
            <a:xfrm>
              <a:off x="5245" y="3845"/>
              <a:ext cx="95" cy="86"/>
            </a:xfrm>
            <a:custGeom>
              <a:avLst/>
              <a:gdLst/>
              <a:ahLst/>
              <a:cxnLst>
                <a:cxn ang="0">
                  <a:pos x="0" y="32"/>
                </a:cxn>
                <a:cxn ang="0">
                  <a:pos x="0" y="114"/>
                </a:cxn>
                <a:cxn ang="0">
                  <a:pos x="0" y="114"/>
                </a:cxn>
                <a:cxn ang="0">
                  <a:pos x="20" y="112"/>
                </a:cxn>
                <a:cxn ang="0">
                  <a:pos x="38" y="108"/>
                </a:cxn>
                <a:cxn ang="0">
                  <a:pos x="56" y="100"/>
                </a:cxn>
                <a:cxn ang="0">
                  <a:pos x="72" y="92"/>
                </a:cxn>
                <a:cxn ang="0">
                  <a:pos x="88" y="82"/>
                </a:cxn>
                <a:cxn ang="0">
                  <a:pos x="102" y="70"/>
                </a:cxn>
                <a:cxn ang="0">
                  <a:pos x="114" y="56"/>
                </a:cxn>
                <a:cxn ang="0">
                  <a:pos x="126" y="42"/>
                </a:cxn>
                <a:cxn ang="0">
                  <a:pos x="54" y="0"/>
                </a:cxn>
                <a:cxn ang="0">
                  <a:pos x="54" y="0"/>
                </a:cxn>
                <a:cxn ang="0">
                  <a:pos x="44" y="12"/>
                </a:cxn>
                <a:cxn ang="0">
                  <a:pos x="30" y="22"/>
                </a:cxn>
                <a:cxn ang="0">
                  <a:pos x="16" y="28"/>
                </a:cxn>
                <a:cxn ang="0">
                  <a:pos x="0" y="32"/>
                </a:cxn>
                <a:cxn ang="0">
                  <a:pos x="0" y="32"/>
                </a:cxn>
              </a:cxnLst>
              <a:rect l="0" t="0" r="r" b="b"/>
              <a:pathLst>
                <a:path w="126" h="114">
                  <a:moveTo>
                    <a:pt x="0" y="32"/>
                  </a:moveTo>
                  <a:lnTo>
                    <a:pt x="0" y="114"/>
                  </a:lnTo>
                  <a:lnTo>
                    <a:pt x="0" y="114"/>
                  </a:lnTo>
                  <a:lnTo>
                    <a:pt x="20" y="112"/>
                  </a:lnTo>
                  <a:lnTo>
                    <a:pt x="38" y="108"/>
                  </a:lnTo>
                  <a:lnTo>
                    <a:pt x="56" y="100"/>
                  </a:lnTo>
                  <a:lnTo>
                    <a:pt x="72" y="92"/>
                  </a:lnTo>
                  <a:lnTo>
                    <a:pt x="88" y="82"/>
                  </a:lnTo>
                  <a:lnTo>
                    <a:pt x="102" y="70"/>
                  </a:lnTo>
                  <a:lnTo>
                    <a:pt x="114" y="56"/>
                  </a:lnTo>
                  <a:lnTo>
                    <a:pt x="126" y="42"/>
                  </a:lnTo>
                  <a:lnTo>
                    <a:pt x="54" y="0"/>
                  </a:lnTo>
                  <a:lnTo>
                    <a:pt x="54" y="0"/>
                  </a:lnTo>
                  <a:lnTo>
                    <a:pt x="44" y="12"/>
                  </a:lnTo>
                  <a:lnTo>
                    <a:pt x="30" y="22"/>
                  </a:lnTo>
                  <a:lnTo>
                    <a:pt x="16" y="28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44" name="Freeform 48"/>
            <p:cNvSpPr>
              <a:spLocks/>
            </p:cNvSpPr>
            <p:nvPr/>
          </p:nvSpPr>
          <p:spPr bwMode="auto">
            <a:xfrm>
              <a:off x="5245" y="3685"/>
              <a:ext cx="95" cy="87"/>
            </a:xfrm>
            <a:custGeom>
              <a:avLst/>
              <a:gdLst/>
              <a:ahLst/>
              <a:cxnLst>
                <a:cxn ang="0">
                  <a:pos x="54" y="114"/>
                </a:cxn>
                <a:cxn ang="0">
                  <a:pos x="126" y="72"/>
                </a:cxn>
                <a:cxn ang="0">
                  <a:pos x="126" y="72"/>
                </a:cxn>
                <a:cxn ang="0">
                  <a:pos x="114" y="58"/>
                </a:cxn>
                <a:cxn ang="0">
                  <a:pos x="102" y="44"/>
                </a:cxn>
                <a:cxn ang="0">
                  <a:pos x="88" y="32"/>
                </a:cxn>
                <a:cxn ang="0">
                  <a:pos x="72" y="22"/>
                </a:cxn>
                <a:cxn ang="0">
                  <a:pos x="56" y="14"/>
                </a:cxn>
                <a:cxn ang="0">
                  <a:pos x="38" y="8"/>
                </a:cxn>
                <a:cxn ang="0">
                  <a:pos x="20" y="2"/>
                </a:cxn>
                <a:cxn ang="0">
                  <a:pos x="0" y="0"/>
                </a:cxn>
                <a:cxn ang="0">
                  <a:pos x="0" y="82"/>
                </a:cxn>
                <a:cxn ang="0">
                  <a:pos x="0" y="82"/>
                </a:cxn>
                <a:cxn ang="0">
                  <a:pos x="16" y="86"/>
                </a:cxn>
                <a:cxn ang="0">
                  <a:pos x="30" y="92"/>
                </a:cxn>
                <a:cxn ang="0">
                  <a:pos x="44" y="102"/>
                </a:cxn>
                <a:cxn ang="0">
                  <a:pos x="54" y="114"/>
                </a:cxn>
                <a:cxn ang="0">
                  <a:pos x="54" y="114"/>
                </a:cxn>
              </a:cxnLst>
              <a:rect l="0" t="0" r="r" b="b"/>
              <a:pathLst>
                <a:path w="126" h="114">
                  <a:moveTo>
                    <a:pt x="54" y="114"/>
                  </a:moveTo>
                  <a:lnTo>
                    <a:pt x="126" y="72"/>
                  </a:lnTo>
                  <a:lnTo>
                    <a:pt x="126" y="72"/>
                  </a:lnTo>
                  <a:lnTo>
                    <a:pt x="114" y="58"/>
                  </a:lnTo>
                  <a:lnTo>
                    <a:pt x="102" y="44"/>
                  </a:lnTo>
                  <a:lnTo>
                    <a:pt x="88" y="32"/>
                  </a:lnTo>
                  <a:lnTo>
                    <a:pt x="72" y="22"/>
                  </a:lnTo>
                  <a:lnTo>
                    <a:pt x="56" y="14"/>
                  </a:lnTo>
                  <a:lnTo>
                    <a:pt x="38" y="8"/>
                  </a:lnTo>
                  <a:lnTo>
                    <a:pt x="20" y="2"/>
                  </a:lnTo>
                  <a:lnTo>
                    <a:pt x="0" y="0"/>
                  </a:lnTo>
                  <a:lnTo>
                    <a:pt x="0" y="82"/>
                  </a:lnTo>
                  <a:lnTo>
                    <a:pt x="0" y="82"/>
                  </a:lnTo>
                  <a:lnTo>
                    <a:pt x="16" y="86"/>
                  </a:lnTo>
                  <a:lnTo>
                    <a:pt x="30" y="92"/>
                  </a:lnTo>
                  <a:lnTo>
                    <a:pt x="44" y="102"/>
                  </a:lnTo>
                  <a:lnTo>
                    <a:pt x="54" y="114"/>
                  </a:lnTo>
                  <a:lnTo>
                    <a:pt x="54" y="114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4400" b="1" dirty="0">
                <a:latin typeface="Times New Roman" pitchFamily="18" charset="0"/>
                <a:cs typeface="Times New Roman" pitchFamily="18" charset="0"/>
              </a:rPr>
              <a:t>Variables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219200"/>
            <a:ext cx="8229600" cy="5254625"/>
          </a:xfrm>
        </p:spPr>
        <p:txBody>
          <a:bodyPr/>
          <a:lstStyle/>
          <a:p>
            <a:pPr eaLnBrk="1" hangingPunct="1">
              <a:buFont typeface="Wingdings" pitchFamily="2" charset="2"/>
              <a:buChar char="ü"/>
            </a:pPr>
            <a:r>
              <a:rPr lang="en-US" sz="2400" dirty="0">
                <a:latin typeface="Times New Roman" pitchFamily="18" charset="0"/>
              </a:rPr>
              <a:t>Variable is a name for a location in memory.</a:t>
            </a:r>
          </a:p>
          <a:p>
            <a:pPr eaLnBrk="1" hangingPunct="1">
              <a:buFont typeface="Wingdings" pitchFamily="2" charset="2"/>
              <a:buChar char="ü"/>
            </a:pPr>
            <a:r>
              <a:rPr lang="en-US" sz="2400" dirty="0">
                <a:latin typeface="Times New Roman" pitchFamily="18" charset="0"/>
              </a:rPr>
              <a:t>Declaring a variable: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400" dirty="0">
                <a:latin typeface="Times New Roman" pitchFamily="18" charset="0"/>
              </a:rPr>
              <a:t>	type identifier [=value][,identifier [=value]….];</a:t>
            </a:r>
          </a:p>
          <a:p>
            <a:pPr eaLnBrk="1" hangingPunct="1">
              <a:buFont typeface="Wingdings" pitchFamily="2" charset="2"/>
              <a:buChar char="ü"/>
            </a:pPr>
            <a:r>
              <a:rPr lang="en-US" sz="2400" dirty="0">
                <a:latin typeface="Times New Roman" pitchFamily="18" charset="0"/>
              </a:rPr>
              <a:t>The initialization expression must result in a value of the same or compatible type as that specified for the variable.</a:t>
            </a:r>
          </a:p>
          <a:p>
            <a:pPr eaLnBrk="1" hangingPunct="1">
              <a:buFont typeface="Wingdings" pitchFamily="2" charset="2"/>
              <a:buChar char="ü"/>
            </a:pPr>
            <a:r>
              <a:rPr lang="en-US" sz="2400" dirty="0">
                <a:latin typeface="Times New Roman" pitchFamily="18" charset="0"/>
              </a:rPr>
              <a:t>Dynamic Initialization: initialization expression may use any element valid at the time of initialization, including  calls to methods, other variables, or literals.</a:t>
            </a:r>
          </a:p>
          <a:p>
            <a:pPr eaLnBrk="1" hangingPunct="1">
              <a:buFont typeface="Wingdings" pitchFamily="2" charset="2"/>
              <a:buChar char="ü"/>
            </a:pPr>
            <a:r>
              <a:rPr lang="en-US" sz="2400" dirty="0">
                <a:latin typeface="Times New Roman" pitchFamily="18" charset="0"/>
              </a:rPr>
              <a:t>When a variable is not initialized, the value of that variable is undefined.</a:t>
            </a:r>
          </a:p>
          <a:p>
            <a:pPr eaLnBrk="1" hangingPunct="1">
              <a:buFont typeface="Wingdings" pitchFamily="2" charset="2"/>
              <a:buNone/>
            </a:pPr>
            <a:endParaRPr lang="en-US" sz="2400" dirty="0">
              <a:latin typeface="Times New Roman" pitchFamily="18" charset="0"/>
            </a:endParaRP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7467600" cy="808038"/>
          </a:xfrm>
        </p:spPr>
        <p:txBody>
          <a:bodyPr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Scope and Lifetime of a variable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219200"/>
            <a:ext cx="8305800" cy="5254625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Char char="ü"/>
            </a:pPr>
            <a:r>
              <a:rPr lang="en-US" sz="2400" dirty="0">
                <a:latin typeface="Times New Roman" pitchFamily="18" charset="0"/>
              </a:rPr>
              <a:t>A block begins with an opening curly brace and ends by a closing curly brace.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Char char="ü"/>
            </a:pPr>
            <a:r>
              <a:rPr lang="en-US" sz="2400" dirty="0">
                <a:latin typeface="Times New Roman" pitchFamily="18" charset="0"/>
              </a:rPr>
              <a:t>A block determines scope, that defines which objects are visible to other parts of your program.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Char char="ü"/>
            </a:pPr>
            <a:r>
              <a:rPr lang="en-US" sz="2400" dirty="0">
                <a:latin typeface="Times New Roman" pitchFamily="18" charset="0"/>
              </a:rPr>
              <a:t>Variables declared within a block localize themselves.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Char char="ü"/>
            </a:pPr>
            <a:r>
              <a:rPr lang="en-US" sz="2400" dirty="0">
                <a:latin typeface="Times New Roman" pitchFamily="18" charset="0"/>
              </a:rPr>
              <a:t>In case of nested block, the outer block encloses the inner block. The variables declared in the outer block is visible to the inner block but the reverse is not true.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Char char="ü"/>
            </a:pPr>
            <a:r>
              <a:rPr lang="en-US" sz="2400" dirty="0">
                <a:latin typeface="Times New Roman" pitchFamily="18" charset="0"/>
              </a:rPr>
              <a:t>A variable will not hold it’s value once it has gone out of it’s scope.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Char char="ü"/>
            </a:pPr>
            <a:r>
              <a:rPr lang="en-US" sz="2400" dirty="0">
                <a:latin typeface="Times New Roman" pitchFamily="18" charset="0"/>
              </a:rPr>
              <a:t>In an inner block, it is not possible to declare a variable of the same name as in outer block.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Char char="ü"/>
            </a:pPr>
            <a:endParaRPr lang="en-US" sz="2400" dirty="0">
              <a:latin typeface="Times New Roman" pitchFamily="18" charset="0"/>
            </a:endParaRP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Scope and Lifetime of a variable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600200"/>
            <a:ext cx="8305800" cy="4873625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Example: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public static void main( String 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args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[])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	int x =10;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	if ( x == 10)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	{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		int y =20;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(“x and y: “ +x +” “+y);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		x= y * 2;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	}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	y= 100;  //Error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 (“x is “+x);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sz="2000" dirty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4400" b="1" dirty="0">
                <a:latin typeface="Times New Roman" pitchFamily="18" charset="0"/>
                <a:cs typeface="Times New Roman" pitchFamily="18" charset="0"/>
              </a:rPr>
              <a:t>Automatic Type Conversion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143000"/>
            <a:ext cx="8305800" cy="5330825"/>
          </a:xfrm>
        </p:spPr>
        <p:txBody>
          <a:bodyPr/>
          <a:lstStyle/>
          <a:p>
            <a:pPr eaLnBrk="1" hangingPunct="1">
              <a:buFont typeface="Wingdings" pitchFamily="2" charset="2"/>
              <a:buChar char="ü"/>
            </a:pPr>
            <a:r>
              <a:rPr lang="en-US" sz="2400" dirty="0">
                <a:latin typeface="Times New Roman" pitchFamily="18" charset="0"/>
              </a:rPr>
              <a:t>When one type of data is assigned to another type of variable, an automatic type conversion will take place if: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400" dirty="0">
                <a:latin typeface="Times New Roman" pitchFamily="18" charset="0"/>
              </a:rPr>
              <a:t>	1. Two types are compatible.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400" dirty="0">
                <a:latin typeface="Times New Roman" pitchFamily="18" charset="0"/>
              </a:rPr>
              <a:t>	2. The destination type is larger than the source type.</a:t>
            </a:r>
          </a:p>
          <a:p>
            <a:pPr eaLnBrk="1" hangingPunct="1">
              <a:buFont typeface="Wingdings" pitchFamily="2" charset="2"/>
              <a:buChar char="ü"/>
            </a:pPr>
            <a:r>
              <a:rPr lang="en-US" sz="2400" dirty="0">
                <a:latin typeface="Times New Roman" pitchFamily="18" charset="0"/>
              </a:rPr>
              <a:t>It is known as widening conversion.</a:t>
            </a:r>
          </a:p>
          <a:p>
            <a:pPr eaLnBrk="1" hangingPunct="1">
              <a:buFont typeface="Wingdings" pitchFamily="2" charset="2"/>
              <a:buChar char="ü"/>
            </a:pPr>
            <a:r>
              <a:rPr lang="en-US" sz="2400" dirty="0">
                <a:latin typeface="Times New Roman" pitchFamily="18" charset="0"/>
              </a:rPr>
              <a:t>The numeric types, including integer and floating point types are compatible.</a:t>
            </a:r>
          </a:p>
          <a:p>
            <a:pPr eaLnBrk="1" hangingPunct="1">
              <a:buFont typeface="Wingdings" pitchFamily="2" charset="2"/>
              <a:buChar char="ü"/>
            </a:pPr>
            <a:r>
              <a:rPr lang="en-US" sz="2400" dirty="0">
                <a:latin typeface="Times New Roman" pitchFamily="18" charset="0"/>
              </a:rPr>
              <a:t>Numeric types are not compatible with char or boolean.</a:t>
            </a:r>
          </a:p>
          <a:p>
            <a:pPr eaLnBrk="1" hangingPunct="1">
              <a:buFont typeface="Wingdings" pitchFamily="2" charset="2"/>
              <a:buChar char="ü"/>
            </a:pPr>
            <a:r>
              <a:rPr lang="en-US" sz="2400" dirty="0">
                <a:latin typeface="Times New Roman" pitchFamily="18" charset="0"/>
              </a:rPr>
              <a:t>Char and boolean are not compatible with each other.</a:t>
            </a: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4400" b="1" dirty="0">
                <a:latin typeface="Times New Roman" pitchFamily="18" charset="0"/>
                <a:cs typeface="Times New Roman" pitchFamily="18" charset="0"/>
              </a:rPr>
              <a:t>Casting Type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81000" y="1600200"/>
            <a:ext cx="8763000" cy="4724400"/>
          </a:xfrm>
        </p:spPr>
        <p:txBody>
          <a:bodyPr/>
          <a:lstStyle/>
          <a:p>
            <a:pPr eaLnBrk="1" hangingPunct="1">
              <a:buFont typeface="Wingdings" pitchFamily="2" charset="2"/>
              <a:buChar char="ü"/>
            </a:pPr>
            <a:r>
              <a:rPr lang="en-US" sz="2400" dirty="0">
                <a:latin typeface="Times New Roman" pitchFamily="18" charset="0"/>
              </a:rPr>
              <a:t>Problem: assigning int value to a byte type variable.</a:t>
            </a:r>
          </a:p>
          <a:p>
            <a:pPr eaLnBrk="1" hangingPunct="1">
              <a:buFont typeface="Wingdings" pitchFamily="2" charset="2"/>
              <a:buChar char="ü"/>
            </a:pPr>
            <a:r>
              <a:rPr lang="en-US" sz="2400" dirty="0">
                <a:latin typeface="Times New Roman" pitchFamily="18" charset="0"/>
              </a:rPr>
              <a:t>This type of conversion is known as narrowing conversion.</a:t>
            </a:r>
          </a:p>
          <a:p>
            <a:pPr eaLnBrk="1" hangingPunct="1">
              <a:buFont typeface="Wingdings" pitchFamily="2" charset="2"/>
              <a:buChar char="ü"/>
            </a:pPr>
            <a:r>
              <a:rPr lang="en-US" sz="2400" dirty="0">
                <a:latin typeface="Times New Roman" pitchFamily="18" charset="0"/>
              </a:rPr>
              <a:t>A cast is simply an explicit type conversion : (</a:t>
            </a:r>
            <a:r>
              <a:rPr lang="en-US" sz="2400" dirty="0" err="1">
                <a:latin typeface="Times New Roman" pitchFamily="18" charset="0"/>
              </a:rPr>
              <a:t>target_type</a:t>
            </a:r>
            <a:r>
              <a:rPr lang="en-US" sz="2400" dirty="0">
                <a:latin typeface="Times New Roman" pitchFamily="18" charset="0"/>
              </a:rPr>
              <a:t>) value</a:t>
            </a:r>
          </a:p>
          <a:p>
            <a:pPr eaLnBrk="1" hangingPunct="1">
              <a:buFont typeface="Wingdings" pitchFamily="2" charset="2"/>
              <a:buChar char="ü"/>
            </a:pPr>
            <a:r>
              <a:rPr lang="en-US" sz="2400" dirty="0">
                <a:latin typeface="Times New Roman" pitchFamily="18" charset="0"/>
              </a:rPr>
              <a:t>Example: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400" dirty="0">
                <a:latin typeface="Courier New" pitchFamily="49" charset="0"/>
                <a:cs typeface="Courier New" pitchFamily="49" charset="0"/>
              </a:rPr>
              <a:t>	int a;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400" dirty="0">
                <a:latin typeface="Courier New" pitchFamily="49" charset="0"/>
                <a:cs typeface="Courier New" pitchFamily="49" charset="0"/>
              </a:rPr>
              <a:t>	byte b;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400" dirty="0">
                <a:latin typeface="Courier New" pitchFamily="49" charset="0"/>
                <a:cs typeface="Courier New" pitchFamily="49" charset="0"/>
              </a:rPr>
              <a:t>	…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400" dirty="0">
                <a:latin typeface="Courier New" pitchFamily="49" charset="0"/>
                <a:cs typeface="Courier New" pitchFamily="49" charset="0"/>
              </a:rPr>
              <a:t>	b = (byte) a;</a:t>
            </a:r>
          </a:p>
          <a:p>
            <a:pPr eaLnBrk="1" hangingPunct="1">
              <a:buFont typeface="Wingdings" pitchFamily="2" charset="2"/>
              <a:buNone/>
            </a:pPr>
            <a:endParaRPr lang="en-US" sz="2400" dirty="0">
              <a:latin typeface="Times New Roman" pitchFamily="18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sz="2400" dirty="0">
                <a:latin typeface="Times New Roman" pitchFamily="18" charset="0"/>
              </a:rPr>
              <a:t>Contains the remainder of an integer division by byte’s range.</a:t>
            </a:r>
          </a:p>
        </p:txBody>
      </p:sp>
      <p:sp>
        <p:nvSpPr>
          <p:cNvPr id="13316" name="Line 4"/>
          <p:cNvSpPr>
            <a:spLocks noChangeShapeType="1"/>
          </p:cNvSpPr>
          <p:nvPr/>
        </p:nvSpPr>
        <p:spPr bwMode="auto">
          <a:xfrm flipH="1">
            <a:off x="685800" y="5105400"/>
            <a:ext cx="228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arrow" w="med" len="med"/>
            <a:tailEnd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4400" b="1" dirty="0">
                <a:latin typeface="Times New Roman" pitchFamily="18" charset="0"/>
                <a:cs typeface="Times New Roman" pitchFamily="18" charset="0"/>
              </a:rPr>
              <a:t>Casting Type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228600" y="1295400"/>
            <a:ext cx="8915400" cy="5178425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class test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	public static void main(String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args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[])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	{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		byte b;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		int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= 257;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		double d = 323.142;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		b=(byte)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(“Conversion of int to byte: ” +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+” “+b);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= (int)d;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(“Conversion of double to int: “ +d+” “+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		b=(byte)d;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(“Conversion of double to byte: “ +d+” “+b);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	}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};</a:t>
            </a:r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4400" b="1" dirty="0">
                <a:latin typeface="Times New Roman" pitchFamily="18" charset="0"/>
                <a:cs typeface="Times New Roman" pitchFamily="18" charset="0"/>
              </a:rPr>
              <a:t>Casting Type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600200"/>
            <a:ext cx="8305800" cy="4873625"/>
          </a:xfrm>
        </p:spPr>
        <p:txBody>
          <a:bodyPr/>
          <a:lstStyle/>
          <a:p>
            <a:pPr eaLnBrk="1" hangingPunct="1">
              <a:buFont typeface="Wingdings" pitchFamily="2" charset="2"/>
              <a:buChar char="ü"/>
            </a:pPr>
            <a:r>
              <a:rPr lang="en-US" sz="2400" dirty="0">
                <a:latin typeface="Times New Roman" pitchFamily="18" charset="0"/>
              </a:rPr>
              <a:t>Output: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400" dirty="0">
                <a:latin typeface="Courier New" pitchFamily="49" charset="0"/>
                <a:cs typeface="Courier New" pitchFamily="49" charset="0"/>
              </a:rPr>
              <a:t>	Conversion of int to byte: 257  1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400" dirty="0">
                <a:latin typeface="Courier New" pitchFamily="49" charset="0"/>
                <a:cs typeface="Courier New" pitchFamily="49" charset="0"/>
              </a:rPr>
              <a:t>	Conversion of double to int: 323.142  323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400" dirty="0">
                <a:latin typeface="Courier New" pitchFamily="49" charset="0"/>
                <a:cs typeface="Courier New" pitchFamily="49" charset="0"/>
              </a:rPr>
              <a:t>	Conversion of double to byte: 323.142  67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400" dirty="0">
                <a:latin typeface="Times New Roman" pitchFamily="18" charset="0"/>
              </a:rPr>
              <a:t>	</a:t>
            </a:r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4400" b="1" dirty="0">
                <a:latin typeface="Times New Roman" pitchFamily="18" charset="0"/>
                <a:cs typeface="Times New Roman" pitchFamily="18" charset="0"/>
              </a:rPr>
              <a:t>Automatic Type Promotion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219200"/>
            <a:ext cx="8458200" cy="5254625"/>
          </a:xfrm>
        </p:spPr>
        <p:txBody>
          <a:bodyPr/>
          <a:lstStyle/>
          <a:p>
            <a:pPr eaLnBrk="1" hangingPunct="1">
              <a:buFont typeface="Wingdings" pitchFamily="2" charset="2"/>
              <a:buChar char="ü"/>
            </a:pPr>
            <a:r>
              <a:rPr lang="en-US" dirty="0">
                <a:latin typeface="Times New Roman" pitchFamily="18" charset="0"/>
              </a:rPr>
              <a:t>Takes place in expression.</a:t>
            </a:r>
          </a:p>
          <a:p>
            <a:pPr eaLnBrk="1" hangingPunct="1">
              <a:buFont typeface="Wingdings" pitchFamily="2" charset="2"/>
              <a:buChar char="ü"/>
            </a:pPr>
            <a:r>
              <a:rPr lang="en-US" b="1" u="sng" dirty="0">
                <a:latin typeface="Times New Roman" pitchFamily="18" charset="0"/>
              </a:rPr>
              <a:t>Rules: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dirty="0">
                <a:latin typeface="Times New Roman" pitchFamily="18" charset="0"/>
              </a:rPr>
              <a:t>	1. All byte, short and char values are promoted to int.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dirty="0">
                <a:latin typeface="Times New Roman" pitchFamily="18" charset="0"/>
              </a:rPr>
              <a:t>	2. If one operand is long, the whole expression is promoted to long.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dirty="0">
                <a:latin typeface="Times New Roman" pitchFamily="18" charset="0"/>
              </a:rPr>
              <a:t>	3.If one operand is float, the entire expression is promoted to float.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dirty="0">
                <a:latin typeface="Times New Roman" pitchFamily="18" charset="0"/>
              </a:rPr>
              <a:t>	4. If one operand is double, the entire expression is promoted to double.</a:t>
            </a:r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4400" b="1" dirty="0">
                <a:latin typeface="Times New Roman" pitchFamily="18" charset="0"/>
                <a:cs typeface="Times New Roman" pitchFamily="18" charset="0"/>
              </a:rPr>
              <a:t>Example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066800"/>
            <a:ext cx="8458200" cy="5407025"/>
          </a:xfrm>
        </p:spPr>
        <p:txBody>
          <a:bodyPr/>
          <a:lstStyle/>
          <a:p>
            <a:pPr marL="533400" indent="-533400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400" dirty="0">
                <a:latin typeface="Courier New" pitchFamily="49" charset="0"/>
                <a:cs typeface="Courier New" pitchFamily="49" charset="0"/>
              </a:rPr>
              <a:t>byte b =42;</a:t>
            </a:r>
          </a:p>
          <a:p>
            <a:pPr marL="533400" indent="-533400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400" dirty="0">
                <a:latin typeface="Courier New" pitchFamily="49" charset="0"/>
                <a:cs typeface="Courier New" pitchFamily="49" charset="0"/>
              </a:rPr>
              <a:t>char c=‘a’;</a:t>
            </a:r>
          </a:p>
          <a:p>
            <a:pPr marL="533400" indent="-533400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400" dirty="0">
                <a:latin typeface="Courier New" pitchFamily="49" charset="0"/>
                <a:cs typeface="Courier New" pitchFamily="49" charset="0"/>
              </a:rPr>
              <a:t>short s=1024;</a:t>
            </a:r>
          </a:p>
          <a:p>
            <a:pPr marL="533400" indent="-533400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400" dirty="0">
                <a:latin typeface="Courier New" pitchFamily="49" charset="0"/>
                <a:cs typeface="Courier New" pitchFamily="49" charset="0"/>
              </a:rPr>
              <a:t>int </a:t>
            </a:r>
            <a:r>
              <a:rPr lang="en-US" sz="24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400" dirty="0">
                <a:latin typeface="Courier New" pitchFamily="49" charset="0"/>
                <a:cs typeface="Courier New" pitchFamily="49" charset="0"/>
              </a:rPr>
              <a:t>=50000;</a:t>
            </a:r>
          </a:p>
          <a:p>
            <a:pPr marL="533400" indent="-533400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400" dirty="0">
                <a:latin typeface="Courier New" pitchFamily="49" charset="0"/>
                <a:cs typeface="Courier New" pitchFamily="49" charset="0"/>
              </a:rPr>
              <a:t>float f=5.67f;</a:t>
            </a:r>
          </a:p>
          <a:p>
            <a:pPr marL="533400" indent="-533400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400" dirty="0">
                <a:latin typeface="Courier New" pitchFamily="49" charset="0"/>
                <a:cs typeface="Courier New" pitchFamily="49" charset="0"/>
              </a:rPr>
              <a:t>double d=.1234;</a:t>
            </a:r>
          </a:p>
          <a:p>
            <a:pPr marL="533400" indent="-533400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400" dirty="0">
                <a:latin typeface="Courier New" pitchFamily="49" charset="0"/>
                <a:cs typeface="Courier New" pitchFamily="49" charset="0"/>
              </a:rPr>
              <a:t>double result = (f * b) + (</a:t>
            </a:r>
            <a:r>
              <a:rPr lang="en-US" sz="24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400" dirty="0">
                <a:latin typeface="Courier New" pitchFamily="49" charset="0"/>
                <a:cs typeface="Courier New" pitchFamily="49" charset="0"/>
              </a:rPr>
              <a:t> / c) – (d * s);</a:t>
            </a:r>
          </a:p>
          <a:p>
            <a:pPr marL="533400" indent="-533400" eaLnBrk="1" hangingPunct="1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en-US" sz="2400" dirty="0">
                <a:latin typeface="Courier New" pitchFamily="49" charset="0"/>
                <a:cs typeface="Courier New" pitchFamily="49" charset="0"/>
              </a:rPr>
              <a:t>(f * b) is promoted to float.</a:t>
            </a:r>
          </a:p>
          <a:p>
            <a:pPr marL="533400" indent="-533400" eaLnBrk="1" hangingPunct="1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en-US" sz="24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4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400" dirty="0">
                <a:latin typeface="Courier New" pitchFamily="49" charset="0"/>
                <a:cs typeface="Courier New" pitchFamily="49" charset="0"/>
              </a:rPr>
              <a:t> / c) is promoted to int.</a:t>
            </a:r>
          </a:p>
          <a:p>
            <a:pPr marL="533400" indent="-533400" eaLnBrk="1" hangingPunct="1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en-US" sz="2400" dirty="0">
                <a:latin typeface="Courier New" pitchFamily="49" charset="0"/>
                <a:cs typeface="Courier New" pitchFamily="49" charset="0"/>
              </a:rPr>
              <a:t>(d *s ) is promoted to double.</a:t>
            </a:r>
          </a:p>
          <a:p>
            <a:pPr marL="533400" indent="-533400" eaLnBrk="1" hangingPunct="1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en-US" sz="2400" dirty="0" err="1">
                <a:latin typeface="Courier New" pitchFamily="49" charset="0"/>
                <a:cs typeface="Courier New" pitchFamily="49" charset="0"/>
              </a:rPr>
              <a:t>float+int</a:t>
            </a:r>
            <a:r>
              <a:rPr lang="en-US" sz="2400" dirty="0">
                <a:latin typeface="Courier New" pitchFamily="49" charset="0"/>
                <a:cs typeface="Courier New" pitchFamily="49" charset="0"/>
              </a:rPr>
              <a:t>–double = float–double = double</a:t>
            </a:r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4400" b="1" dirty="0">
                <a:latin typeface="Times New Roman" pitchFamily="18" charset="0"/>
                <a:cs typeface="Times New Roman" pitchFamily="18" charset="0"/>
              </a:rPr>
              <a:t>Example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pPr marL="533400" indent="-533400" eaLnBrk="1" hangingPunct="1">
              <a:buFont typeface="Wingdings" pitchFamily="2" charset="2"/>
              <a:buAutoNum type="arabicPeriod"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byte a =40, b= 50, c =100;</a:t>
            </a:r>
          </a:p>
          <a:p>
            <a:pPr marL="533400" indent="-533400" eaLnBrk="1" hangingPunct="1">
              <a:buFont typeface="Wingdings" pitchFamily="2" charset="2"/>
              <a:buNone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	int d = a * b /c;</a:t>
            </a:r>
          </a:p>
          <a:p>
            <a:pPr marL="533400" indent="-533400" eaLnBrk="1" hangingPunct="1">
              <a:buFont typeface="Wingdings" pitchFamily="2" charset="2"/>
              <a:buNone/>
            </a:pPr>
            <a:endParaRPr lang="en-US" dirty="0">
              <a:latin typeface="Times New Roman" pitchFamily="18" charset="0"/>
            </a:endParaRPr>
          </a:p>
          <a:p>
            <a:pPr marL="533400" indent="-533400" eaLnBrk="1" hangingPunct="1">
              <a:buFont typeface="Wingdings" pitchFamily="2" charset="2"/>
              <a:buNone/>
            </a:pPr>
            <a:r>
              <a:rPr lang="en-US" dirty="0">
                <a:latin typeface="Times New Roman" pitchFamily="18" charset="0"/>
              </a:rPr>
              <a:t>2.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byte b =50;</a:t>
            </a:r>
          </a:p>
          <a:p>
            <a:pPr marL="533400" indent="-533400" eaLnBrk="1" hangingPunct="1">
              <a:buFont typeface="Wingdings" pitchFamily="2" charset="2"/>
              <a:buNone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    b = b * 2;  //Error</a:t>
            </a:r>
          </a:p>
          <a:p>
            <a:pPr marL="533400" indent="-533400" eaLnBrk="1" hangingPunct="1">
              <a:buFont typeface="Wingdings" pitchFamily="2" charset="2"/>
              <a:buNone/>
            </a:pPr>
            <a:endParaRPr lang="en-US" dirty="0">
              <a:latin typeface="Times New Roman" pitchFamily="18" charset="0"/>
            </a:endParaRPr>
          </a:p>
          <a:p>
            <a:pPr marL="533400" indent="-533400" eaLnBrk="1" hangingPunct="1">
              <a:buFont typeface="Wingdings" pitchFamily="2" charset="2"/>
              <a:buNone/>
            </a:pPr>
            <a:r>
              <a:rPr lang="en-US" dirty="0">
                <a:latin typeface="Times New Roman" pitchFamily="18" charset="0"/>
              </a:rPr>
              <a:t>3.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byte b =50;</a:t>
            </a:r>
          </a:p>
          <a:p>
            <a:pPr marL="533400" indent="-533400" eaLnBrk="1" hangingPunct="1">
              <a:buFont typeface="Wingdings" pitchFamily="2" charset="2"/>
              <a:buNone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    b = (byte</a:t>
            </a:r>
            <a:r>
              <a:rPr lang="en-US">
                <a:latin typeface="Courier New" pitchFamily="49" charset="0"/>
                <a:cs typeface="Courier New" pitchFamily="49" charset="0"/>
              </a:rPr>
              <a:t>) ((byte)b * 2); 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  <a:p>
            <a:pPr marL="533400" indent="-533400" eaLnBrk="1" hangingPunct="1">
              <a:buFont typeface="Wingdings" pitchFamily="2" charset="2"/>
              <a:buNone/>
            </a:pPr>
            <a:endParaRPr lang="en-US" dirty="0">
              <a:latin typeface="Times New Roman" pitchFamily="18" charset="0"/>
            </a:endParaRPr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95399"/>
            <a:ext cx="8229600" cy="4495801"/>
          </a:xfrm>
        </p:spPr>
        <p:txBody>
          <a:bodyPr/>
          <a:lstStyle/>
          <a:p>
            <a:pPr>
              <a:buNone/>
            </a:pPr>
            <a:endParaRPr lang="en-US" sz="7200" noProof="1">
              <a:solidFill>
                <a:srgbClr val="024069"/>
              </a:solidFill>
            </a:endParaRPr>
          </a:p>
          <a:p>
            <a:pPr marL="0" indent="0" algn="ctr">
              <a:buNone/>
            </a:pPr>
            <a:r>
              <a:rPr lang="en-US" sz="7200" noProof="1">
                <a:solidFill>
                  <a:srgbClr val="024069"/>
                </a:solidFill>
              </a:rPr>
              <a:t>Thank You</a:t>
            </a:r>
          </a:p>
        </p:txBody>
      </p:sp>
      <p:grpSp>
        <p:nvGrpSpPr>
          <p:cNvPr id="2" name="Group 11"/>
          <p:cNvGrpSpPr>
            <a:grpSpLocks/>
          </p:cNvGrpSpPr>
          <p:nvPr/>
        </p:nvGrpSpPr>
        <p:grpSpPr bwMode="auto">
          <a:xfrm>
            <a:off x="609600" y="533400"/>
            <a:ext cx="303213" cy="303213"/>
            <a:chOff x="703" y="300"/>
            <a:chExt cx="181" cy="181"/>
          </a:xfrm>
        </p:grpSpPr>
        <p:sp>
          <p:nvSpPr>
            <p:cNvPr id="4108" name="Freeform 12"/>
            <p:cNvSpPr>
              <a:spLocks/>
            </p:cNvSpPr>
            <p:nvPr/>
          </p:nvSpPr>
          <p:spPr bwMode="auto">
            <a:xfrm>
              <a:off x="736" y="300"/>
              <a:ext cx="81" cy="46"/>
            </a:xfrm>
            <a:custGeom>
              <a:avLst/>
              <a:gdLst/>
              <a:ahLst/>
              <a:cxnLst>
                <a:cxn ang="0">
                  <a:pos x="247" y="124"/>
                </a:cxn>
                <a:cxn ang="0">
                  <a:pos x="283" y="11"/>
                </a:cxn>
                <a:cxn ang="0">
                  <a:pos x="283" y="11"/>
                </a:cxn>
                <a:cxn ang="0">
                  <a:pos x="264" y="6"/>
                </a:cxn>
                <a:cxn ang="0">
                  <a:pos x="244" y="3"/>
                </a:cxn>
                <a:cxn ang="0">
                  <a:pos x="226" y="2"/>
                </a:cxn>
                <a:cxn ang="0">
                  <a:pos x="206" y="0"/>
                </a:cxn>
                <a:cxn ang="0">
                  <a:pos x="187" y="0"/>
                </a:cxn>
                <a:cxn ang="0">
                  <a:pos x="169" y="2"/>
                </a:cxn>
                <a:cxn ang="0">
                  <a:pos x="150" y="4"/>
                </a:cxn>
                <a:cxn ang="0">
                  <a:pos x="131" y="7"/>
                </a:cxn>
                <a:cxn ang="0">
                  <a:pos x="114" y="12"/>
                </a:cxn>
                <a:cxn ang="0">
                  <a:pos x="97" y="18"/>
                </a:cxn>
                <a:cxn ang="0">
                  <a:pos x="79" y="24"/>
                </a:cxn>
                <a:cxn ang="0">
                  <a:pos x="62" y="32"/>
                </a:cxn>
                <a:cxn ang="0">
                  <a:pos x="45" y="40"/>
                </a:cxn>
                <a:cxn ang="0">
                  <a:pos x="29" y="49"/>
                </a:cxn>
                <a:cxn ang="0">
                  <a:pos x="14" y="60"/>
                </a:cxn>
                <a:cxn ang="0">
                  <a:pos x="0" y="71"/>
                </a:cxn>
                <a:cxn ang="0">
                  <a:pos x="79" y="160"/>
                </a:cxn>
                <a:cxn ang="0">
                  <a:pos x="79" y="160"/>
                </a:cxn>
                <a:cxn ang="0">
                  <a:pos x="97" y="147"/>
                </a:cxn>
                <a:cxn ang="0">
                  <a:pos x="116" y="136"/>
                </a:cxn>
                <a:cxn ang="0">
                  <a:pos x="136" y="128"/>
                </a:cxn>
                <a:cxn ang="0">
                  <a:pos x="157" y="123"/>
                </a:cxn>
                <a:cxn ang="0">
                  <a:pos x="179" y="119"/>
                </a:cxn>
                <a:cxn ang="0">
                  <a:pos x="201" y="118"/>
                </a:cxn>
                <a:cxn ang="0">
                  <a:pos x="223" y="120"/>
                </a:cxn>
                <a:cxn ang="0">
                  <a:pos x="247" y="124"/>
                </a:cxn>
                <a:cxn ang="0">
                  <a:pos x="247" y="124"/>
                </a:cxn>
              </a:cxnLst>
              <a:rect l="0" t="0" r="r" b="b"/>
              <a:pathLst>
                <a:path w="283" h="160">
                  <a:moveTo>
                    <a:pt x="247" y="124"/>
                  </a:moveTo>
                  <a:lnTo>
                    <a:pt x="283" y="11"/>
                  </a:lnTo>
                  <a:lnTo>
                    <a:pt x="283" y="11"/>
                  </a:lnTo>
                  <a:lnTo>
                    <a:pt x="264" y="6"/>
                  </a:lnTo>
                  <a:lnTo>
                    <a:pt x="244" y="3"/>
                  </a:lnTo>
                  <a:lnTo>
                    <a:pt x="226" y="2"/>
                  </a:lnTo>
                  <a:lnTo>
                    <a:pt x="206" y="0"/>
                  </a:lnTo>
                  <a:lnTo>
                    <a:pt x="187" y="0"/>
                  </a:lnTo>
                  <a:lnTo>
                    <a:pt x="169" y="2"/>
                  </a:lnTo>
                  <a:lnTo>
                    <a:pt x="150" y="4"/>
                  </a:lnTo>
                  <a:lnTo>
                    <a:pt x="131" y="7"/>
                  </a:lnTo>
                  <a:lnTo>
                    <a:pt x="114" y="12"/>
                  </a:lnTo>
                  <a:lnTo>
                    <a:pt x="97" y="18"/>
                  </a:lnTo>
                  <a:lnTo>
                    <a:pt x="79" y="24"/>
                  </a:lnTo>
                  <a:lnTo>
                    <a:pt x="62" y="32"/>
                  </a:lnTo>
                  <a:lnTo>
                    <a:pt x="45" y="40"/>
                  </a:lnTo>
                  <a:lnTo>
                    <a:pt x="29" y="49"/>
                  </a:lnTo>
                  <a:lnTo>
                    <a:pt x="14" y="60"/>
                  </a:lnTo>
                  <a:lnTo>
                    <a:pt x="0" y="71"/>
                  </a:lnTo>
                  <a:lnTo>
                    <a:pt x="79" y="160"/>
                  </a:lnTo>
                  <a:lnTo>
                    <a:pt x="79" y="160"/>
                  </a:lnTo>
                  <a:lnTo>
                    <a:pt x="97" y="147"/>
                  </a:lnTo>
                  <a:lnTo>
                    <a:pt x="116" y="136"/>
                  </a:lnTo>
                  <a:lnTo>
                    <a:pt x="136" y="128"/>
                  </a:lnTo>
                  <a:lnTo>
                    <a:pt x="157" y="123"/>
                  </a:lnTo>
                  <a:lnTo>
                    <a:pt x="179" y="119"/>
                  </a:lnTo>
                  <a:lnTo>
                    <a:pt x="201" y="118"/>
                  </a:lnTo>
                  <a:lnTo>
                    <a:pt x="223" y="120"/>
                  </a:lnTo>
                  <a:lnTo>
                    <a:pt x="247" y="124"/>
                  </a:lnTo>
                  <a:lnTo>
                    <a:pt x="247" y="124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09" name="Freeform 13"/>
            <p:cNvSpPr>
              <a:spLocks/>
            </p:cNvSpPr>
            <p:nvPr/>
          </p:nvSpPr>
          <p:spPr bwMode="auto">
            <a:xfrm>
              <a:off x="835" y="376"/>
              <a:ext cx="49" cy="79"/>
            </a:xfrm>
            <a:custGeom>
              <a:avLst/>
              <a:gdLst/>
              <a:ahLst/>
              <a:cxnLst>
                <a:cxn ang="0">
                  <a:pos x="44" y="113"/>
                </a:cxn>
                <a:cxn ang="0">
                  <a:pos x="44" y="113"/>
                </a:cxn>
                <a:cxn ang="0">
                  <a:pos x="36" y="134"/>
                </a:cxn>
                <a:cxn ang="0">
                  <a:pos x="26" y="154"/>
                </a:cxn>
                <a:cxn ang="0">
                  <a:pos x="14" y="171"/>
                </a:cxn>
                <a:cxn ang="0">
                  <a:pos x="0" y="188"/>
                </a:cxn>
                <a:cxn ang="0">
                  <a:pos x="79" y="276"/>
                </a:cxn>
                <a:cxn ang="0">
                  <a:pos x="79" y="276"/>
                </a:cxn>
                <a:cxn ang="0">
                  <a:pos x="92" y="263"/>
                </a:cxn>
                <a:cxn ang="0">
                  <a:pos x="104" y="249"/>
                </a:cxn>
                <a:cxn ang="0">
                  <a:pos x="115" y="234"/>
                </a:cxn>
                <a:cxn ang="0">
                  <a:pos x="125" y="219"/>
                </a:cxn>
                <a:cxn ang="0">
                  <a:pos x="135" y="203"/>
                </a:cxn>
                <a:cxn ang="0">
                  <a:pos x="143" y="185"/>
                </a:cxn>
                <a:cxn ang="0">
                  <a:pos x="150" y="168"/>
                </a:cxn>
                <a:cxn ang="0">
                  <a:pos x="157" y="149"/>
                </a:cxn>
                <a:cxn ang="0">
                  <a:pos x="157" y="149"/>
                </a:cxn>
                <a:cxn ang="0">
                  <a:pos x="163" y="131"/>
                </a:cxn>
                <a:cxn ang="0">
                  <a:pos x="166" y="112"/>
                </a:cxn>
                <a:cxn ang="0">
                  <a:pos x="170" y="93"/>
                </a:cxn>
                <a:cxn ang="0">
                  <a:pos x="172" y="75"/>
                </a:cxn>
                <a:cxn ang="0">
                  <a:pos x="172" y="56"/>
                </a:cxn>
                <a:cxn ang="0">
                  <a:pos x="172" y="38"/>
                </a:cxn>
                <a:cxn ang="0">
                  <a:pos x="171" y="19"/>
                </a:cxn>
                <a:cxn ang="0">
                  <a:pos x="169" y="0"/>
                </a:cxn>
                <a:cxn ang="0">
                  <a:pos x="52" y="26"/>
                </a:cxn>
                <a:cxn ang="0">
                  <a:pos x="52" y="26"/>
                </a:cxn>
                <a:cxn ang="0">
                  <a:pos x="54" y="47"/>
                </a:cxn>
                <a:cxn ang="0">
                  <a:pos x="54" y="69"/>
                </a:cxn>
                <a:cxn ang="0">
                  <a:pos x="50" y="91"/>
                </a:cxn>
                <a:cxn ang="0">
                  <a:pos x="44" y="113"/>
                </a:cxn>
                <a:cxn ang="0">
                  <a:pos x="44" y="113"/>
                </a:cxn>
              </a:cxnLst>
              <a:rect l="0" t="0" r="r" b="b"/>
              <a:pathLst>
                <a:path w="172" h="276">
                  <a:moveTo>
                    <a:pt x="44" y="113"/>
                  </a:moveTo>
                  <a:lnTo>
                    <a:pt x="44" y="113"/>
                  </a:lnTo>
                  <a:lnTo>
                    <a:pt x="36" y="134"/>
                  </a:lnTo>
                  <a:lnTo>
                    <a:pt x="26" y="154"/>
                  </a:lnTo>
                  <a:lnTo>
                    <a:pt x="14" y="171"/>
                  </a:lnTo>
                  <a:lnTo>
                    <a:pt x="0" y="188"/>
                  </a:lnTo>
                  <a:lnTo>
                    <a:pt x="79" y="276"/>
                  </a:lnTo>
                  <a:lnTo>
                    <a:pt x="79" y="276"/>
                  </a:lnTo>
                  <a:lnTo>
                    <a:pt x="92" y="263"/>
                  </a:lnTo>
                  <a:lnTo>
                    <a:pt x="104" y="249"/>
                  </a:lnTo>
                  <a:lnTo>
                    <a:pt x="115" y="234"/>
                  </a:lnTo>
                  <a:lnTo>
                    <a:pt x="125" y="219"/>
                  </a:lnTo>
                  <a:lnTo>
                    <a:pt x="135" y="203"/>
                  </a:lnTo>
                  <a:lnTo>
                    <a:pt x="143" y="185"/>
                  </a:lnTo>
                  <a:lnTo>
                    <a:pt x="150" y="168"/>
                  </a:lnTo>
                  <a:lnTo>
                    <a:pt x="157" y="149"/>
                  </a:lnTo>
                  <a:lnTo>
                    <a:pt x="157" y="149"/>
                  </a:lnTo>
                  <a:lnTo>
                    <a:pt x="163" y="131"/>
                  </a:lnTo>
                  <a:lnTo>
                    <a:pt x="166" y="112"/>
                  </a:lnTo>
                  <a:lnTo>
                    <a:pt x="170" y="93"/>
                  </a:lnTo>
                  <a:lnTo>
                    <a:pt x="172" y="75"/>
                  </a:lnTo>
                  <a:lnTo>
                    <a:pt x="172" y="56"/>
                  </a:lnTo>
                  <a:lnTo>
                    <a:pt x="172" y="38"/>
                  </a:lnTo>
                  <a:lnTo>
                    <a:pt x="171" y="19"/>
                  </a:lnTo>
                  <a:lnTo>
                    <a:pt x="169" y="0"/>
                  </a:lnTo>
                  <a:lnTo>
                    <a:pt x="52" y="26"/>
                  </a:lnTo>
                  <a:lnTo>
                    <a:pt x="52" y="26"/>
                  </a:lnTo>
                  <a:lnTo>
                    <a:pt x="54" y="47"/>
                  </a:lnTo>
                  <a:lnTo>
                    <a:pt x="54" y="69"/>
                  </a:lnTo>
                  <a:lnTo>
                    <a:pt x="50" y="91"/>
                  </a:lnTo>
                  <a:lnTo>
                    <a:pt x="44" y="113"/>
                  </a:lnTo>
                  <a:lnTo>
                    <a:pt x="44" y="113"/>
                  </a:lnTo>
                  <a:close/>
                </a:path>
              </a:pathLst>
            </a:custGeom>
            <a:solidFill>
              <a:schemeClr val="accent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10" name="Freeform 14"/>
            <p:cNvSpPr>
              <a:spLocks/>
            </p:cNvSpPr>
            <p:nvPr/>
          </p:nvSpPr>
          <p:spPr bwMode="auto">
            <a:xfrm>
              <a:off x="703" y="326"/>
              <a:ext cx="50" cy="79"/>
            </a:xfrm>
            <a:custGeom>
              <a:avLst/>
              <a:gdLst/>
              <a:ahLst/>
              <a:cxnLst>
                <a:cxn ang="0">
                  <a:pos x="128" y="163"/>
                </a:cxn>
                <a:cxn ang="0">
                  <a:pos x="128" y="163"/>
                </a:cxn>
                <a:cxn ang="0">
                  <a:pos x="136" y="142"/>
                </a:cxn>
                <a:cxn ang="0">
                  <a:pos x="146" y="122"/>
                </a:cxn>
                <a:cxn ang="0">
                  <a:pos x="159" y="105"/>
                </a:cxn>
                <a:cxn ang="0">
                  <a:pos x="173" y="89"/>
                </a:cxn>
                <a:cxn ang="0">
                  <a:pos x="94" y="0"/>
                </a:cxn>
                <a:cxn ang="0">
                  <a:pos x="94" y="0"/>
                </a:cxn>
                <a:cxn ang="0">
                  <a:pos x="81" y="13"/>
                </a:cxn>
                <a:cxn ang="0">
                  <a:pos x="69" y="27"/>
                </a:cxn>
                <a:cxn ang="0">
                  <a:pos x="58" y="42"/>
                </a:cxn>
                <a:cxn ang="0">
                  <a:pos x="47" y="57"/>
                </a:cxn>
                <a:cxn ang="0">
                  <a:pos x="38" y="74"/>
                </a:cxn>
                <a:cxn ang="0">
                  <a:pos x="30" y="91"/>
                </a:cxn>
                <a:cxn ang="0">
                  <a:pos x="22" y="108"/>
                </a:cxn>
                <a:cxn ang="0">
                  <a:pos x="16" y="127"/>
                </a:cxn>
                <a:cxn ang="0">
                  <a:pos x="16" y="127"/>
                </a:cxn>
                <a:cxn ang="0">
                  <a:pos x="10" y="146"/>
                </a:cxn>
                <a:cxn ang="0">
                  <a:pos x="6" y="164"/>
                </a:cxn>
                <a:cxn ang="0">
                  <a:pos x="3" y="183"/>
                </a:cxn>
                <a:cxn ang="0">
                  <a:pos x="1" y="201"/>
                </a:cxn>
                <a:cxn ang="0">
                  <a:pos x="0" y="220"/>
                </a:cxn>
                <a:cxn ang="0">
                  <a:pos x="1" y="239"/>
                </a:cxn>
                <a:cxn ang="0">
                  <a:pos x="2" y="257"/>
                </a:cxn>
                <a:cxn ang="0">
                  <a:pos x="4" y="276"/>
                </a:cxn>
                <a:cxn ang="0">
                  <a:pos x="121" y="250"/>
                </a:cxn>
                <a:cxn ang="0">
                  <a:pos x="121" y="250"/>
                </a:cxn>
                <a:cxn ang="0">
                  <a:pos x="118" y="229"/>
                </a:cxn>
                <a:cxn ang="0">
                  <a:pos x="119" y="207"/>
                </a:cxn>
                <a:cxn ang="0">
                  <a:pos x="122" y="185"/>
                </a:cxn>
                <a:cxn ang="0">
                  <a:pos x="128" y="163"/>
                </a:cxn>
                <a:cxn ang="0">
                  <a:pos x="128" y="163"/>
                </a:cxn>
              </a:cxnLst>
              <a:rect l="0" t="0" r="r" b="b"/>
              <a:pathLst>
                <a:path w="173" h="276">
                  <a:moveTo>
                    <a:pt x="128" y="163"/>
                  </a:moveTo>
                  <a:lnTo>
                    <a:pt x="128" y="163"/>
                  </a:lnTo>
                  <a:lnTo>
                    <a:pt x="136" y="142"/>
                  </a:lnTo>
                  <a:lnTo>
                    <a:pt x="146" y="122"/>
                  </a:lnTo>
                  <a:lnTo>
                    <a:pt x="159" y="105"/>
                  </a:lnTo>
                  <a:lnTo>
                    <a:pt x="173" y="89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81" y="13"/>
                  </a:lnTo>
                  <a:lnTo>
                    <a:pt x="69" y="27"/>
                  </a:lnTo>
                  <a:lnTo>
                    <a:pt x="58" y="42"/>
                  </a:lnTo>
                  <a:lnTo>
                    <a:pt x="47" y="57"/>
                  </a:lnTo>
                  <a:lnTo>
                    <a:pt x="38" y="74"/>
                  </a:lnTo>
                  <a:lnTo>
                    <a:pt x="30" y="91"/>
                  </a:lnTo>
                  <a:lnTo>
                    <a:pt x="22" y="108"/>
                  </a:lnTo>
                  <a:lnTo>
                    <a:pt x="16" y="127"/>
                  </a:lnTo>
                  <a:lnTo>
                    <a:pt x="16" y="127"/>
                  </a:lnTo>
                  <a:lnTo>
                    <a:pt x="10" y="146"/>
                  </a:lnTo>
                  <a:lnTo>
                    <a:pt x="6" y="164"/>
                  </a:lnTo>
                  <a:lnTo>
                    <a:pt x="3" y="183"/>
                  </a:lnTo>
                  <a:lnTo>
                    <a:pt x="1" y="201"/>
                  </a:lnTo>
                  <a:lnTo>
                    <a:pt x="0" y="220"/>
                  </a:lnTo>
                  <a:lnTo>
                    <a:pt x="1" y="239"/>
                  </a:lnTo>
                  <a:lnTo>
                    <a:pt x="2" y="257"/>
                  </a:lnTo>
                  <a:lnTo>
                    <a:pt x="4" y="276"/>
                  </a:lnTo>
                  <a:lnTo>
                    <a:pt x="121" y="250"/>
                  </a:lnTo>
                  <a:lnTo>
                    <a:pt x="121" y="250"/>
                  </a:lnTo>
                  <a:lnTo>
                    <a:pt x="118" y="229"/>
                  </a:lnTo>
                  <a:lnTo>
                    <a:pt x="119" y="207"/>
                  </a:lnTo>
                  <a:lnTo>
                    <a:pt x="122" y="185"/>
                  </a:lnTo>
                  <a:lnTo>
                    <a:pt x="128" y="163"/>
                  </a:lnTo>
                  <a:lnTo>
                    <a:pt x="128" y="163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11" name="Freeform 15"/>
            <p:cNvSpPr>
              <a:spLocks/>
            </p:cNvSpPr>
            <p:nvPr/>
          </p:nvSpPr>
          <p:spPr bwMode="auto">
            <a:xfrm>
              <a:off x="706" y="407"/>
              <a:ext cx="66" cy="68"/>
            </a:xfrm>
            <a:custGeom>
              <a:avLst/>
              <a:gdLst/>
              <a:ahLst/>
              <a:cxnLst>
                <a:cxn ang="0">
                  <a:pos x="115" y="0"/>
                </a:cxn>
                <a:cxn ang="0">
                  <a:pos x="0" y="24"/>
                </a:cxn>
                <a:cxn ang="0">
                  <a:pos x="0" y="24"/>
                </a:cxn>
                <a:cxn ang="0">
                  <a:pos x="5" y="41"/>
                </a:cxn>
                <a:cxn ang="0">
                  <a:pos x="11" y="59"/>
                </a:cxn>
                <a:cxn ang="0">
                  <a:pos x="19" y="76"/>
                </a:cxn>
                <a:cxn ang="0">
                  <a:pos x="27" y="93"/>
                </a:cxn>
                <a:cxn ang="0">
                  <a:pos x="36" y="109"/>
                </a:cxn>
                <a:cxn ang="0">
                  <a:pos x="47" y="124"/>
                </a:cxn>
                <a:cxn ang="0">
                  <a:pos x="57" y="139"/>
                </a:cxn>
                <a:cxn ang="0">
                  <a:pos x="69" y="153"/>
                </a:cxn>
                <a:cxn ang="0">
                  <a:pos x="82" y="167"/>
                </a:cxn>
                <a:cxn ang="0">
                  <a:pos x="96" y="180"/>
                </a:cxn>
                <a:cxn ang="0">
                  <a:pos x="110" y="191"/>
                </a:cxn>
                <a:cxn ang="0">
                  <a:pos x="126" y="203"/>
                </a:cxn>
                <a:cxn ang="0">
                  <a:pos x="141" y="213"/>
                </a:cxn>
                <a:cxn ang="0">
                  <a:pos x="158" y="223"/>
                </a:cxn>
                <a:cxn ang="0">
                  <a:pos x="176" y="231"/>
                </a:cxn>
                <a:cxn ang="0">
                  <a:pos x="193" y="239"/>
                </a:cxn>
                <a:cxn ang="0">
                  <a:pos x="230" y="126"/>
                </a:cxn>
                <a:cxn ang="0">
                  <a:pos x="230" y="126"/>
                </a:cxn>
                <a:cxn ang="0">
                  <a:pos x="210" y="116"/>
                </a:cxn>
                <a:cxn ang="0">
                  <a:pos x="191" y="104"/>
                </a:cxn>
                <a:cxn ang="0">
                  <a:pos x="174" y="90"/>
                </a:cxn>
                <a:cxn ang="0">
                  <a:pos x="157" y="75"/>
                </a:cxn>
                <a:cxn ang="0">
                  <a:pos x="144" y="58"/>
                </a:cxn>
                <a:cxn ang="0">
                  <a:pos x="133" y="39"/>
                </a:cxn>
                <a:cxn ang="0">
                  <a:pos x="122" y="19"/>
                </a:cxn>
                <a:cxn ang="0">
                  <a:pos x="115" y="0"/>
                </a:cxn>
                <a:cxn ang="0">
                  <a:pos x="115" y="0"/>
                </a:cxn>
              </a:cxnLst>
              <a:rect l="0" t="0" r="r" b="b"/>
              <a:pathLst>
                <a:path w="230" h="239">
                  <a:moveTo>
                    <a:pt x="115" y="0"/>
                  </a:moveTo>
                  <a:lnTo>
                    <a:pt x="0" y="24"/>
                  </a:lnTo>
                  <a:lnTo>
                    <a:pt x="0" y="24"/>
                  </a:lnTo>
                  <a:lnTo>
                    <a:pt x="5" y="41"/>
                  </a:lnTo>
                  <a:lnTo>
                    <a:pt x="11" y="59"/>
                  </a:lnTo>
                  <a:lnTo>
                    <a:pt x="19" y="76"/>
                  </a:lnTo>
                  <a:lnTo>
                    <a:pt x="27" y="93"/>
                  </a:lnTo>
                  <a:lnTo>
                    <a:pt x="36" y="109"/>
                  </a:lnTo>
                  <a:lnTo>
                    <a:pt x="47" y="124"/>
                  </a:lnTo>
                  <a:lnTo>
                    <a:pt x="57" y="139"/>
                  </a:lnTo>
                  <a:lnTo>
                    <a:pt x="69" y="153"/>
                  </a:lnTo>
                  <a:lnTo>
                    <a:pt x="82" y="167"/>
                  </a:lnTo>
                  <a:lnTo>
                    <a:pt x="96" y="180"/>
                  </a:lnTo>
                  <a:lnTo>
                    <a:pt x="110" y="191"/>
                  </a:lnTo>
                  <a:lnTo>
                    <a:pt x="126" y="203"/>
                  </a:lnTo>
                  <a:lnTo>
                    <a:pt x="141" y="213"/>
                  </a:lnTo>
                  <a:lnTo>
                    <a:pt x="158" y="223"/>
                  </a:lnTo>
                  <a:lnTo>
                    <a:pt x="176" y="231"/>
                  </a:lnTo>
                  <a:lnTo>
                    <a:pt x="193" y="239"/>
                  </a:lnTo>
                  <a:lnTo>
                    <a:pt x="230" y="126"/>
                  </a:lnTo>
                  <a:lnTo>
                    <a:pt x="230" y="126"/>
                  </a:lnTo>
                  <a:lnTo>
                    <a:pt x="210" y="116"/>
                  </a:lnTo>
                  <a:lnTo>
                    <a:pt x="191" y="104"/>
                  </a:lnTo>
                  <a:lnTo>
                    <a:pt x="174" y="90"/>
                  </a:lnTo>
                  <a:lnTo>
                    <a:pt x="157" y="75"/>
                  </a:lnTo>
                  <a:lnTo>
                    <a:pt x="144" y="58"/>
                  </a:lnTo>
                  <a:lnTo>
                    <a:pt x="133" y="39"/>
                  </a:lnTo>
                  <a:lnTo>
                    <a:pt x="122" y="19"/>
                  </a:lnTo>
                  <a:lnTo>
                    <a:pt x="115" y="0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12" name="Freeform 16"/>
            <p:cNvSpPr>
              <a:spLocks/>
            </p:cNvSpPr>
            <p:nvPr/>
          </p:nvSpPr>
          <p:spPr bwMode="auto">
            <a:xfrm>
              <a:off x="815" y="306"/>
              <a:ext cx="66" cy="69"/>
            </a:xfrm>
            <a:custGeom>
              <a:avLst/>
              <a:gdLst/>
              <a:ahLst/>
              <a:cxnLst>
                <a:cxn ang="0">
                  <a:pos x="113" y="240"/>
                </a:cxn>
                <a:cxn ang="0">
                  <a:pos x="230" y="214"/>
                </a:cxn>
                <a:cxn ang="0">
                  <a:pos x="230" y="214"/>
                </a:cxn>
                <a:cxn ang="0">
                  <a:pos x="225" y="197"/>
                </a:cxn>
                <a:cxn ang="0">
                  <a:pos x="218" y="179"/>
                </a:cxn>
                <a:cxn ang="0">
                  <a:pos x="211" y="162"/>
                </a:cxn>
                <a:cxn ang="0">
                  <a:pos x="203" y="146"/>
                </a:cxn>
                <a:cxn ang="0">
                  <a:pos x="194" y="129"/>
                </a:cxn>
                <a:cxn ang="0">
                  <a:pos x="183" y="114"/>
                </a:cxn>
                <a:cxn ang="0">
                  <a:pos x="173" y="99"/>
                </a:cxn>
                <a:cxn ang="0">
                  <a:pos x="160" y="85"/>
                </a:cxn>
                <a:cxn ang="0">
                  <a:pos x="147" y="71"/>
                </a:cxn>
                <a:cxn ang="0">
                  <a:pos x="134" y="58"/>
                </a:cxn>
                <a:cxn ang="0">
                  <a:pos x="119" y="47"/>
                </a:cxn>
                <a:cxn ang="0">
                  <a:pos x="104" y="35"/>
                </a:cxn>
                <a:cxn ang="0">
                  <a:pos x="88" y="25"/>
                </a:cxn>
                <a:cxn ang="0">
                  <a:pos x="72" y="15"/>
                </a:cxn>
                <a:cxn ang="0">
                  <a:pos x="54" y="7"/>
                </a:cxn>
                <a:cxn ang="0">
                  <a:pos x="36" y="0"/>
                </a:cxn>
                <a:cxn ang="0">
                  <a:pos x="0" y="112"/>
                </a:cxn>
                <a:cxn ang="0">
                  <a:pos x="0" y="112"/>
                </a:cxn>
                <a:cxn ang="0">
                  <a:pos x="20" y="122"/>
                </a:cxn>
                <a:cxn ang="0">
                  <a:pos x="39" y="134"/>
                </a:cxn>
                <a:cxn ang="0">
                  <a:pos x="57" y="148"/>
                </a:cxn>
                <a:cxn ang="0">
                  <a:pos x="72" y="164"/>
                </a:cxn>
                <a:cxn ang="0">
                  <a:pos x="86" y="181"/>
                </a:cxn>
                <a:cxn ang="0">
                  <a:pos x="97" y="199"/>
                </a:cxn>
                <a:cxn ang="0">
                  <a:pos x="106" y="219"/>
                </a:cxn>
                <a:cxn ang="0">
                  <a:pos x="113" y="240"/>
                </a:cxn>
                <a:cxn ang="0">
                  <a:pos x="113" y="240"/>
                </a:cxn>
              </a:cxnLst>
              <a:rect l="0" t="0" r="r" b="b"/>
              <a:pathLst>
                <a:path w="230" h="240">
                  <a:moveTo>
                    <a:pt x="113" y="240"/>
                  </a:moveTo>
                  <a:lnTo>
                    <a:pt x="230" y="214"/>
                  </a:lnTo>
                  <a:lnTo>
                    <a:pt x="230" y="214"/>
                  </a:lnTo>
                  <a:lnTo>
                    <a:pt x="225" y="197"/>
                  </a:lnTo>
                  <a:lnTo>
                    <a:pt x="218" y="179"/>
                  </a:lnTo>
                  <a:lnTo>
                    <a:pt x="211" y="162"/>
                  </a:lnTo>
                  <a:lnTo>
                    <a:pt x="203" y="146"/>
                  </a:lnTo>
                  <a:lnTo>
                    <a:pt x="194" y="129"/>
                  </a:lnTo>
                  <a:lnTo>
                    <a:pt x="183" y="114"/>
                  </a:lnTo>
                  <a:lnTo>
                    <a:pt x="173" y="99"/>
                  </a:lnTo>
                  <a:lnTo>
                    <a:pt x="160" y="85"/>
                  </a:lnTo>
                  <a:lnTo>
                    <a:pt x="147" y="71"/>
                  </a:lnTo>
                  <a:lnTo>
                    <a:pt x="134" y="58"/>
                  </a:lnTo>
                  <a:lnTo>
                    <a:pt x="119" y="47"/>
                  </a:lnTo>
                  <a:lnTo>
                    <a:pt x="104" y="35"/>
                  </a:lnTo>
                  <a:lnTo>
                    <a:pt x="88" y="25"/>
                  </a:lnTo>
                  <a:lnTo>
                    <a:pt x="72" y="15"/>
                  </a:lnTo>
                  <a:lnTo>
                    <a:pt x="54" y="7"/>
                  </a:lnTo>
                  <a:lnTo>
                    <a:pt x="36" y="0"/>
                  </a:lnTo>
                  <a:lnTo>
                    <a:pt x="0" y="112"/>
                  </a:lnTo>
                  <a:lnTo>
                    <a:pt x="0" y="112"/>
                  </a:lnTo>
                  <a:lnTo>
                    <a:pt x="20" y="122"/>
                  </a:lnTo>
                  <a:lnTo>
                    <a:pt x="39" y="134"/>
                  </a:lnTo>
                  <a:lnTo>
                    <a:pt x="57" y="148"/>
                  </a:lnTo>
                  <a:lnTo>
                    <a:pt x="72" y="164"/>
                  </a:lnTo>
                  <a:lnTo>
                    <a:pt x="86" y="181"/>
                  </a:lnTo>
                  <a:lnTo>
                    <a:pt x="97" y="199"/>
                  </a:lnTo>
                  <a:lnTo>
                    <a:pt x="106" y="219"/>
                  </a:lnTo>
                  <a:lnTo>
                    <a:pt x="113" y="240"/>
                  </a:lnTo>
                  <a:lnTo>
                    <a:pt x="113" y="24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13" name="Freeform 17"/>
            <p:cNvSpPr>
              <a:spLocks/>
            </p:cNvSpPr>
            <p:nvPr/>
          </p:nvSpPr>
          <p:spPr bwMode="auto">
            <a:xfrm>
              <a:off x="770" y="435"/>
              <a:ext cx="81" cy="46"/>
            </a:xfrm>
            <a:custGeom>
              <a:avLst/>
              <a:gdLst/>
              <a:ahLst/>
              <a:cxnLst>
                <a:cxn ang="0">
                  <a:pos x="37" y="36"/>
                </a:cxn>
                <a:cxn ang="0">
                  <a:pos x="0" y="148"/>
                </a:cxn>
                <a:cxn ang="0">
                  <a:pos x="0" y="148"/>
                </a:cxn>
                <a:cxn ang="0">
                  <a:pos x="19" y="153"/>
                </a:cxn>
                <a:cxn ang="0">
                  <a:pos x="38" y="156"/>
                </a:cxn>
                <a:cxn ang="0">
                  <a:pos x="57" y="158"/>
                </a:cxn>
                <a:cxn ang="0">
                  <a:pos x="76" y="159"/>
                </a:cxn>
                <a:cxn ang="0">
                  <a:pos x="96" y="159"/>
                </a:cxn>
                <a:cxn ang="0">
                  <a:pos x="114" y="158"/>
                </a:cxn>
                <a:cxn ang="0">
                  <a:pos x="133" y="155"/>
                </a:cxn>
                <a:cxn ang="0">
                  <a:pos x="150" y="152"/>
                </a:cxn>
                <a:cxn ang="0">
                  <a:pos x="169" y="147"/>
                </a:cxn>
                <a:cxn ang="0">
                  <a:pos x="186" y="141"/>
                </a:cxn>
                <a:cxn ang="0">
                  <a:pos x="204" y="136"/>
                </a:cxn>
                <a:cxn ang="0">
                  <a:pos x="220" y="127"/>
                </a:cxn>
                <a:cxn ang="0">
                  <a:pos x="238" y="119"/>
                </a:cxn>
                <a:cxn ang="0">
                  <a:pos x="253" y="110"/>
                </a:cxn>
                <a:cxn ang="0">
                  <a:pos x="268" y="99"/>
                </a:cxn>
                <a:cxn ang="0">
                  <a:pos x="283" y="88"/>
                </a:cxn>
                <a:cxn ang="0">
                  <a:pos x="204" y="0"/>
                </a:cxn>
                <a:cxn ang="0">
                  <a:pos x="204" y="0"/>
                </a:cxn>
                <a:cxn ang="0">
                  <a:pos x="185" y="12"/>
                </a:cxn>
                <a:cxn ang="0">
                  <a:pos x="167" y="23"/>
                </a:cxn>
                <a:cxn ang="0">
                  <a:pos x="146" y="31"/>
                </a:cxn>
                <a:cxn ang="0">
                  <a:pos x="125" y="37"/>
                </a:cxn>
                <a:cxn ang="0">
                  <a:pos x="104" y="40"/>
                </a:cxn>
                <a:cxn ang="0">
                  <a:pos x="82" y="41"/>
                </a:cxn>
                <a:cxn ang="0">
                  <a:pos x="59" y="39"/>
                </a:cxn>
                <a:cxn ang="0">
                  <a:pos x="37" y="36"/>
                </a:cxn>
                <a:cxn ang="0">
                  <a:pos x="37" y="36"/>
                </a:cxn>
              </a:cxnLst>
              <a:rect l="0" t="0" r="r" b="b"/>
              <a:pathLst>
                <a:path w="283" h="159">
                  <a:moveTo>
                    <a:pt x="37" y="36"/>
                  </a:moveTo>
                  <a:lnTo>
                    <a:pt x="0" y="148"/>
                  </a:lnTo>
                  <a:lnTo>
                    <a:pt x="0" y="148"/>
                  </a:lnTo>
                  <a:lnTo>
                    <a:pt x="19" y="153"/>
                  </a:lnTo>
                  <a:lnTo>
                    <a:pt x="38" y="156"/>
                  </a:lnTo>
                  <a:lnTo>
                    <a:pt x="57" y="158"/>
                  </a:lnTo>
                  <a:lnTo>
                    <a:pt x="76" y="159"/>
                  </a:lnTo>
                  <a:lnTo>
                    <a:pt x="96" y="159"/>
                  </a:lnTo>
                  <a:lnTo>
                    <a:pt x="114" y="158"/>
                  </a:lnTo>
                  <a:lnTo>
                    <a:pt x="133" y="155"/>
                  </a:lnTo>
                  <a:lnTo>
                    <a:pt x="150" y="152"/>
                  </a:lnTo>
                  <a:lnTo>
                    <a:pt x="169" y="147"/>
                  </a:lnTo>
                  <a:lnTo>
                    <a:pt x="186" y="141"/>
                  </a:lnTo>
                  <a:lnTo>
                    <a:pt x="204" y="136"/>
                  </a:lnTo>
                  <a:lnTo>
                    <a:pt x="220" y="127"/>
                  </a:lnTo>
                  <a:lnTo>
                    <a:pt x="238" y="119"/>
                  </a:lnTo>
                  <a:lnTo>
                    <a:pt x="253" y="110"/>
                  </a:lnTo>
                  <a:lnTo>
                    <a:pt x="268" y="99"/>
                  </a:lnTo>
                  <a:lnTo>
                    <a:pt x="283" y="88"/>
                  </a:lnTo>
                  <a:lnTo>
                    <a:pt x="204" y="0"/>
                  </a:lnTo>
                  <a:lnTo>
                    <a:pt x="204" y="0"/>
                  </a:lnTo>
                  <a:lnTo>
                    <a:pt x="185" y="12"/>
                  </a:lnTo>
                  <a:lnTo>
                    <a:pt x="167" y="23"/>
                  </a:lnTo>
                  <a:lnTo>
                    <a:pt x="146" y="31"/>
                  </a:lnTo>
                  <a:lnTo>
                    <a:pt x="125" y="37"/>
                  </a:lnTo>
                  <a:lnTo>
                    <a:pt x="104" y="40"/>
                  </a:lnTo>
                  <a:lnTo>
                    <a:pt x="82" y="41"/>
                  </a:lnTo>
                  <a:lnTo>
                    <a:pt x="59" y="39"/>
                  </a:lnTo>
                  <a:lnTo>
                    <a:pt x="37" y="36"/>
                  </a:lnTo>
                  <a:lnTo>
                    <a:pt x="37" y="36"/>
                  </a:lnTo>
                  <a:close/>
                </a:path>
              </a:pathLst>
            </a:custGeom>
            <a:solidFill>
              <a:schemeClr val="accent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3" name="Group 28"/>
          <p:cNvGrpSpPr>
            <a:grpSpLocks/>
          </p:cNvGrpSpPr>
          <p:nvPr/>
        </p:nvGrpSpPr>
        <p:grpSpPr bwMode="auto">
          <a:xfrm>
            <a:off x="8494713" y="5792788"/>
            <a:ext cx="554037" cy="552450"/>
            <a:chOff x="5369" y="3667"/>
            <a:chExt cx="349" cy="348"/>
          </a:xfrm>
        </p:grpSpPr>
        <p:sp>
          <p:nvSpPr>
            <p:cNvPr id="4125" name="Freeform 29"/>
            <p:cNvSpPr>
              <a:spLocks/>
            </p:cNvSpPr>
            <p:nvPr/>
          </p:nvSpPr>
          <p:spPr bwMode="auto">
            <a:xfrm>
              <a:off x="5396" y="3667"/>
              <a:ext cx="138" cy="112"/>
            </a:xfrm>
            <a:custGeom>
              <a:avLst/>
              <a:gdLst/>
              <a:ahLst/>
              <a:cxnLst>
                <a:cxn ang="0">
                  <a:pos x="182" y="86"/>
                </a:cxn>
                <a:cxn ang="0">
                  <a:pos x="182" y="0"/>
                </a:cxn>
                <a:cxn ang="0">
                  <a:pos x="182" y="0"/>
                </a:cxn>
                <a:cxn ang="0">
                  <a:pos x="154" y="2"/>
                </a:cxn>
                <a:cxn ang="0">
                  <a:pos x="128" y="10"/>
                </a:cxn>
                <a:cxn ang="0">
                  <a:pos x="102" y="18"/>
                </a:cxn>
                <a:cxn ang="0">
                  <a:pos x="78" y="30"/>
                </a:cxn>
                <a:cxn ang="0">
                  <a:pos x="56" y="46"/>
                </a:cxn>
                <a:cxn ang="0">
                  <a:pos x="36" y="64"/>
                </a:cxn>
                <a:cxn ang="0">
                  <a:pos x="16" y="82"/>
                </a:cxn>
                <a:cxn ang="0">
                  <a:pos x="0" y="104"/>
                </a:cxn>
                <a:cxn ang="0">
                  <a:pos x="76" y="148"/>
                </a:cxn>
                <a:cxn ang="0">
                  <a:pos x="76" y="148"/>
                </a:cxn>
                <a:cxn ang="0">
                  <a:pos x="86" y="136"/>
                </a:cxn>
                <a:cxn ang="0">
                  <a:pos x="96" y="124"/>
                </a:cxn>
                <a:cxn ang="0">
                  <a:pos x="108" y="114"/>
                </a:cxn>
                <a:cxn ang="0">
                  <a:pos x="122" y="104"/>
                </a:cxn>
                <a:cxn ang="0">
                  <a:pos x="136" y="98"/>
                </a:cxn>
                <a:cxn ang="0">
                  <a:pos x="150" y="92"/>
                </a:cxn>
                <a:cxn ang="0">
                  <a:pos x="166" y="88"/>
                </a:cxn>
                <a:cxn ang="0">
                  <a:pos x="182" y="86"/>
                </a:cxn>
                <a:cxn ang="0">
                  <a:pos x="182" y="86"/>
                </a:cxn>
              </a:cxnLst>
              <a:rect l="0" t="0" r="r" b="b"/>
              <a:pathLst>
                <a:path w="182" h="148">
                  <a:moveTo>
                    <a:pt x="182" y="86"/>
                  </a:moveTo>
                  <a:lnTo>
                    <a:pt x="182" y="0"/>
                  </a:lnTo>
                  <a:lnTo>
                    <a:pt x="182" y="0"/>
                  </a:lnTo>
                  <a:lnTo>
                    <a:pt x="154" y="2"/>
                  </a:lnTo>
                  <a:lnTo>
                    <a:pt x="128" y="10"/>
                  </a:lnTo>
                  <a:lnTo>
                    <a:pt x="102" y="18"/>
                  </a:lnTo>
                  <a:lnTo>
                    <a:pt x="78" y="30"/>
                  </a:lnTo>
                  <a:lnTo>
                    <a:pt x="56" y="46"/>
                  </a:lnTo>
                  <a:lnTo>
                    <a:pt x="36" y="64"/>
                  </a:lnTo>
                  <a:lnTo>
                    <a:pt x="16" y="82"/>
                  </a:lnTo>
                  <a:lnTo>
                    <a:pt x="0" y="104"/>
                  </a:lnTo>
                  <a:lnTo>
                    <a:pt x="76" y="148"/>
                  </a:lnTo>
                  <a:lnTo>
                    <a:pt x="76" y="148"/>
                  </a:lnTo>
                  <a:lnTo>
                    <a:pt x="86" y="136"/>
                  </a:lnTo>
                  <a:lnTo>
                    <a:pt x="96" y="124"/>
                  </a:lnTo>
                  <a:lnTo>
                    <a:pt x="108" y="114"/>
                  </a:lnTo>
                  <a:lnTo>
                    <a:pt x="122" y="104"/>
                  </a:lnTo>
                  <a:lnTo>
                    <a:pt x="136" y="98"/>
                  </a:lnTo>
                  <a:lnTo>
                    <a:pt x="150" y="92"/>
                  </a:lnTo>
                  <a:lnTo>
                    <a:pt x="166" y="88"/>
                  </a:lnTo>
                  <a:lnTo>
                    <a:pt x="182" y="86"/>
                  </a:lnTo>
                  <a:lnTo>
                    <a:pt x="182" y="86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26" name="Freeform 30"/>
            <p:cNvSpPr>
              <a:spLocks/>
            </p:cNvSpPr>
            <p:nvPr/>
          </p:nvSpPr>
          <p:spPr bwMode="auto">
            <a:xfrm>
              <a:off x="5642" y="3761"/>
              <a:ext cx="76" cy="160"/>
            </a:xfrm>
            <a:custGeom>
              <a:avLst/>
              <a:gdLst/>
              <a:ahLst/>
              <a:cxnLst>
                <a:cxn ang="0">
                  <a:pos x="14" y="106"/>
                </a:cxn>
                <a:cxn ang="0">
                  <a:pos x="14" y="106"/>
                </a:cxn>
                <a:cxn ang="0">
                  <a:pos x="14" y="122"/>
                </a:cxn>
                <a:cxn ang="0">
                  <a:pos x="10" y="138"/>
                </a:cxn>
                <a:cxn ang="0">
                  <a:pos x="6" y="152"/>
                </a:cxn>
                <a:cxn ang="0">
                  <a:pos x="0" y="168"/>
                </a:cxn>
                <a:cxn ang="0">
                  <a:pos x="74" y="210"/>
                </a:cxn>
                <a:cxn ang="0">
                  <a:pos x="74" y="210"/>
                </a:cxn>
                <a:cxn ang="0">
                  <a:pos x="86" y="186"/>
                </a:cxn>
                <a:cxn ang="0">
                  <a:pos x="94" y="160"/>
                </a:cxn>
                <a:cxn ang="0">
                  <a:pos x="98" y="134"/>
                </a:cxn>
                <a:cxn ang="0">
                  <a:pos x="100" y="106"/>
                </a:cxn>
                <a:cxn ang="0">
                  <a:pos x="100" y="106"/>
                </a:cxn>
                <a:cxn ang="0">
                  <a:pos x="98" y="78"/>
                </a:cxn>
                <a:cxn ang="0">
                  <a:pos x="94" y="50"/>
                </a:cxn>
                <a:cxn ang="0">
                  <a:pos x="86" y="24"/>
                </a:cxn>
                <a:cxn ang="0">
                  <a:pos x="74" y="0"/>
                </a:cxn>
                <a:cxn ang="0">
                  <a:pos x="0" y="44"/>
                </a:cxn>
                <a:cxn ang="0">
                  <a:pos x="0" y="44"/>
                </a:cxn>
                <a:cxn ang="0">
                  <a:pos x="6" y="58"/>
                </a:cxn>
                <a:cxn ang="0">
                  <a:pos x="10" y="72"/>
                </a:cxn>
                <a:cxn ang="0">
                  <a:pos x="14" y="88"/>
                </a:cxn>
                <a:cxn ang="0">
                  <a:pos x="14" y="106"/>
                </a:cxn>
                <a:cxn ang="0">
                  <a:pos x="14" y="106"/>
                </a:cxn>
              </a:cxnLst>
              <a:rect l="0" t="0" r="r" b="b"/>
              <a:pathLst>
                <a:path w="100" h="210">
                  <a:moveTo>
                    <a:pt x="14" y="106"/>
                  </a:moveTo>
                  <a:lnTo>
                    <a:pt x="14" y="106"/>
                  </a:lnTo>
                  <a:lnTo>
                    <a:pt x="14" y="122"/>
                  </a:lnTo>
                  <a:lnTo>
                    <a:pt x="10" y="138"/>
                  </a:lnTo>
                  <a:lnTo>
                    <a:pt x="6" y="152"/>
                  </a:lnTo>
                  <a:lnTo>
                    <a:pt x="0" y="168"/>
                  </a:lnTo>
                  <a:lnTo>
                    <a:pt x="74" y="210"/>
                  </a:lnTo>
                  <a:lnTo>
                    <a:pt x="74" y="210"/>
                  </a:lnTo>
                  <a:lnTo>
                    <a:pt x="86" y="186"/>
                  </a:lnTo>
                  <a:lnTo>
                    <a:pt x="94" y="160"/>
                  </a:lnTo>
                  <a:lnTo>
                    <a:pt x="98" y="134"/>
                  </a:lnTo>
                  <a:lnTo>
                    <a:pt x="100" y="106"/>
                  </a:lnTo>
                  <a:lnTo>
                    <a:pt x="100" y="106"/>
                  </a:lnTo>
                  <a:lnTo>
                    <a:pt x="98" y="78"/>
                  </a:lnTo>
                  <a:lnTo>
                    <a:pt x="94" y="50"/>
                  </a:lnTo>
                  <a:lnTo>
                    <a:pt x="86" y="24"/>
                  </a:lnTo>
                  <a:lnTo>
                    <a:pt x="74" y="0"/>
                  </a:lnTo>
                  <a:lnTo>
                    <a:pt x="0" y="44"/>
                  </a:lnTo>
                  <a:lnTo>
                    <a:pt x="0" y="44"/>
                  </a:lnTo>
                  <a:lnTo>
                    <a:pt x="6" y="58"/>
                  </a:lnTo>
                  <a:lnTo>
                    <a:pt x="10" y="72"/>
                  </a:lnTo>
                  <a:lnTo>
                    <a:pt x="14" y="88"/>
                  </a:lnTo>
                  <a:lnTo>
                    <a:pt x="14" y="106"/>
                  </a:lnTo>
                  <a:lnTo>
                    <a:pt x="14" y="106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27" name="Freeform 31"/>
            <p:cNvSpPr>
              <a:spLocks/>
            </p:cNvSpPr>
            <p:nvPr/>
          </p:nvSpPr>
          <p:spPr bwMode="auto">
            <a:xfrm>
              <a:off x="5369" y="3761"/>
              <a:ext cx="76" cy="160"/>
            </a:xfrm>
            <a:custGeom>
              <a:avLst/>
              <a:gdLst/>
              <a:ahLst/>
              <a:cxnLst>
                <a:cxn ang="0">
                  <a:pos x="86" y="106"/>
                </a:cxn>
                <a:cxn ang="0">
                  <a:pos x="86" y="106"/>
                </a:cxn>
                <a:cxn ang="0">
                  <a:pos x="86" y="88"/>
                </a:cxn>
                <a:cxn ang="0">
                  <a:pos x="90" y="72"/>
                </a:cxn>
                <a:cxn ang="0">
                  <a:pos x="94" y="58"/>
                </a:cxn>
                <a:cxn ang="0">
                  <a:pos x="100" y="44"/>
                </a:cxn>
                <a:cxn ang="0">
                  <a:pos x="26" y="0"/>
                </a:cxn>
                <a:cxn ang="0">
                  <a:pos x="26" y="0"/>
                </a:cxn>
                <a:cxn ang="0">
                  <a:pos x="14" y="24"/>
                </a:cxn>
                <a:cxn ang="0">
                  <a:pos x="6" y="50"/>
                </a:cxn>
                <a:cxn ang="0">
                  <a:pos x="2" y="78"/>
                </a:cxn>
                <a:cxn ang="0">
                  <a:pos x="0" y="106"/>
                </a:cxn>
                <a:cxn ang="0">
                  <a:pos x="0" y="106"/>
                </a:cxn>
                <a:cxn ang="0">
                  <a:pos x="2" y="134"/>
                </a:cxn>
                <a:cxn ang="0">
                  <a:pos x="6" y="160"/>
                </a:cxn>
                <a:cxn ang="0">
                  <a:pos x="14" y="186"/>
                </a:cxn>
                <a:cxn ang="0">
                  <a:pos x="26" y="210"/>
                </a:cxn>
                <a:cxn ang="0">
                  <a:pos x="100" y="168"/>
                </a:cxn>
                <a:cxn ang="0">
                  <a:pos x="100" y="168"/>
                </a:cxn>
                <a:cxn ang="0">
                  <a:pos x="94" y="152"/>
                </a:cxn>
                <a:cxn ang="0">
                  <a:pos x="90" y="138"/>
                </a:cxn>
                <a:cxn ang="0">
                  <a:pos x="86" y="122"/>
                </a:cxn>
                <a:cxn ang="0">
                  <a:pos x="86" y="106"/>
                </a:cxn>
                <a:cxn ang="0">
                  <a:pos x="86" y="106"/>
                </a:cxn>
              </a:cxnLst>
              <a:rect l="0" t="0" r="r" b="b"/>
              <a:pathLst>
                <a:path w="100" h="210">
                  <a:moveTo>
                    <a:pt x="86" y="106"/>
                  </a:moveTo>
                  <a:lnTo>
                    <a:pt x="86" y="106"/>
                  </a:lnTo>
                  <a:lnTo>
                    <a:pt x="86" y="88"/>
                  </a:lnTo>
                  <a:lnTo>
                    <a:pt x="90" y="72"/>
                  </a:lnTo>
                  <a:lnTo>
                    <a:pt x="94" y="58"/>
                  </a:lnTo>
                  <a:lnTo>
                    <a:pt x="100" y="44"/>
                  </a:lnTo>
                  <a:lnTo>
                    <a:pt x="26" y="0"/>
                  </a:lnTo>
                  <a:lnTo>
                    <a:pt x="26" y="0"/>
                  </a:lnTo>
                  <a:lnTo>
                    <a:pt x="14" y="24"/>
                  </a:lnTo>
                  <a:lnTo>
                    <a:pt x="6" y="50"/>
                  </a:lnTo>
                  <a:lnTo>
                    <a:pt x="2" y="78"/>
                  </a:lnTo>
                  <a:lnTo>
                    <a:pt x="0" y="106"/>
                  </a:lnTo>
                  <a:lnTo>
                    <a:pt x="0" y="106"/>
                  </a:lnTo>
                  <a:lnTo>
                    <a:pt x="2" y="134"/>
                  </a:lnTo>
                  <a:lnTo>
                    <a:pt x="6" y="160"/>
                  </a:lnTo>
                  <a:lnTo>
                    <a:pt x="14" y="186"/>
                  </a:lnTo>
                  <a:lnTo>
                    <a:pt x="26" y="210"/>
                  </a:lnTo>
                  <a:lnTo>
                    <a:pt x="100" y="168"/>
                  </a:lnTo>
                  <a:lnTo>
                    <a:pt x="100" y="168"/>
                  </a:lnTo>
                  <a:lnTo>
                    <a:pt x="94" y="152"/>
                  </a:lnTo>
                  <a:lnTo>
                    <a:pt x="90" y="138"/>
                  </a:lnTo>
                  <a:lnTo>
                    <a:pt x="86" y="122"/>
                  </a:lnTo>
                  <a:lnTo>
                    <a:pt x="86" y="106"/>
                  </a:lnTo>
                  <a:lnTo>
                    <a:pt x="86" y="106"/>
                  </a:ln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28" name="Freeform 32"/>
            <p:cNvSpPr>
              <a:spLocks/>
            </p:cNvSpPr>
            <p:nvPr/>
          </p:nvSpPr>
          <p:spPr bwMode="auto">
            <a:xfrm>
              <a:off x="5396" y="3902"/>
              <a:ext cx="138" cy="113"/>
            </a:xfrm>
            <a:custGeom>
              <a:avLst/>
              <a:gdLst/>
              <a:ahLst/>
              <a:cxnLst>
                <a:cxn ang="0">
                  <a:pos x="76" y="0"/>
                </a:cxn>
                <a:cxn ang="0">
                  <a:pos x="0" y="44"/>
                </a:cxn>
                <a:cxn ang="0">
                  <a:pos x="0" y="44"/>
                </a:cxn>
                <a:cxn ang="0">
                  <a:pos x="16" y="66"/>
                </a:cxn>
                <a:cxn ang="0">
                  <a:pos x="36" y="84"/>
                </a:cxn>
                <a:cxn ang="0">
                  <a:pos x="56" y="102"/>
                </a:cxn>
                <a:cxn ang="0">
                  <a:pos x="78" y="118"/>
                </a:cxn>
                <a:cxn ang="0">
                  <a:pos x="102" y="130"/>
                </a:cxn>
                <a:cxn ang="0">
                  <a:pos x="128" y="138"/>
                </a:cxn>
                <a:cxn ang="0">
                  <a:pos x="154" y="146"/>
                </a:cxn>
                <a:cxn ang="0">
                  <a:pos x="182" y="148"/>
                </a:cxn>
                <a:cxn ang="0">
                  <a:pos x="182" y="62"/>
                </a:cxn>
                <a:cxn ang="0">
                  <a:pos x="182" y="62"/>
                </a:cxn>
                <a:cxn ang="0">
                  <a:pos x="166" y="60"/>
                </a:cxn>
                <a:cxn ang="0">
                  <a:pos x="150" y="56"/>
                </a:cxn>
                <a:cxn ang="0">
                  <a:pos x="136" y="50"/>
                </a:cxn>
                <a:cxn ang="0">
                  <a:pos x="122" y="44"/>
                </a:cxn>
                <a:cxn ang="0">
                  <a:pos x="108" y="34"/>
                </a:cxn>
                <a:cxn ang="0">
                  <a:pos x="96" y="24"/>
                </a:cxn>
                <a:cxn ang="0">
                  <a:pos x="86" y="14"/>
                </a:cxn>
                <a:cxn ang="0">
                  <a:pos x="76" y="0"/>
                </a:cxn>
                <a:cxn ang="0">
                  <a:pos x="76" y="0"/>
                </a:cxn>
              </a:cxnLst>
              <a:rect l="0" t="0" r="r" b="b"/>
              <a:pathLst>
                <a:path w="182" h="148">
                  <a:moveTo>
                    <a:pt x="76" y="0"/>
                  </a:moveTo>
                  <a:lnTo>
                    <a:pt x="0" y="44"/>
                  </a:lnTo>
                  <a:lnTo>
                    <a:pt x="0" y="44"/>
                  </a:lnTo>
                  <a:lnTo>
                    <a:pt x="16" y="66"/>
                  </a:lnTo>
                  <a:lnTo>
                    <a:pt x="36" y="84"/>
                  </a:lnTo>
                  <a:lnTo>
                    <a:pt x="56" y="102"/>
                  </a:lnTo>
                  <a:lnTo>
                    <a:pt x="78" y="118"/>
                  </a:lnTo>
                  <a:lnTo>
                    <a:pt x="102" y="130"/>
                  </a:lnTo>
                  <a:lnTo>
                    <a:pt x="128" y="138"/>
                  </a:lnTo>
                  <a:lnTo>
                    <a:pt x="154" y="146"/>
                  </a:lnTo>
                  <a:lnTo>
                    <a:pt x="182" y="148"/>
                  </a:lnTo>
                  <a:lnTo>
                    <a:pt x="182" y="62"/>
                  </a:lnTo>
                  <a:lnTo>
                    <a:pt x="182" y="62"/>
                  </a:lnTo>
                  <a:lnTo>
                    <a:pt x="166" y="60"/>
                  </a:lnTo>
                  <a:lnTo>
                    <a:pt x="150" y="56"/>
                  </a:lnTo>
                  <a:lnTo>
                    <a:pt x="136" y="50"/>
                  </a:lnTo>
                  <a:lnTo>
                    <a:pt x="122" y="44"/>
                  </a:lnTo>
                  <a:lnTo>
                    <a:pt x="108" y="34"/>
                  </a:lnTo>
                  <a:lnTo>
                    <a:pt x="96" y="24"/>
                  </a:lnTo>
                  <a:lnTo>
                    <a:pt x="86" y="14"/>
                  </a:lnTo>
                  <a:lnTo>
                    <a:pt x="76" y="0"/>
                  </a:lnTo>
                  <a:lnTo>
                    <a:pt x="76" y="0"/>
                  </a:ln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29" name="Freeform 33"/>
            <p:cNvSpPr>
              <a:spLocks/>
            </p:cNvSpPr>
            <p:nvPr/>
          </p:nvSpPr>
          <p:spPr bwMode="auto">
            <a:xfrm>
              <a:off x="5553" y="3667"/>
              <a:ext cx="138" cy="112"/>
            </a:xfrm>
            <a:custGeom>
              <a:avLst/>
              <a:gdLst/>
              <a:ahLst/>
              <a:cxnLst>
                <a:cxn ang="0">
                  <a:pos x="106" y="148"/>
                </a:cxn>
                <a:cxn ang="0">
                  <a:pos x="182" y="104"/>
                </a:cxn>
                <a:cxn ang="0">
                  <a:pos x="182" y="104"/>
                </a:cxn>
                <a:cxn ang="0">
                  <a:pos x="166" y="82"/>
                </a:cxn>
                <a:cxn ang="0">
                  <a:pos x="148" y="64"/>
                </a:cxn>
                <a:cxn ang="0">
                  <a:pos x="126" y="46"/>
                </a:cxn>
                <a:cxn ang="0">
                  <a:pos x="104" y="30"/>
                </a:cxn>
                <a:cxn ang="0">
                  <a:pos x="80" y="18"/>
                </a:cxn>
                <a:cxn ang="0">
                  <a:pos x="54" y="10"/>
                </a:cxn>
                <a:cxn ang="0">
                  <a:pos x="28" y="2"/>
                </a:cxn>
                <a:cxn ang="0">
                  <a:pos x="0" y="0"/>
                </a:cxn>
                <a:cxn ang="0">
                  <a:pos x="0" y="86"/>
                </a:cxn>
                <a:cxn ang="0">
                  <a:pos x="0" y="86"/>
                </a:cxn>
                <a:cxn ang="0">
                  <a:pos x="16" y="88"/>
                </a:cxn>
                <a:cxn ang="0">
                  <a:pos x="32" y="92"/>
                </a:cxn>
                <a:cxn ang="0">
                  <a:pos x="46" y="98"/>
                </a:cxn>
                <a:cxn ang="0">
                  <a:pos x="60" y="104"/>
                </a:cxn>
                <a:cxn ang="0">
                  <a:pos x="74" y="114"/>
                </a:cxn>
                <a:cxn ang="0">
                  <a:pos x="86" y="124"/>
                </a:cxn>
                <a:cxn ang="0">
                  <a:pos x="98" y="136"/>
                </a:cxn>
                <a:cxn ang="0">
                  <a:pos x="106" y="148"/>
                </a:cxn>
                <a:cxn ang="0">
                  <a:pos x="106" y="148"/>
                </a:cxn>
              </a:cxnLst>
              <a:rect l="0" t="0" r="r" b="b"/>
              <a:pathLst>
                <a:path w="182" h="148">
                  <a:moveTo>
                    <a:pt x="106" y="148"/>
                  </a:moveTo>
                  <a:lnTo>
                    <a:pt x="182" y="104"/>
                  </a:lnTo>
                  <a:lnTo>
                    <a:pt x="182" y="104"/>
                  </a:lnTo>
                  <a:lnTo>
                    <a:pt x="166" y="82"/>
                  </a:lnTo>
                  <a:lnTo>
                    <a:pt x="148" y="64"/>
                  </a:lnTo>
                  <a:lnTo>
                    <a:pt x="126" y="46"/>
                  </a:lnTo>
                  <a:lnTo>
                    <a:pt x="104" y="30"/>
                  </a:lnTo>
                  <a:lnTo>
                    <a:pt x="80" y="18"/>
                  </a:lnTo>
                  <a:lnTo>
                    <a:pt x="54" y="10"/>
                  </a:lnTo>
                  <a:lnTo>
                    <a:pt x="28" y="2"/>
                  </a:lnTo>
                  <a:lnTo>
                    <a:pt x="0" y="0"/>
                  </a:lnTo>
                  <a:lnTo>
                    <a:pt x="0" y="86"/>
                  </a:lnTo>
                  <a:lnTo>
                    <a:pt x="0" y="86"/>
                  </a:lnTo>
                  <a:lnTo>
                    <a:pt x="16" y="88"/>
                  </a:lnTo>
                  <a:lnTo>
                    <a:pt x="32" y="92"/>
                  </a:lnTo>
                  <a:lnTo>
                    <a:pt x="46" y="98"/>
                  </a:lnTo>
                  <a:lnTo>
                    <a:pt x="60" y="104"/>
                  </a:lnTo>
                  <a:lnTo>
                    <a:pt x="74" y="114"/>
                  </a:lnTo>
                  <a:lnTo>
                    <a:pt x="86" y="124"/>
                  </a:lnTo>
                  <a:lnTo>
                    <a:pt x="98" y="136"/>
                  </a:lnTo>
                  <a:lnTo>
                    <a:pt x="106" y="148"/>
                  </a:lnTo>
                  <a:lnTo>
                    <a:pt x="106" y="148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30" name="Freeform 34"/>
            <p:cNvSpPr>
              <a:spLocks/>
            </p:cNvSpPr>
            <p:nvPr/>
          </p:nvSpPr>
          <p:spPr bwMode="auto">
            <a:xfrm>
              <a:off x="5553" y="3902"/>
              <a:ext cx="138" cy="113"/>
            </a:xfrm>
            <a:custGeom>
              <a:avLst/>
              <a:gdLst/>
              <a:ahLst/>
              <a:cxnLst>
                <a:cxn ang="0">
                  <a:pos x="0" y="62"/>
                </a:cxn>
                <a:cxn ang="0">
                  <a:pos x="0" y="148"/>
                </a:cxn>
                <a:cxn ang="0">
                  <a:pos x="0" y="148"/>
                </a:cxn>
                <a:cxn ang="0">
                  <a:pos x="28" y="146"/>
                </a:cxn>
                <a:cxn ang="0">
                  <a:pos x="54" y="138"/>
                </a:cxn>
                <a:cxn ang="0">
                  <a:pos x="80" y="130"/>
                </a:cxn>
                <a:cxn ang="0">
                  <a:pos x="104" y="118"/>
                </a:cxn>
                <a:cxn ang="0">
                  <a:pos x="126" y="102"/>
                </a:cxn>
                <a:cxn ang="0">
                  <a:pos x="148" y="84"/>
                </a:cxn>
                <a:cxn ang="0">
                  <a:pos x="166" y="66"/>
                </a:cxn>
                <a:cxn ang="0">
                  <a:pos x="182" y="44"/>
                </a:cxn>
                <a:cxn ang="0">
                  <a:pos x="106" y="0"/>
                </a:cxn>
                <a:cxn ang="0">
                  <a:pos x="106" y="0"/>
                </a:cxn>
                <a:cxn ang="0">
                  <a:pos x="98" y="14"/>
                </a:cxn>
                <a:cxn ang="0">
                  <a:pos x="86" y="24"/>
                </a:cxn>
                <a:cxn ang="0">
                  <a:pos x="74" y="34"/>
                </a:cxn>
                <a:cxn ang="0">
                  <a:pos x="60" y="44"/>
                </a:cxn>
                <a:cxn ang="0">
                  <a:pos x="46" y="50"/>
                </a:cxn>
                <a:cxn ang="0">
                  <a:pos x="32" y="56"/>
                </a:cxn>
                <a:cxn ang="0">
                  <a:pos x="16" y="60"/>
                </a:cxn>
                <a:cxn ang="0">
                  <a:pos x="0" y="62"/>
                </a:cxn>
                <a:cxn ang="0">
                  <a:pos x="0" y="62"/>
                </a:cxn>
              </a:cxnLst>
              <a:rect l="0" t="0" r="r" b="b"/>
              <a:pathLst>
                <a:path w="182" h="148">
                  <a:moveTo>
                    <a:pt x="0" y="62"/>
                  </a:moveTo>
                  <a:lnTo>
                    <a:pt x="0" y="148"/>
                  </a:lnTo>
                  <a:lnTo>
                    <a:pt x="0" y="148"/>
                  </a:lnTo>
                  <a:lnTo>
                    <a:pt x="28" y="146"/>
                  </a:lnTo>
                  <a:lnTo>
                    <a:pt x="54" y="138"/>
                  </a:lnTo>
                  <a:lnTo>
                    <a:pt x="80" y="130"/>
                  </a:lnTo>
                  <a:lnTo>
                    <a:pt x="104" y="118"/>
                  </a:lnTo>
                  <a:lnTo>
                    <a:pt x="126" y="102"/>
                  </a:lnTo>
                  <a:lnTo>
                    <a:pt x="148" y="84"/>
                  </a:lnTo>
                  <a:lnTo>
                    <a:pt x="166" y="66"/>
                  </a:lnTo>
                  <a:lnTo>
                    <a:pt x="182" y="44"/>
                  </a:lnTo>
                  <a:lnTo>
                    <a:pt x="106" y="0"/>
                  </a:lnTo>
                  <a:lnTo>
                    <a:pt x="106" y="0"/>
                  </a:lnTo>
                  <a:lnTo>
                    <a:pt x="98" y="14"/>
                  </a:lnTo>
                  <a:lnTo>
                    <a:pt x="86" y="24"/>
                  </a:lnTo>
                  <a:lnTo>
                    <a:pt x="74" y="34"/>
                  </a:lnTo>
                  <a:lnTo>
                    <a:pt x="60" y="44"/>
                  </a:lnTo>
                  <a:lnTo>
                    <a:pt x="46" y="50"/>
                  </a:lnTo>
                  <a:lnTo>
                    <a:pt x="32" y="56"/>
                  </a:lnTo>
                  <a:lnTo>
                    <a:pt x="16" y="60"/>
                  </a:lnTo>
                  <a:lnTo>
                    <a:pt x="0" y="62"/>
                  </a:lnTo>
                  <a:lnTo>
                    <a:pt x="0" y="62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4" name="Group 35"/>
          <p:cNvGrpSpPr>
            <a:grpSpLocks/>
          </p:cNvGrpSpPr>
          <p:nvPr/>
        </p:nvGrpSpPr>
        <p:grpSpPr bwMode="auto">
          <a:xfrm>
            <a:off x="8113713" y="6221413"/>
            <a:ext cx="554037" cy="552450"/>
            <a:chOff x="5129" y="3937"/>
            <a:chExt cx="349" cy="348"/>
          </a:xfrm>
        </p:grpSpPr>
        <p:sp>
          <p:nvSpPr>
            <p:cNvPr id="4132" name="Freeform 36"/>
            <p:cNvSpPr>
              <a:spLocks/>
            </p:cNvSpPr>
            <p:nvPr/>
          </p:nvSpPr>
          <p:spPr bwMode="auto">
            <a:xfrm>
              <a:off x="5193" y="3937"/>
              <a:ext cx="156" cy="87"/>
            </a:xfrm>
            <a:custGeom>
              <a:avLst/>
              <a:gdLst/>
              <a:ahLst/>
              <a:cxnLst>
                <a:cxn ang="0">
                  <a:pos x="180" y="88"/>
                </a:cxn>
                <a:cxn ang="0">
                  <a:pos x="206" y="8"/>
                </a:cxn>
                <a:cxn ang="0">
                  <a:pos x="206" y="8"/>
                </a:cxn>
                <a:cxn ang="0">
                  <a:pos x="178" y="2"/>
                </a:cxn>
                <a:cxn ang="0">
                  <a:pos x="150" y="0"/>
                </a:cxn>
                <a:cxn ang="0">
                  <a:pos x="124" y="0"/>
                </a:cxn>
                <a:cxn ang="0">
                  <a:pos x="96" y="4"/>
                </a:cxn>
                <a:cxn ang="0">
                  <a:pos x="70" y="12"/>
                </a:cxn>
                <a:cxn ang="0">
                  <a:pos x="46" y="22"/>
                </a:cxn>
                <a:cxn ang="0">
                  <a:pos x="22" y="36"/>
                </a:cxn>
                <a:cxn ang="0">
                  <a:pos x="0" y="50"/>
                </a:cxn>
                <a:cxn ang="0">
                  <a:pos x="58" y="114"/>
                </a:cxn>
                <a:cxn ang="0">
                  <a:pos x="58" y="114"/>
                </a:cxn>
                <a:cxn ang="0">
                  <a:pos x="72" y="106"/>
                </a:cxn>
                <a:cxn ang="0">
                  <a:pos x="86" y="98"/>
                </a:cxn>
                <a:cxn ang="0">
                  <a:pos x="100" y="92"/>
                </a:cxn>
                <a:cxn ang="0">
                  <a:pos x="116" y="88"/>
                </a:cxn>
                <a:cxn ang="0">
                  <a:pos x="130" y="86"/>
                </a:cxn>
                <a:cxn ang="0">
                  <a:pos x="146" y="84"/>
                </a:cxn>
                <a:cxn ang="0">
                  <a:pos x="164" y="86"/>
                </a:cxn>
                <a:cxn ang="0">
                  <a:pos x="180" y="88"/>
                </a:cxn>
                <a:cxn ang="0">
                  <a:pos x="180" y="88"/>
                </a:cxn>
              </a:cxnLst>
              <a:rect l="0" t="0" r="r" b="b"/>
              <a:pathLst>
                <a:path w="206" h="114">
                  <a:moveTo>
                    <a:pt x="180" y="88"/>
                  </a:moveTo>
                  <a:lnTo>
                    <a:pt x="206" y="8"/>
                  </a:lnTo>
                  <a:lnTo>
                    <a:pt x="206" y="8"/>
                  </a:lnTo>
                  <a:lnTo>
                    <a:pt x="178" y="2"/>
                  </a:lnTo>
                  <a:lnTo>
                    <a:pt x="150" y="0"/>
                  </a:lnTo>
                  <a:lnTo>
                    <a:pt x="124" y="0"/>
                  </a:lnTo>
                  <a:lnTo>
                    <a:pt x="96" y="4"/>
                  </a:lnTo>
                  <a:lnTo>
                    <a:pt x="70" y="12"/>
                  </a:lnTo>
                  <a:lnTo>
                    <a:pt x="46" y="22"/>
                  </a:lnTo>
                  <a:lnTo>
                    <a:pt x="22" y="36"/>
                  </a:lnTo>
                  <a:lnTo>
                    <a:pt x="0" y="50"/>
                  </a:lnTo>
                  <a:lnTo>
                    <a:pt x="58" y="114"/>
                  </a:lnTo>
                  <a:lnTo>
                    <a:pt x="58" y="114"/>
                  </a:lnTo>
                  <a:lnTo>
                    <a:pt x="72" y="106"/>
                  </a:lnTo>
                  <a:lnTo>
                    <a:pt x="86" y="98"/>
                  </a:lnTo>
                  <a:lnTo>
                    <a:pt x="100" y="92"/>
                  </a:lnTo>
                  <a:lnTo>
                    <a:pt x="116" y="88"/>
                  </a:lnTo>
                  <a:lnTo>
                    <a:pt x="130" y="86"/>
                  </a:lnTo>
                  <a:lnTo>
                    <a:pt x="146" y="84"/>
                  </a:lnTo>
                  <a:lnTo>
                    <a:pt x="164" y="86"/>
                  </a:lnTo>
                  <a:lnTo>
                    <a:pt x="180" y="88"/>
                  </a:lnTo>
                  <a:lnTo>
                    <a:pt x="180" y="88"/>
                  </a:ln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33" name="Freeform 37"/>
            <p:cNvSpPr>
              <a:spLocks/>
            </p:cNvSpPr>
            <p:nvPr/>
          </p:nvSpPr>
          <p:spPr bwMode="auto">
            <a:xfrm>
              <a:off x="5383" y="4083"/>
              <a:ext cx="95" cy="152"/>
            </a:xfrm>
            <a:custGeom>
              <a:avLst/>
              <a:gdLst/>
              <a:ahLst/>
              <a:cxnLst>
                <a:cxn ang="0">
                  <a:pos x="32" y="82"/>
                </a:cxn>
                <a:cxn ang="0">
                  <a:pos x="32" y="82"/>
                </a:cxn>
                <a:cxn ang="0">
                  <a:pos x="26" y="96"/>
                </a:cxn>
                <a:cxn ang="0">
                  <a:pos x="20" y="110"/>
                </a:cxn>
                <a:cxn ang="0">
                  <a:pos x="10" y="124"/>
                </a:cxn>
                <a:cxn ang="0">
                  <a:pos x="0" y="136"/>
                </a:cxn>
                <a:cxn ang="0">
                  <a:pos x="58" y="200"/>
                </a:cxn>
                <a:cxn ang="0">
                  <a:pos x="58" y="200"/>
                </a:cxn>
                <a:cxn ang="0">
                  <a:pos x="76" y="180"/>
                </a:cxn>
                <a:cxn ang="0">
                  <a:pos x="92" y="158"/>
                </a:cxn>
                <a:cxn ang="0">
                  <a:pos x="104" y="134"/>
                </a:cxn>
                <a:cxn ang="0">
                  <a:pos x="114" y="108"/>
                </a:cxn>
                <a:cxn ang="0">
                  <a:pos x="114" y="108"/>
                </a:cxn>
                <a:cxn ang="0">
                  <a:pos x="122" y="80"/>
                </a:cxn>
                <a:cxn ang="0">
                  <a:pos x="126" y="54"/>
                </a:cxn>
                <a:cxn ang="0">
                  <a:pos x="126" y="26"/>
                </a:cxn>
                <a:cxn ang="0">
                  <a:pos x="122" y="0"/>
                </a:cxn>
                <a:cxn ang="0">
                  <a:pos x="38" y="18"/>
                </a:cxn>
                <a:cxn ang="0">
                  <a:pos x="38" y="18"/>
                </a:cxn>
                <a:cxn ang="0">
                  <a:pos x="40" y="34"/>
                </a:cxn>
                <a:cxn ang="0">
                  <a:pos x="40" y="50"/>
                </a:cxn>
                <a:cxn ang="0">
                  <a:pos x="38" y="66"/>
                </a:cxn>
                <a:cxn ang="0">
                  <a:pos x="32" y="82"/>
                </a:cxn>
                <a:cxn ang="0">
                  <a:pos x="32" y="82"/>
                </a:cxn>
              </a:cxnLst>
              <a:rect l="0" t="0" r="r" b="b"/>
              <a:pathLst>
                <a:path w="126" h="200">
                  <a:moveTo>
                    <a:pt x="32" y="82"/>
                  </a:moveTo>
                  <a:lnTo>
                    <a:pt x="32" y="82"/>
                  </a:lnTo>
                  <a:lnTo>
                    <a:pt x="26" y="96"/>
                  </a:lnTo>
                  <a:lnTo>
                    <a:pt x="20" y="110"/>
                  </a:lnTo>
                  <a:lnTo>
                    <a:pt x="10" y="124"/>
                  </a:lnTo>
                  <a:lnTo>
                    <a:pt x="0" y="136"/>
                  </a:lnTo>
                  <a:lnTo>
                    <a:pt x="58" y="200"/>
                  </a:lnTo>
                  <a:lnTo>
                    <a:pt x="58" y="200"/>
                  </a:lnTo>
                  <a:lnTo>
                    <a:pt x="76" y="180"/>
                  </a:lnTo>
                  <a:lnTo>
                    <a:pt x="92" y="158"/>
                  </a:lnTo>
                  <a:lnTo>
                    <a:pt x="104" y="134"/>
                  </a:lnTo>
                  <a:lnTo>
                    <a:pt x="114" y="108"/>
                  </a:lnTo>
                  <a:lnTo>
                    <a:pt x="114" y="108"/>
                  </a:lnTo>
                  <a:lnTo>
                    <a:pt x="122" y="80"/>
                  </a:lnTo>
                  <a:lnTo>
                    <a:pt x="126" y="54"/>
                  </a:lnTo>
                  <a:lnTo>
                    <a:pt x="126" y="26"/>
                  </a:lnTo>
                  <a:lnTo>
                    <a:pt x="122" y="0"/>
                  </a:lnTo>
                  <a:lnTo>
                    <a:pt x="38" y="18"/>
                  </a:lnTo>
                  <a:lnTo>
                    <a:pt x="38" y="18"/>
                  </a:lnTo>
                  <a:lnTo>
                    <a:pt x="40" y="34"/>
                  </a:lnTo>
                  <a:lnTo>
                    <a:pt x="40" y="50"/>
                  </a:lnTo>
                  <a:lnTo>
                    <a:pt x="38" y="66"/>
                  </a:lnTo>
                  <a:lnTo>
                    <a:pt x="32" y="82"/>
                  </a:lnTo>
                  <a:lnTo>
                    <a:pt x="32" y="82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34" name="Freeform 38"/>
            <p:cNvSpPr>
              <a:spLocks/>
            </p:cNvSpPr>
            <p:nvPr/>
          </p:nvSpPr>
          <p:spPr bwMode="auto">
            <a:xfrm>
              <a:off x="5129" y="3987"/>
              <a:ext cx="96" cy="152"/>
            </a:xfrm>
            <a:custGeom>
              <a:avLst/>
              <a:gdLst/>
              <a:ahLst/>
              <a:cxnLst>
                <a:cxn ang="0">
                  <a:pos x="92" y="118"/>
                </a:cxn>
                <a:cxn ang="0">
                  <a:pos x="92" y="118"/>
                </a:cxn>
                <a:cxn ang="0">
                  <a:pos x="98" y="104"/>
                </a:cxn>
                <a:cxn ang="0">
                  <a:pos x="106" y="88"/>
                </a:cxn>
                <a:cxn ang="0">
                  <a:pos x="116" y="76"/>
                </a:cxn>
                <a:cxn ang="0">
                  <a:pos x="126" y="64"/>
                </a:cxn>
                <a:cxn ang="0">
                  <a:pos x="68" y="0"/>
                </a:cxn>
                <a:cxn ang="0">
                  <a:pos x="68" y="0"/>
                </a:cxn>
                <a:cxn ang="0">
                  <a:pos x="50" y="20"/>
                </a:cxn>
                <a:cxn ang="0">
                  <a:pos x="34" y="42"/>
                </a:cxn>
                <a:cxn ang="0">
                  <a:pos x="22" y="66"/>
                </a:cxn>
                <a:cxn ang="0">
                  <a:pos x="12" y="92"/>
                </a:cxn>
                <a:cxn ang="0">
                  <a:pos x="12" y="92"/>
                </a:cxn>
                <a:cxn ang="0">
                  <a:pos x="4" y="118"/>
                </a:cxn>
                <a:cxn ang="0">
                  <a:pos x="0" y="146"/>
                </a:cxn>
                <a:cxn ang="0">
                  <a:pos x="0" y="174"/>
                </a:cxn>
                <a:cxn ang="0">
                  <a:pos x="4" y="200"/>
                </a:cxn>
                <a:cxn ang="0">
                  <a:pos x="88" y="182"/>
                </a:cxn>
                <a:cxn ang="0">
                  <a:pos x="88" y="182"/>
                </a:cxn>
                <a:cxn ang="0">
                  <a:pos x="86" y="166"/>
                </a:cxn>
                <a:cxn ang="0">
                  <a:pos x="86" y="150"/>
                </a:cxn>
                <a:cxn ang="0">
                  <a:pos x="88" y="134"/>
                </a:cxn>
                <a:cxn ang="0">
                  <a:pos x="92" y="118"/>
                </a:cxn>
                <a:cxn ang="0">
                  <a:pos x="92" y="118"/>
                </a:cxn>
              </a:cxnLst>
              <a:rect l="0" t="0" r="r" b="b"/>
              <a:pathLst>
                <a:path w="126" h="200">
                  <a:moveTo>
                    <a:pt x="92" y="118"/>
                  </a:moveTo>
                  <a:lnTo>
                    <a:pt x="92" y="118"/>
                  </a:lnTo>
                  <a:lnTo>
                    <a:pt x="98" y="104"/>
                  </a:lnTo>
                  <a:lnTo>
                    <a:pt x="106" y="88"/>
                  </a:lnTo>
                  <a:lnTo>
                    <a:pt x="116" y="76"/>
                  </a:lnTo>
                  <a:lnTo>
                    <a:pt x="126" y="64"/>
                  </a:lnTo>
                  <a:lnTo>
                    <a:pt x="68" y="0"/>
                  </a:lnTo>
                  <a:lnTo>
                    <a:pt x="68" y="0"/>
                  </a:lnTo>
                  <a:lnTo>
                    <a:pt x="50" y="20"/>
                  </a:lnTo>
                  <a:lnTo>
                    <a:pt x="34" y="42"/>
                  </a:lnTo>
                  <a:lnTo>
                    <a:pt x="22" y="66"/>
                  </a:lnTo>
                  <a:lnTo>
                    <a:pt x="12" y="92"/>
                  </a:lnTo>
                  <a:lnTo>
                    <a:pt x="12" y="92"/>
                  </a:lnTo>
                  <a:lnTo>
                    <a:pt x="4" y="118"/>
                  </a:lnTo>
                  <a:lnTo>
                    <a:pt x="0" y="146"/>
                  </a:lnTo>
                  <a:lnTo>
                    <a:pt x="0" y="174"/>
                  </a:lnTo>
                  <a:lnTo>
                    <a:pt x="4" y="200"/>
                  </a:lnTo>
                  <a:lnTo>
                    <a:pt x="88" y="182"/>
                  </a:lnTo>
                  <a:lnTo>
                    <a:pt x="88" y="182"/>
                  </a:lnTo>
                  <a:lnTo>
                    <a:pt x="86" y="166"/>
                  </a:lnTo>
                  <a:lnTo>
                    <a:pt x="86" y="150"/>
                  </a:lnTo>
                  <a:lnTo>
                    <a:pt x="88" y="134"/>
                  </a:lnTo>
                  <a:lnTo>
                    <a:pt x="92" y="118"/>
                  </a:lnTo>
                  <a:lnTo>
                    <a:pt x="92" y="118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35" name="Freeform 39"/>
            <p:cNvSpPr>
              <a:spLocks/>
            </p:cNvSpPr>
            <p:nvPr/>
          </p:nvSpPr>
          <p:spPr bwMode="auto">
            <a:xfrm>
              <a:off x="5135" y="4142"/>
              <a:ext cx="126" cy="132"/>
            </a:xfrm>
            <a:custGeom>
              <a:avLst/>
              <a:gdLst/>
              <a:ahLst/>
              <a:cxnLst>
                <a:cxn ang="0">
                  <a:pos x="84" y="0"/>
                </a:cxn>
                <a:cxn ang="0">
                  <a:pos x="0" y="18"/>
                </a:cxn>
                <a:cxn ang="0">
                  <a:pos x="0" y="18"/>
                </a:cxn>
                <a:cxn ang="0">
                  <a:pos x="8" y="44"/>
                </a:cxn>
                <a:cxn ang="0">
                  <a:pos x="20" y="68"/>
                </a:cxn>
                <a:cxn ang="0">
                  <a:pos x="34" y="90"/>
                </a:cxn>
                <a:cxn ang="0">
                  <a:pos x="50" y="112"/>
                </a:cxn>
                <a:cxn ang="0">
                  <a:pos x="70" y="130"/>
                </a:cxn>
                <a:cxn ang="0">
                  <a:pos x="90" y="148"/>
                </a:cxn>
                <a:cxn ang="0">
                  <a:pos x="114" y="162"/>
                </a:cxn>
                <a:cxn ang="0">
                  <a:pos x="140" y="174"/>
                </a:cxn>
                <a:cxn ang="0">
                  <a:pos x="166" y="92"/>
                </a:cxn>
                <a:cxn ang="0">
                  <a:pos x="166" y="92"/>
                </a:cxn>
                <a:cxn ang="0">
                  <a:pos x="152" y="84"/>
                </a:cxn>
                <a:cxn ang="0">
                  <a:pos x="138" y="76"/>
                </a:cxn>
                <a:cxn ang="0">
                  <a:pos x="126" y="66"/>
                </a:cxn>
                <a:cxn ang="0">
                  <a:pos x="114" y="54"/>
                </a:cxn>
                <a:cxn ang="0">
                  <a:pos x="104" y="42"/>
                </a:cxn>
                <a:cxn ang="0">
                  <a:pos x="96" y="28"/>
                </a:cxn>
                <a:cxn ang="0">
                  <a:pos x="90" y="14"/>
                </a:cxn>
                <a:cxn ang="0">
                  <a:pos x="84" y="0"/>
                </a:cxn>
                <a:cxn ang="0">
                  <a:pos x="84" y="0"/>
                </a:cxn>
              </a:cxnLst>
              <a:rect l="0" t="0" r="r" b="b"/>
              <a:pathLst>
                <a:path w="166" h="174">
                  <a:moveTo>
                    <a:pt x="84" y="0"/>
                  </a:moveTo>
                  <a:lnTo>
                    <a:pt x="0" y="18"/>
                  </a:lnTo>
                  <a:lnTo>
                    <a:pt x="0" y="18"/>
                  </a:lnTo>
                  <a:lnTo>
                    <a:pt x="8" y="44"/>
                  </a:lnTo>
                  <a:lnTo>
                    <a:pt x="20" y="68"/>
                  </a:lnTo>
                  <a:lnTo>
                    <a:pt x="34" y="90"/>
                  </a:lnTo>
                  <a:lnTo>
                    <a:pt x="50" y="112"/>
                  </a:lnTo>
                  <a:lnTo>
                    <a:pt x="70" y="130"/>
                  </a:lnTo>
                  <a:lnTo>
                    <a:pt x="90" y="148"/>
                  </a:lnTo>
                  <a:lnTo>
                    <a:pt x="114" y="162"/>
                  </a:lnTo>
                  <a:lnTo>
                    <a:pt x="140" y="174"/>
                  </a:lnTo>
                  <a:lnTo>
                    <a:pt x="166" y="92"/>
                  </a:lnTo>
                  <a:lnTo>
                    <a:pt x="166" y="92"/>
                  </a:lnTo>
                  <a:lnTo>
                    <a:pt x="152" y="84"/>
                  </a:lnTo>
                  <a:lnTo>
                    <a:pt x="138" y="76"/>
                  </a:lnTo>
                  <a:lnTo>
                    <a:pt x="126" y="66"/>
                  </a:lnTo>
                  <a:lnTo>
                    <a:pt x="114" y="54"/>
                  </a:lnTo>
                  <a:lnTo>
                    <a:pt x="104" y="42"/>
                  </a:lnTo>
                  <a:lnTo>
                    <a:pt x="96" y="28"/>
                  </a:lnTo>
                  <a:lnTo>
                    <a:pt x="90" y="14"/>
                  </a:lnTo>
                  <a:lnTo>
                    <a:pt x="84" y="0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36" name="Freeform 40"/>
            <p:cNvSpPr>
              <a:spLocks/>
            </p:cNvSpPr>
            <p:nvPr/>
          </p:nvSpPr>
          <p:spPr bwMode="auto">
            <a:xfrm>
              <a:off x="5345" y="3948"/>
              <a:ext cx="127" cy="132"/>
            </a:xfrm>
            <a:custGeom>
              <a:avLst/>
              <a:gdLst/>
              <a:ahLst/>
              <a:cxnLst>
                <a:cxn ang="0">
                  <a:pos x="84" y="174"/>
                </a:cxn>
                <a:cxn ang="0">
                  <a:pos x="168" y="156"/>
                </a:cxn>
                <a:cxn ang="0">
                  <a:pos x="168" y="156"/>
                </a:cxn>
                <a:cxn ang="0">
                  <a:pos x="160" y="130"/>
                </a:cxn>
                <a:cxn ang="0">
                  <a:pos x="148" y="106"/>
                </a:cxn>
                <a:cxn ang="0">
                  <a:pos x="134" y="84"/>
                </a:cxn>
                <a:cxn ang="0">
                  <a:pos x="118" y="62"/>
                </a:cxn>
                <a:cxn ang="0">
                  <a:pos x="98" y="44"/>
                </a:cxn>
                <a:cxn ang="0">
                  <a:pos x="76" y="26"/>
                </a:cxn>
                <a:cxn ang="0">
                  <a:pos x="54" y="12"/>
                </a:cxn>
                <a:cxn ang="0">
                  <a:pos x="28" y="0"/>
                </a:cxn>
                <a:cxn ang="0">
                  <a:pos x="0" y="82"/>
                </a:cxn>
                <a:cxn ang="0">
                  <a:pos x="0" y="82"/>
                </a:cxn>
                <a:cxn ang="0">
                  <a:pos x="16" y="90"/>
                </a:cxn>
                <a:cxn ang="0">
                  <a:pos x="30" y="98"/>
                </a:cxn>
                <a:cxn ang="0">
                  <a:pos x="42" y="108"/>
                </a:cxn>
                <a:cxn ang="0">
                  <a:pos x="54" y="120"/>
                </a:cxn>
                <a:cxn ang="0">
                  <a:pos x="64" y="132"/>
                </a:cxn>
                <a:cxn ang="0">
                  <a:pos x="72" y="144"/>
                </a:cxn>
                <a:cxn ang="0">
                  <a:pos x="78" y="160"/>
                </a:cxn>
                <a:cxn ang="0">
                  <a:pos x="84" y="174"/>
                </a:cxn>
                <a:cxn ang="0">
                  <a:pos x="84" y="174"/>
                </a:cxn>
              </a:cxnLst>
              <a:rect l="0" t="0" r="r" b="b"/>
              <a:pathLst>
                <a:path w="168" h="174">
                  <a:moveTo>
                    <a:pt x="84" y="174"/>
                  </a:moveTo>
                  <a:lnTo>
                    <a:pt x="168" y="156"/>
                  </a:lnTo>
                  <a:lnTo>
                    <a:pt x="168" y="156"/>
                  </a:lnTo>
                  <a:lnTo>
                    <a:pt x="160" y="130"/>
                  </a:lnTo>
                  <a:lnTo>
                    <a:pt x="148" y="106"/>
                  </a:lnTo>
                  <a:lnTo>
                    <a:pt x="134" y="84"/>
                  </a:lnTo>
                  <a:lnTo>
                    <a:pt x="118" y="62"/>
                  </a:lnTo>
                  <a:lnTo>
                    <a:pt x="98" y="44"/>
                  </a:lnTo>
                  <a:lnTo>
                    <a:pt x="76" y="26"/>
                  </a:lnTo>
                  <a:lnTo>
                    <a:pt x="54" y="12"/>
                  </a:lnTo>
                  <a:lnTo>
                    <a:pt x="28" y="0"/>
                  </a:lnTo>
                  <a:lnTo>
                    <a:pt x="0" y="82"/>
                  </a:lnTo>
                  <a:lnTo>
                    <a:pt x="0" y="82"/>
                  </a:lnTo>
                  <a:lnTo>
                    <a:pt x="16" y="90"/>
                  </a:lnTo>
                  <a:lnTo>
                    <a:pt x="30" y="98"/>
                  </a:lnTo>
                  <a:lnTo>
                    <a:pt x="42" y="108"/>
                  </a:lnTo>
                  <a:lnTo>
                    <a:pt x="54" y="120"/>
                  </a:lnTo>
                  <a:lnTo>
                    <a:pt x="64" y="132"/>
                  </a:lnTo>
                  <a:lnTo>
                    <a:pt x="72" y="144"/>
                  </a:lnTo>
                  <a:lnTo>
                    <a:pt x="78" y="160"/>
                  </a:lnTo>
                  <a:lnTo>
                    <a:pt x="84" y="174"/>
                  </a:lnTo>
                  <a:lnTo>
                    <a:pt x="84" y="174"/>
                  </a:ln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37" name="Freeform 41"/>
            <p:cNvSpPr>
              <a:spLocks/>
            </p:cNvSpPr>
            <p:nvPr/>
          </p:nvSpPr>
          <p:spPr bwMode="auto">
            <a:xfrm>
              <a:off x="5258" y="4197"/>
              <a:ext cx="156" cy="88"/>
            </a:xfrm>
            <a:custGeom>
              <a:avLst/>
              <a:gdLst/>
              <a:ahLst/>
              <a:cxnLst>
                <a:cxn ang="0">
                  <a:pos x="26" y="26"/>
                </a:cxn>
                <a:cxn ang="0">
                  <a:pos x="0" y="108"/>
                </a:cxn>
                <a:cxn ang="0">
                  <a:pos x="0" y="108"/>
                </a:cxn>
                <a:cxn ang="0">
                  <a:pos x="28" y="114"/>
                </a:cxn>
                <a:cxn ang="0">
                  <a:pos x="56" y="116"/>
                </a:cxn>
                <a:cxn ang="0">
                  <a:pos x="82" y="116"/>
                </a:cxn>
                <a:cxn ang="0">
                  <a:pos x="110" y="112"/>
                </a:cxn>
                <a:cxn ang="0">
                  <a:pos x="136" y="104"/>
                </a:cxn>
                <a:cxn ang="0">
                  <a:pos x="160" y="94"/>
                </a:cxn>
                <a:cxn ang="0">
                  <a:pos x="184" y="80"/>
                </a:cxn>
                <a:cxn ang="0">
                  <a:pos x="206" y="64"/>
                </a:cxn>
                <a:cxn ang="0">
                  <a:pos x="148" y="0"/>
                </a:cxn>
                <a:cxn ang="0">
                  <a:pos x="148" y="0"/>
                </a:cxn>
                <a:cxn ang="0">
                  <a:pos x="134" y="10"/>
                </a:cxn>
                <a:cxn ang="0">
                  <a:pos x="120" y="18"/>
                </a:cxn>
                <a:cxn ang="0">
                  <a:pos x="106" y="24"/>
                </a:cxn>
                <a:cxn ang="0">
                  <a:pos x="90" y="28"/>
                </a:cxn>
                <a:cxn ang="0">
                  <a:pos x="74" y="30"/>
                </a:cxn>
                <a:cxn ang="0">
                  <a:pos x="58" y="30"/>
                </a:cxn>
                <a:cxn ang="0">
                  <a:pos x="42" y="30"/>
                </a:cxn>
                <a:cxn ang="0">
                  <a:pos x="26" y="26"/>
                </a:cxn>
                <a:cxn ang="0">
                  <a:pos x="26" y="26"/>
                </a:cxn>
              </a:cxnLst>
              <a:rect l="0" t="0" r="r" b="b"/>
              <a:pathLst>
                <a:path w="206" h="116">
                  <a:moveTo>
                    <a:pt x="26" y="26"/>
                  </a:moveTo>
                  <a:lnTo>
                    <a:pt x="0" y="108"/>
                  </a:lnTo>
                  <a:lnTo>
                    <a:pt x="0" y="108"/>
                  </a:lnTo>
                  <a:lnTo>
                    <a:pt x="28" y="114"/>
                  </a:lnTo>
                  <a:lnTo>
                    <a:pt x="56" y="116"/>
                  </a:lnTo>
                  <a:lnTo>
                    <a:pt x="82" y="116"/>
                  </a:lnTo>
                  <a:lnTo>
                    <a:pt x="110" y="112"/>
                  </a:lnTo>
                  <a:lnTo>
                    <a:pt x="136" y="104"/>
                  </a:lnTo>
                  <a:lnTo>
                    <a:pt x="160" y="94"/>
                  </a:lnTo>
                  <a:lnTo>
                    <a:pt x="184" y="80"/>
                  </a:lnTo>
                  <a:lnTo>
                    <a:pt x="206" y="64"/>
                  </a:lnTo>
                  <a:lnTo>
                    <a:pt x="148" y="0"/>
                  </a:lnTo>
                  <a:lnTo>
                    <a:pt x="148" y="0"/>
                  </a:lnTo>
                  <a:lnTo>
                    <a:pt x="134" y="10"/>
                  </a:lnTo>
                  <a:lnTo>
                    <a:pt x="120" y="18"/>
                  </a:lnTo>
                  <a:lnTo>
                    <a:pt x="106" y="24"/>
                  </a:lnTo>
                  <a:lnTo>
                    <a:pt x="90" y="28"/>
                  </a:lnTo>
                  <a:lnTo>
                    <a:pt x="74" y="30"/>
                  </a:lnTo>
                  <a:lnTo>
                    <a:pt x="58" y="30"/>
                  </a:lnTo>
                  <a:lnTo>
                    <a:pt x="42" y="30"/>
                  </a:lnTo>
                  <a:lnTo>
                    <a:pt x="26" y="26"/>
                  </a:lnTo>
                  <a:lnTo>
                    <a:pt x="26" y="26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5" name="Group 42"/>
          <p:cNvGrpSpPr>
            <a:grpSpLocks/>
          </p:cNvGrpSpPr>
          <p:nvPr/>
        </p:nvGrpSpPr>
        <p:grpSpPr bwMode="auto">
          <a:xfrm>
            <a:off x="8089900" y="5821363"/>
            <a:ext cx="390525" cy="390525"/>
            <a:chOff x="5114" y="3685"/>
            <a:chExt cx="246" cy="246"/>
          </a:xfrm>
        </p:grpSpPr>
        <p:sp>
          <p:nvSpPr>
            <p:cNvPr id="4139" name="Freeform 43"/>
            <p:cNvSpPr>
              <a:spLocks/>
            </p:cNvSpPr>
            <p:nvPr/>
          </p:nvSpPr>
          <p:spPr bwMode="auto">
            <a:xfrm>
              <a:off x="5135" y="3845"/>
              <a:ext cx="94" cy="86"/>
            </a:xfrm>
            <a:custGeom>
              <a:avLst/>
              <a:gdLst/>
              <a:ahLst/>
              <a:cxnLst>
                <a:cxn ang="0">
                  <a:pos x="70" y="0"/>
                </a:cxn>
                <a:cxn ang="0">
                  <a:pos x="0" y="42"/>
                </a:cxn>
                <a:cxn ang="0">
                  <a:pos x="0" y="42"/>
                </a:cxn>
                <a:cxn ang="0">
                  <a:pos x="10" y="56"/>
                </a:cxn>
                <a:cxn ang="0">
                  <a:pos x="22" y="70"/>
                </a:cxn>
                <a:cxn ang="0">
                  <a:pos x="36" y="82"/>
                </a:cxn>
                <a:cxn ang="0">
                  <a:pos x="52" y="92"/>
                </a:cxn>
                <a:cxn ang="0">
                  <a:pos x="68" y="100"/>
                </a:cxn>
                <a:cxn ang="0">
                  <a:pos x="86" y="108"/>
                </a:cxn>
                <a:cxn ang="0">
                  <a:pos x="104" y="112"/>
                </a:cxn>
                <a:cxn ang="0">
                  <a:pos x="124" y="114"/>
                </a:cxn>
                <a:cxn ang="0">
                  <a:pos x="124" y="32"/>
                </a:cxn>
                <a:cxn ang="0">
                  <a:pos x="124" y="32"/>
                </a:cxn>
                <a:cxn ang="0">
                  <a:pos x="108" y="28"/>
                </a:cxn>
                <a:cxn ang="0">
                  <a:pos x="94" y="22"/>
                </a:cxn>
                <a:cxn ang="0">
                  <a:pos x="82" y="12"/>
                </a:cxn>
                <a:cxn ang="0">
                  <a:pos x="70" y="0"/>
                </a:cxn>
                <a:cxn ang="0">
                  <a:pos x="70" y="0"/>
                </a:cxn>
              </a:cxnLst>
              <a:rect l="0" t="0" r="r" b="b"/>
              <a:pathLst>
                <a:path w="124" h="114">
                  <a:moveTo>
                    <a:pt x="70" y="0"/>
                  </a:moveTo>
                  <a:lnTo>
                    <a:pt x="0" y="42"/>
                  </a:lnTo>
                  <a:lnTo>
                    <a:pt x="0" y="42"/>
                  </a:lnTo>
                  <a:lnTo>
                    <a:pt x="10" y="56"/>
                  </a:lnTo>
                  <a:lnTo>
                    <a:pt x="22" y="70"/>
                  </a:lnTo>
                  <a:lnTo>
                    <a:pt x="36" y="82"/>
                  </a:lnTo>
                  <a:lnTo>
                    <a:pt x="52" y="92"/>
                  </a:lnTo>
                  <a:lnTo>
                    <a:pt x="68" y="100"/>
                  </a:lnTo>
                  <a:lnTo>
                    <a:pt x="86" y="108"/>
                  </a:lnTo>
                  <a:lnTo>
                    <a:pt x="104" y="112"/>
                  </a:lnTo>
                  <a:lnTo>
                    <a:pt x="124" y="114"/>
                  </a:lnTo>
                  <a:lnTo>
                    <a:pt x="124" y="32"/>
                  </a:lnTo>
                  <a:lnTo>
                    <a:pt x="124" y="32"/>
                  </a:lnTo>
                  <a:lnTo>
                    <a:pt x="108" y="28"/>
                  </a:lnTo>
                  <a:lnTo>
                    <a:pt x="94" y="22"/>
                  </a:lnTo>
                  <a:lnTo>
                    <a:pt x="82" y="12"/>
                  </a:lnTo>
                  <a:lnTo>
                    <a:pt x="70" y="0"/>
                  </a:lnTo>
                  <a:lnTo>
                    <a:pt x="70" y="0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40" name="Freeform 44"/>
            <p:cNvSpPr>
              <a:spLocks/>
            </p:cNvSpPr>
            <p:nvPr/>
          </p:nvSpPr>
          <p:spPr bwMode="auto">
            <a:xfrm>
              <a:off x="5135" y="3685"/>
              <a:ext cx="94" cy="87"/>
            </a:xfrm>
            <a:custGeom>
              <a:avLst/>
              <a:gdLst/>
              <a:ahLst/>
              <a:cxnLst>
                <a:cxn ang="0">
                  <a:pos x="124" y="82"/>
                </a:cxn>
                <a:cxn ang="0">
                  <a:pos x="124" y="0"/>
                </a:cxn>
                <a:cxn ang="0">
                  <a:pos x="124" y="0"/>
                </a:cxn>
                <a:cxn ang="0">
                  <a:pos x="104" y="2"/>
                </a:cxn>
                <a:cxn ang="0">
                  <a:pos x="86" y="8"/>
                </a:cxn>
                <a:cxn ang="0">
                  <a:pos x="68" y="14"/>
                </a:cxn>
                <a:cxn ang="0">
                  <a:pos x="52" y="22"/>
                </a:cxn>
                <a:cxn ang="0">
                  <a:pos x="36" y="32"/>
                </a:cxn>
                <a:cxn ang="0">
                  <a:pos x="22" y="44"/>
                </a:cxn>
                <a:cxn ang="0">
                  <a:pos x="10" y="58"/>
                </a:cxn>
                <a:cxn ang="0">
                  <a:pos x="0" y="72"/>
                </a:cxn>
                <a:cxn ang="0">
                  <a:pos x="70" y="114"/>
                </a:cxn>
                <a:cxn ang="0">
                  <a:pos x="70" y="114"/>
                </a:cxn>
                <a:cxn ang="0">
                  <a:pos x="82" y="102"/>
                </a:cxn>
                <a:cxn ang="0">
                  <a:pos x="94" y="92"/>
                </a:cxn>
                <a:cxn ang="0">
                  <a:pos x="108" y="86"/>
                </a:cxn>
                <a:cxn ang="0">
                  <a:pos x="124" y="82"/>
                </a:cxn>
                <a:cxn ang="0">
                  <a:pos x="124" y="82"/>
                </a:cxn>
              </a:cxnLst>
              <a:rect l="0" t="0" r="r" b="b"/>
              <a:pathLst>
                <a:path w="124" h="114">
                  <a:moveTo>
                    <a:pt x="124" y="82"/>
                  </a:moveTo>
                  <a:lnTo>
                    <a:pt x="124" y="0"/>
                  </a:lnTo>
                  <a:lnTo>
                    <a:pt x="124" y="0"/>
                  </a:lnTo>
                  <a:lnTo>
                    <a:pt x="104" y="2"/>
                  </a:lnTo>
                  <a:lnTo>
                    <a:pt x="86" y="8"/>
                  </a:lnTo>
                  <a:lnTo>
                    <a:pt x="68" y="14"/>
                  </a:lnTo>
                  <a:lnTo>
                    <a:pt x="52" y="22"/>
                  </a:lnTo>
                  <a:lnTo>
                    <a:pt x="36" y="32"/>
                  </a:lnTo>
                  <a:lnTo>
                    <a:pt x="22" y="44"/>
                  </a:lnTo>
                  <a:lnTo>
                    <a:pt x="10" y="58"/>
                  </a:lnTo>
                  <a:lnTo>
                    <a:pt x="0" y="72"/>
                  </a:lnTo>
                  <a:lnTo>
                    <a:pt x="70" y="114"/>
                  </a:lnTo>
                  <a:lnTo>
                    <a:pt x="70" y="114"/>
                  </a:lnTo>
                  <a:lnTo>
                    <a:pt x="82" y="102"/>
                  </a:lnTo>
                  <a:lnTo>
                    <a:pt x="94" y="92"/>
                  </a:lnTo>
                  <a:lnTo>
                    <a:pt x="108" y="86"/>
                  </a:lnTo>
                  <a:lnTo>
                    <a:pt x="124" y="82"/>
                  </a:lnTo>
                  <a:lnTo>
                    <a:pt x="124" y="82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41" name="Freeform 45"/>
            <p:cNvSpPr>
              <a:spLocks/>
            </p:cNvSpPr>
            <p:nvPr/>
          </p:nvSpPr>
          <p:spPr bwMode="auto">
            <a:xfrm>
              <a:off x="5114" y="3754"/>
              <a:ext cx="67" cy="109"/>
            </a:xfrm>
            <a:custGeom>
              <a:avLst/>
              <a:gdLst/>
              <a:ahLst/>
              <a:cxnLst>
                <a:cxn ang="0">
                  <a:pos x="82" y="72"/>
                </a:cxn>
                <a:cxn ang="0">
                  <a:pos x="82" y="72"/>
                </a:cxn>
                <a:cxn ang="0">
                  <a:pos x="84" y="56"/>
                </a:cxn>
                <a:cxn ang="0">
                  <a:pos x="88" y="42"/>
                </a:cxn>
                <a:cxn ang="0">
                  <a:pos x="18" y="0"/>
                </a:cxn>
                <a:cxn ang="0">
                  <a:pos x="18" y="0"/>
                </a:cxn>
                <a:cxn ang="0">
                  <a:pos x="10" y="16"/>
                </a:cxn>
                <a:cxn ang="0">
                  <a:pos x="4" y="34"/>
                </a:cxn>
                <a:cxn ang="0">
                  <a:pos x="2" y="54"/>
                </a:cxn>
                <a:cxn ang="0">
                  <a:pos x="0" y="72"/>
                </a:cxn>
                <a:cxn ang="0">
                  <a:pos x="0" y="72"/>
                </a:cxn>
                <a:cxn ang="0">
                  <a:pos x="2" y="92"/>
                </a:cxn>
                <a:cxn ang="0">
                  <a:pos x="4" y="110"/>
                </a:cxn>
                <a:cxn ang="0">
                  <a:pos x="10" y="128"/>
                </a:cxn>
                <a:cxn ang="0">
                  <a:pos x="18" y="144"/>
                </a:cxn>
                <a:cxn ang="0">
                  <a:pos x="88" y="104"/>
                </a:cxn>
                <a:cxn ang="0">
                  <a:pos x="88" y="104"/>
                </a:cxn>
                <a:cxn ang="0">
                  <a:pos x="84" y="88"/>
                </a:cxn>
                <a:cxn ang="0">
                  <a:pos x="82" y="72"/>
                </a:cxn>
                <a:cxn ang="0">
                  <a:pos x="82" y="72"/>
                </a:cxn>
              </a:cxnLst>
              <a:rect l="0" t="0" r="r" b="b"/>
              <a:pathLst>
                <a:path w="88" h="144">
                  <a:moveTo>
                    <a:pt x="82" y="72"/>
                  </a:moveTo>
                  <a:lnTo>
                    <a:pt x="82" y="72"/>
                  </a:lnTo>
                  <a:lnTo>
                    <a:pt x="84" y="56"/>
                  </a:lnTo>
                  <a:lnTo>
                    <a:pt x="88" y="42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0" y="16"/>
                  </a:lnTo>
                  <a:lnTo>
                    <a:pt x="4" y="34"/>
                  </a:lnTo>
                  <a:lnTo>
                    <a:pt x="2" y="54"/>
                  </a:lnTo>
                  <a:lnTo>
                    <a:pt x="0" y="72"/>
                  </a:lnTo>
                  <a:lnTo>
                    <a:pt x="0" y="72"/>
                  </a:lnTo>
                  <a:lnTo>
                    <a:pt x="2" y="92"/>
                  </a:lnTo>
                  <a:lnTo>
                    <a:pt x="4" y="110"/>
                  </a:lnTo>
                  <a:lnTo>
                    <a:pt x="10" y="128"/>
                  </a:lnTo>
                  <a:lnTo>
                    <a:pt x="18" y="144"/>
                  </a:lnTo>
                  <a:lnTo>
                    <a:pt x="88" y="104"/>
                  </a:lnTo>
                  <a:lnTo>
                    <a:pt x="88" y="104"/>
                  </a:lnTo>
                  <a:lnTo>
                    <a:pt x="84" y="88"/>
                  </a:lnTo>
                  <a:lnTo>
                    <a:pt x="82" y="72"/>
                  </a:lnTo>
                  <a:lnTo>
                    <a:pt x="82" y="72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42" name="Freeform 46"/>
            <p:cNvSpPr>
              <a:spLocks/>
            </p:cNvSpPr>
            <p:nvPr/>
          </p:nvSpPr>
          <p:spPr bwMode="auto">
            <a:xfrm>
              <a:off x="5293" y="3754"/>
              <a:ext cx="67" cy="109"/>
            </a:xfrm>
            <a:custGeom>
              <a:avLst/>
              <a:gdLst/>
              <a:ahLst/>
              <a:cxnLst>
                <a:cxn ang="0">
                  <a:pos x="6" y="72"/>
                </a:cxn>
                <a:cxn ang="0">
                  <a:pos x="6" y="72"/>
                </a:cxn>
                <a:cxn ang="0">
                  <a:pos x="6" y="88"/>
                </a:cxn>
                <a:cxn ang="0">
                  <a:pos x="0" y="104"/>
                </a:cxn>
                <a:cxn ang="0">
                  <a:pos x="72" y="144"/>
                </a:cxn>
                <a:cxn ang="0">
                  <a:pos x="72" y="144"/>
                </a:cxn>
                <a:cxn ang="0">
                  <a:pos x="78" y="128"/>
                </a:cxn>
                <a:cxn ang="0">
                  <a:pos x="84" y="110"/>
                </a:cxn>
                <a:cxn ang="0">
                  <a:pos x="88" y="92"/>
                </a:cxn>
                <a:cxn ang="0">
                  <a:pos x="88" y="72"/>
                </a:cxn>
                <a:cxn ang="0">
                  <a:pos x="88" y="72"/>
                </a:cxn>
                <a:cxn ang="0">
                  <a:pos x="88" y="54"/>
                </a:cxn>
                <a:cxn ang="0">
                  <a:pos x="84" y="34"/>
                </a:cxn>
                <a:cxn ang="0">
                  <a:pos x="78" y="16"/>
                </a:cxn>
                <a:cxn ang="0">
                  <a:pos x="72" y="0"/>
                </a:cxn>
                <a:cxn ang="0">
                  <a:pos x="0" y="42"/>
                </a:cxn>
                <a:cxn ang="0">
                  <a:pos x="0" y="42"/>
                </a:cxn>
                <a:cxn ang="0">
                  <a:pos x="6" y="56"/>
                </a:cxn>
                <a:cxn ang="0">
                  <a:pos x="6" y="72"/>
                </a:cxn>
                <a:cxn ang="0">
                  <a:pos x="6" y="72"/>
                </a:cxn>
              </a:cxnLst>
              <a:rect l="0" t="0" r="r" b="b"/>
              <a:pathLst>
                <a:path w="88" h="144">
                  <a:moveTo>
                    <a:pt x="6" y="72"/>
                  </a:moveTo>
                  <a:lnTo>
                    <a:pt x="6" y="72"/>
                  </a:lnTo>
                  <a:lnTo>
                    <a:pt x="6" y="88"/>
                  </a:lnTo>
                  <a:lnTo>
                    <a:pt x="0" y="104"/>
                  </a:lnTo>
                  <a:lnTo>
                    <a:pt x="72" y="144"/>
                  </a:lnTo>
                  <a:lnTo>
                    <a:pt x="72" y="144"/>
                  </a:lnTo>
                  <a:lnTo>
                    <a:pt x="78" y="128"/>
                  </a:lnTo>
                  <a:lnTo>
                    <a:pt x="84" y="110"/>
                  </a:lnTo>
                  <a:lnTo>
                    <a:pt x="88" y="92"/>
                  </a:lnTo>
                  <a:lnTo>
                    <a:pt x="88" y="72"/>
                  </a:lnTo>
                  <a:lnTo>
                    <a:pt x="88" y="72"/>
                  </a:lnTo>
                  <a:lnTo>
                    <a:pt x="88" y="54"/>
                  </a:lnTo>
                  <a:lnTo>
                    <a:pt x="84" y="34"/>
                  </a:lnTo>
                  <a:lnTo>
                    <a:pt x="78" y="16"/>
                  </a:lnTo>
                  <a:lnTo>
                    <a:pt x="72" y="0"/>
                  </a:lnTo>
                  <a:lnTo>
                    <a:pt x="0" y="42"/>
                  </a:lnTo>
                  <a:lnTo>
                    <a:pt x="0" y="42"/>
                  </a:lnTo>
                  <a:lnTo>
                    <a:pt x="6" y="56"/>
                  </a:lnTo>
                  <a:lnTo>
                    <a:pt x="6" y="72"/>
                  </a:lnTo>
                  <a:lnTo>
                    <a:pt x="6" y="72"/>
                  </a:ln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43" name="Freeform 47"/>
            <p:cNvSpPr>
              <a:spLocks/>
            </p:cNvSpPr>
            <p:nvPr/>
          </p:nvSpPr>
          <p:spPr bwMode="auto">
            <a:xfrm>
              <a:off x="5245" y="3845"/>
              <a:ext cx="95" cy="86"/>
            </a:xfrm>
            <a:custGeom>
              <a:avLst/>
              <a:gdLst/>
              <a:ahLst/>
              <a:cxnLst>
                <a:cxn ang="0">
                  <a:pos x="0" y="32"/>
                </a:cxn>
                <a:cxn ang="0">
                  <a:pos x="0" y="114"/>
                </a:cxn>
                <a:cxn ang="0">
                  <a:pos x="0" y="114"/>
                </a:cxn>
                <a:cxn ang="0">
                  <a:pos x="20" y="112"/>
                </a:cxn>
                <a:cxn ang="0">
                  <a:pos x="38" y="108"/>
                </a:cxn>
                <a:cxn ang="0">
                  <a:pos x="56" y="100"/>
                </a:cxn>
                <a:cxn ang="0">
                  <a:pos x="72" y="92"/>
                </a:cxn>
                <a:cxn ang="0">
                  <a:pos x="88" y="82"/>
                </a:cxn>
                <a:cxn ang="0">
                  <a:pos x="102" y="70"/>
                </a:cxn>
                <a:cxn ang="0">
                  <a:pos x="114" y="56"/>
                </a:cxn>
                <a:cxn ang="0">
                  <a:pos x="126" y="42"/>
                </a:cxn>
                <a:cxn ang="0">
                  <a:pos x="54" y="0"/>
                </a:cxn>
                <a:cxn ang="0">
                  <a:pos x="54" y="0"/>
                </a:cxn>
                <a:cxn ang="0">
                  <a:pos x="44" y="12"/>
                </a:cxn>
                <a:cxn ang="0">
                  <a:pos x="30" y="22"/>
                </a:cxn>
                <a:cxn ang="0">
                  <a:pos x="16" y="28"/>
                </a:cxn>
                <a:cxn ang="0">
                  <a:pos x="0" y="32"/>
                </a:cxn>
                <a:cxn ang="0">
                  <a:pos x="0" y="32"/>
                </a:cxn>
              </a:cxnLst>
              <a:rect l="0" t="0" r="r" b="b"/>
              <a:pathLst>
                <a:path w="126" h="114">
                  <a:moveTo>
                    <a:pt x="0" y="32"/>
                  </a:moveTo>
                  <a:lnTo>
                    <a:pt x="0" y="114"/>
                  </a:lnTo>
                  <a:lnTo>
                    <a:pt x="0" y="114"/>
                  </a:lnTo>
                  <a:lnTo>
                    <a:pt x="20" y="112"/>
                  </a:lnTo>
                  <a:lnTo>
                    <a:pt x="38" y="108"/>
                  </a:lnTo>
                  <a:lnTo>
                    <a:pt x="56" y="100"/>
                  </a:lnTo>
                  <a:lnTo>
                    <a:pt x="72" y="92"/>
                  </a:lnTo>
                  <a:lnTo>
                    <a:pt x="88" y="82"/>
                  </a:lnTo>
                  <a:lnTo>
                    <a:pt x="102" y="70"/>
                  </a:lnTo>
                  <a:lnTo>
                    <a:pt x="114" y="56"/>
                  </a:lnTo>
                  <a:lnTo>
                    <a:pt x="126" y="42"/>
                  </a:lnTo>
                  <a:lnTo>
                    <a:pt x="54" y="0"/>
                  </a:lnTo>
                  <a:lnTo>
                    <a:pt x="54" y="0"/>
                  </a:lnTo>
                  <a:lnTo>
                    <a:pt x="44" y="12"/>
                  </a:lnTo>
                  <a:lnTo>
                    <a:pt x="30" y="22"/>
                  </a:lnTo>
                  <a:lnTo>
                    <a:pt x="16" y="28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44" name="Freeform 48"/>
            <p:cNvSpPr>
              <a:spLocks/>
            </p:cNvSpPr>
            <p:nvPr/>
          </p:nvSpPr>
          <p:spPr bwMode="auto">
            <a:xfrm>
              <a:off x="5245" y="3685"/>
              <a:ext cx="95" cy="87"/>
            </a:xfrm>
            <a:custGeom>
              <a:avLst/>
              <a:gdLst/>
              <a:ahLst/>
              <a:cxnLst>
                <a:cxn ang="0">
                  <a:pos x="54" y="114"/>
                </a:cxn>
                <a:cxn ang="0">
                  <a:pos x="126" y="72"/>
                </a:cxn>
                <a:cxn ang="0">
                  <a:pos x="126" y="72"/>
                </a:cxn>
                <a:cxn ang="0">
                  <a:pos x="114" y="58"/>
                </a:cxn>
                <a:cxn ang="0">
                  <a:pos x="102" y="44"/>
                </a:cxn>
                <a:cxn ang="0">
                  <a:pos x="88" y="32"/>
                </a:cxn>
                <a:cxn ang="0">
                  <a:pos x="72" y="22"/>
                </a:cxn>
                <a:cxn ang="0">
                  <a:pos x="56" y="14"/>
                </a:cxn>
                <a:cxn ang="0">
                  <a:pos x="38" y="8"/>
                </a:cxn>
                <a:cxn ang="0">
                  <a:pos x="20" y="2"/>
                </a:cxn>
                <a:cxn ang="0">
                  <a:pos x="0" y="0"/>
                </a:cxn>
                <a:cxn ang="0">
                  <a:pos x="0" y="82"/>
                </a:cxn>
                <a:cxn ang="0">
                  <a:pos x="0" y="82"/>
                </a:cxn>
                <a:cxn ang="0">
                  <a:pos x="16" y="86"/>
                </a:cxn>
                <a:cxn ang="0">
                  <a:pos x="30" y="92"/>
                </a:cxn>
                <a:cxn ang="0">
                  <a:pos x="44" y="102"/>
                </a:cxn>
                <a:cxn ang="0">
                  <a:pos x="54" y="114"/>
                </a:cxn>
                <a:cxn ang="0">
                  <a:pos x="54" y="114"/>
                </a:cxn>
              </a:cxnLst>
              <a:rect l="0" t="0" r="r" b="b"/>
              <a:pathLst>
                <a:path w="126" h="114">
                  <a:moveTo>
                    <a:pt x="54" y="114"/>
                  </a:moveTo>
                  <a:lnTo>
                    <a:pt x="126" y="72"/>
                  </a:lnTo>
                  <a:lnTo>
                    <a:pt x="126" y="72"/>
                  </a:lnTo>
                  <a:lnTo>
                    <a:pt x="114" y="58"/>
                  </a:lnTo>
                  <a:lnTo>
                    <a:pt x="102" y="44"/>
                  </a:lnTo>
                  <a:lnTo>
                    <a:pt x="88" y="32"/>
                  </a:lnTo>
                  <a:lnTo>
                    <a:pt x="72" y="22"/>
                  </a:lnTo>
                  <a:lnTo>
                    <a:pt x="56" y="14"/>
                  </a:lnTo>
                  <a:lnTo>
                    <a:pt x="38" y="8"/>
                  </a:lnTo>
                  <a:lnTo>
                    <a:pt x="20" y="2"/>
                  </a:lnTo>
                  <a:lnTo>
                    <a:pt x="0" y="0"/>
                  </a:lnTo>
                  <a:lnTo>
                    <a:pt x="0" y="82"/>
                  </a:lnTo>
                  <a:lnTo>
                    <a:pt x="0" y="82"/>
                  </a:lnTo>
                  <a:lnTo>
                    <a:pt x="16" y="86"/>
                  </a:lnTo>
                  <a:lnTo>
                    <a:pt x="30" y="92"/>
                  </a:lnTo>
                  <a:lnTo>
                    <a:pt x="44" y="102"/>
                  </a:lnTo>
                  <a:lnTo>
                    <a:pt x="54" y="114"/>
                  </a:lnTo>
                  <a:lnTo>
                    <a:pt x="54" y="114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65440-4C8F-497D-8DC5-47855554306F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2749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00191 -0.00185 L -2.77778E-6 5.78035E-7 " pathEditMode="relative" rAng="0" ptsTypes="AA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0100" y="10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" presetID="8" presetClass="emp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m62-mechanical">
  <a:themeElements>
    <a:clrScheme name="m62-mechanical 15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024069"/>
      </a:accent2>
      <a:accent3>
        <a:srgbClr val="FFFFFF"/>
      </a:accent3>
      <a:accent4>
        <a:srgbClr val="000000"/>
      </a:accent4>
      <a:accent5>
        <a:srgbClr val="DAEDEF"/>
      </a:accent5>
      <a:accent6>
        <a:srgbClr val="02395E"/>
      </a:accent6>
      <a:hlink>
        <a:srgbClr val="03548A"/>
      </a:hlink>
      <a:folHlink>
        <a:srgbClr val="027ED1"/>
      </a:folHlink>
    </a:clrScheme>
    <a:fontScheme name="m62-mechanic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m62-mechanical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62-mechanical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62-mechanical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62-mechanical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62-mechanical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62-mechanical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62-mechanical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62-mechanical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62-mechanical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62-mechanical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62-mechanical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62-mechanical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62-mechanical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02406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02395E"/>
        </a:accent6>
        <a:hlink>
          <a:srgbClr val="03548A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62-mechanical 14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27ED1"/>
        </a:accent1>
        <a:accent2>
          <a:srgbClr val="024069"/>
        </a:accent2>
        <a:accent3>
          <a:srgbClr val="FFFFFF"/>
        </a:accent3>
        <a:accent4>
          <a:srgbClr val="000000"/>
        </a:accent4>
        <a:accent5>
          <a:srgbClr val="AAC0E5"/>
        </a:accent5>
        <a:accent6>
          <a:srgbClr val="02395E"/>
        </a:accent6>
        <a:hlink>
          <a:srgbClr val="03548A"/>
        </a:hlink>
        <a:folHlink>
          <a:srgbClr val="0368A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62-mechanical 1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02406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02395E"/>
        </a:accent6>
        <a:hlink>
          <a:srgbClr val="03548A"/>
        </a:hlink>
        <a:folHlink>
          <a:srgbClr val="027ED1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It’s not the design of your template">
  <a:themeElements>
    <a:clrScheme name="1_It’s not the design of your template 13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135971"/>
      </a:hlink>
      <a:folHlink>
        <a:srgbClr val="99CC00"/>
      </a:folHlink>
    </a:clrScheme>
    <a:fontScheme name="1_It’s not the design of your template">
      <a:majorFont>
        <a:latin typeface="Neo Sans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It’s not the design of your 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It’s not the design of your templat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It’s not the design of your templat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It’s not the design of your templat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It’s not the design of your templat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It’s not the design of your templat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It’s not the design of your templat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It’s not the design of your templat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It’s not the design of your templat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It’s not the design of your templat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It’s not the design of your templat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It’s not the design of your templat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It’s not the design of your template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135971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m62-mechanical</Template>
  <TotalTime>2076</TotalTime>
  <Words>834</Words>
  <Application>Microsoft Office PowerPoint</Application>
  <PresentationFormat>On-screen Show (4:3)</PresentationFormat>
  <Paragraphs>112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Arial</vt:lpstr>
      <vt:lpstr>Calibri</vt:lpstr>
      <vt:lpstr>Courier New</vt:lpstr>
      <vt:lpstr>Neo Sans</vt:lpstr>
      <vt:lpstr>Times New Roman</vt:lpstr>
      <vt:lpstr>Wingdings</vt:lpstr>
      <vt:lpstr>m62-mechanical</vt:lpstr>
      <vt:lpstr>1_It’s not the design of your template</vt:lpstr>
      <vt:lpstr> Object Oriented Programming CSE 2101  Lecture - 03 </vt:lpstr>
      <vt:lpstr>Outline</vt:lpstr>
      <vt:lpstr>Variables</vt:lpstr>
      <vt:lpstr>Scope and Lifetime of a variable</vt:lpstr>
      <vt:lpstr>Scope and Lifetime of a variable</vt:lpstr>
      <vt:lpstr>Automatic Type Conversion</vt:lpstr>
      <vt:lpstr>Casting Type</vt:lpstr>
      <vt:lpstr>Casting Type</vt:lpstr>
      <vt:lpstr>Casting Type</vt:lpstr>
      <vt:lpstr>Automatic Type Promotion</vt:lpstr>
      <vt:lpstr>Example</vt:lpstr>
      <vt:lpstr>Example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text to go here</dc:title>
  <dc:creator>Windows User</dc:creator>
  <cp:lastModifiedBy>user</cp:lastModifiedBy>
  <cp:revision>1090</cp:revision>
  <dcterms:created xsi:type="dcterms:W3CDTF">2015-05-03T19:01:06Z</dcterms:created>
  <dcterms:modified xsi:type="dcterms:W3CDTF">2024-11-04T07:43:20Z</dcterms:modified>
</cp:coreProperties>
</file>