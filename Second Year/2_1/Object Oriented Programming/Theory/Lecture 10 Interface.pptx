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1" r:id="rId2"/>
  </p:sldMasterIdLst>
  <p:notesMasterIdLst>
    <p:notesMasterId r:id="rId21"/>
  </p:notesMasterIdLst>
  <p:sldIdLst>
    <p:sldId id="412" r:id="rId3"/>
    <p:sldId id="257" r:id="rId4"/>
    <p:sldId id="397" r:id="rId5"/>
    <p:sldId id="398" r:id="rId6"/>
    <p:sldId id="399" r:id="rId7"/>
    <p:sldId id="400" r:id="rId8"/>
    <p:sldId id="401" r:id="rId9"/>
    <p:sldId id="402" r:id="rId10"/>
    <p:sldId id="403" r:id="rId11"/>
    <p:sldId id="404" r:id="rId12"/>
    <p:sldId id="405" r:id="rId13"/>
    <p:sldId id="406" r:id="rId14"/>
    <p:sldId id="407" r:id="rId15"/>
    <p:sldId id="408" r:id="rId16"/>
    <p:sldId id="409" r:id="rId17"/>
    <p:sldId id="410" r:id="rId18"/>
    <p:sldId id="411" r:id="rId19"/>
    <p:sldId id="394" r:id="rId2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4069"/>
    <a:srgbClr val="CACACA"/>
    <a:srgbClr val="0066CC"/>
    <a:srgbClr val="0099CC"/>
    <a:srgbClr val="3864A9"/>
    <a:srgbClr val="273691"/>
    <a:srgbClr val="2737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42" autoAdjust="0"/>
    <p:restoredTop sz="99821" autoAdjust="0"/>
  </p:normalViewPr>
  <p:slideViewPr>
    <p:cSldViewPr>
      <p:cViewPr varScale="1">
        <p:scale>
          <a:sx n="73" d="100"/>
          <a:sy n="73" d="100"/>
        </p:scale>
        <p:origin x="118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E9439C-4193-43FD-B7ED-FDDC753C38E4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3FFEB6-3655-496E-AF33-E2CC2D71E3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838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3FFEB6-3655-496E-AF33-E2CC2D71E3D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934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0" name="Picture 30" descr="background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351B2EE7-5072-467A-9223-02257C03FF2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2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  <p:bldP spid="5123" grpId="0" build="p">
        <p:tmplLst>
          <p:tmpl lvl="1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12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12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12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24069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 sz="1600" i="0"/>
            </a:lvl1pPr>
          </a:lstStyle>
          <a:p>
            <a:fld id="{F0065440-4C8F-497D-8DC5-47855554306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826E5F-98C7-427D-BD7E-0BE0F1A9683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52513"/>
            <a:ext cx="4038600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52513"/>
            <a:ext cx="4038600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69F05A-DCBD-4B85-B11F-DDBCF8E9200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4C1862-9D7D-4867-B015-B11771DE47F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BD6026-5CE8-486A-9BC0-1C41C23FE70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5884D9-B953-4650-A00D-DBE79B42910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D01A79-9865-49FA-B323-8C97083EEA8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AFD685-CBDA-4730-95DC-3E6CBC63D80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CFE8F2-027C-4C57-9B26-E402534C899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88913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88913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CFE25D-8A1D-46F6-BEBF-C85E3072F9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hyperlink" Target="http://www.m62.net/" TargetMode="Externa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7.png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hyperlink" Target="http://www.m62.net/powerpoint-slides/" TargetMode="Externa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hyperlink" Target="http://www.m62.net/presentation-theory/bullet-points-dont-work/beyond-bullet-points/" TargetMode="External"/><Relationship Id="rId10" Type="http://schemas.openxmlformats.org/officeDocument/2006/relationships/slideLayout" Target="../slideLayouts/slideLayout21.xml"/><Relationship Id="rId19" Type="http://schemas.openxmlformats.org/officeDocument/2006/relationships/hyperlink" Target="http://www.m62.net/powerpoint-training/" TargetMode="Externa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2" name="Picture 38" descr="background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916" y="14844"/>
            <a:ext cx="9144000" cy="6858000"/>
          </a:xfrm>
          <a:prstGeom prst="rect">
            <a:avLst/>
          </a:prstGeom>
          <a:noFill/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8913"/>
            <a:ext cx="8218488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513"/>
            <a:ext cx="8229600" cy="507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33400" y="62484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D7511D7-B783-4CDA-BF26-3E6D5B8F4FFE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2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40"/>
                            </p:stCondLst>
                            <p:childTnLst>
                              <p:par>
                                <p:cTn id="1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740"/>
                            </p:stCondLst>
                            <p:childTnLst>
                              <p:par>
                                <p:cTn id="2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420"/>
                            </p:stCondLst>
                            <p:childTnLst>
                              <p:par>
                                <p:cTn id="2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120"/>
                            </p:stCondLst>
                            <p:childTnLst>
                              <p:par>
                                <p:cTn id="3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/>
      <p:bldP spid="1027" grpId="0" build="p">
        <p:tmplLst>
          <p:tmpl lvl="1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024069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dirty="0"/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-93663" y="6453188"/>
            <a:ext cx="8532813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r"/>
            <a:r>
              <a:rPr lang="en-US" sz="1200" dirty="0">
                <a:solidFill>
                  <a:srgbClr val="4D4D4D"/>
                </a:solidFill>
                <a:latin typeface="Neo Sans" pitchFamily="34" charset="0"/>
              </a:rPr>
              <a:t>m62 </a:t>
            </a:r>
            <a:r>
              <a:rPr lang="en-US" sz="1200" dirty="0" err="1">
                <a:solidFill>
                  <a:srgbClr val="4D4D4D"/>
                </a:solidFill>
                <a:latin typeface="Neo Sans" pitchFamily="34" charset="0"/>
              </a:rPr>
              <a:t>visualcommunications</a:t>
            </a:r>
            <a:r>
              <a:rPr lang="en-US" sz="1200" dirty="0">
                <a:solidFill>
                  <a:srgbClr val="4D4D4D"/>
                </a:solidFill>
                <a:latin typeface="Neo Sans" pitchFamily="34" charset="0"/>
              </a:rPr>
              <a:t> is the global leader in presentation effectiveness, from offices in the UK, USA, and Singapore</a:t>
            </a:r>
          </a:p>
        </p:txBody>
      </p:sp>
      <p:pic>
        <p:nvPicPr>
          <p:cNvPr id="7172" name="Picture 4" descr="m62-logo">
            <a:hlinkClick r:id="rId13"/>
          </p:cNvPr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502650" y="6484938"/>
            <a:ext cx="381000" cy="257175"/>
          </a:xfrm>
          <a:prstGeom prst="rect">
            <a:avLst/>
          </a:prstGeom>
          <a:noFill/>
        </p:spPr>
      </p:pic>
      <p:pic>
        <p:nvPicPr>
          <p:cNvPr id="7173" name="Picture 5" descr="1">
            <a:hlinkClick r:id="rId15"/>
          </p:cNvPr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260350" y="777875"/>
            <a:ext cx="2000250" cy="1457325"/>
          </a:xfrm>
          <a:prstGeom prst="rect">
            <a:avLst/>
          </a:prstGeom>
          <a:noFill/>
        </p:spPr>
      </p:pic>
      <p:pic>
        <p:nvPicPr>
          <p:cNvPr id="7174" name="Picture 6" descr="2">
            <a:hlinkClick r:id="rId17"/>
          </p:cNvPr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287338" y="2673350"/>
            <a:ext cx="2000250" cy="1457325"/>
          </a:xfrm>
          <a:prstGeom prst="rect">
            <a:avLst/>
          </a:prstGeom>
          <a:noFill/>
        </p:spPr>
      </p:pic>
      <p:pic>
        <p:nvPicPr>
          <p:cNvPr id="7175" name="Picture 7" descr="3">
            <a:hlinkClick r:id="rId19"/>
          </p:cNvPr>
          <p:cNvPicPr>
            <a:picLocks noChangeAspect="1" noChangeArrowheads="1"/>
          </p:cNvPicPr>
          <p:nvPr/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287338" y="4568825"/>
            <a:ext cx="2000250" cy="1457325"/>
          </a:xfrm>
          <a:prstGeom prst="rect">
            <a:avLst/>
          </a:prstGeom>
          <a:noFill/>
        </p:spPr>
      </p:pic>
      <p:sp>
        <p:nvSpPr>
          <p:cNvPr id="7176" name="Text Box 8">
            <a:hlinkClick r:id="rId15"/>
          </p:cNvPr>
          <p:cNvSpPr txBox="1">
            <a:spLocks noChangeArrowheads="1"/>
          </p:cNvSpPr>
          <p:nvPr/>
        </p:nvSpPr>
        <p:spPr bwMode="auto">
          <a:xfrm>
            <a:off x="379413" y="2290763"/>
            <a:ext cx="1636712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r>
              <a:rPr lang="en-US" sz="1400">
                <a:solidFill>
                  <a:srgbClr val="135971"/>
                </a:solidFill>
                <a:latin typeface="Neo Sans" pitchFamily="34" charset="0"/>
              </a:rPr>
              <a:t>Beyond Bullet Points</a:t>
            </a:r>
          </a:p>
        </p:txBody>
      </p:sp>
      <p:sp>
        <p:nvSpPr>
          <p:cNvPr id="7177" name="Text Box 9">
            <a:hlinkClick r:id="rId17"/>
          </p:cNvPr>
          <p:cNvSpPr txBox="1">
            <a:spLocks noChangeArrowheads="1"/>
          </p:cNvSpPr>
          <p:nvPr/>
        </p:nvSpPr>
        <p:spPr bwMode="auto">
          <a:xfrm>
            <a:off x="379413" y="4189413"/>
            <a:ext cx="1417637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r>
              <a:rPr lang="en-US" sz="1400">
                <a:solidFill>
                  <a:srgbClr val="135971"/>
                </a:solidFill>
                <a:latin typeface="Neo Sans" pitchFamily="34" charset="0"/>
              </a:rPr>
              <a:t>PowerPoint Slides</a:t>
            </a:r>
          </a:p>
        </p:txBody>
      </p:sp>
      <p:sp>
        <p:nvSpPr>
          <p:cNvPr id="7178" name="Text Box 10">
            <a:hlinkClick r:id="rId19"/>
          </p:cNvPr>
          <p:cNvSpPr txBox="1">
            <a:spLocks noChangeArrowheads="1"/>
          </p:cNvSpPr>
          <p:nvPr/>
        </p:nvSpPr>
        <p:spPr bwMode="auto">
          <a:xfrm>
            <a:off x="379413" y="6084888"/>
            <a:ext cx="1598612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r>
              <a:rPr lang="en-US" sz="1400">
                <a:solidFill>
                  <a:srgbClr val="135971"/>
                </a:solidFill>
                <a:latin typeface="Neo Sans" pitchFamily="34" charset="0"/>
              </a:rPr>
              <a:t>PowerPoint Training</a:t>
            </a:r>
          </a:p>
        </p:txBody>
      </p:sp>
      <p:pic>
        <p:nvPicPr>
          <p:cNvPr id="7179" name="Picture 11" descr="bg"/>
          <p:cNvPicPr>
            <a:picLocks noChangeAspect="1" noChangeArrowheads="1"/>
          </p:cNvPicPr>
          <p:nvPr/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2520950" y="777875"/>
            <a:ext cx="6362700" cy="5248275"/>
          </a:xfrm>
          <a:prstGeom prst="rect">
            <a:avLst/>
          </a:prstGeom>
          <a:noFill/>
        </p:spPr>
      </p:pic>
      <p:sp>
        <p:nvSpPr>
          <p:cNvPr id="7180" name="Text Box 12"/>
          <p:cNvSpPr txBox="1">
            <a:spLocks noChangeArrowheads="1"/>
          </p:cNvSpPr>
          <p:nvPr/>
        </p:nvSpPr>
        <p:spPr bwMode="auto">
          <a:xfrm>
            <a:off x="28575" y="188913"/>
            <a:ext cx="9115425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2100">
                <a:solidFill>
                  <a:srgbClr val="333333"/>
                </a:solidFill>
                <a:latin typeface="Neo Sans" pitchFamily="34" charset="0"/>
              </a:rPr>
              <a:t>It’s not the </a:t>
            </a:r>
            <a:r>
              <a:rPr lang="en-US" sz="2100" b="1">
                <a:solidFill>
                  <a:srgbClr val="333333"/>
                </a:solidFill>
                <a:latin typeface="Neo Sans" pitchFamily="34" charset="0"/>
              </a:rPr>
              <a:t>design</a:t>
            </a:r>
            <a:r>
              <a:rPr lang="en-US" sz="2100">
                <a:solidFill>
                  <a:srgbClr val="333333"/>
                </a:solidFill>
                <a:latin typeface="Neo Sans" pitchFamily="34" charset="0"/>
              </a:rPr>
              <a:t> of your template, it’s what you </a:t>
            </a:r>
            <a:r>
              <a:rPr lang="en-US" sz="2100" b="1">
                <a:solidFill>
                  <a:srgbClr val="333333"/>
                </a:solidFill>
                <a:latin typeface="Neo Sans" pitchFamily="34" charset="0"/>
              </a:rPr>
              <a:t>do with it</a:t>
            </a:r>
            <a:r>
              <a:rPr lang="en-US" sz="2100">
                <a:solidFill>
                  <a:srgbClr val="333333"/>
                </a:solidFill>
                <a:latin typeface="Neo Sans" pitchFamily="34" charset="0"/>
              </a:rPr>
              <a:t> that counts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676400"/>
            <a:ext cx="8382000" cy="1470025"/>
          </a:xfrm>
        </p:spPr>
        <p:txBody>
          <a:bodyPr/>
          <a:lstStyle/>
          <a:p>
            <a:r>
              <a:rPr lang="en-US" sz="4400" b="1" dirty="0"/>
              <a:t/>
            </a:r>
            <a:br>
              <a:rPr lang="en-US" sz="4400" b="1" dirty="0"/>
            </a:br>
            <a:r>
              <a:rPr lang="en-US" sz="4200" b="1" dirty="0" smtClean="0">
                <a:solidFill>
                  <a:srgbClr val="024069"/>
                </a:solidFill>
              </a:rPr>
              <a:t>Object Oriented Programming</a:t>
            </a:r>
            <a:r>
              <a:rPr lang="en-US" sz="4200" b="1" dirty="0">
                <a:solidFill>
                  <a:srgbClr val="024069"/>
                </a:solidFill>
              </a:rPr>
              <a:t/>
            </a:r>
            <a:br>
              <a:rPr lang="en-US" sz="4200" b="1" dirty="0">
                <a:solidFill>
                  <a:srgbClr val="024069"/>
                </a:solidFill>
              </a:rPr>
            </a:br>
            <a:r>
              <a:rPr lang="en-US" sz="4200" b="1" dirty="0">
                <a:solidFill>
                  <a:srgbClr val="024069"/>
                </a:solidFill>
              </a:rPr>
              <a:t>CSE </a:t>
            </a:r>
            <a:r>
              <a:rPr lang="en-US" sz="4200" b="1" dirty="0" smtClean="0">
                <a:solidFill>
                  <a:srgbClr val="024069"/>
                </a:solidFill>
              </a:rPr>
              <a:t>2101</a:t>
            </a:r>
            <a:r>
              <a:rPr lang="en-US" sz="4400" b="1" dirty="0">
                <a:solidFill>
                  <a:srgbClr val="024069"/>
                </a:solidFill>
              </a:rPr>
              <a:t/>
            </a:r>
            <a:br>
              <a:rPr lang="en-US" sz="4400" b="1" dirty="0">
                <a:solidFill>
                  <a:srgbClr val="024069"/>
                </a:solidFill>
              </a:rPr>
            </a:br>
            <a:r>
              <a:rPr lang="en-US" sz="4400" b="1" dirty="0">
                <a:solidFill>
                  <a:srgbClr val="024069"/>
                </a:solidFill>
              </a:rPr>
              <a:t/>
            </a:r>
            <a:br>
              <a:rPr lang="en-US" sz="4400" b="1" dirty="0">
                <a:solidFill>
                  <a:srgbClr val="024069"/>
                </a:solidFill>
              </a:rPr>
            </a:br>
            <a:r>
              <a:rPr lang="en-US" sz="2800" b="1" dirty="0">
                <a:solidFill>
                  <a:srgbClr val="024069"/>
                </a:solidFill>
              </a:rPr>
              <a:t>Lecture </a:t>
            </a:r>
            <a:r>
              <a:rPr lang="en-US" sz="2800" b="1">
                <a:solidFill>
                  <a:srgbClr val="024069"/>
                </a:solidFill>
              </a:rPr>
              <a:t>- </a:t>
            </a:r>
            <a:r>
              <a:rPr lang="en-US" sz="2800" b="1" smtClean="0">
                <a:solidFill>
                  <a:srgbClr val="024069"/>
                </a:solidFill>
              </a:rPr>
              <a:t>10</a:t>
            </a:r>
            <a:r>
              <a:rPr lang="en-US" sz="3200" b="1" dirty="0"/>
              <a:t/>
            </a:r>
            <a:br>
              <a:rPr lang="en-US" sz="3200" b="1" dirty="0"/>
            </a:br>
            <a:endParaRPr lang="en-US" sz="3200" b="1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934200" cy="1752600"/>
          </a:xfrm>
        </p:spPr>
        <p:txBody>
          <a:bodyPr/>
          <a:lstStyle/>
          <a:p>
            <a:r>
              <a:rPr lang="en-US" dirty="0"/>
              <a:t>Jubayer Al Mahmud</a:t>
            </a:r>
          </a:p>
          <a:p>
            <a:r>
              <a:rPr lang="en-US" sz="2400" dirty="0" smtClean="0"/>
              <a:t>Lecturer</a:t>
            </a:r>
            <a:endParaRPr lang="en-US" sz="2400" dirty="0"/>
          </a:p>
          <a:p>
            <a:r>
              <a:rPr lang="en-US" sz="2400" dirty="0" smtClean="0"/>
              <a:t>Jashore </a:t>
            </a:r>
            <a:r>
              <a:rPr lang="en-US" sz="2400" dirty="0"/>
              <a:t>University of </a:t>
            </a:r>
            <a:r>
              <a:rPr lang="en-US" sz="2400" dirty="0" smtClean="0"/>
              <a:t>Science </a:t>
            </a:r>
            <a:r>
              <a:rPr lang="en-US" sz="2400" dirty="0"/>
              <a:t>&amp; Technology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078" name="AutoShape 30"/>
          <p:cNvSpPr>
            <a:spLocks noChangeAspect="1" noChangeArrowheads="1" noTextEdit="1"/>
          </p:cNvSpPr>
          <p:nvPr/>
        </p:nvSpPr>
        <p:spPr bwMode="auto">
          <a:xfrm>
            <a:off x="468313" y="6367463"/>
            <a:ext cx="958850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115" name="Group 67"/>
          <p:cNvGrpSpPr>
            <a:grpSpLocks/>
          </p:cNvGrpSpPr>
          <p:nvPr/>
        </p:nvGrpSpPr>
        <p:grpSpPr bwMode="auto">
          <a:xfrm>
            <a:off x="228600" y="1371600"/>
            <a:ext cx="431800" cy="430213"/>
            <a:chOff x="5129" y="3937"/>
            <a:chExt cx="349" cy="348"/>
          </a:xfrm>
        </p:grpSpPr>
        <p:sp>
          <p:nvSpPr>
            <p:cNvPr id="2116" name="Freeform 68"/>
            <p:cNvSpPr>
              <a:spLocks/>
            </p:cNvSpPr>
            <p:nvPr/>
          </p:nvSpPr>
          <p:spPr bwMode="auto">
            <a:xfrm>
              <a:off x="5193" y="3937"/>
              <a:ext cx="156" cy="87"/>
            </a:xfrm>
            <a:custGeom>
              <a:avLst/>
              <a:gdLst/>
              <a:ahLst/>
              <a:cxnLst>
                <a:cxn ang="0">
                  <a:pos x="180" y="88"/>
                </a:cxn>
                <a:cxn ang="0">
                  <a:pos x="206" y="8"/>
                </a:cxn>
                <a:cxn ang="0">
                  <a:pos x="206" y="8"/>
                </a:cxn>
                <a:cxn ang="0">
                  <a:pos x="178" y="2"/>
                </a:cxn>
                <a:cxn ang="0">
                  <a:pos x="150" y="0"/>
                </a:cxn>
                <a:cxn ang="0">
                  <a:pos x="124" y="0"/>
                </a:cxn>
                <a:cxn ang="0">
                  <a:pos x="96" y="4"/>
                </a:cxn>
                <a:cxn ang="0">
                  <a:pos x="70" y="12"/>
                </a:cxn>
                <a:cxn ang="0">
                  <a:pos x="46" y="22"/>
                </a:cxn>
                <a:cxn ang="0">
                  <a:pos x="22" y="36"/>
                </a:cxn>
                <a:cxn ang="0">
                  <a:pos x="0" y="50"/>
                </a:cxn>
                <a:cxn ang="0">
                  <a:pos x="58" y="114"/>
                </a:cxn>
                <a:cxn ang="0">
                  <a:pos x="58" y="114"/>
                </a:cxn>
                <a:cxn ang="0">
                  <a:pos x="72" y="106"/>
                </a:cxn>
                <a:cxn ang="0">
                  <a:pos x="86" y="98"/>
                </a:cxn>
                <a:cxn ang="0">
                  <a:pos x="100" y="92"/>
                </a:cxn>
                <a:cxn ang="0">
                  <a:pos x="116" y="88"/>
                </a:cxn>
                <a:cxn ang="0">
                  <a:pos x="130" y="86"/>
                </a:cxn>
                <a:cxn ang="0">
                  <a:pos x="146" y="84"/>
                </a:cxn>
                <a:cxn ang="0">
                  <a:pos x="164" y="86"/>
                </a:cxn>
                <a:cxn ang="0">
                  <a:pos x="180" y="88"/>
                </a:cxn>
                <a:cxn ang="0">
                  <a:pos x="180" y="88"/>
                </a:cxn>
              </a:cxnLst>
              <a:rect l="0" t="0" r="r" b="b"/>
              <a:pathLst>
                <a:path w="206" h="114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7" name="Freeform 69"/>
            <p:cNvSpPr>
              <a:spLocks/>
            </p:cNvSpPr>
            <p:nvPr/>
          </p:nvSpPr>
          <p:spPr bwMode="auto">
            <a:xfrm>
              <a:off x="5383" y="4083"/>
              <a:ext cx="95" cy="152"/>
            </a:xfrm>
            <a:custGeom>
              <a:avLst/>
              <a:gdLst/>
              <a:ahLst/>
              <a:cxnLst>
                <a:cxn ang="0">
                  <a:pos x="32" y="82"/>
                </a:cxn>
                <a:cxn ang="0">
                  <a:pos x="32" y="82"/>
                </a:cxn>
                <a:cxn ang="0">
                  <a:pos x="26" y="96"/>
                </a:cxn>
                <a:cxn ang="0">
                  <a:pos x="20" y="110"/>
                </a:cxn>
                <a:cxn ang="0">
                  <a:pos x="10" y="124"/>
                </a:cxn>
                <a:cxn ang="0">
                  <a:pos x="0" y="136"/>
                </a:cxn>
                <a:cxn ang="0">
                  <a:pos x="58" y="200"/>
                </a:cxn>
                <a:cxn ang="0">
                  <a:pos x="58" y="200"/>
                </a:cxn>
                <a:cxn ang="0">
                  <a:pos x="76" y="180"/>
                </a:cxn>
                <a:cxn ang="0">
                  <a:pos x="92" y="158"/>
                </a:cxn>
                <a:cxn ang="0">
                  <a:pos x="104" y="134"/>
                </a:cxn>
                <a:cxn ang="0">
                  <a:pos x="114" y="108"/>
                </a:cxn>
                <a:cxn ang="0">
                  <a:pos x="114" y="108"/>
                </a:cxn>
                <a:cxn ang="0">
                  <a:pos x="122" y="80"/>
                </a:cxn>
                <a:cxn ang="0">
                  <a:pos x="126" y="54"/>
                </a:cxn>
                <a:cxn ang="0">
                  <a:pos x="126" y="26"/>
                </a:cxn>
                <a:cxn ang="0">
                  <a:pos x="122" y="0"/>
                </a:cxn>
                <a:cxn ang="0">
                  <a:pos x="38" y="18"/>
                </a:cxn>
                <a:cxn ang="0">
                  <a:pos x="38" y="18"/>
                </a:cxn>
                <a:cxn ang="0">
                  <a:pos x="40" y="34"/>
                </a:cxn>
                <a:cxn ang="0">
                  <a:pos x="40" y="50"/>
                </a:cxn>
                <a:cxn ang="0">
                  <a:pos x="38" y="66"/>
                </a:cxn>
                <a:cxn ang="0">
                  <a:pos x="32" y="82"/>
                </a:cxn>
                <a:cxn ang="0">
                  <a:pos x="32" y="82"/>
                </a:cxn>
              </a:cxnLst>
              <a:rect l="0" t="0" r="r" b="b"/>
              <a:pathLst>
                <a:path w="126" h="200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8" name="Freeform 70"/>
            <p:cNvSpPr>
              <a:spLocks/>
            </p:cNvSpPr>
            <p:nvPr/>
          </p:nvSpPr>
          <p:spPr bwMode="auto">
            <a:xfrm>
              <a:off x="5129" y="3987"/>
              <a:ext cx="96" cy="152"/>
            </a:xfrm>
            <a:custGeom>
              <a:avLst/>
              <a:gdLst/>
              <a:ahLst/>
              <a:cxnLst>
                <a:cxn ang="0">
                  <a:pos x="92" y="118"/>
                </a:cxn>
                <a:cxn ang="0">
                  <a:pos x="92" y="118"/>
                </a:cxn>
                <a:cxn ang="0">
                  <a:pos x="98" y="104"/>
                </a:cxn>
                <a:cxn ang="0">
                  <a:pos x="106" y="88"/>
                </a:cxn>
                <a:cxn ang="0">
                  <a:pos x="116" y="76"/>
                </a:cxn>
                <a:cxn ang="0">
                  <a:pos x="126" y="64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50" y="20"/>
                </a:cxn>
                <a:cxn ang="0">
                  <a:pos x="34" y="42"/>
                </a:cxn>
                <a:cxn ang="0">
                  <a:pos x="22" y="66"/>
                </a:cxn>
                <a:cxn ang="0">
                  <a:pos x="12" y="92"/>
                </a:cxn>
                <a:cxn ang="0">
                  <a:pos x="12" y="92"/>
                </a:cxn>
                <a:cxn ang="0">
                  <a:pos x="4" y="118"/>
                </a:cxn>
                <a:cxn ang="0">
                  <a:pos x="0" y="146"/>
                </a:cxn>
                <a:cxn ang="0">
                  <a:pos x="0" y="174"/>
                </a:cxn>
                <a:cxn ang="0">
                  <a:pos x="4" y="200"/>
                </a:cxn>
                <a:cxn ang="0">
                  <a:pos x="88" y="182"/>
                </a:cxn>
                <a:cxn ang="0">
                  <a:pos x="88" y="182"/>
                </a:cxn>
                <a:cxn ang="0">
                  <a:pos x="86" y="166"/>
                </a:cxn>
                <a:cxn ang="0">
                  <a:pos x="86" y="150"/>
                </a:cxn>
                <a:cxn ang="0">
                  <a:pos x="88" y="134"/>
                </a:cxn>
                <a:cxn ang="0">
                  <a:pos x="92" y="118"/>
                </a:cxn>
                <a:cxn ang="0">
                  <a:pos x="92" y="118"/>
                </a:cxn>
              </a:cxnLst>
              <a:rect l="0" t="0" r="r" b="b"/>
              <a:pathLst>
                <a:path w="126" h="200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9" name="Freeform 71"/>
            <p:cNvSpPr>
              <a:spLocks/>
            </p:cNvSpPr>
            <p:nvPr/>
          </p:nvSpPr>
          <p:spPr bwMode="auto">
            <a:xfrm>
              <a:off x="5135" y="4142"/>
              <a:ext cx="126" cy="132"/>
            </a:xfrm>
            <a:custGeom>
              <a:avLst/>
              <a:gdLst/>
              <a:ahLst/>
              <a:cxnLst>
                <a:cxn ang="0">
                  <a:pos x="84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8" y="44"/>
                </a:cxn>
                <a:cxn ang="0">
                  <a:pos x="20" y="68"/>
                </a:cxn>
                <a:cxn ang="0">
                  <a:pos x="34" y="90"/>
                </a:cxn>
                <a:cxn ang="0">
                  <a:pos x="50" y="112"/>
                </a:cxn>
                <a:cxn ang="0">
                  <a:pos x="70" y="130"/>
                </a:cxn>
                <a:cxn ang="0">
                  <a:pos x="90" y="148"/>
                </a:cxn>
                <a:cxn ang="0">
                  <a:pos x="114" y="162"/>
                </a:cxn>
                <a:cxn ang="0">
                  <a:pos x="140" y="174"/>
                </a:cxn>
                <a:cxn ang="0">
                  <a:pos x="166" y="92"/>
                </a:cxn>
                <a:cxn ang="0">
                  <a:pos x="166" y="92"/>
                </a:cxn>
                <a:cxn ang="0">
                  <a:pos x="152" y="84"/>
                </a:cxn>
                <a:cxn ang="0">
                  <a:pos x="138" y="76"/>
                </a:cxn>
                <a:cxn ang="0">
                  <a:pos x="126" y="66"/>
                </a:cxn>
                <a:cxn ang="0">
                  <a:pos x="114" y="54"/>
                </a:cxn>
                <a:cxn ang="0">
                  <a:pos x="104" y="42"/>
                </a:cxn>
                <a:cxn ang="0">
                  <a:pos x="96" y="28"/>
                </a:cxn>
                <a:cxn ang="0">
                  <a:pos x="90" y="14"/>
                </a:cxn>
                <a:cxn ang="0">
                  <a:pos x="84" y="0"/>
                </a:cxn>
                <a:cxn ang="0">
                  <a:pos x="84" y="0"/>
                </a:cxn>
              </a:cxnLst>
              <a:rect l="0" t="0" r="r" b="b"/>
              <a:pathLst>
                <a:path w="166" h="174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0" name="Freeform 72"/>
            <p:cNvSpPr>
              <a:spLocks/>
            </p:cNvSpPr>
            <p:nvPr/>
          </p:nvSpPr>
          <p:spPr bwMode="auto">
            <a:xfrm>
              <a:off x="5345" y="3948"/>
              <a:ext cx="127" cy="132"/>
            </a:xfrm>
            <a:custGeom>
              <a:avLst/>
              <a:gdLst/>
              <a:ahLst/>
              <a:cxnLst>
                <a:cxn ang="0">
                  <a:pos x="84" y="174"/>
                </a:cxn>
                <a:cxn ang="0">
                  <a:pos x="168" y="156"/>
                </a:cxn>
                <a:cxn ang="0">
                  <a:pos x="168" y="156"/>
                </a:cxn>
                <a:cxn ang="0">
                  <a:pos x="160" y="130"/>
                </a:cxn>
                <a:cxn ang="0">
                  <a:pos x="148" y="106"/>
                </a:cxn>
                <a:cxn ang="0">
                  <a:pos x="134" y="84"/>
                </a:cxn>
                <a:cxn ang="0">
                  <a:pos x="118" y="62"/>
                </a:cxn>
                <a:cxn ang="0">
                  <a:pos x="98" y="44"/>
                </a:cxn>
                <a:cxn ang="0">
                  <a:pos x="76" y="26"/>
                </a:cxn>
                <a:cxn ang="0">
                  <a:pos x="54" y="12"/>
                </a:cxn>
                <a:cxn ang="0">
                  <a:pos x="28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90"/>
                </a:cxn>
                <a:cxn ang="0">
                  <a:pos x="30" y="98"/>
                </a:cxn>
                <a:cxn ang="0">
                  <a:pos x="42" y="108"/>
                </a:cxn>
                <a:cxn ang="0">
                  <a:pos x="54" y="120"/>
                </a:cxn>
                <a:cxn ang="0">
                  <a:pos x="64" y="132"/>
                </a:cxn>
                <a:cxn ang="0">
                  <a:pos x="72" y="144"/>
                </a:cxn>
                <a:cxn ang="0">
                  <a:pos x="78" y="160"/>
                </a:cxn>
                <a:cxn ang="0">
                  <a:pos x="84" y="174"/>
                </a:cxn>
                <a:cxn ang="0">
                  <a:pos x="84" y="174"/>
                </a:cxn>
              </a:cxnLst>
              <a:rect l="0" t="0" r="r" b="b"/>
              <a:pathLst>
                <a:path w="168" h="174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1" name="Freeform 73"/>
            <p:cNvSpPr>
              <a:spLocks/>
            </p:cNvSpPr>
            <p:nvPr/>
          </p:nvSpPr>
          <p:spPr bwMode="auto">
            <a:xfrm>
              <a:off x="5258" y="4197"/>
              <a:ext cx="156" cy="88"/>
            </a:xfrm>
            <a:custGeom>
              <a:avLst/>
              <a:gdLst/>
              <a:ahLst/>
              <a:cxnLst>
                <a:cxn ang="0">
                  <a:pos x="26" y="26"/>
                </a:cxn>
                <a:cxn ang="0">
                  <a:pos x="0" y="108"/>
                </a:cxn>
                <a:cxn ang="0">
                  <a:pos x="0" y="108"/>
                </a:cxn>
                <a:cxn ang="0">
                  <a:pos x="28" y="114"/>
                </a:cxn>
                <a:cxn ang="0">
                  <a:pos x="56" y="116"/>
                </a:cxn>
                <a:cxn ang="0">
                  <a:pos x="82" y="116"/>
                </a:cxn>
                <a:cxn ang="0">
                  <a:pos x="110" y="112"/>
                </a:cxn>
                <a:cxn ang="0">
                  <a:pos x="136" y="104"/>
                </a:cxn>
                <a:cxn ang="0">
                  <a:pos x="160" y="94"/>
                </a:cxn>
                <a:cxn ang="0">
                  <a:pos x="184" y="80"/>
                </a:cxn>
                <a:cxn ang="0">
                  <a:pos x="206" y="64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34" y="10"/>
                </a:cxn>
                <a:cxn ang="0">
                  <a:pos x="120" y="18"/>
                </a:cxn>
                <a:cxn ang="0">
                  <a:pos x="106" y="24"/>
                </a:cxn>
                <a:cxn ang="0">
                  <a:pos x="90" y="28"/>
                </a:cxn>
                <a:cxn ang="0">
                  <a:pos x="74" y="30"/>
                </a:cxn>
                <a:cxn ang="0">
                  <a:pos x="58" y="30"/>
                </a:cxn>
                <a:cxn ang="0">
                  <a:pos x="42" y="30"/>
                </a:cxn>
                <a:cxn ang="0">
                  <a:pos x="26" y="26"/>
                </a:cxn>
                <a:cxn ang="0">
                  <a:pos x="26" y="26"/>
                </a:cxn>
              </a:cxnLst>
              <a:rect l="0" t="0" r="r" b="b"/>
              <a:pathLst>
                <a:path w="206" h="11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22" name="Group 74"/>
          <p:cNvGrpSpPr>
            <a:grpSpLocks/>
          </p:cNvGrpSpPr>
          <p:nvPr/>
        </p:nvGrpSpPr>
        <p:grpSpPr bwMode="auto">
          <a:xfrm>
            <a:off x="457200" y="1143000"/>
            <a:ext cx="219075" cy="219075"/>
            <a:chOff x="5114" y="3685"/>
            <a:chExt cx="246" cy="246"/>
          </a:xfrm>
        </p:grpSpPr>
        <p:sp>
          <p:nvSpPr>
            <p:cNvPr id="2123" name="Freeform 75"/>
            <p:cNvSpPr>
              <a:spLocks/>
            </p:cNvSpPr>
            <p:nvPr/>
          </p:nvSpPr>
          <p:spPr bwMode="auto">
            <a:xfrm>
              <a:off x="5135" y="3845"/>
              <a:ext cx="94" cy="86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0" y="56"/>
                </a:cxn>
                <a:cxn ang="0">
                  <a:pos x="22" y="70"/>
                </a:cxn>
                <a:cxn ang="0">
                  <a:pos x="36" y="82"/>
                </a:cxn>
                <a:cxn ang="0">
                  <a:pos x="52" y="92"/>
                </a:cxn>
                <a:cxn ang="0">
                  <a:pos x="68" y="100"/>
                </a:cxn>
                <a:cxn ang="0">
                  <a:pos x="86" y="108"/>
                </a:cxn>
                <a:cxn ang="0">
                  <a:pos x="104" y="112"/>
                </a:cxn>
                <a:cxn ang="0">
                  <a:pos x="124" y="114"/>
                </a:cxn>
                <a:cxn ang="0">
                  <a:pos x="124" y="32"/>
                </a:cxn>
                <a:cxn ang="0">
                  <a:pos x="124" y="32"/>
                </a:cxn>
                <a:cxn ang="0">
                  <a:pos x="108" y="28"/>
                </a:cxn>
                <a:cxn ang="0">
                  <a:pos x="94" y="22"/>
                </a:cxn>
                <a:cxn ang="0">
                  <a:pos x="82" y="12"/>
                </a:cxn>
                <a:cxn ang="0">
                  <a:pos x="70" y="0"/>
                </a:cxn>
                <a:cxn ang="0">
                  <a:pos x="70" y="0"/>
                </a:cxn>
              </a:cxnLst>
              <a:rect l="0" t="0" r="r" b="b"/>
              <a:pathLst>
                <a:path w="124" h="11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4" name="Freeform 76"/>
            <p:cNvSpPr>
              <a:spLocks/>
            </p:cNvSpPr>
            <p:nvPr/>
          </p:nvSpPr>
          <p:spPr bwMode="auto">
            <a:xfrm>
              <a:off x="5135" y="3685"/>
              <a:ext cx="94" cy="87"/>
            </a:xfrm>
            <a:custGeom>
              <a:avLst/>
              <a:gdLst/>
              <a:ahLst/>
              <a:cxnLst>
                <a:cxn ang="0">
                  <a:pos x="124" y="82"/>
                </a:cxn>
                <a:cxn ang="0">
                  <a:pos x="124" y="0"/>
                </a:cxn>
                <a:cxn ang="0">
                  <a:pos x="124" y="0"/>
                </a:cxn>
                <a:cxn ang="0">
                  <a:pos x="104" y="2"/>
                </a:cxn>
                <a:cxn ang="0">
                  <a:pos x="86" y="8"/>
                </a:cxn>
                <a:cxn ang="0">
                  <a:pos x="68" y="14"/>
                </a:cxn>
                <a:cxn ang="0">
                  <a:pos x="52" y="22"/>
                </a:cxn>
                <a:cxn ang="0">
                  <a:pos x="36" y="32"/>
                </a:cxn>
                <a:cxn ang="0">
                  <a:pos x="22" y="44"/>
                </a:cxn>
                <a:cxn ang="0">
                  <a:pos x="10" y="58"/>
                </a:cxn>
                <a:cxn ang="0">
                  <a:pos x="0" y="72"/>
                </a:cxn>
                <a:cxn ang="0">
                  <a:pos x="70" y="114"/>
                </a:cxn>
                <a:cxn ang="0">
                  <a:pos x="70" y="114"/>
                </a:cxn>
                <a:cxn ang="0">
                  <a:pos x="82" y="102"/>
                </a:cxn>
                <a:cxn ang="0">
                  <a:pos x="94" y="92"/>
                </a:cxn>
                <a:cxn ang="0">
                  <a:pos x="108" y="86"/>
                </a:cxn>
                <a:cxn ang="0">
                  <a:pos x="124" y="82"/>
                </a:cxn>
                <a:cxn ang="0">
                  <a:pos x="124" y="82"/>
                </a:cxn>
              </a:cxnLst>
              <a:rect l="0" t="0" r="r" b="b"/>
              <a:pathLst>
                <a:path w="124" h="11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5" name="Freeform 77"/>
            <p:cNvSpPr>
              <a:spLocks/>
            </p:cNvSpPr>
            <p:nvPr/>
          </p:nvSpPr>
          <p:spPr bwMode="auto">
            <a:xfrm>
              <a:off x="5114" y="3754"/>
              <a:ext cx="67" cy="109"/>
            </a:xfrm>
            <a:custGeom>
              <a:avLst/>
              <a:gdLst/>
              <a:ahLst/>
              <a:cxnLst>
                <a:cxn ang="0">
                  <a:pos x="82" y="72"/>
                </a:cxn>
                <a:cxn ang="0">
                  <a:pos x="82" y="72"/>
                </a:cxn>
                <a:cxn ang="0">
                  <a:pos x="84" y="56"/>
                </a:cxn>
                <a:cxn ang="0">
                  <a:pos x="88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0" y="16"/>
                </a:cxn>
                <a:cxn ang="0">
                  <a:pos x="4" y="34"/>
                </a:cxn>
                <a:cxn ang="0">
                  <a:pos x="2" y="5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2" y="92"/>
                </a:cxn>
                <a:cxn ang="0">
                  <a:pos x="4" y="110"/>
                </a:cxn>
                <a:cxn ang="0">
                  <a:pos x="10" y="128"/>
                </a:cxn>
                <a:cxn ang="0">
                  <a:pos x="18" y="144"/>
                </a:cxn>
                <a:cxn ang="0">
                  <a:pos x="88" y="104"/>
                </a:cxn>
                <a:cxn ang="0">
                  <a:pos x="88" y="104"/>
                </a:cxn>
                <a:cxn ang="0">
                  <a:pos x="84" y="88"/>
                </a:cxn>
                <a:cxn ang="0">
                  <a:pos x="82" y="72"/>
                </a:cxn>
                <a:cxn ang="0">
                  <a:pos x="82" y="72"/>
                </a:cxn>
              </a:cxnLst>
              <a:rect l="0" t="0" r="r" b="b"/>
              <a:pathLst>
                <a:path w="88" h="144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6" name="Freeform 78"/>
            <p:cNvSpPr>
              <a:spLocks/>
            </p:cNvSpPr>
            <p:nvPr/>
          </p:nvSpPr>
          <p:spPr bwMode="auto">
            <a:xfrm>
              <a:off x="5293" y="3754"/>
              <a:ext cx="67" cy="109"/>
            </a:xfrm>
            <a:custGeom>
              <a:avLst/>
              <a:gdLst/>
              <a:ahLst/>
              <a:cxnLst>
                <a:cxn ang="0">
                  <a:pos x="6" y="72"/>
                </a:cxn>
                <a:cxn ang="0">
                  <a:pos x="6" y="72"/>
                </a:cxn>
                <a:cxn ang="0">
                  <a:pos x="6" y="88"/>
                </a:cxn>
                <a:cxn ang="0">
                  <a:pos x="0" y="104"/>
                </a:cxn>
                <a:cxn ang="0">
                  <a:pos x="72" y="144"/>
                </a:cxn>
                <a:cxn ang="0">
                  <a:pos x="72" y="144"/>
                </a:cxn>
                <a:cxn ang="0">
                  <a:pos x="78" y="128"/>
                </a:cxn>
                <a:cxn ang="0">
                  <a:pos x="84" y="110"/>
                </a:cxn>
                <a:cxn ang="0">
                  <a:pos x="88" y="92"/>
                </a:cxn>
                <a:cxn ang="0">
                  <a:pos x="88" y="72"/>
                </a:cxn>
                <a:cxn ang="0">
                  <a:pos x="88" y="72"/>
                </a:cxn>
                <a:cxn ang="0">
                  <a:pos x="88" y="54"/>
                </a:cxn>
                <a:cxn ang="0">
                  <a:pos x="84" y="34"/>
                </a:cxn>
                <a:cxn ang="0">
                  <a:pos x="78" y="16"/>
                </a:cxn>
                <a:cxn ang="0">
                  <a:pos x="72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6" y="56"/>
                </a:cxn>
                <a:cxn ang="0">
                  <a:pos x="6" y="72"/>
                </a:cxn>
                <a:cxn ang="0">
                  <a:pos x="6" y="72"/>
                </a:cxn>
              </a:cxnLst>
              <a:rect l="0" t="0" r="r" b="b"/>
              <a:pathLst>
                <a:path w="88" h="144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7" name="Freeform 79"/>
            <p:cNvSpPr>
              <a:spLocks/>
            </p:cNvSpPr>
            <p:nvPr/>
          </p:nvSpPr>
          <p:spPr bwMode="auto">
            <a:xfrm>
              <a:off x="5245" y="3845"/>
              <a:ext cx="95" cy="8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20" y="112"/>
                </a:cxn>
                <a:cxn ang="0">
                  <a:pos x="38" y="108"/>
                </a:cxn>
                <a:cxn ang="0">
                  <a:pos x="56" y="100"/>
                </a:cxn>
                <a:cxn ang="0">
                  <a:pos x="72" y="92"/>
                </a:cxn>
                <a:cxn ang="0">
                  <a:pos x="88" y="82"/>
                </a:cxn>
                <a:cxn ang="0">
                  <a:pos x="102" y="70"/>
                </a:cxn>
                <a:cxn ang="0">
                  <a:pos x="114" y="56"/>
                </a:cxn>
                <a:cxn ang="0">
                  <a:pos x="126" y="42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4" y="12"/>
                </a:cxn>
                <a:cxn ang="0">
                  <a:pos x="30" y="22"/>
                </a:cxn>
                <a:cxn ang="0">
                  <a:pos x="16" y="28"/>
                </a:cxn>
                <a:cxn ang="0">
                  <a:pos x="0" y="32"/>
                </a:cxn>
                <a:cxn ang="0">
                  <a:pos x="0" y="32"/>
                </a:cxn>
              </a:cxnLst>
              <a:rect l="0" t="0" r="r" b="b"/>
              <a:pathLst>
                <a:path w="126" h="114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8" name="Freeform 80"/>
            <p:cNvSpPr>
              <a:spLocks/>
            </p:cNvSpPr>
            <p:nvPr/>
          </p:nvSpPr>
          <p:spPr bwMode="auto">
            <a:xfrm>
              <a:off x="5245" y="3685"/>
              <a:ext cx="95" cy="87"/>
            </a:xfrm>
            <a:custGeom>
              <a:avLst/>
              <a:gdLst/>
              <a:ahLst/>
              <a:cxnLst>
                <a:cxn ang="0">
                  <a:pos x="54" y="114"/>
                </a:cxn>
                <a:cxn ang="0">
                  <a:pos x="126" y="72"/>
                </a:cxn>
                <a:cxn ang="0">
                  <a:pos x="126" y="72"/>
                </a:cxn>
                <a:cxn ang="0">
                  <a:pos x="114" y="58"/>
                </a:cxn>
                <a:cxn ang="0">
                  <a:pos x="102" y="44"/>
                </a:cxn>
                <a:cxn ang="0">
                  <a:pos x="88" y="32"/>
                </a:cxn>
                <a:cxn ang="0">
                  <a:pos x="72" y="22"/>
                </a:cxn>
                <a:cxn ang="0">
                  <a:pos x="56" y="14"/>
                </a:cxn>
                <a:cxn ang="0">
                  <a:pos x="38" y="8"/>
                </a:cxn>
                <a:cxn ang="0">
                  <a:pos x="20" y="2"/>
                </a:cxn>
                <a:cxn ang="0">
                  <a:pos x="0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86"/>
                </a:cxn>
                <a:cxn ang="0">
                  <a:pos x="30" y="92"/>
                </a:cxn>
                <a:cxn ang="0">
                  <a:pos x="44" y="102"/>
                </a:cxn>
                <a:cxn ang="0">
                  <a:pos x="54" y="114"/>
                </a:cxn>
                <a:cxn ang="0">
                  <a:pos x="54" y="114"/>
                </a:cxn>
              </a:cxnLst>
              <a:rect l="0" t="0" r="r" b="b"/>
              <a:pathLst>
                <a:path w="126" h="114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402950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" dur="1000" fill="hold"/>
                                        <p:tgtEl>
                                          <p:spTgt spid="21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1000" fill="hold"/>
                                        <p:tgtEl>
                                          <p:spTgt spid="2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651750" cy="1143001"/>
          </a:xfrm>
        </p:spPr>
        <p:txBody>
          <a:bodyPr/>
          <a:lstStyle/>
          <a:p>
            <a:r>
              <a:rPr lang="en-US" sz="4400" dirty="0" smtClean="0">
                <a:solidFill>
                  <a:schemeClr val="accent6"/>
                </a:solidFill>
              </a:rPr>
              <a:t>Outline</a:t>
            </a:r>
            <a:endParaRPr lang="en-US" sz="4400" dirty="0">
              <a:solidFill>
                <a:schemeClr val="accent6"/>
              </a:solidFill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1296987"/>
            <a:ext cx="8229600" cy="4495801"/>
          </a:xfrm>
        </p:spPr>
        <p:txBody>
          <a:bodyPr/>
          <a:lstStyle/>
          <a:p>
            <a:r>
              <a:rPr lang="en-US" sz="2300" noProof="1" smtClean="0"/>
              <a:t>Defining interface</a:t>
            </a:r>
          </a:p>
          <a:p>
            <a:r>
              <a:rPr lang="en-US" sz="2300" noProof="1" smtClean="0"/>
              <a:t>Implementing interface</a:t>
            </a:r>
          </a:p>
          <a:p>
            <a:r>
              <a:rPr lang="en-US" sz="2300" noProof="1" smtClean="0"/>
              <a:t>Extending interface</a:t>
            </a:r>
          </a:p>
          <a:p>
            <a:r>
              <a:rPr lang="en-US" sz="2300" noProof="1" smtClean="0"/>
              <a:t>Multiple inheritance using interface</a:t>
            </a:r>
          </a:p>
          <a:p>
            <a:r>
              <a:rPr lang="en-US" sz="2300" noProof="1" smtClean="0"/>
              <a:t>Examples</a:t>
            </a:r>
          </a:p>
          <a:p>
            <a:endParaRPr lang="en-US" sz="2300" noProof="1" smtClean="0"/>
          </a:p>
          <a:p>
            <a:endParaRPr lang="en-US" sz="2300" noProof="1" smtClean="0"/>
          </a:p>
        </p:txBody>
      </p:sp>
      <p:grpSp>
        <p:nvGrpSpPr>
          <p:cNvPr id="4107" name="Group 11"/>
          <p:cNvGrpSpPr>
            <a:grpSpLocks/>
          </p:cNvGrpSpPr>
          <p:nvPr/>
        </p:nvGrpSpPr>
        <p:grpSpPr bwMode="auto">
          <a:xfrm>
            <a:off x="609600" y="533400"/>
            <a:ext cx="303213" cy="303213"/>
            <a:chOff x="703" y="300"/>
            <a:chExt cx="181" cy="181"/>
          </a:xfrm>
        </p:grpSpPr>
        <p:sp>
          <p:nvSpPr>
            <p:cNvPr id="4108" name="Freeform 12"/>
            <p:cNvSpPr>
              <a:spLocks/>
            </p:cNvSpPr>
            <p:nvPr/>
          </p:nvSpPr>
          <p:spPr bwMode="auto">
            <a:xfrm>
              <a:off x="736" y="300"/>
              <a:ext cx="81" cy="46"/>
            </a:xfrm>
            <a:custGeom>
              <a:avLst/>
              <a:gdLst/>
              <a:ahLst/>
              <a:cxnLst>
                <a:cxn ang="0">
                  <a:pos x="247" y="124"/>
                </a:cxn>
                <a:cxn ang="0">
                  <a:pos x="283" y="11"/>
                </a:cxn>
                <a:cxn ang="0">
                  <a:pos x="283" y="11"/>
                </a:cxn>
                <a:cxn ang="0">
                  <a:pos x="264" y="6"/>
                </a:cxn>
                <a:cxn ang="0">
                  <a:pos x="244" y="3"/>
                </a:cxn>
                <a:cxn ang="0">
                  <a:pos x="226" y="2"/>
                </a:cxn>
                <a:cxn ang="0">
                  <a:pos x="206" y="0"/>
                </a:cxn>
                <a:cxn ang="0">
                  <a:pos x="187" y="0"/>
                </a:cxn>
                <a:cxn ang="0">
                  <a:pos x="169" y="2"/>
                </a:cxn>
                <a:cxn ang="0">
                  <a:pos x="150" y="4"/>
                </a:cxn>
                <a:cxn ang="0">
                  <a:pos x="131" y="7"/>
                </a:cxn>
                <a:cxn ang="0">
                  <a:pos x="114" y="12"/>
                </a:cxn>
                <a:cxn ang="0">
                  <a:pos x="97" y="18"/>
                </a:cxn>
                <a:cxn ang="0">
                  <a:pos x="79" y="24"/>
                </a:cxn>
                <a:cxn ang="0">
                  <a:pos x="62" y="32"/>
                </a:cxn>
                <a:cxn ang="0">
                  <a:pos x="45" y="40"/>
                </a:cxn>
                <a:cxn ang="0">
                  <a:pos x="29" y="49"/>
                </a:cxn>
                <a:cxn ang="0">
                  <a:pos x="14" y="60"/>
                </a:cxn>
                <a:cxn ang="0">
                  <a:pos x="0" y="71"/>
                </a:cxn>
                <a:cxn ang="0">
                  <a:pos x="79" y="160"/>
                </a:cxn>
                <a:cxn ang="0">
                  <a:pos x="79" y="160"/>
                </a:cxn>
                <a:cxn ang="0">
                  <a:pos x="97" y="147"/>
                </a:cxn>
                <a:cxn ang="0">
                  <a:pos x="116" y="136"/>
                </a:cxn>
                <a:cxn ang="0">
                  <a:pos x="136" y="128"/>
                </a:cxn>
                <a:cxn ang="0">
                  <a:pos x="157" y="123"/>
                </a:cxn>
                <a:cxn ang="0">
                  <a:pos x="179" y="119"/>
                </a:cxn>
                <a:cxn ang="0">
                  <a:pos x="201" y="118"/>
                </a:cxn>
                <a:cxn ang="0">
                  <a:pos x="223" y="120"/>
                </a:cxn>
                <a:cxn ang="0">
                  <a:pos x="247" y="124"/>
                </a:cxn>
                <a:cxn ang="0">
                  <a:pos x="247" y="124"/>
                </a:cxn>
              </a:cxnLst>
              <a:rect l="0" t="0" r="r" b="b"/>
              <a:pathLst>
                <a:path w="283" h="160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9" name="Freeform 13"/>
            <p:cNvSpPr>
              <a:spLocks/>
            </p:cNvSpPr>
            <p:nvPr/>
          </p:nvSpPr>
          <p:spPr bwMode="auto">
            <a:xfrm>
              <a:off x="835" y="376"/>
              <a:ext cx="49" cy="79"/>
            </a:xfrm>
            <a:custGeom>
              <a:avLst/>
              <a:gdLst/>
              <a:ahLst/>
              <a:cxnLst>
                <a:cxn ang="0">
                  <a:pos x="44" y="113"/>
                </a:cxn>
                <a:cxn ang="0">
                  <a:pos x="44" y="113"/>
                </a:cxn>
                <a:cxn ang="0">
                  <a:pos x="36" y="134"/>
                </a:cxn>
                <a:cxn ang="0">
                  <a:pos x="26" y="154"/>
                </a:cxn>
                <a:cxn ang="0">
                  <a:pos x="14" y="171"/>
                </a:cxn>
                <a:cxn ang="0">
                  <a:pos x="0" y="188"/>
                </a:cxn>
                <a:cxn ang="0">
                  <a:pos x="79" y="276"/>
                </a:cxn>
                <a:cxn ang="0">
                  <a:pos x="79" y="276"/>
                </a:cxn>
                <a:cxn ang="0">
                  <a:pos x="92" y="263"/>
                </a:cxn>
                <a:cxn ang="0">
                  <a:pos x="104" y="249"/>
                </a:cxn>
                <a:cxn ang="0">
                  <a:pos x="115" y="234"/>
                </a:cxn>
                <a:cxn ang="0">
                  <a:pos x="125" y="219"/>
                </a:cxn>
                <a:cxn ang="0">
                  <a:pos x="135" y="203"/>
                </a:cxn>
                <a:cxn ang="0">
                  <a:pos x="143" y="185"/>
                </a:cxn>
                <a:cxn ang="0">
                  <a:pos x="150" y="168"/>
                </a:cxn>
                <a:cxn ang="0">
                  <a:pos x="157" y="149"/>
                </a:cxn>
                <a:cxn ang="0">
                  <a:pos x="157" y="149"/>
                </a:cxn>
                <a:cxn ang="0">
                  <a:pos x="163" y="131"/>
                </a:cxn>
                <a:cxn ang="0">
                  <a:pos x="166" y="112"/>
                </a:cxn>
                <a:cxn ang="0">
                  <a:pos x="170" y="93"/>
                </a:cxn>
                <a:cxn ang="0">
                  <a:pos x="172" y="75"/>
                </a:cxn>
                <a:cxn ang="0">
                  <a:pos x="172" y="56"/>
                </a:cxn>
                <a:cxn ang="0">
                  <a:pos x="172" y="38"/>
                </a:cxn>
                <a:cxn ang="0">
                  <a:pos x="171" y="19"/>
                </a:cxn>
                <a:cxn ang="0">
                  <a:pos x="169" y="0"/>
                </a:cxn>
                <a:cxn ang="0">
                  <a:pos x="52" y="26"/>
                </a:cxn>
                <a:cxn ang="0">
                  <a:pos x="52" y="26"/>
                </a:cxn>
                <a:cxn ang="0">
                  <a:pos x="54" y="47"/>
                </a:cxn>
                <a:cxn ang="0">
                  <a:pos x="54" y="69"/>
                </a:cxn>
                <a:cxn ang="0">
                  <a:pos x="50" y="91"/>
                </a:cxn>
                <a:cxn ang="0">
                  <a:pos x="44" y="113"/>
                </a:cxn>
                <a:cxn ang="0">
                  <a:pos x="44" y="113"/>
                </a:cxn>
              </a:cxnLst>
              <a:rect l="0" t="0" r="r" b="b"/>
              <a:pathLst>
                <a:path w="172" h="276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0" name="Freeform 14"/>
            <p:cNvSpPr>
              <a:spLocks/>
            </p:cNvSpPr>
            <p:nvPr/>
          </p:nvSpPr>
          <p:spPr bwMode="auto">
            <a:xfrm>
              <a:off x="703" y="326"/>
              <a:ext cx="50" cy="79"/>
            </a:xfrm>
            <a:custGeom>
              <a:avLst/>
              <a:gdLst/>
              <a:ahLst/>
              <a:cxnLst>
                <a:cxn ang="0">
                  <a:pos x="128" y="163"/>
                </a:cxn>
                <a:cxn ang="0">
                  <a:pos x="128" y="163"/>
                </a:cxn>
                <a:cxn ang="0">
                  <a:pos x="136" y="142"/>
                </a:cxn>
                <a:cxn ang="0">
                  <a:pos x="146" y="122"/>
                </a:cxn>
                <a:cxn ang="0">
                  <a:pos x="159" y="105"/>
                </a:cxn>
                <a:cxn ang="0">
                  <a:pos x="173" y="89"/>
                </a:cxn>
                <a:cxn ang="0">
                  <a:pos x="94" y="0"/>
                </a:cxn>
                <a:cxn ang="0">
                  <a:pos x="94" y="0"/>
                </a:cxn>
                <a:cxn ang="0">
                  <a:pos x="81" y="13"/>
                </a:cxn>
                <a:cxn ang="0">
                  <a:pos x="69" y="27"/>
                </a:cxn>
                <a:cxn ang="0">
                  <a:pos x="58" y="42"/>
                </a:cxn>
                <a:cxn ang="0">
                  <a:pos x="47" y="57"/>
                </a:cxn>
                <a:cxn ang="0">
                  <a:pos x="38" y="74"/>
                </a:cxn>
                <a:cxn ang="0">
                  <a:pos x="30" y="91"/>
                </a:cxn>
                <a:cxn ang="0">
                  <a:pos x="22" y="108"/>
                </a:cxn>
                <a:cxn ang="0">
                  <a:pos x="16" y="127"/>
                </a:cxn>
                <a:cxn ang="0">
                  <a:pos x="16" y="127"/>
                </a:cxn>
                <a:cxn ang="0">
                  <a:pos x="10" y="146"/>
                </a:cxn>
                <a:cxn ang="0">
                  <a:pos x="6" y="164"/>
                </a:cxn>
                <a:cxn ang="0">
                  <a:pos x="3" y="183"/>
                </a:cxn>
                <a:cxn ang="0">
                  <a:pos x="1" y="201"/>
                </a:cxn>
                <a:cxn ang="0">
                  <a:pos x="0" y="220"/>
                </a:cxn>
                <a:cxn ang="0">
                  <a:pos x="1" y="239"/>
                </a:cxn>
                <a:cxn ang="0">
                  <a:pos x="2" y="257"/>
                </a:cxn>
                <a:cxn ang="0">
                  <a:pos x="4" y="276"/>
                </a:cxn>
                <a:cxn ang="0">
                  <a:pos x="121" y="250"/>
                </a:cxn>
                <a:cxn ang="0">
                  <a:pos x="121" y="250"/>
                </a:cxn>
                <a:cxn ang="0">
                  <a:pos x="118" y="229"/>
                </a:cxn>
                <a:cxn ang="0">
                  <a:pos x="119" y="207"/>
                </a:cxn>
                <a:cxn ang="0">
                  <a:pos x="122" y="185"/>
                </a:cxn>
                <a:cxn ang="0">
                  <a:pos x="128" y="163"/>
                </a:cxn>
                <a:cxn ang="0">
                  <a:pos x="128" y="163"/>
                </a:cxn>
              </a:cxnLst>
              <a:rect l="0" t="0" r="r" b="b"/>
              <a:pathLst>
                <a:path w="173" h="276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1" name="Freeform 15"/>
            <p:cNvSpPr>
              <a:spLocks/>
            </p:cNvSpPr>
            <p:nvPr/>
          </p:nvSpPr>
          <p:spPr bwMode="auto">
            <a:xfrm>
              <a:off x="706" y="407"/>
              <a:ext cx="66" cy="68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5" y="41"/>
                </a:cxn>
                <a:cxn ang="0">
                  <a:pos x="11" y="59"/>
                </a:cxn>
                <a:cxn ang="0">
                  <a:pos x="19" y="76"/>
                </a:cxn>
                <a:cxn ang="0">
                  <a:pos x="27" y="93"/>
                </a:cxn>
                <a:cxn ang="0">
                  <a:pos x="36" y="109"/>
                </a:cxn>
                <a:cxn ang="0">
                  <a:pos x="47" y="124"/>
                </a:cxn>
                <a:cxn ang="0">
                  <a:pos x="57" y="139"/>
                </a:cxn>
                <a:cxn ang="0">
                  <a:pos x="69" y="153"/>
                </a:cxn>
                <a:cxn ang="0">
                  <a:pos x="82" y="167"/>
                </a:cxn>
                <a:cxn ang="0">
                  <a:pos x="96" y="180"/>
                </a:cxn>
                <a:cxn ang="0">
                  <a:pos x="110" y="191"/>
                </a:cxn>
                <a:cxn ang="0">
                  <a:pos x="126" y="203"/>
                </a:cxn>
                <a:cxn ang="0">
                  <a:pos x="141" y="213"/>
                </a:cxn>
                <a:cxn ang="0">
                  <a:pos x="158" y="223"/>
                </a:cxn>
                <a:cxn ang="0">
                  <a:pos x="176" y="231"/>
                </a:cxn>
                <a:cxn ang="0">
                  <a:pos x="193" y="239"/>
                </a:cxn>
                <a:cxn ang="0">
                  <a:pos x="230" y="126"/>
                </a:cxn>
                <a:cxn ang="0">
                  <a:pos x="230" y="126"/>
                </a:cxn>
                <a:cxn ang="0">
                  <a:pos x="210" y="116"/>
                </a:cxn>
                <a:cxn ang="0">
                  <a:pos x="191" y="104"/>
                </a:cxn>
                <a:cxn ang="0">
                  <a:pos x="174" y="90"/>
                </a:cxn>
                <a:cxn ang="0">
                  <a:pos x="157" y="75"/>
                </a:cxn>
                <a:cxn ang="0">
                  <a:pos x="144" y="58"/>
                </a:cxn>
                <a:cxn ang="0">
                  <a:pos x="133" y="39"/>
                </a:cxn>
                <a:cxn ang="0">
                  <a:pos x="122" y="19"/>
                </a:cxn>
                <a:cxn ang="0">
                  <a:pos x="115" y="0"/>
                </a:cxn>
                <a:cxn ang="0">
                  <a:pos x="115" y="0"/>
                </a:cxn>
              </a:cxnLst>
              <a:rect l="0" t="0" r="r" b="b"/>
              <a:pathLst>
                <a:path w="230" h="239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2" name="Freeform 16"/>
            <p:cNvSpPr>
              <a:spLocks/>
            </p:cNvSpPr>
            <p:nvPr/>
          </p:nvSpPr>
          <p:spPr bwMode="auto">
            <a:xfrm>
              <a:off x="815" y="306"/>
              <a:ext cx="66" cy="69"/>
            </a:xfrm>
            <a:custGeom>
              <a:avLst/>
              <a:gdLst/>
              <a:ahLst/>
              <a:cxnLst>
                <a:cxn ang="0">
                  <a:pos x="113" y="240"/>
                </a:cxn>
                <a:cxn ang="0">
                  <a:pos x="230" y="214"/>
                </a:cxn>
                <a:cxn ang="0">
                  <a:pos x="230" y="214"/>
                </a:cxn>
                <a:cxn ang="0">
                  <a:pos x="225" y="197"/>
                </a:cxn>
                <a:cxn ang="0">
                  <a:pos x="218" y="179"/>
                </a:cxn>
                <a:cxn ang="0">
                  <a:pos x="211" y="162"/>
                </a:cxn>
                <a:cxn ang="0">
                  <a:pos x="203" y="146"/>
                </a:cxn>
                <a:cxn ang="0">
                  <a:pos x="194" y="129"/>
                </a:cxn>
                <a:cxn ang="0">
                  <a:pos x="183" y="114"/>
                </a:cxn>
                <a:cxn ang="0">
                  <a:pos x="173" y="99"/>
                </a:cxn>
                <a:cxn ang="0">
                  <a:pos x="160" y="85"/>
                </a:cxn>
                <a:cxn ang="0">
                  <a:pos x="147" y="71"/>
                </a:cxn>
                <a:cxn ang="0">
                  <a:pos x="134" y="58"/>
                </a:cxn>
                <a:cxn ang="0">
                  <a:pos x="119" y="47"/>
                </a:cxn>
                <a:cxn ang="0">
                  <a:pos x="104" y="35"/>
                </a:cxn>
                <a:cxn ang="0">
                  <a:pos x="88" y="25"/>
                </a:cxn>
                <a:cxn ang="0">
                  <a:pos x="72" y="15"/>
                </a:cxn>
                <a:cxn ang="0">
                  <a:pos x="54" y="7"/>
                </a:cxn>
                <a:cxn ang="0">
                  <a:pos x="36" y="0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20" y="122"/>
                </a:cxn>
                <a:cxn ang="0">
                  <a:pos x="39" y="134"/>
                </a:cxn>
                <a:cxn ang="0">
                  <a:pos x="57" y="148"/>
                </a:cxn>
                <a:cxn ang="0">
                  <a:pos x="72" y="164"/>
                </a:cxn>
                <a:cxn ang="0">
                  <a:pos x="86" y="181"/>
                </a:cxn>
                <a:cxn ang="0">
                  <a:pos x="97" y="199"/>
                </a:cxn>
                <a:cxn ang="0">
                  <a:pos x="106" y="219"/>
                </a:cxn>
                <a:cxn ang="0">
                  <a:pos x="113" y="240"/>
                </a:cxn>
                <a:cxn ang="0">
                  <a:pos x="113" y="240"/>
                </a:cxn>
              </a:cxnLst>
              <a:rect l="0" t="0" r="r" b="b"/>
              <a:pathLst>
                <a:path w="230" h="24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auto">
            <a:xfrm>
              <a:off x="770" y="435"/>
              <a:ext cx="81" cy="46"/>
            </a:xfrm>
            <a:custGeom>
              <a:avLst/>
              <a:gdLst/>
              <a:ahLst/>
              <a:cxnLst>
                <a:cxn ang="0">
                  <a:pos x="37" y="36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19" y="153"/>
                </a:cxn>
                <a:cxn ang="0">
                  <a:pos x="38" y="156"/>
                </a:cxn>
                <a:cxn ang="0">
                  <a:pos x="57" y="158"/>
                </a:cxn>
                <a:cxn ang="0">
                  <a:pos x="76" y="159"/>
                </a:cxn>
                <a:cxn ang="0">
                  <a:pos x="96" y="159"/>
                </a:cxn>
                <a:cxn ang="0">
                  <a:pos x="114" y="158"/>
                </a:cxn>
                <a:cxn ang="0">
                  <a:pos x="133" y="155"/>
                </a:cxn>
                <a:cxn ang="0">
                  <a:pos x="150" y="152"/>
                </a:cxn>
                <a:cxn ang="0">
                  <a:pos x="169" y="147"/>
                </a:cxn>
                <a:cxn ang="0">
                  <a:pos x="186" y="141"/>
                </a:cxn>
                <a:cxn ang="0">
                  <a:pos x="204" y="136"/>
                </a:cxn>
                <a:cxn ang="0">
                  <a:pos x="220" y="127"/>
                </a:cxn>
                <a:cxn ang="0">
                  <a:pos x="238" y="119"/>
                </a:cxn>
                <a:cxn ang="0">
                  <a:pos x="253" y="110"/>
                </a:cxn>
                <a:cxn ang="0">
                  <a:pos x="268" y="99"/>
                </a:cxn>
                <a:cxn ang="0">
                  <a:pos x="283" y="88"/>
                </a:cxn>
                <a:cxn ang="0">
                  <a:pos x="204" y="0"/>
                </a:cxn>
                <a:cxn ang="0">
                  <a:pos x="204" y="0"/>
                </a:cxn>
                <a:cxn ang="0">
                  <a:pos x="185" y="12"/>
                </a:cxn>
                <a:cxn ang="0">
                  <a:pos x="167" y="23"/>
                </a:cxn>
                <a:cxn ang="0">
                  <a:pos x="146" y="31"/>
                </a:cxn>
                <a:cxn ang="0">
                  <a:pos x="125" y="37"/>
                </a:cxn>
                <a:cxn ang="0">
                  <a:pos x="104" y="40"/>
                </a:cxn>
                <a:cxn ang="0">
                  <a:pos x="82" y="41"/>
                </a:cxn>
                <a:cxn ang="0">
                  <a:pos x="59" y="39"/>
                </a:cxn>
                <a:cxn ang="0">
                  <a:pos x="37" y="36"/>
                </a:cxn>
                <a:cxn ang="0">
                  <a:pos x="37" y="36"/>
                </a:cxn>
              </a:cxnLst>
              <a:rect l="0" t="0" r="r" b="b"/>
              <a:pathLst>
                <a:path w="283" h="159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24" name="Group 28"/>
          <p:cNvGrpSpPr>
            <a:grpSpLocks/>
          </p:cNvGrpSpPr>
          <p:nvPr/>
        </p:nvGrpSpPr>
        <p:grpSpPr bwMode="auto">
          <a:xfrm>
            <a:off x="8494713" y="5792788"/>
            <a:ext cx="554037" cy="552450"/>
            <a:chOff x="5369" y="3667"/>
            <a:chExt cx="349" cy="348"/>
          </a:xfrm>
        </p:grpSpPr>
        <p:sp>
          <p:nvSpPr>
            <p:cNvPr id="4125" name="Freeform 29"/>
            <p:cNvSpPr>
              <a:spLocks/>
            </p:cNvSpPr>
            <p:nvPr/>
          </p:nvSpPr>
          <p:spPr bwMode="auto">
            <a:xfrm>
              <a:off x="5396" y="3667"/>
              <a:ext cx="138" cy="112"/>
            </a:xfrm>
            <a:custGeom>
              <a:avLst/>
              <a:gdLst/>
              <a:ahLst/>
              <a:cxnLst>
                <a:cxn ang="0">
                  <a:pos x="182" y="86"/>
                </a:cxn>
                <a:cxn ang="0">
                  <a:pos x="182" y="0"/>
                </a:cxn>
                <a:cxn ang="0">
                  <a:pos x="182" y="0"/>
                </a:cxn>
                <a:cxn ang="0">
                  <a:pos x="154" y="2"/>
                </a:cxn>
                <a:cxn ang="0">
                  <a:pos x="128" y="10"/>
                </a:cxn>
                <a:cxn ang="0">
                  <a:pos x="102" y="18"/>
                </a:cxn>
                <a:cxn ang="0">
                  <a:pos x="78" y="30"/>
                </a:cxn>
                <a:cxn ang="0">
                  <a:pos x="56" y="46"/>
                </a:cxn>
                <a:cxn ang="0">
                  <a:pos x="36" y="64"/>
                </a:cxn>
                <a:cxn ang="0">
                  <a:pos x="16" y="82"/>
                </a:cxn>
                <a:cxn ang="0">
                  <a:pos x="0" y="104"/>
                </a:cxn>
                <a:cxn ang="0">
                  <a:pos x="76" y="148"/>
                </a:cxn>
                <a:cxn ang="0">
                  <a:pos x="76" y="148"/>
                </a:cxn>
                <a:cxn ang="0">
                  <a:pos x="86" y="136"/>
                </a:cxn>
                <a:cxn ang="0">
                  <a:pos x="96" y="124"/>
                </a:cxn>
                <a:cxn ang="0">
                  <a:pos x="108" y="114"/>
                </a:cxn>
                <a:cxn ang="0">
                  <a:pos x="122" y="104"/>
                </a:cxn>
                <a:cxn ang="0">
                  <a:pos x="136" y="98"/>
                </a:cxn>
                <a:cxn ang="0">
                  <a:pos x="150" y="92"/>
                </a:cxn>
                <a:cxn ang="0">
                  <a:pos x="166" y="88"/>
                </a:cxn>
                <a:cxn ang="0">
                  <a:pos x="182" y="86"/>
                </a:cxn>
                <a:cxn ang="0">
                  <a:pos x="182" y="86"/>
                </a:cxn>
              </a:cxnLst>
              <a:rect l="0" t="0" r="r" b="b"/>
              <a:pathLst>
                <a:path w="182" h="148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auto">
            <a:xfrm>
              <a:off x="5642" y="3761"/>
              <a:ext cx="76" cy="160"/>
            </a:xfrm>
            <a:custGeom>
              <a:avLst/>
              <a:gdLst/>
              <a:ahLst/>
              <a:cxnLst>
                <a:cxn ang="0">
                  <a:pos x="14" y="106"/>
                </a:cxn>
                <a:cxn ang="0">
                  <a:pos x="14" y="106"/>
                </a:cxn>
                <a:cxn ang="0">
                  <a:pos x="14" y="122"/>
                </a:cxn>
                <a:cxn ang="0">
                  <a:pos x="10" y="138"/>
                </a:cxn>
                <a:cxn ang="0">
                  <a:pos x="6" y="152"/>
                </a:cxn>
                <a:cxn ang="0">
                  <a:pos x="0" y="168"/>
                </a:cxn>
                <a:cxn ang="0">
                  <a:pos x="74" y="210"/>
                </a:cxn>
                <a:cxn ang="0">
                  <a:pos x="74" y="210"/>
                </a:cxn>
                <a:cxn ang="0">
                  <a:pos x="86" y="186"/>
                </a:cxn>
                <a:cxn ang="0">
                  <a:pos x="94" y="160"/>
                </a:cxn>
                <a:cxn ang="0">
                  <a:pos x="98" y="134"/>
                </a:cxn>
                <a:cxn ang="0">
                  <a:pos x="100" y="106"/>
                </a:cxn>
                <a:cxn ang="0">
                  <a:pos x="100" y="106"/>
                </a:cxn>
                <a:cxn ang="0">
                  <a:pos x="98" y="78"/>
                </a:cxn>
                <a:cxn ang="0">
                  <a:pos x="94" y="50"/>
                </a:cxn>
                <a:cxn ang="0">
                  <a:pos x="86" y="24"/>
                </a:cxn>
                <a:cxn ang="0">
                  <a:pos x="74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6" y="58"/>
                </a:cxn>
                <a:cxn ang="0">
                  <a:pos x="10" y="72"/>
                </a:cxn>
                <a:cxn ang="0">
                  <a:pos x="14" y="88"/>
                </a:cxn>
                <a:cxn ang="0">
                  <a:pos x="14" y="106"/>
                </a:cxn>
                <a:cxn ang="0">
                  <a:pos x="14" y="106"/>
                </a:cxn>
              </a:cxnLst>
              <a:rect l="0" t="0" r="r" b="b"/>
              <a:pathLst>
                <a:path w="100" h="21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auto">
            <a:xfrm>
              <a:off x="5369" y="3761"/>
              <a:ext cx="76" cy="160"/>
            </a:xfrm>
            <a:custGeom>
              <a:avLst/>
              <a:gdLst/>
              <a:ahLst/>
              <a:cxnLst>
                <a:cxn ang="0">
                  <a:pos x="86" y="106"/>
                </a:cxn>
                <a:cxn ang="0">
                  <a:pos x="86" y="106"/>
                </a:cxn>
                <a:cxn ang="0">
                  <a:pos x="86" y="88"/>
                </a:cxn>
                <a:cxn ang="0">
                  <a:pos x="90" y="72"/>
                </a:cxn>
                <a:cxn ang="0">
                  <a:pos x="94" y="58"/>
                </a:cxn>
                <a:cxn ang="0">
                  <a:pos x="100" y="44"/>
                </a:cxn>
                <a:cxn ang="0">
                  <a:pos x="26" y="0"/>
                </a:cxn>
                <a:cxn ang="0">
                  <a:pos x="26" y="0"/>
                </a:cxn>
                <a:cxn ang="0">
                  <a:pos x="14" y="24"/>
                </a:cxn>
                <a:cxn ang="0">
                  <a:pos x="6" y="50"/>
                </a:cxn>
                <a:cxn ang="0">
                  <a:pos x="2" y="78"/>
                </a:cxn>
                <a:cxn ang="0">
                  <a:pos x="0" y="106"/>
                </a:cxn>
                <a:cxn ang="0">
                  <a:pos x="0" y="106"/>
                </a:cxn>
                <a:cxn ang="0">
                  <a:pos x="2" y="134"/>
                </a:cxn>
                <a:cxn ang="0">
                  <a:pos x="6" y="160"/>
                </a:cxn>
                <a:cxn ang="0">
                  <a:pos x="14" y="186"/>
                </a:cxn>
                <a:cxn ang="0">
                  <a:pos x="26" y="210"/>
                </a:cxn>
                <a:cxn ang="0">
                  <a:pos x="100" y="168"/>
                </a:cxn>
                <a:cxn ang="0">
                  <a:pos x="100" y="168"/>
                </a:cxn>
                <a:cxn ang="0">
                  <a:pos x="94" y="152"/>
                </a:cxn>
                <a:cxn ang="0">
                  <a:pos x="90" y="138"/>
                </a:cxn>
                <a:cxn ang="0">
                  <a:pos x="86" y="122"/>
                </a:cxn>
                <a:cxn ang="0">
                  <a:pos x="86" y="106"/>
                </a:cxn>
                <a:cxn ang="0">
                  <a:pos x="86" y="106"/>
                </a:cxn>
              </a:cxnLst>
              <a:rect l="0" t="0" r="r" b="b"/>
              <a:pathLst>
                <a:path w="100" h="21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auto">
            <a:xfrm>
              <a:off x="5396" y="3902"/>
              <a:ext cx="138" cy="113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16" y="66"/>
                </a:cxn>
                <a:cxn ang="0">
                  <a:pos x="36" y="84"/>
                </a:cxn>
                <a:cxn ang="0">
                  <a:pos x="56" y="102"/>
                </a:cxn>
                <a:cxn ang="0">
                  <a:pos x="78" y="118"/>
                </a:cxn>
                <a:cxn ang="0">
                  <a:pos x="102" y="130"/>
                </a:cxn>
                <a:cxn ang="0">
                  <a:pos x="128" y="138"/>
                </a:cxn>
                <a:cxn ang="0">
                  <a:pos x="154" y="146"/>
                </a:cxn>
                <a:cxn ang="0">
                  <a:pos x="182" y="148"/>
                </a:cxn>
                <a:cxn ang="0">
                  <a:pos x="182" y="62"/>
                </a:cxn>
                <a:cxn ang="0">
                  <a:pos x="182" y="62"/>
                </a:cxn>
                <a:cxn ang="0">
                  <a:pos x="166" y="60"/>
                </a:cxn>
                <a:cxn ang="0">
                  <a:pos x="150" y="56"/>
                </a:cxn>
                <a:cxn ang="0">
                  <a:pos x="136" y="50"/>
                </a:cxn>
                <a:cxn ang="0">
                  <a:pos x="122" y="44"/>
                </a:cxn>
                <a:cxn ang="0">
                  <a:pos x="108" y="34"/>
                </a:cxn>
                <a:cxn ang="0">
                  <a:pos x="96" y="24"/>
                </a:cxn>
                <a:cxn ang="0">
                  <a:pos x="86" y="14"/>
                </a:cxn>
                <a:cxn ang="0">
                  <a:pos x="76" y="0"/>
                </a:cxn>
                <a:cxn ang="0">
                  <a:pos x="76" y="0"/>
                </a:cxn>
              </a:cxnLst>
              <a:rect l="0" t="0" r="r" b="b"/>
              <a:pathLst>
                <a:path w="182" h="148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auto">
            <a:xfrm>
              <a:off x="5553" y="3667"/>
              <a:ext cx="138" cy="112"/>
            </a:xfrm>
            <a:custGeom>
              <a:avLst/>
              <a:gdLst/>
              <a:ahLst/>
              <a:cxnLst>
                <a:cxn ang="0">
                  <a:pos x="106" y="148"/>
                </a:cxn>
                <a:cxn ang="0">
                  <a:pos x="182" y="104"/>
                </a:cxn>
                <a:cxn ang="0">
                  <a:pos x="182" y="104"/>
                </a:cxn>
                <a:cxn ang="0">
                  <a:pos x="166" y="82"/>
                </a:cxn>
                <a:cxn ang="0">
                  <a:pos x="148" y="64"/>
                </a:cxn>
                <a:cxn ang="0">
                  <a:pos x="126" y="46"/>
                </a:cxn>
                <a:cxn ang="0">
                  <a:pos x="104" y="30"/>
                </a:cxn>
                <a:cxn ang="0">
                  <a:pos x="80" y="18"/>
                </a:cxn>
                <a:cxn ang="0">
                  <a:pos x="54" y="10"/>
                </a:cxn>
                <a:cxn ang="0">
                  <a:pos x="28" y="2"/>
                </a:cxn>
                <a:cxn ang="0">
                  <a:pos x="0" y="0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16" y="88"/>
                </a:cxn>
                <a:cxn ang="0">
                  <a:pos x="32" y="92"/>
                </a:cxn>
                <a:cxn ang="0">
                  <a:pos x="46" y="98"/>
                </a:cxn>
                <a:cxn ang="0">
                  <a:pos x="60" y="104"/>
                </a:cxn>
                <a:cxn ang="0">
                  <a:pos x="74" y="114"/>
                </a:cxn>
                <a:cxn ang="0">
                  <a:pos x="86" y="124"/>
                </a:cxn>
                <a:cxn ang="0">
                  <a:pos x="98" y="136"/>
                </a:cxn>
                <a:cxn ang="0">
                  <a:pos x="106" y="148"/>
                </a:cxn>
                <a:cxn ang="0">
                  <a:pos x="106" y="148"/>
                </a:cxn>
              </a:cxnLst>
              <a:rect l="0" t="0" r="r" b="b"/>
              <a:pathLst>
                <a:path w="182" h="148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auto">
            <a:xfrm>
              <a:off x="5553" y="3902"/>
              <a:ext cx="138" cy="113"/>
            </a:xfrm>
            <a:custGeom>
              <a:avLst/>
              <a:gdLst/>
              <a:ahLst/>
              <a:cxnLst>
                <a:cxn ang="0">
                  <a:pos x="0" y="62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28" y="146"/>
                </a:cxn>
                <a:cxn ang="0">
                  <a:pos x="54" y="138"/>
                </a:cxn>
                <a:cxn ang="0">
                  <a:pos x="80" y="130"/>
                </a:cxn>
                <a:cxn ang="0">
                  <a:pos x="104" y="118"/>
                </a:cxn>
                <a:cxn ang="0">
                  <a:pos x="126" y="102"/>
                </a:cxn>
                <a:cxn ang="0">
                  <a:pos x="148" y="84"/>
                </a:cxn>
                <a:cxn ang="0">
                  <a:pos x="166" y="66"/>
                </a:cxn>
                <a:cxn ang="0">
                  <a:pos x="182" y="44"/>
                </a:cxn>
                <a:cxn ang="0">
                  <a:pos x="106" y="0"/>
                </a:cxn>
                <a:cxn ang="0">
                  <a:pos x="106" y="0"/>
                </a:cxn>
                <a:cxn ang="0">
                  <a:pos x="98" y="14"/>
                </a:cxn>
                <a:cxn ang="0">
                  <a:pos x="86" y="24"/>
                </a:cxn>
                <a:cxn ang="0">
                  <a:pos x="74" y="34"/>
                </a:cxn>
                <a:cxn ang="0">
                  <a:pos x="60" y="44"/>
                </a:cxn>
                <a:cxn ang="0">
                  <a:pos x="46" y="50"/>
                </a:cxn>
                <a:cxn ang="0">
                  <a:pos x="32" y="56"/>
                </a:cxn>
                <a:cxn ang="0">
                  <a:pos x="16" y="60"/>
                </a:cxn>
                <a:cxn ang="0">
                  <a:pos x="0" y="62"/>
                </a:cxn>
                <a:cxn ang="0">
                  <a:pos x="0" y="62"/>
                </a:cxn>
              </a:cxnLst>
              <a:rect l="0" t="0" r="r" b="b"/>
              <a:pathLst>
                <a:path w="182" h="148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31" name="Group 35"/>
          <p:cNvGrpSpPr>
            <a:grpSpLocks/>
          </p:cNvGrpSpPr>
          <p:nvPr/>
        </p:nvGrpSpPr>
        <p:grpSpPr bwMode="auto">
          <a:xfrm>
            <a:off x="8113713" y="6221413"/>
            <a:ext cx="554037" cy="552450"/>
            <a:chOff x="5129" y="3937"/>
            <a:chExt cx="349" cy="348"/>
          </a:xfrm>
        </p:grpSpPr>
        <p:sp>
          <p:nvSpPr>
            <p:cNvPr id="4132" name="Freeform 36"/>
            <p:cNvSpPr>
              <a:spLocks/>
            </p:cNvSpPr>
            <p:nvPr/>
          </p:nvSpPr>
          <p:spPr bwMode="auto">
            <a:xfrm>
              <a:off x="5193" y="3937"/>
              <a:ext cx="156" cy="87"/>
            </a:xfrm>
            <a:custGeom>
              <a:avLst/>
              <a:gdLst/>
              <a:ahLst/>
              <a:cxnLst>
                <a:cxn ang="0">
                  <a:pos x="180" y="88"/>
                </a:cxn>
                <a:cxn ang="0">
                  <a:pos x="206" y="8"/>
                </a:cxn>
                <a:cxn ang="0">
                  <a:pos x="206" y="8"/>
                </a:cxn>
                <a:cxn ang="0">
                  <a:pos x="178" y="2"/>
                </a:cxn>
                <a:cxn ang="0">
                  <a:pos x="150" y="0"/>
                </a:cxn>
                <a:cxn ang="0">
                  <a:pos x="124" y="0"/>
                </a:cxn>
                <a:cxn ang="0">
                  <a:pos x="96" y="4"/>
                </a:cxn>
                <a:cxn ang="0">
                  <a:pos x="70" y="12"/>
                </a:cxn>
                <a:cxn ang="0">
                  <a:pos x="46" y="22"/>
                </a:cxn>
                <a:cxn ang="0">
                  <a:pos x="22" y="36"/>
                </a:cxn>
                <a:cxn ang="0">
                  <a:pos x="0" y="50"/>
                </a:cxn>
                <a:cxn ang="0">
                  <a:pos x="58" y="114"/>
                </a:cxn>
                <a:cxn ang="0">
                  <a:pos x="58" y="114"/>
                </a:cxn>
                <a:cxn ang="0">
                  <a:pos x="72" y="106"/>
                </a:cxn>
                <a:cxn ang="0">
                  <a:pos x="86" y="98"/>
                </a:cxn>
                <a:cxn ang="0">
                  <a:pos x="100" y="92"/>
                </a:cxn>
                <a:cxn ang="0">
                  <a:pos x="116" y="88"/>
                </a:cxn>
                <a:cxn ang="0">
                  <a:pos x="130" y="86"/>
                </a:cxn>
                <a:cxn ang="0">
                  <a:pos x="146" y="84"/>
                </a:cxn>
                <a:cxn ang="0">
                  <a:pos x="164" y="86"/>
                </a:cxn>
                <a:cxn ang="0">
                  <a:pos x="180" y="88"/>
                </a:cxn>
                <a:cxn ang="0">
                  <a:pos x="180" y="88"/>
                </a:cxn>
              </a:cxnLst>
              <a:rect l="0" t="0" r="r" b="b"/>
              <a:pathLst>
                <a:path w="206" h="114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auto">
            <a:xfrm>
              <a:off x="5383" y="4083"/>
              <a:ext cx="95" cy="152"/>
            </a:xfrm>
            <a:custGeom>
              <a:avLst/>
              <a:gdLst/>
              <a:ahLst/>
              <a:cxnLst>
                <a:cxn ang="0">
                  <a:pos x="32" y="82"/>
                </a:cxn>
                <a:cxn ang="0">
                  <a:pos x="32" y="82"/>
                </a:cxn>
                <a:cxn ang="0">
                  <a:pos x="26" y="96"/>
                </a:cxn>
                <a:cxn ang="0">
                  <a:pos x="20" y="110"/>
                </a:cxn>
                <a:cxn ang="0">
                  <a:pos x="10" y="124"/>
                </a:cxn>
                <a:cxn ang="0">
                  <a:pos x="0" y="136"/>
                </a:cxn>
                <a:cxn ang="0">
                  <a:pos x="58" y="200"/>
                </a:cxn>
                <a:cxn ang="0">
                  <a:pos x="58" y="200"/>
                </a:cxn>
                <a:cxn ang="0">
                  <a:pos x="76" y="180"/>
                </a:cxn>
                <a:cxn ang="0">
                  <a:pos x="92" y="158"/>
                </a:cxn>
                <a:cxn ang="0">
                  <a:pos x="104" y="134"/>
                </a:cxn>
                <a:cxn ang="0">
                  <a:pos x="114" y="108"/>
                </a:cxn>
                <a:cxn ang="0">
                  <a:pos x="114" y="108"/>
                </a:cxn>
                <a:cxn ang="0">
                  <a:pos x="122" y="80"/>
                </a:cxn>
                <a:cxn ang="0">
                  <a:pos x="126" y="54"/>
                </a:cxn>
                <a:cxn ang="0">
                  <a:pos x="126" y="26"/>
                </a:cxn>
                <a:cxn ang="0">
                  <a:pos x="122" y="0"/>
                </a:cxn>
                <a:cxn ang="0">
                  <a:pos x="38" y="18"/>
                </a:cxn>
                <a:cxn ang="0">
                  <a:pos x="38" y="18"/>
                </a:cxn>
                <a:cxn ang="0">
                  <a:pos x="40" y="34"/>
                </a:cxn>
                <a:cxn ang="0">
                  <a:pos x="40" y="50"/>
                </a:cxn>
                <a:cxn ang="0">
                  <a:pos x="38" y="66"/>
                </a:cxn>
                <a:cxn ang="0">
                  <a:pos x="32" y="82"/>
                </a:cxn>
                <a:cxn ang="0">
                  <a:pos x="32" y="82"/>
                </a:cxn>
              </a:cxnLst>
              <a:rect l="0" t="0" r="r" b="b"/>
              <a:pathLst>
                <a:path w="126" h="200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auto">
            <a:xfrm>
              <a:off x="5129" y="3987"/>
              <a:ext cx="96" cy="152"/>
            </a:xfrm>
            <a:custGeom>
              <a:avLst/>
              <a:gdLst/>
              <a:ahLst/>
              <a:cxnLst>
                <a:cxn ang="0">
                  <a:pos x="92" y="118"/>
                </a:cxn>
                <a:cxn ang="0">
                  <a:pos x="92" y="118"/>
                </a:cxn>
                <a:cxn ang="0">
                  <a:pos x="98" y="104"/>
                </a:cxn>
                <a:cxn ang="0">
                  <a:pos x="106" y="88"/>
                </a:cxn>
                <a:cxn ang="0">
                  <a:pos x="116" y="76"/>
                </a:cxn>
                <a:cxn ang="0">
                  <a:pos x="126" y="64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50" y="20"/>
                </a:cxn>
                <a:cxn ang="0">
                  <a:pos x="34" y="42"/>
                </a:cxn>
                <a:cxn ang="0">
                  <a:pos x="22" y="66"/>
                </a:cxn>
                <a:cxn ang="0">
                  <a:pos x="12" y="92"/>
                </a:cxn>
                <a:cxn ang="0">
                  <a:pos x="12" y="92"/>
                </a:cxn>
                <a:cxn ang="0">
                  <a:pos x="4" y="118"/>
                </a:cxn>
                <a:cxn ang="0">
                  <a:pos x="0" y="146"/>
                </a:cxn>
                <a:cxn ang="0">
                  <a:pos x="0" y="174"/>
                </a:cxn>
                <a:cxn ang="0">
                  <a:pos x="4" y="200"/>
                </a:cxn>
                <a:cxn ang="0">
                  <a:pos x="88" y="182"/>
                </a:cxn>
                <a:cxn ang="0">
                  <a:pos x="88" y="182"/>
                </a:cxn>
                <a:cxn ang="0">
                  <a:pos x="86" y="166"/>
                </a:cxn>
                <a:cxn ang="0">
                  <a:pos x="86" y="150"/>
                </a:cxn>
                <a:cxn ang="0">
                  <a:pos x="88" y="134"/>
                </a:cxn>
                <a:cxn ang="0">
                  <a:pos x="92" y="118"/>
                </a:cxn>
                <a:cxn ang="0">
                  <a:pos x="92" y="118"/>
                </a:cxn>
              </a:cxnLst>
              <a:rect l="0" t="0" r="r" b="b"/>
              <a:pathLst>
                <a:path w="126" h="200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auto">
            <a:xfrm>
              <a:off x="5135" y="4142"/>
              <a:ext cx="126" cy="132"/>
            </a:xfrm>
            <a:custGeom>
              <a:avLst/>
              <a:gdLst/>
              <a:ahLst/>
              <a:cxnLst>
                <a:cxn ang="0">
                  <a:pos x="84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8" y="44"/>
                </a:cxn>
                <a:cxn ang="0">
                  <a:pos x="20" y="68"/>
                </a:cxn>
                <a:cxn ang="0">
                  <a:pos x="34" y="90"/>
                </a:cxn>
                <a:cxn ang="0">
                  <a:pos x="50" y="112"/>
                </a:cxn>
                <a:cxn ang="0">
                  <a:pos x="70" y="130"/>
                </a:cxn>
                <a:cxn ang="0">
                  <a:pos x="90" y="148"/>
                </a:cxn>
                <a:cxn ang="0">
                  <a:pos x="114" y="162"/>
                </a:cxn>
                <a:cxn ang="0">
                  <a:pos x="140" y="174"/>
                </a:cxn>
                <a:cxn ang="0">
                  <a:pos x="166" y="92"/>
                </a:cxn>
                <a:cxn ang="0">
                  <a:pos x="166" y="92"/>
                </a:cxn>
                <a:cxn ang="0">
                  <a:pos x="152" y="84"/>
                </a:cxn>
                <a:cxn ang="0">
                  <a:pos x="138" y="76"/>
                </a:cxn>
                <a:cxn ang="0">
                  <a:pos x="126" y="66"/>
                </a:cxn>
                <a:cxn ang="0">
                  <a:pos x="114" y="54"/>
                </a:cxn>
                <a:cxn ang="0">
                  <a:pos x="104" y="42"/>
                </a:cxn>
                <a:cxn ang="0">
                  <a:pos x="96" y="28"/>
                </a:cxn>
                <a:cxn ang="0">
                  <a:pos x="90" y="14"/>
                </a:cxn>
                <a:cxn ang="0">
                  <a:pos x="84" y="0"/>
                </a:cxn>
                <a:cxn ang="0">
                  <a:pos x="84" y="0"/>
                </a:cxn>
              </a:cxnLst>
              <a:rect l="0" t="0" r="r" b="b"/>
              <a:pathLst>
                <a:path w="166" h="174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auto">
            <a:xfrm>
              <a:off x="5345" y="3948"/>
              <a:ext cx="127" cy="132"/>
            </a:xfrm>
            <a:custGeom>
              <a:avLst/>
              <a:gdLst/>
              <a:ahLst/>
              <a:cxnLst>
                <a:cxn ang="0">
                  <a:pos x="84" y="174"/>
                </a:cxn>
                <a:cxn ang="0">
                  <a:pos x="168" y="156"/>
                </a:cxn>
                <a:cxn ang="0">
                  <a:pos x="168" y="156"/>
                </a:cxn>
                <a:cxn ang="0">
                  <a:pos x="160" y="130"/>
                </a:cxn>
                <a:cxn ang="0">
                  <a:pos x="148" y="106"/>
                </a:cxn>
                <a:cxn ang="0">
                  <a:pos x="134" y="84"/>
                </a:cxn>
                <a:cxn ang="0">
                  <a:pos x="118" y="62"/>
                </a:cxn>
                <a:cxn ang="0">
                  <a:pos x="98" y="44"/>
                </a:cxn>
                <a:cxn ang="0">
                  <a:pos x="76" y="26"/>
                </a:cxn>
                <a:cxn ang="0">
                  <a:pos x="54" y="12"/>
                </a:cxn>
                <a:cxn ang="0">
                  <a:pos x="28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90"/>
                </a:cxn>
                <a:cxn ang="0">
                  <a:pos x="30" y="98"/>
                </a:cxn>
                <a:cxn ang="0">
                  <a:pos x="42" y="108"/>
                </a:cxn>
                <a:cxn ang="0">
                  <a:pos x="54" y="120"/>
                </a:cxn>
                <a:cxn ang="0">
                  <a:pos x="64" y="132"/>
                </a:cxn>
                <a:cxn ang="0">
                  <a:pos x="72" y="144"/>
                </a:cxn>
                <a:cxn ang="0">
                  <a:pos x="78" y="160"/>
                </a:cxn>
                <a:cxn ang="0">
                  <a:pos x="84" y="174"/>
                </a:cxn>
                <a:cxn ang="0">
                  <a:pos x="84" y="174"/>
                </a:cxn>
              </a:cxnLst>
              <a:rect l="0" t="0" r="r" b="b"/>
              <a:pathLst>
                <a:path w="168" h="174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auto">
            <a:xfrm>
              <a:off x="5258" y="4197"/>
              <a:ext cx="156" cy="88"/>
            </a:xfrm>
            <a:custGeom>
              <a:avLst/>
              <a:gdLst/>
              <a:ahLst/>
              <a:cxnLst>
                <a:cxn ang="0">
                  <a:pos x="26" y="26"/>
                </a:cxn>
                <a:cxn ang="0">
                  <a:pos x="0" y="108"/>
                </a:cxn>
                <a:cxn ang="0">
                  <a:pos x="0" y="108"/>
                </a:cxn>
                <a:cxn ang="0">
                  <a:pos x="28" y="114"/>
                </a:cxn>
                <a:cxn ang="0">
                  <a:pos x="56" y="116"/>
                </a:cxn>
                <a:cxn ang="0">
                  <a:pos x="82" y="116"/>
                </a:cxn>
                <a:cxn ang="0">
                  <a:pos x="110" y="112"/>
                </a:cxn>
                <a:cxn ang="0">
                  <a:pos x="136" y="104"/>
                </a:cxn>
                <a:cxn ang="0">
                  <a:pos x="160" y="94"/>
                </a:cxn>
                <a:cxn ang="0">
                  <a:pos x="184" y="80"/>
                </a:cxn>
                <a:cxn ang="0">
                  <a:pos x="206" y="64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34" y="10"/>
                </a:cxn>
                <a:cxn ang="0">
                  <a:pos x="120" y="18"/>
                </a:cxn>
                <a:cxn ang="0">
                  <a:pos x="106" y="24"/>
                </a:cxn>
                <a:cxn ang="0">
                  <a:pos x="90" y="28"/>
                </a:cxn>
                <a:cxn ang="0">
                  <a:pos x="74" y="30"/>
                </a:cxn>
                <a:cxn ang="0">
                  <a:pos x="58" y="30"/>
                </a:cxn>
                <a:cxn ang="0">
                  <a:pos x="42" y="30"/>
                </a:cxn>
                <a:cxn ang="0">
                  <a:pos x="26" y="26"/>
                </a:cxn>
                <a:cxn ang="0">
                  <a:pos x="26" y="26"/>
                </a:cxn>
              </a:cxnLst>
              <a:rect l="0" t="0" r="r" b="b"/>
              <a:pathLst>
                <a:path w="206" h="11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38" name="Group 42"/>
          <p:cNvGrpSpPr>
            <a:grpSpLocks/>
          </p:cNvGrpSpPr>
          <p:nvPr/>
        </p:nvGrpSpPr>
        <p:grpSpPr bwMode="auto">
          <a:xfrm>
            <a:off x="8089900" y="5821363"/>
            <a:ext cx="390525" cy="390525"/>
            <a:chOff x="5114" y="3685"/>
            <a:chExt cx="246" cy="246"/>
          </a:xfrm>
        </p:grpSpPr>
        <p:sp>
          <p:nvSpPr>
            <p:cNvPr id="4139" name="Freeform 43"/>
            <p:cNvSpPr>
              <a:spLocks/>
            </p:cNvSpPr>
            <p:nvPr/>
          </p:nvSpPr>
          <p:spPr bwMode="auto">
            <a:xfrm>
              <a:off x="5135" y="3845"/>
              <a:ext cx="94" cy="86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0" y="56"/>
                </a:cxn>
                <a:cxn ang="0">
                  <a:pos x="22" y="70"/>
                </a:cxn>
                <a:cxn ang="0">
                  <a:pos x="36" y="82"/>
                </a:cxn>
                <a:cxn ang="0">
                  <a:pos x="52" y="92"/>
                </a:cxn>
                <a:cxn ang="0">
                  <a:pos x="68" y="100"/>
                </a:cxn>
                <a:cxn ang="0">
                  <a:pos x="86" y="108"/>
                </a:cxn>
                <a:cxn ang="0">
                  <a:pos x="104" y="112"/>
                </a:cxn>
                <a:cxn ang="0">
                  <a:pos x="124" y="114"/>
                </a:cxn>
                <a:cxn ang="0">
                  <a:pos x="124" y="32"/>
                </a:cxn>
                <a:cxn ang="0">
                  <a:pos x="124" y="32"/>
                </a:cxn>
                <a:cxn ang="0">
                  <a:pos x="108" y="28"/>
                </a:cxn>
                <a:cxn ang="0">
                  <a:pos x="94" y="22"/>
                </a:cxn>
                <a:cxn ang="0">
                  <a:pos x="82" y="12"/>
                </a:cxn>
                <a:cxn ang="0">
                  <a:pos x="70" y="0"/>
                </a:cxn>
                <a:cxn ang="0">
                  <a:pos x="70" y="0"/>
                </a:cxn>
              </a:cxnLst>
              <a:rect l="0" t="0" r="r" b="b"/>
              <a:pathLst>
                <a:path w="124" h="11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auto">
            <a:xfrm>
              <a:off x="5135" y="3685"/>
              <a:ext cx="94" cy="87"/>
            </a:xfrm>
            <a:custGeom>
              <a:avLst/>
              <a:gdLst/>
              <a:ahLst/>
              <a:cxnLst>
                <a:cxn ang="0">
                  <a:pos x="124" y="82"/>
                </a:cxn>
                <a:cxn ang="0">
                  <a:pos x="124" y="0"/>
                </a:cxn>
                <a:cxn ang="0">
                  <a:pos x="124" y="0"/>
                </a:cxn>
                <a:cxn ang="0">
                  <a:pos x="104" y="2"/>
                </a:cxn>
                <a:cxn ang="0">
                  <a:pos x="86" y="8"/>
                </a:cxn>
                <a:cxn ang="0">
                  <a:pos x="68" y="14"/>
                </a:cxn>
                <a:cxn ang="0">
                  <a:pos x="52" y="22"/>
                </a:cxn>
                <a:cxn ang="0">
                  <a:pos x="36" y="32"/>
                </a:cxn>
                <a:cxn ang="0">
                  <a:pos x="22" y="44"/>
                </a:cxn>
                <a:cxn ang="0">
                  <a:pos x="10" y="58"/>
                </a:cxn>
                <a:cxn ang="0">
                  <a:pos x="0" y="72"/>
                </a:cxn>
                <a:cxn ang="0">
                  <a:pos x="70" y="114"/>
                </a:cxn>
                <a:cxn ang="0">
                  <a:pos x="70" y="114"/>
                </a:cxn>
                <a:cxn ang="0">
                  <a:pos x="82" y="102"/>
                </a:cxn>
                <a:cxn ang="0">
                  <a:pos x="94" y="92"/>
                </a:cxn>
                <a:cxn ang="0">
                  <a:pos x="108" y="86"/>
                </a:cxn>
                <a:cxn ang="0">
                  <a:pos x="124" y="82"/>
                </a:cxn>
                <a:cxn ang="0">
                  <a:pos x="124" y="82"/>
                </a:cxn>
              </a:cxnLst>
              <a:rect l="0" t="0" r="r" b="b"/>
              <a:pathLst>
                <a:path w="124" h="11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auto">
            <a:xfrm>
              <a:off x="5114" y="3754"/>
              <a:ext cx="67" cy="109"/>
            </a:xfrm>
            <a:custGeom>
              <a:avLst/>
              <a:gdLst/>
              <a:ahLst/>
              <a:cxnLst>
                <a:cxn ang="0">
                  <a:pos x="82" y="72"/>
                </a:cxn>
                <a:cxn ang="0">
                  <a:pos x="82" y="72"/>
                </a:cxn>
                <a:cxn ang="0">
                  <a:pos x="84" y="56"/>
                </a:cxn>
                <a:cxn ang="0">
                  <a:pos x="88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0" y="16"/>
                </a:cxn>
                <a:cxn ang="0">
                  <a:pos x="4" y="34"/>
                </a:cxn>
                <a:cxn ang="0">
                  <a:pos x="2" y="5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2" y="92"/>
                </a:cxn>
                <a:cxn ang="0">
                  <a:pos x="4" y="110"/>
                </a:cxn>
                <a:cxn ang="0">
                  <a:pos x="10" y="128"/>
                </a:cxn>
                <a:cxn ang="0">
                  <a:pos x="18" y="144"/>
                </a:cxn>
                <a:cxn ang="0">
                  <a:pos x="88" y="104"/>
                </a:cxn>
                <a:cxn ang="0">
                  <a:pos x="88" y="104"/>
                </a:cxn>
                <a:cxn ang="0">
                  <a:pos x="84" y="88"/>
                </a:cxn>
                <a:cxn ang="0">
                  <a:pos x="82" y="72"/>
                </a:cxn>
                <a:cxn ang="0">
                  <a:pos x="82" y="72"/>
                </a:cxn>
              </a:cxnLst>
              <a:rect l="0" t="0" r="r" b="b"/>
              <a:pathLst>
                <a:path w="88" h="144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auto">
            <a:xfrm>
              <a:off x="5293" y="3754"/>
              <a:ext cx="67" cy="109"/>
            </a:xfrm>
            <a:custGeom>
              <a:avLst/>
              <a:gdLst/>
              <a:ahLst/>
              <a:cxnLst>
                <a:cxn ang="0">
                  <a:pos x="6" y="72"/>
                </a:cxn>
                <a:cxn ang="0">
                  <a:pos x="6" y="72"/>
                </a:cxn>
                <a:cxn ang="0">
                  <a:pos x="6" y="88"/>
                </a:cxn>
                <a:cxn ang="0">
                  <a:pos x="0" y="104"/>
                </a:cxn>
                <a:cxn ang="0">
                  <a:pos x="72" y="144"/>
                </a:cxn>
                <a:cxn ang="0">
                  <a:pos x="72" y="144"/>
                </a:cxn>
                <a:cxn ang="0">
                  <a:pos x="78" y="128"/>
                </a:cxn>
                <a:cxn ang="0">
                  <a:pos x="84" y="110"/>
                </a:cxn>
                <a:cxn ang="0">
                  <a:pos x="88" y="92"/>
                </a:cxn>
                <a:cxn ang="0">
                  <a:pos x="88" y="72"/>
                </a:cxn>
                <a:cxn ang="0">
                  <a:pos x="88" y="72"/>
                </a:cxn>
                <a:cxn ang="0">
                  <a:pos x="88" y="54"/>
                </a:cxn>
                <a:cxn ang="0">
                  <a:pos x="84" y="34"/>
                </a:cxn>
                <a:cxn ang="0">
                  <a:pos x="78" y="16"/>
                </a:cxn>
                <a:cxn ang="0">
                  <a:pos x="72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6" y="56"/>
                </a:cxn>
                <a:cxn ang="0">
                  <a:pos x="6" y="72"/>
                </a:cxn>
                <a:cxn ang="0">
                  <a:pos x="6" y="72"/>
                </a:cxn>
              </a:cxnLst>
              <a:rect l="0" t="0" r="r" b="b"/>
              <a:pathLst>
                <a:path w="88" h="144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auto">
            <a:xfrm>
              <a:off x="5245" y="3845"/>
              <a:ext cx="95" cy="8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20" y="112"/>
                </a:cxn>
                <a:cxn ang="0">
                  <a:pos x="38" y="108"/>
                </a:cxn>
                <a:cxn ang="0">
                  <a:pos x="56" y="100"/>
                </a:cxn>
                <a:cxn ang="0">
                  <a:pos x="72" y="92"/>
                </a:cxn>
                <a:cxn ang="0">
                  <a:pos x="88" y="82"/>
                </a:cxn>
                <a:cxn ang="0">
                  <a:pos x="102" y="70"/>
                </a:cxn>
                <a:cxn ang="0">
                  <a:pos x="114" y="56"/>
                </a:cxn>
                <a:cxn ang="0">
                  <a:pos x="126" y="42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4" y="12"/>
                </a:cxn>
                <a:cxn ang="0">
                  <a:pos x="30" y="22"/>
                </a:cxn>
                <a:cxn ang="0">
                  <a:pos x="16" y="28"/>
                </a:cxn>
                <a:cxn ang="0">
                  <a:pos x="0" y="32"/>
                </a:cxn>
                <a:cxn ang="0">
                  <a:pos x="0" y="32"/>
                </a:cxn>
              </a:cxnLst>
              <a:rect l="0" t="0" r="r" b="b"/>
              <a:pathLst>
                <a:path w="126" h="114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auto">
            <a:xfrm>
              <a:off x="5245" y="3685"/>
              <a:ext cx="95" cy="87"/>
            </a:xfrm>
            <a:custGeom>
              <a:avLst/>
              <a:gdLst/>
              <a:ahLst/>
              <a:cxnLst>
                <a:cxn ang="0">
                  <a:pos x="54" y="114"/>
                </a:cxn>
                <a:cxn ang="0">
                  <a:pos x="126" y="72"/>
                </a:cxn>
                <a:cxn ang="0">
                  <a:pos x="126" y="72"/>
                </a:cxn>
                <a:cxn ang="0">
                  <a:pos x="114" y="58"/>
                </a:cxn>
                <a:cxn ang="0">
                  <a:pos x="102" y="44"/>
                </a:cxn>
                <a:cxn ang="0">
                  <a:pos x="88" y="32"/>
                </a:cxn>
                <a:cxn ang="0">
                  <a:pos x="72" y="22"/>
                </a:cxn>
                <a:cxn ang="0">
                  <a:pos x="56" y="14"/>
                </a:cxn>
                <a:cxn ang="0">
                  <a:pos x="38" y="8"/>
                </a:cxn>
                <a:cxn ang="0">
                  <a:pos x="20" y="2"/>
                </a:cxn>
                <a:cxn ang="0">
                  <a:pos x="0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86"/>
                </a:cxn>
                <a:cxn ang="0">
                  <a:pos x="30" y="92"/>
                </a:cxn>
                <a:cxn ang="0">
                  <a:pos x="44" y="102"/>
                </a:cxn>
                <a:cxn ang="0">
                  <a:pos x="54" y="114"/>
                </a:cxn>
                <a:cxn ang="0">
                  <a:pos x="54" y="114"/>
                </a:cxn>
              </a:cxnLst>
              <a:rect l="0" t="0" r="r" b="b"/>
              <a:pathLst>
                <a:path w="126" h="114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Interface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143000"/>
            <a:ext cx="8153400" cy="5330825"/>
          </a:xfrm>
        </p:spPr>
        <p:txBody>
          <a:bodyPr/>
          <a:lstStyle/>
          <a:p>
            <a:pPr eaLnBrk="1" hangingPunct="1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</a:rPr>
              <a:t>Similar to a class.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</a:rPr>
              <a:t>Consists of only abstract methods and final variables.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</a:rPr>
              <a:t>Any number of classes can implement an interface.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</a:rPr>
              <a:t>One class can implement any number of interfaces.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</a:rPr>
              <a:t>To implement an interface a class must define each of the method declared in the interface. Each class can also add new features.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</a:rPr>
              <a:t>Interface disconnect the definition of a method or set of methods from the inheritance hierarchy.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Defining an Interface</a:t>
            </a:r>
          </a:p>
        </p:txBody>
      </p:sp>
      <p:sp>
        <p:nvSpPr>
          <p:cNvPr id="10243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381000" y="1600200"/>
            <a:ext cx="4343400" cy="4530725"/>
          </a:xfrm>
        </p:spPr>
        <p:txBody>
          <a:bodyPr/>
          <a:lstStyle/>
          <a:p>
            <a:pPr eaLnBrk="1" hangingPunct="1"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</a:rPr>
              <a:t>General form of an interface:</a:t>
            </a:r>
          </a:p>
          <a:p>
            <a:pPr eaLnBrk="1" hangingPunct="1">
              <a:buFont typeface="Wingdings" pitchFamily="2" charset="2"/>
              <a:buChar char="ü"/>
            </a:pPr>
            <a:endParaRPr lang="en-US" sz="2000" dirty="0" smtClean="0">
              <a:latin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Times New Roman" pitchFamily="18" charset="0"/>
              </a:rPr>
              <a:t>	</a:t>
            </a:r>
            <a:r>
              <a:rPr lang="en-US" sz="2000" i="1" dirty="0" smtClean="0">
                <a:latin typeface="Times New Roman" pitchFamily="18" charset="0"/>
              </a:rPr>
              <a:t>access</a:t>
            </a:r>
            <a:r>
              <a:rPr lang="en-US" sz="2000" dirty="0" smtClean="0">
                <a:latin typeface="Times New Roman" pitchFamily="18" charset="0"/>
              </a:rPr>
              <a:t> interface </a:t>
            </a:r>
            <a:r>
              <a:rPr lang="en-US" sz="2000" i="1" dirty="0" smtClean="0">
                <a:latin typeface="Times New Roman" pitchFamily="18" charset="0"/>
              </a:rPr>
              <a:t>name</a:t>
            </a:r>
            <a:r>
              <a:rPr lang="en-US" sz="2000" dirty="0" smtClean="0">
                <a:latin typeface="Times New Roman" pitchFamily="18" charset="0"/>
              </a:rPr>
              <a:t>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Times New Roman" pitchFamily="18" charset="0"/>
              </a:rPr>
              <a:t>	ret-type </a:t>
            </a:r>
            <a:r>
              <a:rPr lang="en-US" sz="2000" i="1" dirty="0" smtClean="0">
                <a:latin typeface="Times New Roman" pitchFamily="18" charset="0"/>
              </a:rPr>
              <a:t>method1</a:t>
            </a:r>
            <a:r>
              <a:rPr lang="en-US" sz="2000" dirty="0" smtClean="0">
                <a:latin typeface="Times New Roman" pitchFamily="18" charset="0"/>
              </a:rPr>
              <a:t>(parameter list);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Times New Roman" pitchFamily="18" charset="0"/>
              </a:rPr>
              <a:t>	ret-type </a:t>
            </a:r>
            <a:r>
              <a:rPr lang="en-US" sz="2000" i="1" dirty="0" smtClean="0">
                <a:latin typeface="Times New Roman" pitchFamily="18" charset="0"/>
              </a:rPr>
              <a:t>method2</a:t>
            </a:r>
            <a:r>
              <a:rPr lang="en-US" sz="2000" dirty="0" smtClean="0">
                <a:latin typeface="Times New Roman" pitchFamily="18" charset="0"/>
              </a:rPr>
              <a:t>(parameter list);</a:t>
            </a:r>
          </a:p>
          <a:p>
            <a:pPr eaLnBrk="1" hangingPunct="1">
              <a:buFont typeface="Wingdings" pitchFamily="2" charset="2"/>
              <a:buNone/>
            </a:pPr>
            <a:endParaRPr lang="en-US" sz="2000" dirty="0" smtClean="0">
              <a:latin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sz="2000" dirty="0" smtClean="0">
              <a:latin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Times New Roman" pitchFamily="18" charset="0"/>
              </a:rPr>
              <a:t>	type final_</a:t>
            </a:r>
            <a:r>
              <a:rPr lang="en-US" sz="2000" i="1" dirty="0" smtClean="0">
                <a:latin typeface="Times New Roman" pitchFamily="18" charset="0"/>
              </a:rPr>
              <a:t>var1</a:t>
            </a:r>
            <a:r>
              <a:rPr lang="en-US" sz="2000" dirty="0" smtClean="0">
                <a:latin typeface="Times New Roman" pitchFamily="18" charset="0"/>
              </a:rPr>
              <a:t> = value;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Times New Roman" pitchFamily="18" charset="0"/>
              </a:rPr>
              <a:t>	type final_</a:t>
            </a:r>
            <a:r>
              <a:rPr lang="en-US" sz="2000" i="1" dirty="0" smtClean="0">
                <a:latin typeface="Times New Roman" pitchFamily="18" charset="0"/>
              </a:rPr>
              <a:t>val2</a:t>
            </a:r>
            <a:r>
              <a:rPr lang="en-US" sz="2000" dirty="0" smtClean="0">
                <a:latin typeface="Times New Roman" pitchFamily="18" charset="0"/>
              </a:rPr>
              <a:t> = value;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Times New Roman" pitchFamily="18" charset="0"/>
              </a:rPr>
              <a:t>}</a:t>
            </a:r>
          </a:p>
        </p:txBody>
      </p:sp>
      <p:sp>
        <p:nvSpPr>
          <p:cNvPr id="10244" name="Rectangle 5"/>
          <p:cNvSpPr>
            <a:spLocks noGrp="1" noChangeArrowheads="1"/>
          </p:cNvSpPr>
          <p:nvPr>
            <p:ph sz="quarter" idx="2"/>
          </p:nvPr>
        </p:nvSpPr>
        <p:spPr>
          <a:xfrm>
            <a:off x="4495800" y="1600200"/>
            <a:ext cx="4267200" cy="4572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000" u="sng" dirty="0" smtClean="0">
                <a:latin typeface="Times New Roman" pitchFamily="18" charset="0"/>
              </a:rPr>
              <a:t>Example: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interface callback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	void callback (int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param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0245" name="Line 6"/>
          <p:cNvSpPr>
            <a:spLocks noChangeShapeType="1"/>
          </p:cNvSpPr>
          <p:nvPr/>
        </p:nvSpPr>
        <p:spPr bwMode="auto">
          <a:xfrm>
            <a:off x="1905000" y="34290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Defining an Interface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382000" cy="4873625"/>
          </a:xfrm>
        </p:spPr>
        <p:txBody>
          <a:bodyPr/>
          <a:lstStyle/>
          <a:p>
            <a:pPr eaLnBrk="1" hangingPunct="1">
              <a:buFont typeface="Wingdings" pitchFamily="2" charset="2"/>
              <a:buChar char="ü"/>
            </a:pPr>
            <a:r>
              <a:rPr lang="en-US" i="1" smtClean="0">
                <a:latin typeface="Times New Roman" pitchFamily="18" charset="0"/>
              </a:rPr>
              <a:t>Access </a:t>
            </a:r>
            <a:r>
              <a:rPr lang="en-US" smtClean="0">
                <a:latin typeface="Times New Roman" pitchFamily="18" charset="0"/>
              </a:rPr>
              <a:t>is either </a:t>
            </a:r>
            <a:r>
              <a:rPr lang="en-US" b="1" smtClean="0">
                <a:latin typeface="Times New Roman" pitchFamily="18" charset="0"/>
              </a:rPr>
              <a:t>public</a:t>
            </a:r>
            <a:r>
              <a:rPr lang="en-US" smtClean="0">
                <a:latin typeface="Times New Roman" pitchFamily="18" charset="0"/>
              </a:rPr>
              <a:t> or </a:t>
            </a:r>
            <a:r>
              <a:rPr lang="en-US" b="1" smtClean="0">
                <a:latin typeface="Times New Roman" pitchFamily="18" charset="0"/>
              </a:rPr>
              <a:t>default</a:t>
            </a:r>
            <a:r>
              <a:rPr lang="en-US" smtClean="0">
                <a:latin typeface="Times New Roman" pitchFamily="18" charset="0"/>
              </a:rPr>
              <a:t>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mtClean="0">
                <a:latin typeface="Times New Roman" pitchFamily="18" charset="0"/>
              </a:rPr>
              <a:t>Variables declared inside an interface are implicitly </a:t>
            </a:r>
            <a:r>
              <a:rPr lang="en-US" b="1" smtClean="0">
                <a:latin typeface="Times New Roman" pitchFamily="18" charset="0"/>
              </a:rPr>
              <a:t>final</a:t>
            </a:r>
            <a:r>
              <a:rPr lang="en-US" smtClean="0">
                <a:latin typeface="Times New Roman" pitchFamily="18" charset="0"/>
              </a:rPr>
              <a:t> and </a:t>
            </a:r>
            <a:r>
              <a:rPr lang="en-US" b="1" smtClean="0">
                <a:latin typeface="Times New Roman" pitchFamily="18" charset="0"/>
              </a:rPr>
              <a:t>static.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mtClean="0">
                <a:latin typeface="Times New Roman" pitchFamily="18" charset="0"/>
              </a:rPr>
              <a:t>Variables must be initialized with a constant value.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mtClean="0">
                <a:latin typeface="Times New Roman" pitchFamily="18" charset="0"/>
              </a:rPr>
              <a:t>All methods and variables are implicitly </a:t>
            </a:r>
            <a:r>
              <a:rPr lang="en-US" b="1" smtClean="0">
                <a:latin typeface="Times New Roman" pitchFamily="18" charset="0"/>
              </a:rPr>
              <a:t>public.</a:t>
            </a:r>
            <a:r>
              <a:rPr lang="en-US" smtClean="0">
                <a:latin typeface="Times New Roman" pitchFamily="18" charset="0"/>
              </a:rPr>
              <a:t> 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mtClean="0">
                <a:latin typeface="Times New Roman" pitchFamily="18" charset="0"/>
              </a:rPr>
              <a:t>If public, that interface must be the only public interface declared in the file and the file must have the same name as the interface.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>
              <a:latin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Implementing Interfaces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>
              <a:buFont typeface="Wingdings" pitchFamily="2" charset="2"/>
              <a:buChar char="ü"/>
            </a:pPr>
            <a:r>
              <a:rPr lang="en-US" smtClean="0">
                <a:latin typeface="Times New Roman" pitchFamily="18" charset="0"/>
              </a:rPr>
              <a:t>The General Form: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Times New Roman" pitchFamily="18" charset="0"/>
              </a:rPr>
              <a:t>	</a:t>
            </a:r>
            <a:r>
              <a:rPr lang="en-US" i="1" smtClean="0">
                <a:latin typeface="Times New Roman" pitchFamily="18" charset="0"/>
              </a:rPr>
              <a:t>access</a:t>
            </a:r>
            <a:r>
              <a:rPr lang="en-US" smtClean="0">
                <a:latin typeface="Times New Roman" pitchFamily="18" charset="0"/>
              </a:rPr>
              <a:t> class </a:t>
            </a:r>
            <a:r>
              <a:rPr lang="en-US" i="1" smtClean="0">
                <a:latin typeface="Times New Roman" pitchFamily="18" charset="0"/>
              </a:rPr>
              <a:t>classname</a:t>
            </a:r>
            <a:r>
              <a:rPr lang="en-US" smtClean="0">
                <a:latin typeface="Times New Roman" pitchFamily="18" charset="0"/>
              </a:rPr>
              <a:t> [extends </a:t>
            </a:r>
            <a:r>
              <a:rPr lang="en-US" i="1" smtClean="0">
                <a:latin typeface="Times New Roman" pitchFamily="18" charset="0"/>
              </a:rPr>
              <a:t>superclass</a:t>
            </a:r>
            <a:r>
              <a:rPr lang="en-US" smtClean="0">
                <a:latin typeface="Times New Roman" pitchFamily="18" charset="0"/>
              </a:rPr>
              <a:t>][implements </a:t>
            </a:r>
            <a:r>
              <a:rPr lang="en-US" i="1" smtClean="0">
                <a:latin typeface="Times New Roman" pitchFamily="18" charset="0"/>
              </a:rPr>
              <a:t>interface</a:t>
            </a:r>
            <a:r>
              <a:rPr lang="en-US" smtClean="0">
                <a:latin typeface="Times New Roman" pitchFamily="18" charset="0"/>
              </a:rPr>
              <a:t>[,</a:t>
            </a:r>
            <a:r>
              <a:rPr lang="en-US" i="1" smtClean="0">
                <a:latin typeface="Times New Roman" pitchFamily="18" charset="0"/>
              </a:rPr>
              <a:t>interface</a:t>
            </a:r>
            <a:r>
              <a:rPr lang="en-US" smtClean="0">
                <a:latin typeface="Times New Roman" pitchFamily="18" charset="0"/>
              </a:rPr>
              <a:t>]]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Times New Roman" pitchFamily="18" charset="0"/>
              </a:rPr>
              <a:t>    }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mtClean="0">
                <a:latin typeface="Times New Roman" pitchFamily="18" charset="0"/>
              </a:rPr>
              <a:t>The methods that implement an interface must be declared </a:t>
            </a:r>
            <a:r>
              <a:rPr lang="en-US" i="1" smtClean="0">
                <a:latin typeface="Times New Roman" pitchFamily="18" charset="0"/>
              </a:rPr>
              <a:t>public</a:t>
            </a:r>
            <a:r>
              <a:rPr lang="en-US" smtClean="0">
                <a:latin typeface="Times New Roman" pitchFamily="18" charset="0"/>
              </a:rPr>
              <a:t>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mtClean="0">
                <a:latin typeface="Times New Roman" pitchFamily="18" charset="0"/>
              </a:rPr>
              <a:t>The type signature of the implementing method must match exactly the type signature specified in the interface definition.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/>
              <a:t>Accessing Implementations through Interface Reference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143000"/>
            <a:ext cx="8305800" cy="5257800"/>
          </a:xfrm>
        </p:spPr>
        <p:txBody>
          <a:bodyPr/>
          <a:lstStyle/>
          <a:p>
            <a:pPr eaLnBrk="1" hangingPunct="1"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Interface reference is required to access the implementation.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Any instance of the class that implements the interface can be referred to by such a variable.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When a method is called through one of the reference, the correct version will be called based on the actual instance of the interface being referred to.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The method to be executed is looked up dynamically at run time.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Reference variable of interface type has access only to methods of that interface. It cannot access other members of the class.</a:t>
            </a:r>
          </a:p>
          <a:p>
            <a:pPr eaLnBrk="1" hangingPunct="1">
              <a:buFont typeface="Wingdings" pitchFamily="2" charset="2"/>
              <a:buChar char="ü"/>
            </a:pPr>
            <a:endParaRPr lang="en-US" dirty="0" smtClean="0">
              <a:latin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Example-1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1066800"/>
            <a:ext cx="4495800" cy="5410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interface call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	void callback(int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param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);	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1800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class client implements call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	public void callback(int p)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         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("callback called with"+p);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  void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nonIfaceMeth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         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(“Non Interface Method”);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    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14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340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495800" cy="4572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public class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testIface</a:t>
            </a:r>
            <a:endParaRPr lang="en-US" sz="1800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	public static void main(String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		call c = new client();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c.callback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(423);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}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Example-2</a:t>
            </a:r>
          </a:p>
        </p:txBody>
      </p:sp>
      <p:sp>
        <p:nvSpPr>
          <p:cNvPr id="16389" name="Rectangle 5"/>
          <p:cNvSpPr>
            <a:spLocks noGrp="1" noChangeArrowheads="1"/>
          </p:cNvSpPr>
          <p:nvPr>
            <p:ph sz="quarter" idx="1"/>
          </p:nvPr>
        </p:nvSpPr>
        <p:spPr>
          <a:xfrm>
            <a:off x="304800" y="990600"/>
            <a:ext cx="4572000" cy="5140325"/>
          </a:xfrm>
        </p:spPr>
        <p:txBody>
          <a:bodyPr>
            <a:noAutofit/>
          </a:bodyPr>
          <a:lstStyle/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interface call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callback(int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param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class client implements call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void callback(int p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{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("callback is called with "+p);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}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anotherclient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implements call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public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void callback(int p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{</a:t>
            </a:r>
            <a:endParaRPr lang="en-US" sz="1200" dirty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("p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squred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is "+(p*p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));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}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sz="quarter" idx="2"/>
          </p:nvPr>
        </p:nvSpPr>
        <p:spPr>
          <a:xfrm>
            <a:off x="4876800" y="1600200"/>
            <a:ext cx="4267200" cy="4724400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public class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testIface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public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static void main(String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{</a:t>
            </a:r>
            <a:endParaRPr lang="en-US" sz="1200" dirty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call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c = new client();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c.callback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(42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c=new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anotherclient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c.callback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(10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}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Partial Implementation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600200"/>
            <a:ext cx="8534400" cy="4953000"/>
          </a:xfrm>
        </p:spPr>
        <p:txBody>
          <a:bodyPr/>
          <a:lstStyle/>
          <a:p>
            <a:pPr eaLnBrk="1" hangingPunct="1">
              <a:buFont typeface="Wingdings" pitchFamily="2" charset="2"/>
              <a:buChar char="ü"/>
            </a:pPr>
            <a:r>
              <a:rPr lang="en-US" sz="2000" smtClean="0">
                <a:latin typeface="Times New Roman" pitchFamily="18" charset="0"/>
              </a:rPr>
              <a:t>If a class includes an interface but does not fully implement the methods defined by that interface, then that class must be declared as </a:t>
            </a:r>
            <a:r>
              <a:rPr lang="en-US" sz="2000" b="1" smtClean="0">
                <a:latin typeface="Times New Roman" pitchFamily="18" charset="0"/>
              </a:rPr>
              <a:t>abstract</a:t>
            </a:r>
            <a:r>
              <a:rPr lang="en-US" sz="2000" smtClean="0">
                <a:latin typeface="Times New Roman" pitchFamily="18" charset="0"/>
              </a:rPr>
              <a:t>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000" smtClean="0">
                <a:latin typeface="Times New Roman" pitchFamily="18" charset="0"/>
              </a:rPr>
              <a:t>Example: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smtClean="0">
                <a:latin typeface="Times New Roman" pitchFamily="18" charset="0"/>
              </a:rPr>
              <a:t>	abstract class temp implements call{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smtClean="0">
                <a:latin typeface="Times New Roman" pitchFamily="18" charset="0"/>
              </a:rPr>
              <a:t>	int a, b;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smtClean="0">
                <a:latin typeface="Times New Roman" pitchFamily="18" charset="0"/>
              </a:rPr>
              <a:t>	void show()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smtClean="0">
                <a:latin typeface="Times New Roman" pitchFamily="18" charset="0"/>
              </a:rPr>
              <a:t>	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smtClean="0">
                <a:latin typeface="Times New Roman" pitchFamily="18" charset="0"/>
              </a:rPr>
              <a:t>		//body of the method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smtClean="0">
                <a:latin typeface="Times New Roman" pitchFamily="18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smtClean="0">
                <a:latin typeface="Times New Roman" pitchFamily="18" charset="0"/>
              </a:rPr>
              <a:t>	}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000" smtClean="0">
                <a:latin typeface="Times New Roman" pitchFamily="18" charset="0"/>
              </a:rPr>
              <a:t>Any class that inherits </a:t>
            </a:r>
            <a:r>
              <a:rPr lang="en-US" sz="2000" i="1" smtClean="0">
                <a:latin typeface="Times New Roman" pitchFamily="18" charset="0"/>
              </a:rPr>
              <a:t>temp</a:t>
            </a:r>
            <a:r>
              <a:rPr lang="en-US" sz="2000" smtClean="0">
                <a:latin typeface="Times New Roman" pitchFamily="18" charset="0"/>
              </a:rPr>
              <a:t> must implement callback() or declared abstract itself.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Extending Interfaces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33400" y="990600"/>
            <a:ext cx="7924800" cy="5257800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sz="1800" dirty="0">
                <a:latin typeface="Times New Roman" pitchFamily="18" charset="0"/>
              </a:rPr>
              <a:t>One interface can inherit another by using the keyword </a:t>
            </a:r>
            <a:r>
              <a:rPr lang="en-US" sz="1800" b="1" dirty="0">
                <a:latin typeface="Times New Roman" pitchFamily="18" charset="0"/>
              </a:rPr>
              <a:t>extends</a:t>
            </a:r>
            <a:r>
              <a:rPr lang="en-US" sz="1800" dirty="0">
                <a:latin typeface="Times New Roman" pitchFamily="18" charset="0"/>
              </a:rPr>
              <a:t>.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sz="1800" dirty="0">
                <a:latin typeface="Times New Roman" pitchFamily="18" charset="0"/>
              </a:rPr>
              <a:t>The new sub interface will inherit all the member of the super interface.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sz="1800" dirty="0">
                <a:latin typeface="Times New Roman" pitchFamily="18" charset="0"/>
              </a:rPr>
              <a:t>Any class that will implement  the interface that inherits another interface, it must provide implementations of all methods defined within the interface inheritance chain.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sz="1800" dirty="0">
                <a:latin typeface="Times New Roman" pitchFamily="18" charset="0"/>
              </a:rPr>
              <a:t>General form: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800" dirty="0">
                <a:latin typeface="Times New Roman" pitchFamily="18" charset="0"/>
              </a:rPr>
              <a:t>	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interface name2 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extends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name1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	//body of name2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sz="1800" dirty="0">
                <a:latin typeface="Times New Roman" pitchFamily="18" charset="0"/>
              </a:rPr>
              <a:t>Example: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800" dirty="0">
                <a:latin typeface="Times New Roman" pitchFamily="18" charset="0"/>
              </a:rPr>
              <a:t>	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interface 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ItemConstant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	int code =1001;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	String name =“Pen”;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}</a:t>
            </a:r>
          </a:p>
        </p:txBody>
      </p:sp>
      <p:sp>
        <p:nvSpPr>
          <p:cNvPr id="17412" name="Text Box 6"/>
          <p:cNvSpPr txBox="1">
            <a:spLocks noChangeArrowheads="1"/>
          </p:cNvSpPr>
          <p:nvPr/>
        </p:nvSpPr>
        <p:spPr bwMode="auto">
          <a:xfrm>
            <a:off x="4724400" y="3581400"/>
            <a:ext cx="3810000" cy="160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interface Item extends ItemConstant</a:t>
            </a:r>
          </a:p>
          <a:p>
            <a:pPr>
              <a:spcBef>
                <a:spcPct val="50000"/>
              </a:spcBef>
            </a:pPr>
            <a:r>
              <a:rPr lang="en-US"/>
              <a:t>{</a:t>
            </a:r>
          </a:p>
          <a:p>
            <a:pPr>
              <a:spcBef>
                <a:spcPct val="50000"/>
              </a:spcBef>
            </a:pPr>
            <a:r>
              <a:rPr lang="en-US"/>
              <a:t>	void display();</a:t>
            </a:r>
          </a:p>
          <a:p>
            <a:pPr>
              <a:spcBef>
                <a:spcPct val="50000"/>
              </a:spcBef>
            </a:pPr>
            <a:r>
              <a:rPr lang="en-US"/>
              <a:t>} </a:t>
            </a:r>
          </a:p>
        </p:txBody>
      </p:sp>
      <p:sp>
        <p:nvSpPr>
          <p:cNvPr id="17413" name="Text Box 7"/>
          <p:cNvSpPr txBox="1">
            <a:spLocks noChangeArrowheads="1"/>
          </p:cNvSpPr>
          <p:nvPr/>
        </p:nvSpPr>
        <p:spPr bwMode="auto">
          <a:xfrm>
            <a:off x="4343400" y="5638800"/>
            <a:ext cx="426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lang="en-US"/>
              <a:t>An interface cannot extends a class.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Example-3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435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052513"/>
            <a:ext cx="2895600" cy="507365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interface A</a:t>
            </a:r>
          </a:p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void meth1();</a:t>
            </a:r>
          </a:p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void meth2();</a:t>
            </a:r>
          </a:p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Font typeface="Wingdings" pitchFamily="2" charset="2"/>
              <a:buNone/>
            </a:pPr>
            <a:endParaRPr lang="en-US" sz="1600" dirty="0" smtClean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interface B extends A</a:t>
            </a:r>
          </a:p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void meth3();</a:t>
            </a:r>
          </a:p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18436" name="Content Placeholder 5"/>
          <p:cNvSpPr>
            <a:spLocks noGrp="1"/>
          </p:cNvSpPr>
          <p:nvPr>
            <p:ph sz="quarter" idx="2"/>
          </p:nvPr>
        </p:nvSpPr>
        <p:spPr>
          <a:xfrm>
            <a:off x="3505200" y="1066800"/>
            <a:ext cx="5029200" cy="51054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class test implements B</a:t>
            </a:r>
          </a:p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{        </a:t>
            </a:r>
          </a:p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public void meth1()</a:t>
            </a:r>
          </a:p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("Meth1");</a:t>
            </a:r>
          </a:p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public void meth2()</a:t>
            </a:r>
          </a:p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("Meth2");</a:t>
            </a:r>
          </a:p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public void meth3()</a:t>
            </a:r>
          </a:p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("Meth3");</a:t>
            </a:r>
          </a:p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en-US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Example-3</a:t>
            </a:r>
            <a:endParaRPr lang="en-US" sz="4400" dirty="0"/>
          </a:p>
        </p:txBody>
      </p:sp>
      <p:sp>
        <p:nvSpPr>
          <p:cNvPr id="19459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295400"/>
            <a:ext cx="8305800" cy="487362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class test_interface3</a:t>
            </a:r>
          </a:p>
          <a:p>
            <a:pPr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public static void main(String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pPr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	{</a:t>
            </a:r>
          </a:p>
          <a:p>
            <a:pPr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B ob=new test();</a:t>
            </a:r>
          </a:p>
          <a:p>
            <a:pPr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ob.meth1();</a:t>
            </a:r>
          </a:p>
          <a:p>
            <a:pPr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ob.meth2();</a:t>
            </a:r>
          </a:p>
          <a:p>
            <a:pPr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ob.meth3();</a:t>
            </a:r>
          </a:p>
          <a:p>
            <a:pPr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Font typeface="Wingdings" pitchFamily="2" charset="2"/>
              <a:buNone/>
            </a:pP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18488" cy="56515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Multiple Inheritance Using Interface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>
              <a:buFont typeface="Wingdings" pitchFamily="2" charset="2"/>
              <a:buChar char="ü"/>
            </a:pPr>
            <a:r>
              <a:rPr lang="en-US" smtClean="0">
                <a:latin typeface="Times New Roman" pitchFamily="18" charset="0"/>
              </a:rPr>
              <a:t>Java supports multiple inheritance through the use of interface.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mtClean="0">
                <a:latin typeface="Times New Roman" pitchFamily="18" charset="0"/>
              </a:rPr>
              <a:t>Care should be taken to avoid some conflicts.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Example-4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507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914400" y="1600200"/>
            <a:ext cx="3886200" cy="5257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000" smtClean="0">
                <a:latin typeface="Times New Roman" pitchFamily="18" charset="0"/>
              </a:rPr>
              <a:t>interface test1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smtClean="0">
                <a:latin typeface="Times New Roman" pitchFamily="18" charset="0"/>
              </a:rPr>
              <a:t>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smtClean="0">
                <a:latin typeface="Times New Roman" pitchFamily="18" charset="0"/>
              </a:rPr>
              <a:t>	int val=10;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smtClean="0">
                <a:latin typeface="Times New Roman" pitchFamily="18" charset="0"/>
              </a:rPr>
              <a:t>	void display();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smtClean="0">
                <a:latin typeface="Times New Roman" pitchFamily="18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smtClean="0">
                <a:latin typeface="Times New Roman" pitchFamily="18" charset="0"/>
              </a:rPr>
              <a:t>interface test2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smtClean="0">
                <a:latin typeface="Times New Roman" pitchFamily="18" charset="0"/>
              </a:rPr>
              <a:t>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smtClean="0">
                <a:latin typeface="Times New Roman" pitchFamily="18" charset="0"/>
              </a:rPr>
              <a:t>	int val=20;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smtClean="0">
                <a:latin typeface="Times New Roman" pitchFamily="18" charset="0"/>
              </a:rPr>
              <a:t>	void display();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smtClean="0">
                <a:latin typeface="Times New Roman" pitchFamily="18" charset="0"/>
              </a:rPr>
              <a:t>}</a:t>
            </a:r>
          </a:p>
        </p:txBody>
      </p:sp>
      <p:sp>
        <p:nvSpPr>
          <p:cNvPr id="21508" name="Rectangle 5"/>
          <p:cNvSpPr>
            <a:spLocks noGrp="1" noChangeArrowheads="1"/>
          </p:cNvSpPr>
          <p:nvPr>
            <p:ph sz="quarter" idx="2"/>
          </p:nvPr>
        </p:nvSpPr>
        <p:spPr>
          <a:xfrm>
            <a:off x="4270375" y="1600200"/>
            <a:ext cx="3657600" cy="4572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000" smtClean="0">
                <a:latin typeface="Times New Roman" pitchFamily="18" charset="0"/>
              </a:rPr>
              <a:t>class test3 implements test1, test2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smtClean="0">
                <a:latin typeface="Times New Roman" pitchFamily="18" charset="0"/>
              </a:rPr>
              <a:t>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smtClean="0">
                <a:latin typeface="Times New Roman" pitchFamily="18" charset="0"/>
              </a:rPr>
              <a:t>	public void display()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smtClean="0">
                <a:latin typeface="Times New Roman" pitchFamily="18" charset="0"/>
              </a:rPr>
              <a:t>	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smtClean="0">
                <a:latin typeface="Times New Roman" pitchFamily="18" charset="0"/>
              </a:rPr>
              <a:t>	System.out.println(“In test3”);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smtClean="0">
                <a:latin typeface="Times New Roman" pitchFamily="18" charset="0"/>
              </a:rPr>
              <a:t>	System.out.println(test1.val);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smtClean="0">
                <a:latin typeface="Times New Roman" pitchFamily="18" charset="0"/>
              </a:rPr>
              <a:t>	System.out.println(test2.val);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smtClean="0">
                <a:latin typeface="Times New Roman" pitchFamily="18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smtClean="0">
                <a:latin typeface="Times New Roman" pitchFamily="18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en-US" sz="2000" smtClean="0">
              <a:latin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Example-5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531" name="Rectangle 4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interface test1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	int val=10;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	void display();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interface test2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	int val=20;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	void display();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interface test3 extends test1, test2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	int val=50;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	void display();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1600" smtClean="0">
              <a:latin typeface="Times New Roman" pitchFamily="18" charset="0"/>
            </a:endParaRPr>
          </a:p>
        </p:txBody>
      </p:sp>
      <p:sp>
        <p:nvSpPr>
          <p:cNvPr id="22532" name="Rectangle 5"/>
          <p:cNvSpPr>
            <a:spLocks noGrp="1" noChangeArrowheads="1"/>
          </p:cNvSpPr>
          <p:nvPr>
            <p:ph sz="quarter" idx="2"/>
          </p:nvPr>
        </p:nvSpPr>
        <p:spPr>
          <a:xfrm>
            <a:off x="4876800" y="1600200"/>
            <a:ext cx="4267200" cy="5257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class test4 implements test3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	int val=57;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	public void display()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	System.out.println(test1.val);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	System.out.println(test2.val);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	System.out.println(test3.val);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	System.out.println(val);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16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}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public class Iface_test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public static void main(String args[])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	test3 ob = new test4();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	ob.display();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     System.out.println(ob.val);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}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Example-6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55" name="Rectangle 4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interface test1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	int val=33;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	void display();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class test2 implements test1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	int val=34;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	public void display()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	{	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	System.out.println(test1.val);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	System.out.println(val);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	}	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} </a:t>
            </a:r>
          </a:p>
        </p:txBody>
      </p:sp>
      <p:sp>
        <p:nvSpPr>
          <p:cNvPr id="23556" name="Rectangle 5"/>
          <p:cNvSpPr>
            <a:spLocks noGrp="1" noChangeArrowheads="1"/>
          </p:cNvSpPr>
          <p:nvPr>
            <p:ph sz="quarter" idx="2"/>
          </p:nvPr>
        </p:nvSpPr>
        <p:spPr>
          <a:xfrm>
            <a:off x="4876800" y="1600200"/>
            <a:ext cx="4267200" cy="4876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class test3 extends test2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	int val=35;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	void show()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	{	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	System.out.println(test1.val);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	System.out.println(super.val);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      System.out.println(val);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	}	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}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class test4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	public static void main(String args[])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	test3 ob = new test3();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	ob.show();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>
                <a:latin typeface="Times New Roman" pitchFamily="18" charset="0"/>
              </a:rPr>
              <a:t>}</a:t>
            </a:r>
            <a:endParaRPr lang="en-US" sz="180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399"/>
            <a:ext cx="8229600" cy="4495801"/>
          </a:xfrm>
        </p:spPr>
        <p:txBody>
          <a:bodyPr/>
          <a:lstStyle/>
          <a:p>
            <a:pPr>
              <a:buNone/>
            </a:pPr>
            <a:endParaRPr lang="en-US" sz="7200" noProof="1">
              <a:solidFill>
                <a:srgbClr val="024069"/>
              </a:solidFill>
            </a:endParaRPr>
          </a:p>
          <a:p>
            <a:pPr marL="0" indent="0" algn="ctr">
              <a:buNone/>
            </a:pPr>
            <a:r>
              <a:rPr lang="en-US" sz="7200" noProof="1" smtClean="0">
                <a:solidFill>
                  <a:srgbClr val="024069"/>
                </a:solidFill>
              </a:rPr>
              <a:t>Thank You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609600" y="533400"/>
            <a:ext cx="303213" cy="303213"/>
            <a:chOff x="703" y="300"/>
            <a:chExt cx="181" cy="181"/>
          </a:xfrm>
        </p:grpSpPr>
        <p:sp>
          <p:nvSpPr>
            <p:cNvPr id="4108" name="Freeform 12"/>
            <p:cNvSpPr>
              <a:spLocks/>
            </p:cNvSpPr>
            <p:nvPr/>
          </p:nvSpPr>
          <p:spPr bwMode="auto">
            <a:xfrm>
              <a:off x="736" y="300"/>
              <a:ext cx="81" cy="46"/>
            </a:xfrm>
            <a:custGeom>
              <a:avLst/>
              <a:gdLst/>
              <a:ahLst/>
              <a:cxnLst>
                <a:cxn ang="0">
                  <a:pos x="247" y="124"/>
                </a:cxn>
                <a:cxn ang="0">
                  <a:pos x="283" y="11"/>
                </a:cxn>
                <a:cxn ang="0">
                  <a:pos x="283" y="11"/>
                </a:cxn>
                <a:cxn ang="0">
                  <a:pos x="264" y="6"/>
                </a:cxn>
                <a:cxn ang="0">
                  <a:pos x="244" y="3"/>
                </a:cxn>
                <a:cxn ang="0">
                  <a:pos x="226" y="2"/>
                </a:cxn>
                <a:cxn ang="0">
                  <a:pos x="206" y="0"/>
                </a:cxn>
                <a:cxn ang="0">
                  <a:pos x="187" y="0"/>
                </a:cxn>
                <a:cxn ang="0">
                  <a:pos x="169" y="2"/>
                </a:cxn>
                <a:cxn ang="0">
                  <a:pos x="150" y="4"/>
                </a:cxn>
                <a:cxn ang="0">
                  <a:pos x="131" y="7"/>
                </a:cxn>
                <a:cxn ang="0">
                  <a:pos x="114" y="12"/>
                </a:cxn>
                <a:cxn ang="0">
                  <a:pos x="97" y="18"/>
                </a:cxn>
                <a:cxn ang="0">
                  <a:pos x="79" y="24"/>
                </a:cxn>
                <a:cxn ang="0">
                  <a:pos x="62" y="32"/>
                </a:cxn>
                <a:cxn ang="0">
                  <a:pos x="45" y="40"/>
                </a:cxn>
                <a:cxn ang="0">
                  <a:pos x="29" y="49"/>
                </a:cxn>
                <a:cxn ang="0">
                  <a:pos x="14" y="60"/>
                </a:cxn>
                <a:cxn ang="0">
                  <a:pos x="0" y="71"/>
                </a:cxn>
                <a:cxn ang="0">
                  <a:pos x="79" y="160"/>
                </a:cxn>
                <a:cxn ang="0">
                  <a:pos x="79" y="160"/>
                </a:cxn>
                <a:cxn ang="0">
                  <a:pos x="97" y="147"/>
                </a:cxn>
                <a:cxn ang="0">
                  <a:pos x="116" y="136"/>
                </a:cxn>
                <a:cxn ang="0">
                  <a:pos x="136" y="128"/>
                </a:cxn>
                <a:cxn ang="0">
                  <a:pos x="157" y="123"/>
                </a:cxn>
                <a:cxn ang="0">
                  <a:pos x="179" y="119"/>
                </a:cxn>
                <a:cxn ang="0">
                  <a:pos x="201" y="118"/>
                </a:cxn>
                <a:cxn ang="0">
                  <a:pos x="223" y="120"/>
                </a:cxn>
                <a:cxn ang="0">
                  <a:pos x="247" y="124"/>
                </a:cxn>
                <a:cxn ang="0">
                  <a:pos x="247" y="124"/>
                </a:cxn>
              </a:cxnLst>
              <a:rect l="0" t="0" r="r" b="b"/>
              <a:pathLst>
                <a:path w="283" h="160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09" name="Freeform 13"/>
            <p:cNvSpPr>
              <a:spLocks/>
            </p:cNvSpPr>
            <p:nvPr/>
          </p:nvSpPr>
          <p:spPr bwMode="auto">
            <a:xfrm>
              <a:off x="835" y="376"/>
              <a:ext cx="49" cy="79"/>
            </a:xfrm>
            <a:custGeom>
              <a:avLst/>
              <a:gdLst/>
              <a:ahLst/>
              <a:cxnLst>
                <a:cxn ang="0">
                  <a:pos x="44" y="113"/>
                </a:cxn>
                <a:cxn ang="0">
                  <a:pos x="44" y="113"/>
                </a:cxn>
                <a:cxn ang="0">
                  <a:pos x="36" y="134"/>
                </a:cxn>
                <a:cxn ang="0">
                  <a:pos x="26" y="154"/>
                </a:cxn>
                <a:cxn ang="0">
                  <a:pos x="14" y="171"/>
                </a:cxn>
                <a:cxn ang="0">
                  <a:pos x="0" y="188"/>
                </a:cxn>
                <a:cxn ang="0">
                  <a:pos x="79" y="276"/>
                </a:cxn>
                <a:cxn ang="0">
                  <a:pos x="79" y="276"/>
                </a:cxn>
                <a:cxn ang="0">
                  <a:pos x="92" y="263"/>
                </a:cxn>
                <a:cxn ang="0">
                  <a:pos x="104" y="249"/>
                </a:cxn>
                <a:cxn ang="0">
                  <a:pos x="115" y="234"/>
                </a:cxn>
                <a:cxn ang="0">
                  <a:pos x="125" y="219"/>
                </a:cxn>
                <a:cxn ang="0">
                  <a:pos x="135" y="203"/>
                </a:cxn>
                <a:cxn ang="0">
                  <a:pos x="143" y="185"/>
                </a:cxn>
                <a:cxn ang="0">
                  <a:pos x="150" y="168"/>
                </a:cxn>
                <a:cxn ang="0">
                  <a:pos x="157" y="149"/>
                </a:cxn>
                <a:cxn ang="0">
                  <a:pos x="157" y="149"/>
                </a:cxn>
                <a:cxn ang="0">
                  <a:pos x="163" y="131"/>
                </a:cxn>
                <a:cxn ang="0">
                  <a:pos x="166" y="112"/>
                </a:cxn>
                <a:cxn ang="0">
                  <a:pos x="170" y="93"/>
                </a:cxn>
                <a:cxn ang="0">
                  <a:pos x="172" y="75"/>
                </a:cxn>
                <a:cxn ang="0">
                  <a:pos x="172" y="56"/>
                </a:cxn>
                <a:cxn ang="0">
                  <a:pos x="172" y="38"/>
                </a:cxn>
                <a:cxn ang="0">
                  <a:pos x="171" y="19"/>
                </a:cxn>
                <a:cxn ang="0">
                  <a:pos x="169" y="0"/>
                </a:cxn>
                <a:cxn ang="0">
                  <a:pos x="52" y="26"/>
                </a:cxn>
                <a:cxn ang="0">
                  <a:pos x="52" y="26"/>
                </a:cxn>
                <a:cxn ang="0">
                  <a:pos x="54" y="47"/>
                </a:cxn>
                <a:cxn ang="0">
                  <a:pos x="54" y="69"/>
                </a:cxn>
                <a:cxn ang="0">
                  <a:pos x="50" y="91"/>
                </a:cxn>
                <a:cxn ang="0">
                  <a:pos x="44" y="113"/>
                </a:cxn>
                <a:cxn ang="0">
                  <a:pos x="44" y="113"/>
                </a:cxn>
              </a:cxnLst>
              <a:rect l="0" t="0" r="r" b="b"/>
              <a:pathLst>
                <a:path w="172" h="276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0" name="Freeform 14"/>
            <p:cNvSpPr>
              <a:spLocks/>
            </p:cNvSpPr>
            <p:nvPr/>
          </p:nvSpPr>
          <p:spPr bwMode="auto">
            <a:xfrm>
              <a:off x="703" y="326"/>
              <a:ext cx="50" cy="79"/>
            </a:xfrm>
            <a:custGeom>
              <a:avLst/>
              <a:gdLst/>
              <a:ahLst/>
              <a:cxnLst>
                <a:cxn ang="0">
                  <a:pos x="128" y="163"/>
                </a:cxn>
                <a:cxn ang="0">
                  <a:pos x="128" y="163"/>
                </a:cxn>
                <a:cxn ang="0">
                  <a:pos x="136" y="142"/>
                </a:cxn>
                <a:cxn ang="0">
                  <a:pos x="146" y="122"/>
                </a:cxn>
                <a:cxn ang="0">
                  <a:pos x="159" y="105"/>
                </a:cxn>
                <a:cxn ang="0">
                  <a:pos x="173" y="89"/>
                </a:cxn>
                <a:cxn ang="0">
                  <a:pos x="94" y="0"/>
                </a:cxn>
                <a:cxn ang="0">
                  <a:pos x="94" y="0"/>
                </a:cxn>
                <a:cxn ang="0">
                  <a:pos x="81" y="13"/>
                </a:cxn>
                <a:cxn ang="0">
                  <a:pos x="69" y="27"/>
                </a:cxn>
                <a:cxn ang="0">
                  <a:pos x="58" y="42"/>
                </a:cxn>
                <a:cxn ang="0">
                  <a:pos x="47" y="57"/>
                </a:cxn>
                <a:cxn ang="0">
                  <a:pos x="38" y="74"/>
                </a:cxn>
                <a:cxn ang="0">
                  <a:pos x="30" y="91"/>
                </a:cxn>
                <a:cxn ang="0">
                  <a:pos x="22" y="108"/>
                </a:cxn>
                <a:cxn ang="0">
                  <a:pos x="16" y="127"/>
                </a:cxn>
                <a:cxn ang="0">
                  <a:pos x="16" y="127"/>
                </a:cxn>
                <a:cxn ang="0">
                  <a:pos x="10" y="146"/>
                </a:cxn>
                <a:cxn ang="0">
                  <a:pos x="6" y="164"/>
                </a:cxn>
                <a:cxn ang="0">
                  <a:pos x="3" y="183"/>
                </a:cxn>
                <a:cxn ang="0">
                  <a:pos x="1" y="201"/>
                </a:cxn>
                <a:cxn ang="0">
                  <a:pos x="0" y="220"/>
                </a:cxn>
                <a:cxn ang="0">
                  <a:pos x="1" y="239"/>
                </a:cxn>
                <a:cxn ang="0">
                  <a:pos x="2" y="257"/>
                </a:cxn>
                <a:cxn ang="0">
                  <a:pos x="4" y="276"/>
                </a:cxn>
                <a:cxn ang="0">
                  <a:pos x="121" y="250"/>
                </a:cxn>
                <a:cxn ang="0">
                  <a:pos x="121" y="250"/>
                </a:cxn>
                <a:cxn ang="0">
                  <a:pos x="118" y="229"/>
                </a:cxn>
                <a:cxn ang="0">
                  <a:pos x="119" y="207"/>
                </a:cxn>
                <a:cxn ang="0">
                  <a:pos x="122" y="185"/>
                </a:cxn>
                <a:cxn ang="0">
                  <a:pos x="128" y="163"/>
                </a:cxn>
                <a:cxn ang="0">
                  <a:pos x="128" y="163"/>
                </a:cxn>
              </a:cxnLst>
              <a:rect l="0" t="0" r="r" b="b"/>
              <a:pathLst>
                <a:path w="173" h="276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1" name="Freeform 15"/>
            <p:cNvSpPr>
              <a:spLocks/>
            </p:cNvSpPr>
            <p:nvPr/>
          </p:nvSpPr>
          <p:spPr bwMode="auto">
            <a:xfrm>
              <a:off x="706" y="407"/>
              <a:ext cx="66" cy="68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5" y="41"/>
                </a:cxn>
                <a:cxn ang="0">
                  <a:pos x="11" y="59"/>
                </a:cxn>
                <a:cxn ang="0">
                  <a:pos x="19" y="76"/>
                </a:cxn>
                <a:cxn ang="0">
                  <a:pos x="27" y="93"/>
                </a:cxn>
                <a:cxn ang="0">
                  <a:pos x="36" y="109"/>
                </a:cxn>
                <a:cxn ang="0">
                  <a:pos x="47" y="124"/>
                </a:cxn>
                <a:cxn ang="0">
                  <a:pos x="57" y="139"/>
                </a:cxn>
                <a:cxn ang="0">
                  <a:pos x="69" y="153"/>
                </a:cxn>
                <a:cxn ang="0">
                  <a:pos x="82" y="167"/>
                </a:cxn>
                <a:cxn ang="0">
                  <a:pos x="96" y="180"/>
                </a:cxn>
                <a:cxn ang="0">
                  <a:pos x="110" y="191"/>
                </a:cxn>
                <a:cxn ang="0">
                  <a:pos x="126" y="203"/>
                </a:cxn>
                <a:cxn ang="0">
                  <a:pos x="141" y="213"/>
                </a:cxn>
                <a:cxn ang="0">
                  <a:pos x="158" y="223"/>
                </a:cxn>
                <a:cxn ang="0">
                  <a:pos x="176" y="231"/>
                </a:cxn>
                <a:cxn ang="0">
                  <a:pos x="193" y="239"/>
                </a:cxn>
                <a:cxn ang="0">
                  <a:pos x="230" y="126"/>
                </a:cxn>
                <a:cxn ang="0">
                  <a:pos x="230" y="126"/>
                </a:cxn>
                <a:cxn ang="0">
                  <a:pos x="210" y="116"/>
                </a:cxn>
                <a:cxn ang="0">
                  <a:pos x="191" y="104"/>
                </a:cxn>
                <a:cxn ang="0">
                  <a:pos x="174" y="90"/>
                </a:cxn>
                <a:cxn ang="0">
                  <a:pos x="157" y="75"/>
                </a:cxn>
                <a:cxn ang="0">
                  <a:pos x="144" y="58"/>
                </a:cxn>
                <a:cxn ang="0">
                  <a:pos x="133" y="39"/>
                </a:cxn>
                <a:cxn ang="0">
                  <a:pos x="122" y="19"/>
                </a:cxn>
                <a:cxn ang="0">
                  <a:pos x="115" y="0"/>
                </a:cxn>
                <a:cxn ang="0">
                  <a:pos x="115" y="0"/>
                </a:cxn>
              </a:cxnLst>
              <a:rect l="0" t="0" r="r" b="b"/>
              <a:pathLst>
                <a:path w="230" h="239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2" name="Freeform 16"/>
            <p:cNvSpPr>
              <a:spLocks/>
            </p:cNvSpPr>
            <p:nvPr/>
          </p:nvSpPr>
          <p:spPr bwMode="auto">
            <a:xfrm>
              <a:off x="815" y="306"/>
              <a:ext cx="66" cy="69"/>
            </a:xfrm>
            <a:custGeom>
              <a:avLst/>
              <a:gdLst/>
              <a:ahLst/>
              <a:cxnLst>
                <a:cxn ang="0">
                  <a:pos x="113" y="240"/>
                </a:cxn>
                <a:cxn ang="0">
                  <a:pos x="230" y="214"/>
                </a:cxn>
                <a:cxn ang="0">
                  <a:pos x="230" y="214"/>
                </a:cxn>
                <a:cxn ang="0">
                  <a:pos x="225" y="197"/>
                </a:cxn>
                <a:cxn ang="0">
                  <a:pos x="218" y="179"/>
                </a:cxn>
                <a:cxn ang="0">
                  <a:pos x="211" y="162"/>
                </a:cxn>
                <a:cxn ang="0">
                  <a:pos x="203" y="146"/>
                </a:cxn>
                <a:cxn ang="0">
                  <a:pos x="194" y="129"/>
                </a:cxn>
                <a:cxn ang="0">
                  <a:pos x="183" y="114"/>
                </a:cxn>
                <a:cxn ang="0">
                  <a:pos x="173" y="99"/>
                </a:cxn>
                <a:cxn ang="0">
                  <a:pos x="160" y="85"/>
                </a:cxn>
                <a:cxn ang="0">
                  <a:pos x="147" y="71"/>
                </a:cxn>
                <a:cxn ang="0">
                  <a:pos x="134" y="58"/>
                </a:cxn>
                <a:cxn ang="0">
                  <a:pos x="119" y="47"/>
                </a:cxn>
                <a:cxn ang="0">
                  <a:pos x="104" y="35"/>
                </a:cxn>
                <a:cxn ang="0">
                  <a:pos x="88" y="25"/>
                </a:cxn>
                <a:cxn ang="0">
                  <a:pos x="72" y="15"/>
                </a:cxn>
                <a:cxn ang="0">
                  <a:pos x="54" y="7"/>
                </a:cxn>
                <a:cxn ang="0">
                  <a:pos x="36" y="0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20" y="122"/>
                </a:cxn>
                <a:cxn ang="0">
                  <a:pos x="39" y="134"/>
                </a:cxn>
                <a:cxn ang="0">
                  <a:pos x="57" y="148"/>
                </a:cxn>
                <a:cxn ang="0">
                  <a:pos x="72" y="164"/>
                </a:cxn>
                <a:cxn ang="0">
                  <a:pos x="86" y="181"/>
                </a:cxn>
                <a:cxn ang="0">
                  <a:pos x="97" y="199"/>
                </a:cxn>
                <a:cxn ang="0">
                  <a:pos x="106" y="219"/>
                </a:cxn>
                <a:cxn ang="0">
                  <a:pos x="113" y="240"/>
                </a:cxn>
                <a:cxn ang="0">
                  <a:pos x="113" y="240"/>
                </a:cxn>
              </a:cxnLst>
              <a:rect l="0" t="0" r="r" b="b"/>
              <a:pathLst>
                <a:path w="230" h="24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auto">
            <a:xfrm>
              <a:off x="770" y="435"/>
              <a:ext cx="81" cy="46"/>
            </a:xfrm>
            <a:custGeom>
              <a:avLst/>
              <a:gdLst/>
              <a:ahLst/>
              <a:cxnLst>
                <a:cxn ang="0">
                  <a:pos x="37" y="36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19" y="153"/>
                </a:cxn>
                <a:cxn ang="0">
                  <a:pos x="38" y="156"/>
                </a:cxn>
                <a:cxn ang="0">
                  <a:pos x="57" y="158"/>
                </a:cxn>
                <a:cxn ang="0">
                  <a:pos x="76" y="159"/>
                </a:cxn>
                <a:cxn ang="0">
                  <a:pos x="96" y="159"/>
                </a:cxn>
                <a:cxn ang="0">
                  <a:pos x="114" y="158"/>
                </a:cxn>
                <a:cxn ang="0">
                  <a:pos x="133" y="155"/>
                </a:cxn>
                <a:cxn ang="0">
                  <a:pos x="150" y="152"/>
                </a:cxn>
                <a:cxn ang="0">
                  <a:pos x="169" y="147"/>
                </a:cxn>
                <a:cxn ang="0">
                  <a:pos x="186" y="141"/>
                </a:cxn>
                <a:cxn ang="0">
                  <a:pos x="204" y="136"/>
                </a:cxn>
                <a:cxn ang="0">
                  <a:pos x="220" y="127"/>
                </a:cxn>
                <a:cxn ang="0">
                  <a:pos x="238" y="119"/>
                </a:cxn>
                <a:cxn ang="0">
                  <a:pos x="253" y="110"/>
                </a:cxn>
                <a:cxn ang="0">
                  <a:pos x="268" y="99"/>
                </a:cxn>
                <a:cxn ang="0">
                  <a:pos x="283" y="88"/>
                </a:cxn>
                <a:cxn ang="0">
                  <a:pos x="204" y="0"/>
                </a:cxn>
                <a:cxn ang="0">
                  <a:pos x="204" y="0"/>
                </a:cxn>
                <a:cxn ang="0">
                  <a:pos x="185" y="12"/>
                </a:cxn>
                <a:cxn ang="0">
                  <a:pos x="167" y="23"/>
                </a:cxn>
                <a:cxn ang="0">
                  <a:pos x="146" y="31"/>
                </a:cxn>
                <a:cxn ang="0">
                  <a:pos x="125" y="37"/>
                </a:cxn>
                <a:cxn ang="0">
                  <a:pos x="104" y="40"/>
                </a:cxn>
                <a:cxn ang="0">
                  <a:pos x="82" y="41"/>
                </a:cxn>
                <a:cxn ang="0">
                  <a:pos x="59" y="39"/>
                </a:cxn>
                <a:cxn ang="0">
                  <a:pos x="37" y="36"/>
                </a:cxn>
                <a:cxn ang="0">
                  <a:pos x="37" y="36"/>
                </a:cxn>
              </a:cxnLst>
              <a:rect l="0" t="0" r="r" b="b"/>
              <a:pathLst>
                <a:path w="283" h="159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8494713" y="5792788"/>
            <a:ext cx="554037" cy="552450"/>
            <a:chOff x="5369" y="3667"/>
            <a:chExt cx="349" cy="348"/>
          </a:xfrm>
        </p:grpSpPr>
        <p:sp>
          <p:nvSpPr>
            <p:cNvPr id="4125" name="Freeform 29"/>
            <p:cNvSpPr>
              <a:spLocks/>
            </p:cNvSpPr>
            <p:nvPr/>
          </p:nvSpPr>
          <p:spPr bwMode="auto">
            <a:xfrm>
              <a:off x="5396" y="3667"/>
              <a:ext cx="138" cy="112"/>
            </a:xfrm>
            <a:custGeom>
              <a:avLst/>
              <a:gdLst/>
              <a:ahLst/>
              <a:cxnLst>
                <a:cxn ang="0">
                  <a:pos x="182" y="86"/>
                </a:cxn>
                <a:cxn ang="0">
                  <a:pos x="182" y="0"/>
                </a:cxn>
                <a:cxn ang="0">
                  <a:pos x="182" y="0"/>
                </a:cxn>
                <a:cxn ang="0">
                  <a:pos x="154" y="2"/>
                </a:cxn>
                <a:cxn ang="0">
                  <a:pos x="128" y="10"/>
                </a:cxn>
                <a:cxn ang="0">
                  <a:pos x="102" y="18"/>
                </a:cxn>
                <a:cxn ang="0">
                  <a:pos x="78" y="30"/>
                </a:cxn>
                <a:cxn ang="0">
                  <a:pos x="56" y="46"/>
                </a:cxn>
                <a:cxn ang="0">
                  <a:pos x="36" y="64"/>
                </a:cxn>
                <a:cxn ang="0">
                  <a:pos x="16" y="82"/>
                </a:cxn>
                <a:cxn ang="0">
                  <a:pos x="0" y="104"/>
                </a:cxn>
                <a:cxn ang="0">
                  <a:pos x="76" y="148"/>
                </a:cxn>
                <a:cxn ang="0">
                  <a:pos x="76" y="148"/>
                </a:cxn>
                <a:cxn ang="0">
                  <a:pos x="86" y="136"/>
                </a:cxn>
                <a:cxn ang="0">
                  <a:pos x="96" y="124"/>
                </a:cxn>
                <a:cxn ang="0">
                  <a:pos x="108" y="114"/>
                </a:cxn>
                <a:cxn ang="0">
                  <a:pos x="122" y="104"/>
                </a:cxn>
                <a:cxn ang="0">
                  <a:pos x="136" y="98"/>
                </a:cxn>
                <a:cxn ang="0">
                  <a:pos x="150" y="92"/>
                </a:cxn>
                <a:cxn ang="0">
                  <a:pos x="166" y="88"/>
                </a:cxn>
                <a:cxn ang="0">
                  <a:pos x="182" y="86"/>
                </a:cxn>
                <a:cxn ang="0">
                  <a:pos x="182" y="86"/>
                </a:cxn>
              </a:cxnLst>
              <a:rect l="0" t="0" r="r" b="b"/>
              <a:pathLst>
                <a:path w="182" h="148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auto">
            <a:xfrm>
              <a:off x="5642" y="3761"/>
              <a:ext cx="76" cy="160"/>
            </a:xfrm>
            <a:custGeom>
              <a:avLst/>
              <a:gdLst/>
              <a:ahLst/>
              <a:cxnLst>
                <a:cxn ang="0">
                  <a:pos x="14" y="106"/>
                </a:cxn>
                <a:cxn ang="0">
                  <a:pos x="14" y="106"/>
                </a:cxn>
                <a:cxn ang="0">
                  <a:pos x="14" y="122"/>
                </a:cxn>
                <a:cxn ang="0">
                  <a:pos x="10" y="138"/>
                </a:cxn>
                <a:cxn ang="0">
                  <a:pos x="6" y="152"/>
                </a:cxn>
                <a:cxn ang="0">
                  <a:pos x="0" y="168"/>
                </a:cxn>
                <a:cxn ang="0">
                  <a:pos x="74" y="210"/>
                </a:cxn>
                <a:cxn ang="0">
                  <a:pos x="74" y="210"/>
                </a:cxn>
                <a:cxn ang="0">
                  <a:pos x="86" y="186"/>
                </a:cxn>
                <a:cxn ang="0">
                  <a:pos x="94" y="160"/>
                </a:cxn>
                <a:cxn ang="0">
                  <a:pos x="98" y="134"/>
                </a:cxn>
                <a:cxn ang="0">
                  <a:pos x="100" y="106"/>
                </a:cxn>
                <a:cxn ang="0">
                  <a:pos x="100" y="106"/>
                </a:cxn>
                <a:cxn ang="0">
                  <a:pos x="98" y="78"/>
                </a:cxn>
                <a:cxn ang="0">
                  <a:pos x="94" y="50"/>
                </a:cxn>
                <a:cxn ang="0">
                  <a:pos x="86" y="24"/>
                </a:cxn>
                <a:cxn ang="0">
                  <a:pos x="74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6" y="58"/>
                </a:cxn>
                <a:cxn ang="0">
                  <a:pos x="10" y="72"/>
                </a:cxn>
                <a:cxn ang="0">
                  <a:pos x="14" y="88"/>
                </a:cxn>
                <a:cxn ang="0">
                  <a:pos x="14" y="106"/>
                </a:cxn>
                <a:cxn ang="0">
                  <a:pos x="14" y="106"/>
                </a:cxn>
              </a:cxnLst>
              <a:rect l="0" t="0" r="r" b="b"/>
              <a:pathLst>
                <a:path w="100" h="21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auto">
            <a:xfrm>
              <a:off x="5369" y="3761"/>
              <a:ext cx="76" cy="160"/>
            </a:xfrm>
            <a:custGeom>
              <a:avLst/>
              <a:gdLst/>
              <a:ahLst/>
              <a:cxnLst>
                <a:cxn ang="0">
                  <a:pos x="86" y="106"/>
                </a:cxn>
                <a:cxn ang="0">
                  <a:pos x="86" y="106"/>
                </a:cxn>
                <a:cxn ang="0">
                  <a:pos x="86" y="88"/>
                </a:cxn>
                <a:cxn ang="0">
                  <a:pos x="90" y="72"/>
                </a:cxn>
                <a:cxn ang="0">
                  <a:pos x="94" y="58"/>
                </a:cxn>
                <a:cxn ang="0">
                  <a:pos x="100" y="44"/>
                </a:cxn>
                <a:cxn ang="0">
                  <a:pos x="26" y="0"/>
                </a:cxn>
                <a:cxn ang="0">
                  <a:pos x="26" y="0"/>
                </a:cxn>
                <a:cxn ang="0">
                  <a:pos x="14" y="24"/>
                </a:cxn>
                <a:cxn ang="0">
                  <a:pos x="6" y="50"/>
                </a:cxn>
                <a:cxn ang="0">
                  <a:pos x="2" y="78"/>
                </a:cxn>
                <a:cxn ang="0">
                  <a:pos x="0" y="106"/>
                </a:cxn>
                <a:cxn ang="0">
                  <a:pos x="0" y="106"/>
                </a:cxn>
                <a:cxn ang="0">
                  <a:pos x="2" y="134"/>
                </a:cxn>
                <a:cxn ang="0">
                  <a:pos x="6" y="160"/>
                </a:cxn>
                <a:cxn ang="0">
                  <a:pos x="14" y="186"/>
                </a:cxn>
                <a:cxn ang="0">
                  <a:pos x="26" y="210"/>
                </a:cxn>
                <a:cxn ang="0">
                  <a:pos x="100" y="168"/>
                </a:cxn>
                <a:cxn ang="0">
                  <a:pos x="100" y="168"/>
                </a:cxn>
                <a:cxn ang="0">
                  <a:pos x="94" y="152"/>
                </a:cxn>
                <a:cxn ang="0">
                  <a:pos x="90" y="138"/>
                </a:cxn>
                <a:cxn ang="0">
                  <a:pos x="86" y="122"/>
                </a:cxn>
                <a:cxn ang="0">
                  <a:pos x="86" y="106"/>
                </a:cxn>
                <a:cxn ang="0">
                  <a:pos x="86" y="106"/>
                </a:cxn>
              </a:cxnLst>
              <a:rect l="0" t="0" r="r" b="b"/>
              <a:pathLst>
                <a:path w="100" h="21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auto">
            <a:xfrm>
              <a:off x="5396" y="3902"/>
              <a:ext cx="138" cy="113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16" y="66"/>
                </a:cxn>
                <a:cxn ang="0">
                  <a:pos x="36" y="84"/>
                </a:cxn>
                <a:cxn ang="0">
                  <a:pos x="56" y="102"/>
                </a:cxn>
                <a:cxn ang="0">
                  <a:pos x="78" y="118"/>
                </a:cxn>
                <a:cxn ang="0">
                  <a:pos x="102" y="130"/>
                </a:cxn>
                <a:cxn ang="0">
                  <a:pos x="128" y="138"/>
                </a:cxn>
                <a:cxn ang="0">
                  <a:pos x="154" y="146"/>
                </a:cxn>
                <a:cxn ang="0">
                  <a:pos x="182" y="148"/>
                </a:cxn>
                <a:cxn ang="0">
                  <a:pos x="182" y="62"/>
                </a:cxn>
                <a:cxn ang="0">
                  <a:pos x="182" y="62"/>
                </a:cxn>
                <a:cxn ang="0">
                  <a:pos x="166" y="60"/>
                </a:cxn>
                <a:cxn ang="0">
                  <a:pos x="150" y="56"/>
                </a:cxn>
                <a:cxn ang="0">
                  <a:pos x="136" y="50"/>
                </a:cxn>
                <a:cxn ang="0">
                  <a:pos x="122" y="44"/>
                </a:cxn>
                <a:cxn ang="0">
                  <a:pos x="108" y="34"/>
                </a:cxn>
                <a:cxn ang="0">
                  <a:pos x="96" y="24"/>
                </a:cxn>
                <a:cxn ang="0">
                  <a:pos x="86" y="14"/>
                </a:cxn>
                <a:cxn ang="0">
                  <a:pos x="76" y="0"/>
                </a:cxn>
                <a:cxn ang="0">
                  <a:pos x="76" y="0"/>
                </a:cxn>
              </a:cxnLst>
              <a:rect l="0" t="0" r="r" b="b"/>
              <a:pathLst>
                <a:path w="182" h="148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auto">
            <a:xfrm>
              <a:off x="5553" y="3667"/>
              <a:ext cx="138" cy="112"/>
            </a:xfrm>
            <a:custGeom>
              <a:avLst/>
              <a:gdLst/>
              <a:ahLst/>
              <a:cxnLst>
                <a:cxn ang="0">
                  <a:pos x="106" y="148"/>
                </a:cxn>
                <a:cxn ang="0">
                  <a:pos x="182" y="104"/>
                </a:cxn>
                <a:cxn ang="0">
                  <a:pos x="182" y="104"/>
                </a:cxn>
                <a:cxn ang="0">
                  <a:pos x="166" y="82"/>
                </a:cxn>
                <a:cxn ang="0">
                  <a:pos x="148" y="64"/>
                </a:cxn>
                <a:cxn ang="0">
                  <a:pos x="126" y="46"/>
                </a:cxn>
                <a:cxn ang="0">
                  <a:pos x="104" y="30"/>
                </a:cxn>
                <a:cxn ang="0">
                  <a:pos x="80" y="18"/>
                </a:cxn>
                <a:cxn ang="0">
                  <a:pos x="54" y="10"/>
                </a:cxn>
                <a:cxn ang="0">
                  <a:pos x="28" y="2"/>
                </a:cxn>
                <a:cxn ang="0">
                  <a:pos x="0" y="0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16" y="88"/>
                </a:cxn>
                <a:cxn ang="0">
                  <a:pos x="32" y="92"/>
                </a:cxn>
                <a:cxn ang="0">
                  <a:pos x="46" y="98"/>
                </a:cxn>
                <a:cxn ang="0">
                  <a:pos x="60" y="104"/>
                </a:cxn>
                <a:cxn ang="0">
                  <a:pos x="74" y="114"/>
                </a:cxn>
                <a:cxn ang="0">
                  <a:pos x="86" y="124"/>
                </a:cxn>
                <a:cxn ang="0">
                  <a:pos x="98" y="136"/>
                </a:cxn>
                <a:cxn ang="0">
                  <a:pos x="106" y="148"/>
                </a:cxn>
                <a:cxn ang="0">
                  <a:pos x="106" y="148"/>
                </a:cxn>
              </a:cxnLst>
              <a:rect l="0" t="0" r="r" b="b"/>
              <a:pathLst>
                <a:path w="182" h="148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auto">
            <a:xfrm>
              <a:off x="5553" y="3902"/>
              <a:ext cx="138" cy="113"/>
            </a:xfrm>
            <a:custGeom>
              <a:avLst/>
              <a:gdLst/>
              <a:ahLst/>
              <a:cxnLst>
                <a:cxn ang="0">
                  <a:pos x="0" y="62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28" y="146"/>
                </a:cxn>
                <a:cxn ang="0">
                  <a:pos x="54" y="138"/>
                </a:cxn>
                <a:cxn ang="0">
                  <a:pos x="80" y="130"/>
                </a:cxn>
                <a:cxn ang="0">
                  <a:pos x="104" y="118"/>
                </a:cxn>
                <a:cxn ang="0">
                  <a:pos x="126" y="102"/>
                </a:cxn>
                <a:cxn ang="0">
                  <a:pos x="148" y="84"/>
                </a:cxn>
                <a:cxn ang="0">
                  <a:pos x="166" y="66"/>
                </a:cxn>
                <a:cxn ang="0">
                  <a:pos x="182" y="44"/>
                </a:cxn>
                <a:cxn ang="0">
                  <a:pos x="106" y="0"/>
                </a:cxn>
                <a:cxn ang="0">
                  <a:pos x="106" y="0"/>
                </a:cxn>
                <a:cxn ang="0">
                  <a:pos x="98" y="14"/>
                </a:cxn>
                <a:cxn ang="0">
                  <a:pos x="86" y="24"/>
                </a:cxn>
                <a:cxn ang="0">
                  <a:pos x="74" y="34"/>
                </a:cxn>
                <a:cxn ang="0">
                  <a:pos x="60" y="44"/>
                </a:cxn>
                <a:cxn ang="0">
                  <a:pos x="46" y="50"/>
                </a:cxn>
                <a:cxn ang="0">
                  <a:pos x="32" y="56"/>
                </a:cxn>
                <a:cxn ang="0">
                  <a:pos x="16" y="60"/>
                </a:cxn>
                <a:cxn ang="0">
                  <a:pos x="0" y="62"/>
                </a:cxn>
                <a:cxn ang="0">
                  <a:pos x="0" y="62"/>
                </a:cxn>
              </a:cxnLst>
              <a:rect l="0" t="0" r="r" b="b"/>
              <a:pathLst>
                <a:path w="182" h="148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8113713" y="6221413"/>
            <a:ext cx="554037" cy="552450"/>
            <a:chOff x="5129" y="3937"/>
            <a:chExt cx="349" cy="348"/>
          </a:xfrm>
        </p:grpSpPr>
        <p:sp>
          <p:nvSpPr>
            <p:cNvPr id="4132" name="Freeform 36"/>
            <p:cNvSpPr>
              <a:spLocks/>
            </p:cNvSpPr>
            <p:nvPr/>
          </p:nvSpPr>
          <p:spPr bwMode="auto">
            <a:xfrm>
              <a:off x="5193" y="3937"/>
              <a:ext cx="156" cy="87"/>
            </a:xfrm>
            <a:custGeom>
              <a:avLst/>
              <a:gdLst/>
              <a:ahLst/>
              <a:cxnLst>
                <a:cxn ang="0">
                  <a:pos x="180" y="88"/>
                </a:cxn>
                <a:cxn ang="0">
                  <a:pos x="206" y="8"/>
                </a:cxn>
                <a:cxn ang="0">
                  <a:pos x="206" y="8"/>
                </a:cxn>
                <a:cxn ang="0">
                  <a:pos x="178" y="2"/>
                </a:cxn>
                <a:cxn ang="0">
                  <a:pos x="150" y="0"/>
                </a:cxn>
                <a:cxn ang="0">
                  <a:pos x="124" y="0"/>
                </a:cxn>
                <a:cxn ang="0">
                  <a:pos x="96" y="4"/>
                </a:cxn>
                <a:cxn ang="0">
                  <a:pos x="70" y="12"/>
                </a:cxn>
                <a:cxn ang="0">
                  <a:pos x="46" y="22"/>
                </a:cxn>
                <a:cxn ang="0">
                  <a:pos x="22" y="36"/>
                </a:cxn>
                <a:cxn ang="0">
                  <a:pos x="0" y="50"/>
                </a:cxn>
                <a:cxn ang="0">
                  <a:pos x="58" y="114"/>
                </a:cxn>
                <a:cxn ang="0">
                  <a:pos x="58" y="114"/>
                </a:cxn>
                <a:cxn ang="0">
                  <a:pos x="72" y="106"/>
                </a:cxn>
                <a:cxn ang="0">
                  <a:pos x="86" y="98"/>
                </a:cxn>
                <a:cxn ang="0">
                  <a:pos x="100" y="92"/>
                </a:cxn>
                <a:cxn ang="0">
                  <a:pos x="116" y="88"/>
                </a:cxn>
                <a:cxn ang="0">
                  <a:pos x="130" y="86"/>
                </a:cxn>
                <a:cxn ang="0">
                  <a:pos x="146" y="84"/>
                </a:cxn>
                <a:cxn ang="0">
                  <a:pos x="164" y="86"/>
                </a:cxn>
                <a:cxn ang="0">
                  <a:pos x="180" y="88"/>
                </a:cxn>
                <a:cxn ang="0">
                  <a:pos x="180" y="88"/>
                </a:cxn>
              </a:cxnLst>
              <a:rect l="0" t="0" r="r" b="b"/>
              <a:pathLst>
                <a:path w="206" h="114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auto">
            <a:xfrm>
              <a:off x="5383" y="4083"/>
              <a:ext cx="95" cy="152"/>
            </a:xfrm>
            <a:custGeom>
              <a:avLst/>
              <a:gdLst/>
              <a:ahLst/>
              <a:cxnLst>
                <a:cxn ang="0">
                  <a:pos x="32" y="82"/>
                </a:cxn>
                <a:cxn ang="0">
                  <a:pos x="32" y="82"/>
                </a:cxn>
                <a:cxn ang="0">
                  <a:pos x="26" y="96"/>
                </a:cxn>
                <a:cxn ang="0">
                  <a:pos x="20" y="110"/>
                </a:cxn>
                <a:cxn ang="0">
                  <a:pos x="10" y="124"/>
                </a:cxn>
                <a:cxn ang="0">
                  <a:pos x="0" y="136"/>
                </a:cxn>
                <a:cxn ang="0">
                  <a:pos x="58" y="200"/>
                </a:cxn>
                <a:cxn ang="0">
                  <a:pos x="58" y="200"/>
                </a:cxn>
                <a:cxn ang="0">
                  <a:pos x="76" y="180"/>
                </a:cxn>
                <a:cxn ang="0">
                  <a:pos x="92" y="158"/>
                </a:cxn>
                <a:cxn ang="0">
                  <a:pos x="104" y="134"/>
                </a:cxn>
                <a:cxn ang="0">
                  <a:pos x="114" y="108"/>
                </a:cxn>
                <a:cxn ang="0">
                  <a:pos x="114" y="108"/>
                </a:cxn>
                <a:cxn ang="0">
                  <a:pos x="122" y="80"/>
                </a:cxn>
                <a:cxn ang="0">
                  <a:pos x="126" y="54"/>
                </a:cxn>
                <a:cxn ang="0">
                  <a:pos x="126" y="26"/>
                </a:cxn>
                <a:cxn ang="0">
                  <a:pos x="122" y="0"/>
                </a:cxn>
                <a:cxn ang="0">
                  <a:pos x="38" y="18"/>
                </a:cxn>
                <a:cxn ang="0">
                  <a:pos x="38" y="18"/>
                </a:cxn>
                <a:cxn ang="0">
                  <a:pos x="40" y="34"/>
                </a:cxn>
                <a:cxn ang="0">
                  <a:pos x="40" y="50"/>
                </a:cxn>
                <a:cxn ang="0">
                  <a:pos x="38" y="66"/>
                </a:cxn>
                <a:cxn ang="0">
                  <a:pos x="32" y="82"/>
                </a:cxn>
                <a:cxn ang="0">
                  <a:pos x="32" y="82"/>
                </a:cxn>
              </a:cxnLst>
              <a:rect l="0" t="0" r="r" b="b"/>
              <a:pathLst>
                <a:path w="126" h="200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auto">
            <a:xfrm>
              <a:off x="5129" y="3987"/>
              <a:ext cx="96" cy="152"/>
            </a:xfrm>
            <a:custGeom>
              <a:avLst/>
              <a:gdLst/>
              <a:ahLst/>
              <a:cxnLst>
                <a:cxn ang="0">
                  <a:pos x="92" y="118"/>
                </a:cxn>
                <a:cxn ang="0">
                  <a:pos x="92" y="118"/>
                </a:cxn>
                <a:cxn ang="0">
                  <a:pos x="98" y="104"/>
                </a:cxn>
                <a:cxn ang="0">
                  <a:pos x="106" y="88"/>
                </a:cxn>
                <a:cxn ang="0">
                  <a:pos x="116" y="76"/>
                </a:cxn>
                <a:cxn ang="0">
                  <a:pos x="126" y="64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50" y="20"/>
                </a:cxn>
                <a:cxn ang="0">
                  <a:pos x="34" y="42"/>
                </a:cxn>
                <a:cxn ang="0">
                  <a:pos x="22" y="66"/>
                </a:cxn>
                <a:cxn ang="0">
                  <a:pos x="12" y="92"/>
                </a:cxn>
                <a:cxn ang="0">
                  <a:pos x="12" y="92"/>
                </a:cxn>
                <a:cxn ang="0">
                  <a:pos x="4" y="118"/>
                </a:cxn>
                <a:cxn ang="0">
                  <a:pos x="0" y="146"/>
                </a:cxn>
                <a:cxn ang="0">
                  <a:pos x="0" y="174"/>
                </a:cxn>
                <a:cxn ang="0">
                  <a:pos x="4" y="200"/>
                </a:cxn>
                <a:cxn ang="0">
                  <a:pos x="88" y="182"/>
                </a:cxn>
                <a:cxn ang="0">
                  <a:pos x="88" y="182"/>
                </a:cxn>
                <a:cxn ang="0">
                  <a:pos x="86" y="166"/>
                </a:cxn>
                <a:cxn ang="0">
                  <a:pos x="86" y="150"/>
                </a:cxn>
                <a:cxn ang="0">
                  <a:pos x="88" y="134"/>
                </a:cxn>
                <a:cxn ang="0">
                  <a:pos x="92" y="118"/>
                </a:cxn>
                <a:cxn ang="0">
                  <a:pos x="92" y="118"/>
                </a:cxn>
              </a:cxnLst>
              <a:rect l="0" t="0" r="r" b="b"/>
              <a:pathLst>
                <a:path w="126" h="200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auto">
            <a:xfrm>
              <a:off x="5135" y="4142"/>
              <a:ext cx="126" cy="132"/>
            </a:xfrm>
            <a:custGeom>
              <a:avLst/>
              <a:gdLst/>
              <a:ahLst/>
              <a:cxnLst>
                <a:cxn ang="0">
                  <a:pos x="84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8" y="44"/>
                </a:cxn>
                <a:cxn ang="0">
                  <a:pos x="20" y="68"/>
                </a:cxn>
                <a:cxn ang="0">
                  <a:pos x="34" y="90"/>
                </a:cxn>
                <a:cxn ang="0">
                  <a:pos x="50" y="112"/>
                </a:cxn>
                <a:cxn ang="0">
                  <a:pos x="70" y="130"/>
                </a:cxn>
                <a:cxn ang="0">
                  <a:pos x="90" y="148"/>
                </a:cxn>
                <a:cxn ang="0">
                  <a:pos x="114" y="162"/>
                </a:cxn>
                <a:cxn ang="0">
                  <a:pos x="140" y="174"/>
                </a:cxn>
                <a:cxn ang="0">
                  <a:pos x="166" y="92"/>
                </a:cxn>
                <a:cxn ang="0">
                  <a:pos x="166" y="92"/>
                </a:cxn>
                <a:cxn ang="0">
                  <a:pos x="152" y="84"/>
                </a:cxn>
                <a:cxn ang="0">
                  <a:pos x="138" y="76"/>
                </a:cxn>
                <a:cxn ang="0">
                  <a:pos x="126" y="66"/>
                </a:cxn>
                <a:cxn ang="0">
                  <a:pos x="114" y="54"/>
                </a:cxn>
                <a:cxn ang="0">
                  <a:pos x="104" y="42"/>
                </a:cxn>
                <a:cxn ang="0">
                  <a:pos x="96" y="28"/>
                </a:cxn>
                <a:cxn ang="0">
                  <a:pos x="90" y="14"/>
                </a:cxn>
                <a:cxn ang="0">
                  <a:pos x="84" y="0"/>
                </a:cxn>
                <a:cxn ang="0">
                  <a:pos x="84" y="0"/>
                </a:cxn>
              </a:cxnLst>
              <a:rect l="0" t="0" r="r" b="b"/>
              <a:pathLst>
                <a:path w="166" h="174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auto">
            <a:xfrm>
              <a:off x="5345" y="3948"/>
              <a:ext cx="127" cy="132"/>
            </a:xfrm>
            <a:custGeom>
              <a:avLst/>
              <a:gdLst/>
              <a:ahLst/>
              <a:cxnLst>
                <a:cxn ang="0">
                  <a:pos x="84" y="174"/>
                </a:cxn>
                <a:cxn ang="0">
                  <a:pos x="168" y="156"/>
                </a:cxn>
                <a:cxn ang="0">
                  <a:pos x="168" y="156"/>
                </a:cxn>
                <a:cxn ang="0">
                  <a:pos x="160" y="130"/>
                </a:cxn>
                <a:cxn ang="0">
                  <a:pos x="148" y="106"/>
                </a:cxn>
                <a:cxn ang="0">
                  <a:pos x="134" y="84"/>
                </a:cxn>
                <a:cxn ang="0">
                  <a:pos x="118" y="62"/>
                </a:cxn>
                <a:cxn ang="0">
                  <a:pos x="98" y="44"/>
                </a:cxn>
                <a:cxn ang="0">
                  <a:pos x="76" y="26"/>
                </a:cxn>
                <a:cxn ang="0">
                  <a:pos x="54" y="12"/>
                </a:cxn>
                <a:cxn ang="0">
                  <a:pos x="28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90"/>
                </a:cxn>
                <a:cxn ang="0">
                  <a:pos x="30" y="98"/>
                </a:cxn>
                <a:cxn ang="0">
                  <a:pos x="42" y="108"/>
                </a:cxn>
                <a:cxn ang="0">
                  <a:pos x="54" y="120"/>
                </a:cxn>
                <a:cxn ang="0">
                  <a:pos x="64" y="132"/>
                </a:cxn>
                <a:cxn ang="0">
                  <a:pos x="72" y="144"/>
                </a:cxn>
                <a:cxn ang="0">
                  <a:pos x="78" y="160"/>
                </a:cxn>
                <a:cxn ang="0">
                  <a:pos x="84" y="174"/>
                </a:cxn>
                <a:cxn ang="0">
                  <a:pos x="84" y="174"/>
                </a:cxn>
              </a:cxnLst>
              <a:rect l="0" t="0" r="r" b="b"/>
              <a:pathLst>
                <a:path w="168" h="174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auto">
            <a:xfrm>
              <a:off x="5258" y="4197"/>
              <a:ext cx="156" cy="88"/>
            </a:xfrm>
            <a:custGeom>
              <a:avLst/>
              <a:gdLst/>
              <a:ahLst/>
              <a:cxnLst>
                <a:cxn ang="0">
                  <a:pos x="26" y="26"/>
                </a:cxn>
                <a:cxn ang="0">
                  <a:pos x="0" y="108"/>
                </a:cxn>
                <a:cxn ang="0">
                  <a:pos x="0" y="108"/>
                </a:cxn>
                <a:cxn ang="0">
                  <a:pos x="28" y="114"/>
                </a:cxn>
                <a:cxn ang="0">
                  <a:pos x="56" y="116"/>
                </a:cxn>
                <a:cxn ang="0">
                  <a:pos x="82" y="116"/>
                </a:cxn>
                <a:cxn ang="0">
                  <a:pos x="110" y="112"/>
                </a:cxn>
                <a:cxn ang="0">
                  <a:pos x="136" y="104"/>
                </a:cxn>
                <a:cxn ang="0">
                  <a:pos x="160" y="94"/>
                </a:cxn>
                <a:cxn ang="0">
                  <a:pos x="184" y="80"/>
                </a:cxn>
                <a:cxn ang="0">
                  <a:pos x="206" y="64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34" y="10"/>
                </a:cxn>
                <a:cxn ang="0">
                  <a:pos x="120" y="18"/>
                </a:cxn>
                <a:cxn ang="0">
                  <a:pos x="106" y="24"/>
                </a:cxn>
                <a:cxn ang="0">
                  <a:pos x="90" y="28"/>
                </a:cxn>
                <a:cxn ang="0">
                  <a:pos x="74" y="30"/>
                </a:cxn>
                <a:cxn ang="0">
                  <a:pos x="58" y="30"/>
                </a:cxn>
                <a:cxn ang="0">
                  <a:pos x="42" y="30"/>
                </a:cxn>
                <a:cxn ang="0">
                  <a:pos x="26" y="26"/>
                </a:cxn>
                <a:cxn ang="0">
                  <a:pos x="26" y="26"/>
                </a:cxn>
              </a:cxnLst>
              <a:rect l="0" t="0" r="r" b="b"/>
              <a:pathLst>
                <a:path w="206" h="11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5" name="Group 42"/>
          <p:cNvGrpSpPr>
            <a:grpSpLocks/>
          </p:cNvGrpSpPr>
          <p:nvPr/>
        </p:nvGrpSpPr>
        <p:grpSpPr bwMode="auto">
          <a:xfrm>
            <a:off x="8089900" y="5821363"/>
            <a:ext cx="390525" cy="390525"/>
            <a:chOff x="5114" y="3685"/>
            <a:chExt cx="246" cy="246"/>
          </a:xfrm>
        </p:grpSpPr>
        <p:sp>
          <p:nvSpPr>
            <p:cNvPr id="4139" name="Freeform 43"/>
            <p:cNvSpPr>
              <a:spLocks/>
            </p:cNvSpPr>
            <p:nvPr/>
          </p:nvSpPr>
          <p:spPr bwMode="auto">
            <a:xfrm>
              <a:off x="5135" y="3845"/>
              <a:ext cx="94" cy="86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0" y="56"/>
                </a:cxn>
                <a:cxn ang="0">
                  <a:pos x="22" y="70"/>
                </a:cxn>
                <a:cxn ang="0">
                  <a:pos x="36" y="82"/>
                </a:cxn>
                <a:cxn ang="0">
                  <a:pos x="52" y="92"/>
                </a:cxn>
                <a:cxn ang="0">
                  <a:pos x="68" y="100"/>
                </a:cxn>
                <a:cxn ang="0">
                  <a:pos x="86" y="108"/>
                </a:cxn>
                <a:cxn ang="0">
                  <a:pos x="104" y="112"/>
                </a:cxn>
                <a:cxn ang="0">
                  <a:pos x="124" y="114"/>
                </a:cxn>
                <a:cxn ang="0">
                  <a:pos x="124" y="32"/>
                </a:cxn>
                <a:cxn ang="0">
                  <a:pos x="124" y="32"/>
                </a:cxn>
                <a:cxn ang="0">
                  <a:pos x="108" y="28"/>
                </a:cxn>
                <a:cxn ang="0">
                  <a:pos x="94" y="22"/>
                </a:cxn>
                <a:cxn ang="0">
                  <a:pos x="82" y="12"/>
                </a:cxn>
                <a:cxn ang="0">
                  <a:pos x="70" y="0"/>
                </a:cxn>
                <a:cxn ang="0">
                  <a:pos x="70" y="0"/>
                </a:cxn>
              </a:cxnLst>
              <a:rect l="0" t="0" r="r" b="b"/>
              <a:pathLst>
                <a:path w="124" h="11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auto">
            <a:xfrm>
              <a:off x="5135" y="3685"/>
              <a:ext cx="94" cy="87"/>
            </a:xfrm>
            <a:custGeom>
              <a:avLst/>
              <a:gdLst/>
              <a:ahLst/>
              <a:cxnLst>
                <a:cxn ang="0">
                  <a:pos x="124" y="82"/>
                </a:cxn>
                <a:cxn ang="0">
                  <a:pos x="124" y="0"/>
                </a:cxn>
                <a:cxn ang="0">
                  <a:pos x="124" y="0"/>
                </a:cxn>
                <a:cxn ang="0">
                  <a:pos x="104" y="2"/>
                </a:cxn>
                <a:cxn ang="0">
                  <a:pos x="86" y="8"/>
                </a:cxn>
                <a:cxn ang="0">
                  <a:pos x="68" y="14"/>
                </a:cxn>
                <a:cxn ang="0">
                  <a:pos x="52" y="22"/>
                </a:cxn>
                <a:cxn ang="0">
                  <a:pos x="36" y="32"/>
                </a:cxn>
                <a:cxn ang="0">
                  <a:pos x="22" y="44"/>
                </a:cxn>
                <a:cxn ang="0">
                  <a:pos x="10" y="58"/>
                </a:cxn>
                <a:cxn ang="0">
                  <a:pos x="0" y="72"/>
                </a:cxn>
                <a:cxn ang="0">
                  <a:pos x="70" y="114"/>
                </a:cxn>
                <a:cxn ang="0">
                  <a:pos x="70" y="114"/>
                </a:cxn>
                <a:cxn ang="0">
                  <a:pos x="82" y="102"/>
                </a:cxn>
                <a:cxn ang="0">
                  <a:pos x="94" y="92"/>
                </a:cxn>
                <a:cxn ang="0">
                  <a:pos x="108" y="86"/>
                </a:cxn>
                <a:cxn ang="0">
                  <a:pos x="124" y="82"/>
                </a:cxn>
                <a:cxn ang="0">
                  <a:pos x="124" y="82"/>
                </a:cxn>
              </a:cxnLst>
              <a:rect l="0" t="0" r="r" b="b"/>
              <a:pathLst>
                <a:path w="124" h="11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auto">
            <a:xfrm>
              <a:off x="5114" y="3754"/>
              <a:ext cx="67" cy="109"/>
            </a:xfrm>
            <a:custGeom>
              <a:avLst/>
              <a:gdLst/>
              <a:ahLst/>
              <a:cxnLst>
                <a:cxn ang="0">
                  <a:pos x="82" y="72"/>
                </a:cxn>
                <a:cxn ang="0">
                  <a:pos x="82" y="72"/>
                </a:cxn>
                <a:cxn ang="0">
                  <a:pos x="84" y="56"/>
                </a:cxn>
                <a:cxn ang="0">
                  <a:pos x="88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0" y="16"/>
                </a:cxn>
                <a:cxn ang="0">
                  <a:pos x="4" y="34"/>
                </a:cxn>
                <a:cxn ang="0">
                  <a:pos x="2" y="5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2" y="92"/>
                </a:cxn>
                <a:cxn ang="0">
                  <a:pos x="4" y="110"/>
                </a:cxn>
                <a:cxn ang="0">
                  <a:pos x="10" y="128"/>
                </a:cxn>
                <a:cxn ang="0">
                  <a:pos x="18" y="144"/>
                </a:cxn>
                <a:cxn ang="0">
                  <a:pos x="88" y="104"/>
                </a:cxn>
                <a:cxn ang="0">
                  <a:pos x="88" y="104"/>
                </a:cxn>
                <a:cxn ang="0">
                  <a:pos x="84" y="88"/>
                </a:cxn>
                <a:cxn ang="0">
                  <a:pos x="82" y="72"/>
                </a:cxn>
                <a:cxn ang="0">
                  <a:pos x="82" y="72"/>
                </a:cxn>
              </a:cxnLst>
              <a:rect l="0" t="0" r="r" b="b"/>
              <a:pathLst>
                <a:path w="88" h="144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auto">
            <a:xfrm>
              <a:off x="5293" y="3754"/>
              <a:ext cx="67" cy="109"/>
            </a:xfrm>
            <a:custGeom>
              <a:avLst/>
              <a:gdLst/>
              <a:ahLst/>
              <a:cxnLst>
                <a:cxn ang="0">
                  <a:pos x="6" y="72"/>
                </a:cxn>
                <a:cxn ang="0">
                  <a:pos x="6" y="72"/>
                </a:cxn>
                <a:cxn ang="0">
                  <a:pos x="6" y="88"/>
                </a:cxn>
                <a:cxn ang="0">
                  <a:pos x="0" y="104"/>
                </a:cxn>
                <a:cxn ang="0">
                  <a:pos x="72" y="144"/>
                </a:cxn>
                <a:cxn ang="0">
                  <a:pos x="72" y="144"/>
                </a:cxn>
                <a:cxn ang="0">
                  <a:pos x="78" y="128"/>
                </a:cxn>
                <a:cxn ang="0">
                  <a:pos x="84" y="110"/>
                </a:cxn>
                <a:cxn ang="0">
                  <a:pos x="88" y="92"/>
                </a:cxn>
                <a:cxn ang="0">
                  <a:pos x="88" y="72"/>
                </a:cxn>
                <a:cxn ang="0">
                  <a:pos x="88" y="72"/>
                </a:cxn>
                <a:cxn ang="0">
                  <a:pos x="88" y="54"/>
                </a:cxn>
                <a:cxn ang="0">
                  <a:pos x="84" y="34"/>
                </a:cxn>
                <a:cxn ang="0">
                  <a:pos x="78" y="16"/>
                </a:cxn>
                <a:cxn ang="0">
                  <a:pos x="72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6" y="56"/>
                </a:cxn>
                <a:cxn ang="0">
                  <a:pos x="6" y="72"/>
                </a:cxn>
                <a:cxn ang="0">
                  <a:pos x="6" y="72"/>
                </a:cxn>
              </a:cxnLst>
              <a:rect l="0" t="0" r="r" b="b"/>
              <a:pathLst>
                <a:path w="88" h="144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auto">
            <a:xfrm>
              <a:off x="5245" y="3845"/>
              <a:ext cx="95" cy="8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20" y="112"/>
                </a:cxn>
                <a:cxn ang="0">
                  <a:pos x="38" y="108"/>
                </a:cxn>
                <a:cxn ang="0">
                  <a:pos x="56" y="100"/>
                </a:cxn>
                <a:cxn ang="0">
                  <a:pos x="72" y="92"/>
                </a:cxn>
                <a:cxn ang="0">
                  <a:pos x="88" y="82"/>
                </a:cxn>
                <a:cxn ang="0">
                  <a:pos x="102" y="70"/>
                </a:cxn>
                <a:cxn ang="0">
                  <a:pos x="114" y="56"/>
                </a:cxn>
                <a:cxn ang="0">
                  <a:pos x="126" y="42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4" y="12"/>
                </a:cxn>
                <a:cxn ang="0">
                  <a:pos x="30" y="22"/>
                </a:cxn>
                <a:cxn ang="0">
                  <a:pos x="16" y="28"/>
                </a:cxn>
                <a:cxn ang="0">
                  <a:pos x="0" y="32"/>
                </a:cxn>
                <a:cxn ang="0">
                  <a:pos x="0" y="32"/>
                </a:cxn>
              </a:cxnLst>
              <a:rect l="0" t="0" r="r" b="b"/>
              <a:pathLst>
                <a:path w="126" h="114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auto">
            <a:xfrm>
              <a:off x="5245" y="3685"/>
              <a:ext cx="95" cy="87"/>
            </a:xfrm>
            <a:custGeom>
              <a:avLst/>
              <a:gdLst/>
              <a:ahLst/>
              <a:cxnLst>
                <a:cxn ang="0">
                  <a:pos x="54" y="114"/>
                </a:cxn>
                <a:cxn ang="0">
                  <a:pos x="126" y="72"/>
                </a:cxn>
                <a:cxn ang="0">
                  <a:pos x="126" y="72"/>
                </a:cxn>
                <a:cxn ang="0">
                  <a:pos x="114" y="58"/>
                </a:cxn>
                <a:cxn ang="0">
                  <a:pos x="102" y="44"/>
                </a:cxn>
                <a:cxn ang="0">
                  <a:pos x="88" y="32"/>
                </a:cxn>
                <a:cxn ang="0">
                  <a:pos x="72" y="22"/>
                </a:cxn>
                <a:cxn ang="0">
                  <a:pos x="56" y="14"/>
                </a:cxn>
                <a:cxn ang="0">
                  <a:pos x="38" y="8"/>
                </a:cxn>
                <a:cxn ang="0">
                  <a:pos x="20" y="2"/>
                </a:cxn>
                <a:cxn ang="0">
                  <a:pos x="0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86"/>
                </a:cxn>
                <a:cxn ang="0">
                  <a:pos x="30" y="92"/>
                </a:cxn>
                <a:cxn ang="0">
                  <a:pos x="44" y="102"/>
                </a:cxn>
                <a:cxn ang="0">
                  <a:pos x="54" y="114"/>
                </a:cxn>
                <a:cxn ang="0">
                  <a:pos x="54" y="114"/>
                </a:cxn>
              </a:cxnLst>
              <a:rect l="0" t="0" r="r" b="b"/>
              <a:pathLst>
                <a:path w="126" h="114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65440-4C8F-497D-8DC5-47855554306F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74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0191 -0.00185 L -2.77778E-6 5.78035E-7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100" y="10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62-mechanical">
  <a:themeElements>
    <a:clrScheme name="m62-mechanical 15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024069"/>
      </a:accent2>
      <a:accent3>
        <a:srgbClr val="FFFFFF"/>
      </a:accent3>
      <a:accent4>
        <a:srgbClr val="000000"/>
      </a:accent4>
      <a:accent5>
        <a:srgbClr val="DAEDEF"/>
      </a:accent5>
      <a:accent6>
        <a:srgbClr val="02395E"/>
      </a:accent6>
      <a:hlink>
        <a:srgbClr val="03548A"/>
      </a:hlink>
      <a:folHlink>
        <a:srgbClr val="027ED1"/>
      </a:folHlink>
    </a:clrScheme>
    <a:fontScheme name="m62-mechanic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62-mechanic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2406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2395E"/>
        </a:accent6>
        <a:hlink>
          <a:srgbClr val="03548A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27ED1"/>
        </a:accent1>
        <a:accent2>
          <a:srgbClr val="024069"/>
        </a:accent2>
        <a:accent3>
          <a:srgbClr val="FFFFFF"/>
        </a:accent3>
        <a:accent4>
          <a:srgbClr val="000000"/>
        </a:accent4>
        <a:accent5>
          <a:srgbClr val="AAC0E5"/>
        </a:accent5>
        <a:accent6>
          <a:srgbClr val="02395E"/>
        </a:accent6>
        <a:hlink>
          <a:srgbClr val="03548A"/>
        </a:hlink>
        <a:folHlink>
          <a:srgbClr val="0368A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2406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2395E"/>
        </a:accent6>
        <a:hlink>
          <a:srgbClr val="03548A"/>
        </a:hlink>
        <a:folHlink>
          <a:srgbClr val="027ED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It’s not the design of your template">
  <a:themeElements>
    <a:clrScheme name="1_It’s not the design of your template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135971"/>
      </a:hlink>
      <a:folHlink>
        <a:srgbClr val="99CC00"/>
      </a:folHlink>
    </a:clrScheme>
    <a:fontScheme name="1_It’s not the design of your template">
      <a:majorFont>
        <a:latin typeface="Neo San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It’s not the design of your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135971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m62-mechanical</Template>
  <TotalTime>1998</TotalTime>
  <Words>1117</Words>
  <Application>Microsoft Office PowerPoint</Application>
  <PresentationFormat>On-screen Show (4:3)</PresentationFormat>
  <Paragraphs>274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Courier New</vt:lpstr>
      <vt:lpstr>Neo Sans</vt:lpstr>
      <vt:lpstr>Times New Roman</vt:lpstr>
      <vt:lpstr>Wingdings</vt:lpstr>
      <vt:lpstr>m62-mechanical</vt:lpstr>
      <vt:lpstr>1_It’s not the design of your template</vt:lpstr>
      <vt:lpstr> Object Oriented Programming CSE 2101  Lecture - 10 </vt:lpstr>
      <vt:lpstr>Outline</vt:lpstr>
      <vt:lpstr>Interface</vt:lpstr>
      <vt:lpstr>Defining an Interface</vt:lpstr>
      <vt:lpstr>Defining an Interface</vt:lpstr>
      <vt:lpstr>Implementing Interfaces</vt:lpstr>
      <vt:lpstr>Accessing Implementations through Interface Reference</vt:lpstr>
      <vt:lpstr>Example-1</vt:lpstr>
      <vt:lpstr>Example-2</vt:lpstr>
      <vt:lpstr>Partial Implementation</vt:lpstr>
      <vt:lpstr>Extending Interfaces</vt:lpstr>
      <vt:lpstr>Example-3</vt:lpstr>
      <vt:lpstr>Example-3</vt:lpstr>
      <vt:lpstr>Multiple Inheritance Using Interface</vt:lpstr>
      <vt:lpstr>Example-4</vt:lpstr>
      <vt:lpstr>Example-5</vt:lpstr>
      <vt:lpstr>Example-6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text to go here</dc:title>
  <dc:creator>Windows User</dc:creator>
  <cp:lastModifiedBy>user</cp:lastModifiedBy>
  <cp:revision>1091</cp:revision>
  <dcterms:created xsi:type="dcterms:W3CDTF">2015-05-03T19:01:06Z</dcterms:created>
  <dcterms:modified xsi:type="dcterms:W3CDTF">2024-12-21T08:28:05Z</dcterms:modified>
</cp:coreProperties>
</file>