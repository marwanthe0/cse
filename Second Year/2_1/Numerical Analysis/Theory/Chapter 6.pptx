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2"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B36B68-AA2A-4F24-A42D-686F44ECE78B}">
          <p14:sldIdLst>
            <p14:sldId id="256"/>
            <p14:sldId id="257"/>
            <p14:sldId id="259"/>
            <p14:sldId id="262"/>
            <p14:sldId id="263"/>
            <p14:sldId id="264"/>
            <p14:sldId id="265"/>
            <p14:sldId id="266"/>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96" y="12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BCF9-4CB3-4C46-8E0C-D6E5632A61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09ECE8-115B-4A6D-A4F2-90E8EFF8C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0EE086-FE40-42A6-B955-604D1F96FF81}"/>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1B0AF0A1-7E6C-4EBC-AAC2-3053B49E4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890A9-C3FC-4533-9D8F-7D8BC0FADF6F}"/>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895866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7AF39-D19C-4DC7-8D90-0549954CA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ED50C7-38B4-40B7-AA6B-0E091C08FD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C45DE-D264-4485-9BBA-AEAF7ECAD8B1}"/>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7880C784-BA2D-4E14-A22E-4AB552BCF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048BC-46C0-47B4-A9D3-4BBCBAD06B10}"/>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42049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D2241-7FB0-4E4F-9BC0-4C01360B0F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435312-1922-4580-A3B0-1E9DB11A05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7039E0-3ACA-411F-95F7-687A3B131006}"/>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D24183D1-D8EC-469C-9749-5CA87F8EA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5488B-AB71-48B5-9B30-1E177ED871F1}"/>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292792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3A11A-AD6C-477D-9EE1-A8A93CB1AD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C7EE2-C1FF-4076-AFBF-9BF3BB9B4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B5B924-5AFC-43C9-83D9-67E3C636FF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969335-8E4C-4F0A-8A14-AFCA1AE44023}"/>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6" name="Footer Placeholder 5">
            <a:extLst>
              <a:ext uri="{FF2B5EF4-FFF2-40B4-BE49-F238E27FC236}">
                <a16:creationId xmlns:a16="http://schemas.microsoft.com/office/drawing/2014/main" id="{4537AF5D-8679-4B2F-8E60-C13B9CD086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57694-B8A8-4E26-937F-7B8A564F5C49}"/>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723543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FA9D6-CF3A-4470-B678-BB4F3F131C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54CDEE-174F-41F4-A88D-0A78A5FE1F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DC7B29-BD54-424A-A781-9E774EB9A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29E49C-5727-4C71-9312-13C83650C8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F14B93-8D87-44B9-98F2-61AC798836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60AE91-B33F-4937-A530-9634E25B6F63}"/>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8" name="Footer Placeholder 7">
            <a:extLst>
              <a:ext uri="{FF2B5EF4-FFF2-40B4-BE49-F238E27FC236}">
                <a16:creationId xmlns:a16="http://schemas.microsoft.com/office/drawing/2014/main" id="{25360088-C4D0-4086-8311-E8570095D3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4B5BA7-8287-49C8-B333-F2CA533398EF}"/>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282584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05CD5-EB07-4A3C-9109-B72E838982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3DE277-E736-4F29-8712-330E61C3E0CE}"/>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4" name="Footer Placeholder 3">
            <a:extLst>
              <a:ext uri="{FF2B5EF4-FFF2-40B4-BE49-F238E27FC236}">
                <a16:creationId xmlns:a16="http://schemas.microsoft.com/office/drawing/2014/main" id="{7D179481-C9A8-4DD6-88F0-C99BCB86CC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CF75A6-518C-4A47-8816-96328B4F7DED}"/>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586996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80DD94-2BED-4B01-82E4-28A4E492735A}"/>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3" name="Footer Placeholder 2">
            <a:extLst>
              <a:ext uri="{FF2B5EF4-FFF2-40B4-BE49-F238E27FC236}">
                <a16:creationId xmlns:a16="http://schemas.microsoft.com/office/drawing/2014/main" id="{8B0CC9D0-44B8-472D-A978-4496CADAC0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71538B-5A82-46EB-9ACB-D42B8B71ECD0}"/>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4198816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6F1E1-E2BC-4123-93FC-1A4DA96E6A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086BEB-84D7-4F62-8AF6-A13BB4A1A8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27979D-07AE-443E-AC1F-99298DB641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AEE39-0CDB-46E2-B085-2045C01FB57D}"/>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6" name="Footer Placeholder 5">
            <a:extLst>
              <a:ext uri="{FF2B5EF4-FFF2-40B4-BE49-F238E27FC236}">
                <a16:creationId xmlns:a16="http://schemas.microsoft.com/office/drawing/2014/main" id="{9B8E4E7C-92A6-4F4E-8029-76C394236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68B6A-15A4-4C50-A528-1C0CCFCA79EC}"/>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416101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CD1E-4DDB-4B95-BD5F-908DAF797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020488-3190-4F9A-BB91-C4287ABAC2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9613BF-03AE-452B-9FF0-C5E4AF583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893658-6537-4564-AE62-85B12A376977}"/>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6" name="Footer Placeholder 5">
            <a:extLst>
              <a:ext uri="{FF2B5EF4-FFF2-40B4-BE49-F238E27FC236}">
                <a16:creationId xmlns:a16="http://schemas.microsoft.com/office/drawing/2014/main" id="{351362E8-117D-4414-99E7-14EA56502E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D4398D-F936-40B1-BBE6-3B0D6D69A0C8}"/>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467260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E14FA-71DB-43B3-BFDF-CE9D13DB00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12BADA-FD0C-4159-8DDF-8F427A8B6E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5EA5E-C4BD-4CFF-9530-FB415AAA8F05}"/>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C9237F42-1706-4895-A781-FADB47055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DBF4D-3C3D-45BA-9581-281E1646D8D7}"/>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347524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59D53-9060-4B9D-8BF8-DD594983D9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C5EFBF-F943-4559-8989-23D036DD50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94F9FD-2096-476F-A5DE-7B5900030FD6}"/>
              </a:ext>
            </a:extLst>
          </p:cNvPr>
          <p:cNvSpPr>
            <a:spLocks noGrp="1"/>
          </p:cNvSpPr>
          <p:nvPr>
            <p:ph type="dt" sz="half" idx="10"/>
          </p:nvPr>
        </p:nvSpPr>
        <p:spPr/>
        <p:txBody>
          <a:body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0F1FE36D-51D4-470E-84E6-23622135D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ED3C8-9CE1-45CE-B37A-925E655CD95F}"/>
              </a:ext>
            </a:extLst>
          </p:cNvPr>
          <p:cNvSpPr>
            <a:spLocks noGrp="1"/>
          </p:cNvSpPr>
          <p:nvPr>
            <p:ph type="sldNum" sz="quarter" idx="12"/>
          </p:nvPr>
        </p:nvSpPr>
        <p:spPr/>
        <p:txBody>
          <a:bodyPr/>
          <a:lstStyle/>
          <a:p>
            <a:fld id="{F21C5EB6-B3C4-4159-B5C6-A68FF1477457}" type="slidenum">
              <a:rPr lang="en-US" smtClean="0"/>
              <a:t>‹#›</a:t>
            </a:fld>
            <a:endParaRPr lang="en-US"/>
          </a:p>
        </p:txBody>
      </p:sp>
    </p:spTree>
    <p:extLst>
      <p:ext uri="{BB962C8B-B14F-4D97-AF65-F5344CB8AC3E}">
        <p14:creationId xmlns:p14="http://schemas.microsoft.com/office/powerpoint/2010/main" val="2447245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AA072-6F5F-466E-83C0-EE33CDAA3C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3567AF-1505-4D19-9084-55ECE5E015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4628F-B851-4473-8E56-C77061862F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2F3058-042E-42F6-8A77-BB245E2EC1BD}" type="datetimeFigureOut">
              <a:rPr lang="en-US" smtClean="0"/>
              <a:t>11/2/2024</a:t>
            </a:fld>
            <a:endParaRPr lang="en-US"/>
          </a:p>
        </p:txBody>
      </p:sp>
      <p:sp>
        <p:nvSpPr>
          <p:cNvPr id="5" name="Footer Placeholder 4">
            <a:extLst>
              <a:ext uri="{FF2B5EF4-FFF2-40B4-BE49-F238E27FC236}">
                <a16:creationId xmlns:a16="http://schemas.microsoft.com/office/drawing/2014/main" id="{B258004E-0AC3-4EA3-B640-9F776A1FDA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605FB9-586A-4701-92BA-5B6143F698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C5EB6-B3C4-4159-B5C6-A68FF1477457}" type="slidenum">
              <a:rPr lang="en-US" smtClean="0"/>
              <a:t>‹#›</a:t>
            </a:fld>
            <a:endParaRPr lang="en-US"/>
          </a:p>
        </p:txBody>
      </p:sp>
    </p:spTree>
    <p:extLst>
      <p:ext uri="{BB962C8B-B14F-4D97-AF65-F5344CB8AC3E}">
        <p14:creationId xmlns:p14="http://schemas.microsoft.com/office/powerpoint/2010/main" val="3595100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057A-EDC7-4CA5-96C0-FC71D909F869}"/>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716D9ED7-60EC-4B67-BBE1-F8C40B87A308}"/>
              </a:ext>
            </a:extLst>
          </p:cNvPr>
          <p:cNvSpPr>
            <a:spLocks noGrp="1"/>
          </p:cNvSpPr>
          <p:nvPr>
            <p:ph type="subTitle" idx="1"/>
          </p:nvPr>
        </p:nvSpPr>
        <p:spPr/>
        <p:txBody>
          <a:bodyPr/>
          <a:lstStyle/>
          <a:p>
            <a:r>
              <a:rPr lang="en-US" sz="1800" b="0" i="0" u="none" strike="noStrike" baseline="0" dirty="0">
                <a:latin typeface="FuturaStd-Book"/>
              </a:rPr>
              <a:t>Open Methods</a:t>
            </a:r>
            <a:endParaRPr lang="en-US" dirty="0"/>
          </a:p>
        </p:txBody>
      </p:sp>
    </p:spTree>
    <p:extLst>
      <p:ext uri="{BB962C8B-B14F-4D97-AF65-F5344CB8AC3E}">
        <p14:creationId xmlns:p14="http://schemas.microsoft.com/office/powerpoint/2010/main" val="1713454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CDB75-8174-4C02-94DC-4576596886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4D895E-0316-486F-BB25-216F1D64B007}"/>
              </a:ext>
            </a:extLst>
          </p:cNvPr>
          <p:cNvSpPr>
            <a:spLocks noGrp="1"/>
          </p:cNvSpPr>
          <p:nvPr>
            <p:ph idx="1"/>
          </p:nvPr>
        </p:nvSpPr>
        <p:spPr/>
        <p:txBody>
          <a:bodyPr/>
          <a:lstStyle/>
          <a:p>
            <a:r>
              <a:rPr lang="en-US" dirty="0"/>
              <a:t>the open methods described in this chapter are based on formulas that require only a single starting value of x or two starting values that do not necessarily bracket the root.</a:t>
            </a:r>
          </a:p>
          <a:p>
            <a:r>
              <a:rPr lang="en-US" dirty="0"/>
              <a:t>they sometimes diverge or move away from the true root as the computation progresses</a:t>
            </a:r>
          </a:p>
          <a:p>
            <a:r>
              <a:rPr lang="en-US" dirty="0"/>
              <a:t>when the open methods converge, they usually do so much more quickly than the bracketing methods.</a:t>
            </a:r>
          </a:p>
        </p:txBody>
      </p:sp>
    </p:spTree>
    <p:extLst>
      <p:ext uri="{BB962C8B-B14F-4D97-AF65-F5344CB8AC3E}">
        <p14:creationId xmlns:p14="http://schemas.microsoft.com/office/powerpoint/2010/main" val="255749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25F75-F662-4FA2-8ECC-00A28F1042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24F9DC-313F-4DC0-AA76-ACDD90B542E4}"/>
              </a:ext>
            </a:extLst>
          </p:cNvPr>
          <p:cNvSpPr>
            <a:spLocks noGrp="1"/>
          </p:cNvSpPr>
          <p:nvPr>
            <p:ph sz="half" idx="1"/>
          </p:nvPr>
        </p:nvSpPr>
        <p:spPr/>
        <p:txBody>
          <a:bodyPr>
            <a:normAutofit fontScale="92500" lnSpcReduction="20000"/>
          </a:bodyPr>
          <a:lstStyle/>
          <a:p>
            <a:pPr marL="0" indent="0">
              <a:buNone/>
            </a:pPr>
            <a:r>
              <a:rPr lang="en-US" dirty="0"/>
              <a:t>Graphical depiction of the fundamental difference between the (a) bracketing and (b) and (c) open methods for root location. In (a), which is the bisection method, the root is constrained within the interval prescribed by xl and xu. In contrast, for the open method depicted in (b) and (c), a formula is used to project from xi to xi11 in an iterative fashion. Thus, the method can either (b) diverge or (c) converge rapidly, depending on the value of the initial guess.</a:t>
            </a:r>
          </a:p>
        </p:txBody>
      </p:sp>
      <p:pic>
        <p:nvPicPr>
          <p:cNvPr id="6" name="Content Placeholder 5">
            <a:extLst>
              <a:ext uri="{FF2B5EF4-FFF2-40B4-BE49-F238E27FC236}">
                <a16:creationId xmlns:a16="http://schemas.microsoft.com/office/drawing/2014/main" id="{9A0E9348-2312-4DE0-AE24-F5837197CDCD}"/>
              </a:ext>
            </a:extLst>
          </p:cNvPr>
          <p:cNvPicPr>
            <a:picLocks noGrp="1" noChangeAspect="1"/>
          </p:cNvPicPr>
          <p:nvPr>
            <p:ph sz="half" idx="2"/>
          </p:nvPr>
        </p:nvPicPr>
        <p:blipFill>
          <a:blip r:embed="rId2"/>
          <a:stretch>
            <a:fillRect/>
          </a:stretch>
        </p:blipFill>
        <p:spPr>
          <a:xfrm>
            <a:off x="6384758" y="1739348"/>
            <a:ext cx="4969041" cy="4437615"/>
          </a:xfrm>
        </p:spPr>
      </p:pic>
    </p:spTree>
    <p:extLst>
      <p:ext uri="{BB962C8B-B14F-4D97-AF65-F5344CB8AC3E}">
        <p14:creationId xmlns:p14="http://schemas.microsoft.com/office/powerpoint/2010/main" val="2532585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D4E46-F2FA-4F6E-9F61-61B887E41A8C}"/>
              </a:ext>
            </a:extLst>
          </p:cNvPr>
          <p:cNvSpPr>
            <a:spLocks noGrp="1"/>
          </p:cNvSpPr>
          <p:nvPr>
            <p:ph type="title"/>
          </p:nvPr>
        </p:nvSpPr>
        <p:spPr/>
        <p:txBody>
          <a:bodyPr/>
          <a:lstStyle/>
          <a:p>
            <a:r>
              <a:rPr lang="en-US" dirty="0"/>
              <a:t>SIMPLE FIXED-POINT ITERATION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0D3573-30B2-4088-99BB-60B116DE4C12}"/>
                  </a:ext>
                </a:extLst>
              </p:cNvPr>
              <p:cNvSpPr>
                <a:spLocks noGrp="1"/>
              </p:cNvSpPr>
              <p:nvPr>
                <p:ph idx="1"/>
              </p:nvPr>
            </p:nvSpPr>
            <p:spPr/>
            <p:txBody>
              <a:bodyPr/>
              <a:lstStyle/>
              <a:p>
                <a:r>
                  <a:rPr lang="en-US" dirty="0"/>
                  <a:t>x = g(x)</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oMath>
                </a14:m>
                <a:endParaRPr lang="en-US" b="0" dirty="0"/>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𝑎</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den>
                    </m:f>
                    <m:r>
                      <a:rPr lang="en-US" b="0" i="1" smtClean="0">
                        <a:latin typeface="Cambria Math" panose="02040503050406030204" pitchFamily="18" charset="0"/>
                      </a:rPr>
                      <m:t>∗100%</m:t>
                    </m:r>
                  </m:oMath>
                </a14:m>
                <a:endParaRPr lang="en-US" dirty="0"/>
              </a:p>
            </p:txBody>
          </p:sp>
        </mc:Choice>
        <mc:Fallback>
          <p:sp>
            <p:nvSpPr>
              <p:cNvPr id="3" name="Content Placeholder 2">
                <a:extLst>
                  <a:ext uri="{FF2B5EF4-FFF2-40B4-BE49-F238E27FC236}">
                    <a16:creationId xmlns:a16="http://schemas.microsoft.com/office/drawing/2014/main" id="{A90D3573-30B2-4088-99BB-60B116DE4C1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968240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1E6059-4135-4B4C-9A97-CC915E9F5CC9}"/>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CA15EBE0-5479-43D2-B73A-DE505F142B58}"/>
                  </a:ext>
                </a:extLst>
              </p:cNvPr>
              <p:cNvSpPr>
                <a:spLocks noGrp="1"/>
              </p:cNvSpPr>
              <p:nvPr>
                <p:ph sz="half" idx="1"/>
              </p:nvPr>
            </p:nvSpPr>
            <p:spPr/>
            <p:txBody>
              <a:bodyPr>
                <a:normAutofit/>
              </a:bodyPr>
              <a:lstStyle/>
              <a:p>
                <a:r>
                  <a:rPr lang="en-US" sz="3200" b="0" i="0" u="none" strike="noStrike" baseline="0" dirty="0">
                    <a:latin typeface="TimesLTStd-Roman"/>
                  </a:rPr>
                  <a:t>Use simple fi </a:t>
                </a:r>
                <a:r>
                  <a:rPr lang="en-US" sz="3200" b="0" i="0" u="none" strike="noStrike" baseline="0" dirty="0" err="1">
                    <a:latin typeface="TimesLTStd-Roman"/>
                  </a:rPr>
                  <a:t>xed</a:t>
                </a:r>
                <a:r>
                  <a:rPr lang="en-US" sz="3200" b="0" i="0" u="none" strike="noStrike" baseline="0" dirty="0">
                    <a:latin typeface="TimesLTStd-Roman"/>
                  </a:rPr>
                  <a:t>-point iteration to locate the root of </a:t>
                </a:r>
                <a14:m>
                  <m:oMath xmlns:m="http://schemas.openxmlformats.org/officeDocument/2006/math">
                    <m:r>
                      <a:rPr lang="en-US" sz="3200" b="0" i="1" u="none" strike="noStrike" baseline="0" smtClean="0">
                        <a:latin typeface="Cambria Math" panose="02040503050406030204" pitchFamily="18" charset="0"/>
                      </a:rPr>
                      <m:t>𝑓</m:t>
                    </m:r>
                    <m:d>
                      <m:dPr>
                        <m:ctrlPr>
                          <a:rPr lang="en-US" sz="3200" b="0" i="1" u="none" strike="noStrike" baseline="0" smtClean="0">
                            <a:latin typeface="Cambria Math" panose="02040503050406030204" pitchFamily="18" charset="0"/>
                          </a:rPr>
                        </m:ctrlPr>
                      </m:dPr>
                      <m:e>
                        <m:r>
                          <a:rPr lang="en-US" sz="3200" b="0" i="1" u="none" strike="noStrike" baseline="0" smtClean="0">
                            <a:latin typeface="Cambria Math" panose="02040503050406030204" pitchFamily="18" charset="0"/>
                          </a:rPr>
                          <m:t>𝑥</m:t>
                        </m:r>
                      </m:e>
                    </m:d>
                    <m:r>
                      <a:rPr lang="en-US" sz="3200" b="0" i="1" u="none" strike="noStrike" baseline="0" smtClean="0">
                        <a:latin typeface="Cambria Math" panose="02040503050406030204" pitchFamily="18" charset="0"/>
                      </a:rPr>
                      <m:t>= </m:t>
                    </m:r>
                    <m:sSup>
                      <m:sSupPr>
                        <m:ctrlPr>
                          <a:rPr lang="en-US" sz="3200" b="0" i="1" u="none" strike="noStrike" baseline="0" smtClean="0">
                            <a:latin typeface="Cambria Math" panose="02040503050406030204" pitchFamily="18" charset="0"/>
                          </a:rPr>
                        </m:ctrlPr>
                      </m:sSupPr>
                      <m:e>
                        <m:r>
                          <a:rPr lang="en-US" sz="3200" b="0" i="1" u="none" strike="noStrike" baseline="0" smtClean="0">
                            <a:latin typeface="Cambria Math" panose="02040503050406030204" pitchFamily="18" charset="0"/>
                          </a:rPr>
                          <m:t>𝑒</m:t>
                        </m:r>
                      </m:e>
                      <m: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sup>
                    </m:s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oMath>
                </a14:m>
                <a:endParaRPr lang="en-US" sz="4400" dirty="0"/>
              </a:p>
              <a:p>
                <a14:m>
                  <m:oMath xmlns:m="http://schemas.openxmlformats.org/officeDocument/2006/math">
                    <m:sSub>
                      <m:sSubPr>
                        <m:ctrlPr>
                          <a:rPr lang="en-US" sz="440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𝑖</m:t>
                        </m:r>
                        <m:r>
                          <a:rPr lang="en-US" sz="4400" b="0" i="1" smtClean="0">
                            <a:latin typeface="Cambria Math" panose="02040503050406030204" pitchFamily="18" charset="0"/>
                          </a:rPr>
                          <m:t>+1</m:t>
                        </m:r>
                      </m:sub>
                    </m:sSub>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𝑒</m:t>
                        </m:r>
                      </m:e>
                      <m:sup>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𝑖</m:t>
                            </m:r>
                          </m:sub>
                        </m:sSub>
                      </m:sup>
                    </m:sSup>
                  </m:oMath>
                </a14:m>
                <a:endParaRPr lang="en-US" sz="4400" dirty="0"/>
              </a:p>
            </p:txBody>
          </p:sp>
        </mc:Choice>
        <mc:Fallback>
          <p:sp>
            <p:nvSpPr>
              <p:cNvPr id="5" name="Content Placeholder 4">
                <a:extLst>
                  <a:ext uri="{FF2B5EF4-FFF2-40B4-BE49-F238E27FC236}">
                    <a16:creationId xmlns:a16="http://schemas.microsoft.com/office/drawing/2014/main" id="{CA15EBE0-5479-43D2-B73A-DE505F142B58}"/>
                  </a:ext>
                </a:extLst>
              </p:cNvPr>
              <p:cNvSpPr>
                <a:spLocks noGrp="1" noRot="1" noChangeAspect="1" noMove="1" noResize="1" noEditPoints="1" noAdjustHandles="1" noChangeArrowheads="1" noChangeShapeType="1" noTextEdit="1"/>
              </p:cNvSpPr>
              <p:nvPr>
                <p:ph sz="half" idx="1"/>
              </p:nvPr>
            </p:nvSpPr>
            <p:spPr>
              <a:blipFill>
                <a:blip r:embed="rId2"/>
                <a:stretch>
                  <a:fillRect l="-2706" t="-3081" r="-2471"/>
                </a:stretch>
              </a:blipFill>
            </p:spPr>
            <p:txBody>
              <a:bodyPr/>
              <a:lstStyle/>
              <a:p>
                <a:r>
                  <a:rPr lang="en-US">
                    <a:noFill/>
                  </a:rPr>
                  <a:t> </a:t>
                </a:r>
              </a:p>
            </p:txBody>
          </p:sp>
        </mc:Fallback>
      </mc:AlternateContent>
      <p:pic>
        <p:nvPicPr>
          <p:cNvPr id="8" name="Content Placeholder 7">
            <a:extLst>
              <a:ext uri="{FF2B5EF4-FFF2-40B4-BE49-F238E27FC236}">
                <a16:creationId xmlns:a16="http://schemas.microsoft.com/office/drawing/2014/main" id="{EA8F8728-1E34-43EA-8D69-F41914B9764C}"/>
              </a:ext>
            </a:extLst>
          </p:cNvPr>
          <p:cNvPicPr>
            <a:picLocks noGrp="1" noChangeAspect="1"/>
          </p:cNvPicPr>
          <p:nvPr>
            <p:ph sz="half" idx="2"/>
          </p:nvPr>
        </p:nvPicPr>
        <p:blipFill>
          <a:blip r:embed="rId3"/>
          <a:stretch>
            <a:fillRect/>
          </a:stretch>
        </p:blipFill>
        <p:spPr>
          <a:xfrm>
            <a:off x="6172201" y="2181726"/>
            <a:ext cx="5181599" cy="3391592"/>
          </a:xfrm>
        </p:spPr>
      </p:pic>
    </p:spTree>
    <p:extLst>
      <p:ext uri="{BB962C8B-B14F-4D97-AF65-F5344CB8AC3E}">
        <p14:creationId xmlns:p14="http://schemas.microsoft.com/office/powerpoint/2010/main" val="2222734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C254-0106-447F-B570-A1888A89781B}"/>
              </a:ext>
            </a:extLst>
          </p:cNvPr>
          <p:cNvSpPr>
            <a:spLocks noGrp="1"/>
          </p:cNvSpPr>
          <p:nvPr>
            <p:ph type="title"/>
          </p:nvPr>
        </p:nvSpPr>
        <p:spPr/>
        <p:txBody>
          <a:bodyPr/>
          <a:lstStyle/>
          <a:p>
            <a:r>
              <a:rPr lang="en-US" dirty="0"/>
              <a:t>Convergence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D0ACEB-43F3-410A-8597-6889B5A4DA5B}"/>
                  </a:ext>
                </a:extLst>
              </p:cNvPr>
              <p:cNvSpPr>
                <a:spLocks noGrp="1"/>
              </p:cNvSpPr>
              <p:nvPr>
                <p:ph sz="half" idx="1"/>
              </p:nvPr>
            </p:nvSpPr>
            <p:spPr/>
            <p:txBody>
              <a:bodyPr>
                <a:normAutofit/>
              </a:bodyPr>
              <a:lstStyle/>
              <a:p>
                <a14:m>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e>
                    </m:d>
                    <m:r>
                      <a:rPr lang="en-US" sz="4400" b="0" i="1" smtClean="0">
                        <a:latin typeface="Cambria Math" panose="02040503050406030204" pitchFamily="18" charset="0"/>
                      </a:rPr>
                      <m:t>=</m:t>
                    </m:r>
                    <m:r>
                      <a:rPr lang="en-US" sz="4400" b="0" i="1" smtClean="0">
                        <a:latin typeface="Cambria Math" panose="02040503050406030204" pitchFamily="18" charset="0"/>
                      </a:rPr>
                      <m:t>𝑓</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2</m:t>
                        </m:r>
                      </m:sub>
                    </m:sSub>
                    <m:r>
                      <a:rPr lang="en-US" sz="4400" b="0" i="1" smtClean="0">
                        <a:latin typeface="Cambria Math" panose="02040503050406030204" pitchFamily="18" charset="0"/>
                      </a:rPr>
                      <m:t>)</m:t>
                    </m:r>
                  </m:oMath>
                </a14:m>
                <a:endParaRPr lang="en-US" sz="4400" dirty="0"/>
              </a:p>
              <a:p>
                <a:r>
                  <a:rPr lang="en-US" sz="3200" b="0" i="0" u="none" strike="noStrike" baseline="0" dirty="0">
                    <a:latin typeface="TimesLTStd-Roman"/>
                  </a:rPr>
                  <a:t>Separate the equation </a:t>
                </a:r>
                <a14:m>
                  <m:oMath xmlns:m="http://schemas.openxmlformats.org/officeDocument/2006/math">
                    <m:r>
                      <a:rPr lang="en-US" sz="3200" b="0" i="1" u="none" strike="noStrike" baseline="0" smtClean="0">
                        <a:latin typeface="Cambria Math" panose="02040503050406030204" pitchFamily="18" charset="0"/>
                      </a:rPr>
                      <m:t>𝑓</m:t>
                    </m:r>
                    <m:d>
                      <m:dPr>
                        <m:ctrlPr>
                          <a:rPr lang="en-US" sz="3200" b="0" i="1" u="none" strike="noStrike" baseline="0" smtClean="0">
                            <a:latin typeface="Cambria Math" panose="02040503050406030204" pitchFamily="18" charset="0"/>
                          </a:rPr>
                        </m:ctrlPr>
                      </m:dPr>
                      <m:e>
                        <m:r>
                          <a:rPr lang="en-US" sz="3200" b="0" i="1" u="none" strike="noStrike" baseline="0" smtClean="0">
                            <a:latin typeface="Cambria Math" panose="02040503050406030204" pitchFamily="18" charset="0"/>
                          </a:rPr>
                          <m:t>𝑥</m:t>
                        </m:r>
                      </m:e>
                    </m:d>
                    <m:r>
                      <a:rPr lang="en-US" sz="3200" b="0" i="1" u="none" strike="noStrike" baseline="0" smtClean="0">
                        <a:latin typeface="Cambria Math" panose="02040503050406030204" pitchFamily="18" charset="0"/>
                      </a:rPr>
                      <m:t>= </m:t>
                    </m:r>
                    <m:sSup>
                      <m:sSupPr>
                        <m:ctrlPr>
                          <a:rPr lang="en-US" sz="3200" b="0" i="1" u="none" strike="noStrike" baseline="0" smtClean="0">
                            <a:latin typeface="Cambria Math" panose="02040503050406030204" pitchFamily="18" charset="0"/>
                          </a:rPr>
                        </m:ctrlPr>
                      </m:sSupPr>
                      <m:e>
                        <m:r>
                          <a:rPr lang="en-US" sz="3200" b="0" i="1" u="none" strike="noStrike" baseline="0" smtClean="0">
                            <a:latin typeface="Cambria Math" panose="02040503050406030204" pitchFamily="18" charset="0"/>
                          </a:rPr>
                          <m:t>𝑒</m:t>
                        </m:r>
                      </m:e>
                      <m: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sup>
                    </m:s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oMath>
                </a14:m>
                <a:r>
                  <a:rPr lang="en-US" sz="3200" b="0" i="0" u="none" strike="noStrike" baseline="0" dirty="0">
                    <a:latin typeface="TimesLTStd-Roman"/>
                  </a:rPr>
                  <a:t> into two parts and determine its root graphically.</a:t>
                </a:r>
                <a:endParaRPr lang="en-US" sz="4400" dirty="0"/>
              </a:p>
            </p:txBody>
          </p:sp>
        </mc:Choice>
        <mc:Fallback>
          <p:sp>
            <p:nvSpPr>
              <p:cNvPr id="3" name="Content Placeholder 2">
                <a:extLst>
                  <a:ext uri="{FF2B5EF4-FFF2-40B4-BE49-F238E27FC236}">
                    <a16:creationId xmlns:a16="http://schemas.microsoft.com/office/drawing/2014/main" id="{8AD0ACEB-43F3-410A-8597-6889B5A4DA5B}"/>
                  </a:ext>
                </a:extLst>
              </p:cNvPr>
              <p:cNvSpPr>
                <a:spLocks noGrp="1" noRot="1" noChangeAspect="1" noMove="1" noResize="1" noEditPoints="1" noAdjustHandles="1" noChangeArrowheads="1" noChangeShapeType="1" noTextEdit="1"/>
              </p:cNvSpPr>
              <p:nvPr>
                <p:ph sz="half" idx="1"/>
              </p:nvPr>
            </p:nvSpPr>
            <p:spPr>
              <a:blipFill>
                <a:blip r:embed="rId2"/>
                <a:stretch>
                  <a:fillRect l="-2706"/>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C5C55D9E-AC31-4226-A531-1C66464F60C9}"/>
              </a:ext>
            </a:extLst>
          </p:cNvPr>
          <p:cNvPicPr>
            <a:picLocks noGrp="1" noChangeAspect="1"/>
          </p:cNvPicPr>
          <p:nvPr>
            <p:ph sz="half" idx="2"/>
          </p:nvPr>
        </p:nvPicPr>
        <p:blipFill>
          <a:blip r:embed="rId3"/>
          <a:stretch>
            <a:fillRect/>
          </a:stretch>
        </p:blipFill>
        <p:spPr>
          <a:xfrm>
            <a:off x="6930188" y="2056611"/>
            <a:ext cx="3416969" cy="2744778"/>
          </a:xfrm>
        </p:spPr>
      </p:pic>
    </p:spTree>
    <p:extLst>
      <p:ext uri="{BB962C8B-B14F-4D97-AF65-F5344CB8AC3E}">
        <p14:creationId xmlns:p14="http://schemas.microsoft.com/office/powerpoint/2010/main" val="395773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418DD-136C-437D-B8AE-4F6B0494520C}"/>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E4D99D-8A5A-40E5-9F66-48FDC1B0C39B}"/>
                  </a:ext>
                </a:extLst>
              </p:cNvPr>
              <p:cNvSpPr>
                <a:spLocks noGrp="1"/>
              </p:cNvSpPr>
              <p:nvPr>
                <p:ph sz="half" idx="1"/>
              </p:nvPr>
            </p:nvSpPr>
            <p:spPr/>
            <p:txBody>
              <a:bodyPr>
                <a:normAutofit/>
              </a:bodyPr>
              <a:lstStyle/>
              <a:p>
                <a:r>
                  <a:rPr lang="en-US" sz="3200" b="0" i="0" u="none" strike="noStrike" baseline="0" dirty="0">
                    <a:latin typeface="FuturaStd-Light"/>
                  </a:rPr>
                  <a:t>Two alternative graphical methods for determining the root of </a:t>
                </a:r>
                <a14:m>
                  <m:oMath xmlns:m="http://schemas.openxmlformats.org/officeDocument/2006/math">
                    <m:r>
                      <a:rPr lang="en-US" sz="3200" b="0" i="1" u="none" strike="noStrike" baseline="0" smtClean="0">
                        <a:latin typeface="Cambria Math" panose="02040503050406030204" pitchFamily="18" charset="0"/>
                      </a:rPr>
                      <m:t>𝑓</m:t>
                    </m:r>
                    <m:d>
                      <m:dPr>
                        <m:ctrlPr>
                          <a:rPr lang="en-US" sz="3200" b="0" i="1" u="none" strike="noStrike" baseline="0" smtClean="0">
                            <a:latin typeface="Cambria Math" panose="02040503050406030204" pitchFamily="18" charset="0"/>
                          </a:rPr>
                        </m:ctrlPr>
                      </m:dPr>
                      <m:e>
                        <m:r>
                          <a:rPr lang="en-US" sz="3200" b="0" i="1" u="none" strike="noStrike" baseline="0" smtClean="0">
                            <a:latin typeface="Cambria Math" panose="02040503050406030204" pitchFamily="18" charset="0"/>
                          </a:rPr>
                          <m:t>𝑥</m:t>
                        </m:r>
                      </m:e>
                    </m:d>
                    <m:r>
                      <a:rPr lang="en-US" sz="3200" b="0" i="1" u="none" strike="noStrike" baseline="0" smtClean="0">
                        <a:latin typeface="Cambria Math" panose="02040503050406030204" pitchFamily="18" charset="0"/>
                      </a:rPr>
                      <m:t>= </m:t>
                    </m:r>
                    <m:sSup>
                      <m:sSupPr>
                        <m:ctrlPr>
                          <a:rPr lang="en-US" sz="3200" b="0" i="1" u="none" strike="noStrike" baseline="0" smtClean="0">
                            <a:latin typeface="Cambria Math" panose="02040503050406030204" pitchFamily="18" charset="0"/>
                          </a:rPr>
                        </m:ctrlPr>
                      </m:sSupPr>
                      <m:e>
                        <m:r>
                          <a:rPr lang="en-US" sz="3200" b="0" i="1" u="none" strike="noStrike" baseline="0" smtClean="0">
                            <a:latin typeface="Cambria Math" panose="02040503050406030204" pitchFamily="18" charset="0"/>
                          </a:rPr>
                          <m:t>𝑒</m:t>
                        </m:r>
                      </m:e>
                      <m: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sup>
                    </m:sSup>
                    <m:r>
                      <a:rPr lang="en-US" sz="3200" b="0" i="1" u="none" strike="noStrike" baseline="0" smtClean="0">
                        <a:latin typeface="Cambria Math" panose="02040503050406030204" pitchFamily="18" charset="0"/>
                      </a:rPr>
                      <m:t>−</m:t>
                    </m:r>
                    <m:r>
                      <a:rPr lang="en-US" sz="3200" b="0" i="1" u="none" strike="noStrike" baseline="0" smtClean="0">
                        <a:latin typeface="Cambria Math" panose="02040503050406030204" pitchFamily="18" charset="0"/>
                      </a:rPr>
                      <m:t>𝑥</m:t>
                    </m:r>
                  </m:oMath>
                </a14:m>
                <a:r>
                  <a:rPr lang="en-US" sz="3200" dirty="0"/>
                  <a:t> </a:t>
                </a:r>
                <a:r>
                  <a:rPr lang="en-US" sz="3200" b="0" i="0" u="none" strike="noStrike" baseline="0" dirty="0">
                    <a:latin typeface="FuturaStd-Light"/>
                  </a:rPr>
                  <a:t>(</a:t>
                </a:r>
                <a:r>
                  <a:rPr lang="en-US" sz="3200" b="0" i="1" u="none" strike="noStrike" baseline="0" dirty="0">
                    <a:latin typeface="FuturaStd-LightOblique"/>
                  </a:rPr>
                  <a:t>a</a:t>
                </a:r>
                <a:r>
                  <a:rPr lang="en-US" sz="3200" b="0" i="0" u="none" strike="noStrike" baseline="0" dirty="0">
                    <a:latin typeface="FuturaStd-Light"/>
                  </a:rPr>
                  <a:t>) Root at the point where it crosses the </a:t>
                </a:r>
                <a:r>
                  <a:rPr lang="en-US" sz="3200" b="0" i="1" u="none" strike="noStrike" baseline="0" dirty="0">
                    <a:latin typeface="FuturaStd-LightOblique"/>
                  </a:rPr>
                  <a:t>x </a:t>
                </a:r>
                <a:r>
                  <a:rPr lang="en-US" sz="3200" b="0" i="0" u="none" strike="noStrike" baseline="0" dirty="0">
                    <a:latin typeface="FuturaStd-Light"/>
                  </a:rPr>
                  <a:t>axis; (</a:t>
                </a:r>
                <a:r>
                  <a:rPr lang="en-US" sz="3200" b="0" i="1" u="none" strike="noStrike" baseline="0" dirty="0">
                    <a:latin typeface="FuturaStd-LightOblique"/>
                  </a:rPr>
                  <a:t>b</a:t>
                </a:r>
                <a:r>
                  <a:rPr lang="en-US" sz="3200" b="0" i="0" u="none" strike="noStrike" baseline="0" dirty="0">
                    <a:latin typeface="FuturaStd-Light"/>
                  </a:rPr>
                  <a:t>) root at the intersection of the component functions.</a:t>
                </a:r>
                <a:endParaRPr lang="en-US" sz="4400" dirty="0"/>
              </a:p>
            </p:txBody>
          </p:sp>
        </mc:Choice>
        <mc:Fallback>
          <p:sp>
            <p:nvSpPr>
              <p:cNvPr id="3" name="Content Placeholder 2">
                <a:extLst>
                  <a:ext uri="{FF2B5EF4-FFF2-40B4-BE49-F238E27FC236}">
                    <a16:creationId xmlns:a16="http://schemas.microsoft.com/office/drawing/2014/main" id="{E9E4D99D-8A5A-40E5-9F66-48FDC1B0C39B}"/>
                  </a:ext>
                </a:extLst>
              </p:cNvPr>
              <p:cNvSpPr>
                <a:spLocks noGrp="1" noRot="1" noChangeAspect="1" noMove="1" noResize="1" noEditPoints="1" noAdjustHandles="1" noChangeArrowheads="1" noChangeShapeType="1" noTextEdit="1"/>
              </p:cNvSpPr>
              <p:nvPr>
                <p:ph sz="half" idx="1"/>
              </p:nvPr>
            </p:nvSpPr>
            <p:spPr>
              <a:blipFill>
                <a:blip r:embed="rId2"/>
                <a:stretch>
                  <a:fillRect l="-2706" t="-2941" r="-941"/>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BAF9CB88-CD01-4A7F-8302-E2D3E3727CFC}"/>
              </a:ext>
            </a:extLst>
          </p:cNvPr>
          <p:cNvPicPr>
            <a:picLocks noGrp="1" noChangeAspect="1"/>
          </p:cNvPicPr>
          <p:nvPr>
            <p:ph sz="half" idx="2"/>
          </p:nvPr>
        </p:nvPicPr>
        <p:blipFill>
          <a:blip r:embed="rId3"/>
          <a:stretch>
            <a:fillRect/>
          </a:stretch>
        </p:blipFill>
        <p:spPr>
          <a:xfrm>
            <a:off x="7319761" y="1876922"/>
            <a:ext cx="2886478" cy="4248743"/>
          </a:xfrm>
        </p:spPr>
      </p:pic>
    </p:spTree>
    <p:extLst>
      <p:ext uri="{BB962C8B-B14F-4D97-AF65-F5344CB8AC3E}">
        <p14:creationId xmlns:p14="http://schemas.microsoft.com/office/powerpoint/2010/main" val="2963001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A09C25-1BEE-4BEC-BAAD-D2C520321E14}"/>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4DDBC1E-F44E-4049-86CB-02890D2B2DCD}"/>
              </a:ext>
            </a:extLst>
          </p:cNvPr>
          <p:cNvSpPr>
            <a:spLocks noGrp="1"/>
          </p:cNvSpPr>
          <p:nvPr>
            <p:ph sz="half" idx="1"/>
          </p:nvPr>
        </p:nvSpPr>
        <p:spPr/>
        <p:txBody>
          <a:bodyPr>
            <a:normAutofit/>
          </a:bodyPr>
          <a:lstStyle/>
          <a:p>
            <a:pPr marL="0" indent="0" algn="l">
              <a:buNone/>
            </a:pPr>
            <a:r>
              <a:rPr lang="en-US" b="0" i="0" u="none" strike="noStrike" baseline="0" dirty="0">
                <a:latin typeface="FuturaStd-Light"/>
              </a:rPr>
              <a:t>Iteration cobwebs depicting convergence (</a:t>
            </a:r>
            <a:r>
              <a:rPr lang="en-US" b="0" i="1" u="none" strike="noStrike" baseline="0" dirty="0">
                <a:latin typeface="FuturaStd-LightOblique"/>
              </a:rPr>
              <a:t>a </a:t>
            </a:r>
            <a:r>
              <a:rPr lang="en-US" b="0" i="0" u="none" strike="noStrike" baseline="0" dirty="0">
                <a:latin typeface="FuturaStd-Light"/>
              </a:rPr>
              <a:t>and </a:t>
            </a:r>
            <a:r>
              <a:rPr lang="en-US" b="0" i="1" u="none" strike="noStrike" baseline="0" dirty="0">
                <a:latin typeface="FuturaStd-LightOblique"/>
              </a:rPr>
              <a:t>b</a:t>
            </a:r>
            <a:r>
              <a:rPr lang="en-US" b="0" i="0" u="none" strike="noStrike" baseline="0" dirty="0">
                <a:latin typeface="FuturaStd-Light"/>
              </a:rPr>
              <a:t>) and divergence (</a:t>
            </a:r>
            <a:r>
              <a:rPr lang="en-US" b="0" i="1" u="none" strike="noStrike" baseline="0" dirty="0">
                <a:latin typeface="FuturaStd-LightOblique"/>
              </a:rPr>
              <a:t>c </a:t>
            </a:r>
            <a:r>
              <a:rPr lang="en-US" b="0" i="0" u="none" strike="noStrike" baseline="0" dirty="0">
                <a:latin typeface="FuturaStd-Light"/>
              </a:rPr>
              <a:t>and </a:t>
            </a:r>
            <a:r>
              <a:rPr lang="en-US" b="0" i="1" u="none" strike="noStrike" baseline="0" dirty="0">
                <a:latin typeface="FuturaStd-LightOblique"/>
              </a:rPr>
              <a:t>d</a:t>
            </a:r>
            <a:r>
              <a:rPr lang="en-US" b="0" i="0" u="none" strike="noStrike" baseline="0" dirty="0">
                <a:latin typeface="FuturaStd-Light"/>
              </a:rPr>
              <a:t>) of simple fixed-point iteration. Graphs (</a:t>
            </a:r>
            <a:r>
              <a:rPr lang="en-US" b="0" i="1" u="none" strike="noStrike" baseline="0" dirty="0">
                <a:latin typeface="FuturaStd-LightOblique"/>
              </a:rPr>
              <a:t>a</a:t>
            </a:r>
            <a:r>
              <a:rPr lang="en-US" b="0" i="0" u="none" strike="noStrike" baseline="0" dirty="0">
                <a:latin typeface="FuturaStd-Light"/>
              </a:rPr>
              <a:t>) and (</a:t>
            </a:r>
            <a:r>
              <a:rPr lang="en-US" b="0" i="1" u="none" strike="noStrike" baseline="0" dirty="0">
                <a:latin typeface="FuturaStd-LightOblique"/>
              </a:rPr>
              <a:t>c</a:t>
            </a:r>
            <a:r>
              <a:rPr lang="en-US" b="0" i="0" u="none" strike="noStrike" baseline="0" dirty="0">
                <a:latin typeface="FuturaStd-Light"/>
              </a:rPr>
              <a:t>) are called monotone patterns, whereas (</a:t>
            </a:r>
            <a:r>
              <a:rPr lang="en-US" b="0" i="1" u="none" strike="noStrike" baseline="0" dirty="0">
                <a:latin typeface="FuturaStd-LightOblique"/>
              </a:rPr>
              <a:t>b</a:t>
            </a:r>
            <a:r>
              <a:rPr lang="en-US" b="0" i="0" u="none" strike="noStrike" baseline="0" dirty="0">
                <a:latin typeface="FuturaStd-Light"/>
              </a:rPr>
              <a:t>) and (</a:t>
            </a:r>
            <a:r>
              <a:rPr lang="en-US" b="0" i="1" u="none" strike="noStrike" baseline="0" dirty="0">
                <a:latin typeface="FuturaStd-LightOblique"/>
              </a:rPr>
              <a:t>d</a:t>
            </a:r>
            <a:r>
              <a:rPr lang="en-US" b="0" i="0" u="none" strike="noStrike" baseline="0" dirty="0">
                <a:latin typeface="FuturaStd-Light"/>
              </a:rPr>
              <a:t>) are called oscillating or spiral patterns. Note that convergence occurs when |</a:t>
            </a:r>
            <a:r>
              <a:rPr lang="en-US" b="0" i="1" u="none" strike="noStrike" baseline="0" dirty="0">
                <a:latin typeface="FuturaStd-LightOblique"/>
              </a:rPr>
              <a:t>g</a:t>
            </a:r>
            <a:r>
              <a:rPr lang="en-US" dirty="0">
                <a:latin typeface="MathematicalPiOTF1"/>
              </a:rPr>
              <a:t>’</a:t>
            </a:r>
            <a:r>
              <a:rPr lang="en-US" b="0" i="0" u="none" strike="noStrike" baseline="0" dirty="0">
                <a:latin typeface="FuturaStd-Light"/>
              </a:rPr>
              <a:t>(</a:t>
            </a:r>
            <a:r>
              <a:rPr lang="en-US" b="0" i="1" u="none" strike="noStrike" baseline="0" dirty="0">
                <a:latin typeface="FuturaStd-LightOblique"/>
              </a:rPr>
              <a:t>x</a:t>
            </a:r>
            <a:r>
              <a:rPr lang="en-US" b="0" i="0" u="none" strike="noStrike" baseline="0" dirty="0">
                <a:latin typeface="FuturaStd-Light"/>
              </a:rPr>
              <a:t>)| </a:t>
            </a:r>
            <a:r>
              <a:rPr lang="en-US" b="0" i="0" u="none" strike="noStrike" baseline="0" dirty="0">
                <a:latin typeface="MathematicalPiOTF1"/>
              </a:rPr>
              <a:t>&lt;</a:t>
            </a:r>
            <a:r>
              <a:rPr lang="en-US" b="0" i="0" u="none" strike="noStrike" baseline="0" dirty="0">
                <a:latin typeface="FuturaStd-Light"/>
              </a:rPr>
              <a:t>1.</a:t>
            </a:r>
            <a:endParaRPr lang="en-US" sz="4000" dirty="0"/>
          </a:p>
        </p:txBody>
      </p:sp>
      <p:pic>
        <p:nvPicPr>
          <p:cNvPr id="8" name="Content Placeholder 7">
            <a:extLst>
              <a:ext uri="{FF2B5EF4-FFF2-40B4-BE49-F238E27FC236}">
                <a16:creationId xmlns:a16="http://schemas.microsoft.com/office/drawing/2014/main" id="{1242CB2A-4AA6-4F23-840A-D88D3CE171EE}"/>
              </a:ext>
            </a:extLst>
          </p:cNvPr>
          <p:cNvPicPr>
            <a:picLocks noGrp="1" noChangeAspect="1"/>
          </p:cNvPicPr>
          <p:nvPr>
            <p:ph sz="half" idx="2"/>
          </p:nvPr>
        </p:nvPicPr>
        <p:blipFill>
          <a:blip r:embed="rId2"/>
          <a:stretch>
            <a:fillRect/>
          </a:stretch>
        </p:blipFill>
        <p:spPr>
          <a:xfrm>
            <a:off x="6732679" y="1825625"/>
            <a:ext cx="4060642" cy="4351338"/>
          </a:xfrm>
        </p:spPr>
      </p:pic>
    </p:spTree>
    <p:extLst>
      <p:ext uri="{BB962C8B-B14F-4D97-AF65-F5344CB8AC3E}">
        <p14:creationId xmlns:p14="http://schemas.microsoft.com/office/powerpoint/2010/main" val="420936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660A-702A-4EB0-A314-E8B463B65AD0}"/>
              </a:ext>
            </a:extLst>
          </p:cNvPr>
          <p:cNvSpPr>
            <a:spLocks noGrp="1"/>
          </p:cNvSpPr>
          <p:nvPr>
            <p:ph type="title"/>
          </p:nvPr>
        </p:nvSpPr>
        <p:spPr/>
        <p:txBody>
          <a:bodyPr/>
          <a:lstStyle/>
          <a:p>
            <a:r>
              <a:rPr lang="en-US"/>
              <a:t>Algorithm</a:t>
            </a:r>
          </a:p>
        </p:txBody>
      </p:sp>
      <p:pic>
        <p:nvPicPr>
          <p:cNvPr id="5" name="Content Placeholder 4">
            <a:extLst>
              <a:ext uri="{FF2B5EF4-FFF2-40B4-BE49-F238E27FC236}">
                <a16:creationId xmlns:a16="http://schemas.microsoft.com/office/drawing/2014/main" id="{9AFF9BAE-67BD-470D-A100-01B0261C7970}"/>
              </a:ext>
            </a:extLst>
          </p:cNvPr>
          <p:cNvPicPr>
            <a:picLocks noGrp="1" noChangeAspect="1"/>
          </p:cNvPicPr>
          <p:nvPr>
            <p:ph idx="1"/>
          </p:nvPr>
        </p:nvPicPr>
        <p:blipFill>
          <a:blip r:embed="rId2"/>
          <a:stretch>
            <a:fillRect/>
          </a:stretch>
        </p:blipFill>
        <p:spPr>
          <a:xfrm>
            <a:off x="3769896" y="1690688"/>
            <a:ext cx="4323576" cy="4455091"/>
          </a:xfrm>
        </p:spPr>
      </p:pic>
    </p:spTree>
    <p:extLst>
      <p:ext uri="{BB962C8B-B14F-4D97-AF65-F5344CB8AC3E}">
        <p14:creationId xmlns:p14="http://schemas.microsoft.com/office/powerpoint/2010/main" val="3242100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342</Words>
  <Application>Microsoft Office PowerPoint</Application>
  <PresentationFormat>Widescreen</PresentationFormat>
  <Paragraphs>18</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Calibri</vt:lpstr>
      <vt:lpstr>Calibri Light</vt:lpstr>
      <vt:lpstr>Cambria Math</vt:lpstr>
      <vt:lpstr>FuturaStd-Book</vt:lpstr>
      <vt:lpstr>FuturaStd-Light</vt:lpstr>
      <vt:lpstr>FuturaStd-LightOblique</vt:lpstr>
      <vt:lpstr>MathematicalPiOTF1</vt:lpstr>
      <vt:lpstr>TimesLTStd-Roman</vt:lpstr>
      <vt:lpstr>Office Theme</vt:lpstr>
      <vt:lpstr>Chapter 6</vt:lpstr>
      <vt:lpstr>PowerPoint Presentation</vt:lpstr>
      <vt:lpstr>PowerPoint Presentation</vt:lpstr>
      <vt:lpstr>SIMPLE FIXED-POINT ITERATION</vt:lpstr>
      <vt:lpstr>PowerPoint Presentation</vt:lpstr>
      <vt:lpstr>Convergence</vt:lpstr>
      <vt:lpstr>PowerPoint Presentation</vt:lpstr>
      <vt:lpstr>PowerPoint Presentation</vt:lpstr>
      <vt:lpstr>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Abu Rafe Md Jamil</dc:creator>
  <cp:lastModifiedBy>Abu Rafe Md Jamil</cp:lastModifiedBy>
  <cp:revision>5</cp:revision>
  <dcterms:created xsi:type="dcterms:W3CDTF">2024-11-02T04:19:19Z</dcterms:created>
  <dcterms:modified xsi:type="dcterms:W3CDTF">2024-11-02T04:35:34Z</dcterms:modified>
</cp:coreProperties>
</file>