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7" r:id="rId2"/>
    <p:sldId id="256" r:id="rId3"/>
    <p:sldId id="260" r:id="rId4"/>
    <p:sldId id="268" r:id="rId5"/>
    <p:sldId id="267" r:id="rId6"/>
    <p:sldId id="266" r:id="rId7"/>
    <p:sldId id="265" r:id="rId8"/>
    <p:sldId id="264" r:id="rId9"/>
    <p:sldId id="263" r:id="rId10"/>
    <p:sldId id="262" r:id="rId11"/>
    <p:sldId id="261" r:id="rId12"/>
    <p:sldId id="269" r:id="rId13"/>
    <p:sldId id="274" r:id="rId14"/>
    <p:sldId id="273" r:id="rId15"/>
    <p:sldId id="272" r:id="rId16"/>
    <p:sldId id="271" r:id="rId17"/>
    <p:sldId id="270" r:id="rId18"/>
    <p:sldId id="275" r:id="rId19"/>
    <p:sldId id="276"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2/12/2023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2/12/2023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2/12/2023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2/12/2023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2/12/2023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2/12/2023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60315" y="1066800"/>
            <a:ext cx="6837641" cy="1815882"/>
          </a:xfrm>
          <a:prstGeom prst="rect">
            <a:avLst/>
          </a:prstGeom>
          <a:noFill/>
        </p:spPr>
        <p:txBody>
          <a:bodyPr wrap="none" rtlCol="0">
            <a:spAutoFit/>
          </a:bodyPr>
          <a:lstStyle/>
          <a:p>
            <a:pPr algn="ctr"/>
            <a:r>
              <a:rPr lang="en-US" sz="2800" dirty="0" err="1" smtClean="0">
                <a:latin typeface="Times New Roman" pitchFamily="18" charset="0"/>
                <a:cs typeface="Times New Roman" pitchFamily="18" charset="0"/>
              </a:rPr>
              <a:t>Dr.Suman</a:t>
            </a:r>
            <a:r>
              <a:rPr lang="en-US" sz="2800" dirty="0" smtClean="0">
                <a:latin typeface="Times New Roman" pitchFamily="18" charset="0"/>
                <a:cs typeface="Times New Roman" pitchFamily="18" charset="0"/>
              </a:rPr>
              <a:t> Chandra </a:t>
            </a:r>
            <a:r>
              <a:rPr lang="en-US" sz="2800" dirty="0" err="1" smtClean="0">
                <a:latin typeface="Times New Roman" pitchFamily="18" charset="0"/>
                <a:cs typeface="Times New Roman" pitchFamily="18" charset="0"/>
              </a:rPr>
              <a:t>Mohanta</a:t>
            </a:r>
            <a:endParaRPr lang="en-US" sz="2800" dirty="0" smtClean="0">
              <a:latin typeface="Times New Roman" pitchFamily="18" charset="0"/>
              <a:cs typeface="Times New Roman" pitchFamily="18" charset="0"/>
            </a:endParaRPr>
          </a:p>
          <a:p>
            <a:pPr algn="ctr"/>
            <a:r>
              <a:rPr lang="en-US" sz="2800" dirty="0" smtClean="0">
                <a:latin typeface="Times New Roman" pitchFamily="18" charset="0"/>
                <a:cs typeface="Times New Roman" pitchFamily="18" charset="0"/>
              </a:rPr>
              <a:t>Associate Professor</a:t>
            </a:r>
          </a:p>
          <a:p>
            <a:pPr algn="ctr"/>
            <a:r>
              <a:rPr lang="en-US" sz="2800" dirty="0" smtClean="0">
                <a:latin typeface="Times New Roman" pitchFamily="18" charset="0"/>
                <a:cs typeface="Times New Roman" pitchFamily="18" charset="0"/>
              </a:rPr>
              <a:t>Department of Chemistry</a:t>
            </a:r>
            <a:endParaRPr lang="en-US" sz="2800" dirty="0" smtClean="0">
              <a:latin typeface="Times New Roman" pitchFamily="18" charset="0"/>
              <a:cs typeface="Times New Roman" pitchFamily="18" charset="0"/>
            </a:endParaRPr>
          </a:p>
          <a:p>
            <a:pPr algn="ctr"/>
            <a:r>
              <a:rPr lang="en-US" sz="2800" dirty="0" err="1" smtClean="0">
                <a:latin typeface="Times New Roman" pitchFamily="18" charset="0"/>
                <a:cs typeface="Times New Roman" pitchFamily="18" charset="0"/>
              </a:rPr>
              <a:t>Jashore</a:t>
            </a:r>
            <a:r>
              <a:rPr lang="en-US"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University of Science </a:t>
            </a:r>
            <a:r>
              <a:rPr lang="en-US" sz="2800" dirty="0" smtClean="0">
                <a:latin typeface="Times New Roman" pitchFamily="18" charset="0"/>
                <a:cs typeface="Times New Roman" pitchFamily="18" charset="0"/>
              </a:rPr>
              <a:t>and </a:t>
            </a:r>
            <a:r>
              <a:rPr lang="en-US" sz="2800" dirty="0" smtClean="0">
                <a:latin typeface="Times New Roman" pitchFamily="18" charset="0"/>
                <a:cs typeface="Times New Roman" pitchFamily="18" charset="0"/>
              </a:rPr>
              <a:t>Technology</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xmlns="" val="1451980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p:cNvSpPr/>
          <p:nvPr/>
        </p:nvSpPr>
        <p:spPr>
          <a:xfrm>
            <a:off x="3999750" y="411480"/>
            <a:ext cx="1641796" cy="584775"/>
          </a:xfrm>
          <a:prstGeom prst="rect">
            <a:avLst/>
          </a:prstGeom>
        </p:spPr>
        <p:txBody>
          <a:bodyPr wrap="none">
            <a:spAutoFit/>
          </a:bodyPr>
          <a:lstStyle/>
          <a:p>
            <a:r>
              <a:rPr lang="en-US" sz="3200" b="1" dirty="0">
                <a:latin typeface="Times New Roman" pitchFamily="18" charset="0"/>
                <a:cs typeface="Times New Roman" pitchFamily="18" charset="0"/>
              </a:rPr>
              <a:t>Solution</a:t>
            </a:r>
          </a:p>
        </p:txBody>
      </p:sp>
      <p:sp>
        <p:nvSpPr>
          <p:cNvPr id="5" name="Rectangle 4"/>
          <p:cNvSpPr/>
          <p:nvPr/>
        </p:nvSpPr>
        <p:spPr>
          <a:xfrm>
            <a:off x="0" y="1143000"/>
            <a:ext cx="8991600" cy="954107"/>
          </a:xfrm>
          <a:prstGeom prst="rect">
            <a:avLst/>
          </a:prstGeom>
        </p:spPr>
        <p:txBody>
          <a:bodyPr wrap="square">
            <a:spAutoFit/>
          </a:bodyPr>
          <a:lstStyle/>
          <a:p>
            <a:r>
              <a:rPr lang="en-US" dirty="0">
                <a:latin typeface="Times New Roman" pitchFamily="18" charset="0"/>
                <a:cs typeface="Times New Roman" pitchFamily="18" charset="0"/>
              </a:rPr>
              <a:t> A </a:t>
            </a:r>
            <a:r>
              <a:rPr lang="en-US" sz="2000" dirty="0">
                <a:latin typeface="Times New Roman" pitchFamily="18" charset="0"/>
                <a:cs typeface="Times New Roman" pitchFamily="18" charset="0"/>
              </a:rPr>
              <a:t>solution</a:t>
            </a:r>
            <a:r>
              <a:rPr lang="en-US" dirty="0">
                <a:latin typeface="Times New Roman" pitchFamily="18" charset="0"/>
                <a:cs typeface="Times New Roman" pitchFamily="18" charset="0"/>
              </a:rPr>
              <a:t> is a homogeneous mixture of two or more substances on molecular level. The constituent of the mixture present in a smaller amount is called the Solute and the one present in a larger amount is called the Solvent.</a:t>
            </a:r>
          </a:p>
        </p:txBody>
      </p:sp>
      <p:sp>
        <p:nvSpPr>
          <p:cNvPr id="6" name="Rectangle 5"/>
          <p:cNvSpPr/>
          <p:nvPr/>
        </p:nvSpPr>
        <p:spPr>
          <a:xfrm>
            <a:off x="2819400" y="2286000"/>
            <a:ext cx="4562049" cy="461665"/>
          </a:xfrm>
          <a:prstGeom prst="rect">
            <a:avLst/>
          </a:prstGeom>
        </p:spPr>
        <p:txBody>
          <a:bodyPr wrap="square">
            <a:spAutoFit/>
          </a:bodyPr>
          <a:lstStyle/>
          <a:p>
            <a:r>
              <a:rPr lang="en-US" sz="2400" b="1" dirty="0">
                <a:latin typeface="Times New Roman" pitchFamily="18" charset="0"/>
                <a:cs typeface="Times New Roman" pitchFamily="18" charset="0"/>
              </a:rPr>
              <a:t>TYPES OF SOLUTIONS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2400" y="2971800"/>
            <a:ext cx="8808720" cy="3124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91615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1000" fill="hold"/>
                                        <p:tgtEl>
                                          <p:spTgt spid="5"/>
                                        </p:tgtEl>
                                        <p:attrNameLst>
                                          <p:attrName>ppt_x</p:attrName>
                                        </p:attrNameLst>
                                      </p:cBhvr>
                                      <p:tavLst>
                                        <p:tav tm="0">
                                          <p:val>
                                            <p:strVal val="#ppt_x"/>
                                          </p:val>
                                        </p:tav>
                                        <p:tav tm="100000">
                                          <p:val>
                                            <p:strVal val="#ppt_x"/>
                                          </p:val>
                                        </p:tav>
                                      </p:tavLst>
                                    </p:anim>
                                    <p:anim calcmode="lin" valueType="num">
                                      <p:cBhvr additive="base">
                                        <p:cTn id="14"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1000" fill="hold"/>
                                        <p:tgtEl>
                                          <p:spTgt spid="6"/>
                                        </p:tgtEl>
                                        <p:attrNameLst>
                                          <p:attrName>ppt_x</p:attrName>
                                        </p:attrNameLst>
                                      </p:cBhvr>
                                      <p:tavLst>
                                        <p:tav tm="0">
                                          <p:val>
                                            <p:strVal val="#ppt_x"/>
                                          </p:val>
                                        </p:tav>
                                        <p:tav tm="100000">
                                          <p:val>
                                            <p:strVal val="#ppt_x"/>
                                          </p:val>
                                        </p:tav>
                                      </p:tavLst>
                                    </p:anim>
                                    <p:anim calcmode="lin" valueType="num">
                                      <p:cBhvr additive="base">
                                        <p:cTn id="20" dur="10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nodeType="clickEffect">
                                  <p:stCondLst>
                                    <p:cond delay="0"/>
                                  </p:stCondLst>
                                  <p:childTnLst>
                                    <p:set>
                                      <p:cBhvr>
                                        <p:cTn id="24" dur="1" fill="hold">
                                          <p:stCondLst>
                                            <p:cond delay="0"/>
                                          </p:stCondLst>
                                        </p:cTn>
                                        <p:tgtEl>
                                          <p:spTgt spid="1026"/>
                                        </p:tgtEl>
                                        <p:attrNameLst>
                                          <p:attrName>style.visibility</p:attrName>
                                        </p:attrNameLst>
                                      </p:cBhvr>
                                      <p:to>
                                        <p:strVal val="visible"/>
                                      </p:to>
                                    </p:set>
                                    <p:animEffect transition="in" filter="wheel(1)">
                                      <p:cBhvr>
                                        <p:cTn id="25" dur="2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p:cNvSpPr/>
          <p:nvPr/>
        </p:nvSpPr>
        <p:spPr>
          <a:xfrm>
            <a:off x="1981200" y="228600"/>
            <a:ext cx="6258958" cy="523220"/>
          </a:xfrm>
          <a:prstGeom prst="rect">
            <a:avLst/>
          </a:prstGeom>
        </p:spPr>
        <p:txBody>
          <a:bodyPr wrap="none">
            <a:spAutoFit/>
          </a:bodyPr>
          <a:lstStyle/>
          <a:p>
            <a:r>
              <a:rPr lang="en-US" sz="2800" b="1" dirty="0">
                <a:latin typeface="Times New Roman" pitchFamily="18" charset="0"/>
                <a:cs typeface="Times New Roman" pitchFamily="18" charset="0"/>
              </a:rPr>
              <a:t>CONCENTRATION OF A SOLUTION</a:t>
            </a:r>
          </a:p>
        </p:txBody>
      </p:sp>
      <p:sp>
        <p:nvSpPr>
          <p:cNvPr id="5" name="Rectangle 4"/>
          <p:cNvSpPr/>
          <p:nvPr/>
        </p:nvSpPr>
        <p:spPr>
          <a:xfrm>
            <a:off x="1828800" y="793024"/>
            <a:ext cx="5562600" cy="707886"/>
          </a:xfrm>
          <a:prstGeom prst="rect">
            <a:avLst/>
          </a:prstGeom>
        </p:spPr>
        <p:txBody>
          <a:bodyPr wrap="square">
            <a:spAutoFit/>
          </a:bodyPr>
          <a:lstStyle/>
          <a:p>
            <a:r>
              <a:rPr lang="en-US" sz="2000" dirty="0">
                <a:latin typeface="Times New Roman" pitchFamily="18" charset="0"/>
                <a:cs typeface="Times New Roman" pitchFamily="18" charset="0"/>
              </a:rPr>
              <a:t>Concentration =     Quantity of solute</a:t>
            </a:r>
          </a:p>
          <a:p>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Volume </a:t>
            </a:r>
            <a:r>
              <a:rPr lang="en-US" sz="2000" dirty="0">
                <a:latin typeface="Times New Roman" pitchFamily="18" charset="0"/>
                <a:cs typeface="Times New Roman" pitchFamily="18" charset="0"/>
              </a:rPr>
              <a:t>of solution</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959860" y="1019451"/>
            <a:ext cx="1989243" cy="2550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Rectangle 5"/>
          <p:cNvSpPr/>
          <p:nvPr/>
        </p:nvSpPr>
        <p:spPr>
          <a:xfrm>
            <a:off x="535389" y="1725530"/>
            <a:ext cx="2261196" cy="400110"/>
          </a:xfrm>
          <a:prstGeom prst="rect">
            <a:avLst/>
          </a:prstGeom>
        </p:spPr>
        <p:txBody>
          <a:bodyPr wrap="none">
            <a:spAutoFit/>
          </a:bodyPr>
          <a:lstStyle/>
          <a:p>
            <a:r>
              <a:rPr lang="en-US" sz="2000" b="1" dirty="0">
                <a:latin typeface="Times New Roman" pitchFamily="18" charset="0"/>
                <a:cs typeface="Times New Roman" pitchFamily="18" charset="0"/>
              </a:rPr>
              <a:t>Per cent by Weight</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584026" y="1702330"/>
            <a:ext cx="6483773" cy="81552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Rectangle 6"/>
          <p:cNvSpPr/>
          <p:nvPr/>
        </p:nvSpPr>
        <p:spPr>
          <a:xfrm>
            <a:off x="454772" y="2935962"/>
            <a:ext cx="2178802" cy="369332"/>
          </a:xfrm>
          <a:prstGeom prst="rect">
            <a:avLst/>
          </a:prstGeom>
        </p:spPr>
        <p:txBody>
          <a:bodyPr wrap="none">
            <a:spAutoFit/>
          </a:bodyPr>
          <a:lstStyle/>
          <a:p>
            <a:r>
              <a:rPr lang="en-US" b="1" dirty="0">
                <a:latin typeface="Times New Roman" pitchFamily="18" charset="0"/>
                <a:cs typeface="Times New Roman" pitchFamily="18" charset="0"/>
              </a:rPr>
              <a:t>MOLE FRACTION</a:t>
            </a:r>
          </a:p>
        </p:txBody>
      </p:sp>
      <p:pic>
        <p:nvPicPr>
          <p:cNvPr id="2052" name="Picture 4"/>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2568786" y="2654180"/>
            <a:ext cx="5214831" cy="93289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8" name="Rectangle 7"/>
          <p:cNvSpPr/>
          <p:nvPr/>
        </p:nvSpPr>
        <p:spPr>
          <a:xfrm>
            <a:off x="513743" y="4191000"/>
            <a:ext cx="1625766" cy="400110"/>
          </a:xfrm>
          <a:prstGeom prst="rect">
            <a:avLst/>
          </a:prstGeom>
        </p:spPr>
        <p:txBody>
          <a:bodyPr wrap="none">
            <a:spAutoFit/>
          </a:bodyPr>
          <a:lstStyle/>
          <a:p>
            <a:r>
              <a:rPr lang="en-US" sz="2000" b="1" dirty="0">
                <a:latin typeface="Times New Roman" pitchFamily="18" charset="0"/>
                <a:cs typeface="Times New Roman" pitchFamily="18" charset="0"/>
              </a:rPr>
              <a:t>MOLARITY</a:t>
            </a:r>
          </a:p>
        </p:txBody>
      </p:sp>
      <p:pic>
        <p:nvPicPr>
          <p:cNvPr id="2053" name="Picture 5"/>
          <p:cNvPicPr>
            <a:picLocks noChangeAspect="1" noChangeArrowheads="1"/>
          </p:cNvPicPr>
          <p:nvPr/>
        </p:nvPicPr>
        <p:blipFill>
          <a:blip r:embed="rId5">
            <a:extLst>
              <a:ext uri="{28A0092B-C50C-407E-A947-70E740481C1C}">
                <a14:useLocalDpi xmlns:a14="http://schemas.microsoft.com/office/drawing/2010/main" xmlns="" val="0"/>
              </a:ext>
            </a:extLst>
          </a:blip>
          <a:srcRect/>
          <a:stretch>
            <a:fillRect/>
          </a:stretch>
        </p:blipFill>
        <p:spPr bwMode="auto">
          <a:xfrm>
            <a:off x="2530686" y="4149810"/>
            <a:ext cx="3815715" cy="8320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9" name="Rectangle 8"/>
          <p:cNvSpPr/>
          <p:nvPr/>
        </p:nvSpPr>
        <p:spPr>
          <a:xfrm>
            <a:off x="535389" y="5410200"/>
            <a:ext cx="1611339" cy="400110"/>
          </a:xfrm>
          <a:prstGeom prst="rect">
            <a:avLst/>
          </a:prstGeom>
        </p:spPr>
        <p:txBody>
          <a:bodyPr wrap="none">
            <a:spAutoFit/>
          </a:bodyPr>
          <a:lstStyle/>
          <a:p>
            <a:r>
              <a:rPr lang="en-US" sz="2000" b="1" dirty="0">
                <a:latin typeface="Times New Roman" pitchFamily="18" charset="0"/>
                <a:cs typeface="Times New Roman" pitchFamily="18" charset="0"/>
              </a:rPr>
              <a:t>MOLALITY</a:t>
            </a:r>
          </a:p>
        </p:txBody>
      </p:sp>
      <p:pic>
        <p:nvPicPr>
          <p:cNvPr id="2054" name="Picture 6"/>
          <p:cNvPicPr>
            <a:picLocks noChangeAspect="1" noChangeArrowheads="1"/>
          </p:cNvPicPr>
          <p:nvPr/>
        </p:nvPicPr>
        <p:blipFill>
          <a:blip r:embed="rId6">
            <a:extLst>
              <a:ext uri="{28A0092B-C50C-407E-A947-70E740481C1C}">
                <a14:useLocalDpi xmlns:a14="http://schemas.microsoft.com/office/drawing/2010/main" xmlns="" val="0"/>
              </a:ext>
            </a:extLst>
          </a:blip>
          <a:srcRect/>
          <a:stretch>
            <a:fillRect/>
          </a:stretch>
        </p:blipFill>
        <p:spPr bwMode="auto">
          <a:xfrm>
            <a:off x="2130349" y="5111398"/>
            <a:ext cx="6344013" cy="99771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261994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10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nodeType="clickEffect">
                                  <p:stCondLst>
                                    <p:cond delay="0"/>
                                  </p:stCondLst>
                                  <p:childTnLst>
                                    <p:set>
                                      <p:cBhvr>
                                        <p:cTn id="17" dur="1" fill="hold">
                                          <p:stCondLst>
                                            <p:cond delay="0"/>
                                          </p:stCondLst>
                                        </p:cTn>
                                        <p:tgtEl>
                                          <p:spTgt spid="2051"/>
                                        </p:tgtEl>
                                        <p:attrNameLst>
                                          <p:attrName>style.visibility</p:attrName>
                                        </p:attrNameLst>
                                      </p:cBhvr>
                                      <p:to>
                                        <p:strVal val="visible"/>
                                      </p:to>
                                    </p:set>
                                    <p:animEffect transition="in" filter="wipe(right)">
                                      <p:cBhvr>
                                        <p:cTn id="18" dur="1000"/>
                                        <p:tgtEl>
                                          <p:spTgt spid="205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10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nodeType="clickEffect">
                                  <p:stCondLst>
                                    <p:cond delay="0"/>
                                  </p:stCondLst>
                                  <p:childTnLst>
                                    <p:set>
                                      <p:cBhvr>
                                        <p:cTn id="27" dur="1" fill="hold">
                                          <p:stCondLst>
                                            <p:cond delay="0"/>
                                          </p:stCondLst>
                                        </p:cTn>
                                        <p:tgtEl>
                                          <p:spTgt spid="2052"/>
                                        </p:tgtEl>
                                        <p:attrNameLst>
                                          <p:attrName>style.visibility</p:attrName>
                                        </p:attrNameLst>
                                      </p:cBhvr>
                                      <p:to>
                                        <p:strVal val="visible"/>
                                      </p:to>
                                    </p:set>
                                    <p:animEffect transition="in" filter="wipe(right)">
                                      <p:cBhvr>
                                        <p:cTn id="28" dur="500"/>
                                        <p:tgtEl>
                                          <p:spTgt spid="205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left)">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nodeType="clickEffect">
                                  <p:stCondLst>
                                    <p:cond delay="0"/>
                                  </p:stCondLst>
                                  <p:childTnLst>
                                    <p:set>
                                      <p:cBhvr>
                                        <p:cTn id="37" dur="1" fill="hold">
                                          <p:stCondLst>
                                            <p:cond delay="0"/>
                                          </p:stCondLst>
                                        </p:cTn>
                                        <p:tgtEl>
                                          <p:spTgt spid="2053"/>
                                        </p:tgtEl>
                                        <p:attrNameLst>
                                          <p:attrName>style.visibility</p:attrName>
                                        </p:attrNameLst>
                                      </p:cBhvr>
                                      <p:to>
                                        <p:strVal val="visible"/>
                                      </p:to>
                                    </p:set>
                                    <p:animEffect transition="in" filter="wipe(right)">
                                      <p:cBhvr>
                                        <p:cTn id="38" dur="500"/>
                                        <p:tgtEl>
                                          <p:spTgt spid="205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wipe(left)">
                                      <p:cBhvr>
                                        <p:cTn id="43" dur="500"/>
                                        <p:tgtEl>
                                          <p:spTgt spid="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nodeType="clickEffect">
                                  <p:stCondLst>
                                    <p:cond delay="0"/>
                                  </p:stCondLst>
                                  <p:childTnLst>
                                    <p:set>
                                      <p:cBhvr>
                                        <p:cTn id="47" dur="1" fill="hold">
                                          <p:stCondLst>
                                            <p:cond delay="0"/>
                                          </p:stCondLst>
                                        </p:cTn>
                                        <p:tgtEl>
                                          <p:spTgt spid="2054"/>
                                        </p:tgtEl>
                                        <p:attrNameLst>
                                          <p:attrName>style.visibility</p:attrName>
                                        </p:attrNameLst>
                                      </p:cBhvr>
                                      <p:to>
                                        <p:strVal val="visible"/>
                                      </p:to>
                                    </p:set>
                                    <p:animEffect transition="in" filter="wipe(right)">
                                      <p:cBhvr>
                                        <p:cTn id="48" dur="5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533161"/>
            <a:ext cx="1811714" cy="400110"/>
          </a:xfrm>
          <a:prstGeom prst="rect">
            <a:avLst/>
          </a:prstGeom>
        </p:spPr>
        <p:txBody>
          <a:bodyPr wrap="none">
            <a:spAutoFit/>
          </a:bodyPr>
          <a:lstStyle/>
          <a:p>
            <a:r>
              <a:rPr lang="en-US" sz="2000" b="1" dirty="0">
                <a:latin typeface="Times New Roman" pitchFamily="18" charset="0"/>
                <a:cs typeface="Times New Roman" pitchFamily="18" charset="0"/>
              </a:rPr>
              <a:t>NORMALITY</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336355" y="237916"/>
            <a:ext cx="6807645" cy="990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Rectangle 2"/>
          <p:cNvSpPr/>
          <p:nvPr/>
        </p:nvSpPr>
        <p:spPr>
          <a:xfrm>
            <a:off x="2976626" y="1228516"/>
            <a:ext cx="2357374" cy="523220"/>
          </a:xfrm>
          <a:prstGeom prst="rect">
            <a:avLst/>
          </a:prstGeom>
        </p:spPr>
        <p:txBody>
          <a:bodyPr wrap="square">
            <a:spAutoFit/>
          </a:bodyPr>
          <a:lstStyle/>
          <a:p>
            <a:r>
              <a:rPr lang="en-US" sz="2800" b="1" dirty="0">
                <a:latin typeface="Times New Roman" pitchFamily="18" charset="0"/>
                <a:cs typeface="Times New Roman" pitchFamily="18" charset="0"/>
              </a:rPr>
              <a:t>Henry’s Law</a:t>
            </a:r>
          </a:p>
        </p:txBody>
      </p:sp>
      <p:sp>
        <p:nvSpPr>
          <p:cNvPr id="4" name="Rectangle 3"/>
          <p:cNvSpPr/>
          <p:nvPr/>
        </p:nvSpPr>
        <p:spPr>
          <a:xfrm>
            <a:off x="0" y="1751736"/>
            <a:ext cx="9144000" cy="707886"/>
          </a:xfrm>
          <a:prstGeom prst="rect">
            <a:avLst/>
          </a:prstGeom>
        </p:spPr>
        <p:txBody>
          <a:bodyPr wrap="square">
            <a:spAutoFit/>
          </a:bodyPr>
          <a:lstStyle/>
          <a:p>
            <a:r>
              <a:rPr lang="en-US" sz="2000" dirty="0" smtClean="0">
                <a:latin typeface="Times New Roman" pitchFamily="18" charset="0"/>
                <a:cs typeface="Times New Roman" pitchFamily="18" charset="0"/>
              </a:rPr>
              <a:t>For </a:t>
            </a:r>
            <a:r>
              <a:rPr lang="en-US" sz="2000" dirty="0">
                <a:latin typeface="Times New Roman" pitchFamily="18" charset="0"/>
                <a:cs typeface="Times New Roman" pitchFamily="18" charset="0"/>
              </a:rPr>
              <a:t>a gas in contact with a solvent at constant temperature, concentration of the gas that dissolves in the solvent is directly proportional to the pressure of the gas</a:t>
            </a:r>
            <a:r>
              <a:rPr lang="en-US" dirty="0"/>
              <a:t>.</a:t>
            </a:r>
          </a:p>
        </p:txBody>
      </p:sp>
      <p:sp>
        <p:nvSpPr>
          <p:cNvPr id="5" name="Rectangle 4"/>
          <p:cNvSpPr/>
          <p:nvPr/>
        </p:nvSpPr>
        <p:spPr>
          <a:xfrm>
            <a:off x="1143000" y="2490102"/>
            <a:ext cx="6858000" cy="1077218"/>
          </a:xfrm>
          <a:prstGeom prst="rect">
            <a:avLst/>
          </a:prstGeom>
        </p:spPr>
        <p:txBody>
          <a:bodyPr wrap="square">
            <a:spAutoFit/>
          </a:bodyPr>
          <a:lstStyle/>
          <a:p>
            <a:r>
              <a:rPr lang="en-US" sz="2000" dirty="0">
                <a:latin typeface="Times New Roman" pitchFamily="18" charset="0"/>
                <a:cs typeface="Times New Roman" pitchFamily="18" charset="0"/>
              </a:rPr>
              <a:t>Mathematically, Henry’s Law may be expressed as</a:t>
            </a:r>
          </a:p>
          <a:p>
            <a:r>
              <a:rPr lang="en-US" sz="2000" dirty="0">
                <a:latin typeface="Times New Roman" pitchFamily="18" charset="0"/>
                <a:cs typeface="Times New Roman" pitchFamily="18" charset="0"/>
              </a:rPr>
              <a:t>				C </a:t>
            </a:r>
            <a:r>
              <a:rPr lang="en-US" sz="2400" dirty="0" smtClean="0"/>
              <a:t>α</a:t>
            </a:r>
            <a:r>
              <a:rPr lang="en-US" sz="24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P</a:t>
            </a:r>
          </a:p>
          <a:p>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or </a:t>
            </a:r>
            <a:r>
              <a:rPr lang="en-US" sz="2000" dirty="0" smtClean="0">
                <a:latin typeface="Times New Roman" pitchFamily="18" charset="0"/>
                <a:cs typeface="Times New Roman" pitchFamily="18" charset="0"/>
              </a:rPr>
              <a:t>      C </a:t>
            </a:r>
            <a:r>
              <a:rPr lang="en-US" sz="2000" dirty="0">
                <a:latin typeface="Times New Roman" pitchFamily="18" charset="0"/>
                <a:cs typeface="Times New Roman" pitchFamily="18" charset="0"/>
              </a:rPr>
              <a:t>= k P </a:t>
            </a:r>
          </a:p>
        </p:txBody>
      </p:sp>
      <p:sp>
        <p:nvSpPr>
          <p:cNvPr id="6" name="Rectangle 5"/>
          <p:cNvSpPr/>
          <p:nvPr/>
        </p:nvSpPr>
        <p:spPr>
          <a:xfrm>
            <a:off x="2767339" y="3616612"/>
            <a:ext cx="3823291" cy="461665"/>
          </a:xfrm>
          <a:prstGeom prst="rect">
            <a:avLst/>
          </a:prstGeom>
        </p:spPr>
        <p:txBody>
          <a:bodyPr wrap="none">
            <a:spAutoFit/>
          </a:bodyPr>
          <a:lstStyle/>
          <a:p>
            <a:r>
              <a:rPr lang="en-US" sz="2400" b="1" dirty="0">
                <a:latin typeface="Times New Roman" pitchFamily="18" charset="0"/>
                <a:cs typeface="Times New Roman" pitchFamily="18" charset="0"/>
              </a:rPr>
              <a:t>Limitations of Henry’s Law</a:t>
            </a:r>
          </a:p>
        </p:txBody>
      </p:sp>
      <p:sp>
        <p:nvSpPr>
          <p:cNvPr id="7" name="Rectangle 6"/>
          <p:cNvSpPr/>
          <p:nvPr/>
        </p:nvSpPr>
        <p:spPr>
          <a:xfrm>
            <a:off x="304800" y="4078277"/>
            <a:ext cx="5715000" cy="400110"/>
          </a:xfrm>
          <a:prstGeom prst="rect">
            <a:avLst/>
          </a:prstGeom>
        </p:spPr>
        <p:txBody>
          <a:bodyPr wrap="square">
            <a:spAutoFit/>
          </a:bodyPr>
          <a:lstStyle/>
          <a:p>
            <a:r>
              <a:rPr lang="en-US" sz="2000" dirty="0">
                <a:latin typeface="Times New Roman" pitchFamily="18" charset="0"/>
                <a:cs typeface="Times New Roman" pitchFamily="18" charset="0"/>
              </a:rPr>
              <a:t>It applies closely to gases with nearly ideal </a:t>
            </a:r>
            <a:r>
              <a:rPr lang="en-US" sz="2000" dirty="0" err="1">
                <a:latin typeface="Times New Roman" pitchFamily="18" charset="0"/>
                <a:cs typeface="Times New Roman" pitchFamily="18" charset="0"/>
              </a:rPr>
              <a:t>behaviour</a:t>
            </a:r>
            <a:r>
              <a:rPr lang="en-US" sz="2000" dirty="0">
                <a:latin typeface="Times New Roman" pitchFamily="18" charset="0"/>
                <a:cs typeface="Times New Roman" pitchFamily="18" charset="0"/>
              </a:rPr>
              <a:t>.</a:t>
            </a:r>
          </a:p>
        </p:txBody>
      </p:sp>
      <p:sp>
        <p:nvSpPr>
          <p:cNvPr id="8" name="Rectangle 7"/>
          <p:cNvSpPr/>
          <p:nvPr/>
        </p:nvSpPr>
        <p:spPr>
          <a:xfrm>
            <a:off x="152400" y="4508867"/>
            <a:ext cx="8839200" cy="2062103"/>
          </a:xfrm>
          <a:prstGeom prst="rect">
            <a:avLst/>
          </a:prstGeom>
        </p:spPr>
        <p:txBody>
          <a:bodyPr wrap="square">
            <a:spAutoFit/>
          </a:bodyPr>
          <a:lstStyle/>
          <a:p>
            <a:r>
              <a:rPr lang="en-US" sz="2000" dirty="0">
                <a:latin typeface="Times New Roman" pitchFamily="18" charset="0"/>
                <a:cs typeface="Times New Roman" pitchFamily="18" charset="0"/>
              </a:rPr>
              <a:t>(1) at moderate temperature and pressure.</a:t>
            </a:r>
          </a:p>
          <a:p>
            <a:r>
              <a:rPr lang="en-US" sz="2000" dirty="0">
                <a:latin typeface="Times New Roman" pitchFamily="18" charset="0"/>
                <a:cs typeface="Times New Roman" pitchFamily="18" charset="0"/>
              </a:rPr>
              <a:t>(2) if the solubility of the gas in the solvent is low.</a:t>
            </a:r>
          </a:p>
          <a:p>
            <a:r>
              <a:rPr lang="en-US" sz="2000" dirty="0">
                <a:latin typeface="Times New Roman" pitchFamily="18" charset="0"/>
                <a:cs typeface="Times New Roman" pitchFamily="18" charset="0"/>
              </a:rPr>
              <a:t>(3) the gas does not react with the solvent to form a new species. Thus ammonia (or </a:t>
            </a:r>
            <a:r>
              <a:rPr lang="en-US" sz="2000" dirty="0" err="1" smtClean="0">
                <a:latin typeface="Times New Roman" pitchFamily="18" charset="0"/>
                <a:cs typeface="Times New Roman" pitchFamily="18" charset="0"/>
              </a:rPr>
              <a:t>HCl</a:t>
            </a:r>
            <a:r>
              <a:rPr lang="en-US" sz="2000" dirty="0" smtClean="0">
                <a:latin typeface="Times New Roman" pitchFamily="18" charset="0"/>
                <a:cs typeface="Times New Roman" pitchFamily="18" charset="0"/>
              </a:rPr>
              <a:t>) which </a:t>
            </a:r>
            <a:r>
              <a:rPr lang="en-US" sz="2000" dirty="0">
                <a:latin typeface="Times New Roman" pitchFamily="18" charset="0"/>
                <a:cs typeface="Times New Roman" pitchFamily="18" charset="0"/>
              </a:rPr>
              <a:t>react with water do not obey Henry’s Law.</a:t>
            </a:r>
          </a:p>
          <a:p>
            <a:r>
              <a:rPr lang="en-US" sz="2000" dirty="0">
                <a:latin typeface="Times New Roman" pitchFamily="18" charset="0"/>
                <a:cs typeface="Times New Roman" pitchFamily="18" charset="0"/>
              </a:rPr>
              <a:t>                                  NH</a:t>
            </a:r>
            <a:r>
              <a:rPr lang="en-US" sz="1200" dirty="0">
                <a:latin typeface="Times New Roman" pitchFamily="18" charset="0"/>
                <a:cs typeface="Times New Roman" pitchFamily="18" charset="0"/>
              </a:rPr>
              <a:t>3</a:t>
            </a:r>
            <a:r>
              <a:rPr lang="en-US" sz="2000" dirty="0">
                <a:latin typeface="Times New Roman" pitchFamily="18" charset="0"/>
                <a:cs typeface="Times New Roman" pitchFamily="18" charset="0"/>
              </a:rPr>
              <a:t> + H</a:t>
            </a:r>
            <a:r>
              <a:rPr lang="en-US" sz="1200" dirty="0">
                <a:latin typeface="Times New Roman" pitchFamily="18" charset="0"/>
                <a:cs typeface="Times New Roman" pitchFamily="18" charset="0"/>
              </a:rPr>
              <a:t>2</a:t>
            </a:r>
            <a:r>
              <a:rPr lang="en-US" sz="2000" dirty="0">
                <a:latin typeface="Times New Roman" pitchFamily="18" charset="0"/>
                <a:cs typeface="Times New Roman" pitchFamily="18" charset="0"/>
              </a:rPr>
              <a:t>O = NH</a:t>
            </a:r>
            <a:r>
              <a:rPr lang="en-US" sz="1200" dirty="0">
                <a:latin typeface="Times New Roman" pitchFamily="18" charset="0"/>
                <a:cs typeface="Times New Roman" pitchFamily="18" charset="0"/>
              </a:rPr>
              <a:t>4</a:t>
            </a:r>
            <a:r>
              <a:rPr lang="en-US" sz="2800" dirty="0">
                <a:latin typeface="Times New Roman" pitchFamily="18" charset="0"/>
                <a:cs typeface="Times New Roman" pitchFamily="18" charset="0"/>
              </a:rPr>
              <a:t>+</a:t>
            </a:r>
            <a:r>
              <a:rPr lang="en-US" sz="2000" dirty="0">
                <a:latin typeface="Times New Roman" pitchFamily="18" charset="0"/>
                <a:cs typeface="Times New Roman" pitchFamily="18" charset="0"/>
              </a:rPr>
              <a:t> + OH–</a:t>
            </a:r>
          </a:p>
          <a:p>
            <a:r>
              <a:rPr lang="en-US" sz="2000" dirty="0">
                <a:latin typeface="Times New Roman" pitchFamily="18" charset="0"/>
                <a:cs typeface="Times New Roman" pitchFamily="18" charset="0"/>
              </a:rPr>
              <a:t>(4) the gas does not associate or dissociate on dissolving in the solvent</a:t>
            </a:r>
            <a:r>
              <a:rPr lang="en-US" dirty="0"/>
              <a:t>.</a:t>
            </a:r>
          </a:p>
        </p:txBody>
      </p:sp>
    </p:spTree>
    <p:extLst>
      <p:ext uri="{BB962C8B-B14F-4D97-AF65-F5344CB8AC3E}">
        <p14:creationId xmlns:p14="http://schemas.microsoft.com/office/powerpoint/2010/main" xmlns="" val="387081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3074"/>
                                        </p:tgtEl>
                                        <p:attrNameLst>
                                          <p:attrName>style.visibility</p:attrName>
                                        </p:attrNameLst>
                                      </p:cBhvr>
                                      <p:to>
                                        <p:strVal val="visible"/>
                                      </p:to>
                                    </p:set>
                                    <p:animEffect transition="in" filter="wipe(right)">
                                      <p:cBhvr>
                                        <p:cTn id="12" dur="500"/>
                                        <p:tgtEl>
                                          <p:spTgt spid="30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righ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arn(inVertical)">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arn(inVertical)">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barn(inVertical)">
                                      <p:cBhvr>
                                        <p:cTn id="42"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57600" y="228600"/>
            <a:ext cx="1782860" cy="523220"/>
          </a:xfrm>
          <a:prstGeom prst="rect">
            <a:avLst/>
          </a:prstGeom>
        </p:spPr>
        <p:txBody>
          <a:bodyPr wrap="none">
            <a:spAutoFit/>
          </a:bodyPr>
          <a:lstStyle/>
          <a:p>
            <a:r>
              <a:rPr lang="en-US" sz="2800" b="1" dirty="0">
                <a:latin typeface="Times New Roman" pitchFamily="18" charset="0"/>
                <a:cs typeface="Times New Roman" pitchFamily="18" charset="0"/>
              </a:rPr>
              <a:t>Solubility:</a:t>
            </a:r>
          </a:p>
        </p:txBody>
      </p:sp>
      <p:sp>
        <p:nvSpPr>
          <p:cNvPr id="3" name="Rectangle 2"/>
          <p:cNvSpPr/>
          <p:nvPr/>
        </p:nvSpPr>
        <p:spPr>
          <a:xfrm>
            <a:off x="152400" y="1066800"/>
            <a:ext cx="8763000" cy="1323439"/>
          </a:xfrm>
          <a:prstGeom prst="rect">
            <a:avLst/>
          </a:prstGeom>
        </p:spPr>
        <p:txBody>
          <a:bodyPr wrap="square">
            <a:spAutoFit/>
          </a:bodyPr>
          <a:lstStyle/>
          <a:p>
            <a:r>
              <a:rPr lang="en-US" sz="2000" dirty="0">
                <a:latin typeface="Times New Roman" pitchFamily="18" charset="0"/>
                <a:cs typeface="Times New Roman" pitchFamily="18" charset="0"/>
              </a:rPr>
              <a:t>The solubility is defined as the concentration of the solute in solution when it is in equilibrium with the solid substance at a particular temperature. The solubility of a substance is often expressed in terms of number of grams of it that can be dissolved in 100 grams of the solvent.</a:t>
            </a:r>
          </a:p>
        </p:txBody>
      </p:sp>
      <p:sp>
        <p:nvSpPr>
          <p:cNvPr id="4" name="Rectangle 3"/>
          <p:cNvSpPr/>
          <p:nvPr/>
        </p:nvSpPr>
        <p:spPr>
          <a:xfrm>
            <a:off x="125852" y="2420719"/>
            <a:ext cx="8763000" cy="1015663"/>
          </a:xfrm>
          <a:prstGeom prst="rect">
            <a:avLst/>
          </a:prstGeom>
        </p:spPr>
        <p:txBody>
          <a:bodyPr wrap="square">
            <a:spAutoFit/>
          </a:bodyPr>
          <a:lstStyle/>
          <a:p>
            <a:r>
              <a:rPr lang="en-US" sz="2000" dirty="0">
                <a:latin typeface="Times New Roman" pitchFamily="18" charset="0"/>
                <a:cs typeface="Times New Roman" pitchFamily="18" charset="0"/>
              </a:rPr>
              <a:t>When a saturated solution prepared at a higher temperature is cooled, it gives a solution </a:t>
            </a:r>
            <a:r>
              <a:rPr lang="en-US" sz="2000" dirty="0" smtClean="0">
                <a:latin typeface="Times New Roman" pitchFamily="18" charset="0"/>
                <a:cs typeface="Times New Roman" pitchFamily="18" charset="0"/>
              </a:rPr>
              <a:t>which would </a:t>
            </a:r>
            <a:r>
              <a:rPr lang="en-US" sz="2000" dirty="0">
                <a:latin typeface="Times New Roman" pitchFamily="18" charset="0"/>
                <a:cs typeface="Times New Roman" pitchFamily="18" charset="0"/>
              </a:rPr>
              <a:t>contain more solute than the saturated solution at that temperature. Such a solution is called a supersaturated solution. </a:t>
            </a:r>
          </a:p>
        </p:txBody>
      </p:sp>
      <p:sp>
        <p:nvSpPr>
          <p:cNvPr id="5" name="Rectangle 4"/>
          <p:cNvSpPr/>
          <p:nvPr/>
        </p:nvSpPr>
        <p:spPr>
          <a:xfrm>
            <a:off x="2949778" y="3630692"/>
            <a:ext cx="3959417" cy="523220"/>
          </a:xfrm>
          <a:prstGeom prst="rect">
            <a:avLst/>
          </a:prstGeom>
        </p:spPr>
        <p:txBody>
          <a:bodyPr wrap="none">
            <a:spAutoFit/>
          </a:bodyPr>
          <a:lstStyle/>
          <a:p>
            <a:r>
              <a:rPr lang="en-US" sz="2800" b="1" dirty="0">
                <a:latin typeface="Times New Roman" pitchFamily="18" charset="0"/>
                <a:cs typeface="Times New Roman" pitchFamily="18" charset="0"/>
              </a:rPr>
              <a:t>SOLUBILITY CURVES</a:t>
            </a:r>
          </a:p>
        </p:txBody>
      </p:sp>
      <p:sp>
        <p:nvSpPr>
          <p:cNvPr id="6" name="Rectangle 5"/>
          <p:cNvSpPr/>
          <p:nvPr/>
        </p:nvSpPr>
        <p:spPr>
          <a:xfrm>
            <a:off x="152400" y="4167664"/>
            <a:ext cx="8763000" cy="707886"/>
          </a:xfrm>
          <a:prstGeom prst="rect">
            <a:avLst/>
          </a:prstGeom>
        </p:spPr>
        <p:txBody>
          <a:bodyPr wrap="square">
            <a:spAutoFit/>
          </a:bodyPr>
          <a:lstStyle/>
          <a:p>
            <a:r>
              <a:rPr lang="en-US" sz="2000" dirty="0">
                <a:latin typeface="Times New Roman" pitchFamily="18" charset="0"/>
                <a:cs typeface="Times New Roman" pitchFamily="18" charset="0"/>
              </a:rPr>
              <a:t>A curve drawn between solubility and temperature is termed Solubility Curve. It shows </a:t>
            </a:r>
            <a:r>
              <a:rPr lang="en-US" sz="2000" dirty="0" smtClean="0">
                <a:latin typeface="Times New Roman" pitchFamily="18" charset="0"/>
                <a:cs typeface="Times New Roman" pitchFamily="18" charset="0"/>
              </a:rPr>
              <a:t>the effect </a:t>
            </a:r>
            <a:r>
              <a:rPr lang="en-US" sz="2000" dirty="0">
                <a:latin typeface="Times New Roman" pitchFamily="18" charset="0"/>
                <a:cs typeface="Times New Roman" pitchFamily="18" charset="0"/>
              </a:rPr>
              <a:t>of temperature on the solubility of a substance.</a:t>
            </a:r>
          </a:p>
        </p:txBody>
      </p:sp>
      <p:sp>
        <p:nvSpPr>
          <p:cNvPr id="7" name="Rectangle 6"/>
          <p:cNvSpPr/>
          <p:nvPr/>
        </p:nvSpPr>
        <p:spPr>
          <a:xfrm>
            <a:off x="1600200" y="4875550"/>
            <a:ext cx="5867400" cy="400110"/>
          </a:xfrm>
          <a:prstGeom prst="rect">
            <a:avLst/>
          </a:prstGeom>
        </p:spPr>
        <p:txBody>
          <a:bodyPr wrap="square">
            <a:spAutoFit/>
          </a:bodyPr>
          <a:lstStyle/>
          <a:p>
            <a:r>
              <a:rPr lang="en-US" sz="2000" dirty="0">
                <a:latin typeface="Times New Roman" pitchFamily="18" charset="0"/>
                <a:cs typeface="Times New Roman" pitchFamily="18" charset="0"/>
              </a:rPr>
              <a:t>In general, the solubility curves are of two types :</a:t>
            </a:r>
          </a:p>
        </p:txBody>
      </p:sp>
      <p:sp>
        <p:nvSpPr>
          <p:cNvPr id="8" name="Rectangle 7"/>
          <p:cNvSpPr/>
          <p:nvPr/>
        </p:nvSpPr>
        <p:spPr>
          <a:xfrm>
            <a:off x="1997626" y="5275660"/>
            <a:ext cx="3490058" cy="400110"/>
          </a:xfrm>
          <a:prstGeom prst="rect">
            <a:avLst/>
          </a:prstGeom>
        </p:spPr>
        <p:txBody>
          <a:bodyPr wrap="none">
            <a:spAutoFit/>
          </a:bodyPr>
          <a:lstStyle/>
          <a:p>
            <a:r>
              <a:rPr lang="en-US" sz="2000" dirty="0">
                <a:latin typeface="Times New Roman" pitchFamily="18" charset="0"/>
                <a:cs typeface="Times New Roman" pitchFamily="18" charset="0"/>
              </a:rPr>
              <a:t>(1) Continuous solubility curves</a:t>
            </a:r>
          </a:p>
        </p:txBody>
      </p:sp>
      <p:sp>
        <p:nvSpPr>
          <p:cNvPr id="9" name="Rectangle 8"/>
          <p:cNvSpPr/>
          <p:nvPr/>
        </p:nvSpPr>
        <p:spPr>
          <a:xfrm>
            <a:off x="1997626" y="5791200"/>
            <a:ext cx="3864417" cy="400110"/>
          </a:xfrm>
          <a:prstGeom prst="rect">
            <a:avLst/>
          </a:prstGeom>
        </p:spPr>
        <p:txBody>
          <a:bodyPr wrap="square">
            <a:spAutoFit/>
          </a:bodyPr>
          <a:lstStyle/>
          <a:p>
            <a:r>
              <a:rPr lang="en-US" sz="2000" dirty="0">
                <a:latin typeface="Times New Roman" pitchFamily="18" charset="0"/>
                <a:cs typeface="Times New Roman" pitchFamily="18" charset="0"/>
              </a:rPr>
              <a:t>(2) Discontinuous solubility curves</a:t>
            </a:r>
          </a:p>
        </p:txBody>
      </p:sp>
    </p:spTree>
    <p:extLst>
      <p:ext uri="{BB962C8B-B14F-4D97-AF65-F5344CB8AC3E}">
        <p14:creationId xmlns:p14="http://schemas.microsoft.com/office/powerpoint/2010/main" xmlns="" val="694065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inVertic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arn(inVertical)">
                                      <p:cBhvr>
                                        <p:cTn id="27" dur="10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arn(inVertical)">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arn(inVertical)">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arn(inVertical)">
                                      <p:cBhvr>
                                        <p:cTn id="4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38199" y="1280160"/>
            <a:ext cx="7122729" cy="47396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Rectangle 1"/>
          <p:cNvSpPr/>
          <p:nvPr/>
        </p:nvSpPr>
        <p:spPr>
          <a:xfrm>
            <a:off x="2725975" y="381000"/>
            <a:ext cx="4007828" cy="461665"/>
          </a:xfrm>
          <a:prstGeom prst="rect">
            <a:avLst/>
          </a:prstGeom>
        </p:spPr>
        <p:txBody>
          <a:bodyPr wrap="none">
            <a:spAutoFit/>
          </a:bodyPr>
          <a:lstStyle/>
          <a:p>
            <a:r>
              <a:rPr lang="en-US" sz="2400" b="1" dirty="0">
                <a:latin typeface="Times New Roman" pitchFamily="18" charset="0"/>
                <a:cs typeface="Times New Roman" pitchFamily="18" charset="0"/>
              </a:rPr>
              <a:t>Continuous solubility curves.</a:t>
            </a:r>
          </a:p>
        </p:txBody>
      </p:sp>
    </p:spTree>
    <p:extLst>
      <p:ext uri="{BB962C8B-B14F-4D97-AF65-F5344CB8AC3E}">
        <p14:creationId xmlns:p14="http://schemas.microsoft.com/office/powerpoint/2010/main" xmlns="" val="3148553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 calcmode="lin" valueType="num">
                                      <p:cBhvr>
                                        <p:cTn id="12" dur="1000" fill="hold"/>
                                        <p:tgtEl>
                                          <p:spTgt spid="1026"/>
                                        </p:tgtEl>
                                        <p:attrNameLst>
                                          <p:attrName>ppt_w</p:attrName>
                                        </p:attrNameLst>
                                      </p:cBhvr>
                                      <p:tavLst>
                                        <p:tav tm="0">
                                          <p:val>
                                            <p:fltVal val="0"/>
                                          </p:val>
                                        </p:tav>
                                        <p:tav tm="100000">
                                          <p:val>
                                            <p:strVal val="#ppt_w"/>
                                          </p:val>
                                        </p:tav>
                                      </p:tavLst>
                                    </p:anim>
                                    <p:anim calcmode="lin" valueType="num">
                                      <p:cBhvr>
                                        <p:cTn id="13" dur="1000" fill="hold"/>
                                        <p:tgtEl>
                                          <p:spTgt spid="1026"/>
                                        </p:tgtEl>
                                        <p:attrNameLst>
                                          <p:attrName>ppt_h</p:attrName>
                                        </p:attrNameLst>
                                      </p:cBhvr>
                                      <p:tavLst>
                                        <p:tav tm="0">
                                          <p:val>
                                            <p:fltVal val="0"/>
                                          </p:val>
                                        </p:tav>
                                        <p:tav tm="100000">
                                          <p:val>
                                            <p:strVal val="#ppt_h"/>
                                          </p:val>
                                        </p:tav>
                                      </p:tavLst>
                                    </p:anim>
                                    <p:animEffect transition="in" filter="fade">
                                      <p:cBhvr>
                                        <p:cTn id="14" dur="1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19147" y="1371600"/>
            <a:ext cx="7670867" cy="4876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Rectangle 1"/>
          <p:cNvSpPr/>
          <p:nvPr/>
        </p:nvSpPr>
        <p:spPr>
          <a:xfrm>
            <a:off x="2514600" y="533400"/>
            <a:ext cx="4272323" cy="461665"/>
          </a:xfrm>
          <a:prstGeom prst="rect">
            <a:avLst/>
          </a:prstGeom>
        </p:spPr>
        <p:txBody>
          <a:bodyPr wrap="none">
            <a:spAutoFit/>
          </a:bodyPr>
          <a:lstStyle/>
          <a:p>
            <a:r>
              <a:rPr lang="en-US" sz="2400" b="1" dirty="0">
                <a:latin typeface="Times New Roman" pitchFamily="18" charset="0"/>
                <a:cs typeface="Times New Roman" pitchFamily="18" charset="0"/>
              </a:rPr>
              <a:t>Discontinuous solubility curves</a:t>
            </a:r>
          </a:p>
        </p:txBody>
      </p:sp>
    </p:spTree>
    <p:extLst>
      <p:ext uri="{BB962C8B-B14F-4D97-AF65-F5344CB8AC3E}">
        <p14:creationId xmlns:p14="http://schemas.microsoft.com/office/powerpoint/2010/main" xmlns="" val="4065959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 calcmode="lin" valueType="num">
                                      <p:cBhvr>
                                        <p:cTn id="12" dur="1000" fill="hold"/>
                                        <p:tgtEl>
                                          <p:spTgt spid="2050"/>
                                        </p:tgtEl>
                                        <p:attrNameLst>
                                          <p:attrName>ppt_w</p:attrName>
                                        </p:attrNameLst>
                                      </p:cBhvr>
                                      <p:tavLst>
                                        <p:tav tm="0">
                                          <p:val>
                                            <p:fltVal val="0"/>
                                          </p:val>
                                        </p:tav>
                                        <p:tav tm="100000">
                                          <p:val>
                                            <p:strVal val="#ppt_w"/>
                                          </p:val>
                                        </p:tav>
                                      </p:tavLst>
                                    </p:anim>
                                    <p:anim calcmode="lin" valueType="num">
                                      <p:cBhvr>
                                        <p:cTn id="13" dur="1000" fill="hold"/>
                                        <p:tgtEl>
                                          <p:spTgt spid="2050"/>
                                        </p:tgtEl>
                                        <p:attrNameLst>
                                          <p:attrName>ppt_h</p:attrName>
                                        </p:attrNameLst>
                                      </p:cBhvr>
                                      <p:tavLst>
                                        <p:tav tm="0">
                                          <p:val>
                                            <p:fltVal val="0"/>
                                          </p:val>
                                        </p:tav>
                                        <p:tav tm="100000">
                                          <p:val>
                                            <p:strVal val="#ppt_h"/>
                                          </p:val>
                                        </p:tav>
                                      </p:tavLst>
                                    </p:anim>
                                    <p:animEffect transition="in" filter="fade">
                                      <p:cBhvr>
                                        <p:cTn id="14" dur="1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028343"/>
            <a:ext cx="8686800" cy="4154984"/>
          </a:xfrm>
          <a:prstGeom prst="rect">
            <a:avLst/>
          </a:prstGeom>
        </p:spPr>
        <p:txBody>
          <a:bodyPr wrap="square">
            <a:spAutoFit/>
          </a:bodyPr>
          <a:lstStyle/>
          <a:p>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Problems</a:t>
            </a:r>
            <a:endParaRPr lang="en-US" sz="2400" b="1" dirty="0">
              <a:latin typeface="Times New Roman" pitchFamily="18" charset="0"/>
              <a:cs typeface="Times New Roman" pitchFamily="18" charset="0"/>
            </a:endParaRPr>
          </a:p>
          <a:p>
            <a:r>
              <a:rPr lang="en-US" sz="2400" b="1" dirty="0">
                <a:latin typeface="Times New Roman" pitchFamily="18" charset="0"/>
                <a:cs typeface="Times New Roman" pitchFamily="18" charset="0"/>
              </a:rPr>
              <a:t>SOLVED PROBLEM </a:t>
            </a:r>
            <a:r>
              <a:rPr lang="en-US" sz="2400" b="1" dirty="0" smtClean="0">
                <a:latin typeface="Times New Roman" pitchFamily="18" charset="0"/>
                <a:cs typeface="Times New Roman" pitchFamily="18" charset="0"/>
              </a:rPr>
              <a:t>1</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What is the molarity of a solution prepared </a:t>
            </a:r>
            <a:r>
              <a:rPr lang="en-US" sz="2400" dirty="0" smtClean="0">
                <a:latin typeface="Times New Roman" pitchFamily="18" charset="0"/>
                <a:cs typeface="Times New Roman" pitchFamily="18" charset="0"/>
              </a:rPr>
              <a:t>by </a:t>
            </a:r>
            <a:r>
              <a:rPr lang="en-US" sz="2400" dirty="0">
                <a:latin typeface="Times New Roman" pitchFamily="18" charset="0"/>
                <a:cs typeface="Times New Roman" pitchFamily="18" charset="0"/>
              </a:rPr>
              <a:t>dissolving 75.5 g of pure KOH in 540 ml of solution</a:t>
            </a:r>
          </a:p>
          <a:p>
            <a:r>
              <a:rPr lang="en-US" sz="2400" b="1" dirty="0">
                <a:latin typeface="Times New Roman" pitchFamily="18" charset="0"/>
                <a:cs typeface="Times New Roman" pitchFamily="18" charset="0"/>
              </a:rPr>
              <a:t>SOLVED PROBLEM </a:t>
            </a:r>
            <a:r>
              <a:rPr lang="en-US" sz="2400" b="1"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What weight of </a:t>
            </a:r>
            <a:r>
              <a:rPr lang="en-US" sz="2400" dirty="0" err="1">
                <a:latin typeface="Times New Roman" pitchFamily="18" charset="0"/>
                <a:cs typeface="Times New Roman" pitchFamily="18" charset="0"/>
              </a:rPr>
              <a:t>HCl</a:t>
            </a:r>
            <a:r>
              <a:rPr lang="en-US" sz="2400" dirty="0">
                <a:latin typeface="Times New Roman" pitchFamily="18" charset="0"/>
                <a:cs typeface="Times New Roman" pitchFamily="18" charset="0"/>
              </a:rPr>
              <a:t> is present in 155 ml of </a:t>
            </a:r>
            <a:r>
              <a:rPr lang="en-US" sz="2400" dirty="0" smtClean="0">
                <a:latin typeface="Times New Roman" pitchFamily="18" charset="0"/>
                <a:cs typeface="Times New Roman" pitchFamily="18" charset="0"/>
              </a:rPr>
              <a:t>a </a:t>
            </a:r>
            <a:r>
              <a:rPr lang="en-US" sz="2400" dirty="0">
                <a:latin typeface="Times New Roman" pitchFamily="18" charset="0"/>
                <a:cs typeface="Times New Roman" pitchFamily="18" charset="0"/>
              </a:rPr>
              <a:t>0.540 M solution?</a:t>
            </a:r>
          </a:p>
          <a:p>
            <a:r>
              <a:rPr lang="en-US" sz="2400" b="1" dirty="0">
                <a:latin typeface="Times New Roman" pitchFamily="18" charset="0"/>
                <a:cs typeface="Times New Roman" pitchFamily="18" charset="0"/>
              </a:rPr>
              <a:t>SOLVED PROBLEM </a:t>
            </a:r>
            <a:r>
              <a:rPr lang="en-US" sz="2400" b="1" dirty="0" smtClean="0">
                <a:latin typeface="Times New Roman" pitchFamily="18" charset="0"/>
                <a:cs typeface="Times New Roman" pitchFamily="18" charset="0"/>
              </a:rPr>
              <a:t>3: </a:t>
            </a:r>
            <a:r>
              <a:rPr lang="en-US" sz="2400" dirty="0">
                <a:latin typeface="Times New Roman" pitchFamily="18" charset="0"/>
                <a:cs typeface="Times New Roman" pitchFamily="18" charset="0"/>
              </a:rPr>
              <a:t>What is the molality of a solution prepared </a:t>
            </a:r>
            <a:r>
              <a:rPr lang="en-US" sz="2400" dirty="0" smtClean="0">
                <a:latin typeface="Times New Roman" pitchFamily="18" charset="0"/>
                <a:cs typeface="Times New Roman" pitchFamily="18" charset="0"/>
              </a:rPr>
              <a:t> by </a:t>
            </a:r>
            <a:r>
              <a:rPr lang="en-US" sz="2400" dirty="0">
                <a:latin typeface="Times New Roman" pitchFamily="18" charset="0"/>
                <a:cs typeface="Times New Roman" pitchFamily="18" charset="0"/>
              </a:rPr>
              <a:t>dissolving 5.0 g of toluene (C7H8) in 225 g of benzene </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C6H6) ?</a:t>
            </a:r>
          </a:p>
          <a:p>
            <a:r>
              <a:rPr lang="en-US" sz="2400" b="1" dirty="0">
                <a:latin typeface="Times New Roman" pitchFamily="18" charset="0"/>
                <a:cs typeface="Times New Roman" pitchFamily="18" charset="0"/>
              </a:rPr>
              <a:t>SOLVED PROBLEM </a:t>
            </a:r>
            <a:r>
              <a:rPr lang="en-US" sz="2400" b="1" dirty="0" smtClean="0">
                <a:latin typeface="Times New Roman" pitchFamily="18" charset="0"/>
                <a:cs typeface="Times New Roman" pitchFamily="18" charset="0"/>
              </a:rPr>
              <a:t>4: </a:t>
            </a:r>
            <a:r>
              <a:rPr lang="en-US" sz="2400" dirty="0">
                <a:latin typeface="Times New Roman" pitchFamily="18" charset="0"/>
                <a:cs typeface="Times New Roman" pitchFamily="18" charset="0"/>
              </a:rPr>
              <a:t>5 g of </a:t>
            </a:r>
            <a:r>
              <a:rPr lang="en-US" sz="2400" dirty="0" err="1">
                <a:latin typeface="Times New Roman" pitchFamily="18" charset="0"/>
                <a:cs typeface="Times New Roman" pitchFamily="18" charset="0"/>
              </a:rPr>
              <a:t>NaCl</a:t>
            </a:r>
            <a:r>
              <a:rPr lang="en-US" sz="2400" dirty="0">
                <a:latin typeface="Times New Roman" pitchFamily="18" charset="0"/>
                <a:cs typeface="Times New Roman" pitchFamily="18" charset="0"/>
              </a:rPr>
              <a:t> is dissolved in 1000 g of water. </a:t>
            </a:r>
            <a:r>
              <a:rPr lang="en-US" sz="2400" dirty="0" smtClean="0">
                <a:latin typeface="Times New Roman" pitchFamily="18" charset="0"/>
                <a:cs typeface="Times New Roman" pitchFamily="18" charset="0"/>
              </a:rPr>
              <a:t>If </a:t>
            </a:r>
            <a:r>
              <a:rPr lang="en-US" sz="2400" dirty="0">
                <a:latin typeface="Times New Roman" pitchFamily="18" charset="0"/>
                <a:cs typeface="Times New Roman" pitchFamily="18" charset="0"/>
              </a:rPr>
              <a:t>the density of the resulting solution is 0.997 g per ml, </a:t>
            </a:r>
            <a:r>
              <a:rPr lang="en-US" sz="2400" dirty="0" smtClean="0">
                <a:latin typeface="Times New Roman" pitchFamily="18" charset="0"/>
                <a:cs typeface="Times New Roman" pitchFamily="18" charset="0"/>
              </a:rPr>
              <a:t>calculate </a:t>
            </a:r>
            <a:r>
              <a:rPr lang="en-US" sz="2400" dirty="0">
                <a:latin typeface="Times New Roman" pitchFamily="18" charset="0"/>
                <a:cs typeface="Times New Roman" pitchFamily="18" charset="0"/>
              </a:rPr>
              <a:t>the molality, molarity, normality and mole fraction </a:t>
            </a:r>
            <a:r>
              <a:rPr lang="en-US" sz="2400" dirty="0" smtClean="0">
                <a:latin typeface="Times New Roman" pitchFamily="18" charset="0"/>
                <a:cs typeface="Times New Roman" pitchFamily="18" charset="0"/>
              </a:rPr>
              <a:t>of </a:t>
            </a:r>
            <a:r>
              <a:rPr lang="en-US" sz="2400" dirty="0">
                <a:latin typeface="Times New Roman" pitchFamily="18" charset="0"/>
                <a:cs typeface="Times New Roman" pitchFamily="18" charset="0"/>
              </a:rPr>
              <a:t>the solute, assuming volume of the solution is equal to that </a:t>
            </a:r>
            <a:r>
              <a:rPr lang="en-US" sz="2400" dirty="0" smtClean="0">
                <a:latin typeface="Times New Roman" pitchFamily="18" charset="0"/>
                <a:cs typeface="Times New Roman" pitchFamily="18" charset="0"/>
              </a:rPr>
              <a:t>of </a:t>
            </a:r>
            <a:r>
              <a:rPr lang="en-US" sz="2400" dirty="0">
                <a:latin typeface="Times New Roman" pitchFamily="18" charset="0"/>
                <a:cs typeface="Times New Roman" pitchFamily="18" charset="0"/>
              </a:rPr>
              <a:t>solv</a:t>
            </a:r>
            <a:r>
              <a:rPr lang="en-US" dirty="0"/>
              <a:t>ent.</a:t>
            </a:r>
          </a:p>
        </p:txBody>
      </p:sp>
    </p:spTree>
    <p:extLst>
      <p:ext uri="{BB962C8B-B14F-4D97-AF65-F5344CB8AC3E}">
        <p14:creationId xmlns:p14="http://schemas.microsoft.com/office/powerpoint/2010/main" xmlns="" val="4259640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67000" y="381000"/>
            <a:ext cx="4402167" cy="461665"/>
          </a:xfrm>
          <a:prstGeom prst="rect">
            <a:avLst/>
          </a:prstGeom>
        </p:spPr>
        <p:txBody>
          <a:bodyPr wrap="none">
            <a:spAutoFit/>
          </a:bodyPr>
          <a:lstStyle/>
          <a:p>
            <a:r>
              <a:rPr lang="en-US" sz="2400" b="1" dirty="0">
                <a:latin typeface="Times New Roman" pitchFamily="18" charset="0"/>
                <a:cs typeface="Times New Roman" pitchFamily="18" charset="0"/>
              </a:rPr>
              <a:t>COLLIGATIVE PROPERTIES</a:t>
            </a:r>
          </a:p>
        </p:txBody>
      </p:sp>
      <p:sp>
        <p:nvSpPr>
          <p:cNvPr id="3" name="Rectangle 2"/>
          <p:cNvSpPr/>
          <p:nvPr/>
        </p:nvSpPr>
        <p:spPr>
          <a:xfrm>
            <a:off x="381000" y="842665"/>
            <a:ext cx="8458200" cy="1015663"/>
          </a:xfrm>
          <a:prstGeom prst="rect">
            <a:avLst/>
          </a:prstGeom>
        </p:spPr>
        <p:txBody>
          <a:bodyPr wrap="square">
            <a:spAutoFit/>
          </a:bodyPr>
          <a:lstStyle/>
          <a:p>
            <a:pPr algn="ctr"/>
            <a:r>
              <a:rPr lang="en-US" sz="2000" dirty="0">
                <a:latin typeface="Times New Roman" pitchFamily="18" charset="0"/>
                <a:cs typeface="Times New Roman" pitchFamily="18" charset="0"/>
              </a:rPr>
              <a:t>A colligative property may be defined as one which depends on the number of particles in solution and not in any way on the size or chemical nature of the particles</a:t>
            </a:r>
            <a:r>
              <a:rPr lang="en-US" dirty="0"/>
              <a:t>.</a:t>
            </a:r>
          </a:p>
        </p:txBody>
      </p:sp>
      <p:sp>
        <p:nvSpPr>
          <p:cNvPr id="4" name="Rectangle 3"/>
          <p:cNvSpPr/>
          <p:nvPr/>
        </p:nvSpPr>
        <p:spPr>
          <a:xfrm>
            <a:off x="609600" y="2057400"/>
            <a:ext cx="8077200" cy="1938992"/>
          </a:xfrm>
          <a:prstGeom prst="rect">
            <a:avLst/>
          </a:prstGeom>
        </p:spPr>
        <p:txBody>
          <a:bodyPr wrap="square">
            <a:spAutoFit/>
          </a:bodyPr>
          <a:lstStyle/>
          <a:p>
            <a:pPr algn="just"/>
            <a:r>
              <a:rPr lang="en-US" sz="2000" dirty="0">
                <a:latin typeface="Times New Roman" pitchFamily="18" charset="0"/>
                <a:cs typeface="Times New Roman" pitchFamily="18" charset="0"/>
              </a:rPr>
              <a:t>Dilute solutions containing non-volatile solute exhibit the</a:t>
            </a:r>
          </a:p>
          <a:p>
            <a:pPr algn="just"/>
            <a:r>
              <a:rPr lang="en-US" sz="2000" dirty="0">
                <a:latin typeface="Times New Roman" pitchFamily="18" charset="0"/>
                <a:cs typeface="Times New Roman" pitchFamily="18" charset="0"/>
              </a:rPr>
              <a:t>following properties :</a:t>
            </a:r>
          </a:p>
          <a:p>
            <a:pPr algn="just"/>
            <a:r>
              <a:rPr lang="en-US" sz="2000" dirty="0">
                <a:latin typeface="Times New Roman" pitchFamily="18" charset="0"/>
                <a:cs typeface="Times New Roman" pitchFamily="18" charset="0"/>
              </a:rPr>
              <a:t>(1) Lowering of the </a:t>
            </a:r>
            <a:r>
              <a:rPr lang="en-US" sz="2000" dirty="0" err="1">
                <a:latin typeface="Times New Roman" pitchFamily="18" charset="0"/>
                <a:cs typeface="Times New Roman" pitchFamily="18" charset="0"/>
              </a:rPr>
              <a:t>Vapour</a:t>
            </a:r>
            <a:r>
              <a:rPr lang="en-US" sz="2000" dirty="0">
                <a:latin typeface="Times New Roman" pitchFamily="18" charset="0"/>
                <a:cs typeface="Times New Roman" pitchFamily="18" charset="0"/>
              </a:rPr>
              <a:t> Pressure</a:t>
            </a:r>
          </a:p>
          <a:p>
            <a:pPr algn="just"/>
            <a:r>
              <a:rPr lang="en-US" sz="2000" dirty="0">
                <a:latin typeface="Times New Roman" pitchFamily="18" charset="0"/>
                <a:cs typeface="Times New Roman" pitchFamily="18" charset="0"/>
              </a:rPr>
              <a:t>(2) Elevation of the Boiling Point</a:t>
            </a:r>
          </a:p>
          <a:p>
            <a:pPr algn="just"/>
            <a:r>
              <a:rPr lang="en-US" sz="2000" dirty="0">
                <a:latin typeface="Times New Roman" pitchFamily="18" charset="0"/>
                <a:cs typeface="Times New Roman" pitchFamily="18" charset="0"/>
              </a:rPr>
              <a:t>(3) Depression of the Freezing Point</a:t>
            </a:r>
          </a:p>
          <a:p>
            <a:pPr algn="just"/>
            <a:r>
              <a:rPr lang="en-US" sz="2000" dirty="0">
                <a:latin typeface="Times New Roman" pitchFamily="18" charset="0"/>
                <a:cs typeface="Times New Roman" pitchFamily="18" charset="0"/>
              </a:rPr>
              <a:t>(4) Osmotic Pressure</a:t>
            </a:r>
          </a:p>
        </p:txBody>
      </p:sp>
      <p:sp>
        <p:nvSpPr>
          <p:cNvPr id="5" name="Rectangle 4"/>
          <p:cNvSpPr/>
          <p:nvPr/>
        </p:nvSpPr>
        <p:spPr>
          <a:xfrm>
            <a:off x="1828800" y="3996392"/>
            <a:ext cx="4661148" cy="400110"/>
          </a:xfrm>
          <a:prstGeom prst="rect">
            <a:avLst/>
          </a:prstGeom>
        </p:spPr>
        <p:txBody>
          <a:bodyPr wrap="none">
            <a:spAutoFit/>
          </a:bodyPr>
          <a:lstStyle/>
          <a:p>
            <a:r>
              <a:rPr lang="en-US" sz="2000" b="1" dirty="0">
                <a:latin typeface="Times New Roman" pitchFamily="18" charset="0"/>
                <a:cs typeface="Times New Roman" pitchFamily="18" charset="0"/>
              </a:rPr>
              <a:t>LOWERING OF VAPOUR PRESSURE </a:t>
            </a:r>
          </a:p>
        </p:txBody>
      </p:sp>
      <p:sp>
        <p:nvSpPr>
          <p:cNvPr id="6" name="Rectangle 5"/>
          <p:cNvSpPr/>
          <p:nvPr/>
        </p:nvSpPr>
        <p:spPr>
          <a:xfrm>
            <a:off x="457200" y="4380310"/>
            <a:ext cx="8229600" cy="2246769"/>
          </a:xfrm>
          <a:prstGeom prst="rect">
            <a:avLst/>
          </a:prstGeom>
        </p:spPr>
        <p:txBody>
          <a:bodyPr wrap="square">
            <a:spAutoFit/>
          </a:bodyPr>
          <a:lstStyle/>
          <a:p>
            <a:pPr algn="just"/>
            <a:r>
              <a:rPr lang="en-US" sz="2000" b="1" dirty="0">
                <a:latin typeface="Times New Roman" pitchFamily="18" charset="0"/>
                <a:cs typeface="Times New Roman" pitchFamily="18" charset="0"/>
              </a:rPr>
              <a:t>Relative lowering of </a:t>
            </a:r>
            <a:r>
              <a:rPr lang="en-US" sz="2000" b="1" dirty="0" err="1">
                <a:latin typeface="Times New Roman" pitchFamily="18" charset="0"/>
                <a:cs typeface="Times New Roman" pitchFamily="18" charset="0"/>
              </a:rPr>
              <a:t>Vapour</a:t>
            </a:r>
            <a:r>
              <a:rPr lang="en-US" sz="2000" b="1" dirty="0">
                <a:latin typeface="Times New Roman" pitchFamily="18" charset="0"/>
                <a:cs typeface="Times New Roman" pitchFamily="18" charset="0"/>
              </a:rPr>
              <a:t> pressure</a:t>
            </a:r>
            <a:r>
              <a:rPr lang="en-US" sz="2000" dirty="0">
                <a:latin typeface="Times New Roman" pitchFamily="18" charset="0"/>
                <a:cs typeface="Times New Roman" pitchFamily="18" charset="0"/>
              </a:rPr>
              <a:t>: The </a:t>
            </a:r>
            <a:r>
              <a:rPr lang="en-US" sz="2000" dirty="0" err="1">
                <a:latin typeface="Times New Roman" pitchFamily="18" charset="0"/>
                <a:cs typeface="Times New Roman" pitchFamily="18" charset="0"/>
              </a:rPr>
              <a:t>vapour</a:t>
            </a:r>
            <a:r>
              <a:rPr lang="en-US" sz="2000" dirty="0">
                <a:latin typeface="Times New Roman" pitchFamily="18" charset="0"/>
                <a:cs typeface="Times New Roman" pitchFamily="18" charset="0"/>
              </a:rPr>
              <a:t> pressure of a pure solvent is decreased when a non-volatile solute is dissolved in it. If p is the </a:t>
            </a:r>
            <a:r>
              <a:rPr lang="en-US" sz="2000" dirty="0" err="1">
                <a:latin typeface="Times New Roman" pitchFamily="18" charset="0"/>
                <a:cs typeface="Times New Roman" pitchFamily="18" charset="0"/>
              </a:rPr>
              <a:t>vapour</a:t>
            </a:r>
            <a:r>
              <a:rPr lang="en-US" sz="2000" dirty="0">
                <a:latin typeface="Times New Roman" pitchFamily="18" charset="0"/>
                <a:cs typeface="Times New Roman" pitchFamily="18" charset="0"/>
              </a:rPr>
              <a:t> pressure of the solvent and </a:t>
            </a:r>
            <a:r>
              <a:rPr lang="en-US" sz="2000" dirty="0" err="1">
                <a:latin typeface="Times New Roman" pitchFamily="18" charset="0"/>
                <a:cs typeface="Times New Roman" pitchFamily="18" charset="0"/>
              </a:rPr>
              <a:t>ps</a:t>
            </a:r>
            <a:r>
              <a:rPr lang="en-US" sz="2000" dirty="0">
                <a:latin typeface="Times New Roman" pitchFamily="18" charset="0"/>
                <a:cs typeface="Times New Roman" pitchFamily="18" charset="0"/>
              </a:rPr>
              <a:t> that of the solution, the lowering of </a:t>
            </a:r>
            <a:r>
              <a:rPr lang="en-US" sz="2000" dirty="0" err="1">
                <a:latin typeface="Times New Roman" pitchFamily="18" charset="0"/>
                <a:cs typeface="Times New Roman" pitchFamily="18" charset="0"/>
              </a:rPr>
              <a:t>vapour</a:t>
            </a:r>
            <a:r>
              <a:rPr lang="en-US" sz="2000" dirty="0">
                <a:latin typeface="Times New Roman" pitchFamily="18" charset="0"/>
                <a:cs typeface="Times New Roman" pitchFamily="18" charset="0"/>
              </a:rPr>
              <a:t> pressure is (p – </a:t>
            </a:r>
            <a:r>
              <a:rPr lang="en-US" sz="2000" dirty="0" err="1">
                <a:latin typeface="Times New Roman" pitchFamily="18" charset="0"/>
                <a:cs typeface="Times New Roman" pitchFamily="18" charset="0"/>
              </a:rPr>
              <a:t>ps</a:t>
            </a:r>
            <a:r>
              <a:rPr lang="en-US" sz="2000" dirty="0">
                <a:latin typeface="Times New Roman" pitchFamily="18" charset="0"/>
                <a:cs typeface="Times New Roman" pitchFamily="18" charset="0"/>
              </a:rPr>
              <a:t>). This lowering of </a:t>
            </a:r>
            <a:r>
              <a:rPr lang="en-US" sz="2000" dirty="0" err="1">
                <a:latin typeface="Times New Roman" pitchFamily="18" charset="0"/>
                <a:cs typeface="Times New Roman" pitchFamily="18" charset="0"/>
              </a:rPr>
              <a:t>vapour</a:t>
            </a:r>
            <a:r>
              <a:rPr lang="en-US" sz="2000" dirty="0">
                <a:latin typeface="Times New Roman" pitchFamily="18" charset="0"/>
                <a:cs typeface="Times New Roman" pitchFamily="18" charset="0"/>
              </a:rPr>
              <a:t> pressure relative to the </a:t>
            </a:r>
            <a:r>
              <a:rPr lang="en-US" sz="2000" dirty="0" err="1">
                <a:latin typeface="Times New Roman" pitchFamily="18" charset="0"/>
                <a:cs typeface="Times New Roman" pitchFamily="18" charset="0"/>
              </a:rPr>
              <a:t>vapour</a:t>
            </a:r>
            <a:r>
              <a:rPr lang="en-US" sz="2000" dirty="0">
                <a:latin typeface="Times New Roman" pitchFamily="18" charset="0"/>
                <a:cs typeface="Times New Roman" pitchFamily="18" charset="0"/>
              </a:rPr>
              <a:t> pressure of the pure solvent is termed the Relative lowering of </a:t>
            </a:r>
            <a:r>
              <a:rPr lang="en-US" sz="2000" dirty="0" err="1">
                <a:latin typeface="Times New Roman" pitchFamily="18" charset="0"/>
                <a:cs typeface="Times New Roman" pitchFamily="18" charset="0"/>
              </a:rPr>
              <a:t>Vapour</a:t>
            </a:r>
            <a:r>
              <a:rPr lang="en-US" sz="2000" dirty="0">
                <a:latin typeface="Times New Roman" pitchFamily="18" charset="0"/>
                <a:cs typeface="Times New Roman" pitchFamily="18" charset="0"/>
              </a:rPr>
              <a:t> pressure. Thus,</a:t>
            </a:r>
          </a:p>
          <a:p>
            <a:pPr algn="just"/>
            <a:r>
              <a:rPr lang="en-US" sz="2000" dirty="0">
                <a:latin typeface="Times New Roman" pitchFamily="18" charset="0"/>
                <a:cs typeface="Times New Roman" pitchFamily="18" charset="0"/>
              </a:rPr>
              <a:t>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092725" y="6042153"/>
            <a:ext cx="6761715" cy="8283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625052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1000" fill="hold"/>
                                        <p:tgtEl>
                                          <p:spTgt spid="4"/>
                                        </p:tgtEl>
                                        <p:attrNameLst>
                                          <p:attrName>ppt_w</p:attrName>
                                        </p:attrNameLst>
                                      </p:cBhvr>
                                      <p:tavLst>
                                        <p:tav tm="0">
                                          <p:val>
                                            <p:fltVal val="0"/>
                                          </p:val>
                                        </p:tav>
                                        <p:tav tm="100000">
                                          <p:val>
                                            <p:strVal val="#ppt_w"/>
                                          </p:val>
                                        </p:tav>
                                      </p:tavLst>
                                    </p:anim>
                                    <p:anim calcmode="lin" valueType="num">
                                      <p:cBhvr>
                                        <p:cTn id="18" dur="1000" fill="hold"/>
                                        <p:tgtEl>
                                          <p:spTgt spid="4"/>
                                        </p:tgtEl>
                                        <p:attrNameLst>
                                          <p:attrName>ppt_h</p:attrName>
                                        </p:attrNameLst>
                                      </p:cBhvr>
                                      <p:tavLst>
                                        <p:tav tm="0">
                                          <p:val>
                                            <p:fltVal val="0"/>
                                          </p:val>
                                        </p:tav>
                                        <p:tav tm="100000">
                                          <p:val>
                                            <p:strVal val="#ppt_h"/>
                                          </p:val>
                                        </p:tav>
                                      </p:tavLst>
                                    </p:anim>
                                    <p:animEffect transition="in" filter="fade">
                                      <p:cBhvr>
                                        <p:cTn id="19" dur="10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arn(inVertical)">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Effect transition="in" filter="fade">
                                      <p:cBhvr>
                                        <p:cTn id="31" dur="10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3074"/>
                                        </p:tgtEl>
                                        <p:attrNameLst>
                                          <p:attrName>style.visibility</p:attrName>
                                        </p:attrNameLst>
                                      </p:cBhvr>
                                      <p:to>
                                        <p:strVal val="visible"/>
                                      </p:to>
                                    </p:set>
                                    <p:animEffect transition="in" filter="barn(inVertical)">
                                      <p:cBhvr>
                                        <p:cTn id="36" dur="10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00400" y="381000"/>
            <a:ext cx="2237600" cy="523220"/>
          </a:xfrm>
          <a:prstGeom prst="rect">
            <a:avLst/>
          </a:prstGeom>
        </p:spPr>
        <p:txBody>
          <a:bodyPr wrap="none">
            <a:spAutoFit/>
          </a:bodyPr>
          <a:lstStyle/>
          <a:p>
            <a:r>
              <a:rPr lang="en-US" sz="2800" b="1" dirty="0" err="1">
                <a:latin typeface="Times New Roman" pitchFamily="18" charset="0"/>
                <a:cs typeface="Times New Roman" pitchFamily="18" charset="0"/>
              </a:rPr>
              <a:t>Raoult’s</a:t>
            </a:r>
            <a:r>
              <a:rPr lang="en-US" sz="2800" b="1" dirty="0">
                <a:latin typeface="Times New Roman" pitchFamily="18" charset="0"/>
                <a:cs typeface="Times New Roman" pitchFamily="18" charset="0"/>
              </a:rPr>
              <a:t> Law</a:t>
            </a:r>
          </a:p>
        </p:txBody>
      </p:sp>
      <p:sp>
        <p:nvSpPr>
          <p:cNvPr id="3" name="Rectangle 2"/>
          <p:cNvSpPr/>
          <p:nvPr/>
        </p:nvSpPr>
        <p:spPr>
          <a:xfrm>
            <a:off x="228600" y="1143000"/>
            <a:ext cx="8763000" cy="707886"/>
          </a:xfrm>
          <a:prstGeom prst="rect">
            <a:avLst/>
          </a:prstGeom>
        </p:spPr>
        <p:txBody>
          <a:bodyPr wrap="square">
            <a:spAutoFit/>
          </a:bodyPr>
          <a:lstStyle/>
          <a:p>
            <a:pPr algn="ctr"/>
            <a:r>
              <a:rPr lang="en-US" sz="2000" dirty="0">
                <a:latin typeface="Times New Roman" pitchFamily="18" charset="0"/>
                <a:cs typeface="Times New Roman" pitchFamily="18" charset="0"/>
              </a:rPr>
              <a:t>The relative lowering of the </a:t>
            </a:r>
            <a:r>
              <a:rPr lang="en-US" sz="2000" dirty="0" err="1">
                <a:latin typeface="Times New Roman" pitchFamily="18" charset="0"/>
                <a:cs typeface="Times New Roman" pitchFamily="18" charset="0"/>
              </a:rPr>
              <a:t>vapour</a:t>
            </a:r>
            <a:r>
              <a:rPr lang="en-US" sz="2000" dirty="0">
                <a:latin typeface="Times New Roman" pitchFamily="18" charset="0"/>
                <a:cs typeface="Times New Roman" pitchFamily="18" charset="0"/>
              </a:rPr>
              <a:t> pressure of a dilute solution is equal to the mole fraction of the solute present in dilute solution</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38200" y="1881366"/>
            <a:ext cx="7848599" cy="1905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510398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4098"/>
                                        </p:tgtEl>
                                        <p:attrNameLst>
                                          <p:attrName>style.visibility</p:attrName>
                                        </p:attrNameLst>
                                      </p:cBhvr>
                                      <p:to>
                                        <p:strVal val="visible"/>
                                      </p:to>
                                    </p:set>
                                    <p:anim calcmode="lin" valueType="num">
                                      <p:cBhvr>
                                        <p:cTn id="17" dur="1000" fill="hold"/>
                                        <p:tgtEl>
                                          <p:spTgt spid="4098"/>
                                        </p:tgtEl>
                                        <p:attrNameLst>
                                          <p:attrName>ppt_w</p:attrName>
                                        </p:attrNameLst>
                                      </p:cBhvr>
                                      <p:tavLst>
                                        <p:tav tm="0">
                                          <p:val>
                                            <p:fltVal val="0"/>
                                          </p:val>
                                        </p:tav>
                                        <p:tav tm="100000">
                                          <p:val>
                                            <p:strVal val="#ppt_w"/>
                                          </p:val>
                                        </p:tav>
                                      </p:tavLst>
                                    </p:anim>
                                    <p:anim calcmode="lin" valueType="num">
                                      <p:cBhvr>
                                        <p:cTn id="18" dur="1000" fill="hold"/>
                                        <p:tgtEl>
                                          <p:spTgt spid="4098"/>
                                        </p:tgtEl>
                                        <p:attrNameLst>
                                          <p:attrName>ppt_h</p:attrName>
                                        </p:attrNameLst>
                                      </p:cBhvr>
                                      <p:tavLst>
                                        <p:tav tm="0">
                                          <p:val>
                                            <p:fltVal val="0"/>
                                          </p:val>
                                        </p:tav>
                                        <p:tav tm="100000">
                                          <p:val>
                                            <p:strVal val="#ppt_h"/>
                                          </p:val>
                                        </p:tav>
                                      </p:tavLst>
                                    </p:anim>
                                    <p:animEffect transition="in" filter="fade">
                                      <p:cBhvr>
                                        <p:cTn id="19" dur="10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471160" y="1752600"/>
            <a:ext cx="3505200" cy="24685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Rectangle 3"/>
          <p:cNvSpPr/>
          <p:nvPr/>
        </p:nvSpPr>
        <p:spPr>
          <a:xfrm>
            <a:off x="533400" y="716121"/>
            <a:ext cx="4572000" cy="6001643"/>
          </a:xfrm>
          <a:prstGeom prst="rect">
            <a:avLst/>
          </a:prstGeom>
        </p:spPr>
        <p:txBody>
          <a:bodyPr>
            <a:spAutoFit/>
          </a:bodyPr>
          <a:lstStyle/>
          <a:p>
            <a:r>
              <a:rPr lang="en-US" sz="2400" dirty="0">
                <a:latin typeface="Times New Roman" pitchFamily="18" charset="0"/>
                <a:cs typeface="Times New Roman" pitchFamily="18" charset="0"/>
              </a:rPr>
              <a:t>The </a:t>
            </a:r>
            <a:r>
              <a:rPr lang="en-US" sz="2400" dirty="0" err="1">
                <a:latin typeface="Times New Roman" pitchFamily="18" charset="0"/>
                <a:cs typeface="Times New Roman" pitchFamily="18" charset="0"/>
              </a:rPr>
              <a:t>vapour</a:t>
            </a:r>
            <a:r>
              <a:rPr lang="en-US" sz="2400" dirty="0">
                <a:latin typeface="Times New Roman" pitchFamily="18" charset="0"/>
                <a:cs typeface="Times New Roman" pitchFamily="18" charset="0"/>
              </a:rPr>
              <a:t> pressure of the pure solvent is caused by the number of molecules evaporating from its surface. When a nonvolatile solute is dissolved in solution, the presence of solute molecules in the surface blocks a fraction of the surface where no evaporation can take place. This causes the lowering of the </a:t>
            </a:r>
            <a:r>
              <a:rPr lang="en-US" sz="2400" dirty="0" err="1">
                <a:latin typeface="Times New Roman" pitchFamily="18" charset="0"/>
                <a:cs typeface="Times New Roman" pitchFamily="18" charset="0"/>
              </a:rPr>
              <a:t>vapour</a:t>
            </a:r>
            <a:r>
              <a:rPr lang="en-US" sz="2400" dirty="0">
                <a:latin typeface="Times New Roman" pitchFamily="18" charset="0"/>
                <a:cs typeface="Times New Roman" pitchFamily="18" charset="0"/>
              </a:rPr>
              <a:t> pressure. The </a:t>
            </a:r>
            <a:r>
              <a:rPr lang="en-US" sz="2400" dirty="0" err="1">
                <a:latin typeface="Times New Roman" pitchFamily="18" charset="0"/>
                <a:cs typeface="Times New Roman" pitchFamily="18" charset="0"/>
              </a:rPr>
              <a:t>vapour</a:t>
            </a:r>
            <a:r>
              <a:rPr lang="en-US" sz="2400" dirty="0">
                <a:latin typeface="Times New Roman" pitchFamily="18" charset="0"/>
                <a:cs typeface="Times New Roman" pitchFamily="18" charset="0"/>
              </a:rPr>
              <a:t> pressure of the solution is, therefore, determined by the number of molecules of the solvent present at any time in the surface which is proportional to the mole fraction. That is,</a:t>
            </a:r>
          </a:p>
        </p:txBody>
      </p:sp>
      <p:sp>
        <p:nvSpPr>
          <p:cNvPr id="5" name="Rectangle 4"/>
          <p:cNvSpPr/>
          <p:nvPr/>
        </p:nvSpPr>
        <p:spPr>
          <a:xfrm>
            <a:off x="2784874" y="152400"/>
            <a:ext cx="4351961" cy="523220"/>
          </a:xfrm>
          <a:prstGeom prst="rect">
            <a:avLst/>
          </a:prstGeom>
        </p:spPr>
        <p:txBody>
          <a:bodyPr wrap="none">
            <a:spAutoFit/>
          </a:bodyPr>
          <a:lstStyle/>
          <a:p>
            <a:r>
              <a:rPr lang="en-US" sz="2800" b="1" dirty="0">
                <a:latin typeface="Times New Roman" pitchFamily="18" charset="0"/>
                <a:cs typeface="Times New Roman" pitchFamily="18" charset="0"/>
              </a:rPr>
              <a:t>Derivation of </a:t>
            </a:r>
            <a:r>
              <a:rPr lang="en-US" sz="2800" b="1" dirty="0" err="1">
                <a:latin typeface="Times New Roman" pitchFamily="18" charset="0"/>
                <a:cs typeface="Times New Roman" pitchFamily="18" charset="0"/>
              </a:rPr>
              <a:t>Raoult’s</a:t>
            </a:r>
            <a:r>
              <a:rPr lang="en-US" sz="2800" b="1" dirty="0">
                <a:latin typeface="Times New Roman" pitchFamily="18" charset="0"/>
                <a:cs typeface="Times New Roman" pitchFamily="18" charset="0"/>
              </a:rPr>
              <a:t> Law</a:t>
            </a:r>
          </a:p>
        </p:txBody>
      </p:sp>
    </p:spTree>
    <p:extLst>
      <p:ext uri="{BB962C8B-B14F-4D97-AF65-F5344CB8AC3E}">
        <p14:creationId xmlns:p14="http://schemas.microsoft.com/office/powerpoint/2010/main" xmlns="" val="1891485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5122"/>
                                        </p:tgtEl>
                                        <p:attrNameLst>
                                          <p:attrName>style.visibility</p:attrName>
                                        </p:attrNameLst>
                                      </p:cBhvr>
                                      <p:to>
                                        <p:strVal val="visible"/>
                                      </p:to>
                                    </p:set>
                                    <p:anim calcmode="lin" valueType="num">
                                      <p:cBhvr>
                                        <p:cTn id="17" dur="1000" fill="hold"/>
                                        <p:tgtEl>
                                          <p:spTgt spid="5122"/>
                                        </p:tgtEl>
                                        <p:attrNameLst>
                                          <p:attrName>ppt_w</p:attrName>
                                        </p:attrNameLst>
                                      </p:cBhvr>
                                      <p:tavLst>
                                        <p:tav tm="0">
                                          <p:val>
                                            <p:fltVal val="0"/>
                                          </p:val>
                                        </p:tav>
                                        <p:tav tm="100000">
                                          <p:val>
                                            <p:strVal val="#ppt_w"/>
                                          </p:val>
                                        </p:tav>
                                      </p:tavLst>
                                    </p:anim>
                                    <p:anim calcmode="lin" valueType="num">
                                      <p:cBhvr>
                                        <p:cTn id="18" dur="1000" fill="hold"/>
                                        <p:tgtEl>
                                          <p:spTgt spid="5122"/>
                                        </p:tgtEl>
                                        <p:attrNameLst>
                                          <p:attrName>ppt_h</p:attrName>
                                        </p:attrNameLst>
                                      </p:cBhvr>
                                      <p:tavLst>
                                        <p:tav tm="0">
                                          <p:val>
                                            <p:fltVal val="0"/>
                                          </p:val>
                                        </p:tav>
                                        <p:tav tm="100000">
                                          <p:val>
                                            <p:strVal val="#ppt_h"/>
                                          </p:val>
                                        </p:tav>
                                      </p:tavLst>
                                    </p:anim>
                                    <p:animEffect transition="in" filter="fade">
                                      <p:cBhvr>
                                        <p:cTn id="19" dur="10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371600" y="152400"/>
            <a:ext cx="6934200" cy="2057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371600" y="2438400"/>
            <a:ext cx="6934200" cy="426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818186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p:cTn id="7" dur="1000" fill="hold"/>
                                        <p:tgtEl>
                                          <p:spTgt spid="6146"/>
                                        </p:tgtEl>
                                        <p:attrNameLst>
                                          <p:attrName>ppt_w</p:attrName>
                                        </p:attrNameLst>
                                      </p:cBhvr>
                                      <p:tavLst>
                                        <p:tav tm="0">
                                          <p:val>
                                            <p:fltVal val="0"/>
                                          </p:val>
                                        </p:tav>
                                        <p:tav tm="100000">
                                          <p:val>
                                            <p:strVal val="#ppt_w"/>
                                          </p:val>
                                        </p:tav>
                                      </p:tavLst>
                                    </p:anim>
                                    <p:anim calcmode="lin" valueType="num">
                                      <p:cBhvr>
                                        <p:cTn id="8" dur="1000" fill="hold"/>
                                        <p:tgtEl>
                                          <p:spTgt spid="6146"/>
                                        </p:tgtEl>
                                        <p:attrNameLst>
                                          <p:attrName>ppt_h</p:attrName>
                                        </p:attrNameLst>
                                      </p:cBhvr>
                                      <p:tavLst>
                                        <p:tav tm="0">
                                          <p:val>
                                            <p:fltVal val="0"/>
                                          </p:val>
                                        </p:tav>
                                        <p:tav tm="100000">
                                          <p:val>
                                            <p:strVal val="#ppt_h"/>
                                          </p:val>
                                        </p:tav>
                                      </p:tavLst>
                                    </p:anim>
                                    <p:animEffect transition="in" filter="fade">
                                      <p:cBhvr>
                                        <p:cTn id="9" dur="1000"/>
                                        <p:tgtEl>
                                          <p:spTgt spid="6146"/>
                                        </p:tgtEl>
                                      </p:cBhvr>
                                    </p:animEffect>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6147"/>
                                        </p:tgtEl>
                                        <p:attrNameLst>
                                          <p:attrName>style.visibility</p:attrName>
                                        </p:attrNameLst>
                                      </p:cBhvr>
                                      <p:to>
                                        <p:strVal val="visible"/>
                                      </p:to>
                                    </p:set>
                                    <p:animEffect transition="in" filter="circle(in)">
                                      <p:cBhvr>
                                        <p:cTn id="14" dur="1000"/>
                                        <p:tgtEl>
                                          <p:spTgt spid="6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4600" y="30480"/>
            <a:ext cx="4942187" cy="461665"/>
          </a:xfrm>
          <a:prstGeom prst="rect">
            <a:avLst/>
          </a:prstGeom>
        </p:spPr>
        <p:txBody>
          <a:bodyPr wrap="none">
            <a:spAutoFit/>
          </a:bodyPr>
          <a:lstStyle/>
          <a:p>
            <a:r>
              <a:rPr lang="en-US" sz="2400" b="1" dirty="0">
                <a:latin typeface="Times New Roman" pitchFamily="18" charset="0"/>
                <a:cs typeface="Times New Roman" pitchFamily="18" charset="0"/>
              </a:rPr>
              <a:t>ELEVATION OF BOILING POINT</a:t>
            </a:r>
          </a:p>
        </p:txBody>
      </p:sp>
      <p:sp>
        <p:nvSpPr>
          <p:cNvPr id="3" name="Rectangle 2"/>
          <p:cNvSpPr/>
          <p:nvPr/>
        </p:nvSpPr>
        <p:spPr>
          <a:xfrm>
            <a:off x="304800" y="507385"/>
            <a:ext cx="8686800" cy="2062103"/>
          </a:xfrm>
          <a:prstGeom prst="rect">
            <a:avLst/>
          </a:prstGeom>
        </p:spPr>
        <p:txBody>
          <a:bodyPr wrap="square">
            <a:spAutoFit/>
          </a:bodyPr>
          <a:lstStyle/>
          <a:p>
            <a:r>
              <a:rPr lang="en-US" dirty="0">
                <a:latin typeface="Times New Roman" pitchFamily="18" charset="0"/>
                <a:cs typeface="Times New Roman" pitchFamily="18" charset="0"/>
              </a:rPr>
              <a:t>When a liquid is heated, its </a:t>
            </a:r>
            <a:r>
              <a:rPr lang="en-US" dirty="0" err="1">
                <a:latin typeface="Times New Roman" pitchFamily="18" charset="0"/>
                <a:cs typeface="Times New Roman" pitchFamily="18" charset="0"/>
              </a:rPr>
              <a:t>vapour</a:t>
            </a:r>
            <a:r>
              <a:rPr lang="en-US" dirty="0">
                <a:latin typeface="Times New Roman" pitchFamily="18" charset="0"/>
                <a:cs typeface="Times New Roman" pitchFamily="18" charset="0"/>
              </a:rPr>
              <a:t> pressure rises and when it equals the atmospheric pressure, the liquid boils. The addition of a non volatile solute lowers the </a:t>
            </a:r>
            <a:r>
              <a:rPr lang="en-US" dirty="0" err="1">
                <a:latin typeface="Times New Roman" pitchFamily="18" charset="0"/>
                <a:cs typeface="Times New Roman" pitchFamily="18" charset="0"/>
              </a:rPr>
              <a:t>vapour</a:t>
            </a:r>
            <a:r>
              <a:rPr lang="en-US" dirty="0">
                <a:latin typeface="Times New Roman" pitchFamily="18" charset="0"/>
                <a:cs typeface="Times New Roman" pitchFamily="18" charset="0"/>
              </a:rPr>
              <a:t> pressure and consequently elevates the boiling point as the solution has to be heated to a higher temperature to make its </a:t>
            </a:r>
            <a:r>
              <a:rPr lang="en-US" dirty="0" err="1">
                <a:latin typeface="Times New Roman" pitchFamily="18" charset="0"/>
                <a:cs typeface="Times New Roman" pitchFamily="18" charset="0"/>
              </a:rPr>
              <a:t>vapour</a:t>
            </a:r>
            <a:r>
              <a:rPr lang="en-US" dirty="0">
                <a:latin typeface="Times New Roman" pitchFamily="18" charset="0"/>
                <a:cs typeface="Times New Roman" pitchFamily="18" charset="0"/>
              </a:rPr>
              <a:t> pressure become equal to atmospheric pressure. If Tb is the boiling point of the solvent and T is the boiling point of the solution, the difference in the boiling points </a:t>
            </a:r>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sym typeface="Symbol"/>
              </a:rPr>
              <a:t></a:t>
            </a:r>
            <a:r>
              <a:rPr lang="en-US" dirty="0" smtClean="0">
                <a:latin typeface="Times New Roman" pitchFamily="18" charset="0"/>
                <a:cs typeface="Times New Roman" pitchFamily="18" charset="0"/>
              </a:rPr>
              <a:t>T</a:t>
            </a:r>
            <a:r>
              <a:rPr lang="en-US" dirty="0">
                <a:latin typeface="Times New Roman" pitchFamily="18" charset="0"/>
                <a:cs typeface="Times New Roman" pitchFamily="18" charset="0"/>
              </a:rPr>
              <a:t>) is called the elevation of boiling point.</a:t>
            </a:r>
          </a:p>
          <a:p>
            <a:r>
              <a:rPr lang="en-US" sz="2000" dirty="0">
                <a:latin typeface="Times New Roman" pitchFamily="18" charset="0"/>
                <a:cs typeface="Times New Roman" pitchFamily="18" charset="0"/>
              </a:rPr>
              <a:t>                                                           T – T</a:t>
            </a:r>
            <a:r>
              <a:rPr lang="en-US" sz="1600" dirty="0">
                <a:latin typeface="Times New Roman" pitchFamily="18" charset="0"/>
                <a:cs typeface="Times New Roman" pitchFamily="18" charset="0"/>
              </a:rPr>
              <a:t>b</a:t>
            </a:r>
            <a:r>
              <a:rPr lang="en-US" sz="2000" dirty="0">
                <a:latin typeface="Times New Roman" pitchFamily="18" charset="0"/>
                <a:cs typeface="Times New Roman" pitchFamily="18" charset="0"/>
              </a:rPr>
              <a:t> = </a:t>
            </a:r>
            <a:r>
              <a:rPr lang="en-US" sz="2000" dirty="0">
                <a:latin typeface="Times New Roman" pitchFamily="18" charset="0"/>
                <a:cs typeface="Times New Roman" pitchFamily="18" charset="0"/>
                <a:sym typeface="Symbol"/>
              </a:rPr>
              <a:t></a:t>
            </a:r>
            <a:r>
              <a:rPr lang="en-US" sz="2000" dirty="0" smtClean="0">
                <a:latin typeface="Times New Roman" pitchFamily="18" charset="0"/>
                <a:cs typeface="Times New Roman" pitchFamily="18" charset="0"/>
              </a:rPr>
              <a:t>T</a:t>
            </a:r>
            <a:endParaRPr lang="en-US" sz="2000" dirty="0">
              <a:latin typeface="Times New Roman" pitchFamily="18" charset="0"/>
              <a:cs typeface="Times New Roman" pitchFamily="18" charset="0"/>
            </a:endParaRPr>
          </a:p>
        </p:txBody>
      </p:sp>
      <p:sp>
        <p:nvSpPr>
          <p:cNvPr id="4" name="Rectangle 3"/>
          <p:cNvSpPr/>
          <p:nvPr/>
        </p:nvSpPr>
        <p:spPr>
          <a:xfrm>
            <a:off x="2514600" y="2517695"/>
            <a:ext cx="4942187" cy="461665"/>
          </a:xfrm>
          <a:prstGeom prst="rect">
            <a:avLst/>
          </a:prstGeom>
        </p:spPr>
        <p:txBody>
          <a:bodyPr wrap="square">
            <a:spAutoFit/>
          </a:bodyPr>
          <a:lstStyle/>
          <a:p>
            <a:r>
              <a:rPr lang="en-US" sz="2400" b="1" dirty="0">
                <a:latin typeface="Times New Roman" pitchFamily="18" charset="0"/>
                <a:cs typeface="Times New Roman" pitchFamily="18" charset="0"/>
              </a:rPr>
              <a:t>FREEZING–POINT DEPRESSION</a:t>
            </a:r>
          </a:p>
        </p:txBody>
      </p:sp>
      <p:sp>
        <p:nvSpPr>
          <p:cNvPr id="5" name="Rectangle 4"/>
          <p:cNvSpPr/>
          <p:nvPr/>
        </p:nvSpPr>
        <p:spPr>
          <a:xfrm>
            <a:off x="289560" y="3103424"/>
            <a:ext cx="6568440" cy="3724096"/>
          </a:xfrm>
          <a:prstGeom prst="rect">
            <a:avLst/>
          </a:prstGeom>
        </p:spPr>
        <p:txBody>
          <a:bodyPr wrap="square">
            <a:spAutoFit/>
          </a:bodyPr>
          <a:lstStyle/>
          <a:p>
            <a:r>
              <a:rPr lang="en-US" dirty="0">
                <a:latin typeface="Times New Roman" pitchFamily="18" charset="0"/>
                <a:cs typeface="Times New Roman" pitchFamily="18" charset="0"/>
              </a:rPr>
              <a:t>The </a:t>
            </a:r>
            <a:r>
              <a:rPr lang="en-US" dirty="0" err="1">
                <a:latin typeface="Times New Roman" pitchFamily="18" charset="0"/>
                <a:cs typeface="Times New Roman" pitchFamily="18" charset="0"/>
              </a:rPr>
              <a:t>vapour</a:t>
            </a:r>
            <a:r>
              <a:rPr lang="en-US" dirty="0">
                <a:latin typeface="Times New Roman" pitchFamily="18" charset="0"/>
                <a:cs typeface="Times New Roman" pitchFamily="18" charset="0"/>
              </a:rPr>
              <a:t> pressure of a pure liquid changes with temperature as shown by the curve ABC, in Fig. There is a sharp break at B where, in fact, the freezing-point curve commences. Thus the point B corresponds to the freezing point of pure solvent, </a:t>
            </a:r>
            <a:r>
              <a:rPr lang="en-US" dirty="0" err="1">
                <a:latin typeface="Times New Roman" pitchFamily="18" charset="0"/>
                <a:cs typeface="Times New Roman" pitchFamily="18" charset="0"/>
              </a:rPr>
              <a:t>Tf</a:t>
            </a:r>
            <a:r>
              <a:rPr lang="en-US" dirty="0">
                <a:latin typeface="Times New Roman" pitchFamily="18" charset="0"/>
                <a:cs typeface="Times New Roman" pitchFamily="18" charset="0"/>
              </a:rPr>
              <a:t>. The </a:t>
            </a:r>
            <a:r>
              <a:rPr lang="en-US" dirty="0" err="1">
                <a:latin typeface="Times New Roman" pitchFamily="18" charset="0"/>
                <a:cs typeface="Times New Roman" pitchFamily="18" charset="0"/>
              </a:rPr>
              <a:t>vapour</a:t>
            </a:r>
            <a:r>
              <a:rPr lang="en-US" dirty="0">
                <a:latin typeface="Times New Roman" pitchFamily="18" charset="0"/>
                <a:cs typeface="Times New Roman" pitchFamily="18" charset="0"/>
              </a:rPr>
              <a:t> pressure curve of a solution (solution 1) of a nonvolatile solute in the same solvent is also shown in Fig. It is similar to the </a:t>
            </a:r>
            <a:r>
              <a:rPr lang="en-US" dirty="0" err="1">
                <a:latin typeface="Times New Roman" pitchFamily="18" charset="0"/>
                <a:cs typeface="Times New Roman" pitchFamily="18" charset="0"/>
              </a:rPr>
              <a:t>vapour</a:t>
            </a:r>
            <a:r>
              <a:rPr lang="en-US" dirty="0">
                <a:latin typeface="Times New Roman" pitchFamily="18" charset="0"/>
                <a:cs typeface="Times New Roman" pitchFamily="18" charset="0"/>
              </a:rPr>
              <a:t> pressure curve of the pure solvent and meets the freezing point curve at F, indicating that T1 is the freezing point of the solution. The difference of the freezing point of the pure solvent and the solution is referred to as the Depression of freezing point</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It is represented by the symbol </a:t>
            </a:r>
            <a:r>
              <a:rPr lang="en-US" dirty="0">
                <a:latin typeface="Times New Roman" pitchFamily="18" charset="0"/>
                <a:cs typeface="Times New Roman" pitchFamily="18" charset="0"/>
                <a:sym typeface="Symbol"/>
              </a:rPr>
              <a:t></a:t>
            </a:r>
            <a:r>
              <a:rPr lang="en-US" i="1" dirty="0">
                <a:latin typeface="Times New Roman" pitchFamily="18" charset="0"/>
                <a:cs typeface="Times New Roman" pitchFamily="18" charset="0"/>
              </a:rPr>
              <a:t>T </a:t>
            </a:r>
            <a:r>
              <a:rPr lang="en-US" dirty="0">
                <a:latin typeface="Times New Roman" pitchFamily="18" charset="0"/>
                <a:cs typeface="Times New Roman" pitchFamily="18" charset="0"/>
              </a:rPr>
              <a:t>or </a:t>
            </a:r>
            <a:r>
              <a:rPr lang="en-US" dirty="0">
                <a:latin typeface="Times New Roman" pitchFamily="18" charset="0"/>
                <a:cs typeface="Times New Roman" pitchFamily="18" charset="0"/>
                <a:sym typeface="Symbol"/>
              </a:rPr>
              <a:t></a:t>
            </a:r>
            <a:r>
              <a:rPr lang="en-US" i="1" dirty="0" err="1">
                <a:latin typeface="Times New Roman" pitchFamily="18" charset="0"/>
                <a:cs typeface="Times New Roman" pitchFamily="18" charset="0"/>
              </a:rPr>
              <a:t>T</a:t>
            </a:r>
            <a:r>
              <a:rPr lang="en-US" i="1" baseline="-25000" dirty="0" err="1">
                <a:latin typeface="Times New Roman" pitchFamily="18" charset="0"/>
                <a:cs typeface="Times New Roman" pitchFamily="18" charset="0"/>
              </a:rPr>
              <a:t>f</a:t>
            </a:r>
            <a:r>
              <a:rPr lang="en-US" i="1" dirty="0">
                <a:latin typeface="Times New Roman" pitchFamily="18" charset="0"/>
                <a:cs typeface="Times New Roman" pitchFamily="18" charset="0"/>
              </a:rPr>
              <a:t> </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r>
              <a:rPr lang="en-US" i="1" dirty="0" err="1">
                <a:latin typeface="Times New Roman" pitchFamily="18" charset="0"/>
                <a:cs typeface="Times New Roman" pitchFamily="18" charset="0"/>
              </a:rPr>
              <a:t>T</a:t>
            </a:r>
            <a:r>
              <a:rPr lang="en-US" i="1" baseline="-25000" dirty="0" err="1">
                <a:latin typeface="Times New Roman" pitchFamily="18" charset="0"/>
                <a:cs typeface="Times New Roman" pitchFamily="18" charset="0"/>
              </a:rPr>
              <a:t>f</a:t>
            </a:r>
            <a:r>
              <a:rPr lang="en-US" i="1" dirty="0">
                <a:latin typeface="Times New Roman" pitchFamily="18" charset="0"/>
                <a:cs typeface="Times New Roman" pitchFamily="18" charset="0"/>
              </a:rPr>
              <a:t> </a:t>
            </a:r>
            <a:r>
              <a:rPr lang="en-US" dirty="0">
                <a:latin typeface="Times New Roman" pitchFamily="18" charset="0"/>
                <a:cs typeface="Times New Roman" pitchFamily="18" charset="0"/>
              </a:rPr>
              <a:t>– </a:t>
            </a:r>
            <a:r>
              <a:rPr lang="en-US" i="1" dirty="0">
                <a:latin typeface="Times New Roman" pitchFamily="18" charset="0"/>
                <a:cs typeface="Times New Roman" pitchFamily="18" charset="0"/>
              </a:rPr>
              <a:t>T</a:t>
            </a:r>
            <a:r>
              <a:rPr lang="en-US" baseline="-25000" dirty="0">
                <a:latin typeface="Times New Roman" pitchFamily="18" charset="0"/>
                <a:cs typeface="Times New Roman" pitchFamily="18" charset="0"/>
              </a:rPr>
              <a:t>1 </a:t>
            </a:r>
            <a:r>
              <a:rPr lang="en-US" dirty="0">
                <a:latin typeface="Times New Roman" pitchFamily="18" charset="0"/>
                <a:cs typeface="Times New Roman" pitchFamily="18" charset="0"/>
              </a:rPr>
              <a:t>= </a:t>
            </a:r>
            <a:r>
              <a:rPr lang="en-US" dirty="0">
                <a:latin typeface="Times New Roman" pitchFamily="18" charset="0"/>
                <a:cs typeface="Times New Roman" pitchFamily="18" charset="0"/>
                <a:sym typeface="Symbol"/>
              </a:rPr>
              <a:t></a:t>
            </a:r>
            <a:r>
              <a:rPr lang="en-US" dirty="0">
                <a:latin typeface="Times New Roman" pitchFamily="18" charset="0"/>
                <a:cs typeface="Times New Roman" pitchFamily="18" charset="0"/>
              </a:rPr>
              <a:t> </a:t>
            </a:r>
            <a:r>
              <a:rPr lang="en-US" i="1" dirty="0">
                <a:latin typeface="Times New Roman" pitchFamily="18" charset="0"/>
                <a:cs typeface="Times New Roman" pitchFamily="18" charset="0"/>
              </a:rPr>
              <a:t>T</a:t>
            </a:r>
            <a:endParaRPr lang="en-US"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720840" y="3736657"/>
            <a:ext cx="2499360" cy="25050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267852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circle(in)">
                                      <p:cBhvr>
                                        <p:cTn id="22" dur="1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7170"/>
                                        </p:tgtEl>
                                        <p:attrNameLst>
                                          <p:attrName>style.visibility</p:attrName>
                                        </p:attrNameLst>
                                      </p:cBhvr>
                                      <p:to>
                                        <p:strVal val="visible"/>
                                      </p:to>
                                    </p:set>
                                    <p:animEffect transition="in" filter="barn(inVertical)">
                                      <p:cBhvr>
                                        <p:cTn id="27" dur="10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95600" y="762000"/>
            <a:ext cx="3358612" cy="461665"/>
          </a:xfrm>
          <a:prstGeom prst="rect">
            <a:avLst/>
          </a:prstGeom>
        </p:spPr>
        <p:txBody>
          <a:bodyPr wrap="none">
            <a:spAutoFit/>
          </a:bodyPr>
          <a:lstStyle/>
          <a:p>
            <a:r>
              <a:rPr lang="en-US" sz="2400" b="1" dirty="0">
                <a:latin typeface="Times New Roman" pitchFamily="18" charset="0"/>
                <a:cs typeface="Times New Roman" pitchFamily="18" charset="0"/>
              </a:rPr>
              <a:t>OSMOTIC PRESSURE</a:t>
            </a:r>
          </a:p>
        </p:txBody>
      </p:sp>
      <p:sp>
        <p:nvSpPr>
          <p:cNvPr id="3" name="Rectangle 2"/>
          <p:cNvSpPr/>
          <p:nvPr/>
        </p:nvSpPr>
        <p:spPr>
          <a:xfrm>
            <a:off x="929640" y="1524000"/>
            <a:ext cx="7620000" cy="1015663"/>
          </a:xfrm>
          <a:prstGeom prst="rect">
            <a:avLst/>
          </a:prstGeom>
        </p:spPr>
        <p:txBody>
          <a:bodyPr wrap="square">
            <a:spAutoFit/>
          </a:bodyPr>
          <a:lstStyle/>
          <a:p>
            <a:r>
              <a:rPr lang="en-US" sz="2000" dirty="0">
                <a:latin typeface="Times New Roman" pitchFamily="18" charset="0"/>
                <a:cs typeface="Times New Roman" pitchFamily="18" charset="0"/>
              </a:rPr>
              <a:t>The hydrostatic pressure built up on the solution which just stops the osmosis of pure solvent into the solution through a semipermeable membrane, is called Osmotic Pressure.</a:t>
            </a:r>
          </a:p>
        </p:txBody>
      </p:sp>
      <p:sp>
        <p:nvSpPr>
          <p:cNvPr id="4" name="Rectangle 3"/>
          <p:cNvSpPr/>
          <p:nvPr/>
        </p:nvSpPr>
        <p:spPr>
          <a:xfrm>
            <a:off x="929640" y="2819400"/>
            <a:ext cx="7620000" cy="2246769"/>
          </a:xfrm>
          <a:prstGeom prst="rect">
            <a:avLst/>
          </a:prstGeom>
        </p:spPr>
        <p:txBody>
          <a:bodyPr wrap="square">
            <a:spAutoFit/>
          </a:bodyPr>
          <a:lstStyle/>
          <a:p>
            <a:pPr algn="just"/>
            <a:r>
              <a:rPr lang="en-US" sz="2000" dirty="0">
                <a:latin typeface="Times New Roman" pitchFamily="18" charset="0"/>
                <a:cs typeface="Times New Roman" pitchFamily="18" charset="0"/>
              </a:rPr>
              <a:t>From a study of the experimental results obtained by </a:t>
            </a:r>
            <a:r>
              <a:rPr lang="en-US" sz="2000" dirty="0" err="1">
                <a:latin typeface="Times New Roman" pitchFamily="18" charset="0"/>
                <a:cs typeface="Times New Roman" pitchFamily="18" charset="0"/>
              </a:rPr>
              <a:t>Pfeffer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van’t</a:t>
            </a:r>
            <a:r>
              <a:rPr lang="en-US" sz="2000" dirty="0">
                <a:latin typeface="Times New Roman" pitchFamily="18" charset="0"/>
                <a:cs typeface="Times New Roman" pitchFamily="18" charset="0"/>
              </a:rPr>
              <a:t> Hoff showed that for dilute</a:t>
            </a:r>
          </a:p>
          <a:p>
            <a:pPr algn="just"/>
            <a:r>
              <a:rPr lang="en-US" sz="2000" dirty="0">
                <a:latin typeface="Times New Roman" pitchFamily="18" charset="0"/>
                <a:cs typeface="Times New Roman" pitchFamily="18" charset="0"/>
              </a:rPr>
              <a:t>solutions :</a:t>
            </a:r>
          </a:p>
          <a:p>
            <a:pPr algn="just"/>
            <a:r>
              <a:rPr lang="en-US" sz="2000" dirty="0">
                <a:latin typeface="Times New Roman" pitchFamily="18" charset="0"/>
                <a:cs typeface="Times New Roman" pitchFamily="18" charset="0"/>
              </a:rPr>
              <a:t>(a) The osmotic pressure of a solution at a given temperature is directly proportional to </a:t>
            </a:r>
            <a:r>
              <a:rPr lang="en-US" sz="2000" dirty="0" smtClean="0">
                <a:latin typeface="Times New Roman" pitchFamily="18" charset="0"/>
                <a:cs typeface="Times New Roman" pitchFamily="18" charset="0"/>
              </a:rPr>
              <a:t>its concentration</a:t>
            </a:r>
            <a:r>
              <a:rPr lang="en-US" sz="2000" dirty="0">
                <a:latin typeface="Times New Roman" pitchFamily="18" charset="0"/>
                <a:cs typeface="Times New Roman" pitchFamily="18" charset="0"/>
              </a:rPr>
              <a:t>.</a:t>
            </a:r>
          </a:p>
          <a:p>
            <a:pPr algn="just"/>
            <a:r>
              <a:rPr lang="en-US" sz="2000" dirty="0">
                <a:latin typeface="Times New Roman" pitchFamily="18" charset="0"/>
                <a:cs typeface="Times New Roman" pitchFamily="18" charset="0"/>
              </a:rPr>
              <a:t>(b) The osmotic pressure of a solution of a given concentration is directly proportional to </a:t>
            </a:r>
            <a:r>
              <a:rPr lang="en-US" sz="2000" dirty="0" smtClean="0">
                <a:latin typeface="Times New Roman" pitchFamily="18" charset="0"/>
                <a:cs typeface="Times New Roman" pitchFamily="18" charset="0"/>
              </a:rPr>
              <a:t>the absolute </a:t>
            </a:r>
            <a:r>
              <a:rPr lang="en-US" sz="2000" dirty="0">
                <a:latin typeface="Times New Roman" pitchFamily="18" charset="0"/>
                <a:cs typeface="Times New Roman" pitchFamily="18" charset="0"/>
              </a:rPr>
              <a:t>temperature.</a:t>
            </a:r>
          </a:p>
        </p:txBody>
      </p:sp>
    </p:spTree>
    <p:extLst>
      <p:ext uri="{BB962C8B-B14F-4D97-AF65-F5344CB8AC3E}">
        <p14:creationId xmlns:p14="http://schemas.microsoft.com/office/powerpoint/2010/main" xmlns="" val="3074709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fltVal val="0"/>
                                          </p:val>
                                        </p:tav>
                                        <p:tav tm="100000">
                                          <p:val>
                                            <p:strVal val="#ppt_w"/>
                                          </p:val>
                                        </p:tav>
                                      </p:tavLst>
                                    </p:anim>
                                    <p:anim calcmode="lin" valueType="num">
                                      <p:cBhvr>
                                        <p:cTn id="13" dur="1000" fill="hold"/>
                                        <p:tgtEl>
                                          <p:spTgt spid="3"/>
                                        </p:tgtEl>
                                        <p:attrNameLst>
                                          <p:attrName>ppt_h</p:attrName>
                                        </p:attrNameLst>
                                      </p:cBhvr>
                                      <p:tavLst>
                                        <p:tav tm="0">
                                          <p:val>
                                            <p:fltVal val="0"/>
                                          </p:val>
                                        </p:tav>
                                        <p:tav tm="100000">
                                          <p:val>
                                            <p:strVal val="#ppt_h"/>
                                          </p:val>
                                        </p:tav>
                                      </p:tavLst>
                                    </p:anim>
                                    <p:animEffect transition="in" filter="fade">
                                      <p:cBhvr>
                                        <p:cTn id="14" dur="10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fltVal val="0"/>
                                          </p:val>
                                        </p:tav>
                                        <p:tav tm="100000">
                                          <p:val>
                                            <p:strVal val="#ppt_w"/>
                                          </p:val>
                                        </p:tav>
                                      </p:tavLst>
                                    </p:anim>
                                    <p:anim calcmode="lin" valueType="num">
                                      <p:cBhvr>
                                        <p:cTn id="20" dur="1000" fill="hold"/>
                                        <p:tgtEl>
                                          <p:spTgt spid="4"/>
                                        </p:tgtEl>
                                        <p:attrNameLst>
                                          <p:attrName>ppt_h</p:attrName>
                                        </p:attrNameLst>
                                      </p:cBhvr>
                                      <p:tavLst>
                                        <p:tav tm="0">
                                          <p:val>
                                            <p:fltVal val="0"/>
                                          </p:val>
                                        </p:tav>
                                        <p:tav tm="100000">
                                          <p:val>
                                            <p:strVal val="#ppt_h"/>
                                          </p:val>
                                        </p:tav>
                                      </p:tavLst>
                                    </p:anim>
                                    <p:animEffect transition="in" filter="fade">
                                      <p:cBhvr>
                                        <p:cTn id="2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71800" y="381000"/>
            <a:ext cx="3241144" cy="461665"/>
          </a:xfrm>
          <a:prstGeom prst="rect">
            <a:avLst/>
          </a:prstGeom>
        </p:spPr>
        <p:txBody>
          <a:bodyPr wrap="none">
            <a:spAutoFit/>
          </a:bodyPr>
          <a:lstStyle/>
          <a:p>
            <a:r>
              <a:rPr lang="en-US" sz="2400" b="1" dirty="0">
                <a:latin typeface="Times New Roman" pitchFamily="18" charset="0"/>
                <a:cs typeface="Times New Roman" pitchFamily="18" charset="0"/>
              </a:rPr>
              <a:t>DISTRIBUTION LAW</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81844" y="948551"/>
            <a:ext cx="7086600" cy="293764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81843" y="4511040"/>
            <a:ext cx="7086600" cy="13609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747652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8194"/>
                                        </p:tgtEl>
                                        <p:attrNameLst>
                                          <p:attrName>style.visibility</p:attrName>
                                        </p:attrNameLst>
                                      </p:cBhvr>
                                      <p:to>
                                        <p:strVal val="visible"/>
                                      </p:to>
                                    </p:set>
                                    <p:animEffect transition="in" filter="circle(in)">
                                      <p:cBhvr>
                                        <p:cTn id="12" dur="1000"/>
                                        <p:tgtEl>
                                          <p:spTgt spid="819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8195"/>
                                        </p:tgtEl>
                                        <p:attrNameLst>
                                          <p:attrName>style.visibility</p:attrName>
                                        </p:attrNameLst>
                                      </p:cBhvr>
                                      <p:to>
                                        <p:strVal val="visible"/>
                                      </p:to>
                                    </p:set>
                                    <p:animEffect transition="in" filter="barn(inVertical)">
                                      <p:cBhvr>
                                        <p:cTn id="17" dur="1000"/>
                                        <p:tgtEl>
                                          <p:spTgt spid="8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609600"/>
            <a:ext cx="7391400" cy="461665"/>
          </a:xfrm>
          <a:prstGeom prst="rect">
            <a:avLst/>
          </a:prstGeom>
        </p:spPr>
        <p:txBody>
          <a:bodyPr wrap="square">
            <a:spAutoFit/>
          </a:bodyPr>
          <a:lstStyle/>
          <a:p>
            <a:r>
              <a:rPr lang="en-US" sz="2400" b="1" dirty="0">
                <a:latin typeface="Times New Roman" pitchFamily="18" charset="0"/>
                <a:cs typeface="Times New Roman" pitchFamily="18" charset="0"/>
              </a:rPr>
              <a:t>STATEMENT OF NERNST’S DISTRIBUTION LAW</a:t>
            </a:r>
          </a:p>
        </p:txBody>
      </p:sp>
      <p:sp>
        <p:nvSpPr>
          <p:cNvPr id="3" name="Rectangle 2"/>
          <p:cNvSpPr/>
          <p:nvPr/>
        </p:nvSpPr>
        <p:spPr>
          <a:xfrm>
            <a:off x="381000" y="1219200"/>
            <a:ext cx="8458200" cy="707886"/>
          </a:xfrm>
          <a:prstGeom prst="rect">
            <a:avLst/>
          </a:prstGeom>
        </p:spPr>
        <p:txBody>
          <a:bodyPr wrap="square">
            <a:spAutoFit/>
          </a:bodyPr>
          <a:lstStyle/>
          <a:p>
            <a:pPr algn="just"/>
            <a:r>
              <a:rPr lang="en-US" sz="2000" dirty="0">
                <a:latin typeface="Times New Roman" pitchFamily="18" charset="0"/>
                <a:cs typeface="Times New Roman" pitchFamily="18" charset="0"/>
              </a:rPr>
              <a:t>If a solute X distributes itself between two immiscible solvents A and B at constant </a:t>
            </a:r>
            <a:r>
              <a:rPr lang="en-US" sz="2000" dirty="0" err="1">
                <a:latin typeface="Times New Roman" pitchFamily="18" charset="0"/>
                <a:cs typeface="Times New Roman" pitchFamily="18" charset="0"/>
              </a:rPr>
              <a:t>temperatureand</a:t>
            </a:r>
            <a:r>
              <a:rPr lang="en-US" sz="2000" dirty="0">
                <a:latin typeface="Times New Roman" pitchFamily="18" charset="0"/>
                <a:cs typeface="Times New Roman" pitchFamily="18" charset="0"/>
              </a:rPr>
              <a:t> X is in the same molecular condition in both solvents,</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447801" y="1936522"/>
            <a:ext cx="6173352" cy="7304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Rectangle 3"/>
          <p:cNvSpPr/>
          <p:nvPr/>
        </p:nvSpPr>
        <p:spPr>
          <a:xfrm>
            <a:off x="533400" y="2828836"/>
            <a:ext cx="8305800" cy="707886"/>
          </a:xfrm>
          <a:prstGeom prst="rect">
            <a:avLst/>
          </a:prstGeom>
        </p:spPr>
        <p:txBody>
          <a:bodyPr wrap="square">
            <a:spAutoFit/>
          </a:bodyPr>
          <a:lstStyle/>
          <a:p>
            <a:pPr algn="just"/>
            <a:r>
              <a:rPr lang="en-US" dirty="0"/>
              <a:t> </a:t>
            </a:r>
            <a:r>
              <a:rPr lang="en-US" sz="2000" dirty="0">
                <a:latin typeface="Times New Roman" pitchFamily="18" charset="0"/>
                <a:cs typeface="Times New Roman" pitchFamily="18" charset="0"/>
              </a:rPr>
              <a:t>If C</a:t>
            </a:r>
            <a:r>
              <a:rPr lang="en-US" sz="1600" dirty="0">
                <a:latin typeface="Times New Roman" pitchFamily="18" charset="0"/>
                <a:cs typeface="Times New Roman" pitchFamily="18" charset="0"/>
              </a:rPr>
              <a:t>1</a:t>
            </a:r>
            <a:r>
              <a:rPr lang="en-US" sz="2000" dirty="0">
                <a:latin typeface="Times New Roman" pitchFamily="18" charset="0"/>
                <a:cs typeface="Times New Roman" pitchFamily="18" charset="0"/>
              </a:rPr>
              <a:t> denotes the concentration of the solute in solvent A and C</a:t>
            </a:r>
            <a:r>
              <a:rPr lang="en-US" sz="1600" dirty="0">
                <a:latin typeface="Times New Roman" pitchFamily="18" charset="0"/>
                <a:cs typeface="Times New Roman" pitchFamily="18" charset="0"/>
              </a:rPr>
              <a:t>2</a:t>
            </a:r>
            <a:r>
              <a:rPr lang="en-US" sz="2000" dirty="0">
                <a:latin typeface="Times New Roman" pitchFamily="18" charset="0"/>
                <a:cs typeface="Times New Roman" pitchFamily="18" charset="0"/>
              </a:rPr>
              <a:t> the concentration in solvent B, Nernst’s Distribution law can be expressed as</a:t>
            </a:r>
          </a:p>
        </p:txBody>
      </p:sp>
      <p:pic>
        <p:nvPicPr>
          <p:cNvPr id="9219"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124200" y="3657600"/>
            <a:ext cx="1930400" cy="8925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Rectangle 4"/>
          <p:cNvSpPr/>
          <p:nvPr/>
        </p:nvSpPr>
        <p:spPr>
          <a:xfrm>
            <a:off x="533400" y="5181600"/>
            <a:ext cx="8305800" cy="707886"/>
          </a:xfrm>
          <a:prstGeom prst="rect">
            <a:avLst/>
          </a:prstGeom>
        </p:spPr>
        <p:txBody>
          <a:bodyPr wrap="square">
            <a:spAutoFit/>
          </a:bodyPr>
          <a:lstStyle/>
          <a:p>
            <a:pPr algn="just"/>
            <a:r>
              <a:rPr lang="en-US" sz="2000" dirty="0">
                <a:latin typeface="Times New Roman" pitchFamily="18" charset="0"/>
                <a:cs typeface="Times New Roman" pitchFamily="18" charset="0"/>
              </a:rPr>
              <a:t>The constant K</a:t>
            </a:r>
            <a:r>
              <a:rPr lang="en-US" sz="1600" dirty="0">
                <a:latin typeface="Times New Roman" pitchFamily="18" charset="0"/>
                <a:cs typeface="Times New Roman" pitchFamily="18" charset="0"/>
              </a:rPr>
              <a:t>D</a:t>
            </a:r>
            <a:r>
              <a:rPr lang="en-US" sz="2000" dirty="0">
                <a:latin typeface="Times New Roman" pitchFamily="18" charset="0"/>
                <a:cs typeface="Times New Roman" pitchFamily="18" charset="0"/>
              </a:rPr>
              <a:t> (or simply K) is called the Distribution coefficient or Partition coefficient or Distribution ratio.</a:t>
            </a:r>
          </a:p>
        </p:txBody>
      </p:sp>
    </p:spTree>
    <p:extLst>
      <p:ext uri="{BB962C8B-B14F-4D97-AF65-F5344CB8AC3E}">
        <p14:creationId xmlns:p14="http://schemas.microsoft.com/office/powerpoint/2010/main" xmlns="" val="3178946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9218"/>
                                        </p:tgtEl>
                                        <p:attrNameLst>
                                          <p:attrName>style.visibility</p:attrName>
                                        </p:attrNameLst>
                                      </p:cBhvr>
                                      <p:to>
                                        <p:strVal val="visible"/>
                                      </p:to>
                                    </p:set>
                                    <p:animEffect transition="in" filter="barn(inVertical)">
                                      <p:cBhvr>
                                        <p:cTn id="17" dur="500"/>
                                        <p:tgtEl>
                                          <p:spTgt spid="921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arn(inVertic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9219"/>
                                        </p:tgtEl>
                                        <p:attrNameLst>
                                          <p:attrName>style.visibility</p:attrName>
                                        </p:attrNameLst>
                                      </p:cBhvr>
                                      <p:to>
                                        <p:strVal val="visible"/>
                                      </p:to>
                                    </p:set>
                                    <p:animEffect transition="in" filter="barn(inVertical)">
                                      <p:cBhvr>
                                        <p:cTn id="27" dur="500"/>
                                        <p:tgtEl>
                                          <p:spTgt spid="921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arn(inVertical)">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00" y="304800"/>
            <a:ext cx="5886740" cy="461665"/>
          </a:xfrm>
          <a:prstGeom prst="rect">
            <a:avLst/>
          </a:prstGeom>
        </p:spPr>
        <p:txBody>
          <a:bodyPr wrap="none">
            <a:spAutoFit/>
          </a:bodyPr>
          <a:lstStyle/>
          <a:p>
            <a:r>
              <a:rPr lang="en-US" sz="2400" b="1" dirty="0">
                <a:latin typeface="Times New Roman" pitchFamily="18" charset="0"/>
                <a:cs typeface="Times New Roman" pitchFamily="18" charset="0"/>
              </a:rPr>
              <a:t>LIMITATIONS OF DISTRIBUTION LAW</a:t>
            </a:r>
          </a:p>
        </p:txBody>
      </p:sp>
      <p:sp>
        <p:nvSpPr>
          <p:cNvPr id="3" name="Rectangle 2"/>
          <p:cNvSpPr/>
          <p:nvPr/>
        </p:nvSpPr>
        <p:spPr>
          <a:xfrm>
            <a:off x="304800" y="1143000"/>
            <a:ext cx="8534400" cy="4708981"/>
          </a:xfrm>
          <a:prstGeom prst="rect">
            <a:avLst/>
          </a:prstGeom>
        </p:spPr>
        <p:txBody>
          <a:bodyPr wrap="square">
            <a:spAutoFit/>
          </a:bodyPr>
          <a:lstStyle/>
          <a:p>
            <a:pPr algn="just"/>
            <a:r>
              <a:rPr lang="en-US" sz="2000" dirty="0">
                <a:latin typeface="Times New Roman" pitchFamily="18" charset="0"/>
                <a:cs typeface="Times New Roman" pitchFamily="18" charset="0"/>
              </a:rPr>
              <a:t>The conditions to be satisfied for the application of the Nernst’s Distribution law are</a:t>
            </a:r>
          </a:p>
          <a:p>
            <a:pPr algn="just"/>
            <a:r>
              <a:rPr lang="en-US" sz="2000" dirty="0">
                <a:latin typeface="Times New Roman" pitchFamily="18" charset="0"/>
                <a:cs typeface="Times New Roman" pitchFamily="18" charset="0"/>
              </a:rPr>
              <a:t>  1. </a:t>
            </a:r>
            <a:r>
              <a:rPr lang="en-US" sz="2000" b="1" dirty="0">
                <a:latin typeface="Times New Roman" pitchFamily="18" charset="0"/>
                <a:cs typeface="Times New Roman" pitchFamily="18" charset="0"/>
              </a:rPr>
              <a:t>Constant temperature</a:t>
            </a:r>
            <a:r>
              <a:rPr lang="en-US" sz="2000" dirty="0">
                <a:latin typeface="Times New Roman" pitchFamily="18" charset="0"/>
                <a:cs typeface="Times New Roman" pitchFamily="18" charset="0"/>
              </a:rPr>
              <a:t>. The temperature is kept constant throughout the experiment.</a:t>
            </a:r>
          </a:p>
          <a:p>
            <a:pPr algn="just"/>
            <a:r>
              <a:rPr lang="en-US" sz="2000" b="1" dirty="0">
                <a:latin typeface="Times New Roman" pitchFamily="18" charset="0"/>
                <a:cs typeface="Times New Roman" pitchFamily="18" charset="0"/>
              </a:rPr>
              <a:t>  2. Same molecular state. </a:t>
            </a:r>
            <a:r>
              <a:rPr lang="en-US" sz="2000" dirty="0">
                <a:latin typeface="Times New Roman" pitchFamily="18" charset="0"/>
                <a:cs typeface="Times New Roman" pitchFamily="18" charset="0"/>
              </a:rPr>
              <a:t>The molecular state of the solute is the same in the two solvents. </a:t>
            </a:r>
            <a:r>
              <a:rPr lang="en-US" sz="2000" dirty="0" smtClean="0">
                <a:latin typeface="Times New Roman" pitchFamily="18" charset="0"/>
                <a:cs typeface="Times New Roman" pitchFamily="18" charset="0"/>
              </a:rPr>
              <a:t>The law </a:t>
            </a:r>
            <a:r>
              <a:rPr lang="en-US" sz="2000" dirty="0">
                <a:latin typeface="Times New Roman" pitchFamily="18" charset="0"/>
                <a:cs typeface="Times New Roman" pitchFamily="18" charset="0"/>
              </a:rPr>
              <a:t>does not hold if there is association or dissociation of the solute in one of the solvents.</a:t>
            </a:r>
          </a:p>
          <a:p>
            <a:pPr algn="just"/>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3. Equilibrium concentrations. </a:t>
            </a:r>
            <a:r>
              <a:rPr lang="en-US" sz="2000" dirty="0">
                <a:latin typeface="Times New Roman" pitchFamily="18" charset="0"/>
                <a:cs typeface="Times New Roman" pitchFamily="18" charset="0"/>
              </a:rPr>
              <a:t>The concentrations of the solute are noted after the equilibrium has been established.</a:t>
            </a:r>
          </a:p>
          <a:p>
            <a:pPr algn="just"/>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4. Dilute solutions. </a:t>
            </a:r>
            <a:r>
              <a:rPr lang="en-US" sz="2000" dirty="0">
                <a:latin typeface="Times New Roman" pitchFamily="18" charset="0"/>
                <a:cs typeface="Times New Roman" pitchFamily="18" charset="0"/>
              </a:rPr>
              <a:t>The concentration of the solute in the two solvents is low. The law </a:t>
            </a:r>
            <a:r>
              <a:rPr lang="en-US" sz="2000" dirty="0" smtClean="0">
                <a:latin typeface="Times New Roman" pitchFamily="18" charset="0"/>
                <a:cs typeface="Times New Roman" pitchFamily="18" charset="0"/>
              </a:rPr>
              <a:t>does not </a:t>
            </a:r>
            <a:r>
              <a:rPr lang="en-US" sz="2000" dirty="0">
                <a:latin typeface="Times New Roman" pitchFamily="18" charset="0"/>
                <a:cs typeface="Times New Roman" pitchFamily="18" charset="0"/>
              </a:rPr>
              <a:t>hold when the concentrations are high.</a:t>
            </a:r>
          </a:p>
          <a:p>
            <a:pPr algn="just"/>
            <a:r>
              <a:rPr lang="en-US" sz="2000" b="1" dirty="0">
                <a:latin typeface="Times New Roman" pitchFamily="18" charset="0"/>
                <a:cs typeface="Times New Roman" pitchFamily="18" charset="0"/>
              </a:rPr>
              <a:t>  5. Non-miscibility of solvents. </a:t>
            </a:r>
            <a:r>
              <a:rPr lang="en-US" sz="2000" dirty="0">
                <a:latin typeface="Times New Roman" pitchFamily="18" charset="0"/>
                <a:cs typeface="Times New Roman" pitchFamily="18" charset="0"/>
              </a:rPr>
              <a:t>The two solvents are non-miscible or only slightly soluble </a:t>
            </a:r>
            <a:r>
              <a:rPr lang="en-US" sz="2000" dirty="0" smtClean="0">
                <a:latin typeface="Times New Roman" pitchFamily="18" charset="0"/>
                <a:cs typeface="Times New Roman" pitchFamily="18" charset="0"/>
              </a:rPr>
              <a:t>in each </a:t>
            </a:r>
            <a:r>
              <a:rPr lang="en-US" sz="2000" dirty="0">
                <a:latin typeface="Times New Roman" pitchFamily="18" charset="0"/>
                <a:cs typeface="Times New Roman" pitchFamily="18" charset="0"/>
              </a:rPr>
              <a:t>other. The extent of mutual solubility of the solvents remains unaltered by the addition</a:t>
            </a:r>
          </a:p>
          <a:p>
            <a:pPr algn="just"/>
            <a:r>
              <a:rPr lang="en-US" sz="2000" dirty="0">
                <a:latin typeface="Times New Roman" pitchFamily="18" charset="0"/>
                <a:cs typeface="Times New Roman" pitchFamily="18" charset="0"/>
              </a:rPr>
              <a:t>of solute to them.</a:t>
            </a:r>
          </a:p>
        </p:txBody>
      </p:sp>
    </p:spTree>
    <p:extLst>
      <p:ext uri="{BB962C8B-B14F-4D97-AF65-F5344CB8AC3E}">
        <p14:creationId xmlns:p14="http://schemas.microsoft.com/office/powerpoint/2010/main" xmlns="" val="2393429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381000"/>
            <a:ext cx="6114751" cy="461665"/>
          </a:xfrm>
          <a:prstGeom prst="rect">
            <a:avLst/>
          </a:prstGeom>
        </p:spPr>
        <p:txBody>
          <a:bodyPr wrap="none">
            <a:spAutoFit/>
          </a:bodyPr>
          <a:lstStyle/>
          <a:p>
            <a:r>
              <a:rPr lang="en-US" sz="2400" b="1" dirty="0">
                <a:latin typeface="Times New Roman" pitchFamily="18" charset="0"/>
                <a:cs typeface="Times New Roman" pitchFamily="18" charset="0"/>
              </a:rPr>
              <a:t>APPLICATIONS OF DISTRIBUTION LAW</a:t>
            </a:r>
          </a:p>
        </p:txBody>
      </p:sp>
      <p:sp>
        <p:nvSpPr>
          <p:cNvPr id="3" name="Rectangle 2"/>
          <p:cNvSpPr/>
          <p:nvPr/>
        </p:nvSpPr>
        <p:spPr>
          <a:xfrm>
            <a:off x="1709630" y="1221135"/>
            <a:ext cx="4038600" cy="400110"/>
          </a:xfrm>
          <a:prstGeom prst="rect">
            <a:avLst/>
          </a:prstGeom>
        </p:spPr>
        <p:txBody>
          <a:bodyPr wrap="square">
            <a:spAutoFit/>
          </a:bodyPr>
          <a:lstStyle/>
          <a:p>
            <a:r>
              <a:rPr lang="en-US" sz="2000" dirty="0">
                <a:latin typeface="Times New Roman" pitchFamily="18" charset="0"/>
                <a:cs typeface="Times New Roman" pitchFamily="18" charset="0"/>
              </a:rPr>
              <a:t>(1) Solvent Extraction</a:t>
            </a:r>
          </a:p>
        </p:txBody>
      </p:sp>
      <p:sp>
        <p:nvSpPr>
          <p:cNvPr id="4" name="Rectangle 3"/>
          <p:cNvSpPr/>
          <p:nvPr/>
        </p:nvSpPr>
        <p:spPr>
          <a:xfrm>
            <a:off x="1709630" y="1809690"/>
            <a:ext cx="3227165" cy="400110"/>
          </a:xfrm>
          <a:prstGeom prst="rect">
            <a:avLst/>
          </a:prstGeom>
        </p:spPr>
        <p:txBody>
          <a:bodyPr wrap="none">
            <a:spAutoFit/>
          </a:bodyPr>
          <a:lstStyle/>
          <a:p>
            <a:r>
              <a:rPr lang="en-US" sz="2000" dirty="0">
                <a:latin typeface="Times New Roman" pitchFamily="18" charset="0"/>
                <a:cs typeface="Times New Roman" pitchFamily="18" charset="0"/>
              </a:rPr>
              <a:t>(2) Partition Chromatography</a:t>
            </a:r>
          </a:p>
        </p:txBody>
      </p:sp>
      <p:sp>
        <p:nvSpPr>
          <p:cNvPr id="5" name="Rectangle 4"/>
          <p:cNvSpPr/>
          <p:nvPr/>
        </p:nvSpPr>
        <p:spPr>
          <a:xfrm>
            <a:off x="1709630" y="2522994"/>
            <a:ext cx="4798365" cy="400110"/>
          </a:xfrm>
          <a:prstGeom prst="rect">
            <a:avLst/>
          </a:prstGeom>
        </p:spPr>
        <p:txBody>
          <a:bodyPr wrap="none">
            <a:spAutoFit/>
          </a:bodyPr>
          <a:lstStyle/>
          <a:p>
            <a:r>
              <a:rPr lang="en-US" sz="2000" dirty="0">
                <a:latin typeface="Times New Roman" pitchFamily="18" charset="0"/>
                <a:cs typeface="Times New Roman" pitchFamily="18" charset="0"/>
              </a:rPr>
              <a:t>(3) </a:t>
            </a:r>
            <a:r>
              <a:rPr lang="en-US" sz="2000" dirty="0" err="1">
                <a:latin typeface="Times New Roman" pitchFamily="18" charset="0"/>
                <a:cs typeface="Times New Roman" pitchFamily="18" charset="0"/>
              </a:rPr>
              <a:t>Desilverization</a:t>
            </a:r>
            <a:r>
              <a:rPr lang="en-US" sz="2000" dirty="0">
                <a:latin typeface="Times New Roman" pitchFamily="18" charset="0"/>
                <a:cs typeface="Times New Roman" pitchFamily="18" charset="0"/>
              </a:rPr>
              <a:t> of Lead (Parke’s Process)</a:t>
            </a:r>
          </a:p>
        </p:txBody>
      </p:sp>
      <p:sp>
        <p:nvSpPr>
          <p:cNvPr id="6" name="Rectangle 5"/>
          <p:cNvSpPr/>
          <p:nvPr/>
        </p:nvSpPr>
        <p:spPr>
          <a:xfrm>
            <a:off x="1709630" y="3103155"/>
            <a:ext cx="5562600" cy="400110"/>
          </a:xfrm>
          <a:prstGeom prst="rect">
            <a:avLst/>
          </a:prstGeom>
        </p:spPr>
        <p:txBody>
          <a:bodyPr wrap="square">
            <a:spAutoFit/>
          </a:bodyPr>
          <a:lstStyle/>
          <a:p>
            <a:r>
              <a:rPr lang="en-US" sz="2000" dirty="0">
                <a:latin typeface="Times New Roman" pitchFamily="18" charset="0"/>
                <a:cs typeface="Times New Roman" pitchFamily="18" charset="0"/>
              </a:rPr>
              <a:t>(4) Confirmatory Test for Bromide and Iodide</a:t>
            </a:r>
          </a:p>
        </p:txBody>
      </p:sp>
      <p:sp>
        <p:nvSpPr>
          <p:cNvPr id="7" name="Rectangle 6"/>
          <p:cNvSpPr/>
          <p:nvPr/>
        </p:nvSpPr>
        <p:spPr>
          <a:xfrm>
            <a:off x="1709630" y="3503265"/>
            <a:ext cx="3560847" cy="400110"/>
          </a:xfrm>
          <a:prstGeom prst="rect">
            <a:avLst/>
          </a:prstGeom>
        </p:spPr>
        <p:txBody>
          <a:bodyPr wrap="none">
            <a:spAutoFit/>
          </a:bodyPr>
          <a:lstStyle/>
          <a:p>
            <a:r>
              <a:rPr lang="en-US" sz="2000" dirty="0">
                <a:latin typeface="Times New Roman" pitchFamily="18" charset="0"/>
                <a:cs typeface="Times New Roman" pitchFamily="18" charset="0"/>
              </a:rPr>
              <a:t>(5) Determination of Association</a:t>
            </a:r>
          </a:p>
        </p:txBody>
      </p:sp>
      <p:sp>
        <p:nvSpPr>
          <p:cNvPr id="8" name="Rectangle 7"/>
          <p:cNvSpPr/>
          <p:nvPr/>
        </p:nvSpPr>
        <p:spPr>
          <a:xfrm>
            <a:off x="1709630" y="3903375"/>
            <a:ext cx="3645550" cy="400110"/>
          </a:xfrm>
          <a:prstGeom prst="rect">
            <a:avLst/>
          </a:prstGeom>
        </p:spPr>
        <p:txBody>
          <a:bodyPr wrap="none">
            <a:spAutoFit/>
          </a:bodyPr>
          <a:lstStyle/>
          <a:p>
            <a:r>
              <a:rPr lang="en-US" sz="2000" dirty="0">
                <a:latin typeface="Times New Roman" pitchFamily="18" charset="0"/>
                <a:cs typeface="Times New Roman" pitchFamily="18" charset="0"/>
              </a:rPr>
              <a:t>(6) Determination of Dissociation</a:t>
            </a:r>
          </a:p>
        </p:txBody>
      </p:sp>
      <p:sp>
        <p:nvSpPr>
          <p:cNvPr id="9" name="Rectangle 8"/>
          <p:cNvSpPr/>
          <p:nvPr/>
        </p:nvSpPr>
        <p:spPr>
          <a:xfrm>
            <a:off x="1709630" y="4436626"/>
            <a:ext cx="3374642" cy="400110"/>
          </a:xfrm>
          <a:prstGeom prst="rect">
            <a:avLst/>
          </a:prstGeom>
        </p:spPr>
        <p:txBody>
          <a:bodyPr wrap="none">
            <a:spAutoFit/>
          </a:bodyPr>
          <a:lstStyle/>
          <a:p>
            <a:r>
              <a:rPr lang="en-US" sz="2000" dirty="0">
                <a:latin typeface="Times New Roman" pitchFamily="18" charset="0"/>
                <a:cs typeface="Times New Roman" pitchFamily="18" charset="0"/>
              </a:rPr>
              <a:t>(7) Determination of Solubility</a:t>
            </a:r>
          </a:p>
        </p:txBody>
      </p:sp>
      <p:sp>
        <p:nvSpPr>
          <p:cNvPr id="10" name="Rectangle 9"/>
          <p:cNvSpPr/>
          <p:nvPr/>
        </p:nvSpPr>
        <p:spPr>
          <a:xfrm>
            <a:off x="1709630" y="4886326"/>
            <a:ext cx="2869696" cy="400110"/>
          </a:xfrm>
          <a:prstGeom prst="rect">
            <a:avLst/>
          </a:prstGeom>
        </p:spPr>
        <p:txBody>
          <a:bodyPr wrap="none">
            <a:spAutoFit/>
          </a:bodyPr>
          <a:lstStyle/>
          <a:p>
            <a:r>
              <a:rPr lang="en-US" sz="2000" dirty="0" smtClean="0">
                <a:latin typeface="Times New Roman" pitchFamily="18" charset="0"/>
                <a:cs typeface="Times New Roman" pitchFamily="18" charset="0"/>
              </a:rPr>
              <a:t>(8) </a:t>
            </a:r>
            <a:r>
              <a:rPr lang="en-US" sz="2000" dirty="0">
                <a:latin typeface="Times New Roman" pitchFamily="18" charset="0"/>
                <a:cs typeface="Times New Roman" pitchFamily="18" charset="0"/>
              </a:rPr>
              <a:t>Distribution Indicators</a:t>
            </a:r>
          </a:p>
        </p:txBody>
      </p:sp>
    </p:spTree>
    <p:extLst>
      <p:ext uri="{BB962C8B-B14F-4D97-AF65-F5344CB8AC3E}">
        <p14:creationId xmlns:p14="http://schemas.microsoft.com/office/powerpoint/2010/main" xmlns="" val="3872022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inVertic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arn(inVertic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arn(inVertical)">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arn(inVertical)">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arn(inVertical)">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barn(inVertical)">
                                      <p:cBhvr>
                                        <p:cTn id="4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95400" y="228600"/>
            <a:ext cx="6477000" cy="400110"/>
          </a:xfrm>
          <a:prstGeom prst="rect">
            <a:avLst/>
          </a:prstGeom>
        </p:spPr>
        <p:txBody>
          <a:bodyPr wrap="square">
            <a:spAutoFit/>
          </a:bodyPr>
          <a:lstStyle/>
          <a:p>
            <a:r>
              <a:rPr lang="en-US" sz="2000" dirty="0" smtClean="0">
                <a:latin typeface="Times New Roman" pitchFamily="18" charset="0"/>
                <a:cs typeface="Times New Roman" pitchFamily="18" charset="0"/>
              </a:rPr>
              <a:t>(9) </a:t>
            </a:r>
            <a:r>
              <a:rPr lang="en-US" sz="2000" dirty="0">
                <a:latin typeface="Times New Roman" pitchFamily="18" charset="0"/>
                <a:cs typeface="Times New Roman" pitchFamily="18" charset="0"/>
              </a:rPr>
              <a:t>Deducing the Formula of a Complex Ion (I</a:t>
            </a:r>
            <a:r>
              <a:rPr lang="en-US" sz="1600" dirty="0">
                <a:latin typeface="Times New Roman" pitchFamily="18" charset="0"/>
                <a:cs typeface="Times New Roman" pitchFamily="18" charset="0"/>
              </a:rPr>
              <a:t>3</a:t>
            </a:r>
            <a:r>
              <a:rPr lang="en-US" sz="2000" dirty="0">
                <a:latin typeface="Times New Roman" pitchFamily="18" charset="0"/>
                <a:cs typeface="Times New Roman" pitchFamily="18" charset="0"/>
              </a:rPr>
              <a:t>-)</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447800" y="628710"/>
            <a:ext cx="5105400" cy="18858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Rectangle 2"/>
          <p:cNvSpPr/>
          <p:nvPr/>
        </p:nvSpPr>
        <p:spPr>
          <a:xfrm>
            <a:off x="152400" y="2514600"/>
            <a:ext cx="8991600" cy="4647426"/>
          </a:xfrm>
          <a:prstGeom prst="rect">
            <a:avLst/>
          </a:prstGeom>
        </p:spPr>
        <p:txBody>
          <a:bodyPr wrap="square">
            <a:spAutoFit/>
          </a:bodyPr>
          <a:lstStyle/>
          <a:p>
            <a:pPr algn="just"/>
            <a:r>
              <a:rPr lang="en-US" sz="2000" dirty="0">
                <a:latin typeface="Times New Roman" pitchFamily="18" charset="0"/>
                <a:cs typeface="Times New Roman" pitchFamily="18" charset="0"/>
              </a:rPr>
              <a:t>Some iodine is added to a solution of KI and the reaction mixture shaken with benzene.</a:t>
            </a:r>
          </a:p>
          <a:p>
            <a:pPr algn="just"/>
            <a:r>
              <a:rPr lang="en-US" sz="2000" dirty="0">
                <a:latin typeface="Times New Roman" pitchFamily="18" charset="0"/>
                <a:cs typeface="Times New Roman" pitchFamily="18" charset="0"/>
              </a:rPr>
              <a:t>(a) The [I</a:t>
            </a:r>
            <a:r>
              <a:rPr lang="en-US" sz="1600" dirty="0">
                <a:latin typeface="Times New Roman" pitchFamily="18" charset="0"/>
                <a:cs typeface="Times New Roman" pitchFamily="18" charset="0"/>
              </a:rPr>
              <a:t>2</a:t>
            </a:r>
            <a:r>
              <a:rPr lang="en-US" sz="2000" dirty="0">
                <a:latin typeface="Times New Roman" pitchFamily="18" charset="0"/>
                <a:cs typeface="Times New Roman" pitchFamily="18" charset="0"/>
              </a:rPr>
              <a:t>] in water layer can be found knowing the value of K</a:t>
            </a:r>
            <a:r>
              <a:rPr lang="en-US" sz="1600" dirty="0">
                <a:latin typeface="Times New Roman" pitchFamily="18" charset="0"/>
                <a:cs typeface="Times New Roman" pitchFamily="18" charset="0"/>
              </a:rPr>
              <a:t>D</a:t>
            </a:r>
            <a:r>
              <a:rPr lang="en-US" sz="2000" dirty="0">
                <a:latin typeface="Times New Roman" pitchFamily="18" charset="0"/>
                <a:cs typeface="Times New Roman" pitchFamily="18" charset="0"/>
              </a:rPr>
              <a:t> (determined separately) </a:t>
            </a:r>
            <a:r>
              <a:rPr lang="en-US" sz="2000" dirty="0" smtClean="0">
                <a:latin typeface="Times New Roman" pitchFamily="18" charset="0"/>
                <a:cs typeface="Times New Roman" pitchFamily="18" charset="0"/>
              </a:rPr>
              <a:t>and concentration </a:t>
            </a:r>
            <a:r>
              <a:rPr lang="en-US" sz="2000" dirty="0">
                <a:latin typeface="Times New Roman" pitchFamily="18" charset="0"/>
                <a:cs typeface="Times New Roman" pitchFamily="18" charset="0"/>
              </a:rPr>
              <a:t>of iodine in benzene (determined by titration against </a:t>
            </a:r>
            <a:r>
              <a:rPr lang="en-US" sz="2000" dirty="0" err="1">
                <a:latin typeface="Times New Roman" pitchFamily="18" charset="0"/>
                <a:cs typeface="Times New Roman" pitchFamily="18" charset="0"/>
              </a:rPr>
              <a:t>thiosulphate</a:t>
            </a:r>
            <a:r>
              <a:rPr lang="en-US" sz="2000" dirty="0">
                <a:latin typeface="Times New Roman" pitchFamily="18" charset="0"/>
                <a:cs typeface="Times New Roman" pitchFamily="18" charset="0"/>
              </a:rPr>
              <a:t>).</a:t>
            </a:r>
          </a:p>
          <a:p>
            <a:pPr algn="just"/>
            <a:r>
              <a:rPr lang="en-US" sz="2000" dirty="0">
                <a:latin typeface="Times New Roman" pitchFamily="18" charset="0"/>
                <a:cs typeface="Times New Roman" pitchFamily="18" charset="0"/>
              </a:rPr>
              <a:t>(b) The total concentration of iodine, [I2] + [I3−] in water layer is found by titration </a:t>
            </a:r>
            <a:r>
              <a:rPr lang="en-US" sz="2000" dirty="0" smtClean="0">
                <a:latin typeface="Times New Roman" pitchFamily="18" charset="0"/>
                <a:cs typeface="Times New Roman" pitchFamily="18" charset="0"/>
              </a:rPr>
              <a:t>against </a:t>
            </a:r>
            <a:r>
              <a:rPr lang="en-US" sz="2000" dirty="0" err="1" smtClean="0">
                <a:latin typeface="Times New Roman" pitchFamily="18" charset="0"/>
                <a:cs typeface="Times New Roman" pitchFamily="18" charset="0"/>
              </a:rPr>
              <a:t>thiosulphate</a:t>
            </a:r>
            <a:r>
              <a:rPr lang="en-US" sz="2000" dirty="0">
                <a:latin typeface="Times New Roman" pitchFamily="18" charset="0"/>
                <a:cs typeface="Times New Roman" pitchFamily="18" charset="0"/>
              </a:rPr>
              <a:t>. Knowing [I2] from (a), [I3− ] can be calculated</a:t>
            </a:r>
            <a:r>
              <a:rPr lang="en-US" sz="2000" dirty="0" smtClean="0">
                <a:latin typeface="Times New Roman" pitchFamily="18" charset="0"/>
                <a:cs typeface="Times New Roman" pitchFamily="18" charset="0"/>
              </a:rPr>
              <a:t>.</a:t>
            </a:r>
          </a:p>
          <a:p>
            <a:pPr algn="just"/>
            <a:r>
              <a:rPr lang="en-US" sz="2000" dirty="0">
                <a:latin typeface="Times New Roman" pitchFamily="18" charset="0"/>
                <a:cs typeface="Times New Roman" pitchFamily="18" charset="0"/>
              </a:rPr>
              <a:t>(</a:t>
            </a:r>
            <a:r>
              <a:rPr lang="en-US" sz="2000" i="1" dirty="0">
                <a:latin typeface="Times New Roman" pitchFamily="18" charset="0"/>
                <a:cs typeface="Times New Roman" pitchFamily="18" charset="0"/>
              </a:rPr>
              <a:t>c</a:t>
            </a:r>
            <a:r>
              <a:rPr lang="en-US" sz="2000" dirty="0">
                <a:latin typeface="Times New Roman" pitchFamily="18" charset="0"/>
                <a:cs typeface="Times New Roman" pitchFamily="18" charset="0"/>
              </a:rPr>
              <a:t>) The initial concentration of KI taken is represented by the equilibrium </a:t>
            </a:r>
            <a:r>
              <a:rPr lang="en-US" sz="2000" dirty="0" smtClean="0">
                <a:latin typeface="Times New Roman" pitchFamily="18" charset="0"/>
                <a:cs typeface="Times New Roman" pitchFamily="18" charset="0"/>
              </a:rPr>
              <a:t>concentrations [I</a:t>
            </a:r>
            <a:r>
              <a:rPr lang="en-US" sz="2000" baseline="30000" dirty="0">
                <a:latin typeface="Times New Roman" pitchFamily="18" charset="0"/>
                <a:cs typeface="Times New Roman" pitchFamily="18" charset="0"/>
              </a:rPr>
              <a:t>–</a:t>
            </a:r>
            <a:r>
              <a:rPr lang="en-US" sz="2000" dirty="0">
                <a:latin typeface="Times New Roman" pitchFamily="18" charset="0"/>
                <a:cs typeface="Times New Roman" pitchFamily="18" charset="0"/>
              </a:rPr>
              <a:t>] + [I</a:t>
            </a:r>
            <a:r>
              <a:rPr lang="en-US" sz="2000" baseline="-25000" dirty="0">
                <a:latin typeface="Times New Roman" pitchFamily="18" charset="0"/>
                <a:cs typeface="Times New Roman" pitchFamily="18" charset="0"/>
              </a:rPr>
              <a:t>3</a:t>
            </a:r>
            <a:r>
              <a:rPr lang="en-US" sz="2000" baseline="30000" dirty="0">
                <a:latin typeface="Times New Roman" pitchFamily="18" charset="0"/>
                <a:cs typeface="Times New Roman" pitchFamily="18" charset="0"/>
              </a:rPr>
              <a:t>−</a:t>
            </a:r>
            <a:r>
              <a:rPr lang="en-US" sz="2000" dirty="0">
                <a:latin typeface="Times New Roman" pitchFamily="18" charset="0"/>
                <a:cs typeface="Times New Roman" pitchFamily="18" charset="0"/>
              </a:rPr>
              <a:t> ]. Knowing [I</a:t>
            </a:r>
            <a:r>
              <a:rPr lang="en-US" sz="2000" baseline="-25000" dirty="0">
                <a:latin typeface="Times New Roman" pitchFamily="18" charset="0"/>
                <a:cs typeface="Times New Roman" pitchFamily="18" charset="0"/>
              </a:rPr>
              <a:t>3</a:t>
            </a:r>
            <a:r>
              <a:rPr lang="en-US" sz="2000" baseline="30000" dirty="0">
                <a:latin typeface="Times New Roman" pitchFamily="18" charset="0"/>
                <a:cs typeface="Times New Roman" pitchFamily="18" charset="0"/>
              </a:rPr>
              <a:t>−</a:t>
            </a:r>
            <a:r>
              <a:rPr lang="en-US" sz="2000" dirty="0">
                <a:latin typeface="Times New Roman" pitchFamily="18" charset="0"/>
                <a:cs typeface="Times New Roman" pitchFamily="18" charset="0"/>
              </a:rPr>
              <a:t>] from (</a:t>
            </a:r>
            <a:r>
              <a:rPr lang="en-US" sz="2000" i="1" dirty="0">
                <a:latin typeface="Times New Roman" pitchFamily="18" charset="0"/>
                <a:cs typeface="Times New Roman" pitchFamily="18" charset="0"/>
              </a:rPr>
              <a:t>b</a:t>
            </a:r>
            <a:r>
              <a:rPr lang="en-US" sz="2000" dirty="0">
                <a:latin typeface="Times New Roman" pitchFamily="18" charset="0"/>
                <a:cs typeface="Times New Roman" pitchFamily="18" charset="0"/>
              </a:rPr>
              <a:t>), [I</a:t>
            </a:r>
            <a:r>
              <a:rPr lang="en-US" sz="2000" baseline="30000" dirty="0">
                <a:latin typeface="Times New Roman" pitchFamily="18" charset="0"/>
                <a:cs typeface="Times New Roman" pitchFamily="18" charset="0"/>
              </a:rPr>
              <a:t>–</a:t>
            </a:r>
            <a:r>
              <a:rPr lang="en-US" sz="2000" dirty="0">
                <a:latin typeface="Times New Roman" pitchFamily="18" charset="0"/>
                <a:cs typeface="Times New Roman" pitchFamily="18" charset="0"/>
              </a:rPr>
              <a:t>] can be found. Substituting the above values of concentrations in the law of Mass Action equation of the reaction in water layer</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the value of equilibrium constant </a:t>
            </a:r>
            <a:r>
              <a:rPr lang="en-US" sz="2000" i="1" dirty="0">
                <a:latin typeface="Times New Roman" pitchFamily="18" charset="0"/>
                <a:cs typeface="Times New Roman" pitchFamily="18" charset="0"/>
              </a:rPr>
              <a:t>K </a:t>
            </a:r>
            <a:r>
              <a:rPr lang="en-US" sz="2000" dirty="0">
                <a:latin typeface="Times New Roman" pitchFamily="18" charset="0"/>
                <a:cs typeface="Times New Roman" pitchFamily="18" charset="0"/>
              </a:rPr>
              <a:t>can be calculated. If it comes out to be constant for </a:t>
            </a:r>
            <a:r>
              <a:rPr lang="en-US" sz="2000" dirty="0" smtClean="0">
                <a:latin typeface="Times New Roman" pitchFamily="18" charset="0"/>
                <a:cs typeface="Times New Roman" pitchFamily="18" charset="0"/>
              </a:rPr>
              <a:t>different concentrations </a:t>
            </a:r>
            <a:r>
              <a:rPr lang="en-US" sz="2000" dirty="0">
                <a:latin typeface="Times New Roman" pitchFamily="18" charset="0"/>
                <a:cs typeface="Times New Roman" pitchFamily="18" charset="0"/>
              </a:rPr>
              <a:t>of iodine, it stands confirmed that the formula of the complex I</a:t>
            </a:r>
            <a:r>
              <a:rPr lang="en-US" sz="2000" baseline="-25000" dirty="0">
                <a:latin typeface="Times New Roman" pitchFamily="18" charset="0"/>
                <a:cs typeface="Times New Roman" pitchFamily="18" charset="0"/>
              </a:rPr>
              <a:t>3</a:t>
            </a:r>
            <a:r>
              <a:rPr lang="en-US" sz="2000" baseline="30000" dirty="0">
                <a:latin typeface="Times New Roman" pitchFamily="18" charset="0"/>
                <a:cs typeface="Times New Roman" pitchFamily="18" charset="0"/>
              </a:rPr>
              <a:t>−</a:t>
            </a:r>
            <a:r>
              <a:rPr lang="en-US" sz="2000" dirty="0">
                <a:latin typeface="Times New Roman" pitchFamily="18" charset="0"/>
                <a:cs typeface="Times New Roman" pitchFamily="18" charset="0"/>
              </a:rPr>
              <a:t> , which we assumed is correct.</a:t>
            </a:r>
          </a:p>
          <a:p>
            <a:pPr algn="just"/>
            <a:endParaRPr lang="en-US" dirty="0"/>
          </a:p>
          <a:p>
            <a:pPr algn="just"/>
            <a:endParaRPr lang="en-US" dirty="0"/>
          </a:p>
        </p:txBody>
      </p:sp>
      <p:pic>
        <p:nvPicPr>
          <p:cNvPr id="10243"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553200" y="1312892"/>
            <a:ext cx="2417845" cy="9731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93934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10242"/>
                                        </p:tgtEl>
                                        <p:attrNameLst>
                                          <p:attrName>style.visibility</p:attrName>
                                        </p:attrNameLst>
                                      </p:cBhvr>
                                      <p:to>
                                        <p:strVal val="visible"/>
                                      </p:to>
                                    </p:set>
                                    <p:anim calcmode="lin" valueType="num">
                                      <p:cBhvr>
                                        <p:cTn id="13" dur="1000" fill="hold"/>
                                        <p:tgtEl>
                                          <p:spTgt spid="10242"/>
                                        </p:tgtEl>
                                        <p:attrNameLst>
                                          <p:attrName>ppt_w</p:attrName>
                                        </p:attrNameLst>
                                      </p:cBhvr>
                                      <p:tavLst>
                                        <p:tav tm="0">
                                          <p:val>
                                            <p:fltVal val="0"/>
                                          </p:val>
                                        </p:tav>
                                        <p:tav tm="100000">
                                          <p:val>
                                            <p:strVal val="#ppt_w"/>
                                          </p:val>
                                        </p:tav>
                                      </p:tavLst>
                                    </p:anim>
                                    <p:anim calcmode="lin" valueType="num">
                                      <p:cBhvr>
                                        <p:cTn id="14" dur="1000" fill="hold"/>
                                        <p:tgtEl>
                                          <p:spTgt spid="10242"/>
                                        </p:tgtEl>
                                        <p:attrNameLst>
                                          <p:attrName>ppt_h</p:attrName>
                                        </p:attrNameLst>
                                      </p:cBhvr>
                                      <p:tavLst>
                                        <p:tav tm="0">
                                          <p:val>
                                            <p:fltVal val="0"/>
                                          </p:val>
                                        </p:tav>
                                        <p:tav tm="100000">
                                          <p:val>
                                            <p:strVal val="#ppt_h"/>
                                          </p:val>
                                        </p:tav>
                                      </p:tavLst>
                                    </p:anim>
                                    <p:animEffect transition="in" filter="fade">
                                      <p:cBhvr>
                                        <p:cTn id="15" dur="1000"/>
                                        <p:tgtEl>
                                          <p:spTgt spid="10242"/>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circle(in)">
                                      <p:cBhvr>
                                        <p:cTn id="20" dur="1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243"/>
                                        </p:tgtEl>
                                        <p:attrNameLst>
                                          <p:attrName>style.visibility</p:attrName>
                                        </p:attrNameLst>
                                      </p:cBhvr>
                                      <p:to>
                                        <p:strVal val="visible"/>
                                      </p:to>
                                    </p:set>
                                    <p:anim calcmode="lin" valueType="num">
                                      <p:cBhvr additive="base">
                                        <p:cTn id="25" dur="1000" fill="hold"/>
                                        <p:tgtEl>
                                          <p:spTgt spid="10243"/>
                                        </p:tgtEl>
                                        <p:attrNameLst>
                                          <p:attrName>ppt_x</p:attrName>
                                        </p:attrNameLst>
                                      </p:cBhvr>
                                      <p:tavLst>
                                        <p:tav tm="0">
                                          <p:val>
                                            <p:strVal val="#ppt_x"/>
                                          </p:val>
                                        </p:tav>
                                        <p:tav tm="100000">
                                          <p:val>
                                            <p:strVal val="#ppt_x"/>
                                          </p:val>
                                        </p:tav>
                                      </p:tavLst>
                                    </p:anim>
                                    <p:anim calcmode="lin" valueType="num">
                                      <p:cBhvr additive="base">
                                        <p:cTn id="26" dur="1000" fill="hold"/>
                                        <p:tgtEl>
                                          <p:spTgt spid="102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158</TotalTime>
  <Words>1509</Words>
  <Application>Microsoft Office PowerPoint</Application>
  <PresentationFormat>On-screen Show (4:3)</PresentationFormat>
  <Paragraphs>96</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Flow</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Liton</dc:creator>
  <cp:lastModifiedBy>user</cp:lastModifiedBy>
  <cp:revision>41</cp:revision>
  <dcterms:created xsi:type="dcterms:W3CDTF">2006-08-16T00:00:00Z</dcterms:created>
  <dcterms:modified xsi:type="dcterms:W3CDTF">2023-02-12T03:49:44Z</dcterms:modified>
</cp:coreProperties>
</file>