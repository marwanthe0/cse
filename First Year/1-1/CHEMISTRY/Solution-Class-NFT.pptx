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Default Extension="wdp" ContentType="image/vnd.ms-photo"/>
  <Override PartName="/ppt/slideLayouts/slideLayout10.xml" ContentType="application/vnd.openxmlformats-officedocument.presentationml.slideLayout+xml"/>
  <Default Extension="vml" ContentType="application/vnd.openxmlformats-officedocument.vmlDrawing"/>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0"/>
  </p:notesMasterIdLst>
  <p:sldIdLst>
    <p:sldId id="257" r:id="rId2"/>
    <p:sldId id="310" r:id="rId3"/>
    <p:sldId id="262" r:id="rId4"/>
    <p:sldId id="271" r:id="rId5"/>
    <p:sldId id="333" r:id="rId6"/>
    <p:sldId id="332" r:id="rId7"/>
    <p:sldId id="274" r:id="rId8"/>
    <p:sldId id="330" r:id="rId9"/>
    <p:sldId id="296" r:id="rId10"/>
    <p:sldId id="329" r:id="rId11"/>
    <p:sldId id="331" r:id="rId12"/>
    <p:sldId id="323" r:id="rId13"/>
    <p:sldId id="324" r:id="rId14"/>
    <p:sldId id="325" r:id="rId15"/>
    <p:sldId id="327" r:id="rId16"/>
    <p:sldId id="328" r:id="rId17"/>
    <p:sldId id="326" r:id="rId18"/>
    <p:sldId id="334"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2" autoAdjust="0"/>
    <p:restoredTop sz="93073" autoAdjust="0"/>
  </p:normalViewPr>
  <p:slideViewPr>
    <p:cSldViewPr>
      <p:cViewPr>
        <p:scale>
          <a:sx n="66" d="100"/>
          <a:sy n="66" d="100"/>
        </p:scale>
        <p:origin x="-1224" y="-3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9D21CDF-15EB-4E48-B0F6-01B84A667B0F}" type="datetimeFigureOut">
              <a:rPr lang="en-IN" smtClean="0"/>
              <a:pPr/>
              <a:t>11-03-2017</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7B1B55-B327-4E2E-8966-4D9BCA09110B}" type="slidenum">
              <a:rPr lang="en-IN" smtClean="0"/>
              <a:pPr/>
              <a:t>‹#›</a:t>
            </a:fld>
            <a:endParaRPr lang="en-IN"/>
          </a:p>
        </p:txBody>
      </p:sp>
    </p:spTree>
    <p:extLst>
      <p:ext uri="{BB962C8B-B14F-4D97-AF65-F5344CB8AC3E}">
        <p14:creationId xmlns:p14="http://schemas.microsoft.com/office/powerpoint/2010/main" xmlns="" val="303011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p:spPr>
      </p:sp>
      <p:sp>
        <p:nvSpPr>
          <p:cNvPr id="3789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7892" name="Slide Number Placeholder 3"/>
          <p:cNvSpPr>
            <a:spLocks noGrp="1"/>
          </p:cNvSpPr>
          <p:nvPr>
            <p:ph type="sldNum" sz="quarter" idx="5"/>
          </p:nvPr>
        </p:nvSpPr>
        <p:spPr bwMode="auto">
          <a:noFill/>
          <a:ln>
            <a:miter lim="800000"/>
            <a:headEnd/>
            <a:tailEnd/>
          </a:ln>
        </p:spPr>
        <p:txBody>
          <a:bodyPr/>
          <a:lstStyle/>
          <a:p>
            <a:fld id="{7B0CE459-1E13-44FE-98FF-7B9BE1BEDEBA}" type="slidenum">
              <a:rPr lang="en-US"/>
              <a:pPr/>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8916" name="Slide Number Placeholder 3"/>
          <p:cNvSpPr>
            <a:spLocks noGrp="1"/>
          </p:cNvSpPr>
          <p:nvPr>
            <p:ph type="sldNum" sz="quarter" idx="5"/>
          </p:nvPr>
        </p:nvSpPr>
        <p:spPr bwMode="auto">
          <a:noFill/>
          <a:ln>
            <a:miter lim="800000"/>
            <a:headEnd/>
            <a:tailEnd/>
          </a:ln>
        </p:spPr>
        <p:txBody>
          <a:bodyPr/>
          <a:lstStyle/>
          <a:p>
            <a:fld id="{B8DD7D9A-095D-414B-93BB-A991A1560378}" type="slidenum">
              <a:rPr lang="en-US"/>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513F73BD-4892-478A-998A-1900E887150E}" type="datetime1">
              <a:rPr lang="en-IN" smtClean="0"/>
              <a:pPr/>
              <a:t>11-03-2017</a:t>
            </a:fld>
            <a:endParaRPr lang="en-IN"/>
          </a:p>
        </p:txBody>
      </p:sp>
      <p:sp>
        <p:nvSpPr>
          <p:cNvPr id="17" name="Footer Placeholder 16"/>
          <p:cNvSpPr>
            <a:spLocks noGrp="1"/>
          </p:cNvSpPr>
          <p:nvPr>
            <p:ph type="ftr" sz="quarter" idx="11"/>
          </p:nvPr>
        </p:nvSpPr>
        <p:spPr/>
        <p:txBody>
          <a:bodyPr/>
          <a:lstStyle/>
          <a:p>
            <a:r>
              <a:rPr lang="en-IN" smtClean="0"/>
              <a:t>SHARDA PUBLIC SCHOOL, ALMORA </a:t>
            </a:r>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2CBE2B4F-5529-40D4-B36A-0FBA2F374B7C}" type="slidenum">
              <a:rPr lang="en-IN" smtClean="0"/>
              <a:pPr/>
              <a:t>‹#›</a:t>
            </a:fld>
            <a:endParaRPr lang="en-IN"/>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D0C0AA6-6042-49AA-A391-107C4CCDADC5}" type="datetime1">
              <a:rPr lang="en-IN" smtClean="0"/>
              <a:pPr/>
              <a:t>11-03-2017</a:t>
            </a:fld>
            <a:endParaRPr lang="en-IN"/>
          </a:p>
        </p:txBody>
      </p:sp>
      <p:sp>
        <p:nvSpPr>
          <p:cNvPr id="5" name="Footer Placeholder 4"/>
          <p:cNvSpPr>
            <a:spLocks noGrp="1"/>
          </p:cNvSpPr>
          <p:nvPr>
            <p:ph type="ftr" sz="quarter" idx="11"/>
          </p:nvPr>
        </p:nvSpPr>
        <p:spPr/>
        <p:txBody>
          <a:bodyPr/>
          <a:lstStyle/>
          <a:p>
            <a:r>
              <a:rPr lang="en-IN" smtClean="0"/>
              <a:t>SHARDA PUBLIC SCHOOL, ALMORA </a:t>
            </a:r>
            <a:endParaRPr lang="en-IN"/>
          </a:p>
        </p:txBody>
      </p:sp>
      <p:sp>
        <p:nvSpPr>
          <p:cNvPr id="6" name="Slide Number Placeholder 5"/>
          <p:cNvSpPr>
            <a:spLocks noGrp="1"/>
          </p:cNvSpPr>
          <p:nvPr>
            <p:ph type="sldNum" sz="quarter" idx="12"/>
          </p:nvPr>
        </p:nvSpPr>
        <p:spPr/>
        <p:txBody>
          <a:bodyPr/>
          <a:lstStyle/>
          <a:p>
            <a:fld id="{2CBE2B4F-5529-40D4-B36A-0FBA2F374B7C}" type="slidenum">
              <a:rPr lang="en-IN" smtClean="0"/>
              <a:pPr/>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E3580563-01C1-4389-8B42-11658A596B9C}" type="datetime1">
              <a:rPr lang="en-IN" smtClean="0"/>
              <a:pPr/>
              <a:t>11-03-2017</a:t>
            </a:fld>
            <a:endParaRPr lang="en-IN"/>
          </a:p>
        </p:txBody>
      </p:sp>
      <p:sp>
        <p:nvSpPr>
          <p:cNvPr id="5" name="Footer Placeholder 4"/>
          <p:cNvSpPr>
            <a:spLocks noGrp="1"/>
          </p:cNvSpPr>
          <p:nvPr>
            <p:ph type="ftr" sz="quarter" idx="11"/>
          </p:nvPr>
        </p:nvSpPr>
        <p:spPr>
          <a:xfrm>
            <a:off x="800100" y="6172200"/>
            <a:ext cx="4000500" cy="457200"/>
          </a:xfrm>
        </p:spPr>
        <p:txBody>
          <a:bodyPr/>
          <a:lstStyle/>
          <a:p>
            <a:r>
              <a:rPr lang="en-IN" smtClean="0"/>
              <a:t>SHARDA PUBLIC SCHOOL, ALMORA </a:t>
            </a:r>
            <a:endParaRPr lang="en-IN"/>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2CBE2B4F-5529-40D4-B36A-0FBA2F374B7C}"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EA26CC7-ACFB-488A-80CB-E68FB4DEB37B}" type="datetime1">
              <a:rPr lang="en-IN" smtClean="0"/>
              <a:pPr/>
              <a:t>11-03-2017</a:t>
            </a:fld>
            <a:endParaRPr lang="en-IN"/>
          </a:p>
        </p:txBody>
      </p:sp>
      <p:sp>
        <p:nvSpPr>
          <p:cNvPr id="6" name="Footer Placeholder 5"/>
          <p:cNvSpPr>
            <a:spLocks noGrp="1"/>
          </p:cNvSpPr>
          <p:nvPr>
            <p:ph type="ftr" sz="quarter" idx="11"/>
          </p:nvPr>
        </p:nvSpPr>
        <p:spPr/>
        <p:txBody>
          <a:bodyPr/>
          <a:lstStyle/>
          <a:p>
            <a:r>
              <a:rPr lang="en-IN" smtClean="0"/>
              <a:t>SHARDA PUBLIC SCHOOL, ALMORA </a:t>
            </a:r>
            <a:endParaRPr lang="en-IN"/>
          </a:p>
        </p:txBody>
      </p:sp>
      <p:sp>
        <p:nvSpPr>
          <p:cNvPr id="7" name="Slide Number Placeholder 6"/>
          <p:cNvSpPr>
            <a:spLocks noGrp="1"/>
          </p:cNvSpPr>
          <p:nvPr>
            <p:ph type="sldNum" sz="quarter" idx="12"/>
          </p:nvPr>
        </p:nvSpPr>
        <p:spPr/>
        <p:txBody>
          <a:bodyPr/>
          <a:lstStyle/>
          <a:p>
            <a:fld id="{2CBE2B4F-5529-40D4-B36A-0FBA2F374B7C}" type="slidenum">
              <a:rPr lang="en-IN" smtClean="0"/>
              <a:pPr/>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2CD99118-EF92-4FB3-9D9A-6E3E1F472A40}" type="datetime1">
              <a:rPr lang="en-IN" smtClean="0"/>
              <a:pPr/>
              <a:t>11-03-2017</a:t>
            </a:fld>
            <a:endParaRPr lang="en-IN"/>
          </a:p>
        </p:txBody>
      </p:sp>
      <p:sp>
        <p:nvSpPr>
          <p:cNvPr id="8" name="Footer Placeholder 7"/>
          <p:cNvSpPr>
            <a:spLocks noGrp="1"/>
          </p:cNvSpPr>
          <p:nvPr>
            <p:ph type="ftr" sz="quarter" idx="11"/>
          </p:nvPr>
        </p:nvSpPr>
        <p:spPr/>
        <p:txBody>
          <a:bodyPr/>
          <a:lstStyle/>
          <a:p>
            <a:r>
              <a:rPr lang="en-IN" smtClean="0"/>
              <a:t>SHARDA PUBLIC SCHOOL, ALMORA </a:t>
            </a:r>
            <a:endParaRPr lang="en-IN"/>
          </a:p>
        </p:txBody>
      </p:sp>
      <p:sp>
        <p:nvSpPr>
          <p:cNvPr id="9" name="Slide Number Placeholder 8"/>
          <p:cNvSpPr>
            <a:spLocks noGrp="1"/>
          </p:cNvSpPr>
          <p:nvPr>
            <p:ph type="sldNum" sz="quarter" idx="12"/>
          </p:nvPr>
        </p:nvSpPr>
        <p:spPr/>
        <p:txBody>
          <a:bodyPr/>
          <a:lstStyle/>
          <a:p>
            <a:fld id="{2CBE2B4F-5529-40D4-B36A-0FBA2F374B7C}" type="slidenum">
              <a:rPr lang="en-IN" smtClean="0"/>
              <a:pPr/>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2824984E-A565-4552-B89C-C5A688B91876}" type="datetime1">
              <a:rPr lang="en-IN" smtClean="0"/>
              <a:pPr/>
              <a:t>11-03-2017</a:t>
            </a:fld>
            <a:endParaRPr lang="en-IN"/>
          </a:p>
        </p:txBody>
      </p:sp>
      <p:sp>
        <p:nvSpPr>
          <p:cNvPr id="4" name="Footer Placeholder 3"/>
          <p:cNvSpPr>
            <a:spLocks noGrp="1"/>
          </p:cNvSpPr>
          <p:nvPr>
            <p:ph type="ftr" sz="quarter" idx="11"/>
          </p:nvPr>
        </p:nvSpPr>
        <p:spPr/>
        <p:txBody>
          <a:bodyPr/>
          <a:lstStyle/>
          <a:p>
            <a:r>
              <a:rPr lang="en-IN" smtClean="0"/>
              <a:t>SHARDA PUBLIC SCHOOL, ALMORA </a:t>
            </a:r>
            <a:endParaRPr lang="en-IN"/>
          </a:p>
        </p:txBody>
      </p:sp>
      <p:sp>
        <p:nvSpPr>
          <p:cNvPr id="5" name="Slide Number Placeholder 4"/>
          <p:cNvSpPr>
            <a:spLocks noGrp="1"/>
          </p:cNvSpPr>
          <p:nvPr>
            <p:ph type="sldNum" sz="quarter" idx="12"/>
          </p:nvPr>
        </p:nvSpPr>
        <p:spPr/>
        <p:txBody>
          <a:bodyPr/>
          <a:lstStyle/>
          <a:p>
            <a:fld id="{2CBE2B4F-5529-40D4-B36A-0FBA2F374B7C}"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9D9088-0791-4A86-822E-1A38AA9C07EB}" type="datetime1">
              <a:rPr lang="en-IN" smtClean="0"/>
              <a:pPr/>
              <a:t>11-03-2017</a:t>
            </a:fld>
            <a:endParaRPr lang="en-IN"/>
          </a:p>
        </p:txBody>
      </p:sp>
      <p:sp>
        <p:nvSpPr>
          <p:cNvPr id="3" name="Footer Placeholder 2"/>
          <p:cNvSpPr>
            <a:spLocks noGrp="1"/>
          </p:cNvSpPr>
          <p:nvPr>
            <p:ph type="ftr" sz="quarter" idx="11"/>
          </p:nvPr>
        </p:nvSpPr>
        <p:spPr/>
        <p:txBody>
          <a:bodyPr/>
          <a:lstStyle/>
          <a:p>
            <a:r>
              <a:rPr lang="en-IN" smtClean="0"/>
              <a:t>SHARDA PUBLIC SCHOOL, ALMORA </a:t>
            </a:r>
            <a:endParaRPr lang="en-IN"/>
          </a:p>
        </p:txBody>
      </p:sp>
      <p:sp>
        <p:nvSpPr>
          <p:cNvPr id="4" name="Slide Number Placeholder 3"/>
          <p:cNvSpPr>
            <a:spLocks noGrp="1"/>
          </p:cNvSpPr>
          <p:nvPr>
            <p:ph type="sldNum" sz="quarter" idx="12"/>
          </p:nvPr>
        </p:nvSpPr>
        <p:spPr/>
        <p:txBody>
          <a:bodyPr/>
          <a:lstStyle/>
          <a:p>
            <a:fld id="{2CBE2B4F-5529-40D4-B36A-0FBA2F374B7C}"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BE78DF97-04CE-4BB9-A721-DF7AEB0AFCAD}" type="datetime1">
              <a:rPr lang="en-IN" smtClean="0"/>
              <a:pPr/>
              <a:t>11-03-2017</a:t>
            </a:fld>
            <a:endParaRPr lang="en-IN"/>
          </a:p>
        </p:txBody>
      </p:sp>
      <p:sp>
        <p:nvSpPr>
          <p:cNvPr id="6" name="Footer Placeholder 5"/>
          <p:cNvSpPr>
            <a:spLocks noGrp="1"/>
          </p:cNvSpPr>
          <p:nvPr>
            <p:ph type="ftr" sz="quarter" idx="11"/>
          </p:nvPr>
        </p:nvSpPr>
        <p:spPr/>
        <p:txBody>
          <a:bodyPr/>
          <a:lstStyle/>
          <a:p>
            <a:r>
              <a:rPr lang="en-IN" smtClean="0"/>
              <a:t>SHARDA PUBLIC SCHOOL, ALMORA </a:t>
            </a:r>
            <a:endParaRPr lang="en-IN"/>
          </a:p>
        </p:txBody>
      </p:sp>
      <p:sp>
        <p:nvSpPr>
          <p:cNvPr id="7" name="Slide Number Placeholder 6"/>
          <p:cNvSpPr>
            <a:spLocks noGrp="1"/>
          </p:cNvSpPr>
          <p:nvPr>
            <p:ph type="sldNum" sz="quarter" idx="12"/>
          </p:nvPr>
        </p:nvSpPr>
        <p:spPr/>
        <p:txBody>
          <a:bodyPr/>
          <a:lstStyle/>
          <a:p>
            <a:fld id="{2CBE2B4F-5529-40D4-B36A-0FBA2F374B7C}" type="slidenum">
              <a:rPr lang="en-IN" smtClean="0"/>
              <a:pPr/>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E6340AF-BD76-454A-A1A3-132544D4E467}" type="datetime1">
              <a:rPr lang="en-IN" smtClean="0"/>
              <a:pPr/>
              <a:t>11-03-2017</a:t>
            </a:fld>
            <a:endParaRPr lang="en-IN"/>
          </a:p>
        </p:txBody>
      </p:sp>
      <p:sp>
        <p:nvSpPr>
          <p:cNvPr id="6" name="Footer Placeholder 5"/>
          <p:cNvSpPr>
            <a:spLocks noGrp="1"/>
          </p:cNvSpPr>
          <p:nvPr>
            <p:ph type="ftr" sz="quarter" idx="11"/>
          </p:nvPr>
        </p:nvSpPr>
        <p:spPr>
          <a:xfrm>
            <a:off x="914400" y="6172200"/>
            <a:ext cx="3886200" cy="457200"/>
          </a:xfrm>
        </p:spPr>
        <p:txBody>
          <a:bodyPr/>
          <a:lstStyle/>
          <a:p>
            <a:r>
              <a:rPr lang="en-IN" smtClean="0"/>
              <a:t>SHARDA PUBLIC SCHOOL, ALMORA </a:t>
            </a:r>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2CBE2B4F-5529-40D4-B36A-0FBA2F374B7C}" type="slidenum">
              <a:rPr lang="en-IN" smtClean="0"/>
              <a:pPr/>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42E1D86-1DE0-4AA8-BDCF-5AC2B4D6F7FD}" type="datetime1">
              <a:rPr lang="en-IN" smtClean="0"/>
              <a:pPr/>
              <a:t>11-03-2017</a:t>
            </a:fld>
            <a:endParaRPr lang="en-IN"/>
          </a:p>
        </p:txBody>
      </p:sp>
      <p:sp>
        <p:nvSpPr>
          <p:cNvPr id="5" name="Footer Placeholder 4"/>
          <p:cNvSpPr>
            <a:spLocks noGrp="1"/>
          </p:cNvSpPr>
          <p:nvPr>
            <p:ph type="ftr" sz="quarter" idx="11"/>
          </p:nvPr>
        </p:nvSpPr>
        <p:spPr/>
        <p:txBody>
          <a:bodyPr/>
          <a:lstStyle/>
          <a:p>
            <a:r>
              <a:rPr lang="en-IN" smtClean="0"/>
              <a:t>SHARDA PUBLIC SCHOOL, ALMORA </a:t>
            </a:r>
            <a:endParaRPr lang="en-IN"/>
          </a:p>
        </p:txBody>
      </p:sp>
      <p:sp>
        <p:nvSpPr>
          <p:cNvPr id="6" name="Slide Number Placeholder 5"/>
          <p:cNvSpPr>
            <a:spLocks noGrp="1"/>
          </p:cNvSpPr>
          <p:nvPr>
            <p:ph type="sldNum" sz="quarter" idx="12"/>
          </p:nvPr>
        </p:nvSpPr>
        <p:spPr/>
        <p:txBody>
          <a:bodyPr/>
          <a:lstStyle/>
          <a:p>
            <a:fld id="{2CBE2B4F-5529-40D4-B36A-0FBA2F374B7C}"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16F2817-F5E0-42D0-B0D3-CEA3D183362A}" type="datetime1">
              <a:rPr lang="en-IN" smtClean="0"/>
              <a:pPr/>
              <a:t>11-03-2017</a:t>
            </a:fld>
            <a:endParaRPr lang="en-IN"/>
          </a:p>
        </p:txBody>
      </p:sp>
      <p:sp>
        <p:nvSpPr>
          <p:cNvPr id="5" name="Footer Placeholder 4"/>
          <p:cNvSpPr>
            <a:spLocks noGrp="1"/>
          </p:cNvSpPr>
          <p:nvPr>
            <p:ph type="ftr" sz="quarter" idx="11"/>
          </p:nvPr>
        </p:nvSpPr>
        <p:spPr/>
        <p:txBody>
          <a:bodyPr/>
          <a:lstStyle/>
          <a:p>
            <a:r>
              <a:rPr lang="en-IN" smtClean="0"/>
              <a:t>SHARDA PUBLIC SCHOOL, ALMORA </a:t>
            </a:r>
            <a:endParaRPr lang="en-IN"/>
          </a:p>
        </p:txBody>
      </p:sp>
      <p:sp>
        <p:nvSpPr>
          <p:cNvPr id="6" name="Slide Number Placeholder 5"/>
          <p:cNvSpPr>
            <a:spLocks noGrp="1"/>
          </p:cNvSpPr>
          <p:nvPr>
            <p:ph type="sldNum" sz="quarter" idx="12"/>
          </p:nvPr>
        </p:nvSpPr>
        <p:spPr/>
        <p:txBody>
          <a:bodyPr/>
          <a:lstStyle/>
          <a:p>
            <a:fld id="{2CBE2B4F-5529-40D4-B36A-0FBA2F374B7C}"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5768D3B-786F-40C0-A7A6-6DD325373A53}" type="datetime1">
              <a:rPr lang="en-IN" smtClean="0"/>
              <a:pPr/>
              <a:t>11-03-2017</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IN" smtClean="0"/>
              <a:t>SHARDA PUBLIC SCHOOL, ALMORA </a:t>
            </a:r>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2CBE2B4F-5529-40D4-B36A-0FBA2F374B7C}"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descr="13_T01"/>
          <p:cNvPicPr>
            <a:picLocks noChangeAspect="1" noChangeArrowheads="1"/>
          </p:cNvPicPr>
          <p:nvPr/>
        </p:nvPicPr>
        <p:blipFill>
          <a:blip r:embed="rId2" cstate="print">
            <a:duotone>
              <a:prstClr val="black"/>
              <a:schemeClr val="accent2">
                <a:tint val="45000"/>
                <a:satMod val="400000"/>
              </a:schemeClr>
            </a:duotone>
            <a:extLst>
              <a:ext uri="{BEBA8EAE-BF5A-486C-A8C5-ECC9F3942E4B}">
                <a14:imgProps xmlns:a14="http://schemas.microsoft.com/office/drawing/2010/main" xmlns="">
                  <a14:imgLayer r:embed="rId3">
                    <a14:imgEffect>
                      <a14:brightnessContrast bright="-6000" contrast="-51000"/>
                    </a14:imgEffect>
                  </a14:imgLayer>
                </a14:imgProps>
              </a:ext>
              <a:ext uri="{28A0092B-C50C-407E-A947-70E740481C1C}">
                <a14:useLocalDpi xmlns:a14="http://schemas.microsoft.com/office/drawing/2010/main" xmlns="" val="0"/>
              </a:ext>
            </a:extLst>
          </a:blip>
          <a:srcRect t="15421" b="7591"/>
          <a:stretch>
            <a:fillRect/>
          </a:stretch>
        </p:blipFill>
        <p:spPr>
          <a:xfrm>
            <a:off x="76200" y="2971800"/>
            <a:ext cx="8978371" cy="2667000"/>
          </a:xfrm>
          <a:prstGeom prst="roundRect">
            <a:avLst>
              <a:gd name="adj" fmla="val 8594"/>
            </a:avLst>
          </a:prstGeom>
          <a:ln/>
        </p:spPr>
        <p:style>
          <a:lnRef idx="1">
            <a:schemeClr val="accent2"/>
          </a:lnRef>
          <a:fillRef idx="3">
            <a:schemeClr val="accent2"/>
          </a:fillRef>
          <a:effectRef idx="2">
            <a:schemeClr val="accent2"/>
          </a:effectRef>
          <a:fontRef idx="minor">
            <a:schemeClr val="lt1"/>
          </a:fontRef>
        </p:style>
      </p:pic>
      <p:sp>
        <p:nvSpPr>
          <p:cNvPr id="5" name="Slide Number Placeholder 4"/>
          <p:cNvSpPr>
            <a:spLocks noGrp="1"/>
          </p:cNvSpPr>
          <p:nvPr>
            <p:ph type="sldNum" sz="quarter" idx="12"/>
          </p:nvPr>
        </p:nvSpPr>
        <p:spPr/>
        <p:txBody>
          <a:bodyPr/>
          <a:lstStyle/>
          <a:p>
            <a:fld id="{2CBE2B4F-5529-40D4-B36A-0FBA2F374B7C}" type="slidenum">
              <a:rPr lang="en-IN" smtClean="0"/>
              <a:pPr/>
              <a:t>1</a:t>
            </a:fld>
            <a:endParaRPr lang="en-IN"/>
          </a:p>
        </p:txBody>
      </p:sp>
      <p:sp>
        <p:nvSpPr>
          <p:cNvPr id="6" name="Rectangle 5"/>
          <p:cNvSpPr/>
          <p:nvPr/>
        </p:nvSpPr>
        <p:spPr>
          <a:xfrm>
            <a:off x="3429000" y="86380"/>
            <a:ext cx="1676400" cy="523220"/>
          </a:xfrm>
          <a:prstGeom prst="rect">
            <a:avLst/>
          </a:prstGeom>
        </p:spPr>
        <p:txBody>
          <a:bodyPr wrap="square">
            <a:spAutoFit/>
          </a:bodyPr>
          <a:lstStyle/>
          <a:p>
            <a:r>
              <a:rPr lang="en-US" altLang="en-US" sz="2800" b="1" dirty="0" smtClean="0"/>
              <a:t>Solution</a:t>
            </a:r>
            <a:endParaRPr lang="en-IN" sz="2800" b="1" dirty="0"/>
          </a:p>
        </p:txBody>
      </p:sp>
      <p:sp>
        <p:nvSpPr>
          <p:cNvPr id="9" name="Rectangle 8"/>
          <p:cNvSpPr/>
          <p:nvPr/>
        </p:nvSpPr>
        <p:spPr>
          <a:xfrm>
            <a:off x="152400" y="609600"/>
            <a:ext cx="8686800" cy="1938992"/>
          </a:xfrm>
          <a:prstGeom prst="rect">
            <a:avLst/>
          </a:prstGeom>
        </p:spPr>
        <p:txBody>
          <a:bodyPr wrap="square">
            <a:spAutoFit/>
          </a:bodyPr>
          <a:lstStyle/>
          <a:p>
            <a:r>
              <a:rPr lang="en-US" altLang="en-US" sz="2400" dirty="0" smtClean="0"/>
              <a:t>Solutions are homogeneous mixtures of two or more pure substances.</a:t>
            </a:r>
          </a:p>
          <a:p>
            <a:pPr algn="just"/>
            <a:r>
              <a:rPr lang="en-US" sz="2400" dirty="0" smtClean="0"/>
              <a:t>The solutions can be found in three states; Solid, Liquid and Gas. The solute and solvent can also be in three states. The physical state of the resulting solution can be decided on the basis of the physical states of solvent and solute.</a:t>
            </a:r>
            <a:r>
              <a:rPr lang="en-IN" sz="2400" dirty="0" smtClean="0"/>
              <a:t> Table gives examples of  type solution.</a:t>
            </a:r>
          </a:p>
        </p:txBody>
      </p:sp>
    </p:spTree>
    <p:extLst>
      <p:ext uri="{BB962C8B-B14F-4D97-AF65-F5344CB8AC3E}">
        <p14:creationId xmlns:p14="http://schemas.microsoft.com/office/powerpoint/2010/main" xmlns="" val="22176638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CBE2B4F-5529-40D4-B36A-0FBA2F374B7C}" type="slidenum">
              <a:rPr lang="en-IN" smtClean="0"/>
              <a:pPr/>
              <a:t>2</a:t>
            </a:fld>
            <a:endParaRPr lang="en-IN"/>
          </a:p>
        </p:txBody>
      </p:sp>
      <p:sp>
        <p:nvSpPr>
          <p:cNvPr id="4" name="Rectangle 3"/>
          <p:cNvSpPr/>
          <p:nvPr/>
        </p:nvSpPr>
        <p:spPr>
          <a:xfrm>
            <a:off x="611560" y="1196752"/>
            <a:ext cx="8136904" cy="3785652"/>
          </a:xfrm>
          <a:prstGeom prst="rect">
            <a:avLst/>
          </a:prstGeom>
        </p:spPr>
        <p:txBody>
          <a:bodyPr wrap="square">
            <a:spAutoFit/>
          </a:bodyPr>
          <a:lstStyle/>
          <a:p>
            <a:pPr marL="342900" indent="-342900">
              <a:buFont typeface="Wingdings" panose="05000000000000000000" pitchFamily="2" charset="2"/>
              <a:buChar char="Ø"/>
            </a:pPr>
            <a:r>
              <a:rPr lang="en-IN" sz="2400" dirty="0"/>
              <a:t>A </a:t>
            </a:r>
            <a:r>
              <a:rPr lang="en-IN" sz="2400" b="1" dirty="0" smtClean="0"/>
              <a:t>saturated solution </a:t>
            </a:r>
            <a:r>
              <a:rPr lang="en-IN" sz="2400" dirty="0"/>
              <a:t>contains the maximum amount of a solute that will dissolve in a given solvent at a specific temperature. </a:t>
            </a:r>
          </a:p>
          <a:p>
            <a:endParaRPr lang="en-IN" sz="2400" dirty="0"/>
          </a:p>
          <a:p>
            <a:pPr marL="342900" indent="-342900">
              <a:buFont typeface="Wingdings" panose="05000000000000000000" pitchFamily="2" charset="2"/>
              <a:buChar char="Ø"/>
            </a:pPr>
            <a:r>
              <a:rPr lang="en-IN" sz="2400" dirty="0" smtClean="0"/>
              <a:t>An </a:t>
            </a:r>
            <a:r>
              <a:rPr lang="en-IN" sz="2400" b="1" dirty="0"/>
              <a:t>unsaturated solution </a:t>
            </a:r>
            <a:r>
              <a:rPr lang="en-IN" sz="2400" dirty="0"/>
              <a:t>contains less solute than it</a:t>
            </a:r>
          </a:p>
          <a:p>
            <a:r>
              <a:rPr lang="en-IN" sz="2400" dirty="0"/>
              <a:t>has the capacity to dissolve. </a:t>
            </a:r>
            <a:endParaRPr lang="en-IN" sz="2400" dirty="0" smtClean="0"/>
          </a:p>
          <a:p>
            <a:endParaRPr lang="en-IN" sz="2400" dirty="0" smtClean="0"/>
          </a:p>
          <a:p>
            <a:pPr marL="342900" indent="-342900">
              <a:buFont typeface="Wingdings" panose="05000000000000000000" pitchFamily="2" charset="2"/>
              <a:buChar char="Ø"/>
            </a:pPr>
            <a:r>
              <a:rPr lang="en-IN" sz="2400" dirty="0" smtClean="0"/>
              <a:t>A </a:t>
            </a:r>
            <a:r>
              <a:rPr lang="en-IN" sz="2400" dirty="0"/>
              <a:t>third type, a </a:t>
            </a:r>
            <a:r>
              <a:rPr lang="en-IN" sz="2400" b="1" dirty="0"/>
              <a:t>supersaturated solution, </a:t>
            </a:r>
            <a:r>
              <a:rPr lang="en-IN" sz="2400" dirty="0"/>
              <a:t>contains more</a:t>
            </a:r>
          </a:p>
          <a:p>
            <a:r>
              <a:rPr lang="en-IN" sz="2400" dirty="0"/>
              <a:t>solute than is present in a saturated solution. Supersaturated solutions are not </a:t>
            </a:r>
            <a:r>
              <a:rPr lang="en-IN" sz="2400" dirty="0" smtClean="0"/>
              <a:t>very stable.</a:t>
            </a:r>
            <a:endParaRPr lang="en-IN" sz="2400" dirty="0"/>
          </a:p>
        </p:txBody>
      </p:sp>
      <p:sp>
        <p:nvSpPr>
          <p:cNvPr id="5" name="Rectangle 4"/>
          <p:cNvSpPr/>
          <p:nvPr/>
        </p:nvSpPr>
        <p:spPr>
          <a:xfrm>
            <a:off x="2133600" y="0"/>
            <a:ext cx="4536504" cy="523220"/>
          </a:xfrm>
          <a:prstGeom prst="rect">
            <a:avLst/>
          </a:prstGeom>
        </p:spPr>
        <p:txBody>
          <a:bodyPr wrap="square">
            <a:spAutoFit/>
          </a:bodyPr>
          <a:lstStyle/>
          <a:p>
            <a:r>
              <a:rPr lang="en-US" altLang="en-US" sz="2800" b="1" dirty="0" smtClean="0"/>
              <a:t>Types of Solution</a:t>
            </a:r>
            <a:endParaRPr lang="en-IN" sz="2800" b="1" dirty="0"/>
          </a:p>
        </p:txBody>
      </p:sp>
    </p:spTree>
    <p:extLst>
      <p:ext uri="{BB962C8B-B14F-4D97-AF65-F5344CB8AC3E}">
        <p14:creationId xmlns:p14="http://schemas.microsoft.com/office/powerpoint/2010/main" xmlns="" val="9295961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4033" y="476672"/>
            <a:ext cx="7056784" cy="4462760"/>
          </a:xfrm>
          <a:prstGeom prst="rect">
            <a:avLst/>
          </a:prstGeom>
        </p:spPr>
        <p:txBody>
          <a:bodyPr wrap="square">
            <a:spAutoFit/>
          </a:bodyPr>
          <a:lstStyle/>
          <a:p>
            <a:r>
              <a:rPr lang="en-US" altLang="en-US" sz="2800" b="1" u="sng" dirty="0">
                <a:effectLst>
                  <a:outerShdw blurRad="38100" dist="38100" dir="2700000" algn="tl">
                    <a:srgbClr val="FFFFFF"/>
                  </a:outerShdw>
                </a:effectLst>
              </a:rPr>
              <a:t>Ways of Expressing Concentrations of </a:t>
            </a:r>
            <a:r>
              <a:rPr lang="en-US" altLang="en-US" sz="2800" b="1" u="sng" dirty="0" smtClean="0">
                <a:effectLst>
                  <a:outerShdw blurRad="38100" dist="38100" dir="2700000" algn="tl">
                    <a:srgbClr val="FFFFFF"/>
                  </a:outerShdw>
                </a:effectLst>
              </a:rPr>
              <a:t>Solutions</a:t>
            </a:r>
          </a:p>
          <a:p>
            <a:endParaRPr lang="en-US" altLang="en-US" dirty="0" smtClean="0">
              <a:effectLst>
                <a:outerShdw blurRad="38100" dist="38100" dir="2700000" algn="tl">
                  <a:srgbClr val="FFFFFF"/>
                </a:outerShdw>
              </a:effectLst>
            </a:endParaRPr>
          </a:p>
          <a:p>
            <a:pPr marL="285750" indent="-285750">
              <a:buFont typeface="Wingdings" panose="05000000000000000000" pitchFamily="2" charset="2"/>
              <a:buChar char="Ø"/>
            </a:pPr>
            <a:r>
              <a:rPr lang="en-US" altLang="en-US" b="1" dirty="0" smtClean="0">
                <a:effectLst>
                  <a:outerShdw blurRad="38100" dist="38100" dir="2700000" algn="tl">
                    <a:srgbClr val="FFFFFF"/>
                  </a:outerShdw>
                </a:effectLst>
              </a:rPr>
              <a:t>Mass percentage:</a:t>
            </a:r>
          </a:p>
          <a:p>
            <a:pPr algn="ctr"/>
            <a:r>
              <a:rPr lang="en-US" altLang="en-US" dirty="0" smtClean="0"/>
              <a:t>                  = (mass </a:t>
            </a:r>
            <a:r>
              <a:rPr lang="en-US" altLang="en-US" dirty="0"/>
              <a:t>of A in </a:t>
            </a:r>
            <a:r>
              <a:rPr lang="en-US" altLang="en-US" dirty="0" smtClean="0"/>
              <a:t>solution / total </a:t>
            </a:r>
            <a:r>
              <a:rPr lang="en-US" altLang="en-US" dirty="0"/>
              <a:t>mass of </a:t>
            </a:r>
            <a:r>
              <a:rPr lang="en-US" altLang="en-US" dirty="0" smtClean="0"/>
              <a:t>solution) X 100</a:t>
            </a:r>
          </a:p>
          <a:p>
            <a:pPr marL="285750" indent="-285750" algn="ctr">
              <a:buFont typeface="Wingdings" panose="05000000000000000000" pitchFamily="2" charset="2"/>
              <a:buChar char="Ø"/>
            </a:pPr>
            <a:endParaRPr lang="en-US" altLang="en-US" dirty="0"/>
          </a:p>
          <a:p>
            <a:pPr marL="285750" indent="-285750">
              <a:buFont typeface="Wingdings" panose="05000000000000000000" pitchFamily="2" charset="2"/>
              <a:buChar char="Ø"/>
            </a:pPr>
            <a:r>
              <a:rPr lang="en-US" altLang="en-US" b="1" dirty="0" smtClean="0"/>
              <a:t>Parts </a:t>
            </a:r>
            <a:r>
              <a:rPr lang="en-US" altLang="en-US" b="1" dirty="0"/>
              <a:t>per Million (ppm</a:t>
            </a:r>
            <a:r>
              <a:rPr lang="en-US" altLang="en-US" b="1" dirty="0" smtClean="0"/>
              <a:t>):</a:t>
            </a:r>
          </a:p>
          <a:p>
            <a:pPr algn="ctr"/>
            <a:r>
              <a:rPr lang="en-US" altLang="en-US" dirty="0" smtClean="0"/>
              <a:t>                         = (mass </a:t>
            </a:r>
            <a:r>
              <a:rPr lang="en-US" altLang="en-US" dirty="0"/>
              <a:t>of A in </a:t>
            </a:r>
            <a:r>
              <a:rPr lang="en-US" altLang="en-US" dirty="0" smtClean="0"/>
              <a:t>solution/</a:t>
            </a:r>
            <a:r>
              <a:rPr lang="en-US" altLang="en-US" dirty="0"/>
              <a:t>total mass of </a:t>
            </a:r>
            <a:r>
              <a:rPr lang="en-US" altLang="en-US" dirty="0" smtClean="0"/>
              <a:t>solution) X10</a:t>
            </a:r>
            <a:r>
              <a:rPr lang="en-US" altLang="en-US" baseline="30000" dirty="0" smtClean="0"/>
              <a:t>6</a:t>
            </a:r>
            <a:endParaRPr lang="en-US" altLang="en-US" baseline="30000" dirty="0"/>
          </a:p>
          <a:p>
            <a:pPr marL="285750" indent="-285750">
              <a:buFont typeface="Wingdings" panose="05000000000000000000" pitchFamily="2" charset="2"/>
              <a:buChar char="Ø"/>
            </a:pPr>
            <a:endParaRPr lang="en-US" altLang="en-US" dirty="0" smtClean="0"/>
          </a:p>
          <a:p>
            <a:pPr marL="285750" indent="-285750">
              <a:buFont typeface="Wingdings" panose="05000000000000000000" pitchFamily="2" charset="2"/>
              <a:buChar char="Ø"/>
            </a:pPr>
            <a:r>
              <a:rPr lang="en-US" altLang="en-US" b="1" dirty="0"/>
              <a:t>Parts per Billion (ppb</a:t>
            </a:r>
            <a:r>
              <a:rPr lang="en-US" altLang="en-US" b="1" dirty="0" smtClean="0"/>
              <a:t>)</a:t>
            </a:r>
            <a:endParaRPr lang="en-US" altLang="en-US" b="1" dirty="0"/>
          </a:p>
          <a:p>
            <a:pPr algn="ctr"/>
            <a:r>
              <a:rPr lang="en-US" altLang="en-US" dirty="0" smtClean="0"/>
              <a:t>                          = (</a:t>
            </a:r>
            <a:r>
              <a:rPr lang="en-US" altLang="en-US" dirty="0"/>
              <a:t>mass of A in solution/total mass of solution) </a:t>
            </a:r>
            <a:r>
              <a:rPr lang="en-US" altLang="en-US" dirty="0" smtClean="0"/>
              <a:t>X10</a:t>
            </a:r>
            <a:r>
              <a:rPr lang="en-US" altLang="en-US" baseline="30000" dirty="0" smtClean="0"/>
              <a:t>9</a:t>
            </a:r>
          </a:p>
          <a:p>
            <a:pPr marL="285750" indent="-285750" algn="ctr">
              <a:buFont typeface="Wingdings" panose="05000000000000000000" pitchFamily="2" charset="2"/>
              <a:buChar char="Ø"/>
            </a:pPr>
            <a:endParaRPr lang="en-US" altLang="en-US" baseline="30000" dirty="0" smtClean="0"/>
          </a:p>
          <a:p>
            <a:pPr marL="285750" indent="-285750">
              <a:buFont typeface="Wingdings" panose="05000000000000000000" pitchFamily="2" charset="2"/>
              <a:buChar char="Ø"/>
            </a:pPr>
            <a:r>
              <a:rPr lang="en-US" altLang="en-US" b="1" dirty="0" smtClean="0"/>
              <a:t>Mole Fraction (</a:t>
            </a:r>
            <a:r>
              <a:rPr lang="en-US" altLang="en-US" b="1" i="1" dirty="0" smtClean="0"/>
              <a:t>X</a:t>
            </a:r>
            <a:r>
              <a:rPr lang="en-US" altLang="en-US" dirty="0" smtClean="0"/>
              <a:t>): </a:t>
            </a:r>
            <a:r>
              <a:rPr lang="en-IN" dirty="0" smtClean="0"/>
              <a:t>The mole fraction of </a:t>
            </a:r>
            <a:r>
              <a:rPr lang="en-IN" dirty="0"/>
              <a:t>a </a:t>
            </a:r>
            <a:r>
              <a:rPr lang="en-IN" dirty="0" smtClean="0"/>
              <a:t>component of </a:t>
            </a:r>
            <a:r>
              <a:rPr lang="en-IN" dirty="0"/>
              <a:t>a solution, say</a:t>
            </a:r>
            <a:r>
              <a:rPr lang="en-IN" dirty="0" smtClean="0"/>
              <a:t>,</a:t>
            </a:r>
            <a:r>
              <a:rPr lang="en-IN" dirty="0"/>
              <a:t> component A, is written </a:t>
            </a:r>
            <a:r>
              <a:rPr lang="en-US" altLang="en-US" i="1" dirty="0"/>
              <a:t>X</a:t>
            </a:r>
            <a:r>
              <a:rPr lang="en-US" altLang="en-US" i="1" baseline="-25000" dirty="0"/>
              <a:t>A </a:t>
            </a:r>
            <a:endParaRPr lang="en-IN" dirty="0" smtClean="0"/>
          </a:p>
          <a:p>
            <a:pPr algn="ctr"/>
            <a:r>
              <a:rPr lang="en-US" altLang="en-US" i="1" dirty="0" smtClean="0"/>
              <a:t>X</a:t>
            </a:r>
            <a:r>
              <a:rPr lang="en-US" altLang="en-US" i="1" baseline="-25000" dirty="0" smtClean="0"/>
              <a:t>A</a:t>
            </a:r>
            <a:r>
              <a:rPr lang="en-US" altLang="en-US" dirty="0" smtClean="0"/>
              <a:t> = (moles of A  / total moles in solution)</a:t>
            </a:r>
            <a:endParaRPr lang="en-US" altLang="en-US" sz="2000" dirty="0" smtClean="0"/>
          </a:p>
        </p:txBody>
      </p:sp>
      <p:sp>
        <p:nvSpPr>
          <p:cNvPr id="4" name="Slide Number Placeholder 3"/>
          <p:cNvSpPr>
            <a:spLocks noGrp="1"/>
          </p:cNvSpPr>
          <p:nvPr>
            <p:ph type="sldNum" sz="quarter" idx="12"/>
          </p:nvPr>
        </p:nvSpPr>
        <p:spPr/>
        <p:txBody>
          <a:bodyPr/>
          <a:lstStyle/>
          <a:p>
            <a:fld id="{2CBE2B4F-5529-40D4-B36A-0FBA2F374B7C}" type="slidenum">
              <a:rPr lang="en-IN" smtClean="0"/>
              <a:pPr/>
              <a:t>3</a:t>
            </a:fld>
            <a:endParaRPr lang="en-IN"/>
          </a:p>
        </p:txBody>
      </p:sp>
    </p:spTree>
    <p:extLst>
      <p:ext uri="{BB962C8B-B14F-4D97-AF65-F5344CB8AC3E}">
        <p14:creationId xmlns:p14="http://schemas.microsoft.com/office/powerpoint/2010/main" xmlns="" val="10535181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152400"/>
            <a:ext cx="9144000" cy="4062651"/>
          </a:xfrm>
          <a:prstGeom prst="rect">
            <a:avLst/>
          </a:prstGeom>
        </p:spPr>
        <p:txBody>
          <a:bodyPr wrap="square">
            <a:spAutoFit/>
          </a:bodyPr>
          <a:lstStyle/>
          <a:p>
            <a:r>
              <a:rPr lang="en-US" altLang="en-US" sz="2800" b="1" u="sng" dirty="0">
                <a:effectLst>
                  <a:outerShdw blurRad="38100" dist="38100" dir="2700000" algn="tl">
                    <a:srgbClr val="FFFFFF"/>
                  </a:outerShdw>
                </a:effectLst>
              </a:rPr>
              <a:t>Ways of Expressing Concentrations of </a:t>
            </a:r>
            <a:r>
              <a:rPr lang="en-US" altLang="en-US" sz="2800" b="1" u="sng" dirty="0" smtClean="0">
                <a:effectLst>
                  <a:outerShdw blurRad="38100" dist="38100" dir="2700000" algn="tl">
                    <a:srgbClr val="FFFFFF"/>
                  </a:outerShdw>
                </a:effectLst>
              </a:rPr>
              <a:t>Solutions</a:t>
            </a:r>
            <a:endParaRPr lang="en-US" altLang="en-US" sz="2000" b="1" dirty="0" smtClean="0"/>
          </a:p>
          <a:p>
            <a:r>
              <a:rPr lang="en-US" altLang="en-US" sz="2000" b="1" dirty="0" smtClean="0"/>
              <a:t>Molarity </a:t>
            </a:r>
            <a:r>
              <a:rPr lang="en-US" altLang="en-US" sz="2000" b="1" dirty="0"/>
              <a:t>(</a:t>
            </a:r>
            <a:r>
              <a:rPr lang="en-US" altLang="en-US" sz="2000" b="1" i="1" dirty="0"/>
              <a:t>M</a:t>
            </a:r>
            <a:r>
              <a:rPr lang="en-US" altLang="en-US" sz="2000" b="1" dirty="0" smtClean="0"/>
              <a:t>): It is defined as </a:t>
            </a:r>
            <a:r>
              <a:rPr lang="en-IN" altLang="en-US" sz="2000" dirty="0" smtClean="0"/>
              <a:t>t</a:t>
            </a:r>
            <a:r>
              <a:rPr lang="en-IN" sz="2000" dirty="0" smtClean="0"/>
              <a:t>he </a:t>
            </a:r>
            <a:r>
              <a:rPr lang="en-IN" sz="2000" dirty="0"/>
              <a:t>number of moles of solute in 1 L of solution;</a:t>
            </a:r>
          </a:p>
          <a:p>
            <a:r>
              <a:rPr lang="en-IN" sz="2000" dirty="0"/>
              <a:t>that </a:t>
            </a:r>
            <a:r>
              <a:rPr lang="en-IN" sz="2000" dirty="0" smtClean="0"/>
              <a:t>is </a:t>
            </a:r>
            <a:r>
              <a:rPr lang="en-US" altLang="en-US" sz="2000" dirty="0" smtClean="0"/>
              <a:t> </a:t>
            </a:r>
            <a:r>
              <a:rPr lang="en-US" altLang="en-US" dirty="0" smtClean="0"/>
              <a:t>(moles </a:t>
            </a:r>
            <a:r>
              <a:rPr lang="en-US" altLang="en-US" dirty="0"/>
              <a:t>of </a:t>
            </a:r>
            <a:r>
              <a:rPr lang="en-US" altLang="en-US" dirty="0" smtClean="0"/>
              <a:t>solute / L </a:t>
            </a:r>
            <a:r>
              <a:rPr lang="en-US" altLang="en-US" dirty="0"/>
              <a:t>of </a:t>
            </a:r>
            <a:r>
              <a:rPr lang="en-US" altLang="en-US" dirty="0" smtClean="0"/>
              <a:t>solution)</a:t>
            </a:r>
          </a:p>
          <a:p>
            <a:r>
              <a:rPr lang="en-IN" b="1" dirty="0" smtClean="0">
                <a:effectLst>
                  <a:outerShdw blurRad="38100" dist="38100" dir="2700000" algn="tl">
                    <a:srgbClr val="000000">
                      <a:alpha val="43137"/>
                    </a:srgbClr>
                  </a:outerShdw>
                </a:effectLst>
              </a:rPr>
              <a:t>The unit of </a:t>
            </a:r>
            <a:r>
              <a:rPr lang="en-IN" b="1" dirty="0" err="1" smtClean="0">
                <a:effectLst>
                  <a:outerShdw blurRad="38100" dist="38100" dir="2700000" algn="tl">
                    <a:srgbClr val="000000">
                      <a:alpha val="43137"/>
                    </a:srgbClr>
                  </a:outerShdw>
                </a:effectLst>
              </a:rPr>
              <a:t>molarity</a:t>
            </a:r>
            <a:r>
              <a:rPr lang="en-IN" b="1" dirty="0" smtClean="0">
                <a:effectLst>
                  <a:outerShdw blurRad="38100" dist="38100" dir="2700000" algn="tl">
                    <a:srgbClr val="000000">
                      <a:alpha val="43137"/>
                    </a:srgbClr>
                  </a:outerShdw>
                </a:effectLst>
              </a:rPr>
              <a:t> is mol litre</a:t>
            </a:r>
            <a:r>
              <a:rPr lang="en-IN" b="1" baseline="30000" dirty="0" smtClean="0">
                <a:effectLst>
                  <a:outerShdw blurRad="38100" dist="38100" dir="2700000" algn="tl">
                    <a:srgbClr val="000000">
                      <a:alpha val="43137"/>
                    </a:srgbClr>
                  </a:outerShdw>
                </a:effectLst>
              </a:rPr>
              <a:t>−1</a:t>
            </a:r>
            <a:r>
              <a:rPr lang="en-IN" b="1" dirty="0" smtClean="0">
                <a:effectLst>
                  <a:outerShdw blurRad="38100" dist="38100" dir="2700000" algn="tl">
                    <a:srgbClr val="000000">
                      <a:alpha val="43137"/>
                    </a:srgbClr>
                  </a:outerShdw>
                </a:effectLst>
              </a:rPr>
              <a:t> or mol dm</a:t>
            </a:r>
            <a:r>
              <a:rPr lang="en-IN" b="1" baseline="30000" dirty="0" smtClean="0">
                <a:effectLst>
                  <a:outerShdw blurRad="38100" dist="38100" dir="2700000" algn="tl">
                    <a:srgbClr val="000000">
                      <a:alpha val="43137"/>
                    </a:srgbClr>
                  </a:outerShdw>
                </a:effectLst>
              </a:rPr>
              <a:t>−3</a:t>
            </a:r>
            <a:endParaRPr lang="en-IN" b="1" dirty="0" smtClean="0">
              <a:effectLst>
                <a:outerShdw blurRad="38100" dist="38100" dir="2700000" algn="tl">
                  <a:srgbClr val="000000">
                    <a:alpha val="43137"/>
                  </a:srgbClr>
                </a:outerShdw>
              </a:effectLst>
            </a:endParaRPr>
          </a:p>
          <a:p>
            <a:pPr algn="ctr"/>
            <a:endParaRPr lang="en-US" altLang="en-US" dirty="0" smtClean="0"/>
          </a:p>
          <a:p>
            <a:endParaRPr lang="en-US" altLang="en-US" dirty="0" smtClean="0"/>
          </a:p>
          <a:p>
            <a:pPr algn="ctr"/>
            <a:endParaRPr lang="en-US" altLang="en-US" dirty="0" smtClean="0"/>
          </a:p>
          <a:p>
            <a:r>
              <a:rPr lang="en-US" altLang="en-US" sz="2000" b="1" dirty="0" smtClean="0"/>
              <a:t>Molality (</a:t>
            </a:r>
            <a:r>
              <a:rPr lang="en-US" altLang="en-US" sz="2000" b="1" i="1" dirty="0" smtClean="0"/>
              <a:t>m</a:t>
            </a:r>
            <a:r>
              <a:rPr lang="en-US" altLang="en-US" sz="2000" b="1" dirty="0" smtClean="0"/>
              <a:t>): </a:t>
            </a:r>
            <a:r>
              <a:rPr lang="en-IN" sz="2000" b="1" i="1" dirty="0"/>
              <a:t>Molality </a:t>
            </a:r>
            <a:r>
              <a:rPr lang="en-IN" sz="2000" dirty="0"/>
              <a:t>is </a:t>
            </a:r>
            <a:r>
              <a:rPr lang="en-IN" sz="2000" i="1" dirty="0"/>
              <a:t>the number of moles of solute dissolved in 1 kg (1000 g) of solvent</a:t>
            </a:r>
            <a:r>
              <a:rPr lang="en-IN" sz="2000" dirty="0"/>
              <a:t>—that is</a:t>
            </a:r>
            <a:r>
              <a:rPr lang="en-IN" sz="2000" dirty="0" smtClean="0"/>
              <a:t>,</a:t>
            </a:r>
            <a:r>
              <a:rPr lang="en-US" altLang="en-US" sz="2000" dirty="0"/>
              <a:t> </a:t>
            </a:r>
            <a:r>
              <a:rPr lang="en-US" altLang="en-US" sz="2000" dirty="0" smtClean="0"/>
              <a:t> (</a:t>
            </a:r>
            <a:r>
              <a:rPr lang="en-US" altLang="en-US" sz="2000" dirty="0"/>
              <a:t>moles of solute / kg of solvent)</a:t>
            </a:r>
          </a:p>
          <a:p>
            <a:pPr algn="ctr"/>
            <a:r>
              <a:rPr lang="en-US" altLang="en-US" sz="2000" dirty="0" smtClean="0"/>
              <a:t>      </a:t>
            </a:r>
            <a:r>
              <a:rPr lang="en-US" altLang="en-US" dirty="0" smtClean="0"/>
              <a:t>    </a:t>
            </a:r>
            <a:endParaRPr lang="en-US" altLang="en-US" sz="2000" dirty="0"/>
          </a:p>
          <a:p>
            <a:r>
              <a:rPr lang="en-US" altLang="en-US" sz="2000" b="1" dirty="0" smtClean="0"/>
              <a:t>Normality (</a:t>
            </a:r>
            <a:r>
              <a:rPr lang="en-US" altLang="en-US" sz="2000" b="1" i="1" dirty="0" smtClean="0"/>
              <a:t>N</a:t>
            </a:r>
            <a:r>
              <a:rPr lang="en-US" altLang="en-US" sz="2000" b="1" dirty="0" smtClean="0"/>
              <a:t>): </a:t>
            </a:r>
            <a:r>
              <a:rPr lang="en-IN" sz="2000" dirty="0"/>
              <a:t>the </a:t>
            </a:r>
            <a:r>
              <a:rPr lang="en-US" altLang="en-US" sz="2000" dirty="0"/>
              <a:t>gram equivalents </a:t>
            </a:r>
            <a:r>
              <a:rPr lang="en-IN" sz="2000" dirty="0" smtClean="0"/>
              <a:t>in </a:t>
            </a:r>
            <a:r>
              <a:rPr lang="en-IN" sz="2000" dirty="0"/>
              <a:t>1 L of solution</a:t>
            </a:r>
            <a:r>
              <a:rPr lang="en-IN" sz="2000" dirty="0" smtClean="0"/>
              <a:t>;</a:t>
            </a:r>
            <a:endParaRPr lang="en-US" altLang="en-US" sz="2000" b="1" dirty="0" smtClean="0"/>
          </a:p>
          <a:p>
            <a:pPr algn="ctr"/>
            <a:r>
              <a:rPr lang="en-US" altLang="en-US" sz="2000" dirty="0" smtClean="0"/>
              <a:t>                           </a:t>
            </a:r>
            <a:r>
              <a:rPr lang="en-US" altLang="en-US" dirty="0" smtClean="0"/>
              <a:t>(gram equivalents </a:t>
            </a:r>
            <a:r>
              <a:rPr lang="en-US" altLang="en-US" dirty="0"/>
              <a:t>of solute / L of solution)</a:t>
            </a:r>
          </a:p>
          <a:p>
            <a:endParaRPr lang="en-US" altLang="en-US" dirty="0"/>
          </a:p>
        </p:txBody>
      </p:sp>
      <p:sp>
        <p:nvSpPr>
          <p:cNvPr id="4" name="Slide Number Placeholder 3"/>
          <p:cNvSpPr>
            <a:spLocks noGrp="1"/>
          </p:cNvSpPr>
          <p:nvPr>
            <p:ph type="sldNum" sz="quarter" idx="12"/>
          </p:nvPr>
        </p:nvSpPr>
        <p:spPr/>
        <p:txBody>
          <a:bodyPr/>
          <a:lstStyle/>
          <a:p>
            <a:fld id="{2CBE2B4F-5529-40D4-B36A-0FBA2F374B7C}" type="slidenum">
              <a:rPr lang="en-IN" smtClean="0"/>
              <a:pPr/>
              <a:t>4</a:t>
            </a:fld>
            <a:endParaRPr lang="en-IN"/>
          </a:p>
        </p:txBody>
      </p:sp>
    </p:spTree>
    <p:extLst>
      <p:ext uri="{BB962C8B-B14F-4D97-AF65-F5344CB8AC3E}">
        <p14:creationId xmlns:p14="http://schemas.microsoft.com/office/powerpoint/2010/main" xmlns="" val="30050289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p:cNvSpPr>
            <a:spLocks noGrp="1"/>
          </p:cNvSpPr>
          <p:nvPr>
            <p:ph type="title"/>
          </p:nvPr>
        </p:nvSpPr>
        <p:spPr/>
        <p:txBody>
          <a:bodyPr/>
          <a:lstStyle/>
          <a:p>
            <a:pPr eaLnBrk="1" hangingPunct="1"/>
            <a:r>
              <a:rPr lang="en-US" dirty="0" smtClean="0">
                <a:solidFill>
                  <a:schemeClr val="tx1"/>
                </a:solidFill>
              </a:rPr>
              <a:t>Concentrations</a:t>
            </a:r>
          </a:p>
        </p:txBody>
      </p:sp>
      <p:graphicFrame>
        <p:nvGraphicFramePr>
          <p:cNvPr id="1026" name="Content Placeholder 8"/>
          <p:cNvGraphicFramePr>
            <a:graphicFrameLocks noChangeAspect="1"/>
          </p:cNvGraphicFramePr>
          <p:nvPr>
            <p:ph idx="1"/>
          </p:nvPr>
        </p:nvGraphicFramePr>
        <p:xfrm>
          <a:off x="1676400" y="1704975"/>
          <a:ext cx="6202363" cy="4619625"/>
        </p:xfrm>
        <a:graphic>
          <a:graphicData uri="http://schemas.openxmlformats.org/presentationml/2006/ole">
            <p:oleObj spid="_x0000_s2050" name="Equation" r:id="rId4" imgW="2387520" imgH="1777680" progId="Equation.3">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p:cNvSpPr>
            <a:spLocks noGrp="1"/>
          </p:cNvSpPr>
          <p:nvPr>
            <p:ph type="title"/>
          </p:nvPr>
        </p:nvSpPr>
        <p:spPr>
          <a:xfrm>
            <a:off x="228600" y="228600"/>
            <a:ext cx="8382000" cy="1066800"/>
          </a:xfrm>
        </p:spPr>
        <p:txBody>
          <a:bodyPr>
            <a:normAutofit fontScale="90000"/>
          </a:bodyPr>
          <a:lstStyle/>
          <a:p>
            <a:pPr eaLnBrk="1" hangingPunct="1"/>
            <a:r>
              <a:rPr lang="en-US" sz="3200" dirty="0" smtClean="0">
                <a:solidFill>
                  <a:schemeClr val="tx1"/>
                </a:solidFill>
              </a:rPr>
              <a:t>450.5g  silver nitrate (AgNO</a:t>
            </a:r>
            <a:r>
              <a:rPr lang="en-US" sz="3200" baseline="-25000" dirty="0" smtClean="0">
                <a:solidFill>
                  <a:schemeClr val="tx1"/>
                </a:solidFill>
              </a:rPr>
              <a:t>3</a:t>
            </a:r>
            <a:r>
              <a:rPr lang="en-US" sz="3200" dirty="0" smtClean="0">
                <a:solidFill>
                  <a:schemeClr val="tx1"/>
                </a:solidFill>
              </a:rPr>
              <a:t>) is  dissolved in 675mL of water. Calculate the </a:t>
            </a:r>
            <a:r>
              <a:rPr lang="en-US" sz="3200" dirty="0" err="1" smtClean="0">
                <a:solidFill>
                  <a:schemeClr val="tx1"/>
                </a:solidFill>
              </a:rPr>
              <a:t>molarity</a:t>
            </a:r>
            <a:r>
              <a:rPr lang="en-US" sz="3200" dirty="0" smtClean="0">
                <a:solidFill>
                  <a:schemeClr val="tx1"/>
                </a:solidFill>
              </a:rPr>
              <a:t> of the solution.</a:t>
            </a:r>
          </a:p>
        </p:txBody>
      </p:sp>
      <p:graphicFrame>
        <p:nvGraphicFramePr>
          <p:cNvPr id="2050" name="Content Placeholder 3"/>
          <p:cNvGraphicFramePr>
            <a:graphicFrameLocks noChangeAspect="1"/>
          </p:cNvGraphicFramePr>
          <p:nvPr>
            <p:ph idx="1"/>
          </p:nvPr>
        </p:nvGraphicFramePr>
        <p:xfrm>
          <a:off x="381000" y="2133600"/>
          <a:ext cx="8256588" cy="2667000"/>
        </p:xfrm>
        <a:graphic>
          <a:graphicData uri="http://schemas.openxmlformats.org/presentationml/2006/ole">
            <p:oleObj spid="_x0000_s1026" name="Equation" r:id="rId4" imgW="4089240" imgH="1320480" progId="Equation.3">
              <p:embed/>
            </p:oleObj>
          </a:graphicData>
        </a:graphic>
      </p:graphicFrame>
      <p:sp>
        <p:nvSpPr>
          <p:cNvPr id="4" name="Rectangle 3"/>
          <p:cNvSpPr/>
          <p:nvPr/>
        </p:nvSpPr>
        <p:spPr>
          <a:xfrm>
            <a:off x="609600" y="5144869"/>
            <a:ext cx="7924800" cy="646331"/>
          </a:xfrm>
          <a:prstGeom prst="rect">
            <a:avLst/>
          </a:prstGeom>
        </p:spPr>
        <p:txBody>
          <a:bodyPr wrap="square">
            <a:spAutoFit/>
          </a:bodyPr>
          <a:lstStyle/>
          <a:p>
            <a:r>
              <a:rPr lang="en-US" dirty="0" smtClean="0"/>
              <a:t>Chemical Formula: AgNO3</a:t>
            </a:r>
          </a:p>
          <a:p>
            <a:r>
              <a:rPr lang="en-US" dirty="0" smtClean="0"/>
              <a:t>Molecular Weight: 169.87</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to="" calcmode="lin" valueType="num">
                                      <p:cBhvr>
                                        <p:cTn id="7" dur="1" fill="hold"/>
                                        <p:tgtEl>
                                          <p:spTgt spid="205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CBE2B4F-5529-40D4-B36A-0FBA2F374B7C}" type="slidenum">
              <a:rPr lang="en-IN" smtClean="0"/>
              <a:pPr/>
              <a:t>7</a:t>
            </a:fld>
            <a:endParaRPr lang="en-IN"/>
          </a:p>
        </p:txBody>
      </p:sp>
      <p:sp>
        <p:nvSpPr>
          <p:cNvPr id="3" name="Content Placeholder 2"/>
          <p:cNvSpPr>
            <a:spLocks noGrp="1"/>
          </p:cNvSpPr>
          <p:nvPr>
            <p:ph sz="quarter" idx="1"/>
          </p:nvPr>
        </p:nvSpPr>
        <p:spPr>
          <a:xfrm>
            <a:off x="685800" y="533400"/>
            <a:ext cx="7637472" cy="3579849"/>
          </a:xfrm>
          <a:prstGeom prst="rect">
            <a:avLst/>
          </a:prstGeom>
        </p:spPr>
        <p:txBody>
          <a:bodyPr>
            <a:noAutofit/>
          </a:bodyPr>
          <a:lstStyle/>
          <a:p>
            <a:pPr algn="ctr"/>
            <a:r>
              <a:rPr lang="en-IN" sz="2800" dirty="0" smtClean="0"/>
              <a:t>RAOULT’S LAW</a:t>
            </a:r>
            <a:endParaRPr lang="en-IN" sz="2800" dirty="0"/>
          </a:p>
          <a:p>
            <a:pPr algn="just"/>
            <a:r>
              <a:rPr lang="en-IN" sz="2800" b="0" dirty="0" smtClean="0"/>
              <a:t>    Thus</a:t>
            </a:r>
            <a:r>
              <a:rPr lang="en-IN" sz="2800" b="0" dirty="0"/>
              <a:t>, the relationship between solution vapor </a:t>
            </a:r>
            <a:r>
              <a:rPr lang="en-IN" sz="2800" b="0" dirty="0" smtClean="0"/>
              <a:t>pressure and </a:t>
            </a:r>
            <a:r>
              <a:rPr lang="en-IN" sz="2800" b="0" dirty="0"/>
              <a:t>solvent vapor pressure depends on the concentration of the solute in the solution. This relationship is expressed by </a:t>
            </a:r>
            <a:r>
              <a:rPr lang="en-IN" sz="2800" b="0" i="1" dirty="0" err="1"/>
              <a:t>Raoult’s</a:t>
            </a:r>
            <a:r>
              <a:rPr lang="en-IN" sz="2800" b="0" dirty="0"/>
              <a:t> </a:t>
            </a:r>
            <a:r>
              <a:rPr lang="en-IN" sz="2800" b="0" i="1" dirty="0"/>
              <a:t>law, </a:t>
            </a:r>
          </a:p>
          <a:p>
            <a:pPr algn="just"/>
            <a:endParaRPr lang="en-IN" sz="2800" b="0" i="1" dirty="0"/>
          </a:p>
          <a:p>
            <a:pPr algn="just"/>
            <a:r>
              <a:rPr lang="en-IN" sz="2800" dirty="0" err="1" smtClean="0"/>
              <a:t>Raoult’s</a:t>
            </a:r>
            <a:r>
              <a:rPr lang="en-IN" sz="2800" dirty="0" smtClean="0"/>
              <a:t> Law: It </a:t>
            </a:r>
            <a:r>
              <a:rPr lang="en-IN" sz="2800" dirty="0"/>
              <a:t>states that </a:t>
            </a:r>
            <a:r>
              <a:rPr lang="en-IN" sz="2800" i="1" dirty="0"/>
              <a:t>the vapor pressure of a solvent </a:t>
            </a:r>
            <a:r>
              <a:rPr lang="en-IN" sz="2800" i="1" dirty="0" smtClean="0"/>
              <a:t>over a solution</a:t>
            </a:r>
            <a:r>
              <a:rPr lang="en-IN" sz="2800" i="1" dirty="0"/>
              <a:t>, </a:t>
            </a:r>
            <a:r>
              <a:rPr lang="en-US" altLang="en-US" sz="2800" i="1" dirty="0" smtClean="0"/>
              <a:t>P</a:t>
            </a:r>
            <a:r>
              <a:rPr lang="en-US" altLang="en-US" sz="2800" baseline="-25000" dirty="0" smtClean="0"/>
              <a:t>A </a:t>
            </a:r>
            <a:r>
              <a:rPr lang="en-IN" sz="2800" i="1" dirty="0" smtClean="0"/>
              <a:t>is </a:t>
            </a:r>
            <a:r>
              <a:rPr lang="en-IN" sz="2800" i="1" dirty="0"/>
              <a:t>given by the vapor pressure of the pure solvent, P</a:t>
            </a:r>
            <a:r>
              <a:rPr lang="en-IN" sz="2800" dirty="0"/>
              <a:t>°</a:t>
            </a:r>
            <a:r>
              <a:rPr lang="en-US" altLang="en-US" sz="2800" baseline="-25000" dirty="0">
                <a:sym typeface="Symbol" pitchFamily="18" charset="2"/>
              </a:rPr>
              <a:t>A</a:t>
            </a:r>
            <a:r>
              <a:rPr lang="en-IN" sz="2800" i="1" dirty="0"/>
              <a:t>, times the mole fraction of the solvent in the solution, </a:t>
            </a:r>
            <a:r>
              <a:rPr lang="en-US" altLang="en-US" sz="2800" dirty="0"/>
              <a:t>= </a:t>
            </a:r>
            <a:r>
              <a:rPr lang="en-US" altLang="en-US" sz="2800" i="1" dirty="0"/>
              <a:t>X</a:t>
            </a:r>
            <a:r>
              <a:rPr lang="en-US" altLang="en-US" sz="2800" baseline="-25000" dirty="0"/>
              <a:t>A</a:t>
            </a:r>
            <a:endParaRPr lang="en-IN" sz="2800" i="1" dirty="0"/>
          </a:p>
          <a:p>
            <a:endParaRPr lang="en-US" altLang="en-US" sz="1800" dirty="0"/>
          </a:p>
          <a:p>
            <a:endParaRPr lang="en-US" altLang="en-US" sz="1800" i="1" dirty="0" smtClean="0"/>
          </a:p>
          <a:p>
            <a:r>
              <a:rPr lang="en-US" altLang="en-US" sz="1800" dirty="0"/>
              <a:t>	</a:t>
            </a:r>
            <a:endParaRPr lang="en-IN" sz="1800" dirty="0"/>
          </a:p>
        </p:txBody>
      </p:sp>
      <p:sp>
        <p:nvSpPr>
          <p:cNvPr id="5" name="Rectangle 4"/>
          <p:cNvSpPr/>
          <p:nvPr/>
        </p:nvSpPr>
        <p:spPr>
          <a:xfrm>
            <a:off x="2403426" y="5219328"/>
            <a:ext cx="4464496" cy="648072"/>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en-US" sz="2400" b="1" i="1" dirty="0">
                <a:solidFill>
                  <a:schemeClr val="bg1"/>
                </a:solidFill>
              </a:rPr>
              <a:t>P</a:t>
            </a:r>
            <a:r>
              <a:rPr lang="en-US" altLang="en-US" sz="2400" b="1" baseline="-25000" dirty="0">
                <a:solidFill>
                  <a:schemeClr val="bg1"/>
                </a:solidFill>
              </a:rPr>
              <a:t>A</a:t>
            </a:r>
            <a:r>
              <a:rPr lang="en-US" altLang="en-US" sz="2400" b="1" dirty="0">
                <a:solidFill>
                  <a:schemeClr val="bg1"/>
                </a:solidFill>
              </a:rPr>
              <a:t> = </a:t>
            </a:r>
            <a:r>
              <a:rPr lang="en-US" altLang="en-US" sz="2400" b="1" i="1" dirty="0">
                <a:solidFill>
                  <a:schemeClr val="bg1"/>
                </a:solidFill>
              </a:rPr>
              <a:t>X</a:t>
            </a:r>
            <a:r>
              <a:rPr lang="en-US" altLang="en-US" sz="2400" b="1" baseline="-25000" dirty="0">
                <a:solidFill>
                  <a:schemeClr val="bg1"/>
                </a:solidFill>
              </a:rPr>
              <a:t>A</a:t>
            </a:r>
            <a:r>
              <a:rPr lang="en-US" altLang="en-US" sz="2400" b="1" i="1" dirty="0">
                <a:solidFill>
                  <a:schemeClr val="bg1"/>
                </a:solidFill>
              </a:rPr>
              <a:t>P</a:t>
            </a:r>
            <a:r>
              <a:rPr lang="en-US" altLang="en-US" sz="2400" b="1" dirty="0">
                <a:solidFill>
                  <a:schemeClr val="bg1"/>
                </a:solidFill>
                <a:sym typeface="Symbol" pitchFamily="18" charset="2"/>
              </a:rPr>
              <a:t></a:t>
            </a:r>
            <a:r>
              <a:rPr lang="en-US" altLang="en-US" sz="2400" b="1" baseline="-25000" dirty="0">
                <a:solidFill>
                  <a:schemeClr val="bg1"/>
                </a:solidFill>
                <a:sym typeface="Symbol" pitchFamily="18" charset="2"/>
              </a:rPr>
              <a:t>A</a:t>
            </a:r>
            <a:endParaRPr lang="en-US" altLang="en-US" sz="2400" b="1" dirty="0">
              <a:solidFill>
                <a:schemeClr val="bg1"/>
              </a:solidFill>
            </a:endParaRPr>
          </a:p>
        </p:txBody>
      </p:sp>
    </p:spTree>
    <p:extLst>
      <p:ext uri="{BB962C8B-B14F-4D97-AF65-F5344CB8AC3E}">
        <p14:creationId xmlns:p14="http://schemas.microsoft.com/office/powerpoint/2010/main" xmlns="" val="29546728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US" sz="7200" b="1" dirty="0" smtClean="0">
                <a:ln w="1905"/>
                <a:solidFill>
                  <a:schemeClr val="accent2">
                    <a:lumMod val="75000"/>
                  </a:schemeClr>
                </a:solidFill>
                <a:effectLst>
                  <a:innerShdw blurRad="69850" dist="43180" dir="5400000">
                    <a:srgbClr val="000000">
                      <a:alpha val="65000"/>
                    </a:srgbClr>
                  </a:innerShdw>
                </a:effectLst>
                <a:latin typeface="Agency FB" pitchFamily="34" charset="0"/>
                <a:cs typeface="Times New Roman" pitchFamily="18" charset="0"/>
              </a:rPr>
              <a:t>Solubility</a:t>
            </a:r>
          </a:p>
        </p:txBody>
      </p:sp>
      <p:sp>
        <p:nvSpPr>
          <p:cNvPr id="3" name="Content Placeholder 2"/>
          <p:cNvSpPr>
            <a:spLocks noGrp="1"/>
          </p:cNvSpPr>
          <p:nvPr>
            <p:ph idx="1"/>
          </p:nvPr>
        </p:nvSpPr>
        <p:spPr>
          <a:xfrm>
            <a:off x="457200" y="1219200"/>
            <a:ext cx="8686800" cy="4800600"/>
          </a:xfrm>
        </p:spPr>
        <p:txBody>
          <a:bodyPr>
            <a:normAutofit/>
          </a:bodyPr>
          <a:lstStyle/>
          <a:p>
            <a:pPr>
              <a:buFont typeface="Wingdings" pitchFamily="2" charset="2"/>
              <a:buChar char="Ø"/>
            </a:pPr>
            <a:r>
              <a:rPr lang="en-US" sz="2200" dirty="0" smtClean="0"/>
              <a:t>Maximum grams of solute that will dissolve in 100 g of solvent at a given temperature.</a:t>
            </a:r>
          </a:p>
          <a:p>
            <a:pPr>
              <a:buNone/>
            </a:pPr>
            <a:r>
              <a:rPr lang="en-US" sz="2200" dirty="0" smtClean="0">
                <a:solidFill>
                  <a:schemeClr val="accent2">
                    <a:lumMod val="50000"/>
                  </a:schemeClr>
                </a:solidFill>
              </a:rPr>
              <a:t>       		     </a:t>
            </a:r>
            <a:r>
              <a:rPr lang="en-US" sz="2200" b="1" dirty="0" smtClean="0">
                <a:solidFill>
                  <a:schemeClr val="accent2">
                    <a:lumMod val="50000"/>
                  </a:schemeClr>
                </a:solidFill>
              </a:rPr>
              <a:t>Solubility</a:t>
            </a:r>
            <a:r>
              <a:rPr lang="en-US" sz="2200" dirty="0" smtClean="0">
                <a:solidFill>
                  <a:schemeClr val="accent2">
                    <a:lumMod val="50000"/>
                  </a:schemeClr>
                </a:solidFill>
              </a:rPr>
              <a:t>= </a:t>
            </a:r>
            <a:endParaRPr lang="en-US" sz="2200" dirty="0">
              <a:solidFill>
                <a:schemeClr val="accent2">
                  <a:lumMod val="50000"/>
                </a:schemeClr>
              </a:solidFill>
            </a:endParaRPr>
          </a:p>
          <a:p>
            <a:pPr>
              <a:buFont typeface="Wingdings" pitchFamily="2" charset="2"/>
              <a:buChar char="Ø"/>
            </a:pPr>
            <a:r>
              <a:rPr lang="en-US" sz="2200" dirty="0" smtClean="0"/>
              <a:t> Varies with temperature</a:t>
            </a:r>
          </a:p>
          <a:p>
            <a:pPr>
              <a:buFont typeface="Wingdings" pitchFamily="2" charset="2"/>
              <a:buChar char="Ø"/>
            </a:pPr>
            <a:r>
              <a:rPr lang="en-US" sz="2200" dirty="0" smtClean="0"/>
              <a:t> Based on a saturated solution</a:t>
            </a:r>
          </a:p>
          <a:p>
            <a:pPr>
              <a:buFont typeface="Wingdings" pitchFamily="2" charset="2"/>
              <a:buChar char="Ø"/>
            </a:pPr>
            <a:endParaRPr lang="en-US" sz="2200" dirty="0"/>
          </a:p>
        </p:txBody>
      </p:sp>
      <p:sp>
        <p:nvSpPr>
          <p:cNvPr id="4" name="TextBox 3"/>
          <p:cNvSpPr txBox="1"/>
          <p:nvPr/>
        </p:nvSpPr>
        <p:spPr>
          <a:xfrm>
            <a:off x="4038600" y="1828800"/>
            <a:ext cx="2581156" cy="769441"/>
          </a:xfrm>
          <a:prstGeom prst="rect">
            <a:avLst/>
          </a:prstGeom>
          <a:noFill/>
          <a:ln w="19050">
            <a:noFill/>
          </a:ln>
        </p:spPr>
        <p:txBody>
          <a:bodyPr wrap="none" rtlCol="0">
            <a:spAutoFit/>
          </a:bodyPr>
          <a:lstStyle/>
          <a:p>
            <a:r>
              <a:rPr lang="en-US" sz="2200" b="1" dirty="0" smtClean="0"/>
              <a:t>   </a:t>
            </a:r>
            <a:r>
              <a:rPr lang="en-US" sz="2200" b="1" dirty="0" smtClean="0">
                <a:solidFill>
                  <a:schemeClr val="accent2">
                    <a:lumMod val="50000"/>
                  </a:schemeClr>
                </a:solidFill>
              </a:rPr>
              <a:t>Gram of solute</a:t>
            </a:r>
          </a:p>
          <a:p>
            <a:r>
              <a:rPr lang="en-US" sz="2200" b="1" dirty="0" smtClean="0"/>
              <a:t>    </a:t>
            </a:r>
            <a:r>
              <a:rPr lang="en-US" sz="2200" b="1" dirty="0" smtClean="0">
                <a:solidFill>
                  <a:schemeClr val="accent2">
                    <a:lumMod val="50000"/>
                  </a:schemeClr>
                </a:solidFill>
              </a:rPr>
              <a:t>100 g of Water</a:t>
            </a:r>
            <a:endParaRPr lang="en-US" sz="2200" b="1" dirty="0">
              <a:solidFill>
                <a:schemeClr val="accent2">
                  <a:lumMod val="50000"/>
                </a:schemeClr>
              </a:solidFill>
            </a:endParaRPr>
          </a:p>
        </p:txBody>
      </p:sp>
      <p:cxnSp>
        <p:nvCxnSpPr>
          <p:cNvPr id="6" name="Straight Connector 5"/>
          <p:cNvCxnSpPr/>
          <p:nvPr/>
        </p:nvCxnSpPr>
        <p:spPr>
          <a:xfrm>
            <a:off x="4343400" y="2209800"/>
            <a:ext cx="2057400" cy="1588"/>
          </a:xfrm>
          <a:prstGeom prst="line">
            <a:avLst/>
          </a:prstGeom>
          <a:ln w="19050">
            <a:solidFill>
              <a:schemeClr val="accent2">
                <a:lumMod val="50000"/>
              </a:schemeClr>
            </a:solidFill>
          </a:ln>
        </p:spPr>
        <p:style>
          <a:lnRef idx="3">
            <a:schemeClr val="accent6"/>
          </a:lnRef>
          <a:fillRef idx="0">
            <a:schemeClr val="accent6"/>
          </a:fillRef>
          <a:effectRef idx="2">
            <a:schemeClr val="accent6"/>
          </a:effectRef>
          <a:fontRef idx="minor">
            <a:schemeClr val="tx1"/>
          </a:fontRef>
        </p:style>
      </p:cxnSp>
      <p:sp>
        <p:nvSpPr>
          <p:cNvPr id="8" name="Content Placeholder 2"/>
          <p:cNvSpPr txBox="1">
            <a:spLocks/>
          </p:cNvSpPr>
          <p:nvPr/>
        </p:nvSpPr>
        <p:spPr>
          <a:xfrm>
            <a:off x="457200" y="3200400"/>
            <a:ext cx="4876800" cy="36576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The bond between solubility and temperature can be expressed by a solubility curve. The solubility curves of several compounds are shown on the right. Such curves disclose the maximum amount of solute that can be dissolved in 100 grams of water over a range of temperatures.</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The solubility of most compounds increases as temperature increases, although exceptions do exist.</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9" name="Picture 2" descr="http://www.saskschools.ca/curr_content/chem30_05/graphics/4_graphics/sol_curve.jpg"/>
          <p:cNvPicPr>
            <a:picLocks noChangeAspect="1" noChangeArrowheads="1"/>
          </p:cNvPicPr>
          <p:nvPr/>
        </p:nvPicPr>
        <p:blipFill>
          <a:blip r:embed="rId2" cstate="print">
            <a:clrChange>
              <a:clrFrom>
                <a:srgbClr val="FFFFFF"/>
              </a:clrFrom>
              <a:clrTo>
                <a:srgbClr val="FFFFFF">
                  <a:alpha val="0"/>
                </a:srgbClr>
              </a:clrTo>
            </a:clrChange>
            <a:lum bright="-40000" contrast="40000"/>
          </a:blip>
          <a:srcRect l="1231" t="4813" r="8923" b="4693"/>
          <a:stretch>
            <a:fillRect/>
          </a:stretch>
        </p:blipFill>
        <p:spPr bwMode="auto">
          <a:xfrm>
            <a:off x="5486400" y="2710435"/>
            <a:ext cx="3448455" cy="4071365"/>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457200"/>
            <a:ext cx="3048000" cy="533400"/>
          </a:xfrm>
        </p:spPr>
        <p:txBody>
          <a:bodyPr>
            <a:normAutofit fontScale="90000"/>
          </a:bodyPr>
          <a:lstStyle/>
          <a:p>
            <a:r>
              <a:rPr lang="en-US" altLang="en-US" b="1" dirty="0" err="1">
                <a:solidFill>
                  <a:schemeClr val="tx1"/>
                </a:solidFill>
              </a:rPr>
              <a:t>Raoult’s</a:t>
            </a:r>
            <a:r>
              <a:rPr lang="en-US" altLang="en-US" b="1" dirty="0">
                <a:solidFill>
                  <a:schemeClr val="tx1"/>
                </a:solidFill>
              </a:rPr>
              <a:t> </a:t>
            </a:r>
            <a:r>
              <a:rPr lang="en-US" altLang="en-US" b="1" dirty="0" smtClean="0">
                <a:solidFill>
                  <a:schemeClr val="tx1"/>
                </a:solidFill>
              </a:rPr>
              <a:t>Law</a:t>
            </a:r>
            <a:endParaRPr lang="en-IN" b="1" dirty="0">
              <a:solidFill>
                <a:schemeClr val="tx1"/>
              </a:solidFill>
            </a:endParaRPr>
          </a:p>
        </p:txBody>
      </p:sp>
      <p:sp>
        <p:nvSpPr>
          <p:cNvPr id="5" name="Slide Number Placeholder 4"/>
          <p:cNvSpPr>
            <a:spLocks noGrp="1"/>
          </p:cNvSpPr>
          <p:nvPr>
            <p:ph type="sldNum" sz="quarter" idx="12"/>
          </p:nvPr>
        </p:nvSpPr>
        <p:spPr/>
        <p:txBody>
          <a:bodyPr/>
          <a:lstStyle/>
          <a:p>
            <a:fld id="{2CBE2B4F-5529-40D4-B36A-0FBA2F374B7C}" type="slidenum">
              <a:rPr lang="en-IN" smtClean="0"/>
              <a:pPr/>
              <a:t>9</a:t>
            </a:fld>
            <a:endParaRPr lang="en-IN"/>
          </a:p>
        </p:txBody>
      </p:sp>
      <p:sp>
        <p:nvSpPr>
          <p:cNvPr id="3" name="Content Placeholder 2"/>
          <p:cNvSpPr>
            <a:spLocks noGrp="1"/>
          </p:cNvSpPr>
          <p:nvPr>
            <p:ph sz="quarter" idx="1"/>
          </p:nvPr>
        </p:nvSpPr>
        <p:spPr/>
        <p:txBody>
          <a:bodyPr/>
          <a:lstStyle/>
          <a:p>
            <a:r>
              <a:rPr lang="en-IN" b="0" dirty="0" smtClean="0"/>
              <a:t>There </a:t>
            </a:r>
            <a:r>
              <a:rPr lang="en-IN" b="0" dirty="0"/>
              <a:t>are two cases we can consider</a:t>
            </a:r>
            <a:r>
              <a:rPr lang="en-IN" b="0" dirty="0" smtClean="0"/>
              <a:t>.</a:t>
            </a:r>
          </a:p>
          <a:p>
            <a:endParaRPr lang="en-IN" b="0" dirty="0"/>
          </a:p>
          <a:p>
            <a:pPr>
              <a:buAutoNum type="arabicPeriod"/>
            </a:pPr>
            <a:r>
              <a:rPr lang="en-IN" b="0" dirty="0" smtClean="0"/>
              <a:t>Volatile </a:t>
            </a:r>
            <a:r>
              <a:rPr lang="en-IN" b="0" dirty="0"/>
              <a:t>solute – both solvent and solute are found </a:t>
            </a:r>
            <a:r>
              <a:rPr lang="en-IN" b="0" dirty="0" smtClean="0"/>
              <a:t>in the </a:t>
            </a:r>
            <a:r>
              <a:rPr lang="en-IN" b="0" dirty="0"/>
              <a:t>vapor above the solution. A solution of ethanol </a:t>
            </a:r>
            <a:r>
              <a:rPr lang="en-IN" b="0" dirty="0" smtClean="0"/>
              <a:t>in is </a:t>
            </a:r>
            <a:r>
              <a:rPr lang="en-IN" b="0" dirty="0"/>
              <a:t>an example</a:t>
            </a:r>
            <a:r>
              <a:rPr lang="en-IN" b="0" dirty="0" smtClean="0"/>
              <a:t>.</a:t>
            </a:r>
          </a:p>
          <a:p>
            <a:pPr marL="0" indent="0"/>
            <a:endParaRPr lang="en-IN" b="0" dirty="0"/>
          </a:p>
          <a:p>
            <a:r>
              <a:rPr lang="en-IN" b="0" dirty="0" smtClean="0"/>
              <a:t>2</a:t>
            </a:r>
            <a:r>
              <a:rPr lang="en-IN" b="0" dirty="0"/>
              <a:t>. Non-volatile solute – only the solvent has a </a:t>
            </a:r>
            <a:r>
              <a:rPr lang="en-IN" b="0" dirty="0" smtClean="0"/>
              <a:t>vapor pressure</a:t>
            </a:r>
            <a:r>
              <a:rPr lang="en-IN" b="0" dirty="0"/>
              <a:t>. The solute does not contribute to the </a:t>
            </a:r>
            <a:r>
              <a:rPr lang="en-IN" b="0" dirty="0" smtClean="0"/>
              <a:t>pressure so </a:t>
            </a:r>
            <a:r>
              <a:rPr lang="en-IN" b="0" dirty="0"/>
              <a:t>there is a “vapor pressure lowering”.</a:t>
            </a:r>
            <a:endParaRPr lang="en-IN" dirty="0"/>
          </a:p>
          <a:p>
            <a:endParaRPr lang="en-IN" b="0" dirty="0"/>
          </a:p>
          <a:p>
            <a:endParaRPr lang="en-IN" b="0" dirty="0"/>
          </a:p>
        </p:txBody>
      </p:sp>
    </p:spTree>
    <p:extLst>
      <p:ext uri="{BB962C8B-B14F-4D97-AF65-F5344CB8AC3E}">
        <p14:creationId xmlns:p14="http://schemas.microsoft.com/office/powerpoint/2010/main" xmlns="" val="609988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81000" y="76200"/>
            <a:ext cx="4267200" cy="1524000"/>
          </a:xfrm>
        </p:spPr>
        <p:txBody>
          <a:bodyPr>
            <a:norm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l"/>
            <a:r>
              <a:rPr lang="en-US" sz="3200" b="1" u="sng"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Ideal Solution</a:t>
            </a:r>
            <a:r>
              <a:rPr lang="en-US" sz="3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r>
            <a:br>
              <a:rPr lang="en-US" sz="3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2800" dirty="0"/>
              <a:t>...a solution that obeys Raoult’s law</a:t>
            </a:r>
            <a:endParaRPr lang="en-US" sz="3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26627" name="Picture 3" descr="7522n11_11"/>
          <p:cNvPicPr>
            <a:picLocks noChangeAspect="1" noChangeArrowheads="1"/>
          </p:cNvPicPr>
          <p:nvPr/>
        </p:nvPicPr>
        <p:blipFill>
          <a:blip r:embed="rId2" cstate="print">
            <a:clrChange>
              <a:clrFrom>
                <a:srgbClr val="FFFFFF"/>
              </a:clrFrom>
              <a:clrTo>
                <a:srgbClr val="FFFFFF">
                  <a:alpha val="0"/>
                </a:srgbClr>
              </a:clrTo>
            </a:clrChange>
            <a:lum bright="-62000" contrast="40000"/>
          </a:blip>
          <a:srcRect/>
          <a:stretch>
            <a:fillRect/>
          </a:stretch>
        </p:blipFill>
        <p:spPr bwMode="auto">
          <a:xfrm>
            <a:off x="4278313" y="1582737"/>
            <a:ext cx="4632325" cy="5275263"/>
          </a:xfrm>
          <a:prstGeom prst="rect">
            <a:avLst/>
          </a:prstGeom>
          <a:noFill/>
        </p:spPr>
      </p:pic>
      <p:sp>
        <p:nvSpPr>
          <p:cNvPr id="26629" name="Rectangle 5"/>
          <p:cNvSpPr>
            <a:spLocks noChangeArrowheads="1"/>
          </p:cNvSpPr>
          <p:nvPr/>
        </p:nvSpPr>
        <p:spPr bwMode="auto">
          <a:xfrm>
            <a:off x="304800" y="1752600"/>
            <a:ext cx="3962400" cy="51911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spcBef>
                <a:spcPct val="20000"/>
              </a:spcBef>
              <a:buClr>
                <a:schemeClr val="tx2"/>
              </a:buClr>
            </a:pPr>
            <a:r>
              <a:rPr lang="en-US" sz="2800" b="1" i="1" dirty="0">
                <a:solidFill>
                  <a:srgbClr val="FE9B03"/>
                </a:solidFill>
              </a:rPr>
              <a:t>P</a:t>
            </a:r>
            <a:r>
              <a:rPr lang="en-US" sz="2800" b="1" baseline="-25000" dirty="0">
                <a:solidFill>
                  <a:srgbClr val="FE9B03"/>
                </a:solidFill>
              </a:rPr>
              <a:t>soln</a:t>
            </a:r>
            <a:r>
              <a:rPr lang="en-US" sz="2800" b="1" dirty="0">
                <a:solidFill>
                  <a:srgbClr val="FE9B03"/>
                </a:solidFill>
              </a:rPr>
              <a:t> </a:t>
            </a:r>
            <a:r>
              <a:rPr lang="en-US" sz="2800" b="1" dirty="0">
                <a:solidFill>
                  <a:schemeClr val="tx1"/>
                </a:solidFill>
              </a:rPr>
              <a:t>= </a:t>
            </a:r>
            <a:r>
              <a:rPr lang="en-US" sz="2800" b="1" dirty="0">
                <a:solidFill>
                  <a:srgbClr val="C00000"/>
                </a:solidFill>
                <a:latin typeface="Symbol" pitchFamily="18" charset="2"/>
              </a:rPr>
              <a:t></a:t>
            </a:r>
            <a:r>
              <a:rPr lang="en-US" sz="2800" b="1" baseline="-25000" dirty="0">
                <a:solidFill>
                  <a:srgbClr val="C00000"/>
                </a:solidFill>
              </a:rPr>
              <a:t>solvent</a:t>
            </a:r>
            <a:r>
              <a:rPr lang="en-US" sz="2800" b="1" i="1" dirty="0">
                <a:solidFill>
                  <a:schemeClr val="tx1">
                    <a:lumMod val="50000"/>
                    <a:lumOff val="50000"/>
                  </a:schemeClr>
                </a:solidFill>
              </a:rPr>
              <a:t>P</a:t>
            </a:r>
            <a:r>
              <a:rPr lang="en-US" sz="2800" b="1" dirty="0">
                <a:solidFill>
                  <a:schemeClr val="tx2"/>
                </a:solidFill>
                <a:latin typeface="Symbol" pitchFamily="18" charset="2"/>
              </a:rPr>
              <a:t></a:t>
            </a:r>
            <a:r>
              <a:rPr lang="en-US" sz="2800" b="1" baseline="-25000" dirty="0">
                <a:solidFill>
                  <a:schemeClr val="tx2"/>
                </a:solidFill>
              </a:rPr>
              <a:t>solvent</a:t>
            </a:r>
          </a:p>
        </p:txBody>
      </p:sp>
      <p:sp>
        <p:nvSpPr>
          <p:cNvPr id="26630" name="Text Box 6"/>
          <p:cNvSpPr txBox="1">
            <a:spLocks noChangeArrowheads="1"/>
          </p:cNvSpPr>
          <p:nvPr/>
        </p:nvSpPr>
        <p:spPr bwMode="auto">
          <a:xfrm>
            <a:off x="5181600" y="746125"/>
            <a:ext cx="3962400" cy="701675"/>
          </a:xfrm>
          <a:prstGeom prst="rect">
            <a:avLst/>
          </a:prstGeom>
          <a:noFill/>
          <a:ln w="12700">
            <a:noFill/>
            <a:miter lim="800000"/>
            <a:headEnd/>
            <a:tailEnd/>
          </a:ln>
          <a:effectLst/>
        </p:spPr>
        <p:txBody>
          <a:bodyPr wrap="square">
            <a:spAutoFit/>
          </a:bodyPr>
          <a:lstStyle/>
          <a:p>
            <a:r>
              <a:rPr lang="en-US" sz="2000" dirty="0">
                <a:solidFill>
                  <a:schemeClr val="tx2"/>
                </a:solidFill>
              </a:rPr>
              <a:t>Vapor Pressure of a Solution Containing a Nonvolatile Solute</a:t>
            </a:r>
          </a:p>
        </p:txBody>
      </p:sp>
      <p:sp>
        <p:nvSpPr>
          <p:cNvPr id="26631" name="Text Box 7"/>
          <p:cNvSpPr txBox="1">
            <a:spLocks noChangeArrowheads="1"/>
          </p:cNvSpPr>
          <p:nvPr/>
        </p:nvSpPr>
        <p:spPr bwMode="auto">
          <a:xfrm>
            <a:off x="228600" y="2514600"/>
            <a:ext cx="3978275" cy="3870325"/>
          </a:xfrm>
          <a:prstGeom prst="rect">
            <a:avLst/>
          </a:prstGeom>
          <a:noFill/>
          <a:ln w="12700">
            <a:noFill/>
            <a:miter lim="800000"/>
            <a:headEnd/>
            <a:tailEnd/>
          </a:ln>
          <a:effectLst/>
        </p:spPr>
        <p:txBody>
          <a:bodyPr>
            <a:spAutoFit/>
          </a:bodyPr>
          <a:lstStyle/>
          <a:p>
            <a:r>
              <a:rPr lang="en-US" b="1" dirty="0"/>
              <a:t>Ideal solutions</a:t>
            </a:r>
          </a:p>
          <a:p>
            <a:pPr marL="339725" lvl="1" indent="-225425">
              <a:buFontTx/>
              <a:buChar char="•"/>
            </a:pPr>
            <a:r>
              <a:rPr lang="en-US" sz="2000" dirty="0"/>
              <a:t>obey Raoult’s law exactly</a:t>
            </a:r>
          </a:p>
          <a:p>
            <a:pPr marL="339725" lvl="1" indent="-225425">
              <a:buFontTx/>
              <a:buChar char="•"/>
            </a:pPr>
            <a:r>
              <a:rPr lang="en-US" sz="2000" dirty="0"/>
              <a:t>solute-solute, solvent-solvent, and solute-solvent interactions are identical</a:t>
            </a:r>
          </a:p>
          <a:p>
            <a:pPr marL="339725" lvl="1" indent="-225425">
              <a:buFontTx/>
              <a:buChar char="•"/>
            </a:pPr>
            <a:r>
              <a:rPr lang="en-US" sz="2000" dirty="0"/>
              <a:t>do not exist</a:t>
            </a:r>
          </a:p>
          <a:p>
            <a:pPr marL="339725" lvl="1" indent="-225425">
              <a:buFontTx/>
              <a:buChar char="•"/>
            </a:pPr>
            <a:endParaRPr lang="en-US" sz="2000" dirty="0"/>
          </a:p>
          <a:p>
            <a:r>
              <a:rPr lang="en-US" b="1" dirty="0"/>
              <a:t>Real Solutions</a:t>
            </a:r>
          </a:p>
          <a:p>
            <a:pPr marL="339725" lvl="1" indent="-225425">
              <a:buFontTx/>
              <a:buChar char="•"/>
            </a:pPr>
            <a:r>
              <a:rPr lang="en-US" sz="2000" dirty="0"/>
              <a:t>are nonideal</a:t>
            </a:r>
          </a:p>
          <a:p>
            <a:pPr marL="339725" lvl="1" indent="-225425">
              <a:buFontTx/>
              <a:buChar char="•"/>
            </a:pPr>
            <a:r>
              <a:rPr lang="en-US" sz="2000" dirty="0"/>
              <a:t>may approach ideal behavior if solute and solvent are similar</a:t>
            </a:r>
          </a:p>
          <a:p>
            <a:pPr marL="339725" lvl="1" indent="-225425">
              <a:buFontTx/>
              <a:buChar char="•"/>
            </a:pPr>
            <a:r>
              <a:rPr lang="en-US" sz="2000" dirty="0"/>
              <a:t>Example:  sucrose in water</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6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26631">
                                            <p:txEl>
                                              <p:pRg st="0" end="0"/>
                                            </p:txEl>
                                          </p:spTgt>
                                        </p:tgtEl>
                                        <p:attrNameLst>
                                          <p:attrName>style.visibility</p:attrName>
                                        </p:attrNameLst>
                                      </p:cBhvr>
                                      <p:to>
                                        <p:strVal val="visible"/>
                                      </p:to>
                                    </p:set>
                                    <p:animEffect transition="in" filter="checkerboard(across)">
                                      <p:cBhvr>
                                        <p:cTn id="11" dur="500"/>
                                        <p:tgtEl>
                                          <p:spTgt spid="26631">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26631">
                                            <p:txEl>
                                              <p:pRg st="1" end="1"/>
                                            </p:txEl>
                                          </p:spTgt>
                                        </p:tgtEl>
                                        <p:attrNameLst>
                                          <p:attrName>style.visibility</p:attrName>
                                        </p:attrNameLst>
                                      </p:cBhvr>
                                      <p:to>
                                        <p:strVal val="visible"/>
                                      </p:to>
                                    </p:set>
                                    <p:animEffect transition="in" filter="checkerboard(across)">
                                      <p:cBhvr>
                                        <p:cTn id="16" dur="500"/>
                                        <p:tgtEl>
                                          <p:spTgt spid="26631">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26631">
                                            <p:txEl>
                                              <p:pRg st="2" end="2"/>
                                            </p:txEl>
                                          </p:spTgt>
                                        </p:tgtEl>
                                        <p:attrNameLst>
                                          <p:attrName>style.visibility</p:attrName>
                                        </p:attrNameLst>
                                      </p:cBhvr>
                                      <p:to>
                                        <p:strVal val="visible"/>
                                      </p:to>
                                    </p:set>
                                    <p:animEffect transition="in" filter="checkerboard(across)">
                                      <p:cBhvr>
                                        <p:cTn id="21" dur="500"/>
                                        <p:tgtEl>
                                          <p:spTgt spid="26631">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26631">
                                            <p:txEl>
                                              <p:pRg st="3" end="3"/>
                                            </p:txEl>
                                          </p:spTgt>
                                        </p:tgtEl>
                                        <p:attrNameLst>
                                          <p:attrName>style.visibility</p:attrName>
                                        </p:attrNameLst>
                                      </p:cBhvr>
                                      <p:to>
                                        <p:strVal val="visible"/>
                                      </p:to>
                                    </p:set>
                                    <p:animEffect transition="in" filter="checkerboard(across)">
                                      <p:cBhvr>
                                        <p:cTn id="26" dur="500"/>
                                        <p:tgtEl>
                                          <p:spTgt spid="2663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26631">
                                            <p:txEl>
                                              <p:pRg st="5" end="5"/>
                                            </p:txEl>
                                          </p:spTgt>
                                        </p:tgtEl>
                                        <p:attrNameLst>
                                          <p:attrName>style.visibility</p:attrName>
                                        </p:attrNameLst>
                                      </p:cBhvr>
                                      <p:to>
                                        <p:strVal val="visible"/>
                                      </p:to>
                                    </p:set>
                                    <p:animEffect transition="in" filter="checkerboard(across)">
                                      <p:cBhvr>
                                        <p:cTn id="31" dur="500"/>
                                        <p:tgtEl>
                                          <p:spTgt spid="26631">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26631">
                                            <p:txEl>
                                              <p:pRg st="6" end="6"/>
                                            </p:txEl>
                                          </p:spTgt>
                                        </p:tgtEl>
                                        <p:attrNameLst>
                                          <p:attrName>style.visibility</p:attrName>
                                        </p:attrNameLst>
                                      </p:cBhvr>
                                      <p:to>
                                        <p:strVal val="visible"/>
                                      </p:to>
                                    </p:set>
                                    <p:animEffect transition="in" filter="checkerboard(across)">
                                      <p:cBhvr>
                                        <p:cTn id="36" dur="500"/>
                                        <p:tgtEl>
                                          <p:spTgt spid="26631">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26631">
                                            <p:txEl>
                                              <p:pRg st="7" end="7"/>
                                            </p:txEl>
                                          </p:spTgt>
                                        </p:tgtEl>
                                        <p:attrNameLst>
                                          <p:attrName>style.visibility</p:attrName>
                                        </p:attrNameLst>
                                      </p:cBhvr>
                                      <p:to>
                                        <p:strVal val="visible"/>
                                      </p:to>
                                    </p:set>
                                    <p:animEffect transition="in" filter="checkerboard(across)">
                                      <p:cBhvr>
                                        <p:cTn id="41" dur="500"/>
                                        <p:tgtEl>
                                          <p:spTgt spid="26631">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26631">
                                            <p:txEl>
                                              <p:pRg st="8" end="8"/>
                                            </p:txEl>
                                          </p:spTgt>
                                        </p:tgtEl>
                                        <p:attrNameLst>
                                          <p:attrName>style.visibility</p:attrName>
                                        </p:attrNameLst>
                                      </p:cBhvr>
                                      <p:to>
                                        <p:strVal val="visible"/>
                                      </p:to>
                                    </p:set>
                                    <p:animEffect transition="in" filter="checkerboard(across)">
                                      <p:cBhvr>
                                        <p:cTn id="46" dur="500"/>
                                        <p:tgtEl>
                                          <p:spTgt spid="266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animBg="1" autoUpdateAnimBg="0"/>
      <p:bldP spid="26631" grpId="0" build="p" bldLvl="2"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SHARDA PUBLIC SCHOOL, ALMORA </a:t>
            </a:r>
            <a:endParaRPr lang="en-IN"/>
          </a:p>
        </p:txBody>
      </p:sp>
      <p:sp>
        <p:nvSpPr>
          <p:cNvPr id="4" name="Slide Number Placeholder 3"/>
          <p:cNvSpPr>
            <a:spLocks noGrp="1"/>
          </p:cNvSpPr>
          <p:nvPr>
            <p:ph type="sldNum" sz="quarter" idx="12"/>
          </p:nvPr>
        </p:nvSpPr>
        <p:spPr/>
        <p:txBody>
          <a:bodyPr/>
          <a:lstStyle/>
          <a:p>
            <a:fld id="{2CBE2B4F-5529-40D4-B36A-0FBA2F374B7C}" type="slidenum">
              <a:rPr lang="en-IN" smtClean="0"/>
              <a:pPr/>
              <a:t>11</a:t>
            </a:fld>
            <a:endParaRPr lang="en-IN"/>
          </a:p>
        </p:txBody>
      </p:sp>
      <p:pic>
        <p:nvPicPr>
          <p:cNvPr id="2050" name="Picture 2"/>
          <p:cNvPicPr>
            <a:picLocks noChangeAspect="1" noChangeArrowheads="1"/>
          </p:cNvPicPr>
          <p:nvPr/>
        </p:nvPicPr>
        <p:blipFill>
          <a:blip r:embed="rId2" cstate="print"/>
          <a:srcRect/>
          <a:stretch>
            <a:fillRect/>
          </a:stretch>
        </p:blipFill>
        <p:spPr bwMode="auto">
          <a:xfrm>
            <a:off x="228600" y="381000"/>
            <a:ext cx="8305800" cy="62293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algn="ctr"/>
            <a:r>
              <a:rPr lang="en-IN" b="1" dirty="0" smtClean="0">
                <a:effectLst>
                  <a:outerShdw blurRad="38100" dist="38100" dir="2700000" algn="tl">
                    <a:srgbClr val="000000">
                      <a:alpha val="43137"/>
                    </a:srgbClr>
                  </a:outerShdw>
                </a:effectLst>
                <a:latin typeface="Cooper Black" pitchFamily="18" charset="0"/>
              </a:rPr>
              <a:t>Derivation Of Raoult’s Law For A Dilute Solution</a:t>
            </a:r>
            <a:endParaRPr lang="en-IN" dirty="0">
              <a:effectLst>
                <a:outerShdw blurRad="38100" dist="38100" dir="2700000" algn="tl">
                  <a:srgbClr val="000000">
                    <a:alpha val="43137"/>
                  </a:srgbClr>
                </a:outerShdw>
              </a:effectLst>
              <a:latin typeface="Cooper Black" pitchFamily="18" charset="0"/>
            </a:endParaRPr>
          </a:p>
        </p:txBody>
      </p:sp>
      <p:sp>
        <p:nvSpPr>
          <p:cNvPr id="5" name="Content Placeholder 4"/>
          <p:cNvSpPr>
            <a:spLocks noGrp="1"/>
          </p:cNvSpPr>
          <p:nvPr>
            <p:ph idx="1"/>
          </p:nvPr>
        </p:nvSpPr>
        <p:spPr/>
        <p:txBody>
          <a:bodyPr>
            <a:normAutofit/>
          </a:bodyPr>
          <a:lstStyle/>
          <a:p>
            <a:r>
              <a:rPr lang="en-IN" sz="3200" b="1" dirty="0" smtClean="0">
                <a:effectLst>
                  <a:outerShdw blurRad="38100" dist="38100" dir="2700000" algn="tl">
                    <a:srgbClr val="000000">
                      <a:alpha val="43137"/>
                    </a:srgbClr>
                  </a:outerShdw>
                </a:effectLst>
              </a:rPr>
              <a:t>It states that the relative lowering in vapour pressure of a dil. soln. is equal to mole fraction of the solute present in the soln.</a:t>
            </a:r>
          </a:p>
          <a:p>
            <a:r>
              <a:rPr lang="en-IN" sz="3200" b="1" dirty="0" smtClean="0">
                <a:effectLst>
                  <a:outerShdw blurRad="38100" dist="38100" dir="2700000" algn="tl">
                    <a:srgbClr val="000000">
                      <a:alpha val="43137"/>
                    </a:srgbClr>
                  </a:outerShdw>
                </a:effectLst>
              </a:rPr>
              <a:t>If n moles of solute be dissolved in N moles of the solvent, the mole fraction of the solute will be n/n+N.</a:t>
            </a:r>
          </a:p>
          <a:p>
            <a:endParaRPr lang="en-IN" dirty="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763000" cy="5867400"/>
          </a:xfrm>
        </p:spPr>
        <p:txBody>
          <a:bodyPr>
            <a:normAutofit/>
          </a:bodyPr>
          <a:lstStyle/>
          <a:p>
            <a:r>
              <a:rPr lang="en-IN" sz="4000" b="1" dirty="0" smtClean="0">
                <a:effectLst>
                  <a:outerShdw blurRad="38100" dist="38100" dir="2700000" algn="tl">
                    <a:srgbClr val="000000">
                      <a:alpha val="43137"/>
                    </a:srgbClr>
                  </a:outerShdw>
                </a:effectLst>
              </a:rPr>
              <a:t>According to Raoult’s law, [p</a:t>
            </a:r>
            <a:r>
              <a:rPr lang="en-IN" sz="4000" b="1" baseline="-25000" dirty="0" smtClean="0">
                <a:effectLst>
                  <a:outerShdw blurRad="38100" dist="38100" dir="2700000" algn="tl">
                    <a:srgbClr val="000000">
                      <a:alpha val="43137"/>
                    </a:srgbClr>
                  </a:outerShdw>
                </a:effectLst>
              </a:rPr>
              <a:t>0</a:t>
            </a:r>
            <a:r>
              <a:rPr lang="en-IN" sz="4000" b="1" dirty="0" smtClean="0">
                <a:effectLst>
                  <a:outerShdw blurRad="38100" dist="38100" dir="2700000" algn="tl">
                    <a:srgbClr val="000000">
                      <a:alpha val="43137"/>
                    </a:srgbClr>
                  </a:outerShdw>
                </a:effectLst>
              </a:rPr>
              <a:t>–p</a:t>
            </a:r>
            <a:r>
              <a:rPr lang="en-IN" sz="4000" b="1" baseline="-25000" dirty="0" smtClean="0">
                <a:effectLst>
                  <a:outerShdw blurRad="38100" dist="38100" dir="2700000" algn="tl">
                    <a:srgbClr val="000000">
                      <a:alpha val="43137"/>
                    </a:srgbClr>
                  </a:outerShdw>
                </a:effectLst>
              </a:rPr>
              <a:t>s</a:t>
            </a:r>
            <a:r>
              <a:rPr lang="en-IN" sz="4000" b="1" dirty="0" smtClean="0">
                <a:effectLst>
                  <a:outerShdw blurRad="38100" dist="38100" dir="2700000" algn="tl">
                    <a:srgbClr val="000000">
                      <a:alpha val="43137"/>
                    </a:srgbClr>
                  </a:outerShdw>
                </a:effectLst>
              </a:rPr>
              <a:t>/p</a:t>
            </a:r>
            <a:r>
              <a:rPr lang="en-IN" sz="4000" b="1" baseline="-25000" dirty="0" smtClean="0">
                <a:effectLst>
                  <a:outerShdw blurRad="38100" dist="38100" dir="2700000" algn="tl">
                    <a:srgbClr val="000000">
                      <a:alpha val="43137"/>
                    </a:srgbClr>
                  </a:outerShdw>
                </a:effectLst>
              </a:rPr>
              <a:t>0</a:t>
            </a:r>
            <a:r>
              <a:rPr lang="en-IN" sz="4000" b="1" dirty="0" smtClean="0">
                <a:effectLst>
                  <a:outerShdw blurRad="38100" dist="38100" dir="2700000" algn="tl">
                    <a:srgbClr val="000000">
                      <a:alpha val="43137"/>
                    </a:srgbClr>
                  </a:outerShdw>
                </a:effectLst>
              </a:rPr>
              <a:t>] = n/n+N.</a:t>
            </a:r>
            <a:endParaRPr lang="en-US" sz="4000" b="1" dirty="0" smtClean="0">
              <a:effectLst>
                <a:outerShdw blurRad="38100" dist="38100" dir="2700000" algn="tl">
                  <a:srgbClr val="000000">
                    <a:alpha val="43137"/>
                  </a:srgbClr>
                </a:outerShdw>
              </a:effectLst>
            </a:endParaRPr>
          </a:p>
          <a:p>
            <a:pPr>
              <a:buNone/>
            </a:pPr>
            <a:r>
              <a:rPr lang="en-IN" sz="4000" b="1" dirty="0" smtClean="0">
                <a:effectLst>
                  <a:outerShdw blurRad="38100" dist="38100" dir="2700000" algn="tl">
                    <a:srgbClr val="000000">
                      <a:alpha val="43137"/>
                    </a:srgbClr>
                  </a:outerShdw>
                </a:effectLst>
              </a:rPr>
              <a:t>This is the mathematical expression for modified form of Raoult’s law. The above r/l can be written as,</a:t>
            </a:r>
          </a:p>
          <a:p>
            <a:pPr>
              <a:buNone/>
            </a:pPr>
            <a:r>
              <a:rPr lang="en-IN" sz="4000" b="1" dirty="0" smtClean="0">
                <a:effectLst>
                  <a:outerShdw blurRad="38100" dist="38100" dir="2700000" algn="tl">
                    <a:srgbClr val="000000">
                      <a:alpha val="43137"/>
                    </a:srgbClr>
                  </a:outerShdw>
                </a:effectLst>
              </a:rPr>
              <a:t>   </a:t>
            </a:r>
            <a:r>
              <a:rPr lang="en-IN" sz="4000" b="1" dirty="0" smtClean="0">
                <a:effectLst>
                  <a:outerShdw blurRad="38100" dist="38100" dir="2700000" algn="tl">
                    <a:srgbClr val="000000">
                      <a:alpha val="43137"/>
                    </a:srgbClr>
                  </a:outerShdw>
                </a:effectLst>
                <a:cs typeface="Vijaya" pitchFamily="34" charset="0"/>
              </a:rPr>
              <a:t>   p</a:t>
            </a:r>
            <a:r>
              <a:rPr lang="en-IN" sz="4000" b="1" baseline="-25000" dirty="0" smtClean="0">
                <a:effectLst>
                  <a:outerShdw blurRad="38100" dist="38100" dir="2700000" algn="tl">
                    <a:srgbClr val="000000">
                      <a:alpha val="43137"/>
                    </a:srgbClr>
                  </a:outerShdw>
                </a:effectLst>
                <a:cs typeface="Vijaya" pitchFamily="34" charset="0"/>
              </a:rPr>
              <a:t>0</a:t>
            </a:r>
            <a:r>
              <a:rPr lang="en-IN" sz="4000" b="1" dirty="0" smtClean="0">
                <a:effectLst>
                  <a:outerShdw blurRad="38100" dist="38100" dir="2700000" algn="tl">
                    <a:srgbClr val="000000">
                      <a:alpha val="43137"/>
                    </a:srgbClr>
                  </a:outerShdw>
                </a:effectLst>
                <a:cs typeface="Vijaya" pitchFamily="34" charset="0"/>
              </a:rPr>
              <a:t>/P</a:t>
            </a:r>
            <a:r>
              <a:rPr lang="en-IN" sz="4000" b="1" baseline="-25000" dirty="0" smtClean="0">
                <a:effectLst>
                  <a:outerShdw blurRad="38100" dist="38100" dir="2700000" algn="tl">
                    <a:srgbClr val="000000">
                      <a:alpha val="43137"/>
                    </a:srgbClr>
                  </a:outerShdw>
                </a:effectLst>
                <a:cs typeface="Vijaya" pitchFamily="34" charset="0"/>
              </a:rPr>
              <a:t>0</a:t>
            </a:r>
            <a:r>
              <a:rPr lang="en-IN" sz="4000" b="1" dirty="0" smtClean="0">
                <a:effectLst>
                  <a:outerShdw blurRad="38100" dist="38100" dir="2700000" algn="tl">
                    <a:srgbClr val="000000">
                      <a:alpha val="43137"/>
                    </a:srgbClr>
                  </a:outerShdw>
                </a:effectLst>
                <a:cs typeface="Vijaya" pitchFamily="34" charset="0"/>
              </a:rPr>
              <a:t>–p</a:t>
            </a:r>
            <a:r>
              <a:rPr lang="en-IN" sz="4000" b="1" baseline="-25000" dirty="0" smtClean="0">
                <a:effectLst>
                  <a:outerShdw blurRad="38100" dist="38100" dir="2700000" algn="tl">
                    <a:srgbClr val="000000">
                      <a:alpha val="43137"/>
                    </a:srgbClr>
                  </a:outerShdw>
                </a:effectLst>
                <a:cs typeface="Vijaya" pitchFamily="34" charset="0"/>
              </a:rPr>
              <a:t>s</a:t>
            </a:r>
            <a:r>
              <a:rPr lang="en-IN" sz="4000" b="1" dirty="0" smtClean="0">
                <a:effectLst>
                  <a:outerShdw blurRad="38100" dist="38100" dir="2700000" algn="tl">
                    <a:srgbClr val="000000">
                      <a:alpha val="43137"/>
                    </a:srgbClr>
                  </a:outerShdw>
                </a:effectLst>
                <a:cs typeface="Vijaya" pitchFamily="34" charset="0"/>
              </a:rPr>
              <a:t> = n+N/n = 1 + N/n </a:t>
            </a:r>
          </a:p>
          <a:p>
            <a:pPr>
              <a:buNone/>
            </a:pPr>
            <a:r>
              <a:rPr lang="en-IN" sz="4000" b="1" dirty="0" smtClean="0">
                <a:effectLst>
                  <a:outerShdw blurRad="38100" dist="38100" dir="2700000" algn="tl">
                    <a:srgbClr val="000000">
                      <a:alpha val="43137"/>
                    </a:srgbClr>
                  </a:outerShdw>
                </a:effectLst>
                <a:cs typeface="Vijaya" pitchFamily="34" charset="0"/>
              </a:rPr>
              <a:t>or p</a:t>
            </a:r>
            <a:r>
              <a:rPr lang="en-IN" sz="4000" b="1" baseline="-25000" dirty="0" smtClean="0">
                <a:effectLst>
                  <a:outerShdw blurRad="38100" dist="38100" dir="2700000" algn="tl">
                    <a:srgbClr val="000000">
                      <a:alpha val="43137"/>
                    </a:srgbClr>
                  </a:outerShdw>
                </a:effectLst>
                <a:cs typeface="Vijaya" pitchFamily="34" charset="0"/>
              </a:rPr>
              <a:t>0</a:t>
            </a:r>
            <a:r>
              <a:rPr lang="en-IN" sz="4000" b="1" dirty="0" smtClean="0">
                <a:effectLst>
                  <a:outerShdw blurRad="38100" dist="38100" dir="2700000" algn="tl">
                    <a:srgbClr val="000000">
                      <a:alpha val="43137"/>
                    </a:srgbClr>
                  </a:outerShdw>
                </a:effectLst>
                <a:cs typeface="Vijaya" pitchFamily="34" charset="0"/>
              </a:rPr>
              <a:t>/p</a:t>
            </a:r>
            <a:r>
              <a:rPr lang="en-IN" sz="4000" b="1" baseline="-25000" dirty="0" smtClean="0">
                <a:effectLst>
                  <a:outerShdw blurRad="38100" dist="38100" dir="2700000" algn="tl">
                    <a:srgbClr val="000000">
                      <a:alpha val="43137"/>
                    </a:srgbClr>
                  </a:outerShdw>
                </a:effectLst>
                <a:cs typeface="Vijaya" pitchFamily="34" charset="0"/>
              </a:rPr>
              <a:t>0</a:t>
            </a:r>
            <a:r>
              <a:rPr lang="en-IN" sz="4000" b="1" dirty="0" smtClean="0">
                <a:effectLst>
                  <a:outerShdw blurRad="38100" dist="38100" dir="2700000" algn="tl">
                    <a:srgbClr val="000000">
                      <a:alpha val="43137"/>
                    </a:srgbClr>
                  </a:outerShdw>
                </a:effectLst>
                <a:cs typeface="Vijaya" pitchFamily="34" charset="0"/>
              </a:rPr>
              <a:t>–p</a:t>
            </a:r>
            <a:r>
              <a:rPr lang="en-IN" sz="4000" b="1" baseline="-25000" dirty="0" smtClean="0">
                <a:effectLst>
                  <a:outerShdw blurRad="38100" dist="38100" dir="2700000" algn="tl">
                    <a:srgbClr val="000000">
                      <a:alpha val="43137"/>
                    </a:srgbClr>
                  </a:outerShdw>
                </a:effectLst>
                <a:cs typeface="Vijaya" pitchFamily="34" charset="0"/>
              </a:rPr>
              <a:t>s</a:t>
            </a:r>
            <a:r>
              <a:rPr lang="en-IN" sz="4000" b="1" dirty="0" smtClean="0">
                <a:effectLst>
                  <a:outerShdw blurRad="38100" dist="38100" dir="2700000" algn="tl">
                    <a:srgbClr val="000000">
                      <a:alpha val="43137"/>
                    </a:srgbClr>
                  </a:outerShdw>
                </a:effectLst>
                <a:cs typeface="Vijaya" pitchFamily="34" charset="0"/>
              </a:rPr>
              <a:t> – 1 = N/n or p</a:t>
            </a:r>
            <a:r>
              <a:rPr lang="en-IN" sz="4000" b="1" baseline="-25000" dirty="0" smtClean="0">
                <a:effectLst>
                  <a:outerShdw blurRad="38100" dist="38100" dir="2700000" algn="tl">
                    <a:srgbClr val="000000">
                      <a:alpha val="43137"/>
                    </a:srgbClr>
                  </a:outerShdw>
                </a:effectLst>
                <a:cs typeface="Vijaya" pitchFamily="34" charset="0"/>
              </a:rPr>
              <a:t>0</a:t>
            </a:r>
            <a:r>
              <a:rPr lang="en-IN" sz="4000" b="1" dirty="0" smtClean="0">
                <a:effectLst>
                  <a:outerShdw blurRad="38100" dist="38100" dir="2700000" algn="tl">
                    <a:srgbClr val="000000">
                      <a:alpha val="43137"/>
                    </a:srgbClr>
                  </a:outerShdw>
                </a:effectLst>
                <a:cs typeface="Vijaya" pitchFamily="34" charset="0"/>
              </a:rPr>
              <a:t>/p</a:t>
            </a:r>
            <a:r>
              <a:rPr lang="en-IN" sz="4000" b="1" baseline="-25000" dirty="0" smtClean="0">
                <a:effectLst>
                  <a:outerShdw blurRad="38100" dist="38100" dir="2700000" algn="tl">
                    <a:srgbClr val="000000">
                      <a:alpha val="43137"/>
                    </a:srgbClr>
                  </a:outerShdw>
                </a:effectLst>
                <a:cs typeface="Vijaya" pitchFamily="34" charset="0"/>
              </a:rPr>
              <a:t>0</a:t>
            </a:r>
            <a:r>
              <a:rPr lang="en-IN" sz="4000" b="1" dirty="0" smtClean="0">
                <a:effectLst>
                  <a:outerShdw blurRad="38100" dist="38100" dir="2700000" algn="tl">
                    <a:srgbClr val="000000">
                      <a:alpha val="43137"/>
                    </a:srgbClr>
                  </a:outerShdw>
                </a:effectLst>
                <a:cs typeface="Vijaya" pitchFamily="34" charset="0"/>
              </a:rPr>
              <a:t>–p</a:t>
            </a:r>
            <a:r>
              <a:rPr lang="en-IN" sz="4000" b="1" baseline="-25000" dirty="0" smtClean="0">
                <a:effectLst>
                  <a:outerShdw blurRad="38100" dist="38100" dir="2700000" algn="tl">
                    <a:srgbClr val="000000">
                      <a:alpha val="43137"/>
                    </a:srgbClr>
                  </a:outerShdw>
                </a:effectLst>
                <a:cs typeface="Vijaya" pitchFamily="34" charset="0"/>
              </a:rPr>
              <a:t>s</a:t>
            </a:r>
            <a:r>
              <a:rPr lang="en-IN" sz="4000" b="1" dirty="0" smtClean="0">
                <a:effectLst>
                  <a:outerShdw blurRad="38100" dist="38100" dir="2700000" algn="tl">
                    <a:srgbClr val="000000">
                      <a:alpha val="43137"/>
                    </a:srgbClr>
                  </a:outerShdw>
                </a:effectLst>
                <a:cs typeface="Vijaya" pitchFamily="34" charset="0"/>
              </a:rPr>
              <a:t>= N/n</a:t>
            </a:r>
          </a:p>
          <a:p>
            <a:pPr>
              <a:buNone/>
            </a:pPr>
            <a:r>
              <a:rPr lang="en-IN" sz="4000" b="1" dirty="0" smtClean="0">
                <a:effectLst>
                  <a:outerShdw blurRad="38100" dist="38100" dir="2700000" algn="tl">
                    <a:srgbClr val="000000">
                      <a:alpha val="43137"/>
                    </a:srgbClr>
                  </a:outerShdw>
                </a:effectLst>
                <a:cs typeface="Vijaya" pitchFamily="34" charset="0"/>
              </a:rPr>
              <a:t>or p</a:t>
            </a:r>
            <a:r>
              <a:rPr lang="en-IN" sz="4000" b="1" baseline="-25000" dirty="0" smtClean="0">
                <a:effectLst>
                  <a:outerShdw blurRad="38100" dist="38100" dir="2700000" algn="tl">
                    <a:srgbClr val="000000">
                      <a:alpha val="43137"/>
                    </a:srgbClr>
                  </a:outerShdw>
                </a:effectLst>
                <a:cs typeface="Vijaya" pitchFamily="34" charset="0"/>
              </a:rPr>
              <a:t>0</a:t>
            </a:r>
            <a:r>
              <a:rPr lang="en-IN" sz="4000" b="1" dirty="0" smtClean="0">
                <a:effectLst>
                  <a:outerShdw blurRad="38100" dist="38100" dir="2700000" algn="tl">
                    <a:srgbClr val="000000">
                      <a:alpha val="43137"/>
                    </a:srgbClr>
                  </a:outerShdw>
                </a:effectLst>
                <a:cs typeface="Vijaya" pitchFamily="34" charset="0"/>
              </a:rPr>
              <a:t>–p</a:t>
            </a:r>
            <a:r>
              <a:rPr lang="en-IN" sz="4000" b="1" baseline="-25000" dirty="0" smtClean="0">
                <a:effectLst>
                  <a:outerShdw blurRad="38100" dist="38100" dir="2700000" algn="tl">
                    <a:srgbClr val="000000">
                      <a:alpha val="43137"/>
                    </a:srgbClr>
                  </a:outerShdw>
                </a:effectLst>
                <a:cs typeface="Vijaya" pitchFamily="34" charset="0"/>
              </a:rPr>
              <a:t>s</a:t>
            </a:r>
            <a:r>
              <a:rPr lang="en-IN" sz="4000" b="1" dirty="0" smtClean="0">
                <a:effectLst>
                  <a:outerShdw blurRad="38100" dist="38100" dir="2700000" algn="tl">
                    <a:srgbClr val="000000">
                      <a:alpha val="43137"/>
                    </a:srgbClr>
                  </a:outerShdw>
                </a:effectLst>
                <a:cs typeface="Vijaya" pitchFamily="34" charset="0"/>
              </a:rPr>
              <a:t>/p</a:t>
            </a:r>
            <a:r>
              <a:rPr lang="en-IN" sz="4000" b="1" baseline="-25000" dirty="0" smtClean="0">
                <a:effectLst>
                  <a:outerShdw blurRad="38100" dist="38100" dir="2700000" algn="tl">
                    <a:srgbClr val="000000">
                      <a:alpha val="43137"/>
                    </a:srgbClr>
                  </a:outerShdw>
                </a:effectLst>
                <a:cs typeface="Vijaya" pitchFamily="34" charset="0"/>
              </a:rPr>
              <a:t>s</a:t>
            </a:r>
            <a:r>
              <a:rPr lang="en-IN" sz="4000" b="1" dirty="0" smtClean="0">
                <a:effectLst>
                  <a:outerShdw blurRad="38100" dist="38100" dir="2700000" algn="tl">
                    <a:srgbClr val="000000">
                      <a:alpha val="43137"/>
                    </a:srgbClr>
                  </a:outerShdw>
                </a:effectLst>
                <a:cs typeface="Vijaya" pitchFamily="34" charset="0"/>
              </a:rPr>
              <a:t> = n/N = w</a:t>
            </a:r>
            <a:r>
              <a:rPr lang="en-IN" sz="4000" b="1" baseline="-25000" dirty="0" smtClean="0">
                <a:effectLst>
                  <a:outerShdw blurRad="38100" dist="38100" dir="2700000" algn="tl">
                    <a:srgbClr val="000000">
                      <a:alpha val="43137"/>
                    </a:srgbClr>
                  </a:outerShdw>
                </a:effectLst>
                <a:cs typeface="Vijaya" pitchFamily="34" charset="0"/>
              </a:rPr>
              <a:t>A</a:t>
            </a:r>
            <a:r>
              <a:rPr lang="en-IN" sz="4000" b="1" dirty="0" smtClean="0">
                <a:effectLst>
                  <a:outerShdw blurRad="38100" dist="38100" dir="2700000" algn="tl">
                    <a:srgbClr val="000000">
                      <a:alpha val="43137"/>
                    </a:srgbClr>
                  </a:outerShdw>
                </a:effectLst>
                <a:cs typeface="Vijaya" pitchFamily="34" charset="0"/>
              </a:rPr>
              <a:t>/m</a:t>
            </a:r>
            <a:r>
              <a:rPr lang="en-IN" sz="4000" b="1" baseline="-25000" dirty="0" smtClean="0">
                <a:effectLst>
                  <a:outerShdw blurRad="38100" dist="38100" dir="2700000" algn="tl">
                    <a:srgbClr val="000000">
                      <a:alpha val="43137"/>
                    </a:srgbClr>
                  </a:outerShdw>
                </a:effectLst>
                <a:cs typeface="Vijaya" pitchFamily="34" charset="0"/>
              </a:rPr>
              <a:t>A</a:t>
            </a:r>
            <a:r>
              <a:rPr lang="en-IN" sz="4000" b="1" dirty="0" smtClean="0">
                <a:effectLst>
                  <a:outerShdw blurRad="38100" dist="38100" dir="2700000" algn="tl">
                    <a:srgbClr val="000000">
                      <a:alpha val="43137"/>
                    </a:srgbClr>
                  </a:outerShdw>
                </a:effectLst>
                <a:cs typeface="Vijaya" pitchFamily="34" charset="0"/>
              </a:rPr>
              <a:t> × m</a:t>
            </a:r>
            <a:r>
              <a:rPr lang="en-IN" sz="4000" b="1" baseline="-25000" dirty="0" smtClean="0">
                <a:effectLst>
                  <a:outerShdw blurRad="38100" dist="38100" dir="2700000" algn="tl">
                    <a:srgbClr val="000000">
                      <a:alpha val="43137"/>
                    </a:srgbClr>
                  </a:outerShdw>
                </a:effectLst>
                <a:cs typeface="Vijaya" pitchFamily="34" charset="0"/>
              </a:rPr>
              <a:t>B</a:t>
            </a:r>
            <a:r>
              <a:rPr lang="en-IN" sz="4000" b="1" dirty="0" smtClean="0">
                <a:effectLst>
                  <a:outerShdw blurRad="38100" dist="38100" dir="2700000" algn="tl">
                    <a:srgbClr val="000000">
                      <a:alpha val="43137"/>
                    </a:srgbClr>
                  </a:outerShdw>
                </a:effectLst>
                <a:cs typeface="Vijaya" pitchFamily="34" charset="0"/>
              </a:rPr>
              <a:t>/w</a:t>
            </a:r>
            <a:r>
              <a:rPr lang="en-IN" sz="4000" b="1" baseline="-25000" dirty="0" smtClean="0">
                <a:effectLst>
                  <a:outerShdw blurRad="38100" dist="38100" dir="2700000" algn="tl">
                    <a:srgbClr val="000000">
                      <a:alpha val="43137"/>
                    </a:srgbClr>
                  </a:outerShdw>
                </a:effectLst>
                <a:cs typeface="Vijaya" pitchFamily="34" charset="0"/>
              </a:rPr>
              <a:t>B</a:t>
            </a:r>
            <a:endParaRPr lang="en-IN" sz="4000" b="1" dirty="0" smtClean="0">
              <a:effectLst>
                <a:outerShdw blurRad="38100" dist="38100" dir="2700000" algn="tl">
                  <a:srgbClr val="000000">
                    <a:alpha val="43137"/>
                  </a:srgbClr>
                </a:outerShdw>
              </a:effectLst>
              <a:cs typeface="Vijaya" pitchFamily="34" charset="0"/>
            </a:endParaRPr>
          </a:p>
          <a:p>
            <a:endParaRPr lang="en-IN" sz="4000" b="1" dirty="0">
              <a:effectLst>
                <a:outerShdw blurRad="38100" dist="38100" dir="2700000" algn="tl">
                  <a:srgbClr val="000000">
                    <a:alpha val="43137"/>
                  </a:srgbClr>
                </a:outerShdw>
              </a:effectLst>
              <a:latin typeface="Vivaldi" pitchFamily="66" charset="0"/>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image.tutorvista.com/contentimages/chemistry_12/content/us/class12chemistry/chapter13/images/img49.gif"/>
          <p:cNvPicPr>
            <a:picLocks noChangeAspect="1" noChangeArrowheads="1"/>
          </p:cNvPicPr>
          <p:nvPr/>
        </p:nvPicPr>
        <p:blipFill>
          <a:blip r:embed="rId2" cstate="print">
            <a:lum bright="-10000" contrast="40000"/>
          </a:blip>
          <a:srcRect/>
          <a:stretch>
            <a:fillRect/>
          </a:stretch>
        </p:blipFill>
        <p:spPr bwMode="auto">
          <a:xfrm>
            <a:off x="1524000" y="304800"/>
            <a:ext cx="6045190" cy="1295400"/>
          </a:xfrm>
          <a:prstGeom prst="roundRect">
            <a:avLst/>
          </a:prstGeom>
          <a:solidFill>
            <a:srgbClr val="FFFFFF">
              <a:shade val="85000"/>
            </a:srgbClr>
          </a:solidFill>
          <a:ln w="88900" cap="sq">
            <a:solidFill>
              <a:schemeClr val="bg1"/>
            </a:solid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1028" name="Picture 4" descr="http://wps.prenhall.com/wps/media/objects/3312/3391718/imag1305/AAAVTAR0.JPG"/>
          <p:cNvPicPr>
            <a:picLocks noChangeAspect="1" noChangeArrowheads="1"/>
          </p:cNvPicPr>
          <p:nvPr/>
        </p:nvPicPr>
        <p:blipFill>
          <a:blip r:embed="rId3" cstate="print">
            <a:lum bright="-10000" contrast="40000"/>
          </a:blip>
          <a:srcRect/>
          <a:stretch>
            <a:fillRect/>
          </a:stretch>
        </p:blipFill>
        <p:spPr bwMode="auto">
          <a:xfrm>
            <a:off x="1828800" y="2133599"/>
            <a:ext cx="5334000" cy="3461174"/>
          </a:xfrm>
          <a:prstGeom prst="roundRect">
            <a:avLst/>
          </a:prstGeom>
          <a:solidFill>
            <a:srgbClr val="FFFFFF"/>
          </a:solidFill>
          <a:ln w="76200" cap="sq">
            <a:solidFill>
              <a:schemeClr val="bg1"/>
            </a:solidFill>
            <a:miter lim="800000"/>
          </a:ln>
          <a:effectLst>
            <a:outerShdw blurRad="107950" dist="12700" dir="5400000" algn="ctr">
              <a:srgbClr val="000000"/>
            </a:outerShdw>
            <a:reflection blurRad="12700" stA="33000" endPos="28000" dist="5000" dir="5400000" sy="-100000" algn="bl" rotWithShape="0"/>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610600" cy="5486400"/>
          </a:xfrm>
        </p:spPr>
        <p:txBody>
          <a:bodyPr>
            <a:normAutofit/>
          </a:bodyPr>
          <a:lstStyle/>
          <a:p>
            <a:pPr>
              <a:buNone/>
            </a:pPr>
            <a:r>
              <a:rPr lang="en-IN" sz="4000" b="1" i="1" dirty="0" smtClean="0">
                <a:effectLst>
                  <a:outerShdw blurRad="38100" dist="38100" dir="2700000" algn="tl">
                    <a:srgbClr val="000000">
                      <a:alpha val="43137"/>
                    </a:srgbClr>
                  </a:outerShdw>
                </a:effectLst>
                <a:latin typeface="Palatino Linotype" pitchFamily="18" charset="0"/>
              </a:rPr>
              <a:t>     </a:t>
            </a:r>
            <a:r>
              <a:rPr lang="en-IN" sz="4000" b="1" i="1" u="sng" dirty="0" smtClean="0">
                <a:effectLst>
                  <a:outerShdw blurRad="38100" dist="38100" dir="2700000" algn="tl">
                    <a:srgbClr val="000000">
                      <a:alpha val="43137"/>
                    </a:srgbClr>
                  </a:outerShdw>
                </a:effectLst>
                <a:latin typeface="Palatino Linotype" pitchFamily="18" charset="0"/>
              </a:rPr>
              <a:t>OSMOSIS: </a:t>
            </a:r>
            <a:r>
              <a:rPr lang="en-IN" sz="4000" b="1" dirty="0" smtClean="0">
                <a:effectLst>
                  <a:outerShdw blurRad="38100" dist="38100" dir="2700000" algn="tl">
                    <a:srgbClr val="000000">
                      <a:alpha val="43137"/>
                    </a:srgbClr>
                  </a:outerShdw>
                </a:effectLst>
                <a:latin typeface="Vivaldi" pitchFamily="66" charset="0"/>
              </a:rPr>
              <a:t>When a semi-permeable membrane is placed b/w a soln. and a solvent, it is observed that solvent molecules enter the soln. and the volume of soln. increases. </a:t>
            </a:r>
          </a:p>
          <a:p>
            <a:pPr>
              <a:buClr>
                <a:srgbClr val="FF0000"/>
              </a:buClr>
              <a:buFont typeface="Wingdings" pitchFamily="2" charset="2"/>
              <a:buChar char=""/>
            </a:pPr>
            <a:r>
              <a:rPr lang="en-IN" sz="4000" b="1" dirty="0" smtClean="0">
                <a:effectLst>
                  <a:outerShdw blurRad="38100" dist="38100" dir="2700000" algn="tl">
                    <a:srgbClr val="000000">
                      <a:alpha val="43137"/>
                    </a:srgbClr>
                  </a:outerShdw>
                </a:effectLst>
                <a:latin typeface="Vivaldi" pitchFamily="66" charset="0"/>
              </a:rPr>
              <a:t>It is also observed that if two soln.s of unequal conc.s are separated by a semi permeable membrane, the solvent molecules from a soln. of lower conc. move towards a soln. of higher conc.</a:t>
            </a:r>
          </a:p>
          <a:p>
            <a:endParaRPr lang="en-IN" dirty="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t2.gstatic.com/images?q=tbn:ANd9GcTK8ETmmdM2WCdWsBTwV01z7iQPDrrMV2BwjiSDay83QDQlD8U-wA"/>
          <p:cNvPicPr>
            <a:picLocks noChangeAspect="1" noChangeArrowheads="1"/>
          </p:cNvPicPr>
          <p:nvPr/>
        </p:nvPicPr>
        <p:blipFill>
          <a:blip r:embed="rId2" cstate="print">
            <a:lum bright="-10000" contrast="40000"/>
          </a:blip>
          <a:srcRect/>
          <a:stretch>
            <a:fillRect/>
          </a:stretch>
        </p:blipFill>
        <p:spPr bwMode="auto">
          <a:xfrm>
            <a:off x="4339360" y="3048000"/>
            <a:ext cx="4427959" cy="3505200"/>
          </a:xfrm>
          <a:prstGeom prst="roundRect">
            <a:avLst/>
          </a:prstGeom>
          <a:solidFill>
            <a:srgbClr val="FFFFFF">
              <a:shade val="85000"/>
            </a:srgbClr>
          </a:solidFill>
          <a:ln w="88900" cap="sq">
            <a:solidFill>
              <a:schemeClr val="bg1"/>
            </a:solid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052" name="Picture 4" descr="http://t0.gstatic.com/images?q=tbn:ANd9GcTha_EwXVP7pLd6wxl4z0ytpE3x3SVopd4cOzUPgsQbU-8STeBszg"/>
          <p:cNvPicPr>
            <a:picLocks noChangeAspect="1" noChangeArrowheads="1"/>
          </p:cNvPicPr>
          <p:nvPr/>
        </p:nvPicPr>
        <p:blipFill>
          <a:blip r:embed="rId3" cstate="print">
            <a:lum bright="-10000" contrast="40000"/>
          </a:blip>
          <a:srcRect/>
          <a:stretch>
            <a:fillRect/>
          </a:stretch>
        </p:blipFill>
        <p:spPr bwMode="auto">
          <a:xfrm>
            <a:off x="430619" y="304799"/>
            <a:ext cx="3912781" cy="3081507"/>
          </a:xfrm>
          <a:prstGeom prst="roundRect">
            <a:avLst/>
          </a:prstGeom>
          <a:solidFill>
            <a:srgbClr val="FFFFFF">
              <a:shade val="85000"/>
            </a:srgbClr>
          </a:solidFill>
          <a:ln w="88900" cap="sq">
            <a:solidFill>
              <a:schemeClr val="bg1"/>
            </a:solid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534400" cy="6324600"/>
          </a:xfrm>
        </p:spPr>
        <p:txBody>
          <a:bodyPr>
            <a:normAutofit fontScale="92500" lnSpcReduction="10000"/>
          </a:bodyPr>
          <a:lstStyle/>
          <a:p>
            <a:pPr>
              <a:buNone/>
            </a:pPr>
            <a:r>
              <a:rPr lang="en-IN" sz="4000" b="1" i="1" dirty="0" smtClean="0">
                <a:effectLst>
                  <a:outerShdw blurRad="38100" dist="38100" dir="2700000" algn="tl">
                    <a:srgbClr val="000000">
                      <a:alpha val="43137"/>
                    </a:srgbClr>
                  </a:outerShdw>
                </a:effectLst>
                <a:latin typeface="Palatino Linotype" pitchFamily="18" charset="0"/>
              </a:rPr>
              <a:t>   </a:t>
            </a:r>
            <a:r>
              <a:rPr lang="en-IN" sz="4000" b="1" i="1" u="sng" dirty="0" smtClean="0">
                <a:effectLst>
                  <a:outerShdw blurRad="38100" dist="38100" dir="2700000" algn="tl">
                    <a:srgbClr val="000000">
                      <a:alpha val="43137"/>
                    </a:srgbClr>
                  </a:outerShdw>
                </a:effectLst>
              </a:rPr>
              <a:t>Osmotic Pressure</a:t>
            </a:r>
            <a:r>
              <a:rPr lang="en-IN" sz="4000" b="1" dirty="0" smtClean="0">
                <a:effectLst>
                  <a:outerShdw blurRad="38100" dist="38100" dir="2700000" algn="tl">
                    <a:srgbClr val="000000">
                      <a:alpha val="43137"/>
                    </a:srgbClr>
                  </a:outerShdw>
                </a:effectLst>
              </a:rPr>
              <a:t> </a:t>
            </a:r>
            <a:r>
              <a:rPr lang="en-IN" sz="4400" b="1" dirty="0" smtClean="0">
                <a:effectLst>
                  <a:outerShdw blurRad="38100" dist="38100" dir="2700000" algn="tl">
                    <a:srgbClr val="000000">
                      <a:alpha val="43137"/>
                    </a:srgbClr>
                  </a:outerShdw>
                </a:effectLst>
              </a:rPr>
              <a:t>is the pressure which needs to be applied to a soln. to prevent the inward flow of water across a semi permeable membrane.</a:t>
            </a:r>
          </a:p>
          <a:p>
            <a:pPr>
              <a:buClr>
                <a:srgbClr val="FF0000"/>
              </a:buClr>
              <a:buFont typeface="Wingdings" pitchFamily="2" charset="2"/>
              <a:buChar char="Ó"/>
            </a:pPr>
            <a:r>
              <a:rPr lang="en-IN" sz="4400" b="1" dirty="0" smtClean="0">
                <a:effectLst>
                  <a:outerShdw blurRad="38100" dist="38100" dir="2700000" algn="tl">
                    <a:srgbClr val="000000">
                      <a:alpha val="43137"/>
                    </a:srgbClr>
                  </a:outerShdw>
                </a:effectLst>
              </a:rPr>
              <a:t>The phenomenon of osmotic pressure arises from the tendency of a pure solvent to move through a semi-permeable membrane and into a soln. containing a solute to which the membrane is impermeable. </a:t>
            </a:r>
          </a:p>
          <a:p>
            <a:endParaRPr lang="en-IN" sz="4400" dirty="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CBE2B4F-5529-40D4-B36A-0FBA2F374B7C}" type="slidenum">
              <a:rPr lang="en-IN" smtClean="0"/>
              <a:pPr/>
              <a:t>18</a:t>
            </a:fld>
            <a:endParaRPr lang="en-IN"/>
          </a:p>
        </p:txBody>
      </p:sp>
      <p:sp>
        <p:nvSpPr>
          <p:cNvPr id="6" name="Rectangle 5"/>
          <p:cNvSpPr/>
          <p:nvPr/>
        </p:nvSpPr>
        <p:spPr>
          <a:xfrm>
            <a:off x="228600" y="381000"/>
            <a:ext cx="8915400" cy="1754326"/>
          </a:xfrm>
          <a:prstGeom prst="rect">
            <a:avLst/>
          </a:prstGeom>
        </p:spPr>
        <p:txBody>
          <a:bodyPr wrap="square">
            <a:spAutoFit/>
          </a:bodyPr>
          <a:lstStyle/>
          <a:p>
            <a:r>
              <a:rPr lang="en-US" b="1" dirty="0" smtClean="0"/>
              <a:t>Q.1. What is the solution? Write the classification of solution.</a:t>
            </a:r>
          </a:p>
          <a:p>
            <a:r>
              <a:rPr lang="en-IN" b="1" dirty="0" smtClean="0"/>
              <a:t>Q.2.What is the </a:t>
            </a:r>
            <a:r>
              <a:rPr lang="en-IN" b="1" dirty="0" err="1" smtClean="0"/>
              <a:t>Raoult’s</a:t>
            </a:r>
            <a:r>
              <a:rPr lang="en-IN" b="1" dirty="0" smtClean="0"/>
              <a:t> Law? Derivation Of </a:t>
            </a:r>
            <a:r>
              <a:rPr lang="en-IN" b="1" dirty="0" err="1" smtClean="0"/>
              <a:t>Raoult’s</a:t>
            </a:r>
            <a:r>
              <a:rPr lang="en-IN" b="1" dirty="0" smtClean="0"/>
              <a:t> Law For A Dilute Solution.</a:t>
            </a:r>
          </a:p>
          <a:p>
            <a:r>
              <a:rPr lang="en-US" b="1" dirty="0" smtClean="0"/>
              <a:t>Q.3. White the definition of the following terms: I) Ideal solution. II) Osmosis. </a:t>
            </a:r>
          </a:p>
          <a:p>
            <a:r>
              <a:rPr lang="en-US" b="1" dirty="0" smtClean="0"/>
              <a:t>III) Osmotic pressure.</a:t>
            </a:r>
          </a:p>
          <a:p>
            <a:r>
              <a:rPr lang="en-US" b="1" dirty="0" smtClean="0"/>
              <a:t>Q.4. a) What is the </a:t>
            </a:r>
            <a:r>
              <a:rPr lang="en-US" b="1" dirty="0" err="1" smtClean="0"/>
              <a:t>molarity</a:t>
            </a:r>
            <a:r>
              <a:rPr lang="en-US" b="1" dirty="0" smtClean="0"/>
              <a:t>? b) 450.5g  silver nitrate (AgNO</a:t>
            </a:r>
            <a:r>
              <a:rPr lang="en-US" b="1" baseline="-25000" dirty="0" smtClean="0"/>
              <a:t>3</a:t>
            </a:r>
            <a:r>
              <a:rPr lang="en-US" b="1" dirty="0" smtClean="0"/>
              <a:t>) is  dissolved in 675mL of water. Calculate the </a:t>
            </a:r>
            <a:r>
              <a:rPr lang="en-US" b="1" dirty="0" err="1" smtClean="0"/>
              <a:t>molarity</a:t>
            </a:r>
            <a:r>
              <a:rPr lang="en-US" b="1" dirty="0" smtClean="0"/>
              <a:t> of the solution.</a:t>
            </a:r>
            <a:endParaRPr lang="en-US" b="1"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793</TotalTime>
  <Words>865</Words>
  <Application>Microsoft Office PowerPoint</Application>
  <PresentationFormat>On-screen Show (4:3)</PresentationFormat>
  <Paragraphs>102</Paragraphs>
  <Slides>18</Slides>
  <Notes>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0" baseType="lpstr">
      <vt:lpstr>Equity</vt:lpstr>
      <vt:lpstr>Equation</vt:lpstr>
      <vt:lpstr>Slide 1</vt:lpstr>
      <vt:lpstr>Slide 2</vt:lpstr>
      <vt:lpstr>Slide 3</vt:lpstr>
      <vt:lpstr>Slide 4</vt:lpstr>
      <vt:lpstr>Concentrations</vt:lpstr>
      <vt:lpstr>450.5g  silver nitrate (AgNO3) is  dissolved in 675mL of water. Calculate the molarity of the solution.</vt:lpstr>
      <vt:lpstr>Slide 7</vt:lpstr>
      <vt:lpstr>Solubility</vt:lpstr>
      <vt:lpstr>Raoult’s Law</vt:lpstr>
      <vt:lpstr>Ideal Solution ...a solution that obeys Raoult’s law</vt:lpstr>
      <vt:lpstr>Slide 11</vt:lpstr>
      <vt:lpstr>Derivation Of Raoult’s Law For A Dilute Solution</vt:lpstr>
      <vt:lpstr>Slide 13</vt:lpstr>
      <vt:lpstr>Slide 14</vt:lpstr>
      <vt:lpstr>Slide 15</vt:lpstr>
      <vt:lpstr>Slide 16</vt:lpstr>
      <vt:lpstr>Slide 17</vt:lpstr>
      <vt:lpstr>Slide 18</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SOLUTION CHEMISTRY CLASS XI</dc:title>
  <dc:creator>TANUJA</dc:creator>
  <cp:lastModifiedBy>Suman</cp:lastModifiedBy>
  <cp:revision>112</cp:revision>
  <dcterms:created xsi:type="dcterms:W3CDTF">2013-11-09T05:52:16Z</dcterms:created>
  <dcterms:modified xsi:type="dcterms:W3CDTF">2017-03-11T06:19:18Z</dcterms:modified>
</cp:coreProperties>
</file>