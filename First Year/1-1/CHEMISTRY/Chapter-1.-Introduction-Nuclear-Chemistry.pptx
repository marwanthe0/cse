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7"/>
  </p:notesMasterIdLst>
  <p:sldIdLst>
    <p:sldId id="256" r:id="rId2"/>
    <p:sldId id="306" r:id="rId3"/>
    <p:sldId id="258" r:id="rId4"/>
    <p:sldId id="311" r:id="rId5"/>
    <p:sldId id="312" r:id="rId6"/>
    <p:sldId id="313" r:id="rId7"/>
    <p:sldId id="308" r:id="rId8"/>
    <p:sldId id="259" r:id="rId9"/>
    <p:sldId id="320" r:id="rId10"/>
    <p:sldId id="261" r:id="rId11"/>
    <p:sldId id="314" r:id="rId12"/>
    <p:sldId id="315" r:id="rId13"/>
    <p:sldId id="316" r:id="rId14"/>
    <p:sldId id="317" r:id="rId15"/>
    <p:sldId id="318" r:id="rId16"/>
    <p:sldId id="319" r:id="rId17"/>
    <p:sldId id="262" r:id="rId18"/>
    <p:sldId id="264" r:id="rId19"/>
    <p:sldId id="263" r:id="rId20"/>
    <p:sldId id="265" r:id="rId21"/>
    <p:sldId id="266" r:id="rId22"/>
    <p:sldId id="267" r:id="rId23"/>
    <p:sldId id="270" r:id="rId24"/>
    <p:sldId id="271" r:id="rId25"/>
    <p:sldId id="272" r:id="rId26"/>
    <p:sldId id="273" r:id="rId27"/>
    <p:sldId id="274" r:id="rId28"/>
    <p:sldId id="275" r:id="rId29"/>
    <p:sldId id="298" r:id="rId30"/>
    <p:sldId id="276" r:id="rId31"/>
    <p:sldId id="277" r:id="rId32"/>
    <p:sldId id="278" r:id="rId33"/>
    <p:sldId id="269" r:id="rId34"/>
    <p:sldId id="332" r:id="rId35"/>
    <p:sldId id="333" r:id="rId3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4" autoAdjust="0"/>
    <p:restoredTop sz="98387" autoAdjust="0"/>
  </p:normalViewPr>
  <p:slideViewPr>
    <p:cSldViewPr>
      <p:cViewPr varScale="1">
        <p:scale>
          <a:sx n="82" d="100"/>
          <a:sy n="82" d="100"/>
        </p:scale>
        <p:origin x="1474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1DA0D5-9D49-4912-A266-653BE15CD8BD}" type="datetimeFigureOut">
              <a:rPr lang="en-US" smtClean="0"/>
              <a:pPr/>
              <a:t>8/30/2023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6A0E42-9BE0-4ADF-A62A-CBBF2EFF9FF3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6A0E42-9BE0-4ADF-A62A-CBBF2EFF9FF3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Isosceles Triangle 6"/>
          <p:cNvSpPr/>
          <p:nvPr/>
        </p:nvSpPr>
        <p:spPr>
          <a:xfrm rot="16200000">
            <a:off x="7554353" y="5254283"/>
            <a:ext cx="1892949" cy="1294228"/>
          </a:xfrm>
          <a:prstGeom prst="triangle">
            <a:avLst>
              <a:gd name="adj" fmla="val 51323"/>
            </a:avLst>
          </a:prstGeom>
          <a:gradFill flip="none" rotWithShape="1">
            <a:gsLst>
              <a:gs pos="0">
                <a:schemeClr val="accent1">
                  <a:shade val="30000"/>
                  <a:satMod val="155000"/>
                  <a:alpha val="100000"/>
                </a:schemeClr>
              </a:gs>
              <a:gs pos="60000">
                <a:schemeClr val="accent1">
                  <a:satMod val="160000"/>
                  <a:alpha val="100000"/>
                </a:schemeClr>
              </a:gs>
              <a:gs pos="100000">
                <a:schemeClr val="accent1">
                  <a:tint val="70000"/>
                  <a:satMod val="200000"/>
                  <a:alpha val="100000"/>
                </a:schemeClr>
              </a:gs>
            </a:gsLst>
            <a:lin ang="155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540544" y="776288"/>
            <a:ext cx="8062912" cy="1470025"/>
          </a:xfrm>
        </p:spPr>
        <p:txBody>
          <a:bodyPr anchor="b">
            <a:normAutofit/>
          </a:bodyPr>
          <a:lstStyle>
            <a:lvl1pPr algn="r">
              <a:defRPr sz="440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540544" y="2250280"/>
            <a:ext cx="8062912" cy="1752600"/>
          </a:xfrm>
        </p:spPr>
        <p:txBody>
          <a:bodyPr/>
          <a:lstStyle>
            <a:lvl1pPr marL="0" marR="36576" indent="0" algn="r">
              <a:spcBef>
                <a:spcPts val="0"/>
              </a:spcBef>
              <a:buNone/>
              <a:defRPr>
                <a:ln>
                  <a:solidFill>
                    <a:schemeClr val="bg2"/>
                  </a:solidFill>
                </a:ln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1371600" y="6012656"/>
            <a:ext cx="5791200" cy="365125"/>
          </a:xfrm>
        </p:spPr>
        <p:txBody>
          <a:bodyPr tIns="0" bIns="0" anchor="t"/>
          <a:lstStyle>
            <a:lvl1pPr algn="r">
              <a:defRPr sz="1000"/>
            </a:lvl1pPr>
          </a:lstStyle>
          <a:p>
            <a:fld id="{DA2D73A5-6517-4E7C-9B66-83A1CC961701}" type="datetimeFigureOut">
              <a:rPr lang="en-US" smtClean="0"/>
              <a:pPr/>
              <a:t>8/30/2023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1371600" y="5650704"/>
            <a:ext cx="5791200" cy="365125"/>
          </a:xfrm>
        </p:spPr>
        <p:txBody>
          <a:bodyPr tIns="0" bIns="0" anchor="b"/>
          <a:lstStyle>
            <a:lvl1pPr algn="r">
              <a:defRPr sz="1100"/>
            </a:lvl1pPr>
          </a:lstStyle>
          <a:p>
            <a:endParaRPr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392247" y="5752307"/>
            <a:ext cx="502920" cy="365125"/>
          </a:xfrm>
        </p:spPr>
        <p:txBody>
          <a:bodyPr anchor="ctr"/>
          <a:lstStyle>
            <a:lvl1pPr algn="ctr">
              <a:defRPr sz="1300">
                <a:solidFill>
                  <a:srgbClr val="FFFFFF"/>
                </a:solidFill>
              </a:defRPr>
            </a:lvl1pPr>
          </a:lstStyle>
          <a:p>
            <a:fld id="{3795521C-4617-4B17-A0FD-12EF6AA69B36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67494"/>
            <a:ext cx="8229600" cy="1399032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82808"/>
            <a:ext cx="82296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791456" y="6480048"/>
            <a:ext cx="2133600" cy="301752"/>
          </a:xfrm>
        </p:spPr>
        <p:txBody>
          <a:bodyPr/>
          <a:lstStyle/>
          <a:p>
            <a:fld id="{DA2D73A5-6517-4E7C-9B66-83A1CC961701}" type="datetimeFigureOut">
              <a:rPr lang="en-US" smtClean="0"/>
              <a:pPr/>
              <a:t>8/30/2023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0" y="6480969"/>
            <a:ext cx="4260056" cy="3008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5521C-4617-4B17-A0FD-12EF6AA69B36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ight Triangle 8"/>
          <p:cNvSpPr/>
          <p:nvPr/>
        </p:nvSpPr>
        <p:spPr>
          <a:xfrm flipV="1">
            <a:off x="7034" y="7034"/>
            <a:ext cx="9129932" cy="6836899"/>
          </a:xfrm>
          <a:prstGeom prst="rtTriangle">
            <a:avLst/>
          </a:prstGeom>
          <a:gradFill flip="none" rotWithShape="1">
            <a:gsLst>
              <a:gs pos="0">
                <a:schemeClr val="tx2">
                  <a:alpha val="10000"/>
                </a:schemeClr>
              </a:gs>
              <a:gs pos="70000">
                <a:schemeClr val="tx2">
                  <a:alpha val="8000"/>
                </a:schemeClr>
              </a:gs>
              <a:gs pos="100000">
                <a:schemeClr val="tx2">
                  <a:alpha val="1000"/>
                </a:schemeClr>
              </a:gs>
            </a:gsLst>
            <a:lin ang="80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algn="ctr" defTabSz="914400" rtl="0" eaLnBrk="1" latinLnBrk="0" hangingPunct="1"/>
            <a:endParaRPr kumimoji="0" lang="en-US" sz="1800" kern="1200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Isosceles Triangle 7"/>
          <p:cNvSpPr/>
          <p:nvPr/>
        </p:nvSpPr>
        <p:spPr>
          <a:xfrm rot="5400000" flipV="1">
            <a:off x="7554353" y="309490"/>
            <a:ext cx="1892949" cy="1294228"/>
          </a:xfrm>
          <a:prstGeom prst="triangle">
            <a:avLst>
              <a:gd name="adj" fmla="val 51323"/>
            </a:avLst>
          </a:prstGeom>
          <a:gradFill flip="none" rotWithShape="1">
            <a:gsLst>
              <a:gs pos="0">
                <a:schemeClr val="accent1">
                  <a:shade val="30000"/>
                  <a:satMod val="155000"/>
                  <a:alpha val="100000"/>
                </a:schemeClr>
              </a:gs>
              <a:gs pos="60000">
                <a:schemeClr val="accent1">
                  <a:satMod val="160000"/>
                  <a:alpha val="100000"/>
                </a:schemeClr>
              </a:gs>
              <a:gs pos="100000">
                <a:schemeClr val="accent1">
                  <a:tint val="70000"/>
                  <a:satMod val="200000"/>
                  <a:alpha val="100000"/>
                </a:schemeClr>
              </a:gs>
            </a:gsLst>
            <a:lin ang="155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955632" y="6477000"/>
            <a:ext cx="2133600" cy="304800"/>
          </a:xfrm>
        </p:spPr>
        <p:txBody>
          <a:bodyPr/>
          <a:lstStyle/>
          <a:p>
            <a:fld id="{DA2D73A5-6517-4E7C-9B66-83A1CC961701}" type="datetimeFigureOut">
              <a:rPr lang="en-US" smtClean="0"/>
              <a:pPr/>
              <a:t>8/30/2023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19376" y="6480969"/>
            <a:ext cx="4260056" cy="3008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1056" y="809624"/>
            <a:ext cx="502920" cy="300831"/>
          </a:xfrm>
        </p:spPr>
        <p:txBody>
          <a:bodyPr/>
          <a:lstStyle/>
          <a:p>
            <a:fld id="{3795521C-4617-4B17-A0FD-12EF6AA69B36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1" name="Straight Connector 10"/>
          <p:cNvCxnSpPr/>
          <p:nvPr/>
        </p:nvCxnSpPr>
        <p:spPr>
          <a:xfrm rot="10800000">
            <a:off x="6468794" y="9381"/>
            <a:ext cx="2672861" cy="1900210"/>
          </a:xfrm>
          <a:prstGeom prst="line">
            <a:avLst/>
          </a:prstGeom>
          <a:noFill/>
          <a:ln w="6000" cap="rnd" cmpd="sng" algn="ctr">
            <a:solidFill>
              <a:schemeClr val="bg2">
                <a:tint val="50000"/>
                <a:satMod val="200000"/>
                <a:alpha val="4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V="1">
            <a:off x="0" y="7034"/>
            <a:ext cx="9136966" cy="6843933"/>
          </a:xfrm>
          <a:prstGeom prst="line">
            <a:avLst/>
          </a:prstGeom>
          <a:noFill/>
          <a:ln w="5000" cap="rnd" cmpd="sng" algn="ctr">
            <a:solidFill>
              <a:schemeClr val="bg2">
                <a:tint val="55000"/>
                <a:satMod val="200000"/>
                <a:alpha val="3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71464"/>
            <a:ext cx="7239000" cy="1362075"/>
          </a:xfrm>
        </p:spPr>
        <p:txBody>
          <a:bodyPr anchor="ctr"/>
          <a:lstStyle>
            <a:lvl1pPr marL="0" algn="l">
              <a:buNone/>
              <a:defRPr sz="3600" b="1" cap="none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1633536"/>
            <a:ext cx="3886200" cy="2286000"/>
          </a:xfrm>
        </p:spPr>
        <p:txBody>
          <a:bodyPr anchor="t"/>
          <a:lstStyle>
            <a:lvl1pPr marL="54864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 algn="l"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722437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22437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791456" y="6480969"/>
            <a:ext cx="2133600" cy="301752"/>
          </a:xfrm>
        </p:spPr>
        <p:txBody>
          <a:bodyPr/>
          <a:lstStyle/>
          <a:p>
            <a:fld id="{DA2D73A5-6517-4E7C-9B66-83A1CC961701}" type="datetimeFigureOut">
              <a:rPr lang="en-US" smtClean="0"/>
              <a:pPr/>
              <a:t>8/30/2023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57200" y="6480969"/>
            <a:ext cx="4260056" cy="301752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589520" y="6480969"/>
            <a:ext cx="502920" cy="301752"/>
          </a:xfrm>
        </p:spPr>
        <p:txBody>
          <a:bodyPr/>
          <a:lstStyle/>
          <a:p>
            <a:fld id="{3795521C-4617-4B17-A0FD-12EF6AA69B36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8198" y="290732"/>
            <a:ext cx="1066800" cy="6153912"/>
          </a:xfrm>
        </p:spPr>
        <p:txBody>
          <a:bodyPr vert="vert270" anchor="b"/>
          <a:lstStyle>
            <a:lvl1pPr marL="0" algn="ctr">
              <a:defRPr sz="3300" b="1">
                <a:ln w="6350">
                  <a:solidFill>
                    <a:schemeClr val="tx1"/>
                  </a:solidFill>
                </a:ln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5006" y="290732"/>
            <a:ext cx="581024" cy="3017520"/>
          </a:xfrm>
          <a:solidFill>
            <a:schemeClr val="bg1"/>
          </a:solidFill>
          <a:ln w="12700">
            <a:noFill/>
          </a:ln>
        </p:spPr>
        <p:txBody>
          <a:bodyPr vert="vert270" anchor="ctr"/>
          <a:lstStyle>
            <a:lvl1pPr marL="0" indent="0" algn="ctr">
              <a:buNone/>
              <a:defRPr sz="16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1365006" y="3427124"/>
            <a:ext cx="581024" cy="3017520"/>
          </a:xfrm>
          <a:solidFill>
            <a:schemeClr val="bg1"/>
          </a:solidFill>
          <a:ln w="12700">
            <a:noFill/>
          </a:ln>
        </p:spPr>
        <p:txBody>
          <a:bodyPr vert="vert270" anchor="ctr"/>
          <a:lstStyle>
            <a:lvl1pPr marL="0" indent="0" algn="ctr">
              <a:buNone/>
              <a:defRPr sz="16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2022230" y="290732"/>
            <a:ext cx="6858000" cy="3017520"/>
          </a:xfrm>
        </p:spPr>
        <p:txBody>
          <a:bodyPr/>
          <a:lstStyle>
            <a:lvl1pPr algn="l">
              <a:defRPr sz="2400"/>
            </a:lvl1pPr>
            <a:lvl2pPr algn="l">
              <a:defRPr sz="2000"/>
            </a:lvl2pPr>
            <a:lvl3pPr algn="l">
              <a:defRPr sz="1800"/>
            </a:lvl3pPr>
            <a:lvl4pPr algn="l">
              <a:defRPr sz="1600"/>
            </a:lvl4pPr>
            <a:lvl5pPr algn="l"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022230" y="3427124"/>
            <a:ext cx="6858000" cy="301752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791456" y="6480969"/>
            <a:ext cx="2130552" cy="301752"/>
          </a:xfrm>
        </p:spPr>
        <p:txBody>
          <a:bodyPr/>
          <a:lstStyle/>
          <a:p>
            <a:fld id="{DA2D73A5-6517-4E7C-9B66-83A1CC961701}" type="datetimeFigureOut">
              <a:rPr lang="en-US" smtClean="0"/>
              <a:pPr/>
              <a:t>8/30/2023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57200" y="6480969"/>
            <a:ext cx="4261104" cy="301752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589520" y="6483096"/>
            <a:ext cx="502920" cy="301752"/>
          </a:xfrm>
        </p:spPr>
        <p:txBody>
          <a:bodyPr/>
          <a:lstStyle>
            <a:lvl1pPr algn="ctr">
              <a:defRPr/>
            </a:lvl1pPr>
          </a:lstStyle>
          <a:p>
            <a:fld id="{3795521C-4617-4B17-A0FD-12EF6AA69B36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D73A5-6517-4E7C-9B66-83A1CC961701}" type="datetimeFigureOut">
              <a:rPr lang="en-US" smtClean="0"/>
              <a:pPr/>
              <a:t>8/30/2023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5521C-4617-4B17-A0FD-12EF6AA69B36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791456" y="6480969"/>
            <a:ext cx="2133600" cy="301752"/>
          </a:xfrm>
        </p:spPr>
        <p:txBody>
          <a:bodyPr/>
          <a:lstStyle/>
          <a:p>
            <a:fld id="{DA2D73A5-6517-4E7C-9B66-83A1CC961701}" type="datetimeFigureOut">
              <a:rPr lang="en-US" smtClean="0"/>
              <a:pPr/>
              <a:t>8/30/2023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57200" y="6481890"/>
            <a:ext cx="4260056" cy="3008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589520" y="6480969"/>
            <a:ext cx="502920" cy="301752"/>
          </a:xfrm>
        </p:spPr>
        <p:txBody>
          <a:bodyPr/>
          <a:lstStyle/>
          <a:p>
            <a:fld id="{3795521C-4617-4B17-A0FD-12EF6AA69B36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456" y="367664"/>
            <a:ext cx="914400" cy="5943600"/>
          </a:xfrm>
        </p:spPr>
        <p:txBody>
          <a:bodyPr vert="vert270" anchor="b"/>
          <a:lstStyle>
            <a:lvl1pPr marL="0" marR="18288" algn="r">
              <a:spcBef>
                <a:spcPts val="0"/>
              </a:spcBef>
              <a:buNone/>
              <a:defRPr sz="2900" b="0" cap="all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1135856" y="367664"/>
            <a:ext cx="2438400" cy="5943600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651250" y="320040"/>
            <a:ext cx="5276088" cy="5989320"/>
          </a:xfrm>
        </p:spPr>
        <p:txBody>
          <a:bodyPr/>
          <a:lstStyle>
            <a:lvl1pPr>
              <a:spcBef>
                <a:spcPts val="0"/>
              </a:spcBef>
              <a:defRPr sz="30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78976" y="6556248"/>
            <a:ext cx="2133600" cy="301752"/>
          </a:xfrm>
        </p:spPr>
        <p:txBody>
          <a:bodyPr/>
          <a:lstStyle>
            <a:lvl1pPr>
              <a:defRPr sz="900"/>
            </a:lvl1pPr>
          </a:lstStyle>
          <a:p>
            <a:fld id="{DA2D73A5-6517-4E7C-9B66-83A1CC961701}" type="datetimeFigureOut">
              <a:rPr lang="en-US" smtClean="0"/>
              <a:pPr/>
              <a:t>8/30/2023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35856" y="6556248"/>
            <a:ext cx="5143120" cy="301752"/>
          </a:xfrm>
        </p:spPr>
        <p:txBody>
          <a:bodyPr/>
          <a:lstStyle>
            <a:lvl1pPr>
              <a:defRPr sz="9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410576" y="6556248"/>
            <a:ext cx="502920" cy="301752"/>
          </a:xfrm>
        </p:spPr>
        <p:txBody>
          <a:bodyPr/>
          <a:lstStyle>
            <a:lvl1pPr>
              <a:defRPr sz="900"/>
            </a:lvl1pPr>
          </a:lstStyle>
          <a:p>
            <a:fld id="{3795521C-4617-4B17-A0FD-12EF6AA69B36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456" y="150896"/>
            <a:ext cx="914400" cy="6400800"/>
          </a:xfrm>
        </p:spPr>
        <p:txBody>
          <a:bodyPr vert="vert270" anchor="b"/>
          <a:lstStyle>
            <a:lvl1pPr marL="0" algn="l">
              <a:buNone/>
              <a:defRPr sz="3000" b="0" cap="all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138237" y="373966"/>
            <a:ext cx="7333488" cy="5486400"/>
          </a:xfrm>
          <a:solidFill>
            <a:schemeClr val="bg2">
              <a:shade val="50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5867400"/>
            <a:ext cx="7333488" cy="685800"/>
          </a:xfrm>
          <a:solidFill>
            <a:schemeClr val="accent1">
              <a:alpha val="15000"/>
            </a:schemeClr>
          </a:solidFill>
          <a:ln>
            <a:solidFill>
              <a:schemeClr val="accent1"/>
            </a:solidFill>
            <a:miter lim="800000"/>
          </a:ln>
        </p:spPr>
        <p:txBody>
          <a:bodyPr/>
          <a:lstStyle>
            <a:lvl1pPr marL="0" indent="0">
              <a:spcBef>
                <a:spcPts val="0"/>
              </a:spcBef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108192" y="6556248"/>
            <a:ext cx="2103120" cy="301752"/>
          </a:xfrm>
        </p:spPr>
        <p:txBody>
          <a:bodyPr/>
          <a:lstStyle>
            <a:lvl1pPr>
              <a:defRPr sz="900"/>
            </a:lvl1pPr>
          </a:lstStyle>
          <a:p>
            <a:fld id="{DA2D73A5-6517-4E7C-9B66-83A1CC961701}" type="datetimeFigureOut">
              <a:rPr lang="en-US" smtClean="0"/>
              <a:pPr/>
              <a:t>8/30/2023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70432" y="6557169"/>
            <a:ext cx="4948072" cy="301752"/>
          </a:xfrm>
        </p:spPr>
        <p:txBody>
          <a:bodyPr/>
          <a:lstStyle>
            <a:lvl1pPr>
              <a:defRPr sz="9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217192" y="6556248"/>
            <a:ext cx="365760" cy="301752"/>
          </a:xfrm>
        </p:spPr>
        <p:txBody>
          <a:bodyPr/>
          <a:lstStyle>
            <a:lvl1pPr algn="ctr">
              <a:defRPr sz="900"/>
            </a:lvl1pPr>
          </a:lstStyle>
          <a:p>
            <a:fld id="{3795521C-4617-4B17-A0FD-12EF6AA69B36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D73A5-6517-4E7C-9B66-83A1CC961701}" type="datetimeFigureOut">
              <a:rPr lang="en-US" smtClean="0"/>
              <a:pPr/>
              <a:t>8/30/2023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5521C-4617-4B17-A0FD-12EF6AA69B36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0" y="381000"/>
            <a:ext cx="1905000" cy="5486400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381000"/>
            <a:ext cx="6248400" cy="5486400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D73A5-6517-4E7C-9B66-83A1CC961701}" type="datetimeFigureOut">
              <a:rPr lang="en-US" smtClean="0"/>
              <a:pPr/>
              <a:t>8/30/2023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5521C-4617-4B17-A0FD-12EF6AA69B36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ight Triangle 10"/>
          <p:cNvSpPr/>
          <p:nvPr/>
        </p:nvSpPr>
        <p:spPr>
          <a:xfrm>
            <a:off x="7034" y="14068"/>
            <a:ext cx="9129932" cy="6836899"/>
          </a:xfrm>
          <a:prstGeom prst="rtTriangle">
            <a:avLst/>
          </a:prstGeom>
          <a:gradFill flip="none" rotWithShape="1">
            <a:gsLst>
              <a:gs pos="0">
                <a:schemeClr val="tx2">
                  <a:alpha val="10000"/>
                </a:schemeClr>
              </a:gs>
              <a:gs pos="70000">
                <a:schemeClr val="tx2">
                  <a:alpha val="8000"/>
                </a:schemeClr>
              </a:gs>
              <a:gs pos="100000">
                <a:schemeClr val="tx2">
                  <a:alpha val="1000"/>
                </a:schemeClr>
              </a:gs>
            </a:gsLst>
            <a:lin ang="80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7034"/>
            <a:ext cx="9136966" cy="6843933"/>
          </a:xfrm>
          <a:prstGeom prst="line">
            <a:avLst/>
          </a:prstGeom>
          <a:noFill/>
          <a:ln w="5000" cap="rnd" cmpd="sng" algn="ctr">
            <a:solidFill>
              <a:schemeClr val="bg2">
                <a:tint val="55000"/>
                <a:satMod val="200000"/>
                <a:alpha val="3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rot="10800000" flipV="1">
            <a:off x="6468794" y="4948410"/>
            <a:ext cx="2672861" cy="1900210"/>
          </a:xfrm>
          <a:prstGeom prst="line">
            <a:avLst/>
          </a:prstGeom>
          <a:noFill/>
          <a:ln w="6000" cap="rnd" cmpd="sng" algn="ctr">
            <a:solidFill>
              <a:schemeClr val="bg2">
                <a:tint val="50000"/>
                <a:satMod val="200000"/>
                <a:alpha val="4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67494"/>
            <a:ext cx="8229600" cy="1399032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882808"/>
            <a:ext cx="8229600" cy="4572000"/>
          </a:xfrm>
          <a:prstGeom prst="rect">
            <a:avLst/>
          </a:prstGeom>
        </p:spPr>
        <p:txBody>
          <a:bodyPr vert="horz" anchor="t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4791456" y="6480969"/>
            <a:ext cx="2133600" cy="301752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 b="0">
                <a:solidFill>
                  <a:schemeClr val="tx1"/>
                </a:solidFill>
              </a:defRPr>
            </a:lvl1pPr>
          </a:lstStyle>
          <a:p>
            <a:fld id="{DA2D73A5-6517-4E7C-9B66-83A1CC961701}" type="datetimeFigureOut">
              <a:rPr lang="en-US" smtClean="0"/>
              <a:pPr/>
              <a:t>8/30/2023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457200" y="6481890"/>
            <a:ext cx="4260056" cy="300831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7589520" y="6480969"/>
            <a:ext cx="502920" cy="301752"/>
          </a:xfrm>
          <a:prstGeom prst="rect">
            <a:avLst/>
          </a:prstGeom>
        </p:spPr>
        <p:txBody>
          <a:bodyPr vert="horz" anchor="b"/>
          <a:lstStyle>
            <a:lvl1pPr algn="ctr" eaLnBrk="1" latinLnBrk="0" hangingPunct="1">
              <a:defRPr kumimoji="0" sz="1200">
                <a:solidFill>
                  <a:schemeClr val="tx1"/>
                </a:solidFill>
              </a:defRPr>
            </a:lvl1pPr>
          </a:lstStyle>
          <a:p>
            <a:fld id="{3795521C-4617-4B17-A0FD-12EF6AA69B36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marL="484632" algn="l" rtl="0" eaLnBrk="1" latinLnBrk="0" hangingPunct="1">
        <a:spcBef>
          <a:spcPct val="0"/>
        </a:spcBef>
        <a:buNone/>
        <a:defRPr kumimoji="0" sz="4200" kern="1200">
          <a:ln w="6350">
            <a:solidFill>
              <a:schemeClr val="accent1">
                <a:shade val="43000"/>
              </a:schemeClr>
            </a:solidFill>
          </a:ln>
          <a:solidFill>
            <a:schemeClr val="accent1">
              <a:tint val="83000"/>
              <a:satMod val="150000"/>
            </a:schemeClr>
          </a:solidFill>
          <a:effectLst>
            <a:outerShdw blurRad="26000" dist="26000" dir="14500000" algn="tl" rotWithShape="0">
              <a:srgbClr val="000000">
                <a:alpha val="40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448056" indent="-384048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"/>
        <a:defRPr kumimoji="0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85750" algn="l" rtl="0" eaLnBrk="1" latinLnBrk="0" hangingPunct="1">
        <a:spcBef>
          <a:spcPct val="20000"/>
        </a:spcBef>
        <a:buClr>
          <a:schemeClr val="accent1"/>
        </a:buClr>
        <a:buSzPct val="95000"/>
        <a:buFont typeface="Verdana"/>
        <a:buChar char="›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106424" indent="-228600" algn="l" rtl="0" eaLnBrk="1" latinLnBrk="0" hangingPunct="1">
        <a:spcBef>
          <a:spcPct val="200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10312" algn="l" rtl="0" eaLnBrk="1" latinLnBrk="0" hangingPunct="1">
        <a:spcBef>
          <a:spcPct val="20000"/>
        </a:spcBef>
        <a:buClr>
          <a:schemeClr val="accent1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600200" indent="-210312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indent="-210312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084832" indent="-210312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14600" indent="-182880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wmf"/><Relationship Id="rId4" Type="http://schemas.openxmlformats.org/officeDocument/2006/relationships/oleObject" Target="../embeddings/oleObject2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w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.bin"/><Relationship Id="rId3" Type="http://schemas.openxmlformats.org/officeDocument/2006/relationships/image" Target="../media/image6.wmf"/><Relationship Id="rId7" Type="http://schemas.openxmlformats.org/officeDocument/2006/relationships/image" Target="../media/image8.w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6.bin"/><Relationship Id="rId11" Type="http://schemas.openxmlformats.org/officeDocument/2006/relationships/image" Target="../media/image10.wmf"/><Relationship Id="rId5" Type="http://schemas.openxmlformats.org/officeDocument/2006/relationships/image" Target="../media/image7.wmf"/><Relationship Id="rId10" Type="http://schemas.openxmlformats.org/officeDocument/2006/relationships/oleObject" Target="../embeddings/oleObject8.bin"/><Relationship Id="rId4" Type="http://schemas.openxmlformats.org/officeDocument/2006/relationships/oleObject" Target="../embeddings/oleObject5.bin"/><Relationship Id="rId9" Type="http://schemas.openxmlformats.org/officeDocument/2006/relationships/image" Target="../media/image9.w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hyperlink" Target="http://en.wikipedia.org/wiki/File:Pierre_and_Marie_Curie.jpg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oleObject" Target="../embeddings/oleObject9.bin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5.emf"/><Relationship Id="rId5" Type="http://schemas.openxmlformats.org/officeDocument/2006/relationships/oleObject" Target="../embeddings/oleObject10.bin"/><Relationship Id="rId4" Type="http://schemas.openxmlformats.org/officeDocument/2006/relationships/image" Target="../media/image14.jpe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oleObject" Target="../embeddings/oleObject11.bin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jpe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2514600"/>
            <a:ext cx="8062912" cy="1470025"/>
          </a:xfrm>
        </p:spPr>
        <p:txBody>
          <a:bodyPr>
            <a:noAutofit/>
          </a:bodyPr>
          <a:lstStyle/>
          <a:p>
            <a:pPr algn="ctr"/>
            <a:br>
              <a:rPr lang="en-US" sz="8000" b="1" dirty="0">
                <a:ln w="24500" cmpd="dbl">
                  <a:solidFill>
                    <a:schemeClr val="accent2">
                      <a:shade val="85000"/>
                      <a:satMod val="155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2">
                        <a:tint val="10000"/>
                        <a:satMod val="155000"/>
                      </a:schemeClr>
                    </a:gs>
                    <a:gs pos="60000">
                      <a:schemeClr val="accent2">
                        <a:tint val="30000"/>
                        <a:satMod val="155000"/>
                      </a:schemeClr>
                    </a:gs>
                    <a:gs pos="100000">
                      <a:schemeClr val="accent2">
                        <a:tint val="73000"/>
                        <a:satMod val="155000"/>
                      </a:schemeClr>
                    </a:gs>
                  </a:gsLst>
                  <a:lin ang="5400000"/>
                </a:gradFill>
                <a:effectLst>
                  <a:glow rad="101600">
                    <a:schemeClr val="accent2">
                      <a:satMod val="175000"/>
                      <a:alpha val="40000"/>
                    </a:schemeClr>
                  </a:glow>
                  <a:outerShdw blurRad="38100" dist="38100" dir="7020000" algn="tl">
                    <a:srgbClr val="000000">
                      <a:alpha val="35000"/>
                    </a:srgbClr>
                  </a:outerShdw>
                </a:effectLst>
              </a:rPr>
            </a:br>
            <a:r>
              <a:rPr lang="en-US" sz="8000" b="1" dirty="0">
                <a:ln w="24500" cmpd="dbl">
                  <a:solidFill>
                    <a:schemeClr val="accent2">
                      <a:shade val="85000"/>
                      <a:satMod val="155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2">
                        <a:tint val="10000"/>
                        <a:satMod val="155000"/>
                      </a:schemeClr>
                    </a:gs>
                    <a:gs pos="60000">
                      <a:schemeClr val="accent2">
                        <a:tint val="30000"/>
                        <a:satMod val="155000"/>
                      </a:schemeClr>
                    </a:gs>
                    <a:gs pos="100000">
                      <a:schemeClr val="accent2">
                        <a:tint val="73000"/>
                        <a:satMod val="155000"/>
                      </a:schemeClr>
                    </a:gs>
                  </a:gsLst>
                  <a:lin ang="5400000"/>
                </a:gradFill>
                <a:effectLst>
                  <a:glow rad="101600">
                    <a:schemeClr val="accent2">
                      <a:satMod val="175000"/>
                      <a:alpha val="40000"/>
                    </a:schemeClr>
                  </a:glow>
                  <a:outerShdw blurRad="38100" dist="38100" dir="7020000" algn="tl">
                    <a:srgbClr val="000000">
                      <a:alpha val="35000"/>
                    </a:srgbClr>
                  </a:outerShdw>
                </a:effectLst>
              </a:rPr>
              <a:t>NUCLEAR CHEMISTRY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48200"/>
            <a:ext cx="8991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>
                <a:latin typeface="Arial" pitchFamily="34" charset="0"/>
                <a:cs typeface="Arial" pitchFamily="34" charset="0"/>
              </a:rPr>
              <a:t>Book Name: Physical Chemistry </a:t>
            </a:r>
          </a:p>
          <a:p>
            <a:pPr algn="just"/>
            <a:r>
              <a:rPr lang="en-US" dirty="0">
                <a:latin typeface="Arial" pitchFamily="34" charset="0"/>
                <a:cs typeface="Arial" pitchFamily="34" charset="0"/>
              </a:rPr>
              <a:t>Author Name: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Arun</a:t>
            </a:r>
            <a:r>
              <a:rPr lang="en-US" dirty="0"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Bahl</a:t>
            </a:r>
            <a:r>
              <a:rPr lang="en-US" dirty="0">
                <a:latin typeface="Arial" pitchFamily="34" charset="0"/>
                <a:cs typeface="Arial" pitchFamily="34" charset="0"/>
              </a:rPr>
              <a:t>, B.S.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Bahl</a:t>
            </a:r>
            <a:r>
              <a:rPr lang="en-US" dirty="0">
                <a:latin typeface="Arial" pitchFamily="34" charset="0"/>
                <a:cs typeface="Arial" pitchFamily="34" charset="0"/>
              </a:rPr>
              <a:t>, G.D.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Tuli</a:t>
            </a:r>
            <a:endParaRPr lang="en-US" dirty="0">
              <a:latin typeface="Arial" pitchFamily="34" charset="0"/>
              <a:cs typeface="Arial" pitchFamily="34" charset="0"/>
            </a:endParaRPr>
          </a:p>
          <a:p>
            <a:pPr algn="just"/>
            <a:r>
              <a:rPr lang="en-US" dirty="0">
                <a:latin typeface="Arial" pitchFamily="34" charset="0"/>
                <a:cs typeface="Arial" pitchFamily="34" charset="0"/>
              </a:rPr>
              <a:t>Page number 103-138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609600"/>
            <a:ext cx="8077200" cy="5867400"/>
          </a:xfrm>
        </p:spPr>
        <p:txBody>
          <a:bodyPr>
            <a:normAutofit/>
          </a:bodyPr>
          <a:lstStyle/>
          <a:p>
            <a:r>
              <a:rPr lang="en-US" sz="2800" dirty="0"/>
              <a:t>         </a:t>
            </a:r>
          </a:p>
          <a:p>
            <a:r>
              <a:rPr lang="en-US" sz="2800" dirty="0"/>
              <a:t>        Nuclear chemistry is the sub discipline of chemistry that is concerned with changes in the nucleus of elements. These changes are the source of radioactivity and nuclear power. </a:t>
            </a:r>
          </a:p>
          <a:p>
            <a:pPr>
              <a:buSzPct val="100000"/>
              <a:buFont typeface="Wingdings" pitchFamily="2" charset="2"/>
              <a:buChar char="v"/>
            </a:pPr>
            <a:endParaRPr lang="en-US" sz="2800" dirty="0"/>
          </a:p>
          <a:p>
            <a:pPr>
              <a:buSzPct val="100000"/>
              <a:buFont typeface="Wingdings" pitchFamily="2" charset="2"/>
              <a:buChar char="v"/>
            </a:pPr>
            <a:r>
              <a:rPr lang="en-US" sz="2800" dirty="0"/>
              <a:t>Nucleons</a:t>
            </a:r>
          </a:p>
          <a:p>
            <a:r>
              <a:rPr lang="en-US" sz="2800" dirty="0"/>
              <a:t>              two subatomic particles that reside in the nucleus known as  protons and neutrons are called Nucleons.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:\diploma\Atoms  molecules and chemical bonding\atom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838200"/>
            <a:ext cx="8153400" cy="2514600"/>
          </a:xfrm>
          <a:prstGeom prst="rect">
            <a:avLst/>
          </a:prstGeom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>
              <a:rot lat="300000" lon="19800000" rev="0"/>
            </a:camera>
            <a:lightRig rig="threePt" dir="t">
              <a:rot lat="0" lon="0" rev="2700000"/>
            </a:lightRig>
          </a:scene3d>
          <a:sp3d>
            <a:bevelT w="63500" h="50800"/>
          </a:sp3d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81000" y="3810000"/>
            <a:ext cx="7848600" cy="281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Text Box 2"/>
          <p:cNvSpPr txBox="1">
            <a:spLocks noChangeArrowheads="1"/>
          </p:cNvSpPr>
          <p:nvPr/>
        </p:nvSpPr>
        <p:spPr bwMode="auto">
          <a:xfrm>
            <a:off x="0" y="0"/>
            <a:ext cx="6277681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AU" sz="2800" b="1" dirty="0">
                <a:solidFill>
                  <a:srgbClr val="FF0000"/>
                </a:solidFill>
                <a:latin typeface="Arial" charset="0"/>
              </a:rPr>
              <a:t>Nucleons-The Sub-Atomic Particles</a:t>
            </a:r>
          </a:p>
        </p:txBody>
      </p:sp>
      <p:sp>
        <p:nvSpPr>
          <p:cNvPr id="1029" name="Text Box 4"/>
          <p:cNvSpPr txBox="1">
            <a:spLocks noChangeArrowheads="1"/>
          </p:cNvSpPr>
          <p:nvPr/>
        </p:nvSpPr>
        <p:spPr bwMode="auto">
          <a:xfrm>
            <a:off x="304800" y="1295400"/>
            <a:ext cx="184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en-US" sz="2400">
              <a:latin typeface="Arial" charset="0"/>
            </a:endParaRPr>
          </a:p>
        </p:txBody>
      </p:sp>
      <p:graphicFrame>
        <p:nvGraphicFramePr>
          <p:cNvPr id="1026" name="Object 5"/>
          <p:cNvGraphicFramePr>
            <a:graphicFrameLocks noChangeAspect="1"/>
          </p:cNvGraphicFramePr>
          <p:nvPr/>
        </p:nvGraphicFramePr>
        <p:xfrm>
          <a:off x="73025" y="838200"/>
          <a:ext cx="9070975" cy="2627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615422" imgH="1629799" progId="Word.Document.8">
                  <p:embed/>
                </p:oleObj>
              </mc:Choice>
              <mc:Fallback>
                <p:oleObj name="Document" r:id="rId2" imgW="5615422" imgH="1629799" progId="Word.Document.8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025" y="838200"/>
                        <a:ext cx="9070975" cy="2627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0" name="Text Box 7"/>
          <p:cNvSpPr txBox="1">
            <a:spLocks noChangeArrowheads="1"/>
          </p:cNvSpPr>
          <p:nvPr/>
        </p:nvSpPr>
        <p:spPr bwMode="auto">
          <a:xfrm>
            <a:off x="152400" y="4572000"/>
            <a:ext cx="8534400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AU" sz="2400" dirty="0">
                <a:latin typeface="Arial" charset="0"/>
              </a:rPr>
              <a:t>The unit of mass is atomic mass units (</a:t>
            </a:r>
            <a:r>
              <a:rPr lang="en-AU" sz="2400" dirty="0" err="1">
                <a:latin typeface="Arial" charset="0"/>
              </a:rPr>
              <a:t>a.m.u.</a:t>
            </a:r>
            <a:r>
              <a:rPr lang="en-AU" sz="2400" dirty="0">
                <a:latin typeface="Arial" charset="0"/>
              </a:rPr>
              <a:t>), defined by setting the mass of the isotope        to exactly 12.  </a:t>
            </a:r>
          </a:p>
          <a:p>
            <a:r>
              <a:rPr lang="en-AU" sz="2400" dirty="0">
                <a:latin typeface="Arial" charset="0"/>
              </a:rPr>
              <a:t>1 </a:t>
            </a:r>
            <a:r>
              <a:rPr lang="en-AU" sz="2400" dirty="0" err="1">
                <a:latin typeface="Arial" charset="0"/>
              </a:rPr>
              <a:t>a.m.u</a:t>
            </a:r>
            <a:r>
              <a:rPr lang="en-AU" sz="2400" dirty="0">
                <a:latin typeface="Arial" charset="0"/>
              </a:rPr>
              <a:t>. = 1.66 x 10</a:t>
            </a:r>
            <a:r>
              <a:rPr lang="en-AU" sz="2400" baseline="30000" dirty="0">
                <a:latin typeface="Arial" charset="0"/>
              </a:rPr>
              <a:t>-27</a:t>
            </a:r>
            <a:r>
              <a:rPr lang="en-AU" sz="2400" dirty="0">
                <a:latin typeface="Arial" charset="0"/>
              </a:rPr>
              <a:t> kg.</a:t>
            </a:r>
          </a:p>
        </p:txBody>
      </p:sp>
      <p:graphicFrame>
        <p:nvGraphicFramePr>
          <p:cNvPr id="1027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36068909"/>
              </p:ext>
            </p:extLst>
          </p:nvPr>
        </p:nvGraphicFramePr>
        <p:xfrm>
          <a:off x="4572000" y="4924514"/>
          <a:ext cx="4953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41200" imgH="241200" progId="">
                  <p:embed/>
                </p:oleObj>
              </mc:Choice>
              <mc:Fallback>
                <p:oleObj name="Equation" r:id="rId4" imgW="241200" imgH="241200" progId="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4924514"/>
                        <a:ext cx="495300" cy="495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1" name="AutoShape 9"/>
          <p:cNvSpPr>
            <a:spLocks noChangeArrowheads="1"/>
          </p:cNvSpPr>
          <p:nvPr/>
        </p:nvSpPr>
        <p:spPr bwMode="auto">
          <a:xfrm rot="7806162">
            <a:off x="1135856" y="3271741"/>
            <a:ext cx="623888" cy="457200"/>
          </a:xfrm>
          <a:prstGeom prst="leftArrow">
            <a:avLst>
              <a:gd name="adj1" fmla="val 50000"/>
              <a:gd name="adj2" fmla="val 34115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32" name="Text Box 10"/>
          <p:cNvSpPr txBox="1">
            <a:spLocks noChangeArrowheads="1"/>
          </p:cNvSpPr>
          <p:nvPr/>
        </p:nvSpPr>
        <p:spPr bwMode="auto">
          <a:xfrm>
            <a:off x="152400" y="3962400"/>
            <a:ext cx="3124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AU" sz="1800" dirty="0">
                <a:solidFill>
                  <a:srgbClr val="FF0000"/>
                </a:solidFill>
                <a:latin typeface="Arial" charset="0"/>
              </a:rPr>
              <a:t>Not present in stable </a:t>
            </a:r>
            <a:r>
              <a:rPr lang="en-AU" sz="1800" dirty="0">
                <a:solidFill>
                  <a:schemeClr val="accent2"/>
                </a:solidFill>
                <a:latin typeface="Arial" charset="0"/>
              </a:rPr>
              <a:t>atoms</a:t>
            </a:r>
            <a:r>
              <a:rPr lang="en-AU" sz="1800" dirty="0">
                <a:solidFill>
                  <a:srgbClr val="FF0000"/>
                </a:solidFill>
                <a:latin typeface="Arial" charset="0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Text Box 2"/>
          <p:cNvSpPr txBox="1">
            <a:spLocks noChangeArrowheads="1"/>
          </p:cNvSpPr>
          <p:nvPr/>
        </p:nvSpPr>
        <p:spPr bwMode="auto">
          <a:xfrm>
            <a:off x="152400" y="76200"/>
            <a:ext cx="400141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AU" sz="2800" b="1" dirty="0">
                <a:solidFill>
                  <a:srgbClr val="FF0000"/>
                </a:solidFill>
                <a:latin typeface="Arial" charset="0"/>
              </a:rPr>
              <a:t>Nuclides and Isotopes</a:t>
            </a:r>
          </a:p>
        </p:txBody>
      </p:sp>
      <p:sp>
        <p:nvSpPr>
          <p:cNvPr id="2052" name="Text Box 3"/>
          <p:cNvSpPr txBox="1">
            <a:spLocks noChangeArrowheads="1"/>
          </p:cNvSpPr>
          <p:nvPr/>
        </p:nvSpPr>
        <p:spPr bwMode="auto">
          <a:xfrm>
            <a:off x="304800" y="1295400"/>
            <a:ext cx="184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en-US" sz="2400">
              <a:latin typeface="Arial" charset="0"/>
            </a:endParaRPr>
          </a:p>
        </p:txBody>
      </p:sp>
      <p:sp>
        <p:nvSpPr>
          <p:cNvPr id="2053" name="Text Box 5"/>
          <p:cNvSpPr txBox="1">
            <a:spLocks noChangeArrowheads="1"/>
          </p:cNvSpPr>
          <p:nvPr/>
        </p:nvSpPr>
        <p:spPr bwMode="auto">
          <a:xfrm>
            <a:off x="114300" y="797510"/>
            <a:ext cx="8915400" cy="52629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282575" indent="-282575"/>
            <a:r>
              <a:rPr lang="en-AU" sz="2400" dirty="0">
                <a:latin typeface="Arial" charset="0"/>
              </a:rPr>
              <a:t>The composition of any nucleus is defined by two numbers.</a:t>
            </a:r>
          </a:p>
          <a:p>
            <a:pPr marL="282575" indent="-282575">
              <a:buFontTx/>
              <a:buChar char="•"/>
            </a:pPr>
            <a:r>
              <a:rPr lang="en-AU" sz="2400" dirty="0">
                <a:latin typeface="Arial" charset="0"/>
              </a:rPr>
              <a:t>The </a:t>
            </a:r>
            <a:r>
              <a:rPr lang="en-AU" sz="2400" u="sng" dirty="0">
                <a:solidFill>
                  <a:srgbClr val="FF0000"/>
                </a:solidFill>
                <a:latin typeface="Arial" charset="0"/>
              </a:rPr>
              <a:t>atomic number</a:t>
            </a:r>
            <a:r>
              <a:rPr lang="en-AU" sz="2400" dirty="0">
                <a:latin typeface="Arial" charset="0"/>
              </a:rPr>
              <a:t> is the number of protons in the nucleus.</a:t>
            </a:r>
          </a:p>
          <a:p>
            <a:pPr marL="774700" lvl="1" indent="-301625">
              <a:buFontTx/>
              <a:buChar char="•"/>
            </a:pPr>
            <a:r>
              <a:rPr lang="en-AU" sz="2400" dirty="0">
                <a:solidFill>
                  <a:schemeClr val="accent2"/>
                </a:solidFill>
                <a:latin typeface="Arial" charset="0"/>
              </a:rPr>
              <a:t>This defines the chemical nature of the atom.</a:t>
            </a:r>
          </a:p>
          <a:p>
            <a:pPr marL="774700" lvl="1" indent="-301625">
              <a:buFontTx/>
              <a:buChar char="•"/>
            </a:pPr>
            <a:r>
              <a:rPr lang="en-AU" sz="2400" dirty="0">
                <a:solidFill>
                  <a:schemeClr val="accent2"/>
                </a:solidFill>
                <a:latin typeface="Arial" charset="0"/>
              </a:rPr>
              <a:t>It is equal to the total charge on the nucleus.</a:t>
            </a:r>
          </a:p>
          <a:p>
            <a:pPr marL="282575" indent="-282575">
              <a:buFontTx/>
              <a:buChar char="•"/>
            </a:pPr>
            <a:r>
              <a:rPr lang="en-AU" sz="2400" dirty="0">
                <a:latin typeface="Arial" charset="0"/>
              </a:rPr>
              <a:t>The </a:t>
            </a:r>
            <a:r>
              <a:rPr lang="en-AU" sz="2400" u="sng" dirty="0">
                <a:solidFill>
                  <a:srgbClr val="FF0000"/>
                </a:solidFill>
                <a:latin typeface="Arial" charset="0"/>
              </a:rPr>
              <a:t>mass number</a:t>
            </a:r>
            <a:r>
              <a:rPr lang="en-AU" sz="2400" dirty="0">
                <a:latin typeface="Arial" charset="0"/>
              </a:rPr>
              <a:t> is the total number of nucleons (protons and neutrons) in the nucleus.</a:t>
            </a:r>
          </a:p>
          <a:p>
            <a:pPr marL="282575" indent="-282575"/>
            <a:endParaRPr lang="en-AU" sz="2400" dirty="0">
              <a:latin typeface="Arial" charset="0"/>
            </a:endParaRPr>
          </a:p>
          <a:p>
            <a:pPr marL="282575" indent="-282575"/>
            <a:r>
              <a:rPr lang="en-AU" sz="2400" dirty="0">
                <a:latin typeface="Arial" charset="0"/>
              </a:rPr>
              <a:t>E.g.        </a:t>
            </a:r>
            <a:r>
              <a:rPr lang="en-AU" sz="2400" dirty="0">
                <a:solidFill>
                  <a:schemeClr val="accent2"/>
                </a:solidFill>
                <a:latin typeface="Arial" charset="0"/>
              </a:rPr>
              <a:t>has an atomic number of 6 and a mass number of 12.</a:t>
            </a:r>
            <a:endParaRPr lang="en-AU" sz="2400" dirty="0">
              <a:latin typeface="Arial" charset="0"/>
            </a:endParaRPr>
          </a:p>
          <a:p>
            <a:pPr marL="282575" indent="-282575"/>
            <a:endParaRPr lang="en-AU" sz="2400" dirty="0">
              <a:latin typeface="Arial" charset="0"/>
            </a:endParaRPr>
          </a:p>
          <a:p>
            <a:pPr marL="282575" indent="-282575">
              <a:buFontTx/>
              <a:buChar char="•"/>
            </a:pPr>
            <a:r>
              <a:rPr lang="en-AU" sz="2400" dirty="0">
                <a:latin typeface="Arial" charset="0"/>
              </a:rPr>
              <a:t>A </a:t>
            </a:r>
            <a:r>
              <a:rPr lang="en-AU" sz="2400" u="sng" dirty="0">
                <a:solidFill>
                  <a:srgbClr val="FF0000"/>
                </a:solidFill>
                <a:latin typeface="Arial" charset="0"/>
              </a:rPr>
              <a:t>nuclide</a:t>
            </a:r>
            <a:r>
              <a:rPr lang="en-AU" sz="2400" dirty="0">
                <a:latin typeface="Arial" charset="0"/>
              </a:rPr>
              <a:t> is an atom with a particular mass number and atomic number.</a:t>
            </a:r>
          </a:p>
          <a:p>
            <a:pPr marL="282575" indent="-282575">
              <a:buFontTx/>
              <a:buChar char="•"/>
            </a:pPr>
            <a:endParaRPr lang="en-AU" sz="2400" dirty="0">
              <a:latin typeface="Arial" charset="0"/>
            </a:endParaRPr>
          </a:p>
          <a:p>
            <a:pPr marL="282575" indent="-282575">
              <a:buFontTx/>
              <a:buChar char="•"/>
            </a:pPr>
            <a:r>
              <a:rPr lang="en-AU" sz="2400" dirty="0">
                <a:latin typeface="Arial" charset="0"/>
              </a:rPr>
              <a:t>Nuclei with the same atomic number but different mass numbers are called </a:t>
            </a:r>
            <a:r>
              <a:rPr lang="en-AU" sz="2400" u="sng" dirty="0">
                <a:solidFill>
                  <a:srgbClr val="FF0000"/>
                </a:solidFill>
                <a:latin typeface="Arial" charset="0"/>
              </a:rPr>
              <a:t>isotopes</a:t>
            </a:r>
            <a:r>
              <a:rPr lang="en-AU" sz="2400" dirty="0">
                <a:latin typeface="Arial" charset="0"/>
              </a:rPr>
              <a:t>.</a:t>
            </a:r>
          </a:p>
        </p:txBody>
      </p:sp>
      <p:graphicFrame>
        <p:nvGraphicFramePr>
          <p:cNvPr id="2050" name="Object 6"/>
          <p:cNvGraphicFramePr>
            <a:graphicFrameLocks noChangeAspect="1"/>
          </p:cNvGraphicFramePr>
          <p:nvPr/>
        </p:nvGraphicFramePr>
        <p:xfrm>
          <a:off x="990600" y="3352800"/>
          <a:ext cx="4953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41200" imgH="241200" progId="">
                  <p:embed/>
                </p:oleObj>
              </mc:Choice>
              <mc:Fallback>
                <p:oleObj name="Equation" r:id="rId3" imgW="241200" imgH="241200" progId="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3352800"/>
                        <a:ext cx="495300" cy="495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9" name="Text Box 2"/>
          <p:cNvSpPr txBox="1">
            <a:spLocks noChangeArrowheads="1"/>
          </p:cNvSpPr>
          <p:nvPr/>
        </p:nvSpPr>
        <p:spPr bwMode="auto">
          <a:xfrm>
            <a:off x="228600" y="0"/>
            <a:ext cx="400141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AU" sz="2800" b="1" dirty="0">
                <a:solidFill>
                  <a:srgbClr val="FF0000"/>
                </a:solidFill>
                <a:latin typeface="Arial" charset="0"/>
              </a:rPr>
              <a:t>Nuclides and Isotopes</a:t>
            </a:r>
          </a:p>
        </p:txBody>
      </p:sp>
      <p:sp>
        <p:nvSpPr>
          <p:cNvPr id="3080" name="Text Box 3"/>
          <p:cNvSpPr txBox="1">
            <a:spLocks noChangeArrowheads="1"/>
          </p:cNvSpPr>
          <p:nvPr/>
        </p:nvSpPr>
        <p:spPr bwMode="auto">
          <a:xfrm>
            <a:off x="304800" y="1295400"/>
            <a:ext cx="184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en-US" sz="2400">
              <a:latin typeface="Arial" charset="0"/>
            </a:endParaRPr>
          </a:p>
        </p:txBody>
      </p:sp>
      <p:sp>
        <p:nvSpPr>
          <p:cNvPr id="3081" name="Text Box 4"/>
          <p:cNvSpPr txBox="1">
            <a:spLocks noChangeArrowheads="1"/>
          </p:cNvSpPr>
          <p:nvPr/>
        </p:nvSpPr>
        <p:spPr bwMode="auto">
          <a:xfrm>
            <a:off x="228600" y="1085671"/>
            <a:ext cx="8534400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AU" sz="2400" dirty="0">
                <a:latin typeface="Arial" charset="0"/>
              </a:rPr>
              <a:t>Nuclei with the same atomic number but different mass numbers are called </a:t>
            </a:r>
            <a:r>
              <a:rPr lang="en-AU" sz="2400" u="sng" dirty="0">
                <a:solidFill>
                  <a:srgbClr val="FF0000"/>
                </a:solidFill>
                <a:latin typeface="Arial" charset="0"/>
              </a:rPr>
              <a:t>isotopes</a:t>
            </a:r>
            <a:r>
              <a:rPr lang="en-AU" sz="2400" dirty="0">
                <a:latin typeface="Arial" charset="0"/>
              </a:rPr>
              <a:t>.</a:t>
            </a:r>
          </a:p>
          <a:p>
            <a:r>
              <a:rPr lang="en-AU" sz="2400" dirty="0">
                <a:latin typeface="Arial" charset="0"/>
              </a:rPr>
              <a:t>E.g. Carbon may exist as a number of isotopes</a:t>
            </a:r>
          </a:p>
        </p:txBody>
      </p:sp>
      <p:graphicFrame>
        <p:nvGraphicFramePr>
          <p:cNvPr id="3074" name="Object 21"/>
          <p:cNvGraphicFramePr>
            <a:graphicFrameLocks noChangeAspect="1"/>
          </p:cNvGraphicFramePr>
          <p:nvPr/>
        </p:nvGraphicFramePr>
        <p:xfrm>
          <a:off x="457200" y="3162300"/>
          <a:ext cx="471488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28600" imgH="241200" progId="">
                  <p:embed/>
                </p:oleObj>
              </mc:Choice>
              <mc:Fallback>
                <p:oleObj name="Equation" r:id="rId2" imgW="228600" imgH="241200" progId="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3162300"/>
                        <a:ext cx="471488" cy="495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5" name="Object 22"/>
          <p:cNvGraphicFramePr>
            <a:graphicFrameLocks noChangeAspect="1"/>
          </p:cNvGraphicFramePr>
          <p:nvPr/>
        </p:nvGraphicFramePr>
        <p:xfrm>
          <a:off x="2359025" y="3162300"/>
          <a:ext cx="4953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41200" imgH="241200" progId="">
                  <p:embed/>
                </p:oleObj>
              </mc:Choice>
              <mc:Fallback>
                <p:oleObj name="Equation" r:id="rId4" imgW="241200" imgH="241200" progId="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9025" y="3162300"/>
                        <a:ext cx="495300" cy="495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6" name="Object 23"/>
          <p:cNvGraphicFramePr>
            <a:graphicFrameLocks noChangeAspect="1"/>
          </p:cNvGraphicFramePr>
          <p:nvPr/>
        </p:nvGraphicFramePr>
        <p:xfrm>
          <a:off x="4284663" y="3162300"/>
          <a:ext cx="4953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41200" imgH="241200" progId="">
                  <p:embed/>
                </p:oleObj>
              </mc:Choice>
              <mc:Fallback>
                <p:oleObj name="Equation" r:id="rId6" imgW="241200" imgH="241200" progId="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4663" y="3162300"/>
                        <a:ext cx="495300" cy="495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7" name="Object 24"/>
          <p:cNvGraphicFramePr>
            <a:graphicFrameLocks noChangeAspect="1"/>
          </p:cNvGraphicFramePr>
          <p:nvPr/>
        </p:nvGraphicFramePr>
        <p:xfrm>
          <a:off x="6210300" y="3162300"/>
          <a:ext cx="4953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41200" imgH="241200" progId="">
                  <p:embed/>
                </p:oleObj>
              </mc:Choice>
              <mc:Fallback>
                <p:oleObj name="Equation" r:id="rId8" imgW="241200" imgH="241200" progId="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10300" y="3162300"/>
                        <a:ext cx="495300" cy="495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82" name="AutoShape 9"/>
          <p:cNvSpPr>
            <a:spLocks noChangeArrowheads="1"/>
          </p:cNvSpPr>
          <p:nvPr/>
        </p:nvSpPr>
        <p:spPr bwMode="auto">
          <a:xfrm rot="5386153">
            <a:off x="2240756" y="3855244"/>
            <a:ext cx="700088" cy="304800"/>
          </a:xfrm>
          <a:prstGeom prst="leftArrow">
            <a:avLst>
              <a:gd name="adj1" fmla="val 50000"/>
              <a:gd name="adj2" fmla="val 57422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083" name="Text Box 10"/>
          <p:cNvSpPr txBox="1">
            <a:spLocks noChangeArrowheads="1"/>
          </p:cNvSpPr>
          <p:nvPr/>
        </p:nvSpPr>
        <p:spPr bwMode="auto">
          <a:xfrm>
            <a:off x="1828800" y="4495800"/>
            <a:ext cx="1676400" cy="173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AU" sz="1800">
                <a:latin typeface="Arial" charset="0"/>
              </a:rPr>
              <a:t>Stable nucleus; accounts for 98.89% of natural carbon.</a:t>
            </a:r>
          </a:p>
        </p:txBody>
      </p:sp>
      <p:sp>
        <p:nvSpPr>
          <p:cNvPr id="3084" name="AutoShape 11"/>
          <p:cNvSpPr>
            <a:spLocks noChangeArrowheads="1"/>
          </p:cNvSpPr>
          <p:nvPr/>
        </p:nvSpPr>
        <p:spPr bwMode="auto">
          <a:xfrm rot="5386153">
            <a:off x="4221956" y="3867944"/>
            <a:ext cx="700088" cy="304800"/>
          </a:xfrm>
          <a:prstGeom prst="leftArrow">
            <a:avLst>
              <a:gd name="adj1" fmla="val 50000"/>
              <a:gd name="adj2" fmla="val 57422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085" name="Text Box 12"/>
          <p:cNvSpPr txBox="1">
            <a:spLocks noChangeArrowheads="1"/>
          </p:cNvSpPr>
          <p:nvPr/>
        </p:nvSpPr>
        <p:spPr bwMode="auto">
          <a:xfrm>
            <a:off x="3810000" y="4508500"/>
            <a:ext cx="1676400" cy="173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AU" sz="1800">
                <a:latin typeface="Arial" charset="0"/>
              </a:rPr>
              <a:t>Stable nucleus; accounts for 1.11% of natural carbon.</a:t>
            </a:r>
          </a:p>
        </p:txBody>
      </p:sp>
      <p:sp>
        <p:nvSpPr>
          <p:cNvPr id="3086" name="AutoShape 13"/>
          <p:cNvSpPr>
            <a:spLocks noChangeArrowheads="1"/>
          </p:cNvSpPr>
          <p:nvPr/>
        </p:nvSpPr>
        <p:spPr bwMode="auto">
          <a:xfrm rot="5386153">
            <a:off x="7879556" y="3855244"/>
            <a:ext cx="700088" cy="304800"/>
          </a:xfrm>
          <a:prstGeom prst="leftArrow">
            <a:avLst>
              <a:gd name="adj1" fmla="val 50000"/>
              <a:gd name="adj2" fmla="val 57422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087" name="Text Box 14"/>
          <p:cNvSpPr txBox="1">
            <a:spLocks noChangeArrowheads="1"/>
          </p:cNvSpPr>
          <p:nvPr/>
        </p:nvSpPr>
        <p:spPr bwMode="auto">
          <a:xfrm>
            <a:off x="7467600" y="4495800"/>
            <a:ext cx="16764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AU" sz="1800">
                <a:solidFill>
                  <a:srgbClr val="FF0000"/>
                </a:solidFill>
                <a:latin typeface="Arial" charset="0"/>
              </a:rPr>
              <a:t>Unstable nucleus.</a:t>
            </a:r>
            <a:endParaRPr lang="en-AU" sz="1800">
              <a:latin typeface="Arial" charset="0"/>
            </a:endParaRPr>
          </a:p>
        </p:txBody>
      </p:sp>
      <p:sp>
        <p:nvSpPr>
          <p:cNvPr id="3088" name="AutoShape 15"/>
          <p:cNvSpPr>
            <a:spLocks noChangeArrowheads="1"/>
          </p:cNvSpPr>
          <p:nvPr/>
        </p:nvSpPr>
        <p:spPr bwMode="auto">
          <a:xfrm rot="5386153">
            <a:off x="335756" y="3855244"/>
            <a:ext cx="700088" cy="304800"/>
          </a:xfrm>
          <a:prstGeom prst="leftArrow">
            <a:avLst>
              <a:gd name="adj1" fmla="val 50000"/>
              <a:gd name="adj2" fmla="val 57422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089" name="Text Box 16"/>
          <p:cNvSpPr txBox="1">
            <a:spLocks noChangeArrowheads="1"/>
          </p:cNvSpPr>
          <p:nvPr/>
        </p:nvSpPr>
        <p:spPr bwMode="auto">
          <a:xfrm>
            <a:off x="-76200" y="4495800"/>
            <a:ext cx="1676400" cy="173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AU" sz="1800">
                <a:solidFill>
                  <a:srgbClr val="FF0000"/>
                </a:solidFill>
                <a:latin typeface="Arial" charset="0"/>
              </a:rPr>
              <a:t>Unstable nucleus; prepared by nuclear reaction in a cyclotron.</a:t>
            </a:r>
          </a:p>
        </p:txBody>
      </p:sp>
      <p:graphicFrame>
        <p:nvGraphicFramePr>
          <p:cNvPr id="3078" name="Object 25"/>
          <p:cNvGraphicFramePr>
            <a:graphicFrameLocks noChangeAspect="1"/>
          </p:cNvGraphicFramePr>
          <p:nvPr/>
        </p:nvGraphicFramePr>
        <p:xfrm>
          <a:off x="7924800" y="3162300"/>
          <a:ext cx="4953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41200" imgH="241200" progId="">
                  <p:embed/>
                </p:oleObj>
              </mc:Choice>
              <mc:Fallback>
                <p:oleObj name="Equation" r:id="rId10" imgW="241200" imgH="241200" progId="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24800" y="3162300"/>
                        <a:ext cx="495300" cy="495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90" name="AutoShape 18"/>
          <p:cNvSpPr>
            <a:spLocks noChangeArrowheads="1"/>
          </p:cNvSpPr>
          <p:nvPr/>
        </p:nvSpPr>
        <p:spPr bwMode="auto">
          <a:xfrm rot="5386153">
            <a:off x="6203156" y="3855244"/>
            <a:ext cx="700088" cy="304800"/>
          </a:xfrm>
          <a:prstGeom prst="leftArrow">
            <a:avLst>
              <a:gd name="adj1" fmla="val 50000"/>
              <a:gd name="adj2" fmla="val 57422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091" name="Text Box 19"/>
          <p:cNvSpPr txBox="1">
            <a:spLocks noChangeArrowheads="1"/>
          </p:cNvSpPr>
          <p:nvPr/>
        </p:nvSpPr>
        <p:spPr bwMode="auto">
          <a:xfrm>
            <a:off x="5791200" y="4495800"/>
            <a:ext cx="1676400" cy="1465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AU" sz="1800">
                <a:solidFill>
                  <a:srgbClr val="FF0000"/>
                </a:solidFill>
                <a:latin typeface="Arial" charset="0"/>
              </a:rPr>
              <a:t>Unstable nucleus; trace amounts present in living matter.</a:t>
            </a:r>
            <a:endParaRPr lang="en-AU" sz="1800">
              <a:latin typeface="Arial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47800"/>
            <a:ext cx="8229600" cy="4572000"/>
          </a:xfrm>
        </p:spPr>
        <p:txBody>
          <a:bodyPr>
            <a:normAutofit/>
          </a:bodyPr>
          <a:lstStyle/>
          <a:p>
            <a:r>
              <a:rPr lang="en-US" sz="1800" dirty="0"/>
              <a:t>Radioactivity was discovered in 1896 by the French scientist Henri Becquerel, while working on phosphorescent materials. </a:t>
            </a:r>
          </a:p>
          <a:p>
            <a:r>
              <a:rPr lang="en-US" sz="1800" dirty="0"/>
              <a:t>Rutherford and his Student where first to realize that many decay processes resulted in transmutation</a:t>
            </a:r>
          </a:p>
          <a:p>
            <a:r>
              <a:rPr lang="en-US" sz="1800" dirty="0"/>
              <a:t>Radioactive Displacement law of </a:t>
            </a:r>
            <a:r>
              <a:rPr lang="en-US" sz="1800" dirty="0" err="1"/>
              <a:t>Fajjans</a:t>
            </a:r>
            <a:r>
              <a:rPr lang="en-US" sz="1800" dirty="0"/>
              <a:t> And Soddy were Formulated to Describe alpha and Beta Decay.</a:t>
            </a:r>
          </a:p>
          <a:p>
            <a:endParaRPr lang="en-US" dirty="0"/>
          </a:p>
        </p:txBody>
      </p:sp>
      <p:pic>
        <p:nvPicPr>
          <p:cNvPr id="4" name="Picture 3" descr="http://upload.wikimedia.org/wikipedia/commons/thumb/6/6c/Pierre_and_Marie_Curie.jpg/200px-Pierre_and_Marie_Curie.jpg">
            <a:hlinkClick r:id="rId2"/>
          </p:cNvPr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62000" y="4038600"/>
            <a:ext cx="7467600" cy="281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dirty="0">
                <a:effectLst>
                  <a:outerShdw blurRad="26000" dist="26000" dir="14500000" algn="tl" rotWithShape="0">
                    <a:srgbClr val="000000">
                      <a:alpha val="40000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>Radioactivity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1633536"/>
            <a:ext cx="8458200" cy="5224464"/>
          </a:xfrm>
        </p:spPr>
        <p:txBody>
          <a:bodyPr>
            <a:normAutofit fontScale="92500" lnSpcReduction="10000"/>
          </a:bodyPr>
          <a:lstStyle/>
          <a:p>
            <a:pPr>
              <a:buSzPct val="101000"/>
              <a:buFont typeface="Wingdings" pitchFamily="2" charset="2"/>
              <a:buChar char="v"/>
            </a:pPr>
            <a:r>
              <a:rPr lang="en-US" sz="2400" dirty="0"/>
              <a:t>Some atoms are unstable and it’s atomic nucleus breaks of its own accord to form  a smaller atomic nucleus of another element. This causes the release of excess particles and energy from the original nucleus, which  is called </a:t>
            </a:r>
            <a:r>
              <a:rPr lang="en-US" sz="2400" b="1" u="sng" dirty="0"/>
              <a:t>radiation</a:t>
            </a:r>
            <a:r>
              <a:rPr lang="en-US" sz="2400" b="1" dirty="0"/>
              <a:t>. </a:t>
            </a:r>
          </a:p>
          <a:p>
            <a:endParaRPr lang="en-US" sz="2400" b="1" dirty="0"/>
          </a:p>
          <a:p>
            <a:pPr>
              <a:buSzPct val="100000"/>
              <a:buFont typeface="Wingdings" pitchFamily="2" charset="2"/>
              <a:buChar char="v"/>
            </a:pPr>
            <a:r>
              <a:rPr lang="en-US" sz="2400" b="1" dirty="0"/>
              <a:t>  The elements whose </a:t>
            </a:r>
            <a:r>
              <a:rPr lang="en-US" sz="2400" dirty="0"/>
              <a:t>atomic nucleus emits radiation are said to be </a:t>
            </a:r>
            <a:r>
              <a:rPr lang="en-US" sz="2400" b="1" u="sng" dirty="0"/>
              <a:t>radioactive</a:t>
            </a:r>
            <a:r>
              <a:rPr lang="en-US" sz="2400" b="1" dirty="0"/>
              <a:t>. </a:t>
            </a:r>
          </a:p>
          <a:p>
            <a:pPr>
              <a:buSzPct val="100000"/>
              <a:buFont typeface="Wingdings" pitchFamily="2" charset="2"/>
              <a:buChar char="v"/>
            </a:pPr>
            <a:endParaRPr lang="en-US" sz="2400" b="1" dirty="0"/>
          </a:p>
          <a:p>
            <a:pPr>
              <a:buSzPct val="100000"/>
              <a:buFont typeface="Wingdings" pitchFamily="2" charset="2"/>
              <a:buChar char="v"/>
            </a:pPr>
            <a:r>
              <a:rPr lang="en-US" sz="2400" b="1" dirty="0"/>
              <a:t>The </a:t>
            </a:r>
            <a:r>
              <a:rPr lang="en-US" sz="2400" dirty="0"/>
              <a:t>spontaneous breaking down of the unstable atoms is called </a:t>
            </a:r>
            <a:r>
              <a:rPr lang="en-US" sz="2400" b="1" u="sng" dirty="0"/>
              <a:t>Radioactive disintegration or radioactive decay</a:t>
            </a:r>
            <a:r>
              <a:rPr lang="en-US" sz="2400" b="1" dirty="0"/>
              <a:t>.</a:t>
            </a:r>
          </a:p>
          <a:p>
            <a:pPr>
              <a:buSzPct val="100000"/>
              <a:buFont typeface="Wingdings" pitchFamily="2" charset="2"/>
              <a:buChar char="v"/>
            </a:pPr>
            <a:endParaRPr lang="en-US" sz="2400" b="1" dirty="0"/>
          </a:p>
          <a:p>
            <a:pPr>
              <a:buSzPct val="100000"/>
              <a:buFont typeface="Wingdings" pitchFamily="2" charset="2"/>
              <a:buChar char="v"/>
            </a:pPr>
            <a:r>
              <a:rPr lang="en-US" sz="2400" b="1" dirty="0"/>
              <a:t>The disintegration or decay of unstable atoms accompanied  by emission of radiation is called </a:t>
            </a:r>
            <a:r>
              <a:rPr lang="en-US" sz="2400" b="1" u="sng" dirty="0"/>
              <a:t>Radioactivit</a:t>
            </a:r>
            <a:r>
              <a:rPr lang="en-US" sz="2400" b="1" dirty="0"/>
              <a:t>y</a:t>
            </a:r>
            <a:r>
              <a:rPr lang="en-US" b="1" dirty="0"/>
              <a:t>.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1026"/>
          <p:cNvSpPr>
            <a:spLocks noGrp="1" noChangeArrowheads="1"/>
          </p:cNvSpPr>
          <p:nvPr>
            <p:ph type="title"/>
          </p:nvPr>
        </p:nvSpPr>
        <p:spPr>
          <a:xfrm>
            <a:off x="990600" y="852488"/>
            <a:ext cx="8596313" cy="747712"/>
          </a:xfrm>
        </p:spPr>
        <p:txBody>
          <a:bodyPr/>
          <a:lstStyle/>
          <a:p>
            <a:pPr eaLnBrk="1" hangingPunct="1"/>
            <a:r>
              <a:rPr lang="en-US"/>
              <a:t>Natural Radioactivity</a:t>
            </a:r>
          </a:p>
        </p:txBody>
      </p:sp>
      <p:sp>
        <p:nvSpPr>
          <p:cNvPr id="25603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/>
              <a:t>Occurs in nature</a:t>
            </a:r>
          </a:p>
          <a:p>
            <a:pPr eaLnBrk="1" hangingPunct="1"/>
            <a:r>
              <a:rPr lang="en-US"/>
              <a:t>Usually large, unstable nuclei</a:t>
            </a:r>
          </a:p>
          <a:p>
            <a:pPr eaLnBrk="1" hangingPunct="1"/>
            <a:r>
              <a:rPr lang="en-US"/>
              <a:t>Occurs in three ways:</a:t>
            </a:r>
          </a:p>
          <a:p>
            <a:pPr lvl="1" eaLnBrk="1" hangingPunct="1"/>
            <a:r>
              <a:rPr lang="en-US" sz="4000">
                <a:sym typeface="Symbol" pitchFamily="18" charset="2"/>
              </a:rPr>
              <a:t> </a:t>
            </a:r>
            <a:r>
              <a:rPr lang="en-US"/>
              <a:t>  Particle (alpha particle)</a:t>
            </a:r>
          </a:p>
          <a:p>
            <a:pPr lvl="1" eaLnBrk="1" hangingPunct="1"/>
            <a:r>
              <a:rPr lang="en-US">
                <a:sym typeface="Symbol" pitchFamily="18" charset="2"/>
              </a:rPr>
              <a:t>  </a:t>
            </a:r>
            <a:r>
              <a:rPr lang="en-US" sz="4000">
                <a:sym typeface="Symbol" pitchFamily="18" charset="2"/>
              </a:rPr>
              <a:t></a:t>
            </a:r>
            <a:r>
              <a:rPr lang="en-US"/>
              <a:t>  Particle (beta particle)</a:t>
            </a:r>
          </a:p>
          <a:p>
            <a:pPr lvl="1" eaLnBrk="1" hangingPunct="1"/>
            <a:r>
              <a:rPr lang="en-US">
                <a:sym typeface="Symbol" pitchFamily="18" charset="2"/>
              </a:rPr>
              <a:t>  </a:t>
            </a:r>
            <a:r>
              <a:rPr lang="en-US" sz="4000">
                <a:sym typeface="Symbol" pitchFamily="18" charset="2"/>
              </a:rPr>
              <a:t></a:t>
            </a:r>
            <a:r>
              <a:rPr lang="en-US"/>
              <a:t>   Ray (gamma ray)</a:t>
            </a:r>
          </a:p>
          <a:p>
            <a:pPr lvl="1" eaLnBrk="1" hangingPunct="1">
              <a:buFontTx/>
              <a:buNone/>
            </a:pPr>
            <a:endParaRPr lang="en-US"/>
          </a:p>
          <a:p>
            <a:pPr lvl="1" eaLnBrk="1" hangingPunct="1"/>
            <a:endParaRPr lang="en-US"/>
          </a:p>
          <a:p>
            <a:pPr lvl="1" eaLnBrk="1" hangingPunct="1"/>
            <a:endParaRPr lang="en-US"/>
          </a:p>
          <a:p>
            <a:pPr lvl="1" eaLnBrk="1" hangingPunct="1"/>
            <a:endParaRPr lang="en-US"/>
          </a:p>
          <a:p>
            <a:pPr lvl="1" eaLnBrk="1" hangingPunct="1"/>
            <a:endParaRPr lang="en-US"/>
          </a:p>
          <a:p>
            <a:pPr lvl="1" eaLnBrk="1" hangingPunct="1"/>
            <a:endParaRPr lang="en-US"/>
          </a:p>
          <a:p>
            <a:pPr lvl="1" eaLnBrk="1" hangingPunct="1"/>
            <a:endParaRPr lang="en-US"/>
          </a:p>
          <a:p>
            <a:pPr lvl="1" eaLnBrk="1" hangingPunct="1">
              <a:buFontTx/>
              <a:buNone/>
            </a:pPr>
            <a:endParaRPr lang="en-US" sz="6000"/>
          </a:p>
        </p:txBody>
      </p:sp>
      <p:sp>
        <p:nvSpPr>
          <p:cNvPr id="25606" name="Text Box 1030"/>
          <p:cNvSpPr txBox="1">
            <a:spLocks noChangeArrowheads="1"/>
          </p:cNvSpPr>
          <p:nvPr/>
        </p:nvSpPr>
        <p:spPr bwMode="auto">
          <a:xfrm>
            <a:off x="2133600" y="3810000"/>
            <a:ext cx="457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5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2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500"/>
                                        <p:tgtEl>
                                          <p:spTgt spid="25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8" dur="500"/>
                                        <p:tgtEl>
                                          <p:spTgt spid="2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500"/>
                                        <p:tgtEl>
                                          <p:spTgt spid="25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3" grpId="0" build="p" autoUpdateAnimBg="0"/>
      <p:bldP spid="25606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8382000" cy="6857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43"/>
          <p:cNvGrpSpPr>
            <a:grpSpLocks/>
          </p:cNvGrpSpPr>
          <p:nvPr/>
        </p:nvGrpSpPr>
        <p:grpSpPr bwMode="auto">
          <a:xfrm>
            <a:off x="450850" y="641350"/>
            <a:ext cx="2328863" cy="5992813"/>
            <a:chOff x="284" y="404"/>
            <a:chExt cx="1467" cy="3775"/>
          </a:xfrm>
        </p:grpSpPr>
        <p:sp>
          <p:nvSpPr>
            <p:cNvPr id="65582" name="Freeform 75"/>
            <p:cNvSpPr>
              <a:spLocks/>
            </p:cNvSpPr>
            <p:nvPr/>
          </p:nvSpPr>
          <p:spPr bwMode="auto">
            <a:xfrm>
              <a:off x="375" y="428"/>
              <a:ext cx="1376" cy="3751"/>
            </a:xfrm>
            <a:custGeom>
              <a:avLst/>
              <a:gdLst>
                <a:gd name="T0" fmla="*/ 0 w 1376"/>
                <a:gd name="T1" fmla="*/ 3751 h 3751"/>
                <a:gd name="T2" fmla="*/ 0 w 1376"/>
                <a:gd name="T3" fmla="*/ 912 h 3751"/>
                <a:gd name="T4" fmla="*/ 1376 w 1376"/>
                <a:gd name="T5" fmla="*/ 0 h 3751"/>
                <a:gd name="T6" fmla="*/ 1376 w 1376"/>
                <a:gd name="T7" fmla="*/ 2834 h 3751"/>
                <a:gd name="T8" fmla="*/ 0 w 1376"/>
                <a:gd name="T9" fmla="*/ 3751 h 375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76"/>
                <a:gd name="T16" fmla="*/ 0 h 3751"/>
                <a:gd name="T17" fmla="*/ 1376 w 1376"/>
                <a:gd name="T18" fmla="*/ 3751 h 375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76" h="3751">
                  <a:moveTo>
                    <a:pt x="0" y="3751"/>
                  </a:moveTo>
                  <a:lnTo>
                    <a:pt x="0" y="912"/>
                  </a:lnTo>
                  <a:lnTo>
                    <a:pt x="1376" y="0"/>
                  </a:lnTo>
                  <a:lnTo>
                    <a:pt x="1376" y="2834"/>
                  </a:lnTo>
                  <a:lnTo>
                    <a:pt x="0" y="3751"/>
                  </a:lnTo>
                  <a:close/>
                </a:path>
              </a:pathLst>
            </a:custGeom>
            <a:solidFill>
              <a:srgbClr val="67AED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5583" name="Freeform 73"/>
            <p:cNvSpPr>
              <a:spLocks/>
            </p:cNvSpPr>
            <p:nvPr/>
          </p:nvSpPr>
          <p:spPr bwMode="auto">
            <a:xfrm>
              <a:off x="284" y="1321"/>
              <a:ext cx="91" cy="2858"/>
            </a:xfrm>
            <a:custGeom>
              <a:avLst/>
              <a:gdLst>
                <a:gd name="T0" fmla="*/ 91 w 91"/>
                <a:gd name="T1" fmla="*/ 2858 h 2858"/>
                <a:gd name="T2" fmla="*/ 91 w 91"/>
                <a:gd name="T3" fmla="*/ 19 h 2858"/>
                <a:gd name="T4" fmla="*/ 0 w 91"/>
                <a:gd name="T5" fmla="*/ 0 h 2858"/>
                <a:gd name="T6" fmla="*/ 0 w 91"/>
                <a:gd name="T7" fmla="*/ 2839 h 2858"/>
                <a:gd name="T8" fmla="*/ 91 w 91"/>
                <a:gd name="T9" fmla="*/ 2858 h 285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1"/>
                <a:gd name="T16" fmla="*/ 0 h 2858"/>
                <a:gd name="T17" fmla="*/ 91 w 91"/>
                <a:gd name="T18" fmla="*/ 2858 h 285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1" h="2858">
                  <a:moveTo>
                    <a:pt x="91" y="2858"/>
                  </a:moveTo>
                  <a:lnTo>
                    <a:pt x="91" y="19"/>
                  </a:lnTo>
                  <a:lnTo>
                    <a:pt x="0" y="0"/>
                  </a:lnTo>
                  <a:lnTo>
                    <a:pt x="0" y="2839"/>
                  </a:lnTo>
                  <a:lnTo>
                    <a:pt x="91" y="2858"/>
                  </a:lnTo>
                  <a:close/>
                </a:path>
              </a:pathLst>
            </a:custGeom>
            <a:solidFill>
              <a:srgbClr val="A5CEE3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5584" name="Freeform 74"/>
            <p:cNvSpPr>
              <a:spLocks/>
            </p:cNvSpPr>
            <p:nvPr/>
          </p:nvSpPr>
          <p:spPr bwMode="auto">
            <a:xfrm>
              <a:off x="284" y="404"/>
              <a:ext cx="1467" cy="936"/>
            </a:xfrm>
            <a:custGeom>
              <a:avLst/>
              <a:gdLst>
                <a:gd name="T0" fmla="*/ 1467 w 1467"/>
                <a:gd name="T1" fmla="*/ 24 h 936"/>
                <a:gd name="T2" fmla="*/ 91 w 1467"/>
                <a:gd name="T3" fmla="*/ 936 h 936"/>
                <a:gd name="T4" fmla="*/ 0 w 1467"/>
                <a:gd name="T5" fmla="*/ 917 h 936"/>
                <a:gd name="T6" fmla="*/ 1363 w 1467"/>
                <a:gd name="T7" fmla="*/ 0 h 936"/>
                <a:gd name="T8" fmla="*/ 1467 w 1467"/>
                <a:gd name="T9" fmla="*/ 24 h 9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467"/>
                <a:gd name="T16" fmla="*/ 0 h 936"/>
                <a:gd name="T17" fmla="*/ 1467 w 1467"/>
                <a:gd name="T18" fmla="*/ 936 h 9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467" h="936">
                  <a:moveTo>
                    <a:pt x="1467" y="24"/>
                  </a:moveTo>
                  <a:lnTo>
                    <a:pt x="91" y="936"/>
                  </a:lnTo>
                  <a:lnTo>
                    <a:pt x="0" y="917"/>
                  </a:lnTo>
                  <a:lnTo>
                    <a:pt x="1363" y="0"/>
                  </a:lnTo>
                  <a:lnTo>
                    <a:pt x="1467" y="24"/>
                  </a:lnTo>
                  <a:close/>
                </a:path>
              </a:pathLst>
            </a:custGeom>
            <a:solidFill>
              <a:srgbClr val="C8E0EE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5585" name="Freeform 76"/>
            <p:cNvSpPr>
              <a:spLocks/>
            </p:cNvSpPr>
            <p:nvPr/>
          </p:nvSpPr>
          <p:spPr bwMode="auto">
            <a:xfrm>
              <a:off x="375" y="428"/>
              <a:ext cx="1376" cy="3751"/>
            </a:xfrm>
            <a:custGeom>
              <a:avLst/>
              <a:gdLst>
                <a:gd name="T0" fmla="*/ 0 w 1376"/>
                <a:gd name="T1" fmla="*/ 3751 h 3751"/>
                <a:gd name="T2" fmla="*/ 0 w 1376"/>
                <a:gd name="T3" fmla="*/ 912 h 3751"/>
                <a:gd name="T4" fmla="*/ 1376 w 1376"/>
                <a:gd name="T5" fmla="*/ 0 h 3751"/>
                <a:gd name="T6" fmla="*/ 1376 w 1376"/>
                <a:gd name="T7" fmla="*/ 2834 h 3751"/>
                <a:gd name="T8" fmla="*/ 0 w 1376"/>
                <a:gd name="T9" fmla="*/ 3751 h 375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76"/>
                <a:gd name="T16" fmla="*/ 0 h 3751"/>
                <a:gd name="T17" fmla="*/ 1376 w 1376"/>
                <a:gd name="T18" fmla="*/ 3751 h 375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76" h="3751">
                  <a:moveTo>
                    <a:pt x="0" y="3751"/>
                  </a:moveTo>
                  <a:lnTo>
                    <a:pt x="0" y="912"/>
                  </a:lnTo>
                  <a:lnTo>
                    <a:pt x="1376" y="0"/>
                  </a:lnTo>
                  <a:lnTo>
                    <a:pt x="1376" y="2834"/>
                  </a:lnTo>
                  <a:lnTo>
                    <a:pt x="0" y="3751"/>
                  </a:lnTo>
                  <a:close/>
                </a:path>
              </a:pathLst>
            </a:custGeom>
            <a:solidFill>
              <a:srgbClr val="67AED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" name="Group 124"/>
          <p:cNvGrpSpPr>
            <a:grpSpLocks/>
          </p:cNvGrpSpPr>
          <p:nvPr/>
        </p:nvGrpSpPr>
        <p:grpSpPr bwMode="auto">
          <a:xfrm>
            <a:off x="3187700" y="1833563"/>
            <a:ext cx="1914525" cy="1612900"/>
            <a:chOff x="2008" y="1155"/>
            <a:chExt cx="1206" cy="1016"/>
          </a:xfrm>
        </p:grpSpPr>
        <p:sp>
          <p:nvSpPr>
            <p:cNvPr id="65577" name="Freeform 77"/>
            <p:cNvSpPr>
              <a:spLocks/>
            </p:cNvSpPr>
            <p:nvPr/>
          </p:nvSpPr>
          <p:spPr bwMode="auto">
            <a:xfrm>
              <a:off x="2008" y="1976"/>
              <a:ext cx="812" cy="195"/>
            </a:xfrm>
            <a:custGeom>
              <a:avLst/>
              <a:gdLst>
                <a:gd name="T0" fmla="*/ 812 w 812"/>
                <a:gd name="T1" fmla="*/ 195 h 195"/>
                <a:gd name="T2" fmla="*/ 812 w 812"/>
                <a:gd name="T3" fmla="*/ 142 h 195"/>
                <a:gd name="T4" fmla="*/ 0 w 812"/>
                <a:gd name="T5" fmla="*/ 0 h 195"/>
                <a:gd name="T6" fmla="*/ 5 w 812"/>
                <a:gd name="T7" fmla="*/ 52 h 195"/>
                <a:gd name="T8" fmla="*/ 812 w 812"/>
                <a:gd name="T9" fmla="*/ 195 h 19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12"/>
                <a:gd name="T16" fmla="*/ 0 h 195"/>
                <a:gd name="T17" fmla="*/ 812 w 812"/>
                <a:gd name="T18" fmla="*/ 195 h 19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12" h="195">
                  <a:moveTo>
                    <a:pt x="812" y="195"/>
                  </a:moveTo>
                  <a:lnTo>
                    <a:pt x="812" y="142"/>
                  </a:lnTo>
                  <a:lnTo>
                    <a:pt x="0" y="0"/>
                  </a:lnTo>
                  <a:lnTo>
                    <a:pt x="5" y="52"/>
                  </a:lnTo>
                  <a:lnTo>
                    <a:pt x="812" y="195"/>
                  </a:lnTo>
                  <a:close/>
                </a:path>
              </a:pathLst>
            </a:custGeom>
            <a:solidFill>
              <a:srgbClr val="34B3D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5578" name="Freeform 78"/>
            <p:cNvSpPr>
              <a:spLocks/>
            </p:cNvSpPr>
            <p:nvPr/>
          </p:nvSpPr>
          <p:spPr bwMode="auto">
            <a:xfrm>
              <a:off x="2820" y="1862"/>
              <a:ext cx="394" cy="309"/>
            </a:xfrm>
            <a:custGeom>
              <a:avLst/>
              <a:gdLst>
                <a:gd name="T0" fmla="*/ 0 w 394"/>
                <a:gd name="T1" fmla="*/ 309 h 309"/>
                <a:gd name="T2" fmla="*/ 0 w 394"/>
                <a:gd name="T3" fmla="*/ 256 h 309"/>
                <a:gd name="T4" fmla="*/ 389 w 394"/>
                <a:gd name="T5" fmla="*/ 0 h 309"/>
                <a:gd name="T6" fmla="*/ 394 w 394"/>
                <a:gd name="T7" fmla="*/ 47 h 309"/>
                <a:gd name="T8" fmla="*/ 0 w 394"/>
                <a:gd name="T9" fmla="*/ 309 h 30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94"/>
                <a:gd name="T16" fmla="*/ 0 h 309"/>
                <a:gd name="T17" fmla="*/ 394 w 394"/>
                <a:gd name="T18" fmla="*/ 309 h 30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94" h="309">
                  <a:moveTo>
                    <a:pt x="0" y="309"/>
                  </a:moveTo>
                  <a:lnTo>
                    <a:pt x="0" y="256"/>
                  </a:lnTo>
                  <a:lnTo>
                    <a:pt x="389" y="0"/>
                  </a:lnTo>
                  <a:lnTo>
                    <a:pt x="394" y="47"/>
                  </a:lnTo>
                  <a:lnTo>
                    <a:pt x="0" y="309"/>
                  </a:lnTo>
                  <a:close/>
                </a:path>
              </a:pathLst>
            </a:custGeom>
            <a:solidFill>
              <a:srgbClr val="00A0C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5579" name="Freeform 79"/>
            <p:cNvSpPr>
              <a:spLocks/>
            </p:cNvSpPr>
            <p:nvPr/>
          </p:nvSpPr>
          <p:spPr bwMode="auto">
            <a:xfrm>
              <a:off x="2008" y="1705"/>
              <a:ext cx="1201" cy="413"/>
            </a:xfrm>
            <a:custGeom>
              <a:avLst/>
              <a:gdLst>
                <a:gd name="T0" fmla="*/ 1201 w 1201"/>
                <a:gd name="T1" fmla="*/ 157 h 413"/>
                <a:gd name="T2" fmla="*/ 812 w 1201"/>
                <a:gd name="T3" fmla="*/ 413 h 413"/>
                <a:gd name="T4" fmla="*/ 0 w 1201"/>
                <a:gd name="T5" fmla="*/ 271 h 413"/>
                <a:gd name="T6" fmla="*/ 365 w 1201"/>
                <a:gd name="T7" fmla="*/ 0 h 413"/>
                <a:gd name="T8" fmla="*/ 1201 w 1201"/>
                <a:gd name="T9" fmla="*/ 157 h 41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01"/>
                <a:gd name="T16" fmla="*/ 0 h 413"/>
                <a:gd name="T17" fmla="*/ 1201 w 1201"/>
                <a:gd name="T18" fmla="*/ 413 h 41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01" h="413">
                  <a:moveTo>
                    <a:pt x="1201" y="157"/>
                  </a:moveTo>
                  <a:lnTo>
                    <a:pt x="812" y="413"/>
                  </a:lnTo>
                  <a:lnTo>
                    <a:pt x="0" y="271"/>
                  </a:lnTo>
                  <a:lnTo>
                    <a:pt x="365" y="0"/>
                  </a:lnTo>
                  <a:lnTo>
                    <a:pt x="1201" y="157"/>
                  </a:lnTo>
                  <a:close/>
                </a:path>
              </a:pathLst>
            </a:custGeom>
            <a:solidFill>
              <a:srgbClr val="80CFE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5580" name="Freeform 80"/>
            <p:cNvSpPr>
              <a:spLocks/>
            </p:cNvSpPr>
            <p:nvPr/>
          </p:nvSpPr>
          <p:spPr bwMode="auto">
            <a:xfrm>
              <a:off x="2568" y="1164"/>
              <a:ext cx="66" cy="764"/>
            </a:xfrm>
            <a:custGeom>
              <a:avLst/>
              <a:gdLst>
                <a:gd name="T0" fmla="*/ 66 w 66"/>
                <a:gd name="T1" fmla="*/ 5 h 764"/>
                <a:gd name="T2" fmla="*/ 66 w 66"/>
                <a:gd name="T3" fmla="*/ 5 h 764"/>
                <a:gd name="T4" fmla="*/ 66 w 66"/>
                <a:gd name="T5" fmla="*/ 10 h 764"/>
                <a:gd name="T6" fmla="*/ 57 w 66"/>
                <a:gd name="T7" fmla="*/ 10 h 764"/>
                <a:gd name="T8" fmla="*/ 33 w 66"/>
                <a:gd name="T9" fmla="*/ 14 h 764"/>
                <a:gd name="T10" fmla="*/ 33 w 66"/>
                <a:gd name="T11" fmla="*/ 14 h 764"/>
                <a:gd name="T12" fmla="*/ 9 w 66"/>
                <a:gd name="T13" fmla="*/ 10 h 764"/>
                <a:gd name="T14" fmla="*/ 5 w 66"/>
                <a:gd name="T15" fmla="*/ 5 h 764"/>
                <a:gd name="T16" fmla="*/ 0 w 66"/>
                <a:gd name="T17" fmla="*/ 0 h 764"/>
                <a:gd name="T18" fmla="*/ 0 w 66"/>
                <a:gd name="T19" fmla="*/ 750 h 764"/>
                <a:gd name="T20" fmla="*/ 0 w 66"/>
                <a:gd name="T21" fmla="*/ 750 h 764"/>
                <a:gd name="T22" fmla="*/ 5 w 66"/>
                <a:gd name="T23" fmla="*/ 755 h 764"/>
                <a:gd name="T24" fmla="*/ 9 w 66"/>
                <a:gd name="T25" fmla="*/ 760 h 764"/>
                <a:gd name="T26" fmla="*/ 33 w 66"/>
                <a:gd name="T27" fmla="*/ 764 h 764"/>
                <a:gd name="T28" fmla="*/ 33 w 66"/>
                <a:gd name="T29" fmla="*/ 764 h 764"/>
                <a:gd name="T30" fmla="*/ 57 w 66"/>
                <a:gd name="T31" fmla="*/ 760 h 764"/>
                <a:gd name="T32" fmla="*/ 66 w 66"/>
                <a:gd name="T33" fmla="*/ 755 h 764"/>
                <a:gd name="T34" fmla="*/ 66 w 66"/>
                <a:gd name="T35" fmla="*/ 755 h 764"/>
                <a:gd name="T36" fmla="*/ 66 w 66"/>
                <a:gd name="T37" fmla="*/ 5 h 764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66"/>
                <a:gd name="T58" fmla="*/ 0 h 764"/>
                <a:gd name="T59" fmla="*/ 66 w 66"/>
                <a:gd name="T60" fmla="*/ 764 h 764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66" h="764">
                  <a:moveTo>
                    <a:pt x="66" y="5"/>
                  </a:moveTo>
                  <a:lnTo>
                    <a:pt x="66" y="5"/>
                  </a:lnTo>
                  <a:lnTo>
                    <a:pt x="66" y="10"/>
                  </a:lnTo>
                  <a:lnTo>
                    <a:pt x="57" y="10"/>
                  </a:lnTo>
                  <a:lnTo>
                    <a:pt x="33" y="14"/>
                  </a:lnTo>
                  <a:lnTo>
                    <a:pt x="9" y="10"/>
                  </a:lnTo>
                  <a:lnTo>
                    <a:pt x="5" y="5"/>
                  </a:lnTo>
                  <a:lnTo>
                    <a:pt x="0" y="0"/>
                  </a:lnTo>
                  <a:lnTo>
                    <a:pt x="0" y="750"/>
                  </a:lnTo>
                  <a:lnTo>
                    <a:pt x="5" y="755"/>
                  </a:lnTo>
                  <a:lnTo>
                    <a:pt x="9" y="760"/>
                  </a:lnTo>
                  <a:lnTo>
                    <a:pt x="33" y="764"/>
                  </a:lnTo>
                  <a:lnTo>
                    <a:pt x="57" y="760"/>
                  </a:lnTo>
                  <a:lnTo>
                    <a:pt x="66" y="755"/>
                  </a:lnTo>
                  <a:lnTo>
                    <a:pt x="66" y="5"/>
                  </a:lnTo>
                  <a:close/>
                </a:path>
              </a:pathLst>
            </a:custGeom>
            <a:solidFill>
              <a:srgbClr val="34B3D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5581" name="Freeform 81"/>
            <p:cNvSpPr>
              <a:spLocks/>
            </p:cNvSpPr>
            <p:nvPr/>
          </p:nvSpPr>
          <p:spPr bwMode="auto">
            <a:xfrm>
              <a:off x="2568" y="1155"/>
              <a:ext cx="66" cy="23"/>
            </a:xfrm>
            <a:custGeom>
              <a:avLst/>
              <a:gdLst>
                <a:gd name="T0" fmla="*/ 33 w 66"/>
                <a:gd name="T1" fmla="*/ 23 h 23"/>
                <a:gd name="T2" fmla="*/ 33 w 66"/>
                <a:gd name="T3" fmla="*/ 23 h 23"/>
                <a:gd name="T4" fmla="*/ 9 w 66"/>
                <a:gd name="T5" fmla="*/ 19 h 23"/>
                <a:gd name="T6" fmla="*/ 5 w 66"/>
                <a:gd name="T7" fmla="*/ 14 h 23"/>
                <a:gd name="T8" fmla="*/ 0 w 66"/>
                <a:gd name="T9" fmla="*/ 9 h 23"/>
                <a:gd name="T10" fmla="*/ 0 w 66"/>
                <a:gd name="T11" fmla="*/ 9 h 23"/>
                <a:gd name="T12" fmla="*/ 5 w 66"/>
                <a:gd name="T13" fmla="*/ 4 h 23"/>
                <a:gd name="T14" fmla="*/ 9 w 66"/>
                <a:gd name="T15" fmla="*/ 4 h 23"/>
                <a:gd name="T16" fmla="*/ 33 w 66"/>
                <a:gd name="T17" fmla="*/ 0 h 23"/>
                <a:gd name="T18" fmla="*/ 33 w 66"/>
                <a:gd name="T19" fmla="*/ 0 h 23"/>
                <a:gd name="T20" fmla="*/ 57 w 66"/>
                <a:gd name="T21" fmla="*/ 4 h 23"/>
                <a:gd name="T22" fmla="*/ 66 w 66"/>
                <a:gd name="T23" fmla="*/ 9 h 23"/>
                <a:gd name="T24" fmla="*/ 66 w 66"/>
                <a:gd name="T25" fmla="*/ 9 h 23"/>
                <a:gd name="T26" fmla="*/ 66 w 66"/>
                <a:gd name="T27" fmla="*/ 9 h 23"/>
                <a:gd name="T28" fmla="*/ 66 w 66"/>
                <a:gd name="T29" fmla="*/ 14 h 23"/>
                <a:gd name="T30" fmla="*/ 57 w 66"/>
                <a:gd name="T31" fmla="*/ 19 h 23"/>
                <a:gd name="T32" fmla="*/ 33 w 66"/>
                <a:gd name="T33" fmla="*/ 23 h 23"/>
                <a:gd name="T34" fmla="*/ 33 w 66"/>
                <a:gd name="T35" fmla="*/ 23 h 23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66"/>
                <a:gd name="T55" fmla="*/ 0 h 23"/>
                <a:gd name="T56" fmla="*/ 66 w 66"/>
                <a:gd name="T57" fmla="*/ 23 h 23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66" h="23">
                  <a:moveTo>
                    <a:pt x="33" y="23"/>
                  </a:moveTo>
                  <a:lnTo>
                    <a:pt x="33" y="23"/>
                  </a:lnTo>
                  <a:lnTo>
                    <a:pt x="9" y="19"/>
                  </a:lnTo>
                  <a:lnTo>
                    <a:pt x="5" y="14"/>
                  </a:lnTo>
                  <a:lnTo>
                    <a:pt x="0" y="9"/>
                  </a:lnTo>
                  <a:lnTo>
                    <a:pt x="5" y="4"/>
                  </a:lnTo>
                  <a:lnTo>
                    <a:pt x="9" y="4"/>
                  </a:lnTo>
                  <a:lnTo>
                    <a:pt x="33" y="0"/>
                  </a:lnTo>
                  <a:lnTo>
                    <a:pt x="57" y="4"/>
                  </a:lnTo>
                  <a:lnTo>
                    <a:pt x="66" y="9"/>
                  </a:lnTo>
                  <a:lnTo>
                    <a:pt x="66" y="14"/>
                  </a:lnTo>
                  <a:lnTo>
                    <a:pt x="57" y="19"/>
                  </a:lnTo>
                  <a:lnTo>
                    <a:pt x="33" y="23"/>
                  </a:lnTo>
                  <a:close/>
                </a:path>
              </a:pathLst>
            </a:custGeom>
            <a:solidFill>
              <a:srgbClr val="80CFE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5540" name="Rectangle 82"/>
          <p:cNvSpPr>
            <a:spLocks noChangeArrowheads="1"/>
          </p:cNvSpPr>
          <p:nvPr/>
        </p:nvSpPr>
        <p:spPr bwMode="auto">
          <a:xfrm>
            <a:off x="4305300" y="2490788"/>
            <a:ext cx="127000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b="1">
                <a:solidFill>
                  <a:srgbClr val="000000"/>
                </a:solidFill>
              </a:rPr>
              <a:t>–</a:t>
            </a:r>
            <a:endParaRPr lang="en-US" b="1"/>
          </a:p>
        </p:txBody>
      </p:sp>
      <p:sp>
        <p:nvSpPr>
          <p:cNvPr id="65541" name="Rectangle 83"/>
          <p:cNvSpPr>
            <a:spLocks noChangeArrowheads="1"/>
          </p:cNvSpPr>
          <p:nvPr/>
        </p:nvSpPr>
        <p:spPr bwMode="auto">
          <a:xfrm>
            <a:off x="4298950" y="5521325"/>
            <a:ext cx="13335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b="1">
                <a:solidFill>
                  <a:srgbClr val="000000"/>
                </a:solidFill>
              </a:rPr>
              <a:t>+</a:t>
            </a:r>
            <a:endParaRPr lang="en-US" b="1"/>
          </a:p>
        </p:txBody>
      </p:sp>
      <p:grpSp>
        <p:nvGrpSpPr>
          <p:cNvPr id="4" name="Group 125"/>
          <p:cNvGrpSpPr>
            <a:grpSpLocks/>
          </p:cNvGrpSpPr>
          <p:nvPr/>
        </p:nvGrpSpPr>
        <p:grpSpPr bwMode="auto">
          <a:xfrm>
            <a:off x="3187700" y="4787900"/>
            <a:ext cx="1914525" cy="1544638"/>
            <a:chOff x="2008" y="3016"/>
            <a:chExt cx="1206" cy="973"/>
          </a:xfrm>
        </p:grpSpPr>
        <p:sp>
          <p:nvSpPr>
            <p:cNvPr id="65572" name="Freeform 84"/>
            <p:cNvSpPr>
              <a:spLocks/>
            </p:cNvSpPr>
            <p:nvPr/>
          </p:nvSpPr>
          <p:spPr bwMode="auto">
            <a:xfrm>
              <a:off x="2568" y="3225"/>
              <a:ext cx="66" cy="764"/>
            </a:xfrm>
            <a:custGeom>
              <a:avLst/>
              <a:gdLst>
                <a:gd name="T0" fmla="*/ 66 w 66"/>
                <a:gd name="T1" fmla="*/ 0 h 764"/>
                <a:gd name="T2" fmla="*/ 66 w 66"/>
                <a:gd name="T3" fmla="*/ 0 h 764"/>
                <a:gd name="T4" fmla="*/ 66 w 66"/>
                <a:gd name="T5" fmla="*/ 4 h 764"/>
                <a:gd name="T6" fmla="*/ 57 w 66"/>
                <a:gd name="T7" fmla="*/ 9 h 764"/>
                <a:gd name="T8" fmla="*/ 33 w 66"/>
                <a:gd name="T9" fmla="*/ 14 h 764"/>
                <a:gd name="T10" fmla="*/ 33 w 66"/>
                <a:gd name="T11" fmla="*/ 14 h 764"/>
                <a:gd name="T12" fmla="*/ 9 w 66"/>
                <a:gd name="T13" fmla="*/ 9 h 764"/>
                <a:gd name="T14" fmla="*/ 5 w 66"/>
                <a:gd name="T15" fmla="*/ 4 h 764"/>
                <a:gd name="T16" fmla="*/ 0 w 66"/>
                <a:gd name="T17" fmla="*/ 0 h 764"/>
                <a:gd name="T18" fmla="*/ 0 w 66"/>
                <a:gd name="T19" fmla="*/ 750 h 764"/>
                <a:gd name="T20" fmla="*/ 0 w 66"/>
                <a:gd name="T21" fmla="*/ 750 h 764"/>
                <a:gd name="T22" fmla="*/ 5 w 66"/>
                <a:gd name="T23" fmla="*/ 754 h 764"/>
                <a:gd name="T24" fmla="*/ 9 w 66"/>
                <a:gd name="T25" fmla="*/ 759 h 764"/>
                <a:gd name="T26" fmla="*/ 33 w 66"/>
                <a:gd name="T27" fmla="*/ 764 h 764"/>
                <a:gd name="T28" fmla="*/ 33 w 66"/>
                <a:gd name="T29" fmla="*/ 764 h 764"/>
                <a:gd name="T30" fmla="*/ 57 w 66"/>
                <a:gd name="T31" fmla="*/ 759 h 764"/>
                <a:gd name="T32" fmla="*/ 66 w 66"/>
                <a:gd name="T33" fmla="*/ 754 h 764"/>
                <a:gd name="T34" fmla="*/ 66 w 66"/>
                <a:gd name="T35" fmla="*/ 750 h 764"/>
                <a:gd name="T36" fmla="*/ 66 w 66"/>
                <a:gd name="T37" fmla="*/ 0 h 764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66"/>
                <a:gd name="T58" fmla="*/ 0 h 764"/>
                <a:gd name="T59" fmla="*/ 66 w 66"/>
                <a:gd name="T60" fmla="*/ 764 h 764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66" h="764">
                  <a:moveTo>
                    <a:pt x="66" y="0"/>
                  </a:moveTo>
                  <a:lnTo>
                    <a:pt x="66" y="0"/>
                  </a:lnTo>
                  <a:lnTo>
                    <a:pt x="66" y="4"/>
                  </a:lnTo>
                  <a:lnTo>
                    <a:pt x="57" y="9"/>
                  </a:lnTo>
                  <a:lnTo>
                    <a:pt x="33" y="14"/>
                  </a:lnTo>
                  <a:lnTo>
                    <a:pt x="9" y="9"/>
                  </a:lnTo>
                  <a:lnTo>
                    <a:pt x="5" y="4"/>
                  </a:lnTo>
                  <a:lnTo>
                    <a:pt x="0" y="0"/>
                  </a:lnTo>
                  <a:lnTo>
                    <a:pt x="0" y="750"/>
                  </a:lnTo>
                  <a:lnTo>
                    <a:pt x="5" y="754"/>
                  </a:lnTo>
                  <a:lnTo>
                    <a:pt x="9" y="759"/>
                  </a:lnTo>
                  <a:lnTo>
                    <a:pt x="33" y="764"/>
                  </a:lnTo>
                  <a:lnTo>
                    <a:pt x="57" y="759"/>
                  </a:lnTo>
                  <a:lnTo>
                    <a:pt x="66" y="754"/>
                  </a:lnTo>
                  <a:lnTo>
                    <a:pt x="66" y="750"/>
                  </a:lnTo>
                  <a:lnTo>
                    <a:pt x="66" y="0"/>
                  </a:lnTo>
                  <a:close/>
                </a:path>
              </a:pathLst>
            </a:custGeom>
            <a:solidFill>
              <a:srgbClr val="B62635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5573" name="Freeform 85"/>
            <p:cNvSpPr>
              <a:spLocks/>
            </p:cNvSpPr>
            <p:nvPr/>
          </p:nvSpPr>
          <p:spPr bwMode="auto">
            <a:xfrm>
              <a:off x="2568" y="3215"/>
              <a:ext cx="66" cy="19"/>
            </a:xfrm>
            <a:custGeom>
              <a:avLst/>
              <a:gdLst>
                <a:gd name="T0" fmla="*/ 33 w 66"/>
                <a:gd name="T1" fmla="*/ 19 h 19"/>
                <a:gd name="T2" fmla="*/ 33 w 66"/>
                <a:gd name="T3" fmla="*/ 19 h 19"/>
                <a:gd name="T4" fmla="*/ 9 w 66"/>
                <a:gd name="T5" fmla="*/ 19 h 19"/>
                <a:gd name="T6" fmla="*/ 5 w 66"/>
                <a:gd name="T7" fmla="*/ 14 h 19"/>
                <a:gd name="T8" fmla="*/ 0 w 66"/>
                <a:gd name="T9" fmla="*/ 10 h 19"/>
                <a:gd name="T10" fmla="*/ 0 w 66"/>
                <a:gd name="T11" fmla="*/ 10 h 19"/>
                <a:gd name="T12" fmla="*/ 5 w 66"/>
                <a:gd name="T13" fmla="*/ 5 h 19"/>
                <a:gd name="T14" fmla="*/ 9 w 66"/>
                <a:gd name="T15" fmla="*/ 0 h 19"/>
                <a:gd name="T16" fmla="*/ 33 w 66"/>
                <a:gd name="T17" fmla="*/ 0 h 19"/>
                <a:gd name="T18" fmla="*/ 33 w 66"/>
                <a:gd name="T19" fmla="*/ 0 h 19"/>
                <a:gd name="T20" fmla="*/ 57 w 66"/>
                <a:gd name="T21" fmla="*/ 5 h 19"/>
                <a:gd name="T22" fmla="*/ 66 w 66"/>
                <a:gd name="T23" fmla="*/ 5 h 19"/>
                <a:gd name="T24" fmla="*/ 66 w 66"/>
                <a:gd name="T25" fmla="*/ 10 h 19"/>
                <a:gd name="T26" fmla="*/ 66 w 66"/>
                <a:gd name="T27" fmla="*/ 10 h 19"/>
                <a:gd name="T28" fmla="*/ 66 w 66"/>
                <a:gd name="T29" fmla="*/ 14 h 19"/>
                <a:gd name="T30" fmla="*/ 57 w 66"/>
                <a:gd name="T31" fmla="*/ 19 h 19"/>
                <a:gd name="T32" fmla="*/ 33 w 66"/>
                <a:gd name="T33" fmla="*/ 19 h 19"/>
                <a:gd name="T34" fmla="*/ 33 w 66"/>
                <a:gd name="T35" fmla="*/ 19 h 19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66"/>
                <a:gd name="T55" fmla="*/ 0 h 19"/>
                <a:gd name="T56" fmla="*/ 66 w 66"/>
                <a:gd name="T57" fmla="*/ 19 h 19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66" h="19">
                  <a:moveTo>
                    <a:pt x="33" y="19"/>
                  </a:moveTo>
                  <a:lnTo>
                    <a:pt x="33" y="19"/>
                  </a:lnTo>
                  <a:lnTo>
                    <a:pt x="9" y="19"/>
                  </a:lnTo>
                  <a:lnTo>
                    <a:pt x="5" y="14"/>
                  </a:lnTo>
                  <a:lnTo>
                    <a:pt x="0" y="10"/>
                  </a:lnTo>
                  <a:lnTo>
                    <a:pt x="5" y="5"/>
                  </a:lnTo>
                  <a:lnTo>
                    <a:pt x="9" y="0"/>
                  </a:lnTo>
                  <a:lnTo>
                    <a:pt x="33" y="0"/>
                  </a:lnTo>
                  <a:lnTo>
                    <a:pt x="57" y="5"/>
                  </a:lnTo>
                  <a:lnTo>
                    <a:pt x="66" y="5"/>
                  </a:lnTo>
                  <a:lnTo>
                    <a:pt x="66" y="10"/>
                  </a:lnTo>
                  <a:lnTo>
                    <a:pt x="66" y="14"/>
                  </a:lnTo>
                  <a:lnTo>
                    <a:pt x="57" y="19"/>
                  </a:lnTo>
                  <a:lnTo>
                    <a:pt x="33" y="19"/>
                  </a:lnTo>
                  <a:close/>
                </a:path>
              </a:pathLst>
            </a:custGeom>
            <a:solidFill>
              <a:srgbClr val="E27488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5574" name="Freeform 86"/>
            <p:cNvSpPr>
              <a:spLocks/>
            </p:cNvSpPr>
            <p:nvPr/>
          </p:nvSpPr>
          <p:spPr bwMode="auto">
            <a:xfrm>
              <a:off x="2008" y="3286"/>
              <a:ext cx="812" cy="195"/>
            </a:xfrm>
            <a:custGeom>
              <a:avLst/>
              <a:gdLst>
                <a:gd name="T0" fmla="*/ 812 w 812"/>
                <a:gd name="T1" fmla="*/ 195 h 195"/>
                <a:gd name="T2" fmla="*/ 812 w 812"/>
                <a:gd name="T3" fmla="*/ 143 h 195"/>
                <a:gd name="T4" fmla="*/ 0 w 812"/>
                <a:gd name="T5" fmla="*/ 0 h 195"/>
                <a:gd name="T6" fmla="*/ 5 w 812"/>
                <a:gd name="T7" fmla="*/ 52 h 195"/>
                <a:gd name="T8" fmla="*/ 812 w 812"/>
                <a:gd name="T9" fmla="*/ 195 h 19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12"/>
                <a:gd name="T16" fmla="*/ 0 h 195"/>
                <a:gd name="T17" fmla="*/ 812 w 812"/>
                <a:gd name="T18" fmla="*/ 195 h 19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12" h="195">
                  <a:moveTo>
                    <a:pt x="812" y="195"/>
                  </a:moveTo>
                  <a:lnTo>
                    <a:pt x="812" y="143"/>
                  </a:lnTo>
                  <a:lnTo>
                    <a:pt x="0" y="0"/>
                  </a:lnTo>
                  <a:lnTo>
                    <a:pt x="5" y="52"/>
                  </a:lnTo>
                  <a:lnTo>
                    <a:pt x="812" y="195"/>
                  </a:lnTo>
                  <a:close/>
                </a:path>
              </a:pathLst>
            </a:custGeom>
            <a:solidFill>
              <a:srgbClr val="C75257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5575" name="Freeform 87"/>
            <p:cNvSpPr>
              <a:spLocks/>
            </p:cNvSpPr>
            <p:nvPr/>
          </p:nvSpPr>
          <p:spPr bwMode="auto">
            <a:xfrm>
              <a:off x="2820" y="3172"/>
              <a:ext cx="394" cy="309"/>
            </a:xfrm>
            <a:custGeom>
              <a:avLst/>
              <a:gdLst>
                <a:gd name="T0" fmla="*/ 0 w 394"/>
                <a:gd name="T1" fmla="*/ 309 h 309"/>
                <a:gd name="T2" fmla="*/ 0 w 394"/>
                <a:gd name="T3" fmla="*/ 257 h 309"/>
                <a:gd name="T4" fmla="*/ 389 w 394"/>
                <a:gd name="T5" fmla="*/ 0 h 309"/>
                <a:gd name="T6" fmla="*/ 394 w 394"/>
                <a:gd name="T7" fmla="*/ 48 h 309"/>
                <a:gd name="T8" fmla="*/ 0 w 394"/>
                <a:gd name="T9" fmla="*/ 309 h 30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94"/>
                <a:gd name="T16" fmla="*/ 0 h 309"/>
                <a:gd name="T17" fmla="*/ 394 w 394"/>
                <a:gd name="T18" fmla="*/ 309 h 30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94" h="309">
                  <a:moveTo>
                    <a:pt x="0" y="309"/>
                  </a:moveTo>
                  <a:lnTo>
                    <a:pt x="0" y="257"/>
                  </a:lnTo>
                  <a:lnTo>
                    <a:pt x="389" y="0"/>
                  </a:lnTo>
                  <a:lnTo>
                    <a:pt x="394" y="48"/>
                  </a:lnTo>
                  <a:lnTo>
                    <a:pt x="0" y="309"/>
                  </a:lnTo>
                  <a:close/>
                </a:path>
              </a:pathLst>
            </a:custGeom>
            <a:solidFill>
              <a:srgbClr val="A4001D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5576" name="Freeform 88"/>
            <p:cNvSpPr>
              <a:spLocks/>
            </p:cNvSpPr>
            <p:nvPr/>
          </p:nvSpPr>
          <p:spPr bwMode="auto">
            <a:xfrm>
              <a:off x="2008" y="3016"/>
              <a:ext cx="1201" cy="413"/>
            </a:xfrm>
            <a:custGeom>
              <a:avLst/>
              <a:gdLst>
                <a:gd name="T0" fmla="*/ 1201 w 1201"/>
                <a:gd name="T1" fmla="*/ 156 h 413"/>
                <a:gd name="T2" fmla="*/ 812 w 1201"/>
                <a:gd name="T3" fmla="*/ 413 h 413"/>
                <a:gd name="T4" fmla="*/ 0 w 1201"/>
                <a:gd name="T5" fmla="*/ 270 h 413"/>
                <a:gd name="T6" fmla="*/ 365 w 1201"/>
                <a:gd name="T7" fmla="*/ 0 h 413"/>
                <a:gd name="T8" fmla="*/ 1201 w 1201"/>
                <a:gd name="T9" fmla="*/ 156 h 41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01"/>
                <a:gd name="T16" fmla="*/ 0 h 413"/>
                <a:gd name="T17" fmla="*/ 1201 w 1201"/>
                <a:gd name="T18" fmla="*/ 413 h 41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01" h="413">
                  <a:moveTo>
                    <a:pt x="1201" y="156"/>
                  </a:moveTo>
                  <a:lnTo>
                    <a:pt x="812" y="413"/>
                  </a:lnTo>
                  <a:lnTo>
                    <a:pt x="0" y="270"/>
                  </a:lnTo>
                  <a:lnTo>
                    <a:pt x="365" y="0"/>
                  </a:lnTo>
                  <a:lnTo>
                    <a:pt x="1201" y="156"/>
                  </a:lnTo>
                  <a:close/>
                </a:path>
              </a:pathLst>
            </a:custGeom>
            <a:solidFill>
              <a:srgbClr val="D8858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5543" name="Text Box 111"/>
          <p:cNvSpPr txBox="1">
            <a:spLocks noChangeArrowheads="1"/>
          </p:cNvSpPr>
          <p:nvPr/>
        </p:nvSpPr>
        <p:spPr bwMode="auto">
          <a:xfrm>
            <a:off x="2328863" y="2871788"/>
            <a:ext cx="328612" cy="388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 i="1">
                <a:latin typeface="Symbol" pitchFamily="18" charset="2"/>
              </a:rPr>
              <a:t>a</a:t>
            </a:r>
            <a:endParaRPr lang="en-US" b="1" i="1"/>
          </a:p>
        </p:txBody>
      </p:sp>
      <p:sp>
        <p:nvSpPr>
          <p:cNvPr id="65544" name="Rectangle 113"/>
          <p:cNvSpPr>
            <a:spLocks noChangeArrowheads="1"/>
          </p:cNvSpPr>
          <p:nvPr/>
        </p:nvSpPr>
        <p:spPr bwMode="auto">
          <a:xfrm>
            <a:off x="2338388" y="4764088"/>
            <a:ext cx="309562" cy="388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 i="1">
                <a:latin typeface="Symbol" pitchFamily="18" charset="2"/>
              </a:rPr>
              <a:t>b</a:t>
            </a:r>
          </a:p>
        </p:txBody>
      </p:sp>
      <p:sp>
        <p:nvSpPr>
          <p:cNvPr id="65545" name="Rectangle 114"/>
          <p:cNvSpPr>
            <a:spLocks noChangeArrowheads="1"/>
          </p:cNvSpPr>
          <p:nvPr/>
        </p:nvSpPr>
        <p:spPr bwMode="auto">
          <a:xfrm>
            <a:off x="2352675" y="3736975"/>
            <a:ext cx="277813" cy="388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 i="1">
                <a:latin typeface="Symbol" pitchFamily="18" charset="2"/>
              </a:rPr>
              <a:t>g</a:t>
            </a:r>
          </a:p>
        </p:txBody>
      </p:sp>
      <p:grpSp>
        <p:nvGrpSpPr>
          <p:cNvPr id="5" name="Group 146"/>
          <p:cNvGrpSpPr>
            <a:grpSpLocks/>
          </p:cNvGrpSpPr>
          <p:nvPr/>
        </p:nvGrpSpPr>
        <p:grpSpPr bwMode="auto">
          <a:xfrm>
            <a:off x="1687513" y="2736850"/>
            <a:ext cx="4557712" cy="2546350"/>
            <a:chOff x="1063" y="1724"/>
            <a:chExt cx="2871" cy="1604"/>
          </a:xfrm>
        </p:grpSpPr>
        <p:grpSp>
          <p:nvGrpSpPr>
            <p:cNvPr id="6" name="Group 135"/>
            <p:cNvGrpSpPr>
              <a:grpSpLocks/>
            </p:cNvGrpSpPr>
            <p:nvPr/>
          </p:nvGrpSpPr>
          <p:grpSpPr bwMode="auto">
            <a:xfrm>
              <a:off x="1101" y="1724"/>
              <a:ext cx="1277" cy="760"/>
              <a:chOff x="1101" y="1724"/>
              <a:chExt cx="1277" cy="760"/>
            </a:xfrm>
          </p:grpSpPr>
          <p:sp>
            <p:nvSpPr>
              <p:cNvPr id="65570" name="Freeform 89"/>
              <p:cNvSpPr>
                <a:spLocks/>
              </p:cNvSpPr>
              <p:nvPr/>
            </p:nvSpPr>
            <p:spPr bwMode="auto">
              <a:xfrm>
                <a:off x="1220" y="1824"/>
                <a:ext cx="1158" cy="660"/>
              </a:xfrm>
              <a:custGeom>
                <a:avLst/>
                <a:gdLst>
                  <a:gd name="T0" fmla="*/ 0 w 1158"/>
                  <a:gd name="T1" fmla="*/ 0 h 660"/>
                  <a:gd name="T2" fmla="*/ 0 w 1158"/>
                  <a:gd name="T3" fmla="*/ 0 h 660"/>
                  <a:gd name="T4" fmla="*/ 66 w 1158"/>
                  <a:gd name="T5" fmla="*/ 66 h 660"/>
                  <a:gd name="T6" fmla="*/ 171 w 1158"/>
                  <a:gd name="T7" fmla="*/ 147 h 660"/>
                  <a:gd name="T8" fmla="*/ 308 w 1158"/>
                  <a:gd name="T9" fmla="*/ 247 h 660"/>
                  <a:gd name="T10" fmla="*/ 465 w 1158"/>
                  <a:gd name="T11" fmla="*/ 351 h 660"/>
                  <a:gd name="T12" fmla="*/ 546 w 1158"/>
                  <a:gd name="T13" fmla="*/ 404 h 660"/>
                  <a:gd name="T14" fmla="*/ 636 w 1158"/>
                  <a:gd name="T15" fmla="*/ 451 h 660"/>
                  <a:gd name="T16" fmla="*/ 721 w 1158"/>
                  <a:gd name="T17" fmla="*/ 498 h 660"/>
                  <a:gd name="T18" fmla="*/ 812 w 1158"/>
                  <a:gd name="T19" fmla="*/ 546 h 660"/>
                  <a:gd name="T20" fmla="*/ 902 w 1158"/>
                  <a:gd name="T21" fmla="*/ 584 h 660"/>
                  <a:gd name="T22" fmla="*/ 987 w 1158"/>
                  <a:gd name="T23" fmla="*/ 617 h 660"/>
                  <a:gd name="T24" fmla="*/ 1073 w 1158"/>
                  <a:gd name="T25" fmla="*/ 641 h 660"/>
                  <a:gd name="T26" fmla="*/ 1158 w 1158"/>
                  <a:gd name="T27" fmla="*/ 660 h 660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1158"/>
                  <a:gd name="T43" fmla="*/ 0 h 660"/>
                  <a:gd name="T44" fmla="*/ 1158 w 1158"/>
                  <a:gd name="T45" fmla="*/ 660 h 660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1158" h="660">
                    <a:moveTo>
                      <a:pt x="0" y="0"/>
                    </a:moveTo>
                    <a:lnTo>
                      <a:pt x="0" y="0"/>
                    </a:lnTo>
                    <a:lnTo>
                      <a:pt x="66" y="66"/>
                    </a:lnTo>
                    <a:lnTo>
                      <a:pt x="171" y="147"/>
                    </a:lnTo>
                    <a:lnTo>
                      <a:pt x="308" y="247"/>
                    </a:lnTo>
                    <a:lnTo>
                      <a:pt x="465" y="351"/>
                    </a:lnTo>
                    <a:lnTo>
                      <a:pt x="546" y="404"/>
                    </a:lnTo>
                    <a:lnTo>
                      <a:pt x="636" y="451"/>
                    </a:lnTo>
                    <a:lnTo>
                      <a:pt x="721" y="498"/>
                    </a:lnTo>
                    <a:lnTo>
                      <a:pt x="812" y="546"/>
                    </a:lnTo>
                    <a:lnTo>
                      <a:pt x="902" y="584"/>
                    </a:lnTo>
                    <a:lnTo>
                      <a:pt x="987" y="617"/>
                    </a:lnTo>
                    <a:lnTo>
                      <a:pt x="1073" y="641"/>
                    </a:lnTo>
                    <a:lnTo>
                      <a:pt x="1158" y="660"/>
                    </a:lnTo>
                  </a:path>
                </a:pathLst>
              </a:custGeom>
              <a:noFill/>
              <a:ln w="90488">
                <a:solidFill>
                  <a:srgbClr val="F0027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5571" name="Freeform 92"/>
              <p:cNvSpPr>
                <a:spLocks/>
              </p:cNvSpPr>
              <p:nvPr/>
            </p:nvSpPr>
            <p:spPr bwMode="auto">
              <a:xfrm>
                <a:off x="1101" y="1724"/>
                <a:ext cx="228" cy="214"/>
              </a:xfrm>
              <a:custGeom>
                <a:avLst/>
                <a:gdLst>
                  <a:gd name="T0" fmla="*/ 123 w 228"/>
                  <a:gd name="T1" fmla="*/ 214 h 214"/>
                  <a:gd name="T2" fmla="*/ 0 w 228"/>
                  <a:gd name="T3" fmla="*/ 0 h 214"/>
                  <a:gd name="T4" fmla="*/ 228 w 228"/>
                  <a:gd name="T5" fmla="*/ 100 h 214"/>
                  <a:gd name="T6" fmla="*/ 147 w 228"/>
                  <a:gd name="T7" fmla="*/ 128 h 214"/>
                  <a:gd name="T8" fmla="*/ 123 w 228"/>
                  <a:gd name="T9" fmla="*/ 214 h 21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8"/>
                  <a:gd name="T16" fmla="*/ 0 h 214"/>
                  <a:gd name="T17" fmla="*/ 228 w 228"/>
                  <a:gd name="T18" fmla="*/ 214 h 21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8" h="214">
                    <a:moveTo>
                      <a:pt x="123" y="214"/>
                    </a:moveTo>
                    <a:lnTo>
                      <a:pt x="0" y="0"/>
                    </a:lnTo>
                    <a:lnTo>
                      <a:pt x="228" y="100"/>
                    </a:lnTo>
                    <a:lnTo>
                      <a:pt x="147" y="128"/>
                    </a:lnTo>
                    <a:lnTo>
                      <a:pt x="123" y="214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7" name="Group 136"/>
            <p:cNvGrpSpPr>
              <a:grpSpLocks/>
            </p:cNvGrpSpPr>
            <p:nvPr/>
          </p:nvGrpSpPr>
          <p:grpSpPr bwMode="auto">
            <a:xfrm>
              <a:off x="1099" y="2583"/>
              <a:ext cx="1906" cy="745"/>
              <a:chOff x="1099" y="2579"/>
              <a:chExt cx="1906" cy="745"/>
            </a:xfrm>
          </p:grpSpPr>
          <p:sp>
            <p:nvSpPr>
              <p:cNvPr id="65568" name="Freeform 90"/>
              <p:cNvSpPr>
                <a:spLocks/>
              </p:cNvSpPr>
              <p:nvPr/>
            </p:nvSpPr>
            <p:spPr bwMode="auto">
              <a:xfrm>
                <a:off x="1243" y="2579"/>
                <a:ext cx="1762" cy="627"/>
              </a:xfrm>
              <a:custGeom>
                <a:avLst/>
                <a:gdLst>
                  <a:gd name="T0" fmla="*/ 0 w 1762"/>
                  <a:gd name="T1" fmla="*/ 627 h 627"/>
                  <a:gd name="T2" fmla="*/ 0 w 1762"/>
                  <a:gd name="T3" fmla="*/ 627 h 627"/>
                  <a:gd name="T4" fmla="*/ 105 w 1762"/>
                  <a:gd name="T5" fmla="*/ 551 h 627"/>
                  <a:gd name="T6" fmla="*/ 219 w 1762"/>
                  <a:gd name="T7" fmla="*/ 475 h 627"/>
                  <a:gd name="T8" fmla="*/ 333 w 1762"/>
                  <a:gd name="T9" fmla="*/ 403 h 627"/>
                  <a:gd name="T10" fmla="*/ 451 w 1762"/>
                  <a:gd name="T11" fmla="*/ 337 h 627"/>
                  <a:gd name="T12" fmla="*/ 570 w 1762"/>
                  <a:gd name="T13" fmla="*/ 280 h 627"/>
                  <a:gd name="T14" fmla="*/ 694 w 1762"/>
                  <a:gd name="T15" fmla="*/ 223 h 627"/>
                  <a:gd name="T16" fmla="*/ 812 w 1762"/>
                  <a:gd name="T17" fmla="*/ 176 h 627"/>
                  <a:gd name="T18" fmla="*/ 931 w 1762"/>
                  <a:gd name="T19" fmla="*/ 128 h 627"/>
                  <a:gd name="T20" fmla="*/ 1050 w 1762"/>
                  <a:gd name="T21" fmla="*/ 90 h 627"/>
                  <a:gd name="T22" fmla="*/ 1164 w 1762"/>
                  <a:gd name="T23" fmla="*/ 62 h 627"/>
                  <a:gd name="T24" fmla="*/ 1277 w 1762"/>
                  <a:gd name="T25" fmla="*/ 33 h 627"/>
                  <a:gd name="T26" fmla="*/ 1387 w 1762"/>
                  <a:gd name="T27" fmla="*/ 14 h 627"/>
                  <a:gd name="T28" fmla="*/ 1491 w 1762"/>
                  <a:gd name="T29" fmla="*/ 5 h 627"/>
                  <a:gd name="T30" fmla="*/ 1586 w 1762"/>
                  <a:gd name="T31" fmla="*/ 0 h 627"/>
                  <a:gd name="T32" fmla="*/ 1676 w 1762"/>
                  <a:gd name="T33" fmla="*/ 0 h 627"/>
                  <a:gd name="T34" fmla="*/ 1762 w 1762"/>
                  <a:gd name="T35" fmla="*/ 9 h 627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762"/>
                  <a:gd name="T55" fmla="*/ 0 h 627"/>
                  <a:gd name="T56" fmla="*/ 1762 w 1762"/>
                  <a:gd name="T57" fmla="*/ 627 h 627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762" h="627">
                    <a:moveTo>
                      <a:pt x="0" y="627"/>
                    </a:moveTo>
                    <a:lnTo>
                      <a:pt x="0" y="627"/>
                    </a:lnTo>
                    <a:lnTo>
                      <a:pt x="105" y="551"/>
                    </a:lnTo>
                    <a:lnTo>
                      <a:pt x="219" y="475"/>
                    </a:lnTo>
                    <a:lnTo>
                      <a:pt x="333" y="403"/>
                    </a:lnTo>
                    <a:lnTo>
                      <a:pt x="451" y="337"/>
                    </a:lnTo>
                    <a:lnTo>
                      <a:pt x="570" y="280"/>
                    </a:lnTo>
                    <a:lnTo>
                      <a:pt x="694" y="223"/>
                    </a:lnTo>
                    <a:lnTo>
                      <a:pt x="812" y="176"/>
                    </a:lnTo>
                    <a:lnTo>
                      <a:pt x="931" y="128"/>
                    </a:lnTo>
                    <a:lnTo>
                      <a:pt x="1050" y="90"/>
                    </a:lnTo>
                    <a:lnTo>
                      <a:pt x="1164" y="62"/>
                    </a:lnTo>
                    <a:lnTo>
                      <a:pt x="1277" y="33"/>
                    </a:lnTo>
                    <a:lnTo>
                      <a:pt x="1387" y="14"/>
                    </a:lnTo>
                    <a:lnTo>
                      <a:pt x="1491" y="5"/>
                    </a:lnTo>
                    <a:lnTo>
                      <a:pt x="1586" y="0"/>
                    </a:lnTo>
                    <a:lnTo>
                      <a:pt x="1676" y="0"/>
                    </a:lnTo>
                    <a:lnTo>
                      <a:pt x="1762" y="9"/>
                    </a:lnTo>
                  </a:path>
                </a:pathLst>
              </a:custGeom>
              <a:noFill/>
              <a:ln w="90488">
                <a:solidFill>
                  <a:srgbClr val="FF33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5569" name="Freeform 94"/>
              <p:cNvSpPr>
                <a:spLocks/>
              </p:cNvSpPr>
              <p:nvPr/>
            </p:nvSpPr>
            <p:spPr bwMode="auto">
              <a:xfrm>
                <a:off x="1099" y="3125"/>
                <a:ext cx="237" cy="199"/>
              </a:xfrm>
              <a:custGeom>
                <a:avLst/>
                <a:gdLst>
                  <a:gd name="T0" fmla="*/ 237 w 237"/>
                  <a:gd name="T1" fmla="*/ 128 h 199"/>
                  <a:gd name="T2" fmla="*/ 0 w 237"/>
                  <a:gd name="T3" fmla="*/ 199 h 199"/>
                  <a:gd name="T4" fmla="*/ 147 w 237"/>
                  <a:gd name="T5" fmla="*/ 0 h 199"/>
                  <a:gd name="T6" fmla="*/ 161 w 237"/>
                  <a:gd name="T7" fmla="*/ 85 h 199"/>
                  <a:gd name="T8" fmla="*/ 237 w 237"/>
                  <a:gd name="T9" fmla="*/ 128 h 19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37"/>
                  <a:gd name="T16" fmla="*/ 0 h 199"/>
                  <a:gd name="T17" fmla="*/ 237 w 237"/>
                  <a:gd name="T18" fmla="*/ 199 h 19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37" h="199">
                    <a:moveTo>
                      <a:pt x="237" y="128"/>
                    </a:moveTo>
                    <a:lnTo>
                      <a:pt x="0" y="199"/>
                    </a:lnTo>
                    <a:lnTo>
                      <a:pt x="147" y="0"/>
                    </a:lnTo>
                    <a:lnTo>
                      <a:pt x="161" y="85"/>
                    </a:lnTo>
                    <a:lnTo>
                      <a:pt x="237" y="128"/>
                    </a:lnTo>
                    <a:close/>
                  </a:path>
                </a:pathLst>
              </a:custGeom>
              <a:solidFill>
                <a:srgbClr val="FF33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8" name="Group 137"/>
            <p:cNvGrpSpPr>
              <a:grpSpLocks/>
            </p:cNvGrpSpPr>
            <p:nvPr/>
          </p:nvGrpSpPr>
          <p:grpSpPr bwMode="auto">
            <a:xfrm>
              <a:off x="1063" y="2229"/>
              <a:ext cx="2871" cy="519"/>
              <a:chOff x="1063" y="2229"/>
              <a:chExt cx="2871" cy="519"/>
            </a:xfrm>
          </p:grpSpPr>
          <p:sp>
            <p:nvSpPr>
              <p:cNvPr id="65566" name="Line 91"/>
              <p:cNvSpPr>
                <a:spLocks noChangeShapeType="1"/>
              </p:cNvSpPr>
              <p:nvPr/>
            </p:nvSpPr>
            <p:spPr bwMode="auto">
              <a:xfrm flipH="1" flipV="1">
                <a:off x="1229" y="2289"/>
                <a:ext cx="2705" cy="459"/>
              </a:xfrm>
              <a:prstGeom prst="line">
                <a:avLst/>
              </a:prstGeom>
              <a:noFill/>
              <a:ln w="90488">
                <a:solidFill>
                  <a:srgbClr val="E8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5567" name="Freeform 93"/>
              <p:cNvSpPr>
                <a:spLocks/>
              </p:cNvSpPr>
              <p:nvPr/>
            </p:nvSpPr>
            <p:spPr bwMode="auto">
              <a:xfrm>
                <a:off x="1063" y="2229"/>
                <a:ext cx="247" cy="156"/>
              </a:xfrm>
              <a:custGeom>
                <a:avLst/>
                <a:gdLst>
                  <a:gd name="T0" fmla="*/ 218 w 247"/>
                  <a:gd name="T1" fmla="*/ 156 h 156"/>
                  <a:gd name="T2" fmla="*/ 0 w 247"/>
                  <a:gd name="T3" fmla="*/ 38 h 156"/>
                  <a:gd name="T4" fmla="*/ 247 w 247"/>
                  <a:gd name="T5" fmla="*/ 0 h 156"/>
                  <a:gd name="T6" fmla="*/ 195 w 247"/>
                  <a:gd name="T7" fmla="*/ 71 h 156"/>
                  <a:gd name="T8" fmla="*/ 218 w 247"/>
                  <a:gd name="T9" fmla="*/ 156 h 1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47"/>
                  <a:gd name="T16" fmla="*/ 0 h 156"/>
                  <a:gd name="T17" fmla="*/ 247 w 247"/>
                  <a:gd name="T18" fmla="*/ 156 h 1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47" h="156">
                    <a:moveTo>
                      <a:pt x="218" y="156"/>
                    </a:moveTo>
                    <a:lnTo>
                      <a:pt x="0" y="38"/>
                    </a:lnTo>
                    <a:lnTo>
                      <a:pt x="247" y="0"/>
                    </a:lnTo>
                    <a:lnTo>
                      <a:pt x="195" y="71"/>
                    </a:lnTo>
                    <a:lnTo>
                      <a:pt x="218" y="156"/>
                    </a:lnTo>
                    <a:close/>
                  </a:path>
                </a:pathLst>
              </a:custGeom>
              <a:solidFill>
                <a:srgbClr val="E8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9" name="Group 145"/>
          <p:cNvGrpSpPr>
            <a:grpSpLocks/>
          </p:cNvGrpSpPr>
          <p:nvPr/>
        </p:nvGrpSpPr>
        <p:grpSpPr bwMode="auto">
          <a:xfrm>
            <a:off x="6232525" y="3740150"/>
            <a:ext cx="1906588" cy="1679575"/>
            <a:chOff x="3926" y="2356"/>
            <a:chExt cx="1201" cy="1058"/>
          </a:xfrm>
        </p:grpSpPr>
        <p:sp>
          <p:nvSpPr>
            <p:cNvPr id="65557" name="Freeform 98"/>
            <p:cNvSpPr>
              <a:spLocks/>
            </p:cNvSpPr>
            <p:nvPr/>
          </p:nvSpPr>
          <p:spPr bwMode="auto">
            <a:xfrm>
              <a:off x="3940" y="2512"/>
              <a:ext cx="783" cy="637"/>
            </a:xfrm>
            <a:custGeom>
              <a:avLst/>
              <a:gdLst>
                <a:gd name="T0" fmla="*/ 783 w 783"/>
                <a:gd name="T1" fmla="*/ 0 h 637"/>
                <a:gd name="T2" fmla="*/ 171 w 783"/>
                <a:gd name="T3" fmla="*/ 0 h 637"/>
                <a:gd name="T4" fmla="*/ 0 w 783"/>
                <a:gd name="T5" fmla="*/ 133 h 637"/>
                <a:gd name="T6" fmla="*/ 5 w 783"/>
                <a:gd name="T7" fmla="*/ 637 h 637"/>
                <a:gd name="T8" fmla="*/ 783 w 783"/>
                <a:gd name="T9" fmla="*/ 637 h 637"/>
                <a:gd name="T10" fmla="*/ 783 w 783"/>
                <a:gd name="T11" fmla="*/ 0 h 63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783"/>
                <a:gd name="T19" fmla="*/ 0 h 637"/>
                <a:gd name="T20" fmla="*/ 783 w 783"/>
                <a:gd name="T21" fmla="*/ 637 h 637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783" h="637">
                  <a:moveTo>
                    <a:pt x="783" y="0"/>
                  </a:moveTo>
                  <a:lnTo>
                    <a:pt x="171" y="0"/>
                  </a:lnTo>
                  <a:lnTo>
                    <a:pt x="0" y="133"/>
                  </a:lnTo>
                  <a:lnTo>
                    <a:pt x="5" y="637"/>
                  </a:lnTo>
                  <a:lnTo>
                    <a:pt x="783" y="637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5558" name="Freeform 100"/>
            <p:cNvSpPr>
              <a:spLocks/>
            </p:cNvSpPr>
            <p:nvPr/>
          </p:nvSpPr>
          <p:spPr bwMode="auto">
            <a:xfrm>
              <a:off x="4733" y="2498"/>
              <a:ext cx="394" cy="916"/>
            </a:xfrm>
            <a:custGeom>
              <a:avLst/>
              <a:gdLst>
                <a:gd name="T0" fmla="*/ 0 w 394"/>
                <a:gd name="T1" fmla="*/ 916 h 916"/>
                <a:gd name="T2" fmla="*/ 0 w 394"/>
                <a:gd name="T3" fmla="*/ 261 h 916"/>
                <a:gd name="T4" fmla="*/ 394 w 394"/>
                <a:gd name="T5" fmla="*/ 0 h 916"/>
                <a:gd name="T6" fmla="*/ 394 w 394"/>
                <a:gd name="T7" fmla="*/ 655 h 916"/>
                <a:gd name="T8" fmla="*/ 0 w 394"/>
                <a:gd name="T9" fmla="*/ 916 h 9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94"/>
                <a:gd name="T16" fmla="*/ 0 h 916"/>
                <a:gd name="T17" fmla="*/ 394 w 394"/>
                <a:gd name="T18" fmla="*/ 916 h 91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94" h="916">
                  <a:moveTo>
                    <a:pt x="0" y="916"/>
                  </a:moveTo>
                  <a:lnTo>
                    <a:pt x="0" y="261"/>
                  </a:lnTo>
                  <a:lnTo>
                    <a:pt x="394" y="0"/>
                  </a:lnTo>
                  <a:lnTo>
                    <a:pt x="394" y="655"/>
                  </a:lnTo>
                  <a:lnTo>
                    <a:pt x="0" y="916"/>
                  </a:lnTo>
                  <a:close/>
                </a:path>
              </a:pathLst>
            </a:custGeom>
            <a:solidFill>
              <a:srgbClr val="66666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5559" name="Freeform 101"/>
            <p:cNvSpPr>
              <a:spLocks/>
            </p:cNvSpPr>
            <p:nvPr/>
          </p:nvSpPr>
          <p:spPr bwMode="auto">
            <a:xfrm>
              <a:off x="3926" y="2356"/>
              <a:ext cx="1201" cy="403"/>
            </a:xfrm>
            <a:custGeom>
              <a:avLst/>
              <a:gdLst>
                <a:gd name="T0" fmla="*/ 807 w 1201"/>
                <a:gd name="T1" fmla="*/ 403 h 403"/>
                <a:gd name="T2" fmla="*/ 655 w 1201"/>
                <a:gd name="T3" fmla="*/ 375 h 403"/>
                <a:gd name="T4" fmla="*/ 669 w 1201"/>
                <a:gd name="T5" fmla="*/ 275 h 403"/>
                <a:gd name="T6" fmla="*/ 370 w 1201"/>
                <a:gd name="T7" fmla="*/ 270 h 403"/>
                <a:gd name="T8" fmla="*/ 275 w 1201"/>
                <a:gd name="T9" fmla="*/ 185 h 403"/>
                <a:gd name="T10" fmla="*/ 76 w 1201"/>
                <a:gd name="T11" fmla="*/ 280 h 403"/>
                <a:gd name="T12" fmla="*/ 0 w 1201"/>
                <a:gd name="T13" fmla="*/ 261 h 403"/>
                <a:gd name="T14" fmla="*/ 398 w 1201"/>
                <a:gd name="T15" fmla="*/ 0 h 403"/>
                <a:gd name="T16" fmla="*/ 1201 w 1201"/>
                <a:gd name="T17" fmla="*/ 142 h 403"/>
                <a:gd name="T18" fmla="*/ 807 w 1201"/>
                <a:gd name="T19" fmla="*/ 403 h 403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201"/>
                <a:gd name="T31" fmla="*/ 0 h 403"/>
                <a:gd name="T32" fmla="*/ 1201 w 1201"/>
                <a:gd name="T33" fmla="*/ 403 h 403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201" h="403">
                  <a:moveTo>
                    <a:pt x="807" y="403"/>
                  </a:moveTo>
                  <a:lnTo>
                    <a:pt x="655" y="375"/>
                  </a:lnTo>
                  <a:lnTo>
                    <a:pt x="669" y="275"/>
                  </a:lnTo>
                  <a:lnTo>
                    <a:pt x="370" y="270"/>
                  </a:lnTo>
                  <a:lnTo>
                    <a:pt x="275" y="185"/>
                  </a:lnTo>
                  <a:lnTo>
                    <a:pt x="76" y="280"/>
                  </a:lnTo>
                  <a:lnTo>
                    <a:pt x="0" y="261"/>
                  </a:lnTo>
                  <a:lnTo>
                    <a:pt x="398" y="0"/>
                  </a:lnTo>
                  <a:lnTo>
                    <a:pt x="1201" y="142"/>
                  </a:lnTo>
                  <a:lnTo>
                    <a:pt x="807" y="403"/>
                  </a:lnTo>
                  <a:close/>
                </a:path>
              </a:pathLst>
            </a:custGeom>
            <a:solidFill>
              <a:srgbClr val="8C8C87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5560" name="Freeform 102"/>
            <p:cNvSpPr>
              <a:spLocks/>
            </p:cNvSpPr>
            <p:nvPr/>
          </p:nvSpPr>
          <p:spPr bwMode="auto">
            <a:xfrm>
              <a:off x="3926" y="2617"/>
              <a:ext cx="807" cy="797"/>
            </a:xfrm>
            <a:custGeom>
              <a:avLst/>
              <a:gdLst>
                <a:gd name="T0" fmla="*/ 807 w 807"/>
                <a:gd name="T1" fmla="*/ 142 h 797"/>
                <a:gd name="T2" fmla="*/ 655 w 807"/>
                <a:gd name="T3" fmla="*/ 114 h 797"/>
                <a:gd name="T4" fmla="*/ 755 w 807"/>
                <a:gd name="T5" fmla="*/ 342 h 797"/>
                <a:gd name="T6" fmla="*/ 569 w 807"/>
                <a:gd name="T7" fmla="*/ 517 h 797"/>
                <a:gd name="T8" fmla="*/ 403 w 807"/>
                <a:gd name="T9" fmla="*/ 446 h 797"/>
                <a:gd name="T10" fmla="*/ 123 w 807"/>
                <a:gd name="T11" fmla="*/ 456 h 797"/>
                <a:gd name="T12" fmla="*/ 114 w 807"/>
                <a:gd name="T13" fmla="*/ 194 h 797"/>
                <a:gd name="T14" fmla="*/ 76 w 807"/>
                <a:gd name="T15" fmla="*/ 19 h 797"/>
                <a:gd name="T16" fmla="*/ 0 w 807"/>
                <a:gd name="T17" fmla="*/ 0 h 797"/>
                <a:gd name="T18" fmla="*/ 0 w 807"/>
                <a:gd name="T19" fmla="*/ 655 h 797"/>
                <a:gd name="T20" fmla="*/ 807 w 807"/>
                <a:gd name="T21" fmla="*/ 797 h 797"/>
                <a:gd name="T22" fmla="*/ 807 w 807"/>
                <a:gd name="T23" fmla="*/ 142 h 797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807"/>
                <a:gd name="T37" fmla="*/ 0 h 797"/>
                <a:gd name="T38" fmla="*/ 807 w 807"/>
                <a:gd name="T39" fmla="*/ 797 h 797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807" h="797">
                  <a:moveTo>
                    <a:pt x="807" y="142"/>
                  </a:moveTo>
                  <a:lnTo>
                    <a:pt x="655" y="114"/>
                  </a:lnTo>
                  <a:lnTo>
                    <a:pt x="755" y="342"/>
                  </a:lnTo>
                  <a:lnTo>
                    <a:pt x="569" y="517"/>
                  </a:lnTo>
                  <a:lnTo>
                    <a:pt x="403" y="446"/>
                  </a:lnTo>
                  <a:lnTo>
                    <a:pt x="123" y="456"/>
                  </a:lnTo>
                  <a:lnTo>
                    <a:pt x="114" y="194"/>
                  </a:lnTo>
                  <a:lnTo>
                    <a:pt x="76" y="19"/>
                  </a:lnTo>
                  <a:lnTo>
                    <a:pt x="0" y="0"/>
                  </a:lnTo>
                  <a:lnTo>
                    <a:pt x="0" y="655"/>
                  </a:lnTo>
                  <a:lnTo>
                    <a:pt x="807" y="797"/>
                  </a:lnTo>
                  <a:lnTo>
                    <a:pt x="807" y="142"/>
                  </a:lnTo>
                  <a:close/>
                </a:path>
              </a:pathLst>
            </a:custGeom>
            <a:solidFill>
              <a:srgbClr val="53534E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5561" name="Freeform 103"/>
            <p:cNvSpPr>
              <a:spLocks/>
            </p:cNvSpPr>
            <p:nvPr/>
          </p:nvSpPr>
          <p:spPr bwMode="auto">
            <a:xfrm>
              <a:off x="4002" y="2541"/>
              <a:ext cx="593" cy="119"/>
            </a:xfrm>
            <a:custGeom>
              <a:avLst/>
              <a:gdLst>
                <a:gd name="T0" fmla="*/ 593 w 593"/>
                <a:gd name="T1" fmla="*/ 90 h 119"/>
                <a:gd name="T2" fmla="*/ 294 w 593"/>
                <a:gd name="T3" fmla="*/ 85 h 119"/>
                <a:gd name="T4" fmla="*/ 199 w 593"/>
                <a:gd name="T5" fmla="*/ 0 h 119"/>
                <a:gd name="T6" fmla="*/ 0 w 593"/>
                <a:gd name="T7" fmla="*/ 95 h 119"/>
                <a:gd name="T8" fmla="*/ 28 w 593"/>
                <a:gd name="T9" fmla="*/ 114 h 119"/>
                <a:gd name="T10" fmla="*/ 199 w 593"/>
                <a:gd name="T11" fmla="*/ 28 h 119"/>
                <a:gd name="T12" fmla="*/ 294 w 593"/>
                <a:gd name="T13" fmla="*/ 114 h 119"/>
                <a:gd name="T14" fmla="*/ 588 w 593"/>
                <a:gd name="T15" fmla="*/ 119 h 119"/>
                <a:gd name="T16" fmla="*/ 593 w 593"/>
                <a:gd name="T17" fmla="*/ 90 h 11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593"/>
                <a:gd name="T28" fmla="*/ 0 h 119"/>
                <a:gd name="T29" fmla="*/ 593 w 593"/>
                <a:gd name="T30" fmla="*/ 119 h 119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593" h="119">
                  <a:moveTo>
                    <a:pt x="593" y="90"/>
                  </a:moveTo>
                  <a:lnTo>
                    <a:pt x="294" y="85"/>
                  </a:lnTo>
                  <a:lnTo>
                    <a:pt x="199" y="0"/>
                  </a:lnTo>
                  <a:lnTo>
                    <a:pt x="0" y="95"/>
                  </a:lnTo>
                  <a:lnTo>
                    <a:pt x="28" y="114"/>
                  </a:lnTo>
                  <a:lnTo>
                    <a:pt x="199" y="28"/>
                  </a:lnTo>
                  <a:lnTo>
                    <a:pt x="294" y="114"/>
                  </a:lnTo>
                  <a:lnTo>
                    <a:pt x="588" y="119"/>
                  </a:lnTo>
                  <a:lnTo>
                    <a:pt x="593" y="90"/>
                  </a:lnTo>
                  <a:close/>
                </a:path>
              </a:pathLst>
            </a:custGeom>
            <a:solidFill>
              <a:srgbClr val="1A1A18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5562" name="Freeform 105"/>
            <p:cNvSpPr>
              <a:spLocks/>
            </p:cNvSpPr>
            <p:nvPr/>
          </p:nvSpPr>
          <p:spPr bwMode="auto">
            <a:xfrm>
              <a:off x="4002" y="2636"/>
              <a:ext cx="512" cy="498"/>
            </a:xfrm>
            <a:custGeom>
              <a:avLst/>
              <a:gdLst>
                <a:gd name="T0" fmla="*/ 0 w 512"/>
                <a:gd name="T1" fmla="*/ 0 h 498"/>
                <a:gd name="T2" fmla="*/ 38 w 512"/>
                <a:gd name="T3" fmla="*/ 175 h 498"/>
                <a:gd name="T4" fmla="*/ 47 w 512"/>
                <a:gd name="T5" fmla="*/ 437 h 498"/>
                <a:gd name="T6" fmla="*/ 327 w 512"/>
                <a:gd name="T7" fmla="*/ 427 h 498"/>
                <a:gd name="T8" fmla="*/ 493 w 512"/>
                <a:gd name="T9" fmla="*/ 498 h 498"/>
                <a:gd name="T10" fmla="*/ 512 w 512"/>
                <a:gd name="T11" fmla="*/ 475 h 498"/>
                <a:gd name="T12" fmla="*/ 356 w 512"/>
                <a:gd name="T13" fmla="*/ 399 h 498"/>
                <a:gd name="T14" fmla="*/ 76 w 512"/>
                <a:gd name="T15" fmla="*/ 408 h 498"/>
                <a:gd name="T16" fmla="*/ 71 w 512"/>
                <a:gd name="T17" fmla="*/ 161 h 498"/>
                <a:gd name="T18" fmla="*/ 28 w 512"/>
                <a:gd name="T19" fmla="*/ 19 h 498"/>
                <a:gd name="T20" fmla="*/ 0 w 512"/>
                <a:gd name="T21" fmla="*/ 0 h 498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512"/>
                <a:gd name="T34" fmla="*/ 0 h 498"/>
                <a:gd name="T35" fmla="*/ 512 w 512"/>
                <a:gd name="T36" fmla="*/ 498 h 498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512" h="498">
                  <a:moveTo>
                    <a:pt x="0" y="0"/>
                  </a:moveTo>
                  <a:lnTo>
                    <a:pt x="38" y="175"/>
                  </a:lnTo>
                  <a:lnTo>
                    <a:pt x="47" y="437"/>
                  </a:lnTo>
                  <a:lnTo>
                    <a:pt x="327" y="427"/>
                  </a:lnTo>
                  <a:lnTo>
                    <a:pt x="493" y="498"/>
                  </a:lnTo>
                  <a:lnTo>
                    <a:pt x="512" y="475"/>
                  </a:lnTo>
                  <a:lnTo>
                    <a:pt x="356" y="399"/>
                  </a:lnTo>
                  <a:lnTo>
                    <a:pt x="76" y="408"/>
                  </a:lnTo>
                  <a:lnTo>
                    <a:pt x="71" y="161"/>
                  </a:lnTo>
                  <a:lnTo>
                    <a:pt x="28" y="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0403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" name="Group 127"/>
          <p:cNvGrpSpPr>
            <a:grpSpLocks/>
          </p:cNvGrpSpPr>
          <p:nvPr/>
        </p:nvGrpSpPr>
        <p:grpSpPr bwMode="auto">
          <a:xfrm>
            <a:off x="7064375" y="3070225"/>
            <a:ext cx="1193800" cy="971550"/>
            <a:chOff x="4450" y="1934"/>
            <a:chExt cx="752" cy="612"/>
          </a:xfrm>
        </p:grpSpPr>
        <p:sp>
          <p:nvSpPr>
            <p:cNvPr id="65555" name="Rectangle 107"/>
            <p:cNvSpPr>
              <a:spLocks noChangeArrowheads="1"/>
            </p:cNvSpPr>
            <p:nvPr/>
          </p:nvSpPr>
          <p:spPr bwMode="auto">
            <a:xfrm>
              <a:off x="4450" y="1934"/>
              <a:ext cx="752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b="1">
                  <a:solidFill>
                    <a:srgbClr val="000000"/>
                  </a:solidFill>
                </a:rPr>
                <a:t>Lead block</a:t>
              </a:r>
              <a:endParaRPr lang="en-US" b="1"/>
            </a:p>
          </p:txBody>
        </p:sp>
        <p:sp>
          <p:nvSpPr>
            <p:cNvPr id="65556" name="Line 108"/>
            <p:cNvSpPr>
              <a:spLocks noChangeShapeType="1"/>
            </p:cNvSpPr>
            <p:nvPr/>
          </p:nvSpPr>
          <p:spPr bwMode="auto">
            <a:xfrm flipV="1">
              <a:off x="4666" y="2104"/>
              <a:ext cx="100" cy="442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5549" name="Freeform 116"/>
          <p:cNvSpPr>
            <a:spLocks/>
          </p:cNvSpPr>
          <p:nvPr/>
        </p:nvSpPr>
        <p:spPr bwMode="auto">
          <a:xfrm>
            <a:off x="6596063" y="4378325"/>
            <a:ext cx="307975" cy="165100"/>
          </a:xfrm>
          <a:custGeom>
            <a:avLst/>
            <a:gdLst>
              <a:gd name="T0" fmla="*/ 285750 w 194"/>
              <a:gd name="T1" fmla="*/ 165100 h 104"/>
              <a:gd name="T2" fmla="*/ 22225 w 194"/>
              <a:gd name="T3" fmla="*/ 127000 h 104"/>
              <a:gd name="T4" fmla="*/ 22225 w 194"/>
              <a:gd name="T5" fmla="*/ 127000 h 104"/>
              <a:gd name="T6" fmla="*/ 6350 w 194"/>
              <a:gd name="T7" fmla="*/ 119063 h 104"/>
              <a:gd name="T8" fmla="*/ 6350 w 194"/>
              <a:gd name="T9" fmla="*/ 104775 h 104"/>
              <a:gd name="T10" fmla="*/ 0 w 194"/>
              <a:gd name="T11" fmla="*/ 82550 h 104"/>
              <a:gd name="T12" fmla="*/ 0 w 194"/>
              <a:gd name="T13" fmla="*/ 60325 h 104"/>
              <a:gd name="T14" fmla="*/ 0 w 194"/>
              <a:gd name="T15" fmla="*/ 60325 h 104"/>
              <a:gd name="T16" fmla="*/ 6350 w 194"/>
              <a:gd name="T17" fmla="*/ 36513 h 104"/>
              <a:gd name="T18" fmla="*/ 14288 w 194"/>
              <a:gd name="T19" fmla="*/ 14288 h 104"/>
              <a:gd name="T20" fmla="*/ 30163 w 194"/>
              <a:gd name="T21" fmla="*/ 6350 h 104"/>
              <a:gd name="T22" fmla="*/ 44450 w 194"/>
              <a:gd name="T23" fmla="*/ 0 h 104"/>
              <a:gd name="T24" fmla="*/ 307975 w 194"/>
              <a:gd name="T25" fmla="*/ 44450 h 104"/>
              <a:gd name="T26" fmla="*/ 285750 w 194"/>
              <a:gd name="T27" fmla="*/ 165100 h 104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w 194"/>
              <a:gd name="T43" fmla="*/ 0 h 104"/>
              <a:gd name="T44" fmla="*/ 194 w 194"/>
              <a:gd name="T45" fmla="*/ 104 h 104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T42" t="T43" r="T44" b="T45"/>
            <a:pathLst>
              <a:path w="194" h="104">
                <a:moveTo>
                  <a:pt x="180" y="104"/>
                </a:moveTo>
                <a:lnTo>
                  <a:pt x="14" y="80"/>
                </a:lnTo>
                <a:lnTo>
                  <a:pt x="4" y="75"/>
                </a:lnTo>
                <a:lnTo>
                  <a:pt x="4" y="66"/>
                </a:lnTo>
                <a:lnTo>
                  <a:pt x="0" y="52"/>
                </a:lnTo>
                <a:lnTo>
                  <a:pt x="0" y="38"/>
                </a:lnTo>
                <a:lnTo>
                  <a:pt x="4" y="23"/>
                </a:lnTo>
                <a:lnTo>
                  <a:pt x="9" y="9"/>
                </a:lnTo>
                <a:lnTo>
                  <a:pt x="19" y="4"/>
                </a:lnTo>
                <a:lnTo>
                  <a:pt x="28" y="0"/>
                </a:lnTo>
                <a:lnTo>
                  <a:pt x="194" y="28"/>
                </a:lnTo>
                <a:lnTo>
                  <a:pt x="180" y="104"/>
                </a:lnTo>
                <a:close/>
              </a:path>
            </a:pathLst>
          </a:custGeom>
          <a:solidFill>
            <a:srgbClr val="D21009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65550" name="Freeform 104"/>
          <p:cNvSpPr>
            <a:spLocks/>
          </p:cNvSpPr>
          <p:nvPr/>
        </p:nvSpPr>
        <p:spPr bwMode="auto">
          <a:xfrm>
            <a:off x="6845300" y="4346575"/>
            <a:ext cx="361950" cy="361950"/>
          </a:xfrm>
          <a:custGeom>
            <a:avLst/>
            <a:gdLst>
              <a:gd name="T0" fmla="*/ 0 w 228"/>
              <a:gd name="T1" fmla="*/ 195262 h 228"/>
              <a:gd name="T2" fmla="*/ 0 w 228"/>
              <a:gd name="T3" fmla="*/ 195262 h 228"/>
              <a:gd name="T4" fmla="*/ 7938 w 228"/>
              <a:gd name="T5" fmla="*/ 233363 h 228"/>
              <a:gd name="T6" fmla="*/ 23812 w 228"/>
              <a:gd name="T7" fmla="*/ 263525 h 228"/>
              <a:gd name="T8" fmla="*/ 38100 w 228"/>
              <a:gd name="T9" fmla="*/ 293688 h 228"/>
              <a:gd name="T10" fmla="*/ 68263 w 228"/>
              <a:gd name="T11" fmla="*/ 315913 h 228"/>
              <a:gd name="T12" fmla="*/ 98425 w 228"/>
              <a:gd name="T13" fmla="*/ 338138 h 228"/>
              <a:gd name="T14" fmla="*/ 128588 w 228"/>
              <a:gd name="T15" fmla="*/ 354013 h 228"/>
              <a:gd name="T16" fmla="*/ 166688 w 228"/>
              <a:gd name="T17" fmla="*/ 361950 h 228"/>
              <a:gd name="T18" fmla="*/ 196850 w 228"/>
              <a:gd name="T19" fmla="*/ 361950 h 228"/>
              <a:gd name="T20" fmla="*/ 196850 w 228"/>
              <a:gd name="T21" fmla="*/ 361950 h 228"/>
              <a:gd name="T22" fmla="*/ 234950 w 228"/>
              <a:gd name="T23" fmla="*/ 354013 h 228"/>
              <a:gd name="T24" fmla="*/ 265113 w 228"/>
              <a:gd name="T25" fmla="*/ 338138 h 228"/>
              <a:gd name="T26" fmla="*/ 295275 w 228"/>
              <a:gd name="T27" fmla="*/ 323850 h 228"/>
              <a:gd name="T28" fmla="*/ 317500 w 228"/>
              <a:gd name="T29" fmla="*/ 301625 h 228"/>
              <a:gd name="T30" fmla="*/ 339725 w 228"/>
              <a:gd name="T31" fmla="*/ 271463 h 228"/>
              <a:gd name="T32" fmla="*/ 355600 w 228"/>
              <a:gd name="T33" fmla="*/ 241300 h 228"/>
              <a:gd name="T34" fmla="*/ 361950 w 228"/>
              <a:gd name="T35" fmla="*/ 203200 h 228"/>
              <a:gd name="T36" fmla="*/ 361950 w 228"/>
              <a:gd name="T37" fmla="*/ 165100 h 228"/>
              <a:gd name="T38" fmla="*/ 361950 w 228"/>
              <a:gd name="T39" fmla="*/ 165100 h 228"/>
              <a:gd name="T40" fmla="*/ 355600 w 228"/>
              <a:gd name="T41" fmla="*/ 134938 h 228"/>
              <a:gd name="T42" fmla="*/ 339725 w 228"/>
              <a:gd name="T43" fmla="*/ 96837 h 228"/>
              <a:gd name="T44" fmla="*/ 317500 w 228"/>
              <a:gd name="T45" fmla="*/ 66675 h 228"/>
              <a:gd name="T46" fmla="*/ 295275 w 228"/>
              <a:gd name="T47" fmla="*/ 44450 h 228"/>
              <a:gd name="T48" fmla="*/ 265113 w 228"/>
              <a:gd name="T49" fmla="*/ 22225 h 228"/>
              <a:gd name="T50" fmla="*/ 234950 w 228"/>
              <a:gd name="T51" fmla="*/ 7938 h 228"/>
              <a:gd name="T52" fmla="*/ 196850 w 228"/>
              <a:gd name="T53" fmla="*/ 0 h 228"/>
              <a:gd name="T54" fmla="*/ 158750 w 228"/>
              <a:gd name="T55" fmla="*/ 0 h 228"/>
              <a:gd name="T56" fmla="*/ 158750 w 228"/>
              <a:gd name="T57" fmla="*/ 0 h 228"/>
              <a:gd name="T58" fmla="*/ 120650 w 228"/>
              <a:gd name="T59" fmla="*/ 7938 h 228"/>
              <a:gd name="T60" fmla="*/ 90488 w 228"/>
              <a:gd name="T61" fmla="*/ 22225 h 228"/>
              <a:gd name="T62" fmla="*/ 60325 w 228"/>
              <a:gd name="T63" fmla="*/ 36513 h 228"/>
              <a:gd name="T64" fmla="*/ 38100 w 228"/>
              <a:gd name="T65" fmla="*/ 60325 h 228"/>
              <a:gd name="T66" fmla="*/ 23812 w 228"/>
              <a:gd name="T67" fmla="*/ 90488 h 228"/>
              <a:gd name="T68" fmla="*/ 7938 w 228"/>
              <a:gd name="T69" fmla="*/ 120650 h 228"/>
              <a:gd name="T70" fmla="*/ 0 w 228"/>
              <a:gd name="T71" fmla="*/ 157163 h 228"/>
              <a:gd name="T72" fmla="*/ 0 w 228"/>
              <a:gd name="T73" fmla="*/ 195262 h 228"/>
              <a:gd name="T74" fmla="*/ 0 w 228"/>
              <a:gd name="T75" fmla="*/ 195262 h 228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w 228"/>
              <a:gd name="T115" fmla="*/ 0 h 228"/>
              <a:gd name="T116" fmla="*/ 228 w 228"/>
              <a:gd name="T117" fmla="*/ 228 h 228"/>
            </a:gdLst>
            <a:ahLst/>
            <a:cxnLst>
              <a:cxn ang="T76">
                <a:pos x="T0" y="T1"/>
              </a:cxn>
              <a:cxn ang="T77">
                <a:pos x="T2" y="T3"/>
              </a:cxn>
              <a:cxn ang="T78">
                <a:pos x="T4" y="T5"/>
              </a:cxn>
              <a:cxn ang="T79">
                <a:pos x="T6" y="T7"/>
              </a:cxn>
              <a:cxn ang="T80">
                <a:pos x="T8" y="T9"/>
              </a:cxn>
              <a:cxn ang="T81">
                <a:pos x="T10" y="T11"/>
              </a:cxn>
              <a:cxn ang="T82">
                <a:pos x="T12" y="T13"/>
              </a:cxn>
              <a:cxn ang="T83">
                <a:pos x="T14" y="T15"/>
              </a:cxn>
              <a:cxn ang="T84">
                <a:pos x="T16" y="T17"/>
              </a:cxn>
              <a:cxn ang="T85">
                <a:pos x="T18" y="T19"/>
              </a:cxn>
              <a:cxn ang="T86">
                <a:pos x="T20" y="T21"/>
              </a:cxn>
              <a:cxn ang="T87">
                <a:pos x="T22" y="T23"/>
              </a:cxn>
              <a:cxn ang="T88">
                <a:pos x="T24" y="T25"/>
              </a:cxn>
              <a:cxn ang="T89">
                <a:pos x="T26" y="T27"/>
              </a:cxn>
              <a:cxn ang="T90">
                <a:pos x="T28" y="T29"/>
              </a:cxn>
              <a:cxn ang="T91">
                <a:pos x="T30" y="T31"/>
              </a:cxn>
              <a:cxn ang="T92">
                <a:pos x="T32" y="T33"/>
              </a:cxn>
              <a:cxn ang="T93">
                <a:pos x="T34" y="T35"/>
              </a:cxn>
              <a:cxn ang="T94">
                <a:pos x="T36" y="T37"/>
              </a:cxn>
              <a:cxn ang="T95">
                <a:pos x="T38" y="T39"/>
              </a:cxn>
              <a:cxn ang="T96">
                <a:pos x="T40" y="T41"/>
              </a:cxn>
              <a:cxn ang="T97">
                <a:pos x="T42" y="T43"/>
              </a:cxn>
              <a:cxn ang="T98">
                <a:pos x="T44" y="T45"/>
              </a:cxn>
              <a:cxn ang="T99">
                <a:pos x="T46" y="T47"/>
              </a:cxn>
              <a:cxn ang="T100">
                <a:pos x="T48" y="T49"/>
              </a:cxn>
              <a:cxn ang="T101">
                <a:pos x="T50" y="T51"/>
              </a:cxn>
              <a:cxn ang="T102">
                <a:pos x="T52" y="T53"/>
              </a:cxn>
              <a:cxn ang="T103">
                <a:pos x="T54" y="T55"/>
              </a:cxn>
              <a:cxn ang="T104">
                <a:pos x="T56" y="T57"/>
              </a:cxn>
              <a:cxn ang="T105">
                <a:pos x="T58" y="T59"/>
              </a:cxn>
              <a:cxn ang="T106">
                <a:pos x="T60" y="T61"/>
              </a:cxn>
              <a:cxn ang="T107">
                <a:pos x="T62" y="T63"/>
              </a:cxn>
              <a:cxn ang="T108">
                <a:pos x="T64" y="T65"/>
              </a:cxn>
              <a:cxn ang="T109">
                <a:pos x="T66" y="T67"/>
              </a:cxn>
              <a:cxn ang="T110">
                <a:pos x="T68" y="T69"/>
              </a:cxn>
              <a:cxn ang="T111">
                <a:pos x="T70" y="T71"/>
              </a:cxn>
              <a:cxn ang="T112">
                <a:pos x="T72" y="T73"/>
              </a:cxn>
              <a:cxn ang="T113">
                <a:pos x="T74" y="T75"/>
              </a:cxn>
            </a:cxnLst>
            <a:rect l="T114" t="T115" r="T116" b="T117"/>
            <a:pathLst>
              <a:path w="228" h="228">
                <a:moveTo>
                  <a:pt x="0" y="123"/>
                </a:moveTo>
                <a:lnTo>
                  <a:pt x="0" y="123"/>
                </a:lnTo>
                <a:lnTo>
                  <a:pt x="5" y="147"/>
                </a:lnTo>
                <a:lnTo>
                  <a:pt x="15" y="166"/>
                </a:lnTo>
                <a:lnTo>
                  <a:pt x="24" y="185"/>
                </a:lnTo>
                <a:lnTo>
                  <a:pt x="43" y="199"/>
                </a:lnTo>
                <a:lnTo>
                  <a:pt x="62" y="213"/>
                </a:lnTo>
                <a:lnTo>
                  <a:pt x="81" y="223"/>
                </a:lnTo>
                <a:lnTo>
                  <a:pt x="105" y="228"/>
                </a:lnTo>
                <a:lnTo>
                  <a:pt x="124" y="228"/>
                </a:lnTo>
                <a:lnTo>
                  <a:pt x="148" y="223"/>
                </a:lnTo>
                <a:lnTo>
                  <a:pt x="167" y="213"/>
                </a:lnTo>
                <a:lnTo>
                  <a:pt x="186" y="204"/>
                </a:lnTo>
                <a:lnTo>
                  <a:pt x="200" y="190"/>
                </a:lnTo>
                <a:lnTo>
                  <a:pt x="214" y="171"/>
                </a:lnTo>
                <a:lnTo>
                  <a:pt x="224" y="152"/>
                </a:lnTo>
                <a:lnTo>
                  <a:pt x="228" y="128"/>
                </a:lnTo>
                <a:lnTo>
                  <a:pt x="228" y="104"/>
                </a:lnTo>
                <a:lnTo>
                  <a:pt x="224" y="85"/>
                </a:lnTo>
                <a:lnTo>
                  <a:pt x="214" y="61"/>
                </a:lnTo>
                <a:lnTo>
                  <a:pt x="200" y="42"/>
                </a:lnTo>
                <a:lnTo>
                  <a:pt x="186" y="28"/>
                </a:lnTo>
                <a:lnTo>
                  <a:pt x="167" y="14"/>
                </a:lnTo>
                <a:lnTo>
                  <a:pt x="148" y="5"/>
                </a:lnTo>
                <a:lnTo>
                  <a:pt x="124" y="0"/>
                </a:lnTo>
                <a:lnTo>
                  <a:pt x="100" y="0"/>
                </a:lnTo>
                <a:lnTo>
                  <a:pt x="76" y="5"/>
                </a:lnTo>
                <a:lnTo>
                  <a:pt x="57" y="14"/>
                </a:lnTo>
                <a:lnTo>
                  <a:pt x="38" y="23"/>
                </a:lnTo>
                <a:lnTo>
                  <a:pt x="24" y="38"/>
                </a:lnTo>
                <a:lnTo>
                  <a:pt x="15" y="57"/>
                </a:lnTo>
                <a:lnTo>
                  <a:pt x="5" y="76"/>
                </a:lnTo>
                <a:lnTo>
                  <a:pt x="0" y="99"/>
                </a:lnTo>
                <a:lnTo>
                  <a:pt x="0" y="123"/>
                </a:lnTo>
                <a:close/>
              </a:path>
            </a:pathLst>
          </a:custGeom>
          <a:solidFill>
            <a:srgbClr val="FD341F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grpSp>
        <p:nvGrpSpPr>
          <p:cNvPr id="11" name="Group 117"/>
          <p:cNvGrpSpPr>
            <a:grpSpLocks/>
          </p:cNvGrpSpPr>
          <p:nvPr/>
        </p:nvGrpSpPr>
        <p:grpSpPr bwMode="auto">
          <a:xfrm>
            <a:off x="5637213" y="4643438"/>
            <a:ext cx="2478087" cy="1349375"/>
            <a:chOff x="3557" y="2925"/>
            <a:chExt cx="1561" cy="850"/>
          </a:xfrm>
        </p:grpSpPr>
        <p:sp>
          <p:nvSpPr>
            <p:cNvPr id="65552" name="Rectangle 106"/>
            <p:cNvSpPr>
              <a:spLocks noChangeArrowheads="1"/>
            </p:cNvSpPr>
            <p:nvPr/>
          </p:nvSpPr>
          <p:spPr bwMode="auto">
            <a:xfrm>
              <a:off x="3557" y="3602"/>
              <a:ext cx="1561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b="1">
                  <a:solidFill>
                    <a:srgbClr val="000000"/>
                  </a:solidFill>
                </a:rPr>
                <a:t>Radioactive substance</a:t>
              </a:r>
              <a:endParaRPr lang="en-US" b="1"/>
            </a:p>
          </p:txBody>
        </p:sp>
        <p:sp>
          <p:nvSpPr>
            <p:cNvPr id="65553" name="Line 109"/>
            <p:cNvSpPr>
              <a:spLocks noChangeShapeType="1"/>
            </p:cNvSpPr>
            <p:nvPr/>
          </p:nvSpPr>
          <p:spPr bwMode="auto">
            <a:xfrm flipV="1">
              <a:off x="4263" y="2925"/>
              <a:ext cx="142" cy="675"/>
            </a:xfrm>
            <a:prstGeom prst="line">
              <a:avLst/>
            </a:prstGeom>
            <a:noFill/>
            <a:ln w="38100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5554" name="Line 110"/>
            <p:cNvSpPr>
              <a:spLocks noChangeShapeType="1"/>
            </p:cNvSpPr>
            <p:nvPr/>
          </p:nvSpPr>
          <p:spPr bwMode="auto">
            <a:xfrm flipV="1">
              <a:off x="4261" y="2930"/>
              <a:ext cx="143" cy="674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04"/>
          <p:cNvGrpSpPr>
            <a:grpSpLocks/>
          </p:cNvGrpSpPr>
          <p:nvPr/>
        </p:nvGrpSpPr>
        <p:grpSpPr bwMode="auto">
          <a:xfrm>
            <a:off x="450850" y="641350"/>
            <a:ext cx="2328863" cy="5992813"/>
            <a:chOff x="284" y="404"/>
            <a:chExt cx="1467" cy="3775"/>
          </a:xfrm>
        </p:grpSpPr>
        <p:sp>
          <p:nvSpPr>
            <p:cNvPr id="66587" name="Freeform 105"/>
            <p:cNvSpPr>
              <a:spLocks/>
            </p:cNvSpPr>
            <p:nvPr/>
          </p:nvSpPr>
          <p:spPr bwMode="auto">
            <a:xfrm>
              <a:off x="375" y="428"/>
              <a:ext cx="1376" cy="3751"/>
            </a:xfrm>
            <a:custGeom>
              <a:avLst/>
              <a:gdLst>
                <a:gd name="T0" fmla="*/ 0 w 1376"/>
                <a:gd name="T1" fmla="*/ 3751 h 3751"/>
                <a:gd name="T2" fmla="*/ 0 w 1376"/>
                <a:gd name="T3" fmla="*/ 912 h 3751"/>
                <a:gd name="T4" fmla="*/ 1376 w 1376"/>
                <a:gd name="T5" fmla="*/ 0 h 3751"/>
                <a:gd name="T6" fmla="*/ 1376 w 1376"/>
                <a:gd name="T7" fmla="*/ 2834 h 3751"/>
                <a:gd name="T8" fmla="*/ 0 w 1376"/>
                <a:gd name="T9" fmla="*/ 3751 h 375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76"/>
                <a:gd name="T16" fmla="*/ 0 h 3751"/>
                <a:gd name="T17" fmla="*/ 1376 w 1376"/>
                <a:gd name="T18" fmla="*/ 3751 h 375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76" h="3751">
                  <a:moveTo>
                    <a:pt x="0" y="3751"/>
                  </a:moveTo>
                  <a:lnTo>
                    <a:pt x="0" y="912"/>
                  </a:lnTo>
                  <a:lnTo>
                    <a:pt x="1376" y="0"/>
                  </a:lnTo>
                  <a:lnTo>
                    <a:pt x="1376" y="2834"/>
                  </a:lnTo>
                  <a:lnTo>
                    <a:pt x="0" y="3751"/>
                  </a:lnTo>
                  <a:close/>
                </a:path>
              </a:pathLst>
            </a:custGeom>
            <a:solidFill>
              <a:srgbClr val="67AED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6588" name="Freeform 106"/>
            <p:cNvSpPr>
              <a:spLocks/>
            </p:cNvSpPr>
            <p:nvPr/>
          </p:nvSpPr>
          <p:spPr bwMode="auto">
            <a:xfrm>
              <a:off x="284" y="1321"/>
              <a:ext cx="91" cy="2858"/>
            </a:xfrm>
            <a:custGeom>
              <a:avLst/>
              <a:gdLst>
                <a:gd name="T0" fmla="*/ 91 w 91"/>
                <a:gd name="T1" fmla="*/ 2858 h 2858"/>
                <a:gd name="T2" fmla="*/ 91 w 91"/>
                <a:gd name="T3" fmla="*/ 19 h 2858"/>
                <a:gd name="T4" fmla="*/ 0 w 91"/>
                <a:gd name="T5" fmla="*/ 0 h 2858"/>
                <a:gd name="T6" fmla="*/ 0 w 91"/>
                <a:gd name="T7" fmla="*/ 2839 h 2858"/>
                <a:gd name="T8" fmla="*/ 91 w 91"/>
                <a:gd name="T9" fmla="*/ 2858 h 285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1"/>
                <a:gd name="T16" fmla="*/ 0 h 2858"/>
                <a:gd name="T17" fmla="*/ 91 w 91"/>
                <a:gd name="T18" fmla="*/ 2858 h 285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1" h="2858">
                  <a:moveTo>
                    <a:pt x="91" y="2858"/>
                  </a:moveTo>
                  <a:lnTo>
                    <a:pt x="91" y="19"/>
                  </a:lnTo>
                  <a:lnTo>
                    <a:pt x="0" y="0"/>
                  </a:lnTo>
                  <a:lnTo>
                    <a:pt x="0" y="2839"/>
                  </a:lnTo>
                  <a:lnTo>
                    <a:pt x="91" y="2858"/>
                  </a:lnTo>
                  <a:close/>
                </a:path>
              </a:pathLst>
            </a:custGeom>
            <a:solidFill>
              <a:srgbClr val="A5CEE3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6589" name="Freeform 107"/>
            <p:cNvSpPr>
              <a:spLocks/>
            </p:cNvSpPr>
            <p:nvPr/>
          </p:nvSpPr>
          <p:spPr bwMode="auto">
            <a:xfrm>
              <a:off x="284" y="404"/>
              <a:ext cx="1467" cy="936"/>
            </a:xfrm>
            <a:custGeom>
              <a:avLst/>
              <a:gdLst>
                <a:gd name="T0" fmla="*/ 1467 w 1467"/>
                <a:gd name="T1" fmla="*/ 24 h 936"/>
                <a:gd name="T2" fmla="*/ 91 w 1467"/>
                <a:gd name="T3" fmla="*/ 936 h 936"/>
                <a:gd name="T4" fmla="*/ 0 w 1467"/>
                <a:gd name="T5" fmla="*/ 917 h 936"/>
                <a:gd name="T6" fmla="*/ 1363 w 1467"/>
                <a:gd name="T7" fmla="*/ 0 h 936"/>
                <a:gd name="T8" fmla="*/ 1467 w 1467"/>
                <a:gd name="T9" fmla="*/ 24 h 9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467"/>
                <a:gd name="T16" fmla="*/ 0 h 936"/>
                <a:gd name="T17" fmla="*/ 1467 w 1467"/>
                <a:gd name="T18" fmla="*/ 936 h 9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467" h="936">
                  <a:moveTo>
                    <a:pt x="1467" y="24"/>
                  </a:moveTo>
                  <a:lnTo>
                    <a:pt x="91" y="936"/>
                  </a:lnTo>
                  <a:lnTo>
                    <a:pt x="0" y="917"/>
                  </a:lnTo>
                  <a:lnTo>
                    <a:pt x="1363" y="0"/>
                  </a:lnTo>
                  <a:lnTo>
                    <a:pt x="1467" y="24"/>
                  </a:lnTo>
                  <a:close/>
                </a:path>
              </a:pathLst>
            </a:custGeom>
            <a:solidFill>
              <a:srgbClr val="C8E0EE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6590" name="Freeform 108"/>
            <p:cNvSpPr>
              <a:spLocks/>
            </p:cNvSpPr>
            <p:nvPr/>
          </p:nvSpPr>
          <p:spPr bwMode="auto">
            <a:xfrm>
              <a:off x="375" y="428"/>
              <a:ext cx="1376" cy="3751"/>
            </a:xfrm>
            <a:custGeom>
              <a:avLst/>
              <a:gdLst>
                <a:gd name="T0" fmla="*/ 0 w 1376"/>
                <a:gd name="T1" fmla="*/ 3751 h 3751"/>
                <a:gd name="T2" fmla="*/ 0 w 1376"/>
                <a:gd name="T3" fmla="*/ 912 h 3751"/>
                <a:gd name="T4" fmla="*/ 1376 w 1376"/>
                <a:gd name="T5" fmla="*/ 0 h 3751"/>
                <a:gd name="T6" fmla="*/ 1376 w 1376"/>
                <a:gd name="T7" fmla="*/ 2834 h 3751"/>
                <a:gd name="T8" fmla="*/ 0 w 1376"/>
                <a:gd name="T9" fmla="*/ 3751 h 375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76"/>
                <a:gd name="T16" fmla="*/ 0 h 3751"/>
                <a:gd name="T17" fmla="*/ 1376 w 1376"/>
                <a:gd name="T18" fmla="*/ 3751 h 375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76" h="3751">
                  <a:moveTo>
                    <a:pt x="0" y="3751"/>
                  </a:moveTo>
                  <a:lnTo>
                    <a:pt x="0" y="912"/>
                  </a:lnTo>
                  <a:lnTo>
                    <a:pt x="1376" y="0"/>
                  </a:lnTo>
                  <a:lnTo>
                    <a:pt x="1376" y="2834"/>
                  </a:lnTo>
                  <a:lnTo>
                    <a:pt x="0" y="3751"/>
                  </a:lnTo>
                  <a:close/>
                </a:path>
              </a:pathLst>
            </a:custGeom>
            <a:solidFill>
              <a:srgbClr val="67AED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" name="Group 109"/>
          <p:cNvGrpSpPr>
            <a:grpSpLocks/>
          </p:cNvGrpSpPr>
          <p:nvPr/>
        </p:nvGrpSpPr>
        <p:grpSpPr bwMode="auto">
          <a:xfrm>
            <a:off x="3187700" y="1833563"/>
            <a:ext cx="1914525" cy="1612900"/>
            <a:chOff x="2008" y="1155"/>
            <a:chExt cx="1206" cy="1016"/>
          </a:xfrm>
        </p:grpSpPr>
        <p:sp>
          <p:nvSpPr>
            <p:cNvPr id="66582" name="Freeform 110"/>
            <p:cNvSpPr>
              <a:spLocks/>
            </p:cNvSpPr>
            <p:nvPr/>
          </p:nvSpPr>
          <p:spPr bwMode="auto">
            <a:xfrm>
              <a:off x="2008" y="1976"/>
              <a:ext cx="812" cy="195"/>
            </a:xfrm>
            <a:custGeom>
              <a:avLst/>
              <a:gdLst>
                <a:gd name="T0" fmla="*/ 812 w 812"/>
                <a:gd name="T1" fmla="*/ 195 h 195"/>
                <a:gd name="T2" fmla="*/ 812 w 812"/>
                <a:gd name="T3" fmla="*/ 142 h 195"/>
                <a:gd name="T4" fmla="*/ 0 w 812"/>
                <a:gd name="T5" fmla="*/ 0 h 195"/>
                <a:gd name="T6" fmla="*/ 5 w 812"/>
                <a:gd name="T7" fmla="*/ 52 h 195"/>
                <a:gd name="T8" fmla="*/ 812 w 812"/>
                <a:gd name="T9" fmla="*/ 195 h 19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12"/>
                <a:gd name="T16" fmla="*/ 0 h 195"/>
                <a:gd name="T17" fmla="*/ 812 w 812"/>
                <a:gd name="T18" fmla="*/ 195 h 19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12" h="195">
                  <a:moveTo>
                    <a:pt x="812" y="195"/>
                  </a:moveTo>
                  <a:lnTo>
                    <a:pt x="812" y="142"/>
                  </a:lnTo>
                  <a:lnTo>
                    <a:pt x="0" y="0"/>
                  </a:lnTo>
                  <a:lnTo>
                    <a:pt x="5" y="52"/>
                  </a:lnTo>
                  <a:lnTo>
                    <a:pt x="812" y="195"/>
                  </a:lnTo>
                  <a:close/>
                </a:path>
              </a:pathLst>
            </a:custGeom>
            <a:solidFill>
              <a:srgbClr val="34B3D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6583" name="Freeform 111"/>
            <p:cNvSpPr>
              <a:spLocks/>
            </p:cNvSpPr>
            <p:nvPr/>
          </p:nvSpPr>
          <p:spPr bwMode="auto">
            <a:xfrm>
              <a:off x="2820" y="1862"/>
              <a:ext cx="394" cy="309"/>
            </a:xfrm>
            <a:custGeom>
              <a:avLst/>
              <a:gdLst>
                <a:gd name="T0" fmla="*/ 0 w 394"/>
                <a:gd name="T1" fmla="*/ 309 h 309"/>
                <a:gd name="T2" fmla="*/ 0 w 394"/>
                <a:gd name="T3" fmla="*/ 256 h 309"/>
                <a:gd name="T4" fmla="*/ 389 w 394"/>
                <a:gd name="T5" fmla="*/ 0 h 309"/>
                <a:gd name="T6" fmla="*/ 394 w 394"/>
                <a:gd name="T7" fmla="*/ 47 h 309"/>
                <a:gd name="T8" fmla="*/ 0 w 394"/>
                <a:gd name="T9" fmla="*/ 309 h 30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94"/>
                <a:gd name="T16" fmla="*/ 0 h 309"/>
                <a:gd name="T17" fmla="*/ 394 w 394"/>
                <a:gd name="T18" fmla="*/ 309 h 30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94" h="309">
                  <a:moveTo>
                    <a:pt x="0" y="309"/>
                  </a:moveTo>
                  <a:lnTo>
                    <a:pt x="0" y="256"/>
                  </a:lnTo>
                  <a:lnTo>
                    <a:pt x="389" y="0"/>
                  </a:lnTo>
                  <a:lnTo>
                    <a:pt x="394" y="47"/>
                  </a:lnTo>
                  <a:lnTo>
                    <a:pt x="0" y="309"/>
                  </a:lnTo>
                  <a:close/>
                </a:path>
              </a:pathLst>
            </a:custGeom>
            <a:solidFill>
              <a:srgbClr val="00A0C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6584" name="Freeform 112"/>
            <p:cNvSpPr>
              <a:spLocks/>
            </p:cNvSpPr>
            <p:nvPr/>
          </p:nvSpPr>
          <p:spPr bwMode="auto">
            <a:xfrm>
              <a:off x="2008" y="1705"/>
              <a:ext cx="1201" cy="413"/>
            </a:xfrm>
            <a:custGeom>
              <a:avLst/>
              <a:gdLst>
                <a:gd name="T0" fmla="*/ 1201 w 1201"/>
                <a:gd name="T1" fmla="*/ 157 h 413"/>
                <a:gd name="T2" fmla="*/ 812 w 1201"/>
                <a:gd name="T3" fmla="*/ 413 h 413"/>
                <a:gd name="T4" fmla="*/ 0 w 1201"/>
                <a:gd name="T5" fmla="*/ 271 h 413"/>
                <a:gd name="T6" fmla="*/ 365 w 1201"/>
                <a:gd name="T7" fmla="*/ 0 h 413"/>
                <a:gd name="T8" fmla="*/ 1201 w 1201"/>
                <a:gd name="T9" fmla="*/ 157 h 41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01"/>
                <a:gd name="T16" fmla="*/ 0 h 413"/>
                <a:gd name="T17" fmla="*/ 1201 w 1201"/>
                <a:gd name="T18" fmla="*/ 413 h 41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01" h="413">
                  <a:moveTo>
                    <a:pt x="1201" y="157"/>
                  </a:moveTo>
                  <a:lnTo>
                    <a:pt x="812" y="413"/>
                  </a:lnTo>
                  <a:lnTo>
                    <a:pt x="0" y="271"/>
                  </a:lnTo>
                  <a:lnTo>
                    <a:pt x="365" y="0"/>
                  </a:lnTo>
                  <a:lnTo>
                    <a:pt x="1201" y="157"/>
                  </a:lnTo>
                  <a:close/>
                </a:path>
              </a:pathLst>
            </a:custGeom>
            <a:solidFill>
              <a:srgbClr val="80CFE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6585" name="Freeform 113"/>
            <p:cNvSpPr>
              <a:spLocks/>
            </p:cNvSpPr>
            <p:nvPr/>
          </p:nvSpPr>
          <p:spPr bwMode="auto">
            <a:xfrm>
              <a:off x="2568" y="1164"/>
              <a:ext cx="66" cy="764"/>
            </a:xfrm>
            <a:custGeom>
              <a:avLst/>
              <a:gdLst>
                <a:gd name="T0" fmla="*/ 66 w 66"/>
                <a:gd name="T1" fmla="*/ 5 h 764"/>
                <a:gd name="T2" fmla="*/ 66 w 66"/>
                <a:gd name="T3" fmla="*/ 5 h 764"/>
                <a:gd name="T4" fmla="*/ 66 w 66"/>
                <a:gd name="T5" fmla="*/ 10 h 764"/>
                <a:gd name="T6" fmla="*/ 57 w 66"/>
                <a:gd name="T7" fmla="*/ 10 h 764"/>
                <a:gd name="T8" fmla="*/ 33 w 66"/>
                <a:gd name="T9" fmla="*/ 14 h 764"/>
                <a:gd name="T10" fmla="*/ 33 w 66"/>
                <a:gd name="T11" fmla="*/ 14 h 764"/>
                <a:gd name="T12" fmla="*/ 9 w 66"/>
                <a:gd name="T13" fmla="*/ 10 h 764"/>
                <a:gd name="T14" fmla="*/ 5 w 66"/>
                <a:gd name="T15" fmla="*/ 5 h 764"/>
                <a:gd name="T16" fmla="*/ 0 w 66"/>
                <a:gd name="T17" fmla="*/ 0 h 764"/>
                <a:gd name="T18" fmla="*/ 0 w 66"/>
                <a:gd name="T19" fmla="*/ 750 h 764"/>
                <a:gd name="T20" fmla="*/ 0 w 66"/>
                <a:gd name="T21" fmla="*/ 750 h 764"/>
                <a:gd name="T22" fmla="*/ 5 w 66"/>
                <a:gd name="T23" fmla="*/ 755 h 764"/>
                <a:gd name="T24" fmla="*/ 9 w 66"/>
                <a:gd name="T25" fmla="*/ 760 h 764"/>
                <a:gd name="T26" fmla="*/ 33 w 66"/>
                <a:gd name="T27" fmla="*/ 764 h 764"/>
                <a:gd name="T28" fmla="*/ 33 w 66"/>
                <a:gd name="T29" fmla="*/ 764 h 764"/>
                <a:gd name="T30" fmla="*/ 57 w 66"/>
                <a:gd name="T31" fmla="*/ 760 h 764"/>
                <a:gd name="T32" fmla="*/ 66 w 66"/>
                <a:gd name="T33" fmla="*/ 755 h 764"/>
                <a:gd name="T34" fmla="*/ 66 w 66"/>
                <a:gd name="T35" fmla="*/ 755 h 764"/>
                <a:gd name="T36" fmla="*/ 66 w 66"/>
                <a:gd name="T37" fmla="*/ 5 h 764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66"/>
                <a:gd name="T58" fmla="*/ 0 h 764"/>
                <a:gd name="T59" fmla="*/ 66 w 66"/>
                <a:gd name="T60" fmla="*/ 764 h 764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66" h="764">
                  <a:moveTo>
                    <a:pt x="66" y="5"/>
                  </a:moveTo>
                  <a:lnTo>
                    <a:pt x="66" y="5"/>
                  </a:lnTo>
                  <a:lnTo>
                    <a:pt x="66" y="10"/>
                  </a:lnTo>
                  <a:lnTo>
                    <a:pt x="57" y="10"/>
                  </a:lnTo>
                  <a:lnTo>
                    <a:pt x="33" y="14"/>
                  </a:lnTo>
                  <a:lnTo>
                    <a:pt x="9" y="10"/>
                  </a:lnTo>
                  <a:lnTo>
                    <a:pt x="5" y="5"/>
                  </a:lnTo>
                  <a:lnTo>
                    <a:pt x="0" y="0"/>
                  </a:lnTo>
                  <a:lnTo>
                    <a:pt x="0" y="750"/>
                  </a:lnTo>
                  <a:lnTo>
                    <a:pt x="5" y="755"/>
                  </a:lnTo>
                  <a:lnTo>
                    <a:pt x="9" y="760"/>
                  </a:lnTo>
                  <a:lnTo>
                    <a:pt x="33" y="764"/>
                  </a:lnTo>
                  <a:lnTo>
                    <a:pt x="57" y="760"/>
                  </a:lnTo>
                  <a:lnTo>
                    <a:pt x="66" y="755"/>
                  </a:lnTo>
                  <a:lnTo>
                    <a:pt x="66" y="5"/>
                  </a:lnTo>
                  <a:close/>
                </a:path>
              </a:pathLst>
            </a:custGeom>
            <a:solidFill>
              <a:srgbClr val="34B3D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6586" name="Freeform 114"/>
            <p:cNvSpPr>
              <a:spLocks/>
            </p:cNvSpPr>
            <p:nvPr/>
          </p:nvSpPr>
          <p:spPr bwMode="auto">
            <a:xfrm>
              <a:off x="2568" y="1155"/>
              <a:ext cx="66" cy="23"/>
            </a:xfrm>
            <a:custGeom>
              <a:avLst/>
              <a:gdLst>
                <a:gd name="T0" fmla="*/ 33 w 66"/>
                <a:gd name="T1" fmla="*/ 23 h 23"/>
                <a:gd name="T2" fmla="*/ 33 w 66"/>
                <a:gd name="T3" fmla="*/ 23 h 23"/>
                <a:gd name="T4" fmla="*/ 9 w 66"/>
                <a:gd name="T5" fmla="*/ 19 h 23"/>
                <a:gd name="T6" fmla="*/ 5 w 66"/>
                <a:gd name="T7" fmla="*/ 14 h 23"/>
                <a:gd name="T8" fmla="*/ 0 w 66"/>
                <a:gd name="T9" fmla="*/ 9 h 23"/>
                <a:gd name="T10" fmla="*/ 0 w 66"/>
                <a:gd name="T11" fmla="*/ 9 h 23"/>
                <a:gd name="T12" fmla="*/ 5 w 66"/>
                <a:gd name="T13" fmla="*/ 4 h 23"/>
                <a:gd name="T14" fmla="*/ 9 w 66"/>
                <a:gd name="T15" fmla="*/ 4 h 23"/>
                <a:gd name="T16" fmla="*/ 33 w 66"/>
                <a:gd name="T17" fmla="*/ 0 h 23"/>
                <a:gd name="T18" fmla="*/ 33 w 66"/>
                <a:gd name="T19" fmla="*/ 0 h 23"/>
                <a:gd name="T20" fmla="*/ 57 w 66"/>
                <a:gd name="T21" fmla="*/ 4 h 23"/>
                <a:gd name="T22" fmla="*/ 66 w 66"/>
                <a:gd name="T23" fmla="*/ 9 h 23"/>
                <a:gd name="T24" fmla="*/ 66 w 66"/>
                <a:gd name="T25" fmla="*/ 9 h 23"/>
                <a:gd name="T26" fmla="*/ 66 w 66"/>
                <a:gd name="T27" fmla="*/ 9 h 23"/>
                <a:gd name="T28" fmla="*/ 66 w 66"/>
                <a:gd name="T29" fmla="*/ 14 h 23"/>
                <a:gd name="T30" fmla="*/ 57 w 66"/>
                <a:gd name="T31" fmla="*/ 19 h 23"/>
                <a:gd name="T32" fmla="*/ 33 w 66"/>
                <a:gd name="T33" fmla="*/ 23 h 23"/>
                <a:gd name="T34" fmla="*/ 33 w 66"/>
                <a:gd name="T35" fmla="*/ 23 h 23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66"/>
                <a:gd name="T55" fmla="*/ 0 h 23"/>
                <a:gd name="T56" fmla="*/ 66 w 66"/>
                <a:gd name="T57" fmla="*/ 23 h 23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66" h="23">
                  <a:moveTo>
                    <a:pt x="33" y="23"/>
                  </a:moveTo>
                  <a:lnTo>
                    <a:pt x="33" y="23"/>
                  </a:lnTo>
                  <a:lnTo>
                    <a:pt x="9" y="19"/>
                  </a:lnTo>
                  <a:lnTo>
                    <a:pt x="5" y="14"/>
                  </a:lnTo>
                  <a:lnTo>
                    <a:pt x="0" y="9"/>
                  </a:lnTo>
                  <a:lnTo>
                    <a:pt x="5" y="4"/>
                  </a:lnTo>
                  <a:lnTo>
                    <a:pt x="9" y="4"/>
                  </a:lnTo>
                  <a:lnTo>
                    <a:pt x="33" y="0"/>
                  </a:lnTo>
                  <a:lnTo>
                    <a:pt x="57" y="4"/>
                  </a:lnTo>
                  <a:lnTo>
                    <a:pt x="66" y="9"/>
                  </a:lnTo>
                  <a:lnTo>
                    <a:pt x="66" y="14"/>
                  </a:lnTo>
                  <a:lnTo>
                    <a:pt x="57" y="19"/>
                  </a:lnTo>
                  <a:lnTo>
                    <a:pt x="33" y="23"/>
                  </a:lnTo>
                  <a:close/>
                </a:path>
              </a:pathLst>
            </a:custGeom>
            <a:solidFill>
              <a:srgbClr val="80CFE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6564" name="Rectangle 115"/>
          <p:cNvSpPr>
            <a:spLocks noChangeArrowheads="1"/>
          </p:cNvSpPr>
          <p:nvPr/>
        </p:nvSpPr>
        <p:spPr bwMode="auto">
          <a:xfrm>
            <a:off x="4305300" y="2490788"/>
            <a:ext cx="127000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b="1">
                <a:solidFill>
                  <a:srgbClr val="000000"/>
                </a:solidFill>
              </a:rPr>
              <a:t>–</a:t>
            </a:r>
            <a:endParaRPr lang="en-US" b="1"/>
          </a:p>
        </p:txBody>
      </p:sp>
      <p:sp>
        <p:nvSpPr>
          <p:cNvPr id="66565" name="Rectangle 116"/>
          <p:cNvSpPr>
            <a:spLocks noChangeArrowheads="1"/>
          </p:cNvSpPr>
          <p:nvPr/>
        </p:nvSpPr>
        <p:spPr bwMode="auto">
          <a:xfrm>
            <a:off x="4298950" y="5521325"/>
            <a:ext cx="13335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b="1">
                <a:solidFill>
                  <a:srgbClr val="000000"/>
                </a:solidFill>
              </a:rPr>
              <a:t>+</a:t>
            </a:r>
            <a:endParaRPr lang="en-US" b="1"/>
          </a:p>
        </p:txBody>
      </p:sp>
      <p:grpSp>
        <p:nvGrpSpPr>
          <p:cNvPr id="4" name="Group 117"/>
          <p:cNvGrpSpPr>
            <a:grpSpLocks/>
          </p:cNvGrpSpPr>
          <p:nvPr/>
        </p:nvGrpSpPr>
        <p:grpSpPr bwMode="auto">
          <a:xfrm>
            <a:off x="3187700" y="4787900"/>
            <a:ext cx="1914525" cy="1544638"/>
            <a:chOff x="2008" y="3016"/>
            <a:chExt cx="1206" cy="973"/>
          </a:xfrm>
        </p:grpSpPr>
        <p:sp>
          <p:nvSpPr>
            <p:cNvPr id="66577" name="Freeform 118"/>
            <p:cNvSpPr>
              <a:spLocks/>
            </p:cNvSpPr>
            <p:nvPr/>
          </p:nvSpPr>
          <p:spPr bwMode="auto">
            <a:xfrm>
              <a:off x="2568" y="3225"/>
              <a:ext cx="66" cy="764"/>
            </a:xfrm>
            <a:custGeom>
              <a:avLst/>
              <a:gdLst>
                <a:gd name="T0" fmla="*/ 66 w 66"/>
                <a:gd name="T1" fmla="*/ 0 h 764"/>
                <a:gd name="T2" fmla="*/ 66 w 66"/>
                <a:gd name="T3" fmla="*/ 0 h 764"/>
                <a:gd name="T4" fmla="*/ 66 w 66"/>
                <a:gd name="T5" fmla="*/ 4 h 764"/>
                <a:gd name="T6" fmla="*/ 57 w 66"/>
                <a:gd name="T7" fmla="*/ 9 h 764"/>
                <a:gd name="T8" fmla="*/ 33 w 66"/>
                <a:gd name="T9" fmla="*/ 14 h 764"/>
                <a:gd name="T10" fmla="*/ 33 w 66"/>
                <a:gd name="T11" fmla="*/ 14 h 764"/>
                <a:gd name="T12" fmla="*/ 9 w 66"/>
                <a:gd name="T13" fmla="*/ 9 h 764"/>
                <a:gd name="T14" fmla="*/ 5 w 66"/>
                <a:gd name="T15" fmla="*/ 4 h 764"/>
                <a:gd name="T16" fmla="*/ 0 w 66"/>
                <a:gd name="T17" fmla="*/ 0 h 764"/>
                <a:gd name="T18" fmla="*/ 0 w 66"/>
                <a:gd name="T19" fmla="*/ 750 h 764"/>
                <a:gd name="T20" fmla="*/ 0 w 66"/>
                <a:gd name="T21" fmla="*/ 750 h 764"/>
                <a:gd name="T22" fmla="*/ 5 w 66"/>
                <a:gd name="T23" fmla="*/ 754 h 764"/>
                <a:gd name="T24" fmla="*/ 9 w 66"/>
                <a:gd name="T25" fmla="*/ 759 h 764"/>
                <a:gd name="T26" fmla="*/ 33 w 66"/>
                <a:gd name="T27" fmla="*/ 764 h 764"/>
                <a:gd name="T28" fmla="*/ 33 w 66"/>
                <a:gd name="T29" fmla="*/ 764 h 764"/>
                <a:gd name="T30" fmla="*/ 57 w 66"/>
                <a:gd name="T31" fmla="*/ 759 h 764"/>
                <a:gd name="T32" fmla="*/ 66 w 66"/>
                <a:gd name="T33" fmla="*/ 754 h 764"/>
                <a:gd name="T34" fmla="*/ 66 w 66"/>
                <a:gd name="T35" fmla="*/ 750 h 764"/>
                <a:gd name="T36" fmla="*/ 66 w 66"/>
                <a:gd name="T37" fmla="*/ 0 h 764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66"/>
                <a:gd name="T58" fmla="*/ 0 h 764"/>
                <a:gd name="T59" fmla="*/ 66 w 66"/>
                <a:gd name="T60" fmla="*/ 764 h 764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66" h="764">
                  <a:moveTo>
                    <a:pt x="66" y="0"/>
                  </a:moveTo>
                  <a:lnTo>
                    <a:pt x="66" y="0"/>
                  </a:lnTo>
                  <a:lnTo>
                    <a:pt x="66" y="4"/>
                  </a:lnTo>
                  <a:lnTo>
                    <a:pt x="57" y="9"/>
                  </a:lnTo>
                  <a:lnTo>
                    <a:pt x="33" y="14"/>
                  </a:lnTo>
                  <a:lnTo>
                    <a:pt x="9" y="9"/>
                  </a:lnTo>
                  <a:lnTo>
                    <a:pt x="5" y="4"/>
                  </a:lnTo>
                  <a:lnTo>
                    <a:pt x="0" y="0"/>
                  </a:lnTo>
                  <a:lnTo>
                    <a:pt x="0" y="750"/>
                  </a:lnTo>
                  <a:lnTo>
                    <a:pt x="5" y="754"/>
                  </a:lnTo>
                  <a:lnTo>
                    <a:pt x="9" y="759"/>
                  </a:lnTo>
                  <a:lnTo>
                    <a:pt x="33" y="764"/>
                  </a:lnTo>
                  <a:lnTo>
                    <a:pt x="57" y="759"/>
                  </a:lnTo>
                  <a:lnTo>
                    <a:pt x="66" y="754"/>
                  </a:lnTo>
                  <a:lnTo>
                    <a:pt x="66" y="750"/>
                  </a:lnTo>
                  <a:lnTo>
                    <a:pt x="66" y="0"/>
                  </a:lnTo>
                  <a:close/>
                </a:path>
              </a:pathLst>
            </a:custGeom>
            <a:solidFill>
              <a:srgbClr val="B62635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6578" name="Freeform 119"/>
            <p:cNvSpPr>
              <a:spLocks/>
            </p:cNvSpPr>
            <p:nvPr/>
          </p:nvSpPr>
          <p:spPr bwMode="auto">
            <a:xfrm>
              <a:off x="2568" y="3215"/>
              <a:ext cx="66" cy="19"/>
            </a:xfrm>
            <a:custGeom>
              <a:avLst/>
              <a:gdLst>
                <a:gd name="T0" fmla="*/ 33 w 66"/>
                <a:gd name="T1" fmla="*/ 19 h 19"/>
                <a:gd name="T2" fmla="*/ 33 w 66"/>
                <a:gd name="T3" fmla="*/ 19 h 19"/>
                <a:gd name="T4" fmla="*/ 9 w 66"/>
                <a:gd name="T5" fmla="*/ 19 h 19"/>
                <a:gd name="T6" fmla="*/ 5 w 66"/>
                <a:gd name="T7" fmla="*/ 14 h 19"/>
                <a:gd name="T8" fmla="*/ 0 w 66"/>
                <a:gd name="T9" fmla="*/ 10 h 19"/>
                <a:gd name="T10" fmla="*/ 0 w 66"/>
                <a:gd name="T11" fmla="*/ 10 h 19"/>
                <a:gd name="T12" fmla="*/ 5 w 66"/>
                <a:gd name="T13" fmla="*/ 5 h 19"/>
                <a:gd name="T14" fmla="*/ 9 w 66"/>
                <a:gd name="T15" fmla="*/ 0 h 19"/>
                <a:gd name="T16" fmla="*/ 33 w 66"/>
                <a:gd name="T17" fmla="*/ 0 h 19"/>
                <a:gd name="T18" fmla="*/ 33 w 66"/>
                <a:gd name="T19" fmla="*/ 0 h 19"/>
                <a:gd name="T20" fmla="*/ 57 w 66"/>
                <a:gd name="T21" fmla="*/ 5 h 19"/>
                <a:gd name="T22" fmla="*/ 66 w 66"/>
                <a:gd name="T23" fmla="*/ 5 h 19"/>
                <a:gd name="T24" fmla="*/ 66 w 66"/>
                <a:gd name="T25" fmla="*/ 10 h 19"/>
                <a:gd name="T26" fmla="*/ 66 w 66"/>
                <a:gd name="T27" fmla="*/ 10 h 19"/>
                <a:gd name="T28" fmla="*/ 66 w 66"/>
                <a:gd name="T29" fmla="*/ 14 h 19"/>
                <a:gd name="T30" fmla="*/ 57 w 66"/>
                <a:gd name="T31" fmla="*/ 19 h 19"/>
                <a:gd name="T32" fmla="*/ 33 w 66"/>
                <a:gd name="T33" fmla="*/ 19 h 19"/>
                <a:gd name="T34" fmla="*/ 33 w 66"/>
                <a:gd name="T35" fmla="*/ 19 h 19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66"/>
                <a:gd name="T55" fmla="*/ 0 h 19"/>
                <a:gd name="T56" fmla="*/ 66 w 66"/>
                <a:gd name="T57" fmla="*/ 19 h 19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66" h="19">
                  <a:moveTo>
                    <a:pt x="33" y="19"/>
                  </a:moveTo>
                  <a:lnTo>
                    <a:pt x="33" y="19"/>
                  </a:lnTo>
                  <a:lnTo>
                    <a:pt x="9" y="19"/>
                  </a:lnTo>
                  <a:lnTo>
                    <a:pt x="5" y="14"/>
                  </a:lnTo>
                  <a:lnTo>
                    <a:pt x="0" y="10"/>
                  </a:lnTo>
                  <a:lnTo>
                    <a:pt x="5" y="5"/>
                  </a:lnTo>
                  <a:lnTo>
                    <a:pt x="9" y="0"/>
                  </a:lnTo>
                  <a:lnTo>
                    <a:pt x="33" y="0"/>
                  </a:lnTo>
                  <a:lnTo>
                    <a:pt x="57" y="5"/>
                  </a:lnTo>
                  <a:lnTo>
                    <a:pt x="66" y="5"/>
                  </a:lnTo>
                  <a:lnTo>
                    <a:pt x="66" y="10"/>
                  </a:lnTo>
                  <a:lnTo>
                    <a:pt x="66" y="14"/>
                  </a:lnTo>
                  <a:lnTo>
                    <a:pt x="57" y="19"/>
                  </a:lnTo>
                  <a:lnTo>
                    <a:pt x="33" y="19"/>
                  </a:lnTo>
                  <a:close/>
                </a:path>
              </a:pathLst>
            </a:custGeom>
            <a:solidFill>
              <a:srgbClr val="E27488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6579" name="Freeform 120"/>
            <p:cNvSpPr>
              <a:spLocks/>
            </p:cNvSpPr>
            <p:nvPr/>
          </p:nvSpPr>
          <p:spPr bwMode="auto">
            <a:xfrm>
              <a:off x="2008" y="3286"/>
              <a:ext cx="812" cy="195"/>
            </a:xfrm>
            <a:custGeom>
              <a:avLst/>
              <a:gdLst>
                <a:gd name="T0" fmla="*/ 812 w 812"/>
                <a:gd name="T1" fmla="*/ 195 h 195"/>
                <a:gd name="T2" fmla="*/ 812 w 812"/>
                <a:gd name="T3" fmla="*/ 143 h 195"/>
                <a:gd name="T4" fmla="*/ 0 w 812"/>
                <a:gd name="T5" fmla="*/ 0 h 195"/>
                <a:gd name="T6" fmla="*/ 5 w 812"/>
                <a:gd name="T7" fmla="*/ 52 h 195"/>
                <a:gd name="T8" fmla="*/ 812 w 812"/>
                <a:gd name="T9" fmla="*/ 195 h 19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12"/>
                <a:gd name="T16" fmla="*/ 0 h 195"/>
                <a:gd name="T17" fmla="*/ 812 w 812"/>
                <a:gd name="T18" fmla="*/ 195 h 19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12" h="195">
                  <a:moveTo>
                    <a:pt x="812" y="195"/>
                  </a:moveTo>
                  <a:lnTo>
                    <a:pt x="812" y="143"/>
                  </a:lnTo>
                  <a:lnTo>
                    <a:pt x="0" y="0"/>
                  </a:lnTo>
                  <a:lnTo>
                    <a:pt x="5" y="52"/>
                  </a:lnTo>
                  <a:lnTo>
                    <a:pt x="812" y="195"/>
                  </a:lnTo>
                  <a:close/>
                </a:path>
              </a:pathLst>
            </a:custGeom>
            <a:solidFill>
              <a:srgbClr val="C75257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6580" name="Freeform 121"/>
            <p:cNvSpPr>
              <a:spLocks/>
            </p:cNvSpPr>
            <p:nvPr/>
          </p:nvSpPr>
          <p:spPr bwMode="auto">
            <a:xfrm>
              <a:off x="2820" y="3172"/>
              <a:ext cx="394" cy="309"/>
            </a:xfrm>
            <a:custGeom>
              <a:avLst/>
              <a:gdLst>
                <a:gd name="T0" fmla="*/ 0 w 394"/>
                <a:gd name="T1" fmla="*/ 309 h 309"/>
                <a:gd name="T2" fmla="*/ 0 w 394"/>
                <a:gd name="T3" fmla="*/ 257 h 309"/>
                <a:gd name="T4" fmla="*/ 389 w 394"/>
                <a:gd name="T5" fmla="*/ 0 h 309"/>
                <a:gd name="T6" fmla="*/ 394 w 394"/>
                <a:gd name="T7" fmla="*/ 48 h 309"/>
                <a:gd name="T8" fmla="*/ 0 w 394"/>
                <a:gd name="T9" fmla="*/ 309 h 30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94"/>
                <a:gd name="T16" fmla="*/ 0 h 309"/>
                <a:gd name="T17" fmla="*/ 394 w 394"/>
                <a:gd name="T18" fmla="*/ 309 h 30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94" h="309">
                  <a:moveTo>
                    <a:pt x="0" y="309"/>
                  </a:moveTo>
                  <a:lnTo>
                    <a:pt x="0" y="257"/>
                  </a:lnTo>
                  <a:lnTo>
                    <a:pt x="389" y="0"/>
                  </a:lnTo>
                  <a:lnTo>
                    <a:pt x="394" y="48"/>
                  </a:lnTo>
                  <a:lnTo>
                    <a:pt x="0" y="309"/>
                  </a:lnTo>
                  <a:close/>
                </a:path>
              </a:pathLst>
            </a:custGeom>
            <a:solidFill>
              <a:srgbClr val="A4001D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6581" name="Freeform 122"/>
            <p:cNvSpPr>
              <a:spLocks/>
            </p:cNvSpPr>
            <p:nvPr/>
          </p:nvSpPr>
          <p:spPr bwMode="auto">
            <a:xfrm>
              <a:off x="2008" y="3016"/>
              <a:ext cx="1201" cy="413"/>
            </a:xfrm>
            <a:custGeom>
              <a:avLst/>
              <a:gdLst>
                <a:gd name="T0" fmla="*/ 1201 w 1201"/>
                <a:gd name="T1" fmla="*/ 156 h 413"/>
                <a:gd name="T2" fmla="*/ 812 w 1201"/>
                <a:gd name="T3" fmla="*/ 413 h 413"/>
                <a:gd name="T4" fmla="*/ 0 w 1201"/>
                <a:gd name="T5" fmla="*/ 270 h 413"/>
                <a:gd name="T6" fmla="*/ 365 w 1201"/>
                <a:gd name="T7" fmla="*/ 0 h 413"/>
                <a:gd name="T8" fmla="*/ 1201 w 1201"/>
                <a:gd name="T9" fmla="*/ 156 h 41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01"/>
                <a:gd name="T16" fmla="*/ 0 h 413"/>
                <a:gd name="T17" fmla="*/ 1201 w 1201"/>
                <a:gd name="T18" fmla="*/ 413 h 41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01" h="413">
                  <a:moveTo>
                    <a:pt x="1201" y="156"/>
                  </a:moveTo>
                  <a:lnTo>
                    <a:pt x="812" y="413"/>
                  </a:lnTo>
                  <a:lnTo>
                    <a:pt x="0" y="270"/>
                  </a:lnTo>
                  <a:lnTo>
                    <a:pt x="365" y="0"/>
                  </a:lnTo>
                  <a:lnTo>
                    <a:pt x="1201" y="156"/>
                  </a:lnTo>
                  <a:close/>
                </a:path>
              </a:pathLst>
            </a:custGeom>
            <a:solidFill>
              <a:srgbClr val="D8858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" name="Group 136"/>
          <p:cNvGrpSpPr>
            <a:grpSpLocks/>
          </p:cNvGrpSpPr>
          <p:nvPr/>
        </p:nvGrpSpPr>
        <p:grpSpPr bwMode="auto">
          <a:xfrm>
            <a:off x="6232525" y="3740150"/>
            <a:ext cx="1906588" cy="1679575"/>
            <a:chOff x="3926" y="2356"/>
            <a:chExt cx="1201" cy="1058"/>
          </a:xfrm>
        </p:grpSpPr>
        <p:sp>
          <p:nvSpPr>
            <p:cNvPr id="66571" name="Freeform 137"/>
            <p:cNvSpPr>
              <a:spLocks/>
            </p:cNvSpPr>
            <p:nvPr/>
          </p:nvSpPr>
          <p:spPr bwMode="auto">
            <a:xfrm>
              <a:off x="3940" y="2512"/>
              <a:ext cx="783" cy="637"/>
            </a:xfrm>
            <a:custGeom>
              <a:avLst/>
              <a:gdLst>
                <a:gd name="T0" fmla="*/ 783 w 783"/>
                <a:gd name="T1" fmla="*/ 0 h 637"/>
                <a:gd name="T2" fmla="*/ 171 w 783"/>
                <a:gd name="T3" fmla="*/ 0 h 637"/>
                <a:gd name="T4" fmla="*/ 0 w 783"/>
                <a:gd name="T5" fmla="*/ 133 h 637"/>
                <a:gd name="T6" fmla="*/ 5 w 783"/>
                <a:gd name="T7" fmla="*/ 637 h 637"/>
                <a:gd name="T8" fmla="*/ 783 w 783"/>
                <a:gd name="T9" fmla="*/ 637 h 637"/>
                <a:gd name="T10" fmla="*/ 783 w 783"/>
                <a:gd name="T11" fmla="*/ 0 h 63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783"/>
                <a:gd name="T19" fmla="*/ 0 h 637"/>
                <a:gd name="T20" fmla="*/ 783 w 783"/>
                <a:gd name="T21" fmla="*/ 637 h 637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783" h="637">
                  <a:moveTo>
                    <a:pt x="783" y="0"/>
                  </a:moveTo>
                  <a:lnTo>
                    <a:pt x="171" y="0"/>
                  </a:lnTo>
                  <a:lnTo>
                    <a:pt x="0" y="133"/>
                  </a:lnTo>
                  <a:lnTo>
                    <a:pt x="5" y="637"/>
                  </a:lnTo>
                  <a:lnTo>
                    <a:pt x="783" y="637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6572" name="Freeform 138"/>
            <p:cNvSpPr>
              <a:spLocks/>
            </p:cNvSpPr>
            <p:nvPr/>
          </p:nvSpPr>
          <p:spPr bwMode="auto">
            <a:xfrm>
              <a:off x="4733" y="2498"/>
              <a:ext cx="394" cy="916"/>
            </a:xfrm>
            <a:custGeom>
              <a:avLst/>
              <a:gdLst>
                <a:gd name="T0" fmla="*/ 0 w 394"/>
                <a:gd name="T1" fmla="*/ 916 h 916"/>
                <a:gd name="T2" fmla="*/ 0 w 394"/>
                <a:gd name="T3" fmla="*/ 261 h 916"/>
                <a:gd name="T4" fmla="*/ 394 w 394"/>
                <a:gd name="T5" fmla="*/ 0 h 916"/>
                <a:gd name="T6" fmla="*/ 394 w 394"/>
                <a:gd name="T7" fmla="*/ 655 h 916"/>
                <a:gd name="T8" fmla="*/ 0 w 394"/>
                <a:gd name="T9" fmla="*/ 916 h 9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94"/>
                <a:gd name="T16" fmla="*/ 0 h 916"/>
                <a:gd name="T17" fmla="*/ 394 w 394"/>
                <a:gd name="T18" fmla="*/ 916 h 91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94" h="916">
                  <a:moveTo>
                    <a:pt x="0" y="916"/>
                  </a:moveTo>
                  <a:lnTo>
                    <a:pt x="0" y="261"/>
                  </a:lnTo>
                  <a:lnTo>
                    <a:pt x="394" y="0"/>
                  </a:lnTo>
                  <a:lnTo>
                    <a:pt x="394" y="655"/>
                  </a:lnTo>
                  <a:lnTo>
                    <a:pt x="0" y="916"/>
                  </a:lnTo>
                  <a:close/>
                </a:path>
              </a:pathLst>
            </a:custGeom>
            <a:solidFill>
              <a:srgbClr val="66666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6573" name="Freeform 139"/>
            <p:cNvSpPr>
              <a:spLocks/>
            </p:cNvSpPr>
            <p:nvPr/>
          </p:nvSpPr>
          <p:spPr bwMode="auto">
            <a:xfrm>
              <a:off x="3926" y="2356"/>
              <a:ext cx="1201" cy="403"/>
            </a:xfrm>
            <a:custGeom>
              <a:avLst/>
              <a:gdLst>
                <a:gd name="T0" fmla="*/ 807 w 1201"/>
                <a:gd name="T1" fmla="*/ 403 h 403"/>
                <a:gd name="T2" fmla="*/ 655 w 1201"/>
                <a:gd name="T3" fmla="*/ 375 h 403"/>
                <a:gd name="T4" fmla="*/ 669 w 1201"/>
                <a:gd name="T5" fmla="*/ 275 h 403"/>
                <a:gd name="T6" fmla="*/ 370 w 1201"/>
                <a:gd name="T7" fmla="*/ 270 h 403"/>
                <a:gd name="T8" fmla="*/ 275 w 1201"/>
                <a:gd name="T9" fmla="*/ 185 h 403"/>
                <a:gd name="T10" fmla="*/ 76 w 1201"/>
                <a:gd name="T11" fmla="*/ 280 h 403"/>
                <a:gd name="T12" fmla="*/ 0 w 1201"/>
                <a:gd name="T13" fmla="*/ 261 h 403"/>
                <a:gd name="T14" fmla="*/ 398 w 1201"/>
                <a:gd name="T15" fmla="*/ 0 h 403"/>
                <a:gd name="T16" fmla="*/ 1201 w 1201"/>
                <a:gd name="T17" fmla="*/ 142 h 403"/>
                <a:gd name="T18" fmla="*/ 807 w 1201"/>
                <a:gd name="T19" fmla="*/ 403 h 403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201"/>
                <a:gd name="T31" fmla="*/ 0 h 403"/>
                <a:gd name="T32" fmla="*/ 1201 w 1201"/>
                <a:gd name="T33" fmla="*/ 403 h 403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201" h="403">
                  <a:moveTo>
                    <a:pt x="807" y="403"/>
                  </a:moveTo>
                  <a:lnTo>
                    <a:pt x="655" y="375"/>
                  </a:lnTo>
                  <a:lnTo>
                    <a:pt x="669" y="275"/>
                  </a:lnTo>
                  <a:lnTo>
                    <a:pt x="370" y="270"/>
                  </a:lnTo>
                  <a:lnTo>
                    <a:pt x="275" y="185"/>
                  </a:lnTo>
                  <a:lnTo>
                    <a:pt x="76" y="280"/>
                  </a:lnTo>
                  <a:lnTo>
                    <a:pt x="0" y="261"/>
                  </a:lnTo>
                  <a:lnTo>
                    <a:pt x="398" y="0"/>
                  </a:lnTo>
                  <a:lnTo>
                    <a:pt x="1201" y="142"/>
                  </a:lnTo>
                  <a:lnTo>
                    <a:pt x="807" y="403"/>
                  </a:lnTo>
                  <a:close/>
                </a:path>
              </a:pathLst>
            </a:custGeom>
            <a:solidFill>
              <a:srgbClr val="8C8C87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6574" name="Freeform 140"/>
            <p:cNvSpPr>
              <a:spLocks/>
            </p:cNvSpPr>
            <p:nvPr/>
          </p:nvSpPr>
          <p:spPr bwMode="auto">
            <a:xfrm>
              <a:off x="3926" y="2617"/>
              <a:ext cx="807" cy="797"/>
            </a:xfrm>
            <a:custGeom>
              <a:avLst/>
              <a:gdLst>
                <a:gd name="T0" fmla="*/ 807 w 807"/>
                <a:gd name="T1" fmla="*/ 142 h 797"/>
                <a:gd name="T2" fmla="*/ 655 w 807"/>
                <a:gd name="T3" fmla="*/ 114 h 797"/>
                <a:gd name="T4" fmla="*/ 755 w 807"/>
                <a:gd name="T5" fmla="*/ 342 h 797"/>
                <a:gd name="T6" fmla="*/ 569 w 807"/>
                <a:gd name="T7" fmla="*/ 517 h 797"/>
                <a:gd name="T8" fmla="*/ 403 w 807"/>
                <a:gd name="T9" fmla="*/ 446 h 797"/>
                <a:gd name="T10" fmla="*/ 123 w 807"/>
                <a:gd name="T11" fmla="*/ 456 h 797"/>
                <a:gd name="T12" fmla="*/ 114 w 807"/>
                <a:gd name="T13" fmla="*/ 194 h 797"/>
                <a:gd name="T14" fmla="*/ 76 w 807"/>
                <a:gd name="T15" fmla="*/ 19 h 797"/>
                <a:gd name="T16" fmla="*/ 0 w 807"/>
                <a:gd name="T17" fmla="*/ 0 h 797"/>
                <a:gd name="T18" fmla="*/ 0 w 807"/>
                <a:gd name="T19" fmla="*/ 655 h 797"/>
                <a:gd name="T20" fmla="*/ 807 w 807"/>
                <a:gd name="T21" fmla="*/ 797 h 797"/>
                <a:gd name="T22" fmla="*/ 807 w 807"/>
                <a:gd name="T23" fmla="*/ 142 h 797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807"/>
                <a:gd name="T37" fmla="*/ 0 h 797"/>
                <a:gd name="T38" fmla="*/ 807 w 807"/>
                <a:gd name="T39" fmla="*/ 797 h 797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807" h="797">
                  <a:moveTo>
                    <a:pt x="807" y="142"/>
                  </a:moveTo>
                  <a:lnTo>
                    <a:pt x="655" y="114"/>
                  </a:lnTo>
                  <a:lnTo>
                    <a:pt x="755" y="342"/>
                  </a:lnTo>
                  <a:lnTo>
                    <a:pt x="569" y="517"/>
                  </a:lnTo>
                  <a:lnTo>
                    <a:pt x="403" y="446"/>
                  </a:lnTo>
                  <a:lnTo>
                    <a:pt x="123" y="456"/>
                  </a:lnTo>
                  <a:lnTo>
                    <a:pt x="114" y="194"/>
                  </a:lnTo>
                  <a:lnTo>
                    <a:pt x="76" y="19"/>
                  </a:lnTo>
                  <a:lnTo>
                    <a:pt x="0" y="0"/>
                  </a:lnTo>
                  <a:lnTo>
                    <a:pt x="0" y="655"/>
                  </a:lnTo>
                  <a:lnTo>
                    <a:pt x="807" y="797"/>
                  </a:lnTo>
                  <a:lnTo>
                    <a:pt x="807" y="142"/>
                  </a:lnTo>
                  <a:close/>
                </a:path>
              </a:pathLst>
            </a:custGeom>
            <a:solidFill>
              <a:srgbClr val="53534E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6575" name="Freeform 141"/>
            <p:cNvSpPr>
              <a:spLocks/>
            </p:cNvSpPr>
            <p:nvPr/>
          </p:nvSpPr>
          <p:spPr bwMode="auto">
            <a:xfrm>
              <a:off x="4002" y="2541"/>
              <a:ext cx="593" cy="119"/>
            </a:xfrm>
            <a:custGeom>
              <a:avLst/>
              <a:gdLst>
                <a:gd name="T0" fmla="*/ 593 w 593"/>
                <a:gd name="T1" fmla="*/ 90 h 119"/>
                <a:gd name="T2" fmla="*/ 294 w 593"/>
                <a:gd name="T3" fmla="*/ 85 h 119"/>
                <a:gd name="T4" fmla="*/ 199 w 593"/>
                <a:gd name="T5" fmla="*/ 0 h 119"/>
                <a:gd name="T6" fmla="*/ 0 w 593"/>
                <a:gd name="T7" fmla="*/ 95 h 119"/>
                <a:gd name="T8" fmla="*/ 28 w 593"/>
                <a:gd name="T9" fmla="*/ 114 h 119"/>
                <a:gd name="T10" fmla="*/ 199 w 593"/>
                <a:gd name="T11" fmla="*/ 28 h 119"/>
                <a:gd name="T12" fmla="*/ 294 w 593"/>
                <a:gd name="T13" fmla="*/ 114 h 119"/>
                <a:gd name="T14" fmla="*/ 588 w 593"/>
                <a:gd name="T15" fmla="*/ 119 h 119"/>
                <a:gd name="T16" fmla="*/ 593 w 593"/>
                <a:gd name="T17" fmla="*/ 90 h 11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593"/>
                <a:gd name="T28" fmla="*/ 0 h 119"/>
                <a:gd name="T29" fmla="*/ 593 w 593"/>
                <a:gd name="T30" fmla="*/ 119 h 119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593" h="119">
                  <a:moveTo>
                    <a:pt x="593" y="90"/>
                  </a:moveTo>
                  <a:lnTo>
                    <a:pt x="294" y="85"/>
                  </a:lnTo>
                  <a:lnTo>
                    <a:pt x="199" y="0"/>
                  </a:lnTo>
                  <a:lnTo>
                    <a:pt x="0" y="95"/>
                  </a:lnTo>
                  <a:lnTo>
                    <a:pt x="28" y="114"/>
                  </a:lnTo>
                  <a:lnTo>
                    <a:pt x="199" y="28"/>
                  </a:lnTo>
                  <a:lnTo>
                    <a:pt x="294" y="114"/>
                  </a:lnTo>
                  <a:lnTo>
                    <a:pt x="588" y="119"/>
                  </a:lnTo>
                  <a:lnTo>
                    <a:pt x="593" y="90"/>
                  </a:lnTo>
                  <a:close/>
                </a:path>
              </a:pathLst>
            </a:custGeom>
            <a:solidFill>
              <a:srgbClr val="1A1A18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6576" name="Freeform 142"/>
            <p:cNvSpPr>
              <a:spLocks/>
            </p:cNvSpPr>
            <p:nvPr/>
          </p:nvSpPr>
          <p:spPr bwMode="auto">
            <a:xfrm>
              <a:off x="4002" y="2636"/>
              <a:ext cx="512" cy="498"/>
            </a:xfrm>
            <a:custGeom>
              <a:avLst/>
              <a:gdLst>
                <a:gd name="T0" fmla="*/ 0 w 512"/>
                <a:gd name="T1" fmla="*/ 0 h 498"/>
                <a:gd name="T2" fmla="*/ 38 w 512"/>
                <a:gd name="T3" fmla="*/ 175 h 498"/>
                <a:gd name="T4" fmla="*/ 47 w 512"/>
                <a:gd name="T5" fmla="*/ 437 h 498"/>
                <a:gd name="T6" fmla="*/ 327 w 512"/>
                <a:gd name="T7" fmla="*/ 427 h 498"/>
                <a:gd name="T8" fmla="*/ 493 w 512"/>
                <a:gd name="T9" fmla="*/ 498 h 498"/>
                <a:gd name="T10" fmla="*/ 512 w 512"/>
                <a:gd name="T11" fmla="*/ 475 h 498"/>
                <a:gd name="T12" fmla="*/ 356 w 512"/>
                <a:gd name="T13" fmla="*/ 399 h 498"/>
                <a:gd name="T14" fmla="*/ 76 w 512"/>
                <a:gd name="T15" fmla="*/ 408 h 498"/>
                <a:gd name="T16" fmla="*/ 71 w 512"/>
                <a:gd name="T17" fmla="*/ 161 h 498"/>
                <a:gd name="T18" fmla="*/ 28 w 512"/>
                <a:gd name="T19" fmla="*/ 19 h 498"/>
                <a:gd name="T20" fmla="*/ 0 w 512"/>
                <a:gd name="T21" fmla="*/ 0 h 498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512"/>
                <a:gd name="T34" fmla="*/ 0 h 498"/>
                <a:gd name="T35" fmla="*/ 512 w 512"/>
                <a:gd name="T36" fmla="*/ 498 h 498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512" h="498">
                  <a:moveTo>
                    <a:pt x="0" y="0"/>
                  </a:moveTo>
                  <a:lnTo>
                    <a:pt x="38" y="175"/>
                  </a:lnTo>
                  <a:lnTo>
                    <a:pt x="47" y="437"/>
                  </a:lnTo>
                  <a:lnTo>
                    <a:pt x="327" y="427"/>
                  </a:lnTo>
                  <a:lnTo>
                    <a:pt x="493" y="498"/>
                  </a:lnTo>
                  <a:lnTo>
                    <a:pt x="512" y="475"/>
                  </a:lnTo>
                  <a:lnTo>
                    <a:pt x="356" y="399"/>
                  </a:lnTo>
                  <a:lnTo>
                    <a:pt x="76" y="408"/>
                  </a:lnTo>
                  <a:lnTo>
                    <a:pt x="71" y="161"/>
                  </a:lnTo>
                  <a:lnTo>
                    <a:pt x="28" y="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0403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143"/>
          <p:cNvGrpSpPr>
            <a:grpSpLocks/>
          </p:cNvGrpSpPr>
          <p:nvPr/>
        </p:nvGrpSpPr>
        <p:grpSpPr bwMode="auto">
          <a:xfrm>
            <a:off x="7064375" y="3070225"/>
            <a:ext cx="1193800" cy="971550"/>
            <a:chOff x="4450" y="1934"/>
            <a:chExt cx="752" cy="612"/>
          </a:xfrm>
        </p:grpSpPr>
        <p:sp>
          <p:nvSpPr>
            <p:cNvPr id="66569" name="Rectangle 144"/>
            <p:cNvSpPr>
              <a:spLocks noChangeArrowheads="1"/>
            </p:cNvSpPr>
            <p:nvPr/>
          </p:nvSpPr>
          <p:spPr bwMode="auto">
            <a:xfrm>
              <a:off x="4450" y="1934"/>
              <a:ext cx="752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b="1">
                  <a:solidFill>
                    <a:srgbClr val="000000"/>
                  </a:solidFill>
                </a:rPr>
                <a:t>Lead block</a:t>
              </a:r>
              <a:endParaRPr lang="en-US" b="1"/>
            </a:p>
          </p:txBody>
        </p:sp>
        <p:sp>
          <p:nvSpPr>
            <p:cNvPr id="66570" name="Line 145"/>
            <p:cNvSpPr>
              <a:spLocks noChangeShapeType="1"/>
            </p:cNvSpPr>
            <p:nvPr/>
          </p:nvSpPr>
          <p:spPr bwMode="auto">
            <a:xfrm flipV="1">
              <a:off x="4666" y="2104"/>
              <a:ext cx="100" cy="442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05"/>
          <p:cNvGrpSpPr>
            <a:grpSpLocks/>
          </p:cNvGrpSpPr>
          <p:nvPr/>
        </p:nvGrpSpPr>
        <p:grpSpPr bwMode="auto">
          <a:xfrm>
            <a:off x="450850" y="641350"/>
            <a:ext cx="2328863" cy="5992813"/>
            <a:chOff x="284" y="404"/>
            <a:chExt cx="1467" cy="3775"/>
          </a:xfrm>
        </p:grpSpPr>
        <p:sp>
          <p:nvSpPr>
            <p:cNvPr id="67623" name="Freeform 106"/>
            <p:cNvSpPr>
              <a:spLocks/>
            </p:cNvSpPr>
            <p:nvPr/>
          </p:nvSpPr>
          <p:spPr bwMode="auto">
            <a:xfrm>
              <a:off x="375" y="428"/>
              <a:ext cx="1376" cy="3751"/>
            </a:xfrm>
            <a:custGeom>
              <a:avLst/>
              <a:gdLst>
                <a:gd name="T0" fmla="*/ 0 w 1376"/>
                <a:gd name="T1" fmla="*/ 3751 h 3751"/>
                <a:gd name="T2" fmla="*/ 0 w 1376"/>
                <a:gd name="T3" fmla="*/ 912 h 3751"/>
                <a:gd name="T4" fmla="*/ 1376 w 1376"/>
                <a:gd name="T5" fmla="*/ 0 h 3751"/>
                <a:gd name="T6" fmla="*/ 1376 w 1376"/>
                <a:gd name="T7" fmla="*/ 2834 h 3751"/>
                <a:gd name="T8" fmla="*/ 0 w 1376"/>
                <a:gd name="T9" fmla="*/ 3751 h 375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76"/>
                <a:gd name="T16" fmla="*/ 0 h 3751"/>
                <a:gd name="T17" fmla="*/ 1376 w 1376"/>
                <a:gd name="T18" fmla="*/ 3751 h 375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76" h="3751">
                  <a:moveTo>
                    <a:pt x="0" y="3751"/>
                  </a:moveTo>
                  <a:lnTo>
                    <a:pt x="0" y="912"/>
                  </a:lnTo>
                  <a:lnTo>
                    <a:pt x="1376" y="0"/>
                  </a:lnTo>
                  <a:lnTo>
                    <a:pt x="1376" y="2834"/>
                  </a:lnTo>
                  <a:lnTo>
                    <a:pt x="0" y="3751"/>
                  </a:lnTo>
                  <a:close/>
                </a:path>
              </a:pathLst>
            </a:custGeom>
            <a:solidFill>
              <a:srgbClr val="67AED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7624" name="Freeform 107"/>
            <p:cNvSpPr>
              <a:spLocks/>
            </p:cNvSpPr>
            <p:nvPr/>
          </p:nvSpPr>
          <p:spPr bwMode="auto">
            <a:xfrm>
              <a:off x="284" y="1321"/>
              <a:ext cx="91" cy="2858"/>
            </a:xfrm>
            <a:custGeom>
              <a:avLst/>
              <a:gdLst>
                <a:gd name="T0" fmla="*/ 91 w 91"/>
                <a:gd name="T1" fmla="*/ 2858 h 2858"/>
                <a:gd name="T2" fmla="*/ 91 w 91"/>
                <a:gd name="T3" fmla="*/ 19 h 2858"/>
                <a:gd name="T4" fmla="*/ 0 w 91"/>
                <a:gd name="T5" fmla="*/ 0 h 2858"/>
                <a:gd name="T6" fmla="*/ 0 w 91"/>
                <a:gd name="T7" fmla="*/ 2839 h 2858"/>
                <a:gd name="T8" fmla="*/ 91 w 91"/>
                <a:gd name="T9" fmla="*/ 2858 h 285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1"/>
                <a:gd name="T16" fmla="*/ 0 h 2858"/>
                <a:gd name="T17" fmla="*/ 91 w 91"/>
                <a:gd name="T18" fmla="*/ 2858 h 285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1" h="2858">
                  <a:moveTo>
                    <a:pt x="91" y="2858"/>
                  </a:moveTo>
                  <a:lnTo>
                    <a:pt x="91" y="19"/>
                  </a:lnTo>
                  <a:lnTo>
                    <a:pt x="0" y="0"/>
                  </a:lnTo>
                  <a:lnTo>
                    <a:pt x="0" y="2839"/>
                  </a:lnTo>
                  <a:lnTo>
                    <a:pt x="91" y="2858"/>
                  </a:lnTo>
                  <a:close/>
                </a:path>
              </a:pathLst>
            </a:custGeom>
            <a:solidFill>
              <a:srgbClr val="A5CEE3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7625" name="Freeform 108"/>
            <p:cNvSpPr>
              <a:spLocks/>
            </p:cNvSpPr>
            <p:nvPr/>
          </p:nvSpPr>
          <p:spPr bwMode="auto">
            <a:xfrm>
              <a:off x="284" y="404"/>
              <a:ext cx="1467" cy="936"/>
            </a:xfrm>
            <a:custGeom>
              <a:avLst/>
              <a:gdLst>
                <a:gd name="T0" fmla="*/ 1467 w 1467"/>
                <a:gd name="T1" fmla="*/ 24 h 936"/>
                <a:gd name="T2" fmla="*/ 91 w 1467"/>
                <a:gd name="T3" fmla="*/ 936 h 936"/>
                <a:gd name="T4" fmla="*/ 0 w 1467"/>
                <a:gd name="T5" fmla="*/ 917 h 936"/>
                <a:gd name="T6" fmla="*/ 1363 w 1467"/>
                <a:gd name="T7" fmla="*/ 0 h 936"/>
                <a:gd name="T8" fmla="*/ 1467 w 1467"/>
                <a:gd name="T9" fmla="*/ 24 h 9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467"/>
                <a:gd name="T16" fmla="*/ 0 h 936"/>
                <a:gd name="T17" fmla="*/ 1467 w 1467"/>
                <a:gd name="T18" fmla="*/ 936 h 9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467" h="936">
                  <a:moveTo>
                    <a:pt x="1467" y="24"/>
                  </a:moveTo>
                  <a:lnTo>
                    <a:pt x="91" y="936"/>
                  </a:lnTo>
                  <a:lnTo>
                    <a:pt x="0" y="917"/>
                  </a:lnTo>
                  <a:lnTo>
                    <a:pt x="1363" y="0"/>
                  </a:lnTo>
                  <a:lnTo>
                    <a:pt x="1467" y="24"/>
                  </a:lnTo>
                  <a:close/>
                </a:path>
              </a:pathLst>
            </a:custGeom>
            <a:solidFill>
              <a:srgbClr val="C8E0EE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7626" name="Freeform 109"/>
            <p:cNvSpPr>
              <a:spLocks/>
            </p:cNvSpPr>
            <p:nvPr/>
          </p:nvSpPr>
          <p:spPr bwMode="auto">
            <a:xfrm>
              <a:off x="375" y="428"/>
              <a:ext cx="1376" cy="3751"/>
            </a:xfrm>
            <a:custGeom>
              <a:avLst/>
              <a:gdLst>
                <a:gd name="T0" fmla="*/ 0 w 1376"/>
                <a:gd name="T1" fmla="*/ 3751 h 3751"/>
                <a:gd name="T2" fmla="*/ 0 w 1376"/>
                <a:gd name="T3" fmla="*/ 912 h 3751"/>
                <a:gd name="T4" fmla="*/ 1376 w 1376"/>
                <a:gd name="T5" fmla="*/ 0 h 3751"/>
                <a:gd name="T6" fmla="*/ 1376 w 1376"/>
                <a:gd name="T7" fmla="*/ 2834 h 3751"/>
                <a:gd name="T8" fmla="*/ 0 w 1376"/>
                <a:gd name="T9" fmla="*/ 3751 h 375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76"/>
                <a:gd name="T16" fmla="*/ 0 h 3751"/>
                <a:gd name="T17" fmla="*/ 1376 w 1376"/>
                <a:gd name="T18" fmla="*/ 3751 h 375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76" h="3751">
                  <a:moveTo>
                    <a:pt x="0" y="3751"/>
                  </a:moveTo>
                  <a:lnTo>
                    <a:pt x="0" y="912"/>
                  </a:lnTo>
                  <a:lnTo>
                    <a:pt x="1376" y="0"/>
                  </a:lnTo>
                  <a:lnTo>
                    <a:pt x="1376" y="2834"/>
                  </a:lnTo>
                  <a:lnTo>
                    <a:pt x="0" y="3751"/>
                  </a:lnTo>
                  <a:close/>
                </a:path>
              </a:pathLst>
            </a:custGeom>
            <a:solidFill>
              <a:srgbClr val="67AED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" name="Group 110"/>
          <p:cNvGrpSpPr>
            <a:grpSpLocks/>
          </p:cNvGrpSpPr>
          <p:nvPr/>
        </p:nvGrpSpPr>
        <p:grpSpPr bwMode="auto">
          <a:xfrm>
            <a:off x="3187700" y="1833563"/>
            <a:ext cx="1914525" cy="1612900"/>
            <a:chOff x="2008" y="1155"/>
            <a:chExt cx="1206" cy="1016"/>
          </a:xfrm>
        </p:grpSpPr>
        <p:sp>
          <p:nvSpPr>
            <p:cNvPr id="67618" name="Freeform 111"/>
            <p:cNvSpPr>
              <a:spLocks/>
            </p:cNvSpPr>
            <p:nvPr/>
          </p:nvSpPr>
          <p:spPr bwMode="auto">
            <a:xfrm>
              <a:off x="2008" y="1976"/>
              <a:ext cx="812" cy="195"/>
            </a:xfrm>
            <a:custGeom>
              <a:avLst/>
              <a:gdLst>
                <a:gd name="T0" fmla="*/ 812 w 812"/>
                <a:gd name="T1" fmla="*/ 195 h 195"/>
                <a:gd name="T2" fmla="*/ 812 w 812"/>
                <a:gd name="T3" fmla="*/ 142 h 195"/>
                <a:gd name="T4" fmla="*/ 0 w 812"/>
                <a:gd name="T5" fmla="*/ 0 h 195"/>
                <a:gd name="T6" fmla="*/ 5 w 812"/>
                <a:gd name="T7" fmla="*/ 52 h 195"/>
                <a:gd name="T8" fmla="*/ 812 w 812"/>
                <a:gd name="T9" fmla="*/ 195 h 19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12"/>
                <a:gd name="T16" fmla="*/ 0 h 195"/>
                <a:gd name="T17" fmla="*/ 812 w 812"/>
                <a:gd name="T18" fmla="*/ 195 h 19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12" h="195">
                  <a:moveTo>
                    <a:pt x="812" y="195"/>
                  </a:moveTo>
                  <a:lnTo>
                    <a:pt x="812" y="142"/>
                  </a:lnTo>
                  <a:lnTo>
                    <a:pt x="0" y="0"/>
                  </a:lnTo>
                  <a:lnTo>
                    <a:pt x="5" y="52"/>
                  </a:lnTo>
                  <a:lnTo>
                    <a:pt x="812" y="195"/>
                  </a:lnTo>
                  <a:close/>
                </a:path>
              </a:pathLst>
            </a:custGeom>
            <a:solidFill>
              <a:srgbClr val="34B3D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7619" name="Freeform 112"/>
            <p:cNvSpPr>
              <a:spLocks/>
            </p:cNvSpPr>
            <p:nvPr/>
          </p:nvSpPr>
          <p:spPr bwMode="auto">
            <a:xfrm>
              <a:off x="2820" y="1862"/>
              <a:ext cx="394" cy="309"/>
            </a:xfrm>
            <a:custGeom>
              <a:avLst/>
              <a:gdLst>
                <a:gd name="T0" fmla="*/ 0 w 394"/>
                <a:gd name="T1" fmla="*/ 309 h 309"/>
                <a:gd name="T2" fmla="*/ 0 w 394"/>
                <a:gd name="T3" fmla="*/ 256 h 309"/>
                <a:gd name="T4" fmla="*/ 389 w 394"/>
                <a:gd name="T5" fmla="*/ 0 h 309"/>
                <a:gd name="T6" fmla="*/ 394 w 394"/>
                <a:gd name="T7" fmla="*/ 47 h 309"/>
                <a:gd name="T8" fmla="*/ 0 w 394"/>
                <a:gd name="T9" fmla="*/ 309 h 30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94"/>
                <a:gd name="T16" fmla="*/ 0 h 309"/>
                <a:gd name="T17" fmla="*/ 394 w 394"/>
                <a:gd name="T18" fmla="*/ 309 h 30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94" h="309">
                  <a:moveTo>
                    <a:pt x="0" y="309"/>
                  </a:moveTo>
                  <a:lnTo>
                    <a:pt x="0" y="256"/>
                  </a:lnTo>
                  <a:lnTo>
                    <a:pt x="389" y="0"/>
                  </a:lnTo>
                  <a:lnTo>
                    <a:pt x="394" y="47"/>
                  </a:lnTo>
                  <a:lnTo>
                    <a:pt x="0" y="309"/>
                  </a:lnTo>
                  <a:close/>
                </a:path>
              </a:pathLst>
            </a:custGeom>
            <a:solidFill>
              <a:srgbClr val="00A0C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7620" name="Freeform 113"/>
            <p:cNvSpPr>
              <a:spLocks/>
            </p:cNvSpPr>
            <p:nvPr/>
          </p:nvSpPr>
          <p:spPr bwMode="auto">
            <a:xfrm>
              <a:off x="2008" y="1705"/>
              <a:ext cx="1201" cy="413"/>
            </a:xfrm>
            <a:custGeom>
              <a:avLst/>
              <a:gdLst>
                <a:gd name="T0" fmla="*/ 1201 w 1201"/>
                <a:gd name="T1" fmla="*/ 157 h 413"/>
                <a:gd name="T2" fmla="*/ 812 w 1201"/>
                <a:gd name="T3" fmla="*/ 413 h 413"/>
                <a:gd name="T4" fmla="*/ 0 w 1201"/>
                <a:gd name="T5" fmla="*/ 271 h 413"/>
                <a:gd name="T6" fmla="*/ 365 w 1201"/>
                <a:gd name="T7" fmla="*/ 0 h 413"/>
                <a:gd name="T8" fmla="*/ 1201 w 1201"/>
                <a:gd name="T9" fmla="*/ 157 h 41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01"/>
                <a:gd name="T16" fmla="*/ 0 h 413"/>
                <a:gd name="T17" fmla="*/ 1201 w 1201"/>
                <a:gd name="T18" fmla="*/ 413 h 41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01" h="413">
                  <a:moveTo>
                    <a:pt x="1201" y="157"/>
                  </a:moveTo>
                  <a:lnTo>
                    <a:pt x="812" y="413"/>
                  </a:lnTo>
                  <a:lnTo>
                    <a:pt x="0" y="271"/>
                  </a:lnTo>
                  <a:lnTo>
                    <a:pt x="365" y="0"/>
                  </a:lnTo>
                  <a:lnTo>
                    <a:pt x="1201" y="157"/>
                  </a:lnTo>
                  <a:close/>
                </a:path>
              </a:pathLst>
            </a:custGeom>
            <a:solidFill>
              <a:srgbClr val="80CFE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7621" name="Freeform 114"/>
            <p:cNvSpPr>
              <a:spLocks/>
            </p:cNvSpPr>
            <p:nvPr/>
          </p:nvSpPr>
          <p:spPr bwMode="auto">
            <a:xfrm>
              <a:off x="2568" y="1164"/>
              <a:ext cx="66" cy="764"/>
            </a:xfrm>
            <a:custGeom>
              <a:avLst/>
              <a:gdLst>
                <a:gd name="T0" fmla="*/ 66 w 66"/>
                <a:gd name="T1" fmla="*/ 5 h 764"/>
                <a:gd name="T2" fmla="*/ 66 w 66"/>
                <a:gd name="T3" fmla="*/ 5 h 764"/>
                <a:gd name="T4" fmla="*/ 66 w 66"/>
                <a:gd name="T5" fmla="*/ 10 h 764"/>
                <a:gd name="T6" fmla="*/ 57 w 66"/>
                <a:gd name="T7" fmla="*/ 10 h 764"/>
                <a:gd name="T8" fmla="*/ 33 w 66"/>
                <a:gd name="T9" fmla="*/ 14 h 764"/>
                <a:gd name="T10" fmla="*/ 33 w 66"/>
                <a:gd name="T11" fmla="*/ 14 h 764"/>
                <a:gd name="T12" fmla="*/ 9 w 66"/>
                <a:gd name="T13" fmla="*/ 10 h 764"/>
                <a:gd name="T14" fmla="*/ 5 w 66"/>
                <a:gd name="T15" fmla="*/ 5 h 764"/>
                <a:gd name="T16" fmla="*/ 0 w 66"/>
                <a:gd name="T17" fmla="*/ 0 h 764"/>
                <a:gd name="T18" fmla="*/ 0 w 66"/>
                <a:gd name="T19" fmla="*/ 750 h 764"/>
                <a:gd name="T20" fmla="*/ 0 w 66"/>
                <a:gd name="T21" fmla="*/ 750 h 764"/>
                <a:gd name="T22" fmla="*/ 5 w 66"/>
                <a:gd name="T23" fmla="*/ 755 h 764"/>
                <a:gd name="T24" fmla="*/ 9 w 66"/>
                <a:gd name="T25" fmla="*/ 760 h 764"/>
                <a:gd name="T26" fmla="*/ 33 w 66"/>
                <a:gd name="T27" fmla="*/ 764 h 764"/>
                <a:gd name="T28" fmla="*/ 33 w 66"/>
                <a:gd name="T29" fmla="*/ 764 h 764"/>
                <a:gd name="T30" fmla="*/ 57 w 66"/>
                <a:gd name="T31" fmla="*/ 760 h 764"/>
                <a:gd name="T32" fmla="*/ 66 w 66"/>
                <a:gd name="T33" fmla="*/ 755 h 764"/>
                <a:gd name="T34" fmla="*/ 66 w 66"/>
                <a:gd name="T35" fmla="*/ 755 h 764"/>
                <a:gd name="T36" fmla="*/ 66 w 66"/>
                <a:gd name="T37" fmla="*/ 5 h 764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66"/>
                <a:gd name="T58" fmla="*/ 0 h 764"/>
                <a:gd name="T59" fmla="*/ 66 w 66"/>
                <a:gd name="T60" fmla="*/ 764 h 764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66" h="764">
                  <a:moveTo>
                    <a:pt x="66" y="5"/>
                  </a:moveTo>
                  <a:lnTo>
                    <a:pt x="66" y="5"/>
                  </a:lnTo>
                  <a:lnTo>
                    <a:pt x="66" y="10"/>
                  </a:lnTo>
                  <a:lnTo>
                    <a:pt x="57" y="10"/>
                  </a:lnTo>
                  <a:lnTo>
                    <a:pt x="33" y="14"/>
                  </a:lnTo>
                  <a:lnTo>
                    <a:pt x="9" y="10"/>
                  </a:lnTo>
                  <a:lnTo>
                    <a:pt x="5" y="5"/>
                  </a:lnTo>
                  <a:lnTo>
                    <a:pt x="0" y="0"/>
                  </a:lnTo>
                  <a:lnTo>
                    <a:pt x="0" y="750"/>
                  </a:lnTo>
                  <a:lnTo>
                    <a:pt x="5" y="755"/>
                  </a:lnTo>
                  <a:lnTo>
                    <a:pt x="9" y="760"/>
                  </a:lnTo>
                  <a:lnTo>
                    <a:pt x="33" y="764"/>
                  </a:lnTo>
                  <a:lnTo>
                    <a:pt x="57" y="760"/>
                  </a:lnTo>
                  <a:lnTo>
                    <a:pt x="66" y="755"/>
                  </a:lnTo>
                  <a:lnTo>
                    <a:pt x="66" y="5"/>
                  </a:lnTo>
                  <a:close/>
                </a:path>
              </a:pathLst>
            </a:custGeom>
            <a:solidFill>
              <a:srgbClr val="34B3D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7622" name="Freeform 115"/>
            <p:cNvSpPr>
              <a:spLocks/>
            </p:cNvSpPr>
            <p:nvPr/>
          </p:nvSpPr>
          <p:spPr bwMode="auto">
            <a:xfrm>
              <a:off x="2568" y="1155"/>
              <a:ext cx="66" cy="23"/>
            </a:xfrm>
            <a:custGeom>
              <a:avLst/>
              <a:gdLst>
                <a:gd name="T0" fmla="*/ 33 w 66"/>
                <a:gd name="T1" fmla="*/ 23 h 23"/>
                <a:gd name="T2" fmla="*/ 33 w 66"/>
                <a:gd name="T3" fmla="*/ 23 h 23"/>
                <a:gd name="T4" fmla="*/ 9 w 66"/>
                <a:gd name="T5" fmla="*/ 19 h 23"/>
                <a:gd name="T6" fmla="*/ 5 w 66"/>
                <a:gd name="T7" fmla="*/ 14 h 23"/>
                <a:gd name="T8" fmla="*/ 0 w 66"/>
                <a:gd name="T9" fmla="*/ 9 h 23"/>
                <a:gd name="T10" fmla="*/ 0 w 66"/>
                <a:gd name="T11" fmla="*/ 9 h 23"/>
                <a:gd name="T12" fmla="*/ 5 w 66"/>
                <a:gd name="T13" fmla="*/ 4 h 23"/>
                <a:gd name="T14" fmla="*/ 9 w 66"/>
                <a:gd name="T15" fmla="*/ 4 h 23"/>
                <a:gd name="T16" fmla="*/ 33 w 66"/>
                <a:gd name="T17" fmla="*/ 0 h 23"/>
                <a:gd name="T18" fmla="*/ 33 w 66"/>
                <a:gd name="T19" fmla="*/ 0 h 23"/>
                <a:gd name="T20" fmla="*/ 57 w 66"/>
                <a:gd name="T21" fmla="*/ 4 h 23"/>
                <a:gd name="T22" fmla="*/ 66 w 66"/>
                <a:gd name="T23" fmla="*/ 9 h 23"/>
                <a:gd name="T24" fmla="*/ 66 w 66"/>
                <a:gd name="T25" fmla="*/ 9 h 23"/>
                <a:gd name="T26" fmla="*/ 66 w 66"/>
                <a:gd name="T27" fmla="*/ 9 h 23"/>
                <a:gd name="T28" fmla="*/ 66 w 66"/>
                <a:gd name="T29" fmla="*/ 14 h 23"/>
                <a:gd name="T30" fmla="*/ 57 w 66"/>
                <a:gd name="T31" fmla="*/ 19 h 23"/>
                <a:gd name="T32" fmla="*/ 33 w 66"/>
                <a:gd name="T33" fmla="*/ 23 h 23"/>
                <a:gd name="T34" fmla="*/ 33 w 66"/>
                <a:gd name="T35" fmla="*/ 23 h 23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66"/>
                <a:gd name="T55" fmla="*/ 0 h 23"/>
                <a:gd name="T56" fmla="*/ 66 w 66"/>
                <a:gd name="T57" fmla="*/ 23 h 23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66" h="23">
                  <a:moveTo>
                    <a:pt x="33" y="23"/>
                  </a:moveTo>
                  <a:lnTo>
                    <a:pt x="33" y="23"/>
                  </a:lnTo>
                  <a:lnTo>
                    <a:pt x="9" y="19"/>
                  </a:lnTo>
                  <a:lnTo>
                    <a:pt x="5" y="14"/>
                  </a:lnTo>
                  <a:lnTo>
                    <a:pt x="0" y="9"/>
                  </a:lnTo>
                  <a:lnTo>
                    <a:pt x="5" y="4"/>
                  </a:lnTo>
                  <a:lnTo>
                    <a:pt x="9" y="4"/>
                  </a:lnTo>
                  <a:lnTo>
                    <a:pt x="33" y="0"/>
                  </a:lnTo>
                  <a:lnTo>
                    <a:pt x="57" y="4"/>
                  </a:lnTo>
                  <a:lnTo>
                    <a:pt x="66" y="9"/>
                  </a:lnTo>
                  <a:lnTo>
                    <a:pt x="66" y="14"/>
                  </a:lnTo>
                  <a:lnTo>
                    <a:pt x="57" y="19"/>
                  </a:lnTo>
                  <a:lnTo>
                    <a:pt x="33" y="23"/>
                  </a:lnTo>
                  <a:close/>
                </a:path>
              </a:pathLst>
            </a:custGeom>
            <a:solidFill>
              <a:srgbClr val="80CFE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7588" name="Rectangle 116"/>
          <p:cNvSpPr>
            <a:spLocks noChangeArrowheads="1"/>
          </p:cNvSpPr>
          <p:nvPr/>
        </p:nvSpPr>
        <p:spPr bwMode="auto">
          <a:xfrm>
            <a:off x="4305300" y="2490788"/>
            <a:ext cx="127000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b="1">
                <a:solidFill>
                  <a:srgbClr val="000000"/>
                </a:solidFill>
              </a:rPr>
              <a:t>–</a:t>
            </a:r>
            <a:endParaRPr lang="en-US" b="1"/>
          </a:p>
        </p:txBody>
      </p:sp>
      <p:sp>
        <p:nvSpPr>
          <p:cNvPr id="67589" name="Rectangle 117"/>
          <p:cNvSpPr>
            <a:spLocks noChangeArrowheads="1"/>
          </p:cNvSpPr>
          <p:nvPr/>
        </p:nvSpPr>
        <p:spPr bwMode="auto">
          <a:xfrm>
            <a:off x="4298950" y="5521325"/>
            <a:ext cx="13335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b="1">
                <a:solidFill>
                  <a:srgbClr val="000000"/>
                </a:solidFill>
              </a:rPr>
              <a:t>+</a:t>
            </a:r>
            <a:endParaRPr lang="en-US" b="1"/>
          </a:p>
        </p:txBody>
      </p:sp>
      <p:grpSp>
        <p:nvGrpSpPr>
          <p:cNvPr id="4" name="Group 118"/>
          <p:cNvGrpSpPr>
            <a:grpSpLocks/>
          </p:cNvGrpSpPr>
          <p:nvPr/>
        </p:nvGrpSpPr>
        <p:grpSpPr bwMode="auto">
          <a:xfrm>
            <a:off x="3187700" y="4787900"/>
            <a:ext cx="1914525" cy="1544638"/>
            <a:chOff x="2008" y="3016"/>
            <a:chExt cx="1206" cy="973"/>
          </a:xfrm>
        </p:grpSpPr>
        <p:sp>
          <p:nvSpPr>
            <p:cNvPr id="67613" name="Freeform 119"/>
            <p:cNvSpPr>
              <a:spLocks/>
            </p:cNvSpPr>
            <p:nvPr/>
          </p:nvSpPr>
          <p:spPr bwMode="auto">
            <a:xfrm>
              <a:off x="2568" y="3225"/>
              <a:ext cx="66" cy="764"/>
            </a:xfrm>
            <a:custGeom>
              <a:avLst/>
              <a:gdLst>
                <a:gd name="T0" fmla="*/ 66 w 66"/>
                <a:gd name="T1" fmla="*/ 0 h 764"/>
                <a:gd name="T2" fmla="*/ 66 w 66"/>
                <a:gd name="T3" fmla="*/ 0 h 764"/>
                <a:gd name="T4" fmla="*/ 66 w 66"/>
                <a:gd name="T5" fmla="*/ 4 h 764"/>
                <a:gd name="T6" fmla="*/ 57 w 66"/>
                <a:gd name="T7" fmla="*/ 9 h 764"/>
                <a:gd name="T8" fmla="*/ 33 w 66"/>
                <a:gd name="T9" fmla="*/ 14 h 764"/>
                <a:gd name="T10" fmla="*/ 33 w 66"/>
                <a:gd name="T11" fmla="*/ 14 h 764"/>
                <a:gd name="T12" fmla="*/ 9 w 66"/>
                <a:gd name="T13" fmla="*/ 9 h 764"/>
                <a:gd name="T14" fmla="*/ 5 w 66"/>
                <a:gd name="T15" fmla="*/ 4 h 764"/>
                <a:gd name="T16" fmla="*/ 0 w 66"/>
                <a:gd name="T17" fmla="*/ 0 h 764"/>
                <a:gd name="T18" fmla="*/ 0 w 66"/>
                <a:gd name="T19" fmla="*/ 750 h 764"/>
                <a:gd name="T20" fmla="*/ 0 w 66"/>
                <a:gd name="T21" fmla="*/ 750 h 764"/>
                <a:gd name="T22" fmla="*/ 5 w 66"/>
                <a:gd name="T23" fmla="*/ 754 h 764"/>
                <a:gd name="T24" fmla="*/ 9 w 66"/>
                <a:gd name="T25" fmla="*/ 759 h 764"/>
                <a:gd name="T26" fmla="*/ 33 w 66"/>
                <a:gd name="T27" fmla="*/ 764 h 764"/>
                <a:gd name="T28" fmla="*/ 33 w 66"/>
                <a:gd name="T29" fmla="*/ 764 h 764"/>
                <a:gd name="T30" fmla="*/ 57 w 66"/>
                <a:gd name="T31" fmla="*/ 759 h 764"/>
                <a:gd name="T32" fmla="*/ 66 w 66"/>
                <a:gd name="T33" fmla="*/ 754 h 764"/>
                <a:gd name="T34" fmla="*/ 66 w 66"/>
                <a:gd name="T35" fmla="*/ 750 h 764"/>
                <a:gd name="T36" fmla="*/ 66 w 66"/>
                <a:gd name="T37" fmla="*/ 0 h 764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66"/>
                <a:gd name="T58" fmla="*/ 0 h 764"/>
                <a:gd name="T59" fmla="*/ 66 w 66"/>
                <a:gd name="T60" fmla="*/ 764 h 764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66" h="764">
                  <a:moveTo>
                    <a:pt x="66" y="0"/>
                  </a:moveTo>
                  <a:lnTo>
                    <a:pt x="66" y="0"/>
                  </a:lnTo>
                  <a:lnTo>
                    <a:pt x="66" y="4"/>
                  </a:lnTo>
                  <a:lnTo>
                    <a:pt x="57" y="9"/>
                  </a:lnTo>
                  <a:lnTo>
                    <a:pt x="33" y="14"/>
                  </a:lnTo>
                  <a:lnTo>
                    <a:pt x="9" y="9"/>
                  </a:lnTo>
                  <a:lnTo>
                    <a:pt x="5" y="4"/>
                  </a:lnTo>
                  <a:lnTo>
                    <a:pt x="0" y="0"/>
                  </a:lnTo>
                  <a:lnTo>
                    <a:pt x="0" y="750"/>
                  </a:lnTo>
                  <a:lnTo>
                    <a:pt x="5" y="754"/>
                  </a:lnTo>
                  <a:lnTo>
                    <a:pt x="9" y="759"/>
                  </a:lnTo>
                  <a:lnTo>
                    <a:pt x="33" y="764"/>
                  </a:lnTo>
                  <a:lnTo>
                    <a:pt x="57" y="759"/>
                  </a:lnTo>
                  <a:lnTo>
                    <a:pt x="66" y="754"/>
                  </a:lnTo>
                  <a:lnTo>
                    <a:pt x="66" y="750"/>
                  </a:lnTo>
                  <a:lnTo>
                    <a:pt x="66" y="0"/>
                  </a:lnTo>
                  <a:close/>
                </a:path>
              </a:pathLst>
            </a:custGeom>
            <a:solidFill>
              <a:srgbClr val="B62635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7614" name="Freeform 120"/>
            <p:cNvSpPr>
              <a:spLocks/>
            </p:cNvSpPr>
            <p:nvPr/>
          </p:nvSpPr>
          <p:spPr bwMode="auto">
            <a:xfrm>
              <a:off x="2568" y="3215"/>
              <a:ext cx="66" cy="19"/>
            </a:xfrm>
            <a:custGeom>
              <a:avLst/>
              <a:gdLst>
                <a:gd name="T0" fmla="*/ 33 w 66"/>
                <a:gd name="T1" fmla="*/ 19 h 19"/>
                <a:gd name="T2" fmla="*/ 33 w 66"/>
                <a:gd name="T3" fmla="*/ 19 h 19"/>
                <a:gd name="T4" fmla="*/ 9 w 66"/>
                <a:gd name="T5" fmla="*/ 19 h 19"/>
                <a:gd name="T6" fmla="*/ 5 w 66"/>
                <a:gd name="T7" fmla="*/ 14 h 19"/>
                <a:gd name="T8" fmla="*/ 0 w 66"/>
                <a:gd name="T9" fmla="*/ 10 h 19"/>
                <a:gd name="T10" fmla="*/ 0 w 66"/>
                <a:gd name="T11" fmla="*/ 10 h 19"/>
                <a:gd name="T12" fmla="*/ 5 w 66"/>
                <a:gd name="T13" fmla="*/ 5 h 19"/>
                <a:gd name="T14" fmla="*/ 9 w 66"/>
                <a:gd name="T15" fmla="*/ 0 h 19"/>
                <a:gd name="T16" fmla="*/ 33 w 66"/>
                <a:gd name="T17" fmla="*/ 0 h 19"/>
                <a:gd name="T18" fmla="*/ 33 w 66"/>
                <a:gd name="T19" fmla="*/ 0 h 19"/>
                <a:gd name="T20" fmla="*/ 57 w 66"/>
                <a:gd name="T21" fmla="*/ 5 h 19"/>
                <a:gd name="T22" fmla="*/ 66 w 66"/>
                <a:gd name="T23" fmla="*/ 5 h 19"/>
                <a:gd name="T24" fmla="*/ 66 w 66"/>
                <a:gd name="T25" fmla="*/ 10 h 19"/>
                <a:gd name="T26" fmla="*/ 66 w 66"/>
                <a:gd name="T27" fmla="*/ 10 h 19"/>
                <a:gd name="T28" fmla="*/ 66 w 66"/>
                <a:gd name="T29" fmla="*/ 14 h 19"/>
                <a:gd name="T30" fmla="*/ 57 w 66"/>
                <a:gd name="T31" fmla="*/ 19 h 19"/>
                <a:gd name="T32" fmla="*/ 33 w 66"/>
                <a:gd name="T33" fmla="*/ 19 h 19"/>
                <a:gd name="T34" fmla="*/ 33 w 66"/>
                <a:gd name="T35" fmla="*/ 19 h 19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66"/>
                <a:gd name="T55" fmla="*/ 0 h 19"/>
                <a:gd name="T56" fmla="*/ 66 w 66"/>
                <a:gd name="T57" fmla="*/ 19 h 19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66" h="19">
                  <a:moveTo>
                    <a:pt x="33" y="19"/>
                  </a:moveTo>
                  <a:lnTo>
                    <a:pt x="33" y="19"/>
                  </a:lnTo>
                  <a:lnTo>
                    <a:pt x="9" y="19"/>
                  </a:lnTo>
                  <a:lnTo>
                    <a:pt x="5" y="14"/>
                  </a:lnTo>
                  <a:lnTo>
                    <a:pt x="0" y="10"/>
                  </a:lnTo>
                  <a:lnTo>
                    <a:pt x="5" y="5"/>
                  </a:lnTo>
                  <a:lnTo>
                    <a:pt x="9" y="0"/>
                  </a:lnTo>
                  <a:lnTo>
                    <a:pt x="33" y="0"/>
                  </a:lnTo>
                  <a:lnTo>
                    <a:pt x="57" y="5"/>
                  </a:lnTo>
                  <a:lnTo>
                    <a:pt x="66" y="5"/>
                  </a:lnTo>
                  <a:lnTo>
                    <a:pt x="66" y="10"/>
                  </a:lnTo>
                  <a:lnTo>
                    <a:pt x="66" y="14"/>
                  </a:lnTo>
                  <a:lnTo>
                    <a:pt x="57" y="19"/>
                  </a:lnTo>
                  <a:lnTo>
                    <a:pt x="33" y="19"/>
                  </a:lnTo>
                  <a:close/>
                </a:path>
              </a:pathLst>
            </a:custGeom>
            <a:solidFill>
              <a:srgbClr val="E27488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7615" name="Freeform 121"/>
            <p:cNvSpPr>
              <a:spLocks/>
            </p:cNvSpPr>
            <p:nvPr/>
          </p:nvSpPr>
          <p:spPr bwMode="auto">
            <a:xfrm>
              <a:off x="2008" y="3286"/>
              <a:ext cx="812" cy="195"/>
            </a:xfrm>
            <a:custGeom>
              <a:avLst/>
              <a:gdLst>
                <a:gd name="T0" fmla="*/ 812 w 812"/>
                <a:gd name="T1" fmla="*/ 195 h 195"/>
                <a:gd name="T2" fmla="*/ 812 w 812"/>
                <a:gd name="T3" fmla="*/ 143 h 195"/>
                <a:gd name="T4" fmla="*/ 0 w 812"/>
                <a:gd name="T5" fmla="*/ 0 h 195"/>
                <a:gd name="T6" fmla="*/ 5 w 812"/>
                <a:gd name="T7" fmla="*/ 52 h 195"/>
                <a:gd name="T8" fmla="*/ 812 w 812"/>
                <a:gd name="T9" fmla="*/ 195 h 19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12"/>
                <a:gd name="T16" fmla="*/ 0 h 195"/>
                <a:gd name="T17" fmla="*/ 812 w 812"/>
                <a:gd name="T18" fmla="*/ 195 h 19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12" h="195">
                  <a:moveTo>
                    <a:pt x="812" y="195"/>
                  </a:moveTo>
                  <a:lnTo>
                    <a:pt x="812" y="143"/>
                  </a:lnTo>
                  <a:lnTo>
                    <a:pt x="0" y="0"/>
                  </a:lnTo>
                  <a:lnTo>
                    <a:pt x="5" y="52"/>
                  </a:lnTo>
                  <a:lnTo>
                    <a:pt x="812" y="195"/>
                  </a:lnTo>
                  <a:close/>
                </a:path>
              </a:pathLst>
            </a:custGeom>
            <a:solidFill>
              <a:srgbClr val="C75257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7616" name="Freeform 122"/>
            <p:cNvSpPr>
              <a:spLocks/>
            </p:cNvSpPr>
            <p:nvPr/>
          </p:nvSpPr>
          <p:spPr bwMode="auto">
            <a:xfrm>
              <a:off x="2820" y="3172"/>
              <a:ext cx="394" cy="309"/>
            </a:xfrm>
            <a:custGeom>
              <a:avLst/>
              <a:gdLst>
                <a:gd name="T0" fmla="*/ 0 w 394"/>
                <a:gd name="T1" fmla="*/ 309 h 309"/>
                <a:gd name="T2" fmla="*/ 0 w 394"/>
                <a:gd name="T3" fmla="*/ 257 h 309"/>
                <a:gd name="T4" fmla="*/ 389 w 394"/>
                <a:gd name="T5" fmla="*/ 0 h 309"/>
                <a:gd name="T6" fmla="*/ 394 w 394"/>
                <a:gd name="T7" fmla="*/ 48 h 309"/>
                <a:gd name="T8" fmla="*/ 0 w 394"/>
                <a:gd name="T9" fmla="*/ 309 h 30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94"/>
                <a:gd name="T16" fmla="*/ 0 h 309"/>
                <a:gd name="T17" fmla="*/ 394 w 394"/>
                <a:gd name="T18" fmla="*/ 309 h 30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94" h="309">
                  <a:moveTo>
                    <a:pt x="0" y="309"/>
                  </a:moveTo>
                  <a:lnTo>
                    <a:pt x="0" y="257"/>
                  </a:lnTo>
                  <a:lnTo>
                    <a:pt x="389" y="0"/>
                  </a:lnTo>
                  <a:lnTo>
                    <a:pt x="394" y="48"/>
                  </a:lnTo>
                  <a:lnTo>
                    <a:pt x="0" y="309"/>
                  </a:lnTo>
                  <a:close/>
                </a:path>
              </a:pathLst>
            </a:custGeom>
            <a:solidFill>
              <a:srgbClr val="A4001D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7617" name="Freeform 123"/>
            <p:cNvSpPr>
              <a:spLocks/>
            </p:cNvSpPr>
            <p:nvPr/>
          </p:nvSpPr>
          <p:spPr bwMode="auto">
            <a:xfrm>
              <a:off x="2008" y="3016"/>
              <a:ext cx="1201" cy="413"/>
            </a:xfrm>
            <a:custGeom>
              <a:avLst/>
              <a:gdLst>
                <a:gd name="T0" fmla="*/ 1201 w 1201"/>
                <a:gd name="T1" fmla="*/ 156 h 413"/>
                <a:gd name="T2" fmla="*/ 812 w 1201"/>
                <a:gd name="T3" fmla="*/ 413 h 413"/>
                <a:gd name="T4" fmla="*/ 0 w 1201"/>
                <a:gd name="T5" fmla="*/ 270 h 413"/>
                <a:gd name="T6" fmla="*/ 365 w 1201"/>
                <a:gd name="T7" fmla="*/ 0 h 413"/>
                <a:gd name="T8" fmla="*/ 1201 w 1201"/>
                <a:gd name="T9" fmla="*/ 156 h 41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01"/>
                <a:gd name="T16" fmla="*/ 0 h 413"/>
                <a:gd name="T17" fmla="*/ 1201 w 1201"/>
                <a:gd name="T18" fmla="*/ 413 h 41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01" h="413">
                  <a:moveTo>
                    <a:pt x="1201" y="156"/>
                  </a:moveTo>
                  <a:lnTo>
                    <a:pt x="812" y="413"/>
                  </a:lnTo>
                  <a:lnTo>
                    <a:pt x="0" y="270"/>
                  </a:lnTo>
                  <a:lnTo>
                    <a:pt x="365" y="0"/>
                  </a:lnTo>
                  <a:lnTo>
                    <a:pt x="1201" y="156"/>
                  </a:lnTo>
                  <a:close/>
                </a:path>
              </a:pathLst>
            </a:custGeom>
            <a:solidFill>
              <a:srgbClr val="D8858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7591" name="Text Box 127"/>
          <p:cNvSpPr txBox="1">
            <a:spLocks noChangeArrowheads="1"/>
          </p:cNvSpPr>
          <p:nvPr/>
        </p:nvSpPr>
        <p:spPr bwMode="auto">
          <a:xfrm>
            <a:off x="2328863" y="2871788"/>
            <a:ext cx="328612" cy="388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 i="1">
                <a:latin typeface="Symbol" pitchFamily="18" charset="2"/>
              </a:rPr>
              <a:t>a</a:t>
            </a:r>
            <a:endParaRPr lang="en-US" b="1" i="1"/>
          </a:p>
        </p:txBody>
      </p:sp>
      <p:grpSp>
        <p:nvGrpSpPr>
          <p:cNvPr id="5" name="Group 153"/>
          <p:cNvGrpSpPr>
            <a:grpSpLocks/>
          </p:cNvGrpSpPr>
          <p:nvPr/>
        </p:nvGrpSpPr>
        <p:grpSpPr bwMode="auto">
          <a:xfrm>
            <a:off x="1747838" y="2736850"/>
            <a:ext cx="4497387" cy="1633538"/>
            <a:chOff x="1101" y="1724"/>
            <a:chExt cx="2833" cy="1029"/>
          </a:xfrm>
        </p:grpSpPr>
        <p:grpSp>
          <p:nvGrpSpPr>
            <p:cNvPr id="6" name="Group 124"/>
            <p:cNvGrpSpPr>
              <a:grpSpLocks/>
            </p:cNvGrpSpPr>
            <p:nvPr/>
          </p:nvGrpSpPr>
          <p:grpSpPr bwMode="auto">
            <a:xfrm>
              <a:off x="1101" y="1724"/>
              <a:ext cx="1277" cy="760"/>
              <a:chOff x="1101" y="1724"/>
              <a:chExt cx="1277" cy="760"/>
            </a:xfrm>
          </p:grpSpPr>
          <p:sp>
            <p:nvSpPr>
              <p:cNvPr id="67611" name="Freeform 125"/>
              <p:cNvSpPr>
                <a:spLocks/>
              </p:cNvSpPr>
              <p:nvPr/>
            </p:nvSpPr>
            <p:spPr bwMode="auto">
              <a:xfrm>
                <a:off x="1220" y="1824"/>
                <a:ext cx="1158" cy="660"/>
              </a:xfrm>
              <a:custGeom>
                <a:avLst/>
                <a:gdLst>
                  <a:gd name="T0" fmla="*/ 0 w 1158"/>
                  <a:gd name="T1" fmla="*/ 0 h 660"/>
                  <a:gd name="T2" fmla="*/ 0 w 1158"/>
                  <a:gd name="T3" fmla="*/ 0 h 660"/>
                  <a:gd name="T4" fmla="*/ 66 w 1158"/>
                  <a:gd name="T5" fmla="*/ 66 h 660"/>
                  <a:gd name="T6" fmla="*/ 171 w 1158"/>
                  <a:gd name="T7" fmla="*/ 147 h 660"/>
                  <a:gd name="T8" fmla="*/ 308 w 1158"/>
                  <a:gd name="T9" fmla="*/ 247 h 660"/>
                  <a:gd name="T10" fmla="*/ 465 w 1158"/>
                  <a:gd name="T11" fmla="*/ 351 h 660"/>
                  <a:gd name="T12" fmla="*/ 546 w 1158"/>
                  <a:gd name="T13" fmla="*/ 404 h 660"/>
                  <a:gd name="T14" fmla="*/ 636 w 1158"/>
                  <a:gd name="T15" fmla="*/ 451 h 660"/>
                  <a:gd name="T16" fmla="*/ 721 w 1158"/>
                  <a:gd name="T17" fmla="*/ 498 h 660"/>
                  <a:gd name="T18" fmla="*/ 812 w 1158"/>
                  <a:gd name="T19" fmla="*/ 546 h 660"/>
                  <a:gd name="T20" fmla="*/ 902 w 1158"/>
                  <a:gd name="T21" fmla="*/ 584 h 660"/>
                  <a:gd name="T22" fmla="*/ 987 w 1158"/>
                  <a:gd name="T23" fmla="*/ 617 h 660"/>
                  <a:gd name="T24" fmla="*/ 1073 w 1158"/>
                  <a:gd name="T25" fmla="*/ 641 h 660"/>
                  <a:gd name="T26" fmla="*/ 1158 w 1158"/>
                  <a:gd name="T27" fmla="*/ 660 h 660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1158"/>
                  <a:gd name="T43" fmla="*/ 0 h 660"/>
                  <a:gd name="T44" fmla="*/ 1158 w 1158"/>
                  <a:gd name="T45" fmla="*/ 660 h 660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1158" h="660">
                    <a:moveTo>
                      <a:pt x="0" y="0"/>
                    </a:moveTo>
                    <a:lnTo>
                      <a:pt x="0" y="0"/>
                    </a:lnTo>
                    <a:lnTo>
                      <a:pt x="66" y="66"/>
                    </a:lnTo>
                    <a:lnTo>
                      <a:pt x="171" y="147"/>
                    </a:lnTo>
                    <a:lnTo>
                      <a:pt x="308" y="247"/>
                    </a:lnTo>
                    <a:lnTo>
                      <a:pt x="465" y="351"/>
                    </a:lnTo>
                    <a:lnTo>
                      <a:pt x="546" y="404"/>
                    </a:lnTo>
                    <a:lnTo>
                      <a:pt x="636" y="451"/>
                    </a:lnTo>
                    <a:lnTo>
                      <a:pt x="721" y="498"/>
                    </a:lnTo>
                    <a:lnTo>
                      <a:pt x="812" y="546"/>
                    </a:lnTo>
                    <a:lnTo>
                      <a:pt x="902" y="584"/>
                    </a:lnTo>
                    <a:lnTo>
                      <a:pt x="987" y="617"/>
                    </a:lnTo>
                    <a:lnTo>
                      <a:pt x="1073" y="641"/>
                    </a:lnTo>
                    <a:lnTo>
                      <a:pt x="1158" y="660"/>
                    </a:lnTo>
                  </a:path>
                </a:pathLst>
              </a:custGeom>
              <a:noFill/>
              <a:ln w="90488">
                <a:solidFill>
                  <a:srgbClr val="F0027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7612" name="Freeform 126"/>
              <p:cNvSpPr>
                <a:spLocks/>
              </p:cNvSpPr>
              <p:nvPr/>
            </p:nvSpPr>
            <p:spPr bwMode="auto">
              <a:xfrm>
                <a:off x="1101" y="1724"/>
                <a:ext cx="228" cy="214"/>
              </a:xfrm>
              <a:custGeom>
                <a:avLst/>
                <a:gdLst>
                  <a:gd name="T0" fmla="*/ 123 w 228"/>
                  <a:gd name="T1" fmla="*/ 214 h 214"/>
                  <a:gd name="T2" fmla="*/ 0 w 228"/>
                  <a:gd name="T3" fmla="*/ 0 h 214"/>
                  <a:gd name="T4" fmla="*/ 228 w 228"/>
                  <a:gd name="T5" fmla="*/ 100 h 214"/>
                  <a:gd name="T6" fmla="*/ 147 w 228"/>
                  <a:gd name="T7" fmla="*/ 128 h 214"/>
                  <a:gd name="T8" fmla="*/ 123 w 228"/>
                  <a:gd name="T9" fmla="*/ 214 h 21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8"/>
                  <a:gd name="T16" fmla="*/ 0 h 214"/>
                  <a:gd name="T17" fmla="*/ 228 w 228"/>
                  <a:gd name="T18" fmla="*/ 214 h 21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8" h="214">
                    <a:moveTo>
                      <a:pt x="123" y="214"/>
                    </a:moveTo>
                    <a:lnTo>
                      <a:pt x="0" y="0"/>
                    </a:lnTo>
                    <a:lnTo>
                      <a:pt x="228" y="100"/>
                    </a:lnTo>
                    <a:lnTo>
                      <a:pt x="147" y="128"/>
                    </a:lnTo>
                    <a:lnTo>
                      <a:pt x="123" y="214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67610" name="Line 134"/>
            <p:cNvSpPr>
              <a:spLocks noChangeShapeType="1"/>
            </p:cNvSpPr>
            <p:nvPr/>
          </p:nvSpPr>
          <p:spPr bwMode="auto">
            <a:xfrm flipH="1" flipV="1">
              <a:off x="2364" y="2478"/>
              <a:ext cx="1570" cy="275"/>
            </a:xfrm>
            <a:prstGeom prst="line">
              <a:avLst/>
            </a:prstGeom>
            <a:noFill/>
            <a:ln w="90488">
              <a:solidFill>
                <a:srgbClr val="E8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136"/>
          <p:cNvGrpSpPr>
            <a:grpSpLocks/>
          </p:cNvGrpSpPr>
          <p:nvPr/>
        </p:nvGrpSpPr>
        <p:grpSpPr bwMode="auto">
          <a:xfrm>
            <a:off x="6232525" y="3740150"/>
            <a:ext cx="1906588" cy="1679575"/>
            <a:chOff x="3926" y="2356"/>
            <a:chExt cx="1201" cy="1058"/>
          </a:xfrm>
        </p:grpSpPr>
        <p:sp>
          <p:nvSpPr>
            <p:cNvPr id="67603" name="Freeform 137"/>
            <p:cNvSpPr>
              <a:spLocks/>
            </p:cNvSpPr>
            <p:nvPr/>
          </p:nvSpPr>
          <p:spPr bwMode="auto">
            <a:xfrm>
              <a:off x="3940" y="2512"/>
              <a:ext cx="783" cy="637"/>
            </a:xfrm>
            <a:custGeom>
              <a:avLst/>
              <a:gdLst>
                <a:gd name="T0" fmla="*/ 783 w 783"/>
                <a:gd name="T1" fmla="*/ 0 h 637"/>
                <a:gd name="T2" fmla="*/ 171 w 783"/>
                <a:gd name="T3" fmla="*/ 0 h 637"/>
                <a:gd name="T4" fmla="*/ 0 w 783"/>
                <a:gd name="T5" fmla="*/ 133 h 637"/>
                <a:gd name="T6" fmla="*/ 5 w 783"/>
                <a:gd name="T7" fmla="*/ 637 h 637"/>
                <a:gd name="T8" fmla="*/ 783 w 783"/>
                <a:gd name="T9" fmla="*/ 637 h 637"/>
                <a:gd name="T10" fmla="*/ 783 w 783"/>
                <a:gd name="T11" fmla="*/ 0 h 63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783"/>
                <a:gd name="T19" fmla="*/ 0 h 637"/>
                <a:gd name="T20" fmla="*/ 783 w 783"/>
                <a:gd name="T21" fmla="*/ 637 h 637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783" h="637">
                  <a:moveTo>
                    <a:pt x="783" y="0"/>
                  </a:moveTo>
                  <a:lnTo>
                    <a:pt x="171" y="0"/>
                  </a:lnTo>
                  <a:lnTo>
                    <a:pt x="0" y="133"/>
                  </a:lnTo>
                  <a:lnTo>
                    <a:pt x="5" y="637"/>
                  </a:lnTo>
                  <a:lnTo>
                    <a:pt x="783" y="637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7604" name="Freeform 138"/>
            <p:cNvSpPr>
              <a:spLocks/>
            </p:cNvSpPr>
            <p:nvPr/>
          </p:nvSpPr>
          <p:spPr bwMode="auto">
            <a:xfrm>
              <a:off x="4733" y="2498"/>
              <a:ext cx="394" cy="916"/>
            </a:xfrm>
            <a:custGeom>
              <a:avLst/>
              <a:gdLst>
                <a:gd name="T0" fmla="*/ 0 w 394"/>
                <a:gd name="T1" fmla="*/ 916 h 916"/>
                <a:gd name="T2" fmla="*/ 0 w 394"/>
                <a:gd name="T3" fmla="*/ 261 h 916"/>
                <a:gd name="T4" fmla="*/ 394 w 394"/>
                <a:gd name="T5" fmla="*/ 0 h 916"/>
                <a:gd name="T6" fmla="*/ 394 w 394"/>
                <a:gd name="T7" fmla="*/ 655 h 916"/>
                <a:gd name="T8" fmla="*/ 0 w 394"/>
                <a:gd name="T9" fmla="*/ 916 h 9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94"/>
                <a:gd name="T16" fmla="*/ 0 h 916"/>
                <a:gd name="T17" fmla="*/ 394 w 394"/>
                <a:gd name="T18" fmla="*/ 916 h 91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94" h="916">
                  <a:moveTo>
                    <a:pt x="0" y="916"/>
                  </a:moveTo>
                  <a:lnTo>
                    <a:pt x="0" y="261"/>
                  </a:lnTo>
                  <a:lnTo>
                    <a:pt x="394" y="0"/>
                  </a:lnTo>
                  <a:lnTo>
                    <a:pt x="394" y="655"/>
                  </a:lnTo>
                  <a:lnTo>
                    <a:pt x="0" y="916"/>
                  </a:lnTo>
                  <a:close/>
                </a:path>
              </a:pathLst>
            </a:custGeom>
            <a:solidFill>
              <a:srgbClr val="66666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7605" name="Freeform 139"/>
            <p:cNvSpPr>
              <a:spLocks/>
            </p:cNvSpPr>
            <p:nvPr/>
          </p:nvSpPr>
          <p:spPr bwMode="auto">
            <a:xfrm>
              <a:off x="3926" y="2356"/>
              <a:ext cx="1201" cy="403"/>
            </a:xfrm>
            <a:custGeom>
              <a:avLst/>
              <a:gdLst>
                <a:gd name="T0" fmla="*/ 807 w 1201"/>
                <a:gd name="T1" fmla="*/ 403 h 403"/>
                <a:gd name="T2" fmla="*/ 655 w 1201"/>
                <a:gd name="T3" fmla="*/ 375 h 403"/>
                <a:gd name="T4" fmla="*/ 669 w 1201"/>
                <a:gd name="T5" fmla="*/ 275 h 403"/>
                <a:gd name="T6" fmla="*/ 370 w 1201"/>
                <a:gd name="T7" fmla="*/ 270 h 403"/>
                <a:gd name="T8" fmla="*/ 275 w 1201"/>
                <a:gd name="T9" fmla="*/ 185 h 403"/>
                <a:gd name="T10" fmla="*/ 76 w 1201"/>
                <a:gd name="T11" fmla="*/ 280 h 403"/>
                <a:gd name="T12" fmla="*/ 0 w 1201"/>
                <a:gd name="T13" fmla="*/ 261 h 403"/>
                <a:gd name="T14" fmla="*/ 398 w 1201"/>
                <a:gd name="T15" fmla="*/ 0 h 403"/>
                <a:gd name="T16" fmla="*/ 1201 w 1201"/>
                <a:gd name="T17" fmla="*/ 142 h 403"/>
                <a:gd name="T18" fmla="*/ 807 w 1201"/>
                <a:gd name="T19" fmla="*/ 403 h 403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201"/>
                <a:gd name="T31" fmla="*/ 0 h 403"/>
                <a:gd name="T32" fmla="*/ 1201 w 1201"/>
                <a:gd name="T33" fmla="*/ 403 h 403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201" h="403">
                  <a:moveTo>
                    <a:pt x="807" y="403"/>
                  </a:moveTo>
                  <a:lnTo>
                    <a:pt x="655" y="375"/>
                  </a:lnTo>
                  <a:lnTo>
                    <a:pt x="669" y="275"/>
                  </a:lnTo>
                  <a:lnTo>
                    <a:pt x="370" y="270"/>
                  </a:lnTo>
                  <a:lnTo>
                    <a:pt x="275" y="185"/>
                  </a:lnTo>
                  <a:lnTo>
                    <a:pt x="76" y="280"/>
                  </a:lnTo>
                  <a:lnTo>
                    <a:pt x="0" y="261"/>
                  </a:lnTo>
                  <a:lnTo>
                    <a:pt x="398" y="0"/>
                  </a:lnTo>
                  <a:lnTo>
                    <a:pt x="1201" y="142"/>
                  </a:lnTo>
                  <a:lnTo>
                    <a:pt x="807" y="403"/>
                  </a:lnTo>
                  <a:close/>
                </a:path>
              </a:pathLst>
            </a:custGeom>
            <a:solidFill>
              <a:srgbClr val="8C8C87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7606" name="Freeform 140"/>
            <p:cNvSpPr>
              <a:spLocks/>
            </p:cNvSpPr>
            <p:nvPr/>
          </p:nvSpPr>
          <p:spPr bwMode="auto">
            <a:xfrm>
              <a:off x="3926" y="2617"/>
              <a:ext cx="807" cy="797"/>
            </a:xfrm>
            <a:custGeom>
              <a:avLst/>
              <a:gdLst>
                <a:gd name="T0" fmla="*/ 807 w 807"/>
                <a:gd name="T1" fmla="*/ 142 h 797"/>
                <a:gd name="T2" fmla="*/ 655 w 807"/>
                <a:gd name="T3" fmla="*/ 114 h 797"/>
                <a:gd name="T4" fmla="*/ 755 w 807"/>
                <a:gd name="T5" fmla="*/ 342 h 797"/>
                <a:gd name="T6" fmla="*/ 569 w 807"/>
                <a:gd name="T7" fmla="*/ 517 h 797"/>
                <a:gd name="T8" fmla="*/ 403 w 807"/>
                <a:gd name="T9" fmla="*/ 446 h 797"/>
                <a:gd name="T10" fmla="*/ 123 w 807"/>
                <a:gd name="T11" fmla="*/ 456 h 797"/>
                <a:gd name="T12" fmla="*/ 114 w 807"/>
                <a:gd name="T13" fmla="*/ 194 h 797"/>
                <a:gd name="T14" fmla="*/ 76 w 807"/>
                <a:gd name="T15" fmla="*/ 19 h 797"/>
                <a:gd name="T16" fmla="*/ 0 w 807"/>
                <a:gd name="T17" fmla="*/ 0 h 797"/>
                <a:gd name="T18" fmla="*/ 0 w 807"/>
                <a:gd name="T19" fmla="*/ 655 h 797"/>
                <a:gd name="T20" fmla="*/ 807 w 807"/>
                <a:gd name="T21" fmla="*/ 797 h 797"/>
                <a:gd name="T22" fmla="*/ 807 w 807"/>
                <a:gd name="T23" fmla="*/ 142 h 797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807"/>
                <a:gd name="T37" fmla="*/ 0 h 797"/>
                <a:gd name="T38" fmla="*/ 807 w 807"/>
                <a:gd name="T39" fmla="*/ 797 h 797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807" h="797">
                  <a:moveTo>
                    <a:pt x="807" y="142"/>
                  </a:moveTo>
                  <a:lnTo>
                    <a:pt x="655" y="114"/>
                  </a:lnTo>
                  <a:lnTo>
                    <a:pt x="755" y="342"/>
                  </a:lnTo>
                  <a:lnTo>
                    <a:pt x="569" y="517"/>
                  </a:lnTo>
                  <a:lnTo>
                    <a:pt x="403" y="446"/>
                  </a:lnTo>
                  <a:lnTo>
                    <a:pt x="123" y="456"/>
                  </a:lnTo>
                  <a:lnTo>
                    <a:pt x="114" y="194"/>
                  </a:lnTo>
                  <a:lnTo>
                    <a:pt x="76" y="19"/>
                  </a:lnTo>
                  <a:lnTo>
                    <a:pt x="0" y="0"/>
                  </a:lnTo>
                  <a:lnTo>
                    <a:pt x="0" y="655"/>
                  </a:lnTo>
                  <a:lnTo>
                    <a:pt x="807" y="797"/>
                  </a:lnTo>
                  <a:lnTo>
                    <a:pt x="807" y="142"/>
                  </a:lnTo>
                  <a:close/>
                </a:path>
              </a:pathLst>
            </a:custGeom>
            <a:solidFill>
              <a:srgbClr val="53534E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7607" name="Freeform 141"/>
            <p:cNvSpPr>
              <a:spLocks/>
            </p:cNvSpPr>
            <p:nvPr/>
          </p:nvSpPr>
          <p:spPr bwMode="auto">
            <a:xfrm>
              <a:off x="4002" y="2541"/>
              <a:ext cx="593" cy="119"/>
            </a:xfrm>
            <a:custGeom>
              <a:avLst/>
              <a:gdLst>
                <a:gd name="T0" fmla="*/ 593 w 593"/>
                <a:gd name="T1" fmla="*/ 90 h 119"/>
                <a:gd name="T2" fmla="*/ 294 w 593"/>
                <a:gd name="T3" fmla="*/ 85 h 119"/>
                <a:gd name="T4" fmla="*/ 199 w 593"/>
                <a:gd name="T5" fmla="*/ 0 h 119"/>
                <a:gd name="T6" fmla="*/ 0 w 593"/>
                <a:gd name="T7" fmla="*/ 95 h 119"/>
                <a:gd name="T8" fmla="*/ 28 w 593"/>
                <a:gd name="T9" fmla="*/ 114 h 119"/>
                <a:gd name="T10" fmla="*/ 199 w 593"/>
                <a:gd name="T11" fmla="*/ 28 h 119"/>
                <a:gd name="T12" fmla="*/ 294 w 593"/>
                <a:gd name="T13" fmla="*/ 114 h 119"/>
                <a:gd name="T14" fmla="*/ 588 w 593"/>
                <a:gd name="T15" fmla="*/ 119 h 119"/>
                <a:gd name="T16" fmla="*/ 593 w 593"/>
                <a:gd name="T17" fmla="*/ 90 h 11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593"/>
                <a:gd name="T28" fmla="*/ 0 h 119"/>
                <a:gd name="T29" fmla="*/ 593 w 593"/>
                <a:gd name="T30" fmla="*/ 119 h 119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593" h="119">
                  <a:moveTo>
                    <a:pt x="593" y="90"/>
                  </a:moveTo>
                  <a:lnTo>
                    <a:pt x="294" y="85"/>
                  </a:lnTo>
                  <a:lnTo>
                    <a:pt x="199" y="0"/>
                  </a:lnTo>
                  <a:lnTo>
                    <a:pt x="0" y="95"/>
                  </a:lnTo>
                  <a:lnTo>
                    <a:pt x="28" y="114"/>
                  </a:lnTo>
                  <a:lnTo>
                    <a:pt x="199" y="28"/>
                  </a:lnTo>
                  <a:lnTo>
                    <a:pt x="294" y="114"/>
                  </a:lnTo>
                  <a:lnTo>
                    <a:pt x="588" y="119"/>
                  </a:lnTo>
                  <a:lnTo>
                    <a:pt x="593" y="90"/>
                  </a:lnTo>
                  <a:close/>
                </a:path>
              </a:pathLst>
            </a:custGeom>
            <a:solidFill>
              <a:srgbClr val="1A1A18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7608" name="Freeform 142"/>
            <p:cNvSpPr>
              <a:spLocks/>
            </p:cNvSpPr>
            <p:nvPr/>
          </p:nvSpPr>
          <p:spPr bwMode="auto">
            <a:xfrm>
              <a:off x="4002" y="2636"/>
              <a:ext cx="512" cy="498"/>
            </a:xfrm>
            <a:custGeom>
              <a:avLst/>
              <a:gdLst>
                <a:gd name="T0" fmla="*/ 0 w 512"/>
                <a:gd name="T1" fmla="*/ 0 h 498"/>
                <a:gd name="T2" fmla="*/ 38 w 512"/>
                <a:gd name="T3" fmla="*/ 175 h 498"/>
                <a:gd name="T4" fmla="*/ 47 w 512"/>
                <a:gd name="T5" fmla="*/ 437 h 498"/>
                <a:gd name="T6" fmla="*/ 327 w 512"/>
                <a:gd name="T7" fmla="*/ 427 h 498"/>
                <a:gd name="T8" fmla="*/ 493 w 512"/>
                <a:gd name="T9" fmla="*/ 498 h 498"/>
                <a:gd name="T10" fmla="*/ 512 w 512"/>
                <a:gd name="T11" fmla="*/ 475 h 498"/>
                <a:gd name="T12" fmla="*/ 356 w 512"/>
                <a:gd name="T13" fmla="*/ 399 h 498"/>
                <a:gd name="T14" fmla="*/ 76 w 512"/>
                <a:gd name="T15" fmla="*/ 408 h 498"/>
                <a:gd name="T16" fmla="*/ 71 w 512"/>
                <a:gd name="T17" fmla="*/ 161 h 498"/>
                <a:gd name="T18" fmla="*/ 28 w 512"/>
                <a:gd name="T19" fmla="*/ 19 h 498"/>
                <a:gd name="T20" fmla="*/ 0 w 512"/>
                <a:gd name="T21" fmla="*/ 0 h 498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512"/>
                <a:gd name="T34" fmla="*/ 0 h 498"/>
                <a:gd name="T35" fmla="*/ 512 w 512"/>
                <a:gd name="T36" fmla="*/ 498 h 498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512" h="498">
                  <a:moveTo>
                    <a:pt x="0" y="0"/>
                  </a:moveTo>
                  <a:lnTo>
                    <a:pt x="38" y="175"/>
                  </a:lnTo>
                  <a:lnTo>
                    <a:pt x="47" y="437"/>
                  </a:lnTo>
                  <a:lnTo>
                    <a:pt x="327" y="427"/>
                  </a:lnTo>
                  <a:lnTo>
                    <a:pt x="493" y="498"/>
                  </a:lnTo>
                  <a:lnTo>
                    <a:pt x="512" y="475"/>
                  </a:lnTo>
                  <a:lnTo>
                    <a:pt x="356" y="399"/>
                  </a:lnTo>
                  <a:lnTo>
                    <a:pt x="76" y="408"/>
                  </a:lnTo>
                  <a:lnTo>
                    <a:pt x="71" y="161"/>
                  </a:lnTo>
                  <a:lnTo>
                    <a:pt x="28" y="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0403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143"/>
          <p:cNvGrpSpPr>
            <a:grpSpLocks/>
          </p:cNvGrpSpPr>
          <p:nvPr/>
        </p:nvGrpSpPr>
        <p:grpSpPr bwMode="auto">
          <a:xfrm>
            <a:off x="7064375" y="3070225"/>
            <a:ext cx="1193800" cy="971550"/>
            <a:chOff x="4450" y="1934"/>
            <a:chExt cx="752" cy="612"/>
          </a:xfrm>
        </p:grpSpPr>
        <p:sp>
          <p:nvSpPr>
            <p:cNvPr id="67601" name="Rectangle 144"/>
            <p:cNvSpPr>
              <a:spLocks noChangeArrowheads="1"/>
            </p:cNvSpPr>
            <p:nvPr/>
          </p:nvSpPr>
          <p:spPr bwMode="auto">
            <a:xfrm>
              <a:off x="4450" y="1934"/>
              <a:ext cx="752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b="1">
                  <a:solidFill>
                    <a:srgbClr val="000000"/>
                  </a:solidFill>
                </a:rPr>
                <a:t>Lead block</a:t>
              </a:r>
              <a:endParaRPr lang="en-US" b="1"/>
            </a:p>
          </p:txBody>
        </p:sp>
        <p:sp>
          <p:nvSpPr>
            <p:cNvPr id="67602" name="Line 145"/>
            <p:cNvSpPr>
              <a:spLocks noChangeShapeType="1"/>
            </p:cNvSpPr>
            <p:nvPr/>
          </p:nvSpPr>
          <p:spPr bwMode="auto">
            <a:xfrm flipV="1">
              <a:off x="4666" y="2104"/>
              <a:ext cx="100" cy="442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7595" name="Freeform 147"/>
          <p:cNvSpPr>
            <a:spLocks/>
          </p:cNvSpPr>
          <p:nvPr/>
        </p:nvSpPr>
        <p:spPr bwMode="auto">
          <a:xfrm>
            <a:off x="6596063" y="4378325"/>
            <a:ext cx="307975" cy="165100"/>
          </a:xfrm>
          <a:custGeom>
            <a:avLst/>
            <a:gdLst>
              <a:gd name="T0" fmla="*/ 285750 w 194"/>
              <a:gd name="T1" fmla="*/ 165100 h 104"/>
              <a:gd name="T2" fmla="*/ 22225 w 194"/>
              <a:gd name="T3" fmla="*/ 127000 h 104"/>
              <a:gd name="T4" fmla="*/ 22225 w 194"/>
              <a:gd name="T5" fmla="*/ 127000 h 104"/>
              <a:gd name="T6" fmla="*/ 6350 w 194"/>
              <a:gd name="T7" fmla="*/ 119063 h 104"/>
              <a:gd name="T8" fmla="*/ 6350 w 194"/>
              <a:gd name="T9" fmla="*/ 104775 h 104"/>
              <a:gd name="T10" fmla="*/ 0 w 194"/>
              <a:gd name="T11" fmla="*/ 82550 h 104"/>
              <a:gd name="T12" fmla="*/ 0 w 194"/>
              <a:gd name="T13" fmla="*/ 60325 h 104"/>
              <a:gd name="T14" fmla="*/ 0 w 194"/>
              <a:gd name="T15" fmla="*/ 60325 h 104"/>
              <a:gd name="T16" fmla="*/ 6350 w 194"/>
              <a:gd name="T17" fmla="*/ 36513 h 104"/>
              <a:gd name="T18" fmla="*/ 14288 w 194"/>
              <a:gd name="T19" fmla="*/ 14288 h 104"/>
              <a:gd name="T20" fmla="*/ 30163 w 194"/>
              <a:gd name="T21" fmla="*/ 6350 h 104"/>
              <a:gd name="T22" fmla="*/ 44450 w 194"/>
              <a:gd name="T23" fmla="*/ 0 h 104"/>
              <a:gd name="T24" fmla="*/ 307975 w 194"/>
              <a:gd name="T25" fmla="*/ 44450 h 104"/>
              <a:gd name="T26" fmla="*/ 285750 w 194"/>
              <a:gd name="T27" fmla="*/ 165100 h 104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w 194"/>
              <a:gd name="T43" fmla="*/ 0 h 104"/>
              <a:gd name="T44" fmla="*/ 194 w 194"/>
              <a:gd name="T45" fmla="*/ 104 h 104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T42" t="T43" r="T44" b="T45"/>
            <a:pathLst>
              <a:path w="194" h="104">
                <a:moveTo>
                  <a:pt x="180" y="104"/>
                </a:moveTo>
                <a:lnTo>
                  <a:pt x="14" y="80"/>
                </a:lnTo>
                <a:lnTo>
                  <a:pt x="4" y="75"/>
                </a:lnTo>
                <a:lnTo>
                  <a:pt x="4" y="66"/>
                </a:lnTo>
                <a:lnTo>
                  <a:pt x="0" y="52"/>
                </a:lnTo>
                <a:lnTo>
                  <a:pt x="0" y="38"/>
                </a:lnTo>
                <a:lnTo>
                  <a:pt x="4" y="23"/>
                </a:lnTo>
                <a:lnTo>
                  <a:pt x="9" y="9"/>
                </a:lnTo>
                <a:lnTo>
                  <a:pt x="19" y="4"/>
                </a:lnTo>
                <a:lnTo>
                  <a:pt x="28" y="0"/>
                </a:lnTo>
                <a:lnTo>
                  <a:pt x="194" y="28"/>
                </a:lnTo>
                <a:lnTo>
                  <a:pt x="180" y="104"/>
                </a:lnTo>
                <a:close/>
              </a:path>
            </a:pathLst>
          </a:custGeom>
          <a:solidFill>
            <a:srgbClr val="D21009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67596" name="Freeform 148"/>
          <p:cNvSpPr>
            <a:spLocks/>
          </p:cNvSpPr>
          <p:nvPr/>
        </p:nvSpPr>
        <p:spPr bwMode="auto">
          <a:xfrm>
            <a:off x="6845300" y="4346575"/>
            <a:ext cx="361950" cy="361950"/>
          </a:xfrm>
          <a:custGeom>
            <a:avLst/>
            <a:gdLst>
              <a:gd name="T0" fmla="*/ 0 w 228"/>
              <a:gd name="T1" fmla="*/ 195262 h 228"/>
              <a:gd name="T2" fmla="*/ 0 w 228"/>
              <a:gd name="T3" fmla="*/ 195262 h 228"/>
              <a:gd name="T4" fmla="*/ 7938 w 228"/>
              <a:gd name="T5" fmla="*/ 233363 h 228"/>
              <a:gd name="T6" fmla="*/ 23812 w 228"/>
              <a:gd name="T7" fmla="*/ 263525 h 228"/>
              <a:gd name="T8" fmla="*/ 38100 w 228"/>
              <a:gd name="T9" fmla="*/ 293688 h 228"/>
              <a:gd name="T10" fmla="*/ 68263 w 228"/>
              <a:gd name="T11" fmla="*/ 315913 h 228"/>
              <a:gd name="T12" fmla="*/ 98425 w 228"/>
              <a:gd name="T13" fmla="*/ 338138 h 228"/>
              <a:gd name="T14" fmla="*/ 128588 w 228"/>
              <a:gd name="T15" fmla="*/ 354013 h 228"/>
              <a:gd name="T16" fmla="*/ 166688 w 228"/>
              <a:gd name="T17" fmla="*/ 361950 h 228"/>
              <a:gd name="T18" fmla="*/ 196850 w 228"/>
              <a:gd name="T19" fmla="*/ 361950 h 228"/>
              <a:gd name="T20" fmla="*/ 196850 w 228"/>
              <a:gd name="T21" fmla="*/ 361950 h 228"/>
              <a:gd name="T22" fmla="*/ 234950 w 228"/>
              <a:gd name="T23" fmla="*/ 354013 h 228"/>
              <a:gd name="T24" fmla="*/ 265113 w 228"/>
              <a:gd name="T25" fmla="*/ 338138 h 228"/>
              <a:gd name="T26" fmla="*/ 295275 w 228"/>
              <a:gd name="T27" fmla="*/ 323850 h 228"/>
              <a:gd name="T28" fmla="*/ 317500 w 228"/>
              <a:gd name="T29" fmla="*/ 301625 h 228"/>
              <a:gd name="T30" fmla="*/ 339725 w 228"/>
              <a:gd name="T31" fmla="*/ 271463 h 228"/>
              <a:gd name="T32" fmla="*/ 355600 w 228"/>
              <a:gd name="T33" fmla="*/ 241300 h 228"/>
              <a:gd name="T34" fmla="*/ 361950 w 228"/>
              <a:gd name="T35" fmla="*/ 203200 h 228"/>
              <a:gd name="T36" fmla="*/ 361950 w 228"/>
              <a:gd name="T37" fmla="*/ 165100 h 228"/>
              <a:gd name="T38" fmla="*/ 361950 w 228"/>
              <a:gd name="T39" fmla="*/ 165100 h 228"/>
              <a:gd name="T40" fmla="*/ 355600 w 228"/>
              <a:gd name="T41" fmla="*/ 134938 h 228"/>
              <a:gd name="T42" fmla="*/ 339725 w 228"/>
              <a:gd name="T43" fmla="*/ 96837 h 228"/>
              <a:gd name="T44" fmla="*/ 317500 w 228"/>
              <a:gd name="T45" fmla="*/ 66675 h 228"/>
              <a:gd name="T46" fmla="*/ 295275 w 228"/>
              <a:gd name="T47" fmla="*/ 44450 h 228"/>
              <a:gd name="T48" fmla="*/ 265113 w 228"/>
              <a:gd name="T49" fmla="*/ 22225 h 228"/>
              <a:gd name="T50" fmla="*/ 234950 w 228"/>
              <a:gd name="T51" fmla="*/ 7938 h 228"/>
              <a:gd name="T52" fmla="*/ 196850 w 228"/>
              <a:gd name="T53" fmla="*/ 0 h 228"/>
              <a:gd name="T54" fmla="*/ 158750 w 228"/>
              <a:gd name="T55" fmla="*/ 0 h 228"/>
              <a:gd name="T56" fmla="*/ 158750 w 228"/>
              <a:gd name="T57" fmla="*/ 0 h 228"/>
              <a:gd name="T58" fmla="*/ 120650 w 228"/>
              <a:gd name="T59" fmla="*/ 7938 h 228"/>
              <a:gd name="T60" fmla="*/ 90488 w 228"/>
              <a:gd name="T61" fmla="*/ 22225 h 228"/>
              <a:gd name="T62" fmla="*/ 60325 w 228"/>
              <a:gd name="T63" fmla="*/ 36513 h 228"/>
              <a:gd name="T64" fmla="*/ 38100 w 228"/>
              <a:gd name="T65" fmla="*/ 60325 h 228"/>
              <a:gd name="T66" fmla="*/ 23812 w 228"/>
              <a:gd name="T67" fmla="*/ 90488 h 228"/>
              <a:gd name="T68" fmla="*/ 7938 w 228"/>
              <a:gd name="T69" fmla="*/ 120650 h 228"/>
              <a:gd name="T70" fmla="*/ 0 w 228"/>
              <a:gd name="T71" fmla="*/ 157163 h 228"/>
              <a:gd name="T72" fmla="*/ 0 w 228"/>
              <a:gd name="T73" fmla="*/ 195262 h 228"/>
              <a:gd name="T74" fmla="*/ 0 w 228"/>
              <a:gd name="T75" fmla="*/ 195262 h 228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w 228"/>
              <a:gd name="T115" fmla="*/ 0 h 228"/>
              <a:gd name="T116" fmla="*/ 228 w 228"/>
              <a:gd name="T117" fmla="*/ 228 h 228"/>
            </a:gdLst>
            <a:ahLst/>
            <a:cxnLst>
              <a:cxn ang="T76">
                <a:pos x="T0" y="T1"/>
              </a:cxn>
              <a:cxn ang="T77">
                <a:pos x="T2" y="T3"/>
              </a:cxn>
              <a:cxn ang="T78">
                <a:pos x="T4" y="T5"/>
              </a:cxn>
              <a:cxn ang="T79">
                <a:pos x="T6" y="T7"/>
              </a:cxn>
              <a:cxn ang="T80">
                <a:pos x="T8" y="T9"/>
              </a:cxn>
              <a:cxn ang="T81">
                <a:pos x="T10" y="T11"/>
              </a:cxn>
              <a:cxn ang="T82">
                <a:pos x="T12" y="T13"/>
              </a:cxn>
              <a:cxn ang="T83">
                <a:pos x="T14" y="T15"/>
              </a:cxn>
              <a:cxn ang="T84">
                <a:pos x="T16" y="T17"/>
              </a:cxn>
              <a:cxn ang="T85">
                <a:pos x="T18" y="T19"/>
              </a:cxn>
              <a:cxn ang="T86">
                <a:pos x="T20" y="T21"/>
              </a:cxn>
              <a:cxn ang="T87">
                <a:pos x="T22" y="T23"/>
              </a:cxn>
              <a:cxn ang="T88">
                <a:pos x="T24" y="T25"/>
              </a:cxn>
              <a:cxn ang="T89">
                <a:pos x="T26" y="T27"/>
              </a:cxn>
              <a:cxn ang="T90">
                <a:pos x="T28" y="T29"/>
              </a:cxn>
              <a:cxn ang="T91">
                <a:pos x="T30" y="T31"/>
              </a:cxn>
              <a:cxn ang="T92">
                <a:pos x="T32" y="T33"/>
              </a:cxn>
              <a:cxn ang="T93">
                <a:pos x="T34" y="T35"/>
              </a:cxn>
              <a:cxn ang="T94">
                <a:pos x="T36" y="T37"/>
              </a:cxn>
              <a:cxn ang="T95">
                <a:pos x="T38" y="T39"/>
              </a:cxn>
              <a:cxn ang="T96">
                <a:pos x="T40" y="T41"/>
              </a:cxn>
              <a:cxn ang="T97">
                <a:pos x="T42" y="T43"/>
              </a:cxn>
              <a:cxn ang="T98">
                <a:pos x="T44" y="T45"/>
              </a:cxn>
              <a:cxn ang="T99">
                <a:pos x="T46" y="T47"/>
              </a:cxn>
              <a:cxn ang="T100">
                <a:pos x="T48" y="T49"/>
              </a:cxn>
              <a:cxn ang="T101">
                <a:pos x="T50" y="T51"/>
              </a:cxn>
              <a:cxn ang="T102">
                <a:pos x="T52" y="T53"/>
              </a:cxn>
              <a:cxn ang="T103">
                <a:pos x="T54" y="T55"/>
              </a:cxn>
              <a:cxn ang="T104">
                <a:pos x="T56" y="T57"/>
              </a:cxn>
              <a:cxn ang="T105">
                <a:pos x="T58" y="T59"/>
              </a:cxn>
              <a:cxn ang="T106">
                <a:pos x="T60" y="T61"/>
              </a:cxn>
              <a:cxn ang="T107">
                <a:pos x="T62" y="T63"/>
              </a:cxn>
              <a:cxn ang="T108">
                <a:pos x="T64" y="T65"/>
              </a:cxn>
              <a:cxn ang="T109">
                <a:pos x="T66" y="T67"/>
              </a:cxn>
              <a:cxn ang="T110">
                <a:pos x="T68" y="T69"/>
              </a:cxn>
              <a:cxn ang="T111">
                <a:pos x="T70" y="T71"/>
              </a:cxn>
              <a:cxn ang="T112">
                <a:pos x="T72" y="T73"/>
              </a:cxn>
              <a:cxn ang="T113">
                <a:pos x="T74" y="T75"/>
              </a:cxn>
            </a:cxnLst>
            <a:rect l="T114" t="T115" r="T116" b="T117"/>
            <a:pathLst>
              <a:path w="228" h="228">
                <a:moveTo>
                  <a:pt x="0" y="123"/>
                </a:moveTo>
                <a:lnTo>
                  <a:pt x="0" y="123"/>
                </a:lnTo>
                <a:lnTo>
                  <a:pt x="5" y="147"/>
                </a:lnTo>
                <a:lnTo>
                  <a:pt x="15" y="166"/>
                </a:lnTo>
                <a:lnTo>
                  <a:pt x="24" y="185"/>
                </a:lnTo>
                <a:lnTo>
                  <a:pt x="43" y="199"/>
                </a:lnTo>
                <a:lnTo>
                  <a:pt x="62" y="213"/>
                </a:lnTo>
                <a:lnTo>
                  <a:pt x="81" y="223"/>
                </a:lnTo>
                <a:lnTo>
                  <a:pt x="105" y="228"/>
                </a:lnTo>
                <a:lnTo>
                  <a:pt x="124" y="228"/>
                </a:lnTo>
                <a:lnTo>
                  <a:pt x="148" y="223"/>
                </a:lnTo>
                <a:lnTo>
                  <a:pt x="167" y="213"/>
                </a:lnTo>
                <a:lnTo>
                  <a:pt x="186" y="204"/>
                </a:lnTo>
                <a:lnTo>
                  <a:pt x="200" y="190"/>
                </a:lnTo>
                <a:lnTo>
                  <a:pt x="214" y="171"/>
                </a:lnTo>
                <a:lnTo>
                  <a:pt x="224" y="152"/>
                </a:lnTo>
                <a:lnTo>
                  <a:pt x="228" y="128"/>
                </a:lnTo>
                <a:lnTo>
                  <a:pt x="228" y="104"/>
                </a:lnTo>
                <a:lnTo>
                  <a:pt x="224" y="85"/>
                </a:lnTo>
                <a:lnTo>
                  <a:pt x="214" y="61"/>
                </a:lnTo>
                <a:lnTo>
                  <a:pt x="200" y="42"/>
                </a:lnTo>
                <a:lnTo>
                  <a:pt x="186" y="28"/>
                </a:lnTo>
                <a:lnTo>
                  <a:pt x="167" y="14"/>
                </a:lnTo>
                <a:lnTo>
                  <a:pt x="148" y="5"/>
                </a:lnTo>
                <a:lnTo>
                  <a:pt x="124" y="0"/>
                </a:lnTo>
                <a:lnTo>
                  <a:pt x="100" y="0"/>
                </a:lnTo>
                <a:lnTo>
                  <a:pt x="76" y="5"/>
                </a:lnTo>
                <a:lnTo>
                  <a:pt x="57" y="14"/>
                </a:lnTo>
                <a:lnTo>
                  <a:pt x="38" y="23"/>
                </a:lnTo>
                <a:lnTo>
                  <a:pt x="24" y="38"/>
                </a:lnTo>
                <a:lnTo>
                  <a:pt x="15" y="57"/>
                </a:lnTo>
                <a:lnTo>
                  <a:pt x="5" y="76"/>
                </a:lnTo>
                <a:lnTo>
                  <a:pt x="0" y="99"/>
                </a:lnTo>
                <a:lnTo>
                  <a:pt x="0" y="123"/>
                </a:lnTo>
                <a:close/>
              </a:path>
            </a:pathLst>
          </a:custGeom>
          <a:solidFill>
            <a:srgbClr val="FD341F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grpSp>
        <p:nvGrpSpPr>
          <p:cNvPr id="9" name="Group 149"/>
          <p:cNvGrpSpPr>
            <a:grpSpLocks/>
          </p:cNvGrpSpPr>
          <p:nvPr/>
        </p:nvGrpSpPr>
        <p:grpSpPr bwMode="auto">
          <a:xfrm>
            <a:off x="5637213" y="4643438"/>
            <a:ext cx="2478087" cy="1349375"/>
            <a:chOff x="3557" y="2925"/>
            <a:chExt cx="1561" cy="850"/>
          </a:xfrm>
        </p:grpSpPr>
        <p:sp>
          <p:nvSpPr>
            <p:cNvPr id="67598" name="Rectangle 150"/>
            <p:cNvSpPr>
              <a:spLocks noChangeArrowheads="1"/>
            </p:cNvSpPr>
            <p:nvPr/>
          </p:nvSpPr>
          <p:spPr bwMode="auto">
            <a:xfrm>
              <a:off x="3557" y="3602"/>
              <a:ext cx="1561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b="1">
                  <a:solidFill>
                    <a:srgbClr val="000000"/>
                  </a:solidFill>
                </a:rPr>
                <a:t>Radioactive substance</a:t>
              </a:r>
              <a:endParaRPr lang="en-US" b="1"/>
            </a:p>
          </p:txBody>
        </p:sp>
        <p:sp>
          <p:nvSpPr>
            <p:cNvPr id="67599" name="Line 151"/>
            <p:cNvSpPr>
              <a:spLocks noChangeShapeType="1"/>
            </p:cNvSpPr>
            <p:nvPr/>
          </p:nvSpPr>
          <p:spPr bwMode="auto">
            <a:xfrm flipV="1">
              <a:off x="4263" y="2925"/>
              <a:ext cx="142" cy="675"/>
            </a:xfrm>
            <a:prstGeom prst="line">
              <a:avLst/>
            </a:prstGeom>
            <a:noFill/>
            <a:ln w="38100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7600" name="Line 152"/>
            <p:cNvSpPr>
              <a:spLocks noChangeShapeType="1"/>
            </p:cNvSpPr>
            <p:nvPr/>
          </p:nvSpPr>
          <p:spPr bwMode="auto">
            <a:xfrm flipV="1">
              <a:off x="4261" y="2930"/>
              <a:ext cx="143" cy="674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58"/>
          <p:cNvGrpSpPr>
            <a:grpSpLocks/>
          </p:cNvGrpSpPr>
          <p:nvPr/>
        </p:nvGrpSpPr>
        <p:grpSpPr bwMode="auto">
          <a:xfrm>
            <a:off x="450850" y="641350"/>
            <a:ext cx="2328863" cy="5992813"/>
            <a:chOff x="284" y="404"/>
            <a:chExt cx="1467" cy="3775"/>
          </a:xfrm>
        </p:grpSpPr>
        <p:sp>
          <p:nvSpPr>
            <p:cNvPr id="68647" name="Freeform 59"/>
            <p:cNvSpPr>
              <a:spLocks/>
            </p:cNvSpPr>
            <p:nvPr/>
          </p:nvSpPr>
          <p:spPr bwMode="auto">
            <a:xfrm>
              <a:off x="375" y="428"/>
              <a:ext cx="1376" cy="3751"/>
            </a:xfrm>
            <a:custGeom>
              <a:avLst/>
              <a:gdLst>
                <a:gd name="T0" fmla="*/ 0 w 1376"/>
                <a:gd name="T1" fmla="*/ 3751 h 3751"/>
                <a:gd name="T2" fmla="*/ 0 w 1376"/>
                <a:gd name="T3" fmla="*/ 912 h 3751"/>
                <a:gd name="T4" fmla="*/ 1376 w 1376"/>
                <a:gd name="T5" fmla="*/ 0 h 3751"/>
                <a:gd name="T6" fmla="*/ 1376 w 1376"/>
                <a:gd name="T7" fmla="*/ 2834 h 3751"/>
                <a:gd name="T8" fmla="*/ 0 w 1376"/>
                <a:gd name="T9" fmla="*/ 3751 h 375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76"/>
                <a:gd name="T16" fmla="*/ 0 h 3751"/>
                <a:gd name="T17" fmla="*/ 1376 w 1376"/>
                <a:gd name="T18" fmla="*/ 3751 h 375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76" h="3751">
                  <a:moveTo>
                    <a:pt x="0" y="3751"/>
                  </a:moveTo>
                  <a:lnTo>
                    <a:pt x="0" y="912"/>
                  </a:lnTo>
                  <a:lnTo>
                    <a:pt x="1376" y="0"/>
                  </a:lnTo>
                  <a:lnTo>
                    <a:pt x="1376" y="2834"/>
                  </a:lnTo>
                  <a:lnTo>
                    <a:pt x="0" y="3751"/>
                  </a:lnTo>
                  <a:close/>
                </a:path>
              </a:pathLst>
            </a:custGeom>
            <a:solidFill>
              <a:srgbClr val="67AED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8648" name="Freeform 60"/>
            <p:cNvSpPr>
              <a:spLocks/>
            </p:cNvSpPr>
            <p:nvPr/>
          </p:nvSpPr>
          <p:spPr bwMode="auto">
            <a:xfrm>
              <a:off x="284" y="1321"/>
              <a:ext cx="91" cy="2858"/>
            </a:xfrm>
            <a:custGeom>
              <a:avLst/>
              <a:gdLst>
                <a:gd name="T0" fmla="*/ 91 w 91"/>
                <a:gd name="T1" fmla="*/ 2858 h 2858"/>
                <a:gd name="T2" fmla="*/ 91 w 91"/>
                <a:gd name="T3" fmla="*/ 19 h 2858"/>
                <a:gd name="T4" fmla="*/ 0 w 91"/>
                <a:gd name="T5" fmla="*/ 0 h 2858"/>
                <a:gd name="T6" fmla="*/ 0 w 91"/>
                <a:gd name="T7" fmla="*/ 2839 h 2858"/>
                <a:gd name="T8" fmla="*/ 91 w 91"/>
                <a:gd name="T9" fmla="*/ 2858 h 285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1"/>
                <a:gd name="T16" fmla="*/ 0 h 2858"/>
                <a:gd name="T17" fmla="*/ 91 w 91"/>
                <a:gd name="T18" fmla="*/ 2858 h 285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1" h="2858">
                  <a:moveTo>
                    <a:pt x="91" y="2858"/>
                  </a:moveTo>
                  <a:lnTo>
                    <a:pt x="91" y="19"/>
                  </a:lnTo>
                  <a:lnTo>
                    <a:pt x="0" y="0"/>
                  </a:lnTo>
                  <a:lnTo>
                    <a:pt x="0" y="2839"/>
                  </a:lnTo>
                  <a:lnTo>
                    <a:pt x="91" y="2858"/>
                  </a:lnTo>
                  <a:close/>
                </a:path>
              </a:pathLst>
            </a:custGeom>
            <a:solidFill>
              <a:srgbClr val="A5CEE3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8649" name="Freeform 61"/>
            <p:cNvSpPr>
              <a:spLocks/>
            </p:cNvSpPr>
            <p:nvPr/>
          </p:nvSpPr>
          <p:spPr bwMode="auto">
            <a:xfrm>
              <a:off x="284" y="404"/>
              <a:ext cx="1467" cy="936"/>
            </a:xfrm>
            <a:custGeom>
              <a:avLst/>
              <a:gdLst>
                <a:gd name="T0" fmla="*/ 1467 w 1467"/>
                <a:gd name="T1" fmla="*/ 24 h 936"/>
                <a:gd name="T2" fmla="*/ 91 w 1467"/>
                <a:gd name="T3" fmla="*/ 936 h 936"/>
                <a:gd name="T4" fmla="*/ 0 w 1467"/>
                <a:gd name="T5" fmla="*/ 917 h 936"/>
                <a:gd name="T6" fmla="*/ 1363 w 1467"/>
                <a:gd name="T7" fmla="*/ 0 h 936"/>
                <a:gd name="T8" fmla="*/ 1467 w 1467"/>
                <a:gd name="T9" fmla="*/ 24 h 9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467"/>
                <a:gd name="T16" fmla="*/ 0 h 936"/>
                <a:gd name="T17" fmla="*/ 1467 w 1467"/>
                <a:gd name="T18" fmla="*/ 936 h 9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467" h="936">
                  <a:moveTo>
                    <a:pt x="1467" y="24"/>
                  </a:moveTo>
                  <a:lnTo>
                    <a:pt x="91" y="936"/>
                  </a:lnTo>
                  <a:lnTo>
                    <a:pt x="0" y="917"/>
                  </a:lnTo>
                  <a:lnTo>
                    <a:pt x="1363" y="0"/>
                  </a:lnTo>
                  <a:lnTo>
                    <a:pt x="1467" y="24"/>
                  </a:lnTo>
                  <a:close/>
                </a:path>
              </a:pathLst>
            </a:custGeom>
            <a:solidFill>
              <a:srgbClr val="C8E0EE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8650" name="Freeform 62"/>
            <p:cNvSpPr>
              <a:spLocks/>
            </p:cNvSpPr>
            <p:nvPr/>
          </p:nvSpPr>
          <p:spPr bwMode="auto">
            <a:xfrm>
              <a:off x="375" y="428"/>
              <a:ext cx="1376" cy="3751"/>
            </a:xfrm>
            <a:custGeom>
              <a:avLst/>
              <a:gdLst>
                <a:gd name="T0" fmla="*/ 0 w 1376"/>
                <a:gd name="T1" fmla="*/ 3751 h 3751"/>
                <a:gd name="T2" fmla="*/ 0 w 1376"/>
                <a:gd name="T3" fmla="*/ 912 h 3751"/>
                <a:gd name="T4" fmla="*/ 1376 w 1376"/>
                <a:gd name="T5" fmla="*/ 0 h 3751"/>
                <a:gd name="T6" fmla="*/ 1376 w 1376"/>
                <a:gd name="T7" fmla="*/ 2834 h 3751"/>
                <a:gd name="T8" fmla="*/ 0 w 1376"/>
                <a:gd name="T9" fmla="*/ 3751 h 375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76"/>
                <a:gd name="T16" fmla="*/ 0 h 3751"/>
                <a:gd name="T17" fmla="*/ 1376 w 1376"/>
                <a:gd name="T18" fmla="*/ 3751 h 375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76" h="3751">
                  <a:moveTo>
                    <a:pt x="0" y="3751"/>
                  </a:moveTo>
                  <a:lnTo>
                    <a:pt x="0" y="912"/>
                  </a:lnTo>
                  <a:lnTo>
                    <a:pt x="1376" y="0"/>
                  </a:lnTo>
                  <a:lnTo>
                    <a:pt x="1376" y="2834"/>
                  </a:lnTo>
                  <a:lnTo>
                    <a:pt x="0" y="3751"/>
                  </a:lnTo>
                  <a:close/>
                </a:path>
              </a:pathLst>
            </a:custGeom>
            <a:solidFill>
              <a:srgbClr val="67AED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" name="Group 63"/>
          <p:cNvGrpSpPr>
            <a:grpSpLocks/>
          </p:cNvGrpSpPr>
          <p:nvPr/>
        </p:nvGrpSpPr>
        <p:grpSpPr bwMode="auto">
          <a:xfrm>
            <a:off x="3187700" y="1833563"/>
            <a:ext cx="1914525" cy="1612900"/>
            <a:chOff x="2008" y="1155"/>
            <a:chExt cx="1206" cy="1016"/>
          </a:xfrm>
        </p:grpSpPr>
        <p:sp>
          <p:nvSpPr>
            <p:cNvPr id="68642" name="Freeform 64"/>
            <p:cNvSpPr>
              <a:spLocks/>
            </p:cNvSpPr>
            <p:nvPr/>
          </p:nvSpPr>
          <p:spPr bwMode="auto">
            <a:xfrm>
              <a:off x="2008" y="1976"/>
              <a:ext cx="812" cy="195"/>
            </a:xfrm>
            <a:custGeom>
              <a:avLst/>
              <a:gdLst>
                <a:gd name="T0" fmla="*/ 812 w 812"/>
                <a:gd name="T1" fmla="*/ 195 h 195"/>
                <a:gd name="T2" fmla="*/ 812 w 812"/>
                <a:gd name="T3" fmla="*/ 142 h 195"/>
                <a:gd name="T4" fmla="*/ 0 w 812"/>
                <a:gd name="T5" fmla="*/ 0 h 195"/>
                <a:gd name="T6" fmla="*/ 5 w 812"/>
                <a:gd name="T7" fmla="*/ 52 h 195"/>
                <a:gd name="T8" fmla="*/ 812 w 812"/>
                <a:gd name="T9" fmla="*/ 195 h 19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12"/>
                <a:gd name="T16" fmla="*/ 0 h 195"/>
                <a:gd name="T17" fmla="*/ 812 w 812"/>
                <a:gd name="T18" fmla="*/ 195 h 19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12" h="195">
                  <a:moveTo>
                    <a:pt x="812" y="195"/>
                  </a:moveTo>
                  <a:lnTo>
                    <a:pt x="812" y="142"/>
                  </a:lnTo>
                  <a:lnTo>
                    <a:pt x="0" y="0"/>
                  </a:lnTo>
                  <a:lnTo>
                    <a:pt x="5" y="52"/>
                  </a:lnTo>
                  <a:lnTo>
                    <a:pt x="812" y="195"/>
                  </a:lnTo>
                  <a:close/>
                </a:path>
              </a:pathLst>
            </a:custGeom>
            <a:solidFill>
              <a:srgbClr val="34B3D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8643" name="Freeform 65"/>
            <p:cNvSpPr>
              <a:spLocks/>
            </p:cNvSpPr>
            <p:nvPr/>
          </p:nvSpPr>
          <p:spPr bwMode="auto">
            <a:xfrm>
              <a:off x="2820" y="1862"/>
              <a:ext cx="394" cy="309"/>
            </a:xfrm>
            <a:custGeom>
              <a:avLst/>
              <a:gdLst>
                <a:gd name="T0" fmla="*/ 0 w 394"/>
                <a:gd name="T1" fmla="*/ 309 h 309"/>
                <a:gd name="T2" fmla="*/ 0 w 394"/>
                <a:gd name="T3" fmla="*/ 256 h 309"/>
                <a:gd name="T4" fmla="*/ 389 w 394"/>
                <a:gd name="T5" fmla="*/ 0 h 309"/>
                <a:gd name="T6" fmla="*/ 394 w 394"/>
                <a:gd name="T7" fmla="*/ 47 h 309"/>
                <a:gd name="T8" fmla="*/ 0 w 394"/>
                <a:gd name="T9" fmla="*/ 309 h 30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94"/>
                <a:gd name="T16" fmla="*/ 0 h 309"/>
                <a:gd name="T17" fmla="*/ 394 w 394"/>
                <a:gd name="T18" fmla="*/ 309 h 30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94" h="309">
                  <a:moveTo>
                    <a:pt x="0" y="309"/>
                  </a:moveTo>
                  <a:lnTo>
                    <a:pt x="0" y="256"/>
                  </a:lnTo>
                  <a:lnTo>
                    <a:pt x="389" y="0"/>
                  </a:lnTo>
                  <a:lnTo>
                    <a:pt x="394" y="47"/>
                  </a:lnTo>
                  <a:lnTo>
                    <a:pt x="0" y="309"/>
                  </a:lnTo>
                  <a:close/>
                </a:path>
              </a:pathLst>
            </a:custGeom>
            <a:solidFill>
              <a:srgbClr val="00A0C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8644" name="Freeform 66"/>
            <p:cNvSpPr>
              <a:spLocks/>
            </p:cNvSpPr>
            <p:nvPr/>
          </p:nvSpPr>
          <p:spPr bwMode="auto">
            <a:xfrm>
              <a:off x="2008" y="1705"/>
              <a:ext cx="1201" cy="413"/>
            </a:xfrm>
            <a:custGeom>
              <a:avLst/>
              <a:gdLst>
                <a:gd name="T0" fmla="*/ 1201 w 1201"/>
                <a:gd name="T1" fmla="*/ 157 h 413"/>
                <a:gd name="T2" fmla="*/ 812 w 1201"/>
                <a:gd name="T3" fmla="*/ 413 h 413"/>
                <a:gd name="T4" fmla="*/ 0 w 1201"/>
                <a:gd name="T5" fmla="*/ 271 h 413"/>
                <a:gd name="T6" fmla="*/ 365 w 1201"/>
                <a:gd name="T7" fmla="*/ 0 h 413"/>
                <a:gd name="T8" fmla="*/ 1201 w 1201"/>
                <a:gd name="T9" fmla="*/ 157 h 41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01"/>
                <a:gd name="T16" fmla="*/ 0 h 413"/>
                <a:gd name="T17" fmla="*/ 1201 w 1201"/>
                <a:gd name="T18" fmla="*/ 413 h 41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01" h="413">
                  <a:moveTo>
                    <a:pt x="1201" y="157"/>
                  </a:moveTo>
                  <a:lnTo>
                    <a:pt x="812" y="413"/>
                  </a:lnTo>
                  <a:lnTo>
                    <a:pt x="0" y="271"/>
                  </a:lnTo>
                  <a:lnTo>
                    <a:pt x="365" y="0"/>
                  </a:lnTo>
                  <a:lnTo>
                    <a:pt x="1201" y="157"/>
                  </a:lnTo>
                  <a:close/>
                </a:path>
              </a:pathLst>
            </a:custGeom>
            <a:solidFill>
              <a:srgbClr val="80CFE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8645" name="Freeform 67"/>
            <p:cNvSpPr>
              <a:spLocks/>
            </p:cNvSpPr>
            <p:nvPr/>
          </p:nvSpPr>
          <p:spPr bwMode="auto">
            <a:xfrm>
              <a:off x="2568" y="1164"/>
              <a:ext cx="66" cy="764"/>
            </a:xfrm>
            <a:custGeom>
              <a:avLst/>
              <a:gdLst>
                <a:gd name="T0" fmla="*/ 66 w 66"/>
                <a:gd name="T1" fmla="*/ 5 h 764"/>
                <a:gd name="T2" fmla="*/ 66 w 66"/>
                <a:gd name="T3" fmla="*/ 5 h 764"/>
                <a:gd name="T4" fmla="*/ 66 w 66"/>
                <a:gd name="T5" fmla="*/ 10 h 764"/>
                <a:gd name="T6" fmla="*/ 57 w 66"/>
                <a:gd name="T7" fmla="*/ 10 h 764"/>
                <a:gd name="T8" fmla="*/ 33 w 66"/>
                <a:gd name="T9" fmla="*/ 14 h 764"/>
                <a:gd name="T10" fmla="*/ 33 w 66"/>
                <a:gd name="T11" fmla="*/ 14 h 764"/>
                <a:gd name="T12" fmla="*/ 9 w 66"/>
                <a:gd name="T13" fmla="*/ 10 h 764"/>
                <a:gd name="T14" fmla="*/ 5 w 66"/>
                <a:gd name="T15" fmla="*/ 5 h 764"/>
                <a:gd name="T16" fmla="*/ 0 w 66"/>
                <a:gd name="T17" fmla="*/ 0 h 764"/>
                <a:gd name="T18" fmla="*/ 0 w 66"/>
                <a:gd name="T19" fmla="*/ 750 h 764"/>
                <a:gd name="T20" fmla="*/ 0 w 66"/>
                <a:gd name="T21" fmla="*/ 750 h 764"/>
                <a:gd name="T22" fmla="*/ 5 w 66"/>
                <a:gd name="T23" fmla="*/ 755 h 764"/>
                <a:gd name="T24" fmla="*/ 9 w 66"/>
                <a:gd name="T25" fmla="*/ 760 h 764"/>
                <a:gd name="T26" fmla="*/ 33 w 66"/>
                <a:gd name="T27" fmla="*/ 764 h 764"/>
                <a:gd name="T28" fmla="*/ 33 w 66"/>
                <a:gd name="T29" fmla="*/ 764 h 764"/>
                <a:gd name="T30" fmla="*/ 57 w 66"/>
                <a:gd name="T31" fmla="*/ 760 h 764"/>
                <a:gd name="T32" fmla="*/ 66 w 66"/>
                <a:gd name="T33" fmla="*/ 755 h 764"/>
                <a:gd name="T34" fmla="*/ 66 w 66"/>
                <a:gd name="T35" fmla="*/ 755 h 764"/>
                <a:gd name="T36" fmla="*/ 66 w 66"/>
                <a:gd name="T37" fmla="*/ 5 h 764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66"/>
                <a:gd name="T58" fmla="*/ 0 h 764"/>
                <a:gd name="T59" fmla="*/ 66 w 66"/>
                <a:gd name="T60" fmla="*/ 764 h 764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66" h="764">
                  <a:moveTo>
                    <a:pt x="66" y="5"/>
                  </a:moveTo>
                  <a:lnTo>
                    <a:pt x="66" y="5"/>
                  </a:lnTo>
                  <a:lnTo>
                    <a:pt x="66" y="10"/>
                  </a:lnTo>
                  <a:lnTo>
                    <a:pt x="57" y="10"/>
                  </a:lnTo>
                  <a:lnTo>
                    <a:pt x="33" y="14"/>
                  </a:lnTo>
                  <a:lnTo>
                    <a:pt x="9" y="10"/>
                  </a:lnTo>
                  <a:lnTo>
                    <a:pt x="5" y="5"/>
                  </a:lnTo>
                  <a:lnTo>
                    <a:pt x="0" y="0"/>
                  </a:lnTo>
                  <a:lnTo>
                    <a:pt x="0" y="750"/>
                  </a:lnTo>
                  <a:lnTo>
                    <a:pt x="5" y="755"/>
                  </a:lnTo>
                  <a:lnTo>
                    <a:pt x="9" y="760"/>
                  </a:lnTo>
                  <a:lnTo>
                    <a:pt x="33" y="764"/>
                  </a:lnTo>
                  <a:lnTo>
                    <a:pt x="57" y="760"/>
                  </a:lnTo>
                  <a:lnTo>
                    <a:pt x="66" y="755"/>
                  </a:lnTo>
                  <a:lnTo>
                    <a:pt x="66" y="5"/>
                  </a:lnTo>
                  <a:close/>
                </a:path>
              </a:pathLst>
            </a:custGeom>
            <a:solidFill>
              <a:srgbClr val="34B3D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8646" name="Freeform 68"/>
            <p:cNvSpPr>
              <a:spLocks/>
            </p:cNvSpPr>
            <p:nvPr/>
          </p:nvSpPr>
          <p:spPr bwMode="auto">
            <a:xfrm>
              <a:off x="2568" y="1155"/>
              <a:ext cx="66" cy="23"/>
            </a:xfrm>
            <a:custGeom>
              <a:avLst/>
              <a:gdLst>
                <a:gd name="T0" fmla="*/ 33 w 66"/>
                <a:gd name="T1" fmla="*/ 23 h 23"/>
                <a:gd name="T2" fmla="*/ 33 w 66"/>
                <a:gd name="T3" fmla="*/ 23 h 23"/>
                <a:gd name="T4" fmla="*/ 9 w 66"/>
                <a:gd name="T5" fmla="*/ 19 h 23"/>
                <a:gd name="T6" fmla="*/ 5 w 66"/>
                <a:gd name="T7" fmla="*/ 14 h 23"/>
                <a:gd name="T8" fmla="*/ 0 w 66"/>
                <a:gd name="T9" fmla="*/ 9 h 23"/>
                <a:gd name="T10" fmla="*/ 0 w 66"/>
                <a:gd name="T11" fmla="*/ 9 h 23"/>
                <a:gd name="T12" fmla="*/ 5 w 66"/>
                <a:gd name="T13" fmla="*/ 4 h 23"/>
                <a:gd name="T14" fmla="*/ 9 w 66"/>
                <a:gd name="T15" fmla="*/ 4 h 23"/>
                <a:gd name="T16" fmla="*/ 33 w 66"/>
                <a:gd name="T17" fmla="*/ 0 h 23"/>
                <a:gd name="T18" fmla="*/ 33 w 66"/>
                <a:gd name="T19" fmla="*/ 0 h 23"/>
                <a:gd name="T20" fmla="*/ 57 w 66"/>
                <a:gd name="T21" fmla="*/ 4 h 23"/>
                <a:gd name="T22" fmla="*/ 66 w 66"/>
                <a:gd name="T23" fmla="*/ 9 h 23"/>
                <a:gd name="T24" fmla="*/ 66 w 66"/>
                <a:gd name="T25" fmla="*/ 9 h 23"/>
                <a:gd name="T26" fmla="*/ 66 w 66"/>
                <a:gd name="T27" fmla="*/ 9 h 23"/>
                <a:gd name="T28" fmla="*/ 66 w 66"/>
                <a:gd name="T29" fmla="*/ 14 h 23"/>
                <a:gd name="T30" fmla="*/ 57 w 66"/>
                <a:gd name="T31" fmla="*/ 19 h 23"/>
                <a:gd name="T32" fmla="*/ 33 w 66"/>
                <a:gd name="T33" fmla="*/ 23 h 23"/>
                <a:gd name="T34" fmla="*/ 33 w 66"/>
                <a:gd name="T35" fmla="*/ 23 h 23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66"/>
                <a:gd name="T55" fmla="*/ 0 h 23"/>
                <a:gd name="T56" fmla="*/ 66 w 66"/>
                <a:gd name="T57" fmla="*/ 23 h 23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66" h="23">
                  <a:moveTo>
                    <a:pt x="33" y="23"/>
                  </a:moveTo>
                  <a:lnTo>
                    <a:pt x="33" y="23"/>
                  </a:lnTo>
                  <a:lnTo>
                    <a:pt x="9" y="19"/>
                  </a:lnTo>
                  <a:lnTo>
                    <a:pt x="5" y="14"/>
                  </a:lnTo>
                  <a:lnTo>
                    <a:pt x="0" y="9"/>
                  </a:lnTo>
                  <a:lnTo>
                    <a:pt x="5" y="4"/>
                  </a:lnTo>
                  <a:lnTo>
                    <a:pt x="9" y="4"/>
                  </a:lnTo>
                  <a:lnTo>
                    <a:pt x="33" y="0"/>
                  </a:lnTo>
                  <a:lnTo>
                    <a:pt x="57" y="4"/>
                  </a:lnTo>
                  <a:lnTo>
                    <a:pt x="66" y="9"/>
                  </a:lnTo>
                  <a:lnTo>
                    <a:pt x="66" y="14"/>
                  </a:lnTo>
                  <a:lnTo>
                    <a:pt x="57" y="19"/>
                  </a:lnTo>
                  <a:lnTo>
                    <a:pt x="33" y="23"/>
                  </a:lnTo>
                  <a:close/>
                </a:path>
              </a:pathLst>
            </a:custGeom>
            <a:solidFill>
              <a:srgbClr val="80CFE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8612" name="Rectangle 69"/>
          <p:cNvSpPr>
            <a:spLocks noChangeArrowheads="1"/>
          </p:cNvSpPr>
          <p:nvPr/>
        </p:nvSpPr>
        <p:spPr bwMode="auto">
          <a:xfrm>
            <a:off x="4305300" y="2490788"/>
            <a:ext cx="127000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b="1">
                <a:solidFill>
                  <a:srgbClr val="000000"/>
                </a:solidFill>
              </a:rPr>
              <a:t>–</a:t>
            </a:r>
            <a:endParaRPr lang="en-US" b="1"/>
          </a:p>
        </p:txBody>
      </p:sp>
      <p:sp>
        <p:nvSpPr>
          <p:cNvPr id="68613" name="Rectangle 70"/>
          <p:cNvSpPr>
            <a:spLocks noChangeArrowheads="1"/>
          </p:cNvSpPr>
          <p:nvPr/>
        </p:nvSpPr>
        <p:spPr bwMode="auto">
          <a:xfrm>
            <a:off x="4298950" y="5521325"/>
            <a:ext cx="13335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b="1">
                <a:solidFill>
                  <a:srgbClr val="000000"/>
                </a:solidFill>
              </a:rPr>
              <a:t>+</a:t>
            </a:r>
            <a:endParaRPr lang="en-US" b="1"/>
          </a:p>
        </p:txBody>
      </p:sp>
      <p:grpSp>
        <p:nvGrpSpPr>
          <p:cNvPr id="4" name="Group 71"/>
          <p:cNvGrpSpPr>
            <a:grpSpLocks/>
          </p:cNvGrpSpPr>
          <p:nvPr/>
        </p:nvGrpSpPr>
        <p:grpSpPr bwMode="auto">
          <a:xfrm>
            <a:off x="3187700" y="4787900"/>
            <a:ext cx="1914525" cy="1544638"/>
            <a:chOff x="2008" y="3016"/>
            <a:chExt cx="1206" cy="973"/>
          </a:xfrm>
        </p:grpSpPr>
        <p:sp>
          <p:nvSpPr>
            <p:cNvPr id="68637" name="Freeform 72"/>
            <p:cNvSpPr>
              <a:spLocks/>
            </p:cNvSpPr>
            <p:nvPr/>
          </p:nvSpPr>
          <p:spPr bwMode="auto">
            <a:xfrm>
              <a:off x="2568" y="3225"/>
              <a:ext cx="66" cy="764"/>
            </a:xfrm>
            <a:custGeom>
              <a:avLst/>
              <a:gdLst>
                <a:gd name="T0" fmla="*/ 66 w 66"/>
                <a:gd name="T1" fmla="*/ 0 h 764"/>
                <a:gd name="T2" fmla="*/ 66 w 66"/>
                <a:gd name="T3" fmla="*/ 0 h 764"/>
                <a:gd name="T4" fmla="*/ 66 w 66"/>
                <a:gd name="T5" fmla="*/ 4 h 764"/>
                <a:gd name="T6" fmla="*/ 57 w 66"/>
                <a:gd name="T7" fmla="*/ 9 h 764"/>
                <a:gd name="T8" fmla="*/ 33 w 66"/>
                <a:gd name="T9" fmla="*/ 14 h 764"/>
                <a:gd name="T10" fmla="*/ 33 w 66"/>
                <a:gd name="T11" fmla="*/ 14 h 764"/>
                <a:gd name="T12" fmla="*/ 9 w 66"/>
                <a:gd name="T13" fmla="*/ 9 h 764"/>
                <a:gd name="T14" fmla="*/ 5 w 66"/>
                <a:gd name="T15" fmla="*/ 4 h 764"/>
                <a:gd name="T16" fmla="*/ 0 w 66"/>
                <a:gd name="T17" fmla="*/ 0 h 764"/>
                <a:gd name="T18" fmla="*/ 0 w 66"/>
                <a:gd name="T19" fmla="*/ 750 h 764"/>
                <a:gd name="T20" fmla="*/ 0 w 66"/>
                <a:gd name="T21" fmla="*/ 750 h 764"/>
                <a:gd name="T22" fmla="*/ 5 w 66"/>
                <a:gd name="T23" fmla="*/ 754 h 764"/>
                <a:gd name="T24" fmla="*/ 9 w 66"/>
                <a:gd name="T25" fmla="*/ 759 h 764"/>
                <a:gd name="T26" fmla="*/ 33 w 66"/>
                <a:gd name="T27" fmla="*/ 764 h 764"/>
                <a:gd name="T28" fmla="*/ 33 w 66"/>
                <a:gd name="T29" fmla="*/ 764 h 764"/>
                <a:gd name="T30" fmla="*/ 57 w 66"/>
                <a:gd name="T31" fmla="*/ 759 h 764"/>
                <a:gd name="T32" fmla="*/ 66 w 66"/>
                <a:gd name="T33" fmla="*/ 754 h 764"/>
                <a:gd name="T34" fmla="*/ 66 w 66"/>
                <a:gd name="T35" fmla="*/ 750 h 764"/>
                <a:gd name="T36" fmla="*/ 66 w 66"/>
                <a:gd name="T37" fmla="*/ 0 h 764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66"/>
                <a:gd name="T58" fmla="*/ 0 h 764"/>
                <a:gd name="T59" fmla="*/ 66 w 66"/>
                <a:gd name="T60" fmla="*/ 764 h 764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66" h="764">
                  <a:moveTo>
                    <a:pt x="66" y="0"/>
                  </a:moveTo>
                  <a:lnTo>
                    <a:pt x="66" y="0"/>
                  </a:lnTo>
                  <a:lnTo>
                    <a:pt x="66" y="4"/>
                  </a:lnTo>
                  <a:lnTo>
                    <a:pt x="57" y="9"/>
                  </a:lnTo>
                  <a:lnTo>
                    <a:pt x="33" y="14"/>
                  </a:lnTo>
                  <a:lnTo>
                    <a:pt x="9" y="9"/>
                  </a:lnTo>
                  <a:lnTo>
                    <a:pt x="5" y="4"/>
                  </a:lnTo>
                  <a:lnTo>
                    <a:pt x="0" y="0"/>
                  </a:lnTo>
                  <a:lnTo>
                    <a:pt x="0" y="750"/>
                  </a:lnTo>
                  <a:lnTo>
                    <a:pt x="5" y="754"/>
                  </a:lnTo>
                  <a:lnTo>
                    <a:pt x="9" y="759"/>
                  </a:lnTo>
                  <a:lnTo>
                    <a:pt x="33" y="764"/>
                  </a:lnTo>
                  <a:lnTo>
                    <a:pt x="57" y="759"/>
                  </a:lnTo>
                  <a:lnTo>
                    <a:pt x="66" y="754"/>
                  </a:lnTo>
                  <a:lnTo>
                    <a:pt x="66" y="750"/>
                  </a:lnTo>
                  <a:lnTo>
                    <a:pt x="66" y="0"/>
                  </a:lnTo>
                  <a:close/>
                </a:path>
              </a:pathLst>
            </a:custGeom>
            <a:solidFill>
              <a:srgbClr val="B62635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8638" name="Freeform 73"/>
            <p:cNvSpPr>
              <a:spLocks/>
            </p:cNvSpPr>
            <p:nvPr/>
          </p:nvSpPr>
          <p:spPr bwMode="auto">
            <a:xfrm>
              <a:off x="2568" y="3215"/>
              <a:ext cx="66" cy="19"/>
            </a:xfrm>
            <a:custGeom>
              <a:avLst/>
              <a:gdLst>
                <a:gd name="T0" fmla="*/ 33 w 66"/>
                <a:gd name="T1" fmla="*/ 19 h 19"/>
                <a:gd name="T2" fmla="*/ 33 w 66"/>
                <a:gd name="T3" fmla="*/ 19 h 19"/>
                <a:gd name="T4" fmla="*/ 9 w 66"/>
                <a:gd name="T5" fmla="*/ 19 h 19"/>
                <a:gd name="T6" fmla="*/ 5 w 66"/>
                <a:gd name="T7" fmla="*/ 14 h 19"/>
                <a:gd name="T8" fmla="*/ 0 w 66"/>
                <a:gd name="T9" fmla="*/ 10 h 19"/>
                <a:gd name="T10" fmla="*/ 0 w 66"/>
                <a:gd name="T11" fmla="*/ 10 h 19"/>
                <a:gd name="T12" fmla="*/ 5 w 66"/>
                <a:gd name="T13" fmla="*/ 5 h 19"/>
                <a:gd name="T14" fmla="*/ 9 w 66"/>
                <a:gd name="T15" fmla="*/ 0 h 19"/>
                <a:gd name="T16" fmla="*/ 33 w 66"/>
                <a:gd name="T17" fmla="*/ 0 h 19"/>
                <a:gd name="T18" fmla="*/ 33 w 66"/>
                <a:gd name="T19" fmla="*/ 0 h 19"/>
                <a:gd name="T20" fmla="*/ 57 w 66"/>
                <a:gd name="T21" fmla="*/ 5 h 19"/>
                <a:gd name="T22" fmla="*/ 66 w 66"/>
                <a:gd name="T23" fmla="*/ 5 h 19"/>
                <a:gd name="T24" fmla="*/ 66 w 66"/>
                <a:gd name="T25" fmla="*/ 10 h 19"/>
                <a:gd name="T26" fmla="*/ 66 w 66"/>
                <a:gd name="T27" fmla="*/ 10 h 19"/>
                <a:gd name="T28" fmla="*/ 66 w 66"/>
                <a:gd name="T29" fmla="*/ 14 h 19"/>
                <a:gd name="T30" fmla="*/ 57 w 66"/>
                <a:gd name="T31" fmla="*/ 19 h 19"/>
                <a:gd name="T32" fmla="*/ 33 w 66"/>
                <a:gd name="T33" fmla="*/ 19 h 19"/>
                <a:gd name="T34" fmla="*/ 33 w 66"/>
                <a:gd name="T35" fmla="*/ 19 h 19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66"/>
                <a:gd name="T55" fmla="*/ 0 h 19"/>
                <a:gd name="T56" fmla="*/ 66 w 66"/>
                <a:gd name="T57" fmla="*/ 19 h 19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66" h="19">
                  <a:moveTo>
                    <a:pt x="33" y="19"/>
                  </a:moveTo>
                  <a:lnTo>
                    <a:pt x="33" y="19"/>
                  </a:lnTo>
                  <a:lnTo>
                    <a:pt x="9" y="19"/>
                  </a:lnTo>
                  <a:lnTo>
                    <a:pt x="5" y="14"/>
                  </a:lnTo>
                  <a:lnTo>
                    <a:pt x="0" y="10"/>
                  </a:lnTo>
                  <a:lnTo>
                    <a:pt x="5" y="5"/>
                  </a:lnTo>
                  <a:lnTo>
                    <a:pt x="9" y="0"/>
                  </a:lnTo>
                  <a:lnTo>
                    <a:pt x="33" y="0"/>
                  </a:lnTo>
                  <a:lnTo>
                    <a:pt x="57" y="5"/>
                  </a:lnTo>
                  <a:lnTo>
                    <a:pt x="66" y="5"/>
                  </a:lnTo>
                  <a:lnTo>
                    <a:pt x="66" y="10"/>
                  </a:lnTo>
                  <a:lnTo>
                    <a:pt x="66" y="14"/>
                  </a:lnTo>
                  <a:lnTo>
                    <a:pt x="57" y="19"/>
                  </a:lnTo>
                  <a:lnTo>
                    <a:pt x="33" y="19"/>
                  </a:lnTo>
                  <a:close/>
                </a:path>
              </a:pathLst>
            </a:custGeom>
            <a:solidFill>
              <a:srgbClr val="E27488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8639" name="Freeform 74"/>
            <p:cNvSpPr>
              <a:spLocks/>
            </p:cNvSpPr>
            <p:nvPr/>
          </p:nvSpPr>
          <p:spPr bwMode="auto">
            <a:xfrm>
              <a:off x="2008" y="3286"/>
              <a:ext cx="812" cy="195"/>
            </a:xfrm>
            <a:custGeom>
              <a:avLst/>
              <a:gdLst>
                <a:gd name="T0" fmla="*/ 812 w 812"/>
                <a:gd name="T1" fmla="*/ 195 h 195"/>
                <a:gd name="T2" fmla="*/ 812 w 812"/>
                <a:gd name="T3" fmla="*/ 143 h 195"/>
                <a:gd name="T4" fmla="*/ 0 w 812"/>
                <a:gd name="T5" fmla="*/ 0 h 195"/>
                <a:gd name="T6" fmla="*/ 5 w 812"/>
                <a:gd name="T7" fmla="*/ 52 h 195"/>
                <a:gd name="T8" fmla="*/ 812 w 812"/>
                <a:gd name="T9" fmla="*/ 195 h 19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12"/>
                <a:gd name="T16" fmla="*/ 0 h 195"/>
                <a:gd name="T17" fmla="*/ 812 w 812"/>
                <a:gd name="T18" fmla="*/ 195 h 19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12" h="195">
                  <a:moveTo>
                    <a:pt x="812" y="195"/>
                  </a:moveTo>
                  <a:lnTo>
                    <a:pt x="812" y="143"/>
                  </a:lnTo>
                  <a:lnTo>
                    <a:pt x="0" y="0"/>
                  </a:lnTo>
                  <a:lnTo>
                    <a:pt x="5" y="52"/>
                  </a:lnTo>
                  <a:lnTo>
                    <a:pt x="812" y="195"/>
                  </a:lnTo>
                  <a:close/>
                </a:path>
              </a:pathLst>
            </a:custGeom>
            <a:solidFill>
              <a:srgbClr val="C75257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8640" name="Freeform 75"/>
            <p:cNvSpPr>
              <a:spLocks/>
            </p:cNvSpPr>
            <p:nvPr/>
          </p:nvSpPr>
          <p:spPr bwMode="auto">
            <a:xfrm>
              <a:off x="2820" y="3172"/>
              <a:ext cx="394" cy="309"/>
            </a:xfrm>
            <a:custGeom>
              <a:avLst/>
              <a:gdLst>
                <a:gd name="T0" fmla="*/ 0 w 394"/>
                <a:gd name="T1" fmla="*/ 309 h 309"/>
                <a:gd name="T2" fmla="*/ 0 w 394"/>
                <a:gd name="T3" fmla="*/ 257 h 309"/>
                <a:gd name="T4" fmla="*/ 389 w 394"/>
                <a:gd name="T5" fmla="*/ 0 h 309"/>
                <a:gd name="T6" fmla="*/ 394 w 394"/>
                <a:gd name="T7" fmla="*/ 48 h 309"/>
                <a:gd name="T8" fmla="*/ 0 w 394"/>
                <a:gd name="T9" fmla="*/ 309 h 30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94"/>
                <a:gd name="T16" fmla="*/ 0 h 309"/>
                <a:gd name="T17" fmla="*/ 394 w 394"/>
                <a:gd name="T18" fmla="*/ 309 h 30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94" h="309">
                  <a:moveTo>
                    <a:pt x="0" y="309"/>
                  </a:moveTo>
                  <a:lnTo>
                    <a:pt x="0" y="257"/>
                  </a:lnTo>
                  <a:lnTo>
                    <a:pt x="389" y="0"/>
                  </a:lnTo>
                  <a:lnTo>
                    <a:pt x="394" y="48"/>
                  </a:lnTo>
                  <a:lnTo>
                    <a:pt x="0" y="309"/>
                  </a:lnTo>
                  <a:close/>
                </a:path>
              </a:pathLst>
            </a:custGeom>
            <a:solidFill>
              <a:srgbClr val="A4001D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8641" name="Freeform 76"/>
            <p:cNvSpPr>
              <a:spLocks/>
            </p:cNvSpPr>
            <p:nvPr/>
          </p:nvSpPr>
          <p:spPr bwMode="auto">
            <a:xfrm>
              <a:off x="2008" y="3016"/>
              <a:ext cx="1201" cy="413"/>
            </a:xfrm>
            <a:custGeom>
              <a:avLst/>
              <a:gdLst>
                <a:gd name="T0" fmla="*/ 1201 w 1201"/>
                <a:gd name="T1" fmla="*/ 156 h 413"/>
                <a:gd name="T2" fmla="*/ 812 w 1201"/>
                <a:gd name="T3" fmla="*/ 413 h 413"/>
                <a:gd name="T4" fmla="*/ 0 w 1201"/>
                <a:gd name="T5" fmla="*/ 270 h 413"/>
                <a:gd name="T6" fmla="*/ 365 w 1201"/>
                <a:gd name="T7" fmla="*/ 0 h 413"/>
                <a:gd name="T8" fmla="*/ 1201 w 1201"/>
                <a:gd name="T9" fmla="*/ 156 h 41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01"/>
                <a:gd name="T16" fmla="*/ 0 h 413"/>
                <a:gd name="T17" fmla="*/ 1201 w 1201"/>
                <a:gd name="T18" fmla="*/ 413 h 41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01" h="413">
                  <a:moveTo>
                    <a:pt x="1201" y="156"/>
                  </a:moveTo>
                  <a:lnTo>
                    <a:pt x="812" y="413"/>
                  </a:lnTo>
                  <a:lnTo>
                    <a:pt x="0" y="270"/>
                  </a:lnTo>
                  <a:lnTo>
                    <a:pt x="365" y="0"/>
                  </a:lnTo>
                  <a:lnTo>
                    <a:pt x="1201" y="156"/>
                  </a:lnTo>
                  <a:close/>
                </a:path>
              </a:pathLst>
            </a:custGeom>
            <a:solidFill>
              <a:srgbClr val="D8858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8615" name="Rectangle 84"/>
          <p:cNvSpPr>
            <a:spLocks noChangeArrowheads="1"/>
          </p:cNvSpPr>
          <p:nvPr/>
        </p:nvSpPr>
        <p:spPr bwMode="auto">
          <a:xfrm>
            <a:off x="2338388" y="4764088"/>
            <a:ext cx="309562" cy="388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 i="1">
                <a:latin typeface="Symbol" pitchFamily="18" charset="2"/>
              </a:rPr>
              <a:t>b</a:t>
            </a:r>
          </a:p>
        </p:txBody>
      </p:sp>
      <p:grpSp>
        <p:nvGrpSpPr>
          <p:cNvPr id="5" name="Group 106"/>
          <p:cNvGrpSpPr>
            <a:grpSpLocks/>
          </p:cNvGrpSpPr>
          <p:nvPr/>
        </p:nvGrpSpPr>
        <p:grpSpPr bwMode="auto">
          <a:xfrm>
            <a:off x="1744663" y="4100513"/>
            <a:ext cx="4500562" cy="1182687"/>
            <a:chOff x="1099" y="2583"/>
            <a:chExt cx="2835" cy="745"/>
          </a:xfrm>
        </p:grpSpPr>
        <p:grpSp>
          <p:nvGrpSpPr>
            <p:cNvPr id="6" name="Group 81"/>
            <p:cNvGrpSpPr>
              <a:grpSpLocks/>
            </p:cNvGrpSpPr>
            <p:nvPr/>
          </p:nvGrpSpPr>
          <p:grpSpPr bwMode="auto">
            <a:xfrm>
              <a:off x="1099" y="2583"/>
              <a:ext cx="1906" cy="745"/>
              <a:chOff x="1099" y="2579"/>
              <a:chExt cx="1906" cy="745"/>
            </a:xfrm>
          </p:grpSpPr>
          <p:sp>
            <p:nvSpPr>
              <p:cNvPr id="68635" name="Freeform 82"/>
              <p:cNvSpPr>
                <a:spLocks/>
              </p:cNvSpPr>
              <p:nvPr/>
            </p:nvSpPr>
            <p:spPr bwMode="auto">
              <a:xfrm>
                <a:off x="1243" y="2579"/>
                <a:ext cx="1762" cy="627"/>
              </a:xfrm>
              <a:custGeom>
                <a:avLst/>
                <a:gdLst>
                  <a:gd name="T0" fmla="*/ 0 w 1762"/>
                  <a:gd name="T1" fmla="*/ 627 h 627"/>
                  <a:gd name="T2" fmla="*/ 0 w 1762"/>
                  <a:gd name="T3" fmla="*/ 627 h 627"/>
                  <a:gd name="T4" fmla="*/ 105 w 1762"/>
                  <a:gd name="T5" fmla="*/ 551 h 627"/>
                  <a:gd name="T6" fmla="*/ 219 w 1762"/>
                  <a:gd name="T7" fmla="*/ 475 h 627"/>
                  <a:gd name="T8" fmla="*/ 333 w 1762"/>
                  <a:gd name="T9" fmla="*/ 403 h 627"/>
                  <a:gd name="T10" fmla="*/ 451 w 1762"/>
                  <a:gd name="T11" fmla="*/ 337 h 627"/>
                  <a:gd name="T12" fmla="*/ 570 w 1762"/>
                  <a:gd name="T13" fmla="*/ 280 h 627"/>
                  <a:gd name="T14" fmla="*/ 694 w 1762"/>
                  <a:gd name="T15" fmla="*/ 223 h 627"/>
                  <a:gd name="T16" fmla="*/ 812 w 1762"/>
                  <a:gd name="T17" fmla="*/ 176 h 627"/>
                  <a:gd name="T18" fmla="*/ 931 w 1762"/>
                  <a:gd name="T19" fmla="*/ 128 h 627"/>
                  <a:gd name="T20" fmla="*/ 1050 w 1762"/>
                  <a:gd name="T21" fmla="*/ 90 h 627"/>
                  <a:gd name="T22" fmla="*/ 1164 w 1762"/>
                  <a:gd name="T23" fmla="*/ 62 h 627"/>
                  <a:gd name="T24" fmla="*/ 1277 w 1762"/>
                  <a:gd name="T25" fmla="*/ 33 h 627"/>
                  <a:gd name="T26" fmla="*/ 1387 w 1762"/>
                  <a:gd name="T27" fmla="*/ 14 h 627"/>
                  <a:gd name="T28" fmla="*/ 1491 w 1762"/>
                  <a:gd name="T29" fmla="*/ 5 h 627"/>
                  <a:gd name="T30" fmla="*/ 1586 w 1762"/>
                  <a:gd name="T31" fmla="*/ 0 h 627"/>
                  <a:gd name="T32" fmla="*/ 1676 w 1762"/>
                  <a:gd name="T33" fmla="*/ 0 h 627"/>
                  <a:gd name="T34" fmla="*/ 1762 w 1762"/>
                  <a:gd name="T35" fmla="*/ 9 h 627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762"/>
                  <a:gd name="T55" fmla="*/ 0 h 627"/>
                  <a:gd name="T56" fmla="*/ 1762 w 1762"/>
                  <a:gd name="T57" fmla="*/ 627 h 627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762" h="627">
                    <a:moveTo>
                      <a:pt x="0" y="627"/>
                    </a:moveTo>
                    <a:lnTo>
                      <a:pt x="0" y="627"/>
                    </a:lnTo>
                    <a:lnTo>
                      <a:pt x="105" y="551"/>
                    </a:lnTo>
                    <a:lnTo>
                      <a:pt x="219" y="475"/>
                    </a:lnTo>
                    <a:lnTo>
                      <a:pt x="333" y="403"/>
                    </a:lnTo>
                    <a:lnTo>
                      <a:pt x="451" y="337"/>
                    </a:lnTo>
                    <a:lnTo>
                      <a:pt x="570" y="280"/>
                    </a:lnTo>
                    <a:lnTo>
                      <a:pt x="694" y="223"/>
                    </a:lnTo>
                    <a:lnTo>
                      <a:pt x="812" y="176"/>
                    </a:lnTo>
                    <a:lnTo>
                      <a:pt x="931" y="128"/>
                    </a:lnTo>
                    <a:lnTo>
                      <a:pt x="1050" y="90"/>
                    </a:lnTo>
                    <a:lnTo>
                      <a:pt x="1164" y="62"/>
                    </a:lnTo>
                    <a:lnTo>
                      <a:pt x="1277" y="33"/>
                    </a:lnTo>
                    <a:lnTo>
                      <a:pt x="1387" y="14"/>
                    </a:lnTo>
                    <a:lnTo>
                      <a:pt x="1491" y="5"/>
                    </a:lnTo>
                    <a:lnTo>
                      <a:pt x="1586" y="0"/>
                    </a:lnTo>
                    <a:lnTo>
                      <a:pt x="1676" y="0"/>
                    </a:lnTo>
                    <a:lnTo>
                      <a:pt x="1762" y="9"/>
                    </a:lnTo>
                  </a:path>
                </a:pathLst>
              </a:custGeom>
              <a:noFill/>
              <a:ln w="90488">
                <a:solidFill>
                  <a:srgbClr val="FF33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8636" name="Freeform 83"/>
              <p:cNvSpPr>
                <a:spLocks/>
              </p:cNvSpPr>
              <p:nvPr/>
            </p:nvSpPr>
            <p:spPr bwMode="auto">
              <a:xfrm>
                <a:off x="1099" y="3125"/>
                <a:ext cx="237" cy="199"/>
              </a:xfrm>
              <a:custGeom>
                <a:avLst/>
                <a:gdLst>
                  <a:gd name="T0" fmla="*/ 237 w 237"/>
                  <a:gd name="T1" fmla="*/ 128 h 199"/>
                  <a:gd name="T2" fmla="*/ 0 w 237"/>
                  <a:gd name="T3" fmla="*/ 199 h 199"/>
                  <a:gd name="T4" fmla="*/ 147 w 237"/>
                  <a:gd name="T5" fmla="*/ 0 h 199"/>
                  <a:gd name="T6" fmla="*/ 161 w 237"/>
                  <a:gd name="T7" fmla="*/ 85 h 199"/>
                  <a:gd name="T8" fmla="*/ 237 w 237"/>
                  <a:gd name="T9" fmla="*/ 128 h 19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37"/>
                  <a:gd name="T16" fmla="*/ 0 h 199"/>
                  <a:gd name="T17" fmla="*/ 237 w 237"/>
                  <a:gd name="T18" fmla="*/ 199 h 19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37" h="199">
                    <a:moveTo>
                      <a:pt x="237" y="128"/>
                    </a:moveTo>
                    <a:lnTo>
                      <a:pt x="0" y="199"/>
                    </a:lnTo>
                    <a:lnTo>
                      <a:pt x="147" y="0"/>
                    </a:lnTo>
                    <a:lnTo>
                      <a:pt x="161" y="85"/>
                    </a:lnTo>
                    <a:lnTo>
                      <a:pt x="237" y="128"/>
                    </a:lnTo>
                    <a:close/>
                  </a:path>
                </a:pathLst>
              </a:custGeom>
              <a:solidFill>
                <a:srgbClr val="FF33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68634" name="Line 87"/>
            <p:cNvSpPr>
              <a:spLocks noChangeShapeType="1"/>
            </p:cNvSpPr>
            <p:nvPr/>
          </p:nvSpPr>
          <p:spPr bwMode="auto">
            <a:xfrm flipH="1" flipV="1">
              <a:off x="2989" y="2588"/>
              <a:ext cx="945" cy="160"/>
            </a:xfrm>
            <a:prstGeom prst="line">
              <a:avLst/>
            </a:prstGeom>
            <a:noFill/>
            <a:ln w="90488">
              <a:solidFill>
                <a:srgbClr val="E8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89"/>
          <p:cNvGrpSpPr>
            <a:grpSpLocks/>
          </p:cNvGrpSpPr>
          <p:nvPr/>
        </p:nvGrpSpPr>
        <p:grpSpPr bwMode="auto">
          <a:xfrm>
            <a:off x="6232525" y="3740150"/>
            <a:ext cx="1906588" cy="1679575"/>
            <a:chOff x="3926" y="2356"/>
            <a:chExt cx="1201" cy="1058"/>
          </a:xfrm>
        </p:grpSpPr>
        <p:sp>
          <p:nvSpPr>
            <p:cNvPr id="68627" name="Freeform 90"/>
            <p:cNvSpPr>
              <a:spLocks/>
            </p:cNvSpPr>
            <p:nvPr/>
          </p:nvSpPr>
          <p:spPr bwMode="auto">
            <a:xfrm>
              <a:off x="3940" y="2512"/>
              <a:ext cx="783" cy="637"/>
            </a:xfrm>
            <a:custGeom>
              <a:avLst/>
              <a:gdLst>
                <a:gd name="T0" fmla="*/ 783 w 783"/>
                <a:gd name="T1" fmla="*/ 0 h 637"/>
                <a:gd name="T2" fmla="*/ 171 w 783"/>
                <a:gd name="T3" fmla="*/ 0 h 637"/>
                <a:gd name="T4" fmla="*/ 0 w 783"/>
                <a:gd name="T5" fmla="*/ 133 h 637"/>
                <a:gd name="T6" fmla="*/ 5 w 783"/>
                <a:gd name="T7" fmla="*/ 637 h 637"/>
                <a:gd name="T8" fmla="*/ 783 w 783"/>
                <a:gd name="T9" fmla="*/ 637 h 637"/>
                <a:gd name="T10" fmla="*/ 783 w 783"/>
                <a:gd name="T11" fmla="*/ 0 h 63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783"/>
                <a:gd name="T19" fmla="*/ 0 h 637"/>
                <a:gd name="T20" fmla="*/ 783 w 783"/>
                <a:gd name="T21" fmla="*/ 637 h 637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783" h="637">
                  <a:moveTo>
                    <a:pt x="783" y="0"/>
                  </a:moveTo>
                  <a:lnTo>
                    <a:pt x="171" y="0"/>
                  </a:lnTo>
                  <a:lnTo>
                    <a:pt x="0" y="133"/>
                  </a:lnTo>
                  <a:lnTo>
                    <a:pt x="5" y="637"/>
                  </a:lnTo>
                  <a:lnTo>
                    <a:pt x="783" y="637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8628" name="Freeform 91"/>
            <p:cNvSpPr>
              <a:spLocks/>
            </p:cNvSpPr>
            <p:nvPr/>
          </p:nvSpPr>
          <p:spPr bwMode="auto">
            <a:xfrm>
              <a:off x="4733" y="2498"/>
              <a:ext cx="394" cy="916"/>
            </a:xfrm>
            <a:custGeom>
              <a:avLst/>
              <a:gdLst>
                <a:gd name="T0" fmla="*/ 0 w 394"/>
                <a:gd name="T1" fmla="*/ 916 h 916"/>
                <a:gd name="T2" fmla="*/ 0 w 394"/>
                <a:gd name="T3" fmla="*/ 261 h 916"/>
                <a:gd name="T4" fmla="*/ 394 w 394"/>
                <a:gd name="T5" fmla="*/ 0 h 916"/>
                <a:gd name="T6" fmla="*/ 394 w 394"/>
                <a:gd name="T7" fmla="*/ 655 h 916"/>
                <a:gd name="T8" fmla="*/ 0 w 394"/>
                <a:gd name="T9" fmla="*/ 916 h 9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94"/>
                <a:gd name="T16" fmla="*/ 0 h 916"/>
                <a:gd name="T17" fmla="*/ 394 w 394"/>
                <a:gd name="T18" fmla="*/ 916 h 91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94" h="916">
                  <a:moveTo>
                    <a:pt x="0" y="916"/>
                  </a:moveTo>
                  <a:lnTo>
                    <a:pt x="0" y="261"/>
                  </a:lnTo>
                  <a:lnTo>
                    <a:pt x="394" y="0"/>
                  </a:lnTo>
                  <a:lnTo>
                    <a:pt x="394" y="655"/>
                  </a:lnTo>
                  <a:lnTo>
                    <a:pt x="0" y="916"/>
                  </a:lnTo>
                  <a:close/>
                </a:path>
              </a:pathLst>
            </a:custGeom>
            <a:solidFill>
              <a:srgbClr val="66666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8629" name="Freeform 92"/>
            <p:cNvSpPr>
              <a:spLocks/>
            </p:cNvSpPr>
            <p:nvPr/>
          </p:nvSpPr>
          <p:spPr bwMode="auto">
            <a:xfrm>
              <a:off x="3926" y="2356"/>
              <a:ext cx="1201" cy="403"/>
            </a:xfrm>
            <a:custGeom>
              <a:avLst/>
              <a:gdLst>
                <a:gd name="T0" fmla="*/ 807 w 1201"/>
                <a:gd name="T1" fmla="*/ 403 h 403"/>
                <a:gd name="T2" fmla="*/ 655 w 1201"/>
                <a:gd name="T3" fmla="*/ 375 h 403"/>
                <a:gd name="T4" fmla="*/ 669 w 1201"/>
                <a:gd name="T5" fmla="*/ 275 h 403"/>
                <a:gd name="T6" fmla="*/ 370 w 1201"/>
                <a:gd name="T7" fmla="*/ 270 h 403"/>
                <a:gd name="T8" fmla="*/ 275 w 1201"/>
                <a:gd name="T9" fmla="*/ 185 h 403"/>
                <a:gd name="T10" fmla="*/ 76 w 1201"/>
                <a:gd name="T11" fmla="*/ 280 h 403"/>
                <a:gd name="T12" fmla="*/ 0 w 1201"/>
                <a:gd name="T13" fmla="*/ 261 h 403"/>
                <a:gd name="T14" fmla="*/ 398 w 1201"/>
                <a:gd name="T15" fmla="*/ 0 h 403"/>
                <a:gd name="T16" fmla="*/ 1201 w 1201"/>
                <a:gd name="T17" fmla="*/ 142 h 403"/>
                <a:gd name="T18" fmla="*/ 807 w 1201"/>
                <a:gd name="T19" fmla="*/ 403 h 403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201"/>
                <a:gd name="T31" fmla="*/ 0 h 403"/>
                <a:gd name="T32" fmla="*/ 1201 w 1201"/>
                <a:gd name="T33" fmla="*/ 403 h 403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201" h="403">
                  <a:moveTo>
                    <a:pt x="807" y="403"/>
                  </a:moveTo>
                  <a:lnTo>
                    <a:pt x="655" y="375"/>
                  </a:lnTo>
                  <a:lnTo>
                    <a:pt x="669" y="275"/>
                  </a:lnTo>
                  <a:lnTo>
                    <a:pt x="370" y="270"/>
                  </a:lnTo>
                  <a:lnTo>
                    <a:pt x="275" y="185"/>
                  </a:lnTo>
                  <a:lnTo>
                    <a:pt x="76" y="280"/>
                  </a:lnTo>
                  <a:lnTo>
                    <a:pt x="0" y="261"/>
                  </a:lnTo>
                  <a:lnTo>
                    <a:pt x="398" y="0"/>
                  </a:lnTo>
                  <a:lnTo>
                    <a:pt x="1201" y="142"/>
                  </a:lnTo>
                  <a:lnTo>
                    <a:pt x="807" y="403"/>
                  </a:lnTo>
                  <a:close/>
                </a:path>
              </a:pathLst>
            </a:custGeom>
            <a:solidFill>
              <a:srgbClr val="8C8C87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8630" name="Freeform 93"/>
            <p:cNvSpPr>
              <a:spLocks/>
            </p:cNvSpPr>
            <p:nvPr/>
          </p:nvSpPr>
          <p:spPr bwMode="auto">
            <a:xfrm>
              <a:off x="3926" y="2617"/>
              <a:ext cx="807" cy="797"/>
            </a:xfrm>
            <a:custGeom>
              <a:avLst/>
              <a:gdLst>
                <a:gd name="T0" fmla="*/ 807 w 807"/>
                <a:gd name="T1" fmla="*/ 142 h 797"/>
                <a:gd name="T2" fmla="*/ 655 w 807"/>
                <a:gd name="T3" fmla="*/ 114 h 797"/>
                <a:gd name="T4" fmla="*/ 755 w 807"/>
                <a:gd name="T5" fmla="*/ 342 h 797"/>
                <a:gd name="T6" fmla="*/ 569 w 807"/>
                <a:gd name="T7" fmla="*/ 517 h 797"/>
                <a:gd name="T8" fmla="*/ 403 w 807"/>
                <a:gd name="T9" fmla="*/ 446 h 797"/>
                <a:gd name="T10" fmla="*/ 123 w 807"/>
                <a:gd name="T11" fmla="*/ 456 h 797"/>
                <a:gd name="T12" fmla="*/ 114 w 807"/>
                <a:gd name="T13" fmla="*/ 194 h 797"/>
                <a:gd name="T14" fmla="*/ 76 w 807"/>
                <a:gd name="T15" fmla="*/ 19 h 797"/>
                <a:gd name="T16" fmla="*/ 0 w 807"/>
                <a:gd name="T17" fmla="*/ 0 h 797"/>
                <a:gd name="T18" fmla="*/ 0 w 807"/>
                <a:gd name="T19" fmla="*/ 655 h 797"/>
                <a:gd name="T20" fmla="*/ 807 w 807"/>
                <a:gd name="T21" fmla="*/ 797 h 797"/>
                <a:gd name="T22" fmla="*/ 807 w 807"/>
                <a:gd name="T23" fmla="*/ 142 h 797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807"/>
                <a:gd name="T37" fmla="*/ 0 h 797"/>
                <a:gd name="T38" fmla="*/ 807 w 807"/>
                <a:gd name="T39" fmla="*/ 797 h 797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807" h="797">
                  <a:moveTo>
                    <a:pt x="807" y="142"/>
                  </a:moveTo>
                  <a:lnTo>
                    <a:pt x="655" y="114"/>
                  </a:lnTo>
                  <a:lnTo>
                    <a:pt x="755" y="342"/>
                  </a:lnTo>
                  <a:lnTo>
                    <a:pt x="569" y="517"/>
                  </a:lnTo>
                  <a:lnTo>
                    <a:pt x="403" y="446"/>
                  </a:lnTo>
                  <a:lnTo>
                    <a:pt x="123" y="456"/>
                  </a:lnTo>
                  <a:lnTo>
                    <a:pt x="114" y="194"/>
                  </a:lnTo>
                  <a:lnTo>
                    <a:pt x="76" y="19"/>
                  </a:lnTo>
                  <a:lnTo>
                    <a:pt x="0" y="0"/>
                  </a:lnTo>
                  <a:lnTo>
                    <a:pt x="0" y="655"/>
                  </a:lnTo>
                  <a:lnTo>
                    <a:pt x="807" y="797"/>
                  </a:lnTo>
                  <a:lnTo>
                    <a:pt x="807" y="142"/>
                  </a:lnTo>
                  <a:close/>
                </a:path>
              </a:pathLst>
            </a:custGeom>
            <a:solidFill>
              <a:srgbClr val="53534E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8631" name="Freeform 94"/>
            <p:cNvSpPr>
              <a:spLocks/>
            </p:cNvSpPr>
            <p:nvPr/>
          </p:nvSpPr>
          <p:spPr bwMode="auto">
            <a:xfrm>
              <a:off x="4002" y="2541"/>
              <a:ext cx="593" cy="119"/>
            </a:xfrm>
            <a:custGeom>
              <a:avLst/>
              <a:gdLst>
                <a:gd name="T0" fmla="*/ 593 w 593"/>
                <a:gd name="T1" fmla="*/ 90 h 119"/>
                <a:gd name="T2" fmla="*/ 294 w 593"/>
                <a:gd name="T3" fmla="*/ 85 h 119"/>
                <a:gd name="T4" fmla="*/ 199 w 593"/>
                <a:gd name="T5" fmla="*/ 0 h 119"/>
                <a:gd name="T6" fmla="*/ 0 w 593"/>
                <a:gd name="T7" fmla="*/ 95 h 119"/>
                <a:gd name="T8" fmla="*/ 28 w 593"/>
                <a:gd name="T9" fmla="*/ 114 h 119"/>
                <a:gd name="T10" fmla="*/ 199 w 593"/>
                <a:gd name="T11" fmla="*/ 28 h 119"/>
                <a:gd name="T12" fmla="*/ 294 w 593"/>
                <a:gd name="T13" fmla="*/ 114 h 119"/>
                <a:gd name="T14" fmla="*/ 588 w 593"/>
                <a:gd name="T15" fmla="*/ 119 h 119"/>
                <a:gd name="T16" fmla="*/ 593 w 593"/>
                <a:gd name="T17" fmla="*/ 90 h 11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593"/>
                <a:gd name="T28" fmla="*/ 0 h 119"/>
                <a:gd name="T29" fmla="*/ 593 w 593"/>
                <a:gd name="T30" fmla="*/ 119 h 119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593" h="119">
                  <a:moveTo>
                    <a:pt x="593" y="90"/>
                  </a:moveTo>
                  <a:lnTo>
                    <a:pt x="294" y="85"/>
                  </a:lnTo>
                  <a:lnTo>
                    <a:pt x="199" y="0"/>
                  </a:lnTo>
                  <a:lnTo>
                    <a:pt x="0" y="95"/>
                  </a:lnTo>
                  <a:lnTo>
                    <a:pt x="28" y="114"/>
                  </a:lnTo>
                  <a:lnTo>
                    <a:pt x="199" y="28"/>
                  </a:lnTo>
                  <a:lnTo>
                    <a:pt x="294" y="114"/>
                  </a:lnTo>
                  <a:lnTo>
                    <a:pt x="588" y="119"/>
                  </a:lnTo>
                  <a:lnTo>
                    <a:pt x="593" y="90"/>
                  </a:lnTo>
                  <a:close/>
                </a:path>
              </a:pathLst>
            </a:custGeom>
            <a:solidFill>
              <a:srgbClr val="1A1A18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8632" name="Freeform 95"/>
            <p:cNvSpPr>
              <a:spLocks/>
            </p:cNvSpPr>
            <p:nvPr/>
          </p:nvSpPr>
          <p:spPr bwMode="auto">
            <a:xfrm>
              <a:off x="4002" y="2636"/>
              <a:ext cx="512" cy="498"/>
            </a:xfrm>
            <a:custGeom>
              <a:avLst/>
              <a:gdLst>
                <a:gd name="T0" fmla="*/ 0 w 512"/>
                <a:gd name="T1" fmla="*/ 0 h 498"/>
                <a:gd name="T2" fmla="*/ 38 w 512"/>
                <a:gd name="T3" fmla="*/ 175 h 498"/>
                <a:gd name="T4" fmla="*/ 47 w 512"/>
                <a:gd name="T5" fmla="*/ 437 h 498"/>
                <a:gd name="T6" fmla="*/ 327 w 512"/>
                <a:gd name="T7" fmla="*/ 427 h 498"/>
                <a:gd name="T8" fmla="*/ 493 w 512"/>
                <a:gd name="T9" fmla="*/ 498 h 498"/>
                <a:gd name="T10" fmla="*/ 512 w 512"/>
                <a:gd name="T11" fmla="*/ 475 h 498"/>
                <a:gd name="T12" fmla="*/ 356 w 512"/>
                <a:gd name="T13" fmla="*/ 399 h 498"/>
                <a:gd name="T14" fmla="*/ 76 w 512"/>
                <a:gd name="T15" fmla="*/ 408 h 498"/>
                <a:gd name="T16" fmla="*/ 71 w 512"/>
                <a:gd name="T17" fmla="*/ 161 h 498"/>
                <a:gd name="T18" fmla="*/ 28 w 512"/>
                <a:gd name="T19" fmla="*/ 19 h 498"/>
                <a:gd name="T20" fmla="*/ 0 w 512"/>
                <a:gd name="T21" fmla="*/ 0 h 498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512"/>
                <a:gd name="T34" fmla="*/ 0 h 498"/>
                <a:gd name="T35" fmla="*/ 512 w 512"/>
                <a:gd name="T36" fmla="*/ 498 h 498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512" h="498">
                  <a:moveTo>
                    <a:pt x="0" y="0"/>
                  </a:moveTo>
                  <a:lnTo>
                    <a:pt x="38" y="175"/>
                  </a:lnTo>
                  <a:lnTo>
                    <a:pt x="47" y="437"/>
                  </a:lnTo>
                  <a:lnTo>
                    <a:pt x="327" y="427"/>
                  </a:lnTo>
                  <a:lnTo>
                    <a:pt x="493" y="498"/>
                  </a:lnTo>
                  <a:lnTo>
                    <a:pt x="512" y="475"/>
                  </a:lnTo>
                  <a:lnTo>
                    <a:pt x="356" y="399"/>
                  </a:lnTo>
                  <a:lnTo>
                    <a:pt x="76" y="408"/>
                  </a:lnTo>
                  <a:lnTo>
                    <a:pt x="71" y="161"/>
                  </a:lnTo>
                  <a:lnTo>
                    <a:pt x="28" y="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0403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96"/>
          <p:cNvGrpSpPr>
            <a:grpSpLocks/>
          </p:cNvGrpSpPr>
          <p:nvPr/>
        </p:nvGrpSpPr>
        <p:grpSpPr bwMode="auto">
          <a:xfrm>
            <a:off x="7064375" y="3070225"/>
            <a:ext cx="1193800" cy="971550"/>
            <a:chOff x="4450" y="1934"/>
            <a:chExt cx="752" cy="612"/>
          </a:xfrm>
        </p:grpSpPr>
        <p:sp>
          <p:nvSpPr>
            <p:cNvPr id="68625" name="Rectangle 97"/>
            <p:cNvSpPr>
              <a:spLocks noChangeArrowheads="1"/>
            </p:cNvSpPr>
            <p:nvPr/>
          </p:nvSpPr>
          <p:spPr bwMode="auto">
            <a:xfrm>
              <a:off x="4450" y="1934"/>
              <a:ext cx="752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b="1">
                  <a:solidFill>
                    <a:srgbClr val="000000"/>
                  </a:solidFill>
                </a:rPr>
                <a:t>Lead block</a:t>
              </a:r>
              <a:endParaRPr lang="en-US" b="1"/>
            </a:p>
          </p:txBody>
        </p:sp>
        <p:sp>
          <p:nvSpPr>
            <p:cNvPr id="68626" name="Line 98"/>
            <p:cNvSpPr>
              <a:spLocks noChangeShapeType="1"/>
            </p:cNvSpPr>
            <p:nvPr/>
          </p:nvSpPr>
          <p:spPr bwMode="auto">
            <a:xfrm flipV="1">
              <a:off x="4666" y="2104"/>
              <a:ext cx="100" cy="442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8619" name="Freeform 100"/>
          <p:cNvSpPr>
            <a:spLocks/>
          </p:cNvSpPr>
          <p:nvPr/>
        </p:nvSpPr>
        <p:spPr bwMode="auto">
          <a:xfrm>
            <a:off x="6596063" y="4378325"/>
            <a:ext cx="307975" cy="165100"/>
          </a:xfrm>
          <a:custGeom>
            <a:avLst/>
            <a:gdLst>
              <a:gd name="T0" fmla="*/ 285750 w 194"/>
              <a:gd name="T1" fmla="*/ 165100 h 104"/>
              <a:gd name="T2" fmla="*/ 22225 w 194"/>
              <a:gd name="T3" fmla="*/ 127000 h 104"/>
              <a:gd name="T4" fmla="*/ 22225 w 194"/>
              <a:gd name="T5" fmla="*/ 127000 h 104"/>
              <a:gd name="T6" fmla="*/ 6350 w 194"/>
              <a:gd name="T7" fmla="*/ 119063 h 104"/>
              <a:gd name="T8" fmla="*/ 6350 w 194"/>
              <a:gd name="T9" fmla="*/ 104775 h 104"/>
              <a:gd name="T10" fmla="*/ 0 w 194"/>
              <a:gd name="T11" fmla="*/ 82550 h 104"/>
              <a:gd name="T12" fmla="*/ 0 w 194"/>
              <a:gd name="T13" fmla="*/ 60325 h 104"/>
              <a:gd name="T14" fmla="*/ 0 w 194"/>
              <a:gd name="T15" fmla="*/ 60325 h 104"/>
              <a:gd name="T16" fmla="*/ 6350 w 194"/>
              <a:gd name="T17" fmla="*/ 36513 h 104"/>
              <a:gd name="T18" fmla="*/ 14288 w 194"/>
              <a:gd name="T19" fmla="*/ 14288 h 104"/>
              <a:gd name="T20" fmla="*/ 30163 w 194"/>
              <a:gd name="T21" fmla="*/ 6350 h 104"/>
              <a:gd name="T22" fmla="*/ 44450 w 194"/>
              <a:gd name="T23" fmla="*/ 0 h 104"/>
              <a:gd name="T24" fmla="*/ 307975 w 194"/>
              <a:gd name="T25" fmla="*/ 44450 h 104"/>
              <a:gd name="T26" fmla="*/ 285750 w 194"/>
              <a:gd name="T27" fmla="*/ 165100 h 104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w 194"/>
              <a:gd name="T43" fmla="*/ 0 h 104"/>
              <a:gd name="T44" fmla="*/ 194 w 194"/>
              <a:gd name="T45" fmla="*/ 104 h 104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T42" t="T43" r="T44" b="T45"/>
            <a:pathLst>
              <a:path w="194" h="104">
                <a:moveTo>
                  <a:pt x="180" y="104"/>
                </a:moveTo>
                <a:lnTo>
                  <a:pt x="14" y="80"/>
                </a:lnTo>
                <a:lnTo>
                  <a:pt x="4" y="75"/>
                </a:lnTo>
                <a:lnTo>
                  <a:pt x="4" y="66"/>
                </a:lnTo>
                <a:lnTo>
                  <a:pt x="0" y="52"/>
                </a:lnTo>
                <a:lnTo>
                  <a:pt x="0" y="38"/>
                </a:lnTo>
                <a:lnTo>
                  <a:pt x="4" y="23"/>
                </a:lnTo>
                <a:lnTo>
                  <a:pt x="9" y="9"/>
                </a:lnTo>
                <a:lnTo>
                  <a:pt x="19" y="4"/>
                </a:lnTo>
                <a:lnTo>
                  <a:pt x="28" y="0"/>
                </a:lnTo>
                <a:lnTo>
                  <a:pt x="194" y="28"/>
                </a:lnTo>
                <a:lnTo>
                  <a:pt x="180" y="104"/>
                </a:lnTo>
                <a:close/>
              </a:path>
            </a:pathLst>
          </a:custGeom>
          <a:solidFill>
            <a:srgbClr val="D21009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68620" name="Freeform 101"/>
          <p:cNvSpPr>
            <a:spLocks/>
          </p:cNvSpPr>
          <p:nvPr/>
        </p:nvSpPr>
        <p:spPr bwMode="auto">
          <a:xfrm>
            <a:off x="6845300" y="4346575"/>
            <a:ext cx="361950" cy="361950"/>
          </a:xfrm>
          <a:custGeom>
            <a:avLst/>
            <a:gdLst>
              <a:gd name="T0" fmla="*/ 0 w 228"/>
              <a:gd name="T1" fmla="*/ 195262 h 228"/>
              <a:gd name="T2" fmla="*/ 0 w 228"/>
              <a:gd name="T3" fmla="*/ 195262 h 228"/>
              <a:gd name="T4" fmla="*/ 7938 w 228"/>
              <a:gd name="T5" fmla="*/ 233363 h 228"/>
              <a:gd name="T6" fmla="*/ 23812 w 228"/>
              <a:gd name="T7" fmla="*/ 263525 h 228"/>
              <a:gd name="T8" fmla="*/ 38100 w 228"/>
              <a:gd name="T9" fmla="*/ 293688 h 228"/>
              <a:gd name="T10" fmla="*/ 68263 w 228"/>
              <a:gd name="T11" fmla="*/ 315913 h 228"/>
              <a:gd name="T12" fmla="*/ 98425 w 228"/>
              <a:gd name="T13" fmla="*/ 338138 h 228"/>
              <a:gd name="T14" fmla="*/ 128588 w 228"/>
              <a:gd name="T15" fmla="*/ 354013 h 228"/>
              <a:gd name="T16" fmla="*/ 166688 w 228"/>
              <a:gd name="T17" fmla="*/ 361950 h 228"/>
              <a:gd name="T18" fmla="*/ 196850 w 228"/>
              <a:gd name="T19" fmla="*/ 361950 h 228"/>
              <a:gd name="T20" fmla="*/ 196850 w 228"/>
              <a:gd name="T21" fmla="*/ 361950 h 228"/>
              <a:gd name="T22" fmla="*/ 234950 w 228"/>
              <a:gd name="T23" fmla="*/ 354013 h 228"/>
              <a:gd name="T24" fmla="*/ 265113 w 228"/>
              <a:gd name="T25" fmla="*/ 338138 h 228"/>
              <a:gd name="T26" fmla="*/ 295275 w 228"/>
              <a:gd name="T27" fmla="*/ 323850 h 228"/>
              <a:gd name="T28" fmla="*/ 317500 w 228"/>
              <a:gd name="T29" fmla="*/ 301625 h 228"/>
              <a:gd name="T30" fmla="*/ 339725 w 228"/>
              <a:gd name="T31" fmla="*/ 271463 h 228"/>
              <a:gd name="T32" fmla="*/ 355600 w 228"/>
              <a:gd name="T33" fmla="*/ 241300 h 228"/>
              <a:gd name="T34" fmla="*/ 361950 w 228"/>
              <a:gd name="T35" fmla="*/ 203200 h 228"/>
              <a:gd name="T36" fmla="*/ 361950 w 228"/>
              <a:gd name="T37" fmla="*/ 165100 h 228"/>
              <a:gd name="T38" fmla="*/ 361950 w 228"/>
              <a:gd name="T39" fmla="*/ 165100 h 228"/>
              <a:gd name="T40" fmla="*/ 355600 w 228"/>
              <a:gd name="T41" fmla="*/ 134938 h 228"/>
              <a:gd name="T42" fmla="*/ 339725 w 228"/>
              <a:gd name="T43" fmla="*/ 96837 h 228"/>
              <a:gd name="T44" fmla="*/ 317500 w 228"/>
              <a:gd name="T45" fmla="*/ 66675 h 228"/>
              <a:gd name="T46" fmla="*/ 295275 w 228"/>
              <a:gd name="T47" fmla="*/ 44450 h 228"/>
              <a:gd name="T48" fmla="*/ 265113 w 228"/>
              <a:gd name="T49" fmla="*/ 22225 h 228"/>
              <a:gd name="T50" fmla="*/ 234950 w 228"/>
              <a:gd name="T51" fmla="*/ 7938 h 228"/>
              <a:gd name="T52" fmla="*/ 196850 w 228"/>
              <a:gd name="T53" fmla="*/ 0 h 228"/>
              <a:gd name="T54" fmla="*/ 158750 w 228"/>
              <a:gd name="T55" fmla="*/ 0 h 228"/>
              <a:gd name="T56" fmla="*/ 158750 w 228"/>
              <a:gd name="T57" fmla="*/ 0 h 228"/>
              <a:gd name="T58" fmla="*/ 120650 w 228"/>
              <a:gd name="T59" fmla="*/ 7938 h 228"/>
              <a:gd name="T60" fmla="*/ 90488 w 228"/>
              <a:gd name="T61" fmla="*/ 22225 h 228"/>
              <a:gd name="T62" fmla="*/ 60325 w 228"/>
              <a:gd name="T63" fmla="*/ 36513 h 228"/>
              <a:gd name="T64" fmla="*/ 38100 w 228"/>
              <a:gd name="T65" fmla="*/ 60325 h 228"/>
              <a:gd name="T66" fmla="*/ 23812 w 228"/>
              <a:gd name="T67" fmla="*/ 90488 h 228"/>
              <a:gd name="T68" fmla="*/ 7938 w 228"/>
              <a:gd name="T69" fmla="*/ 120650 h 228"/>
              <a:gd name="T70" fmla="*/ 0 w 228"/>
              <a:gd name="T71" fmla="*/ 157163 h 228"/>
              <a:gd name="T72" fmla="*/ 0 w 228"/>
              <a:gd name="T73" fmla="*/ 195262 h 228"/>
              <a:gd name="T74" fmla="*/ 0 w 228"/>
              <a:gd name="T75" fmla="*/ 195262 h 228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w 228"/>
              <a:gd name="T115" fmla="*/ 0 h 228"/>
              <a:gd name="T116" fmla="*/ 228 w 228"/>
              <a:gd name="T117" fmla="*/ 228 h 228"/>
            </a:gdLst>
            <a:ahLst/>
            <a:cxnLst>
              <a:cxn ang="T76">
                <a:pos x="T0" y="T1"/>
              </a:cxn>
              <a:cxn ang="T77">
                <a:pos x="T2" y="T3"/>
              </a:cxn>
              <a:cxn ang="T78">
                <a:pos x="T4" y="T5"/>
              </a:cxn>
              <a:cxn ang="T79">
                <a:pos x="T6" y="T7"/>
              </a:cxn>
              <a:cxn ang="T80">
                <a:pos x="T8" y="T9"/>
              </a:cxn>
              <a:cxn ang="T81">
                <a:pos x="T10" y="T11"/>
              </a:cxn>
              <a:cxn ang="T82">
                <a:pos x="T12" y="T13"/>
              </a:cxn>
              <a:cxn ang="T83">
                <a:pos x="T14" y="T15"/>
              </a:cxn>
              <a:cxn ang="T84">
                <a:pos x="T16" y="T17"/>
              </a:cxn>
              <a:cxn ang="T85">
                <a:pos x="T18" y="T19"/>
              </a:cxn>
              <a:cxn ang="T86">
                <a:pos x="T20" y="T21"/>
              </a:cxn>
              <a:cxn ang="T87">
                <a:pos x="T22" y="T23"/>
              </a:cxn>
              <a:cxn ang="T88">
                <a:pos x="T24" y="T25"/>
              </a:cxn>
              <a:cxn ang="T89">
                <a:pos x="T26" y="T27"/>
              </a:cxn>
              <a:cxn ang="T90">
                <a:pos x="T28" y="T29"/>
              </a:cxn>
              <a:cxn ang="T91">
                <a:pos x="T30" y="T31"/>
              </a:cxn>
              <a:cxn ang="T92">
                <a:pos x="T32" y="T33"/>
              </a:cxn>
              <a:cxn ang="T93">
                <a:pos x="T34" y="T35"/>
              </a:cxn>
              <a:cxn ang="T94">
                <a:pos x="T36" y="T37"/>
              </a:cxn>
              <a:cxn ang="T95">
                <a:pos x="T38" y="T39"/>
              </a:cxn>
              <a:cxn ang="T96">
                <a:pos x="T40" y="T41"/>
              </a:cxn>
              <a:cxn ang="T97">
                <a:pos x="T42" y="T43"/>
              </a:cxn>
              <a:cxn ang="T98">
                <a:pos x="T44" y="T45"/>
              </a:cxn>
              <a:cxn ang="T99">
                <a:pos x="T46" y="T47"/>
              </a:cxn>
              <a:cxn ang="T100">
                <a:pos x="T48" y="T49"/>
              </a:cxn>
              <a:cxn ang="T101">
                <a:pos x="T50" y="T51"/>
              </a:cxn>
              <a:cxn ang="T102">
                <a:pos x="T52" y="T53"/>
              </a:cxn>
              <a:cxn ang="T103">
                <a:pos x="T54" y="T55"/>
              </a:cxn>
              <a:cxn ang="T104">
                <a:pos x="T56" y="T57"/>
              </a:cxn>
              <a:cxn ang="T105">
                <a:pos x="T58" y="T59"/>
              </a:cxn>
              <a:cxn ang="T106">
                <a:pos x="T60" y="T61"/>
              </a:cxn>
              <a:cxn ang="T107">
                <a:pos x="T62" y="T63"/>
              </a:cxn>
              <a:cxn ang="T108">
                <a:pos x="T64" y="T65"/>
              </a:cxn>
              <a:cxn ang="T109">
                <a:pos x="T66" y="T67"/>
              </a:cxn>
              <a:cxn ang="T110">
                <a:pos x="T68" y="T69"/>
              </a:cxn>
              <a:cxn ang="T111">
                <a:pos x="T70" y="T71"/>
              </a:cxn>
              <a:cxn ang="T112">
                <a:pos x="T72" y="T73"/>
              </a:cxn>
              <a:cxn ang="T113">
                <a:pos x="T74" y="T75"/>
              </a:cxn>
            </a:cxnLst>
            <a:rect l="T114" t="T115" r="T116" b="T117"/>
            <a:pathLst>
              <a:path w="228" h="228">
                <a:moveTo>
                  <a:pt x="0" y="123"/>
                </a:moveTo>
                <a:lnTo>
                  <a:pt x="0" y="123"/>
                </a:lnTo>
                <a:lnTo>
                  <a:pt x="5" y="147"/>
                </a:lnTo>
                <a:lnTo>
                  <a:pt x="15" y="166"/>
                </a:lnTo>
                <a:lnTo>
                  <a:pt x="24" y="185"/>
                </a:lnTo>
                <a:lnTo>
                  <a:pt x="43" y="199"/>
                </a:lnTo>
                <a:lnTo>
                  <a:pt x="62" y="213"/>
                </a:lnTo>
                <a:lnTo>
                  <a:pt x="81" y="223"/>
                </a:lnTo>
                <a:lnTo>
                  <a:pt x="105" y="228"/>
                </a:lnTo>
                <a:lnTo>
                  <a:pt x="124" y="228"/>
                </a:lnTo>
                <a:lnTo>
                  <a:pt x="148" y="223"/>
                </a:lnTo>
                <a:lnTo>
                  <a:pt x="167" y="213"/>
                </a:lnTo>
                <a:lnTo>
                  <a:pt x="186" y="204"/>
                </a:lnTo>
                <a:lnTo>
                  <a:pt x="200" y="190"/>
                </a:lnTo>
                <a:lnTo>
                  <a:pt x="214" y="171"/>
                </a:lnTo>
                <a:lnTo>
                  <a:pt x="224" y="152"/>
                </a:lnTo>
                <a:lnTo>
                  <a:pt x="228" y="128"/>
                </a:lnTo>
                <a:lnTo>
                  <a:pt x="228" y="104"/>
                </a:lnTo>
                <a:lnTo>
                  <a:pt x="224" y="85"/>
                </a:lnTo>
                <a:lnTo>
                  <a:pt x="214" y="61"/>
                </a:lnTo>
                <a:lnTo>
                  <a:pt x="200" y="42"/>
                </a:lnTo>
                <a:lnTo>
                  <a:pt x="186" y="28"/>
                </a:lnTo>
                <a:lnTo>
                  <a:pt x="167" y="14"/>
                </a:lnTo>
                <a:lnTo>
                  <a:pt x="148" y="5"/>
                </a:lnTo>
                <a:lnTo>
                  <a:pt x="124" y="0"/>
                </a:lnTo>
                <a:lnTo>
                  <a:pt x="100" y="0"/>
                </a:lnTo>
                <a:lnTo>
                  <a:pt x="76" y="5"/>
                </a:lnTo>
                <a:lnTo>
                  <a:pt x="57" y="14"/>
                </a:lnTo>
                <a:lnTo>
                  <a:pt x="38" y="23"/>
                </a:lnTo>
                <a:lnTo>
                  <a:pt x="24" y="38"/>
                </a:lnTo>
                <a:lnTo>
                  <a:pt x="15" y="57"/>
                </a:lnTo>
                <a:lnTo>
                  <a:pt x="5" y="76"/>
                </a:lnTo>
                <a:lnTo>
                  <a:pt x="0" y="99"/>
                </a:lnTo>
                <a:lnTo>
                  <a:pt x="0" y="123"/>
                </a:lnTo>
                <a:close/>
              </a:path>
            </a:pathLst>
          </a:custGeom>
          <a:solidFill>
            <a:srgbClr val="FD341F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grpSp>
        <p:nvGrpSpPr>
          <p:cNvPr id="9" name="Group 102"/>
          <p:cNvGrpSpPr>
            <a:grpSpLocks/>
          </p:cNvGrpSpPr>
          <p:nvPr/>
        </p:nvGrpSpPr>
        <p:grpSpPr bwMode="auto">
          <a:xfrm>
            <a:off x="5637213" y="4643438"/>
            <a:ext cx="2478087" cy="1349375"/>
            <a:chOff x="3557" y="2925"/>
            <a:chExt cx="1561" cy="850"/>
          </a:xfrm>
        </p:grpSpPr>
        <p:sp>
          <p:nvSpPr>
            <p:cNvPr id="68622" name="Rectangle 103"/>
            <p:cNvSpPr>
              <a:spLocks noChangeArrowheads="1"/>
            </p:cNvSpPr>
            <p:nvPr/>
          </p:nvSpPr>
          <p:spPr bwMode="auto">
            <a:xfrm>
              <a:off x="3557" y="3602"/>
              <a:ext cx="1561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b="1">
                  <a:solidFill>
                    <a:srgbClr val="000000"/>
                  </a:solidFill>
                </a:rPr>
                <a:t>Radioactive substance</a:t>
              </a:r>
              <a:endParaRPr lang="en-US" b="1"/>
            </a:p>
          </p:txBody>
        </p:sp>
        <p:sp>
          <p:nvSpPr>
            <p:cNvPr id="68623" name="Line 104"/>
            <p:cNvSpPr>
              <a:spLocks noChangeShapeType="1"/>
            </p:cNvSpPr>
            <p:nvPr/>
          </p:nvSpPr>
          <p:spPr bwMode="auto">
            <a:xfrm flipV="1">
              <a:off x="4263" y="2925"/>
              <a:ext cx="142" cy="675"/>
            </a:xfrm>
            <a:prstGeom prst="line">
              <a:avLst/>
            </a:prstGeom>
            <a:noFill/>
            <a:ln w="38100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8624" name="Line 105"/>
            <p:cNvSpPr>
              <a:spLocks noChangeShapeType="1"/>
            </p:cNvSpPr>
            <p:nvPr/>
          </p:nvSpPr>
          <p:spPr bwMode="auto">
            <a:xfrm flipV="1">
              <a:off x="4261" y="2930"/>
              <a:ext cx="143" cy="674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55"/>
          <p:cNvGrpSpPr>
            <a:grpSpLocks/>
          </p:cNvGrpSpPr>
          <p:nvPr/>
        </p:nvGrpSpPr>
        <p:grpSpPr bwMode="auto">
          <a:xfrm>
            <a:off x="450850" y="641350"/>
            <a:ext cx="2328863" cy="5992813"/>
            <a:chOff x="284" y="404"/>
            <a:chExt cx="1467" cy="3775"/>
          </a:xfrm>
        </p:grpSpPr>
        <p:sp>
          <p:nvSpPr>
            <p:cNvPr id="69670" name="Freeform 2"/>
            <p:cNvSpPr>
              <a:spLocks/>
            </p:cNvSpPr>
            <p:nvPr/>
          </p:nvSpPr>
          <p:spPr bwMode="auto">
            <a:xfrm>
              <a:off x="284" y="1321"/>
              <a:ext cx="91" cy="2858"/>
            </a:xfrm>
            <a:custGeom>
              <a:avLst/>
              <a:gdLst>
                <a:gd name="T0" fmla="*/ 91 w 91"/>
                <a:gd name="T1" fmla="*/ 2858 h 2858"/>
                <a:gd name="T2" fmla="*/ 91 w 91"/>
                <a:gd name="T3" fmla="*/ 19 h 2858"/>
                <a:gd name="T4" fmla="*/ 0 w 91"/>
                <a:gd name="T5" fmla="*/ 0 h 2858"/>
                <a:gd name="T6" fmla="*/ 0 w 91"/>
                <a:gd name="T7" fmla="*/ 2839 h 2858"/>
                <a:gd name="T8" fmla="*/ 91 w 91"/>
                <a:gd name="T9" fmla="*/ 2858 h 285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1"/>
                <a:gd name="T16" fmla="*/ 0 h 2858"/>
                <a:gd name="T17" fmla="*/ 91 w 91"/>
                <a:gd name="T18" fmla="*/ 2858 h 285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1" h="2858">
                  <a:moveTo>
                    <a:pt x="91" y="2858"/>
                  </a:moveTo>
                  <a:lnTo>
                    <a:pt x="91" y="19"/>
                  </a:lnTo>
                  <a:lnTo>
                    <a:pt x="0" y="0"/>
                  </a:lnTo>
                  <a:lnTo>
                    <a:pt x="0" y="2839"/>
                  </a:lnTo>
                  <a:lnTo>
                    <a:pt x="91" y="2858"/>
                  </a:lnTo>
                  <a:close/>
                </a:path>
              </a:pathLst>
            </a:custGeom>
            <a:solidFill>
              <a:srgbClr val="A5CEE3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9671" name="Freeform 3"/>
            <p:cNvSpPr>
              <a:spLocks/>
            </p:cNvSpPr>
            <p:nvPr/>
          </p:nvSpPr>
          <p:spPr bwMode="auto">
            <a:xfrm>
              <a:off x="284" y="404"/>
              <a:ext cx="1467" cy="936"/>
            </a:xfrm>
            <a:custGeom>
              <a:avLst/>
              <a:gdLst>
                <a:gd name="T0" fmla="*/ 1467 w 1467"/>
                <a:gd name="T1" fmla="*/ 24 h 936"/>
                <a:gd name="T2" fmla="*/ 91 w 1467"/>
                <a:gd name="T3" fmla="*/ 936 h 936"/>
                <a:gd name="T4" fmla="*/ 0 w 1467"/>
                <a:gd name="T5" fmla="*/ 917 h 936"/>
                <a:gd name="T6" fmla="*/ 1363 w 1467"/>
                <a:gd name="T7" fmla="*/ 0 h 936"/>
                <a:gd name="T8" fmla="*/ 1467 w 1467"/>
                <a:gd name="T9" fmla="*/ 24 h 9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467"/>
                <a:gd name="T16" fmla="*/ 0 h 936"/>
                <a:gd name="T17" fmla="*/ 1467 w 1467"/>
                <a:gd name="T18" fmla="*/ 936 h 9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467" h="936">
                  <a:moveTo>
                    <a:pt x="1467" y="24"/>
                  </a:moveTo>
                  <a:lnTo>
                    <a:pt x="91" y="936"/>
                  </a:lnTo>
                  <a:lnTo>
                    <a:pt x="0" y="917"/>
                  </a:lnTo>
                  <a:lnTo>
                    <a:pt x="1363" y="0"/>
                  </a:lnTo>
                  <a:lnTo>
                    <a:pt x="1467" y="24"/>
                  </a:lnTo>
                  <a:close/>
                </a:path>
              </a:pathLst>
            </a:custGeom>
            <a:solidFill>
              <a:srgbClr val="C8E0EE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9672" name="Freeform 4"/>
            <p:cNvSpPr>
              <a:spLocks/>
            </p:cNvSpPr>
            <p:nvPr/>
          </p:nvSpPr>
          <p:spPr bwMode="auto">
            <a:xfrm>
              <a:off x="375" y="428"/>
              <a:ext cx="1376" cy="3751"/>
            </a:xfrm>
            <a:custGeom>
              <a:avLst/>
              <a:gdLst>
                <a:gd name="T0" fmla="*/ 0 w 1376"/>
                <a:gd name="T1" fmla="*/ 3751 h 3751"/>
                <a:gd name="T2" fmla="*/ 0 w 1376"/>
                <a:gd name="T3" fmla="*/ 912 h 3751"/>
                <a:gd name="T4" fmla="*/ 1376 w 1376"/>
                <a:gd name="T5" fmla="*/ 0 h 3751"/>
                <a:gd name="T6" fmla="*/ 1376 w 1376"/>
                <a:gd name="T7" fmla="*/ 2834 h 3751"/>
                <a:gd name="T8" fmla="*/ 0 w 1376"/>
                <a:gd name="T9" fmla="*/ 3751 h 375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76"/>
                <a:gd name="T16" fmla="*/ 0 h 3751"/>
                <a:gd name="T17" fmla="*/ 1376 w 1376"/>
                <a:gd name="T18" fmla="*/ 3751 h 375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76" h="3751">
                  <a:moveTo>
                    <a:pt x="0" y="3751"/>
                  </a:moveTo>
                  <a:lnTo>
                    <a:pt x="0" y="912"/>
                  </a:lnTo>
                  <a:lnTo>
                    <a:pt x="1376" y="0"/>
                  </a:lnTo>
                  <a:lnTo>
                    <a:pt x="1376" y="2834"/>
                  </a:lnTo>
                  <a:lnTo>
                    <a:pt x="0" y="3751"/>
                  </a:lnTo>
                  <a:close/>
                </a:path>
              </a:pathLst>
            </a:custGeom>
            <a:solidFill>
              <a:srgbClr val="67AED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" name="Group 7"/>
          <p:cNvGrpSpPr>
            <a:grpSpLocks/>
          </p:cNvGrpSpPr>
          <p:nvPr/>
        </p:nvGrpSpPr>
        <p:grpSpPr bwMode="auto">
          <a:xfrm>
            <a:off x="3187700" y="1833563"/>
            <a:ext cx="1914525" cy="1612900"/>
            <a:chOff x="2008" y="1155"/>
            <a:chExt cx="1206" cy="1016"/>
          </a:xfrm>
        </p:grpSpPr>
        <p:sp>
          <p:nvSpPr>
            <p:cNvPr id="69665" name="Freeform 8"/>
            <p:cNvSpPr>
              <a:spLocks/>
            </p:cNvSpPr>
            <p:nvPr/>
          </p:nvSpPr>
          <p:spPr bwMode="auto">
            <a:xfrm>
              <a:off x="2008" y="1976"/>
              <a:ext cx="812" cy="195"/>
            </a:xfrm>
            <a:custGeom>
              <a:avLst/>
              <a:gdLst>
                <a:gd name="T0" fmla="*/ 812 w 812"/>
                <a:gd name="T1" fmla="*/ 195 h 195"/>
                <a:gd name="T2" fmla="*/ 812 w 812"/>
                <a:gd name="T3" fmla="*/ 142 h 195"/>
                <a:gd name="T4" fmla="*/ 0 w 812"/>
                <a:gd name="T5" fmla="*/ 0 h 195"/>
                <a:gd name="T6" fmla="*/ 5 w 812"/>
                <a:gd name="T7" fmla="*/ 52 h 195"/>
                <a:gd name="T8" fmla="*/ 812 w 812"/>
                <a:gd name="T9" fmla="*/ 195 h 19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12"/>
                <a:gd name="T16" fmla="*/ 0 h 195"/>
                <a:gd name="T17" fmla="*/ 812 w 812"/>
                <a:gd name="T18" fmla="*/ 195 h 19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12" h="195">
                  <a:moveTo>
                    <a:pt x="812" y="195"/>
                  </a:moveTo>
                  <a:lnTo>
                    <a:pt x="812" y="142"/>
                  </a:lnTo>
                  <a:lnTo>
                    <a:pt x="0" y="0"/>
                  </a:lnTo>
                  <a:lnTo>
                    <a:pt x="5" y="52"/>
                  </a:lnTo>
                  <a:lnTo>
                    <a:pt x="812" y="195"/>
                  </a:lnTo>
                  <a:close/>
                </a:path>
              </a:pathLst>
            </a:custGeom>
            <a:solidFill>
              <a:srgbClr val="34B3D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9666" name="Freeform 9"/>
            <p:cNvSpPr>
              <a:spLocks/>
            </p:cNvSpPr>
            <p:nvPr/>
          </p:nvSpPr>
          <p:spPr bwMode="auto">
            <a:xfrm>
              <a:off x="2820" y="1862"/>
              <a:ext cx="394" cy="309"/>
            </a:xfrm>
            <a:custGeom>
              <a:avLst/>
              <a:gdLst>
                <a:gd name="T0" fmla="*/ 0 w 394"/>
                <a:gd name="T1" fmla="*/ 309 h 309"/>
                <a:gd name="T2" fmla="*/ 0 w 394"/>
                <a:gd name="T3" fmla="*/ 256 h 309"/>
                <a:gd name="T4" fmla="*/ 389 w 394"/>
                <a:gd name="T5" fmla="*/ 0 h 309"/>
                <a:gd name="T6" fmla="*/ 394 w 394"/>
                <a:gd name="T7" fmla="*/ 47 h 309"/>
                <a:gd name="T8" fmla="*/ 0 w 394"/>
                <a:gd name="T9" fmla="*/ 309 h 30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94"/>
                <a:gd name="T16" fmla="*/ 0 h 309"/>
                <a:gd name="T17" fmla="*/ 394 w 394"/>
                <a:gd name="T18" fmla="*/ 309 h 30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94" h="309">
                  <a:moveTo>
                    <a:pt x="0" y="309"/>
                  </a:moveTo>
                  <a:lnTo>
                    <a:pt x="0" y="256"/>
                  </a:lnTo>
                  <a:lnTo>
                    <a:pt x="389" y="0"/>
                  </a:lnTo>
                  <a:lnTo>
                    <a:pt x="394" y="47"/>
                  </a:lnTo>
                  <a:lnTo>
                    <a:pt x="0" y="309"/>
                  </a:lnTo>
                  <a:close/>
                </a:path>
              </a:pathLst>
            </a:custGeom>
            <a:solidFill>
              <a:srgbClr val="00A0C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9667" name="Freeform 10"/>
            <p:cNvSpPr>
              <a:spLocks/>
            </p:cNvSpPr>
            <p:nvPr/>
          </p:nvSpPr>
          <p:spPr bwMode="auto">
            <a:xfrm>
              <a:off x="2008" y="1705"/>
              <a:ext cx="1201" cy="413"/>
            </a:xfrm>
            <a:custGeom>
              <a:avLst/>
              <a:gdLst>
                <a:gd name="T0" fmla="*/ 1201 w 1201"/>
                <a:gd name="T1" fmla="*/ 157 h 413"/>
                <a:gd name="T2" fmla="*/ 812 w 1201"/>
                <a:gd name="T3" fmla="*/ 413 h 413"/>
                <a:gd name="T4" fmla="*/ 0 w 1201"/>
                <a:gd name="T5" fmla="*/ 271 h 413"/>
                <a:gd name="T6" fmla="*/ 365 w 1201"/>
                <a:gd name="T7" fmla="*/ 0 h 413"/>
                <a:gd name="T8" fmla="*/ 1201 w 1201"/>
                <a:gd name="T9" fmla="*/ 157 h 41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01"/>
                <a:gd name="T16" fmla="*/ 0 h 413"/>
                <a:gd name="T17" fmla="*/ 1201 w 1201"/>
                <a:gd name="T18" fmla="*/ 413 h 41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01" h="413">
                  <a:moveTo>
                    <a:pt x="1201" y="157"/>
                  </a:moveTo>
                  <a:lnTo>
                    <a:pt x="812" y="413"/>
                  </a:lnTo>
                  <a:lnTo>
                    <a:pt x="0" y="271"/>
                  </a:lnTo>
                  <a:lnTo>
                    <a:pt x="365" y="0"/>
                  </a:lnTo>
                  <a:lnTo>
                    <a:pt x="1201" y="157"/>
                  </a:lnTo>
                  <a:close/>
                </a:path>
              </a:pathLst>
            </a:custGeom>
            <a:solidFill>
              <a:srgbClr val="80CFE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9668" name="Freeform 11"/>
            <p:cNvSpPr>
              <a:spLocks/>
            </p:cNvSpPr>
            <p:nvPr/>
          </p:nvSpPr>
          <p:spPr bwMode="auto">
            <a:xfrm>
              <a:off x="2568" y="1164"/>
              <a:ext cx="66" cy="764"/>
            </a:xfrm>
            <a:custGeom>
              <a:avLst/>
              <a:gdLst>
                <a:gd name="T0" fmla="*/ 66 w 66"/>
                <a:gd name="T1" fmla="*/ 5 h 764"/>
                <a:gd name="T2" fmla="*/ 66 w 66"/>
                <a:gd name="T3" fmla="*/ 5 h 764"/>
                <a:gd name="T4" fmla="*/ 66 w 66"/>
                <a:gd name="T5" fmla="*/ 10 h 764"/>
                <a:gd name="T6" fmla="*/ 57 w 66"/>
                <a:gd name="T7" fmla="*/ 10 h 764"/>
                <a:gd name="T8" fmla="*/ 33 w 66"/>
                <a:gd name="T9" fmla="*/ 14 h 764"/>
                <a:gd name="T10" fmla="*/ 33 w 66"/>
                <a:gd name="T11" fmla="*/ 14 h 764"/>
                <a:gd name="T12" fmla="*/ 9 w 66"/>
                <a:gd name="T13" fmla="*/ 10 h 764"/>
                <a:gd name="T14" fmla="*/ 5 w 66"/>
                <a:gd name="T15" fmla="*/ 5 h 764"/>
                <a:gd name="T16" fmla="*/ 0 w 66"/>
                <a:gd name="T17" fmla="*/ 0 h 764"/>
                <a:gd name="T18" fmla="*/ 0 w 66"/>
                <a:gd name="T19" fmla="*/ 750 h 764"/>
                <a:gd name="T20" fmla="*/ 0 w 66"/>
                <a:gd name="T21" fmla="*/ 750 h 764"/>
                <a:gd name="T22" fmla="*/ 5 w 66"/>
                <a:gd name="T23" fmla="*/ 755 h 764"/>
                <a:gd name="T24" fmla="*/ 9 w 66"/>
                <a:gd name="T25" fmla="*/ 760 h 764"/>
                <a:gd name="T26" fmla="*/ 33 w 66"/>
                <a:gd name="T27" fmla="*/ 764 h 764"/>
                <a:gd name="T28" fmla="*/ 33 w 66"/>
                <a:gd name="T29" fmla="*/ 764 h 764"/>
                <a:gd name="T30" fmla="*/ 57 w 66"/>
                <a:gd name="T31" fmla="*/ 760 h 764"/>
                <a:gd name="T32" fmla="*/ 66 w 66"/>
                <a:gd name="T33" fmla="*/ 755 h 764"/>
                <a:gd name="T34" fmla="*/ 66 w 66"/>
                <a:gd name="T35" fmla="*/ 755 h 764"/>
                <a:gd name="T36" fmla="*/ 66 w 66"/>
                <a:gd name="T37" fmla="*/ 5 h 764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66"/>
                <a:gd name="T58" fmla="*/ 0 h 764"/>
                <a:gd name="T59" fmla="*/ 66 w 66"/>
                <a:gd name="T60" fmla="*/ 764 h 764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66" h="764">
                  <a:moveTo>
                    <a:pt x="66" y="5"/>
                  </a:moveTo>
                  <a:lnTo>
                    <a:pt x="66" y="5"/>
                  </a:lnTo>
                  <a:lnTo>
                    <a:pt x="66" y="10"/>
                  </a:lnTo>
                  <a:lnTo>
                    <a:pt x="57" y="10"/>
                  </a:lnTo>
                  <a:lnTo>
                    <a:pt x="33" y="14"/>
                  </a:lnTo>
                  <a:lnTo>
                    <a:pt x="9" y="10"/>
                  </a:lnTo>
                  <a:lnTo>
                    <a:pt x="5" y="5"/>
                  </a:lnTo>
                  <a:lnTo>
                    <a:pt x="0" y="0"/>
                  </a:lnTo>
                  <a:lnTo>
                    <a:pt x="0" y="750"/>
                  </a:lnTo>
                  <a:lnTo>
                    <a:pt x="5" y="755"/>
                  </a:lnTo>
                  <a:lnTo>
                    <a:pt x="9" y="760"/>
                  </a:lnTo>
                  <a:lnTo>
                    <a:pt x="33" y="764"/>
                  </a:lnTo>
                  <a:lnTo>
                    <a:pt x="57" y="760"/>
                  </a:lnTo>
                  <a:lnTo>
                    <a:pt x="66" y="755"/>
                  </a:lnTo>
                  <a:lnTo>
                    <a:pt x="66" y="5"/>
                  </a:lnTo>
                  <a:close/>
                </a:path>
              </a:pathLst>
            </a:custGeom>
            <a:solidFill>
              <a:srgbClr val="34B3D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9669" name="Freeform 12"/>
            <p:cNvSpPr>
              <a:spLocks/>
            </p:cNvSpPr>
            <p:nvPr/>
          </p:nvSpPr>
          <p:spPr bwMode="auto">
            <a:xfrm>
              <a:off x="2568" y="1155"/>
              <a:ext cx="66" cy="23"/>
            </a:xfrm>
            <a:custGeom>
              <a:avLst/>
              <a:gdLst>
                <a:gd name="T0" fmla="*/ 33 w 66"/>
                <a:gd name="T1" fmla="*/ 23 h 23"/>
                <a:gd name="T2" fmla="*/ 33 w 66"/>
                <a:gd name="T3" fmla="*/ 23 h 23"/>
                <a:gd name="T4" fmla="*/ 9 w 66"/>
                <a:gd name="T5" fmla="*/ 19 h 23"/>
                <a:gd name="T6" fmla="*/ 5 w 66"/>
                <a:gd name="T7" fmla="*/ 14 h 23"/>
                <a:gd name="T8" fmla="*/ 0 w 66"/>
                <a:gd name="T9" fmla="*/ 9 h 23"/>
                <a:gd name="T10" fmla="*/ 0 w 66"/>
                <a:gd name="T11" fmla="*/ 9 h 23"/>
                <a:gd name="T12" fmla="*/ 5 w 66"/>
                <a:gd name="T13" fmla="*/ 4 h 23"/>
                <a:gd name="T14" fmla="*/ 9 w 66"/>
                <a:gd name="T15" fmla="*/ 4 h 23"/>
                <a:gd name="T16" fmla="*/ 33 w 66"/>
                <a:gd name="T17" fmla="*/ 0 h 23"/>
                <a:gd name="T18" fmla="*/ 33 w 66"/>
                <a:gd name="T19" fmla="*/ 0 h 23"/>
                <a:gd name="T20" fmla="*/ 57 w 66"/>
                <a:gd name="T21" fmla="*/ 4 h 23"/>
                <a:gd name="T22" fmla="*/ 66 w 66"/>
                <a:gd name="T23" fmla="*/ 9 h 23"/>
                <a:gd name="T24" fmla="*/ 66 w 66"/>
                <a:gd name="T25" fmla="*/ 9 h 23"/>
                <a:gd name="T26" fmla="*/ 66 w 66"/>
                <a:gd name="T27" fmla="*/ 9 h 23"/>
                <a:gd name="T28" fmla="*/ 66 w 66"/>
                <a:gd name="T29" fmla="*/ 14 h 23"/>
                <a:gd name="T30" fmla="*/ 57 w 66"/>
                <a:gd name="T31" fmla="*/ 19 h 23"/>
                <a:gd name="T32" fmla="*/ 33 w 66"/>
                <a:gd name="T33" fmla="*/ 23 h 23"/>
                <a:gd name="T34" fmla="*/ 33 w 66"/>
                <a:gd name="T35" fmla="*/ 23 h 23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66"/>
                <a:gd name="T55" fmla="*/ 0 h 23"/>
                <a:gd name="T56" fmla="*/ 66 w 66"/>
                <a:gd name="T57" fmla="*/ 23 h 23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66" h="23">
                  <a:moveTo>
                    <a:pt x="33" y="23"/>
                  </a:moveTo>
                  <a:lnTo>
                    <a:pt x="33" y="23"/>
                  </a:lnTo>
                  <a:lnTo>
                    <a:pt x="9" y="19"/>
                  </a:lnTo>
                  <a:lnTo>
                    <a:pt x="5" y="14"/>
                  </a:lnTo>
                  <a:lnTo>
                    <a:pt x="0" y="9"/>
                  </a:lnTo>
                  <a:lnTo>
                    <a:pt x="5" y="4"/>
                  </a:lnTo>
                  <a:lnTo>
                    <a:pt x="9" y="4"/>
                  </a:lnTo>
                  <a:lnTo>
                    <a:pt x="33" y="0"/>
                  </a:lnTo>
                  <a:lnTo>
                    <a:pt x="57" y="4"/>
                  </a:lnTo>
                  <a:lnTo>
                    <a:pt x="66" y="9"/>
                  </a:lnTo>
                  <a:lnTo>
                    <a:pt x="66" y="14"/>
                  </a:lnTo>
                  <a:lnTo>
                    <a:pt x="57" y="19"/>
                  </a:lnTo>
                  <a:lnTo>
                    <a:pt x="33" y="23"/>
                  </a:lnTo>
                  <a:close/>
                </a:path>
              </a:pathLst>
            </a:custGeom>
            <a:solidFill>
              <a:srgbClr val="80CFE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9636" name="Rectangle 13"/>
          <p:cNvSpPr>
            <a:spLocks noChangeArrowheads="1"/>
          </p:cNvSpPr>
          <p:nvPr/>
        </p:nvSpPr>
        <p:spPr bwMode="auto">
          <a:xfrm>
            <a:off x="4305300" y="2490788"/>
            <a:ext cx="127000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b="1">
                <a:solidFill>
                  <a:srgbClr val="000000"/>
                </a:solidFill>
              </a:rPr>
              <a:t>–</a:t>
            </a:r>
            <a:endParaRPr lang="en-US" b="1"/>
          </a:p>
        </p:txBody>
      </p:sp>
      <p:sp>
        <p:nvSpPr>
          <p:cNvPr id="69637" name="Rectangle 14"/>
          <p:cNvSpPr>
            <a:spLocks noChangeArrowheads="1"/>
          </p:cNvSpPr>
          <p:nvPr/>
        </p:nvSpPr>
        <p:spPr bwMode="auto">
          <a:xfrm>
            <a:off x="4298950" y="5521325"/>
            <a:ext cx="13335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b="1">
                <a:solidFill>
                  <a:srgbClr val="000000"/>
                </a:solidFill>
              </a:rPr>
              <a:t>+</a:t>
            </a:r>
            <a:endParaRPr lang="en-US" b="1"/>
          </a:p>
        </p:txBody>
      </p:sp>
      <p:grpSp>
        <p:nvGrpSpPr>
          <p:cNvPr id="4" name="Group 15"/>
          <p:cNvGrpSpPr>
            <a:grpSpLocks/>
          </p:cNvGrpSpPr>
          <p:nvPr/>
        </p:nvGrpSpPr>
        <p:grpSpPr bwMode="auto">
          <a:xfrm>
            <a:off x="3187700" y="4787900"/>
            <a:ext cx="1914525" cy="1544638"/>
            <a:chOff x="2008" y="3016"/>
            <a:chExt cx="1206" cy="973"/>
          </a:xfrm>
        </p:grpSpPr>
        <p:sp>
          <p:nvSpPr>
            <p:cNvPr id="69660" name="Freeform 16"/>
            <p:cNvSpPr>
              <a:spLocks/>
            </p:cNvSpPr>
            <p:nvPr/>
          </p:nvSpPr>
          <p:spPr bwMode="auto">
            <a:xfrm>
              <a:off x="2568" y="3225"/>
              <a:ext cx="66" cy="764"/>
            </a:xfrm>
            <a:custGeom>
              <a:avLst/>
              <a:gdLst>
                <a:gd name="T0" fmla="*/ 66 w 66"/>
                <a:gd name="T1" fmla="*/ 0 h 764"/>
                <a:gd name="T2" fmla="*/ 66 w 66"/>
                <a:gd name="T3" fmla="*/ 0 h 764"/>
                <a:gd name="T4" fmla="*/ 66 w 66"/>
                <a:gd name="T5" fmla="*/ 4 h 764"/>
                <a:gd name="T6" fmla="*/ 57 w 66"/>
                <a:gd name="T7" fmla="*/ 9 h 764"/>
                <a:gd name="T8" fmla="*/ 33 w 66"/>
                <a:gd name="T9" fmla="*/ 14 h 764"/>
                <a:gd name="T10" fmla="*/ 33 w 66"/>
                <a:gd name="T11" fmla="*/ 14 h 764"/>
                <a:gd name="T12" fmla="*/ 9 w 66"/>
                <a:gd name="T13" fmla="*/ 9 h 764"/>
                <a:gd name="T14" fmla="*/ 5 w 66"/>
                <a:gd name="T15" fmla="*/ 4 h 764"/>
                <a:gd name="T16" fmla="*/ 0 w 66"/>
                <a:gd name="T17" fmla="*/ 0 h 764"/>
                <a:gd name="T18" fmla="*/ 0 w 66"/>
                <a:gd name="T19" fmla="*/ 750 h 764"/>
                <a:gd name="T20" fmla="*/ 0 w 66"/>
                <a:gd name="T21" fmla="*/ 750 h 764"/>
                <a:gd name="T22" fmla="*/ 5 w 66"/>
                <a:gd name="T23" fmla="*/ 754 h 764"/>
                <a:gd name="T24" fmla="*/ 9 w 66"/>
                <a:gd name="T25" fmla="*/ 759 h 764"/>
                <a:gd name="T26" fmla="*/ 33 w 66"/>
                <a:gd name="T27" fmla="*/ 764 h 764"/>
                <a:gd name="T28" fmla="*/ 33 w 66"/>
                <a:gd name="T29" fmla="*/ 764 h 764"/>
                <a:gd name="T30" fmla="*/ 57 w 66"/>
                <a:gd name="T31" fmla="*/ 759 h 764"/>
                <a:gd name="T32" fmla="*/ 66 w 66"/>
                <a:gd name="T33" fmla="*/ 754 h 764"/>
                <a:gd name="T34" fmla="*/ 66 w 66"/>
                <a:gd name="T35" fmla="*/ 750 h 764"/>
                <a:gd name="T36" fmla="*/ 66 w 66"/>
                <a:gd name="T37" fmla="*/ 0 h 764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66"/>
                <a:gd name="T58" fmla="*/ 0 h 764"/>
                <a:gd name="T59" fmla="*/ 66 w 66"/>
                <a:gd name="T60" fmla="*/ 764 h 764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66" h="764">
                  <a:moveTo>
                    <a:pt x="66" y="0"/>
                  </a:moveTo>
                  <a:lnTo>
                    <a:pt x="66" y="0"/>
                  </a:lnTo>
                  <a:lnTo>
                    <a:pt x="66" y="4"/>
                  </a:lnTo>
                  <a:lnTo>
                    <a:pt x="57" y="9"/>
                  </a:lnTo>
                  <a:lnTo>
                    <a:pt x="33" y="14"/>
                  </a:lnTo>
                  <a:lnTo>
                    <a:pt x="9" y="9"/>
                  </a:lnTo>
                  <a:lnTo>
                    <a:pt x="5" y="4"/>
                  </a:lnTo>
                  <a:lnTo>
                    <a:pt x="0" y="0"/>
                  </a:lnTo>
                  <a:lnTo>
                    <a:pt x="0" y="750"/>
                  </a:lnTo>
                  <a:lnTo>
                    <a:pt x="5" y="754"/>
                  </a:lnTo>
                  <a:lnTo>
                    <a:pt x="9" y="759"/>
                  </a:lnTo>
                  <a:lnTo>
                    <a:pt x="33" y="764"/>
                  </a:lnTo>
                  <a:lnTo>
                    <a:pt x="57" y="759"/>
                  </a:lnTo>
                  <a:lnTo>
                    <a:pt x="66" y="754"/>
                  </a:lnTo>
                  <a:lnTo>
                    <a:pt x="66" y="750"/>
                  </a:lnTo>
                  <a:lnTo>
                    <a:pt x="66" y="0"/>
                  </a:lnTo>
                  <a:close/>
                </a:path>
              </a:pathLst>
            </a:custGeom>
            <a:solidFill>
              <a:srgbClr val="B62635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9661" name="Freeform 17"/>
            <p:cNvSpPr>
              <a:spLocks/>
            </p:cNvSpPr>
            <p:nvPr/>
          </p:nvSpPr>
          <p:spPr bwMode="auto">
            <a:xfrm>
              <a:off x="2568" y="3215"/>
              <a:ext cx="66" cy="19"/>
            </a:xfrm>
            <a:custGeom>
              <a:avLst/>
              <a:gdLst>
                <a:gd name="T0" fmla="*/ 33 w 66"/>
                <a:gd name="T1" fmla="*/ 19 h 19"/>
                <a:gd name="T2" fmla="*/ 33 w 66"/>
                <a:gd name="T3" fmla="*/ 19 h 19"/>
                <a:gd name="T4" fmla="*/ 9 w 66"/>
                <a:gd name="T5" fmla="*/ 19 h 19"/>
                <a:gd name="T6" fmla="*/ 5 w 66"/>
                <a:gd name="T7" fmla="*/ 14 h 19"/>
                <a:gd name="T8" fmla="*/ 0 w 66"/>
                <a:gd name="T9" fmla="*/ 10 h 19"/>
                <a:gd name="T10" fmla="*/ 0 w 66"/>
                <a:gd name="T11" fmla="*/ 10 h 19"/>
                <a:gd name="T12" fmla="*/ 5 w 66"/>
                <a:gd name="T13" fmla="*/ 5 h 19"/>
                <a:gd name="T14" fmla="*/ 9 w 66"/>
                <a:gd name="T15" fmla="*/ 0 h 19"/>
                <a:gd name="T16" fmla="*/ 33 w 66"/>
                <a:gd name="T17" fmla="*/ 0 h 19"/>
                <a:gd name="T18" fmla="*/ 33 w 66"/>
                <a:gd name="T19" fmla="*/ 0 h 19"/>
                <a:gd name="T20" fmla="*/ 57 w 66"/>
                <a:gd name="T21" fmla="*/ 5 h 19"/>
                <a:gd name="T22" fmla="*/ 66 w 66"/>
                <a:gd name="T23" fmla="*/ 5 h 19"/>
                <a:gd name="T24" fmla="*/ 66 w 66"/>
                <a:gd name="T25" fmla="*/ 10 h 19"/>
                <a:gd name="T26" fmla="*/ 66 w 66"/>
                <a:gd name="T27" fmla="*/ 10 h 19"/>
                <a:gd name="T28" fmla="*/ 66 w 66"/>
                <a:gd name="T29" fmla="*/ 14 h 19"/>
                <a:gd name="T30" fmla="*/ 57 w 66"/>
                <a:gd name="T31" fmla="*/ 19 h 19"/>
                <a:gd name="T32" fmla="*/ 33 w 66"/>
                <a:gd name="T33" fmla="*/ 19 h 19"/>
                <a:gd name="T34" fmla="*/ 33 w 66"/>
                <a:gd name="T35" fmla="*/ 19 h 19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66"/>
                <a:gd name="T55" fmla="*/ 0 h 19"/>
                <a:gd name="T56" fmla="*/ 66 w 66"/>
                <a:gd name="T57" fmla="*/ 19 h 19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66" h="19">
                  <a:moveTo>
                    <a:pt x="33" y="19"/>
                  </a:moveTo>
                  <a:lnTo>
                    <a:pt x="33" y="19"/>
                  </a:lnTo>
                  <a:lnTo>
                    <a:pt x="9" y="19"/>
                  </a:lnTo>
                  <a:lnTo>
                    <a:pt x="5" y="14"/>
                  </a:lnTo>
                  <a:lnTo>
                    <a:pt x="0" y="10"/>
                  </a:lnTo>
                  <a:lnTo>
                    <a:pt x="5" y="5"/>
                  </a:lnTo>
                  <a:lnTo>
                    <a:pt x="9" y="0"/>
                  </a:lnTo>
                  <a:lnTo>
                    <a:pt x="33" y="0"/>
                  </a:lnTo>
                  <a:lnTo>
                    <a:pt x="57" y="5"/>
                  </a:lnTo>
                  <a:lnTo>
                    <a:pt x="66" y="5"/>
                  </a:lnTo>
                  <a:lnTo>
                    <a:pt x="66" y="10"/>
                  </a:lnTo>
                  <a:lnTo>
                    <a:pt x="66" y="14"/>
                  </a:lnTo>
                  <a:lnTo>
                    <a:pt x="57" y="19"/>
                  </a:lnTo>
                  <a:lnTo>
                    <a:pt x="33" y="19"/>
                  </a:lnTo>
                  <a:close/>
                </a:path>
              </a:pathLst>
            </a:custGeom>
            <a:solidFill>
              <a:srgbClr val="E27488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9662" name="Freeform 18"/>
            <p:cNvSpPr>
              <a:spLocks/>
            </p:cNvSpPr>
            <p:nvPr/>
          </p:nvSpPr>
          <p:spPr bwMode="auto">
            <a:xfrm>
              <a:off x="2008" y="3286"/>
              <a:ext cx="812" cy="195"/>
            </a:xfrm>
            <a:custGeom>
              <a:avLst/>
              <a:gdLst>
                <a:gd name="T0" fmla="*/ 812 w 812"/>
                <a:gd name="T1" fmla="*/ 195 h 195"/>
                <a:gd name="T2" fmla="*/ 812 w 812"/>
                <a:gd name="T3" fmla="*/ 143 h 195"/>
                <a:gd name="T4" fmla="*/ 0 w 812"/>
                <a:gd name="T5" fmla="*/ 0 h 195"/>
                <a:gd name="T6" fmla="*/ 5 w 812"/>
                <a:gd name="T7" fmla="*/ 52 h 195"/>
                <a:gd name="T8" fmla="*/ 812 w 812"/>
                <a:gd name="T9" fmla="*/ 195 h 19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12"/>
                <a:gd name="T16" fmla="*/ 0 h 195"/>
                <a:gd name="T17" fmla="*/ 812 w 812"/>
                <a:gd name="T18" fmla="*/ 195 h 19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12" h="195">
                  <a:moveTo>
                    <a:pt x="812" y="195"/>
                  </a:moveTo>
                  <a:lnTo>
                    <a:pt x="812" y="143"/>
                  </a:lnTo>
                  <a:lnTo>
                    <a:pt x="0" y="0"/>
                  </a:lnTo>
                  <a:lnTo>
                    <a:pt x="5" y="52"/>
                  </a:lnTo>
                  <a:lnTo>
                    <a:pt x="812" y="195"/>
                  </a:lnTo>
                  <a:close/>
                </a:path>
              </a:pathLst>
            </a:custGeom>
            <a:solidFill>
              <a:srgbClr val="C75257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9663" name="Freeform 19"/>
            <p:cNvSpPr>
              <a:spLocks/>
            </p:cNvSpPr>
            <p:nvPr/>
          </p:nvSpPr>
          <p:spPr bwMode="auto">
            <a:xfrm>
              <a:off x="2820" y="3172"/>
              <a:ext cx="394" cy="309"/>
            </a:xfrm>
            <a:custGeom>
              <a:avLst/>
              <a:gdLst>
                <a:gd name="T0" fmla="*/ 0 w 394"/>
                <a:gd name="T1" fmla="*/ 309 h 309"/>
                <a:gd name="T2" fmla="*/ 0 w 394"/>
                <a:gd name="T3" fmla="*/ 257 h 309"/>
                <a:gd name="T4" fmla="*/ 389 w 394"/>
                <a:gd name="T5" fmla="*/ 0 h 309"/>
                <a:gd name="T6" fmla="*/ 394 w 394"/>
                <a:gd name="T7" fmla="*/ 48 h 309"/>
                <a:gd name="T8" fmla="*/ 0 w 394"/>
                <a:gd name="T9" fmla="*/ 309 h 30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94"/>
                <a:gd name="T16" fmla="*/ 0 h 309"/>
                <a:gd name="T17" fmla="*/ 394 w 394"/>
                <a:gd name="T18" fmla="*/ 309 h 30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94" h="309">
                  <a:moveTo>
                    <a:pt x="0" y="309"/>
                  </a:moveTo>
                  <a:lnTo>
                    <a:pt x="0" y="257"/>
                  </a:lnTo>
                  <a:lnTo>
                    <a:pt x="389" y="0"/>
                  </a:lnTo>
                  <a:lnTo>
                    <a:pt x="394" y="48"/>
                  </a:lnTo>
                  <a:lnTo>
                    <a:pt x="0" y="309"/>
                  </a:lnTo>
                  <a:close/>
                </a:path>
              </a:pathLst>
            </a:custGeom>
            <a:solidFill>
              <a:srgbClr val="A4001D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9664" name="Freeform 20"/>
            <p:cNvSpPr>
              <a:spLocks/>
            </p:cNvSpPr>
            <p:nvPr/>
          </p:nvSpPr>
          <p:spPr bwMode="auto">
            <a:xfrm>
              <a:off x="2008" y="3016"/>
              <a:ext cx="1201" cy="413"/>
            </a:xfrm>
            <a:custGeom>
              <a:avLst/>
              <a:gdLst>
                <a:gd name="T0" fmla="*/ 1201 w 1201"/>
                <a:gd name="T1" fmla="*/ 156 h 413"/>
                <a:gd name="T2" fmla="*/ 812 w 1201"/>
                <a:gd name="T3" fmla="*/ 413 h 413"/>
                <a:gd name="T4" fmla="*/ 0 w 1201"/>
                <a:gd name="T5" fmla="*/ 270 h 413"/>
                <a:gd name="T6" fmla="*/ 365 w 1201"/>
                <a:gd name="T7" fmla="*/ 0 h 413"/>
                <a:gd name="T8" fmla="*/ 1201 w 1201"/>
                <a:gd name="T9" fmla="*/ 156 h 41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01"/>
                <a:gd name="T16" fmla="*/ 0 h 413"/>
                <a:gd name="T17" fmla="*/ 1201 w 1201"/>
                <a:gd name="T18" fmla="*/ 413 h 41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01" h="413">
                  <a:moveTo>
                    <a:pt x="1201" y="156"/>
                  </a:moveTo>
                  <a:lnTo>
                    <a:pt x="812" y="413"/>
                  </a:lnTo>
                  <a:lnTo>
                    <a:pt x="0" y="270"/>
                  </a:lnTo>
                  <a:lnTo>
                    <a:pt x="365" y="0"/>
                  </a:lnTo>
                  <a:lnTo>
                    <a:pt x="1201" y="156"/>
                  </a:lnTo>
                  <a:close/>
                </a:path>
              </a:pathLst>
            </a:custGeom>
            <a:solidFill>
              <a:srgbClr val="D8858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" name="Group 31"/>
          <p:cNvGrpSpPr>
            <a:grpSpLocks/>
          </p:cNvGrpSpPr>
          <p:nvPr/>
        </p:nvGrpSpPr>
        <p:grpSpPr bwMode="auto">
          <a:xfrm>
            <a:off x="1687513" y="3538538"/>
            <a:ext cx="4557712" cy="823912"/>
            <a:chOff x="1063" y="2229"/>
            <a:chExt cx="2871" cy="519"/>
          </a:xfrm>
        </p:grpSpPr>
        <p:sp>
          <p:nvSpPr>
            <p:cNvPr id="69656" name="Rectangle 32"/>
            <p:cNvSpPr>
              <a:spLocks noChangeArrowheads="1"/>
            </p:cNvSpPr>
            <p:nvPr/>
          </p:nvSpPr>
          <p:spPr bwMode="auto">
            <a:xfrm>
              <a:off x="1482" y="2354"/>
              <a:ext cx="175" cy="24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b="1" i="1">
                  <a:latin typeface="Symbol" pitchFamily="18" charset="2"/>
                </a:rPr>
                <a:t>g</a:t>
              </a:r>
            </a:p>
          </p:txBody>
        </p:sp>
        <p:grpSp>
          <p:nvGrpSpPr>
            <p:cNvPr id="6" name="Group 33"/>
            <p:cNvGrpSpPr>
              <a:grpSpLocks/>
            </p:cNvGrpSpPr>
            <p:nvPr/>
          </p:nvGrpSpPr>
          <p:grpSpPr bwMode="auto">
            <a:xfrm>
              <a:off x="1063" y="2229"/>
              <a:ext cx="2871" cy="519"/>
              <a:chOff x="1063" y="2229"/>
              <a:chExt cx="2871" cy="519"/>
            </a:xfrm>
          </p:grpSpPr>
          <p:sp>
            <p:nvSpPr>
              <p:cNvPr id="69658" name="Line 34"/>
              <p:cNvSpPr>
                <a:spLocks noChangeShapeType="1"/>
              </p:cNvSpPr>
              <p:nvPr/>
            </p:nvSpPr>
            <p:spPr bwMode="auto">
              <a:xfrm flipH="1" flipV="1">
                <a:off x="1229" y="2289"/>
                <a:ext cx="2705" cy="459"/>
              </a:xfrm>
              <a:prstGeom prst="line">
                <a:avLst/>
              </a:prstGeom>
              <a:noFill/>
              <a:ln w="90488">
                <a:solidFill>
                  <a:srgbClr val="E8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9659" name="Freeform 35"/>
              <p:cNvSpPr>
                <a:spLocks/>
              </p:cNvSpPr>
              <p:nvPr/>
            </p:nvSpPr>
            <p:spPr bwMode="auto">
              <a:xfrm>
                <a:off x="1063" y="2229"/>
                <a:ext cx="247" cy="156"/>
              </a:xfrm>
              <a:custGeom>
                <a:avLst/>
                <a:gdLst>
                  <a:gd name="T0" fmla="*/ 218 w 247"/>
                  <a:gd name="T1" fmla="*/ 156 h 156"/>
                  <a:gd name="T2" fmla="*/ 0 w 247"/>
                  <a:gd name="T3" fmla="*/ 38 h 156"/>
                  <a:gd name="T4" fmla="*/ 247 w 247"/>
                  <a:gd name="T5" fmla="*/ 0 h 156"/>
                  <a:gd name="T6" fmla="*/ 195 w 247"/>
                  <a:gd name="T7" fmla="*/ 71 h 156"/>
                  <a:gd name="T8" fmla="*/ 218 w 247"/>
                  <a:gd name="T9" fmla="*/ 156 h 1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47"/>
                  <a:gd name="T16" fmla="*/ 0 h 156"/>
                  <a:gd name="T17" fmla="*/ 247 w 247"/>
                  <a:gd name="T18" fmla="*/ 156 h 1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47" h="156">
                    <a:moveTo>
                      <a:pt x="218" y="156"/>
                    </a:moveTo>
                    <a:lnTo>
                      <a:pt x="0" y="38"/>
                    </a:lnTo>
                    <a:lnTo>
                      <a:pt x="247" y="0"/>
                    </a:lnTo>
                    <a:lnTo>
                      <a:pt x="195" y="71"/>
                    </a:lnTo>
                    <a:lnTo>
                      <a:pt x="218" y="156"/>
                    </a:lnTo>
                    <a:close/>
                  </a:path>
                </a:pathLst>
              </a:custGeom>
              <a:solidFill>
                <a:srgbClr val="E8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7" name="Group 56"/>
          <p:cNvGrpSpPr>
            <a:grpSpLocks/>
          </p:cNvGrpSpPr>
          <p:nvPr/>
        </p:nvGrpSpPr>
        <p:grpSpPr bwMode="auto">
          <a:xfrm>
            <a:off x="6232525" y="3740150"/>
            <a:ext cx="1906588" cy="1679575"/>
            <a:chOff x="3926" y="2356"/>
            <a:chExt cx="1201" cy="1058"/>
          </a:xfrm>
        </p:grpSpPr>
        <p:sp>
          <p:nvSpPr>
            <p:cNvPr id="69650" name="Freeform 57"/>
            <p:cNvSpPr>
              <a:spLocks/>
            </p:cNvSpPr>
            <p:nvPr/>
          </p:nvSpPr>
          <p:spPr bwMode="auto">
            <a:xfrm>
              <a:off x="3940" y="2512"/>
              <a:ext cx="783" cy="637"/>
            </a:xfrm>
            <a:custGeom>
              <a:avLst/>
              <a:gdLst>
                <a:gd name="T0" fmla="*/ 783 w 783"/>
                <a:gd name="T1" fmla="*/ 0 h 637"/>
                <a:gd name="T2" fmla="*/ 171 w 783"/>
                <a:gd name="T3" fmla="*/ 0 h 637"/>
                <a:gd name="T4" fmla="*/ 0 w 783"/>
                <a:gd name="T5" fmla="*/ 133 h 637"/>
                <a:gd name="T6" fmla="*/ 5 w 783"/>
                <a:gd name="T7" fmla="*/ 637 h 637"/>
                <a:gd name="T8" fmla="*/ 783 w 783"/>
                <a:gd name="T9" fmla="*/ 637 h 637"/>
                <a:gd name="T10" fmla="*/ 783 w 783"/>
                <a:gd name="T11" fmla="*/ 0 h 63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783"/>
                <a:gd name="T19" fmla="*/ 0 h 637"/>
                <a:gd name="T20" fmla="*/ 783 w 783"/>
                <a:gd name="T21" fmla="*/ 637 h 637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783" h="637">
                  <a:moveTo>
                    <a:pt x="783" y="0"/>
                  </a:moveTo>
                  <a:lnTo>
                    <a:pt x="171" y="0"/>
                  </a:lnTo>
                  <a:lnTo>
                    <a:pt x="0" y="133"/>
                  </a:lnTo>
                  <a:lnTo>
                    <a:pt x="5" y="637"/>
                  </a:lnTo>
                  <a:lnTo>
                    <a:pt x="783" y="637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9651" name="Freeform 58"/>
            <p:cNvSpPr>
              <a:spLocks/>
            </p:cNvSpPr>
            <p:nvPr/>
          </p:nvSpPr>
          <p:spPr bwMode="auto">
            <a:xfrm>
              <a:off x="4733" y="2498"/>
              <a:ext cx="394" cy="916"/>
            </a:xfrm>
            <a:custGeom>
              <a:avLst/>
              <a:gdLst>
                <a:gd name="T0" fmla="*/ 0 w 394"/>
                <a:gd name="T1" fmla="*/ 916 h 916"/>
                <a:gd name="T2" fmla="*/ 0 w 394"/>
                <a:gd name="T3" fmla="*/ 261 h 916"/>
                <a:gd name="T4" fmla="*/ 394 w 394"/>
                <a:gd name="T5" fmla="*/ 0 h 916"/>
                <a:gd name="T6" fmla="*/ 394 w 394"/>
                <a:gd name="T7" fmla="*/ 655 h 916"/>
                <a:gd name="T8" fmla="*/ 0 w 394"/>
                <a:gd name="T9" fmla="*/ 916 h 9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94"/>
                <a:gd name="T16" fmla="*/ 0 h 916"/>
                <a:gd name="T17" fmla="*/ 394 w 394"/>
                <a:gd name="T18" fmla="*/ 916 h 91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94" h="916">
                  <a:moveTo>
                    <a:pt x="0" y="916"/>
                  </a:moveTo>
                  <a:lnTo>
                    <a:pt x="0" y="261"/>
                  </a:lnTo>
                  <a:lnTo>
                    <a:pt x="394" y="0"/>
                  </a:lnTo>
                  <a:lnTo>
                    <a:pt x="394" y="655"/>
                  </a:lnTo>
                  <a:lnTo>
                    <a:pt x="0" y="916"/>
                  </a:lnTo>
                  <a:close/>
                </a:path>
              </a:pathLst>
            </a:custGeom>
            <a:solidFill>
              <a:srgbClr val="66666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9652" name="Freeform 59"/>
            <p:cNvSpPr>
              <a:spLocks/>
            </p:cNvSpPr>
            <p:nvPr/>
          </p:nvSpPr>
          <p:spPr bwMode="auto">
            <a:xfrm>
              <a:off x="3926" y="2356"/>
              <a:ext cx="1201" cy="403"/>
            </a:xfrm>
            <a:custGeom>
              <a:avLst/>
              <a:gdLst>
                <a:gd name="T0" fmla="*/ 807 w 1201"/>
                <a:gd name="T1" fmla="*/ 403 h 403"/>
                <a:gd name="T2" fmla="*/ 655 w 1201"/>
                <a:gd name="T3" fmla="*/ 375 h 403"/>
                <a:gd name="T4" fmla="*/ 669 w 1201"/>
                <a:gd name="T5" fmla="*/ 275 h 403"/>
                <a:gd name="T6" fmla="*/ 370 w 1201"/>
                <a:gd name="T7" fmla="*/ 270 h 403"/>
                <a:gd name="T8" fmla="*/ 275 w 1201"/>
                <a:gd name="T9" fmla="*/ 185 h 403"/>
                <a:gd name="T10" fmla="*/ 76 w 1201"/>
                <a:gd name="T11" fmla="*/ 280 h 403"/>
                <a:gd name="T12" fmla="*/ 0 w 1201"/>
                <a:gd name="T13" fmla="*/ 261 h 403"/>
                <a:gd name="T14" fmla="*/ 398 w 1201"/>
                <a:gd name="T15" fmla="*/ 0 h 403"/>
                <a:gd name="T16" fmla="*/ 1201 w 1201"/>
                <a:gd name="T17" fmla="*/ 142 h 403"/>
                <a:gd name="T18" fmla="*/ 807 w 1201"/>
                <a:gd name="T19" fmla="*/ 403 h 403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201"/>
                <a:gd name="T31" fmla="*/ 0 h 403"/>
                <a:gd name="T32" fmla="*/ 1201 w 1201"/>
                <a:gd name="T33" fmla="*/ 403 h 403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201" h="403">
                  <a:moveTo>
                    <a:pt x="807" y="403"/>
                  </a:moveTo>
                  <a:lnTo>
                    <a:pt x="655" y="375"/>
                  </a:lnTo>
                  <a:lnTo>
                    <a:pt x="669" y="275"/>
                  </a:lnTo>
                  <a:lnTo>
                    <a:pt x="370" y="270"/>
                  </a:lnTo>
                  <a:lnTo>
                    <a:pt x="275" y="185"/>
                  </a:lnTo>
                  <a:lnTo>
                    <a:pt x="76" y="280"/>
                  </a:lnTo>
                  <a:lnTo>
                    <a:pt x="0" y="261"/>
                  </a:lnTo>
                  <a:lnTo>
                    <a:pt x="398" y="0"/>
                  </a:lnTo>
                  <a:lnTo>
                    <a:pt x="1201" y="142"/>
                  </a:lnTo>
                  <a:lnTo>
                    <a:pt x="807" y="403"/>
                  </a:lnTo>
                  <a:close/>
                </a:path>
              </a:pathLst>
            </a:custGeom>
            <a:solidFill>
              <a:srgbClr val="8C8C87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9653" name="Freeform 60"/>
            <p:cNvSpPr>
              <a:spLocks/>
            </p:cNvSpPr>
            <p:nvPr/>
          </p:nvSpPr>
          <p:spPr bwMode="auto">
            <a:xfrm>
              <a:off x="3926" y="2617"/>
              <a:ext cx="807" cy="797"/>
            </a:xfrm>
            <a:custGeom>
              <a:avLst/>
              <a:gdLst>
                <a:gd name="T0" fmla="*/ 807 w 807"/>
                <a:gd name="T1" fmla="*/ 142 h 797"/>
                <a:gd name="T2" fmla="*/ 655 w 807"/>
                <a:gd name="T3" fmla="*/ 114 h 797"/>
                <a:gd name="T4" fmla="*/ 755 w 807"/>
                <a:gd name="T5" fmla="*/ 342 h 797"/>
                <a:gd name="T6" fmla="*/ 569 w 807"/>
                <a:gd name="T7" fmla="*/ 517 h 797"/>
                <a:gd name="T8" fmla="*/ 403 w 807"/>
                <a:gd name="T9" fmla="*/ 446 h 797"/>
                <a:gd name="T10" fmla="*/ 123 w 807"/>
                <a:gd name="T11" fmla="*/ 456 h 797"/>
                <a:gd name="T12" fmla="*/ 114 w 807"/>
                <a:gd name="T13" fmla="*/ 194 h 797"/>
                <a:gd name="T14" fmla="*/ 76 w 807"/>
                <a:gd name="T15" fmla="*/ 19 h 797"/>
                <a:gd name="T16" fmla="*/ 0 w 807"/>
                <a:gd name="T17" fmla="*/ 0 h 797"/>
                <a:gd name="T18" fmla="*/ 0 w 807"/>
                <a:gd name="T19" fmla="*/ 655 h 797"/>
                <a:gd name="T20" fmla="*/ 807 w 807"/>
                <a:gd name="T21" fmla="*/ 797 h 797"/>
                <a:gd name="T22" fmla="*/ 807 w 807"/>
                <a:gd name="T23" fmla="*/ 142 h 797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807"/>
                <a:gd name="T37" fmla="*/ 0 h 797"/>
                <a:gd name="T38" fmla="*/ 807 w 807"/>
                <a:gd name="T39" fmla="*/ 797 h 797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807" h="797">
                  <a:moveTo>
                    <a:pt x="807" y="142"/>
                  </a:moveTo>
                  <a:lnTo>
                    <a:pt x="655" y="114"/>
                  </a:lnTo>
                  <a:lnTo>
                    <a:pt x="755" y="342"/>
                  </a:lnTo>
                  <a:lnTo>
                    <a:pt x="569" y="517"/>
                  </a:lnTo>
                  <a:lnTo>
                    <a:pt x="403" y="446"/>
                  </a:lnTo>
                  <a:lnTo>
                    <a:pt x="123" y="456"/>
                  </a:lnTo>
                  <a:lnTo>
                    <a:pt x="114" y="194"/>
                  </a:lnTo>
                  <a:lnTo>
                    <a:pt x="76" y="19"/>
                  </a:lnTo>
                  <a:lnTo>
                    <a:pt x="0" y="0"/>
                  </a:lnTo>
                  <a:lnTo>
                    <a:pt x="0" y="655"/>
                  </a:lnTo>
                  <a:lnTo>
                    <a:pt x="807" y="797"/>
                  </a:lnTo>
                  <a:lnTo>
                    <a:pt x="807" y="142"/>
                  </a:lnTo>
                  <a:close/>
                </a:path>
              </a:pathLst>
            </a:custGeom>
            <a:solidFill>
              <a:srgbClr val="53534E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9654" name="Freeform 61"/>
            <p:cNvSpPr>
              <a:spLocks/>
            </p:cNvSpPr>
            <p:nvPr/>
          </p:nvSpPr>
          <p:spPr bwMode="auto">
            <a:xfrm>
              <a:off x="4002" y="2541"/>
              <a:ext cx="593" cy="119"/>
            </a:xfrm>
            <a:custGeom>
              <a:avLst/>
              <a:gdLst>
                <a:gd name="T0" fmla="*/ 593 w 593"/>
                <a:gd name="T1" fmla="*/ 90 h 119"/>
                <a:gd name="T2" fmla="*/ 294 w 593"/>
                <a:gd name="T3" fmla="*/ 85 h 119"/>
                <a:gd name="T4" fmla="*/ 199 w 593"/>
                <a:gd name="T5" fmla="*/ 0 h 119"/>
                <a:gd name="T6" fmla="*/ 0 w 593"/>
                <a:gd name="T7" fmla="*/ 95 h 119"/>
                <a:gd name="T8" fmla="*/ 28 w 593"/>
                <a:gd name="T9" fmla="*/ 114 h 119"/>
                <a:gd name="T10" fmla="*/ 199 w 593"/>
                <a:gd name="T11" fmla="*/ 28 h 119"/>
                <a:gd name="T12" fmla="*/ 294 w 593"/>
                <a:gd name="T13" fmla="*/ 114 h 119"/>
                <a:gd name="T14" fmla="*/ 588 w 593"/>
                <a:gd name="T15" fmla="*/ 119 h 119"/>
                <a:gd name="T16" fmla="*/ 593 w 593"/>
                <a:gd name="T17" fmla="*/ 90 h 11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593"/>
                <a:gd name="T28" fmla="*/ 0 h 119"/>
                <a:gd name="T29" fmla="*/ 593 w 593"/>
                <a:gd name="T30" fmla="*/ 119 h 119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593" h="119">
                  <a:moveTo>
                    <a:pt x="593" y="90"/>
                  </a:moveTo>
                  <a:lnTo>
                    <a:pt x="294" y="85"/>
                  </a:lnTo>
                  <a:lnTo>
                    <a:pt x="199" y="0"/>
                  </a:lnTo>
                  <a:lnTo>
                    <a:pt x="0" y="95"/>
                  </a:lnTo>
                  <a:lnTo>
                    <a:pt x="28" y="114"/>
                  </a:lnTo>
                  <a:lnTo>
                    <a:pt x="199" y="28"/>
                  </a:lnTo>
                  <a:lnTo>
                    <a:pt x="294" y="114"/>
                  </a:lnTo>
                  <a:lnTo>
                    <a:pt x="588" y="119"/>
                  </a:lnTo>
                  <a:lnTo>
                    <a:pt x="593" y="90"/>
                  </a:lnTo>
                  <a:close/>
                </a:path>
              </a:pathLst>
            </a:custGeom>
            <a:solidFill>
              <a:srgbClr val="1A1A18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9655" name="Freeform 62"/>
            <p:cNvSpPr>
              <a:spLocks/>
            </p:cNvSpPr>
            <p:nvPr/>
          </p:nvSpPr>
          <p:spPr bwMode="auto">
            <a:xfrm>
              <a:off x="4002" y="2636"/>
              <a:ext cx="512" cy="498"/>
            </a:xfrm>
            <a:custGeom>
              <a:avLst/>
              <a:gdLst>
                <a:gd name="T0" fmla="*/ 0 w 512"/>
                <a:gd name="T1" fmla="*/ 0 h 498"/>
                <a:gd name="T2" fmla="*/ 38 w 512"/>
                <a:gd name="T3" fmla="*/ 175 h 498"/>
                <a:gd name="T4" fmla="*/ 47 w 512"/>
                <a:gd name="T5" fmla="*/ 437 h 498"/>
                <a:gd name="T6" fmla="*/ 327 w 512"/>
                <a:gd name="T7" fmla="*/ 427 h 498"/>
                <a:gd name="T8" fmla="*/ 493 w 512"/>
                <a:gd name="T9" fmla="*/ 498 h 498"/>
                <a:gd name="T10" fmla="*/ 512 w 512"/>
                <a:gd name="T11" fmla="*/ 475 h 498"/>
                <a:gd name="T12" fmla="*/ 356 w 512"/>
                <a:gd name="T13" fmla="*/ 399 h 498"/>
                <a:gd name="T14" fmla="*/ 76 w 512"/>
                <a:gd name="T15" fmla="*/ 408 h 498"/>
                <a:gd name="T16" fmla="*/ 71 w 512"/>
                <a:gd name="T17" fmla="*/ 161 h 498"/>
                <a:gd name="T18" fmla="*/ 28 w 512"/>
                <a:gd name="T19" fmla="*/ 19 h 498"/>
                <a:gd name="T20" fmla="*/ 0 w 512"/>
                <a:gd name="T21" fmla="*/ 0 h 498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512"/>
                <a:gd name="T34" fmla="*/ 0 h 498"/>
                <a:gd name="T35" fmla="*/ 512 w 512"/>
                <a:gd name="T36" fmla="*/ 498 h 498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512" h="498">
                  <a:moveTo>
                    <a:pt x="0" y="0"/>
                  </a:moveTo>
                  <a:lnTo>
                    <a:pt x="38" y="175"/>
                  </a:lnTo>
                  <a:lnTo>
                    <a:pt x="47" y="437"/>
                  </a:lnTo>
                  <a:lnTo>
                    <a:pt x="327" y="427"/>
                  </a:lnTo>
                  <a:lnTo>
                    <a:pt x="493" y="498"/>
                  </a:lnTo>
                  <a:lnTo>
                    <a:pt x="512" y="475"/>
                  </a:lnTo>
                  <a:lnTo>
                    <a:pt x="356" y="399"/>
                  </a:lnTo>
                  <a:lnTo>
                    <a:pt x="76" y="408"/>
                  </a:lnTo>
                  <a:lnTo>
                    <a:pt x="71" y="161"/>
                  </a:lnTo>
                  <a:lnTo>
                    <a:pt x="28" y="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0403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63"/>
          <p:cNvGrpSpPr>
            <a:grpSpLocks/>
          </p:cNvGrpSpPr>
          <p:nvPr/>
        </p:nvGrpSpPr>
        <p:grpSpPr bwMode="auto">
          <a:xfrm>
            <a:off x="7064375" y="3070225"/>
            <a:ext cx="1193800" cy="971550"/>
            <a:chOff x="4450" y="1934"/>
            <a:chExt cx="752" cy="612"/>
          </a:xfrm>
        </p:grpSpPr>
        <p:sp>
          <p:nvSpPr>
            <p:cNvPr id="69648" name="Rectangle 64"/>
            <p:cNvSpPr>
              <a:spLocks noChangeArrowheads="1"/>
            </p:cNvSpPr>
            <p:nvPr/>
          </p:nvSpPr>
          <p:spPr bwMode="auto">
            <a:xfrm>
              <a:off x="4450" y="1934"/>
              <a:ext cx="752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b="1">
                  <a:solidFill>
                    <a:srgbClr val="000000"/>
                  </a:solidFill>
                </a:rPr>
                <a:t>Lead block</a:t>
              </a:r>
              <a:endParaRPr lang="en-US" b="1"/>
            </a:p>
          </p:txBody>
        </p:sp>
        <p:sp>
          <p:nvSpPr>
            <p:cNvPr id="69649" name="Line 65"/>
            <p:cNvSpPr>
              <a:spLocks noChangeShapeType="1"/>
            </p:cNvSpPr>
            <p:nvPr/>
          </p:nvSpPr>
          <p:spPr bwMode="auto">
            <a:xfrm flipV="1">
              <a:off x="4666" y="2104"/>
              <a:ext cx="100" cy="442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9642" name="Freeform 67"/>
          <p:cNvSpPr>
            <a:spLocks/>
          </p:cNvSpPr>
          <p:nvPr/>
        </p:nvSpPr>
        <p:spPr bwMode="auto">
          <a:xfrm>
            <a:off x="6596063" y="4378325"/>
            <a:ext cx="307975" cy="165100"/>
          </a:xfrm>
          <a:custGeom>
            <a:avLst/>
            <a:gdLst>
              <a:gd name="T0" fmla="*/ 285750 w 194"/>
              <a:gd name="T1" fmla="*/ 165100 h 104"/>
              <a:gd name="T2" fmla="*/ 22225 w 194"/>
              <a:gd name="T3" fmla="*/ 127000 h 104"/>
              <a:gd name="T4" fmla="*/ 22225 w 194"/>
              <a:gd name="T5" fmla="*/ 127000 h 104"/>
              <a:gd name="T6" fmla="*/ 6350 w 194"/>
              <a:gd name="T7" fmla="*/ 119063 h 104"/>
              <a:gd name="T8" fmla="*/ 6350 w 194"/>
              <a:gd name="T9" fmla="*/ 104775 h 104"/>
              <a:gd name="T10" fmla="*/ 0 w 194"/>
              <a:gd name="T11" fmla="*/ 82550 h 104"/>
              <a:gd name="T12" fmla="*/ 0 w 194"/>
              <a:gd name="T13" fmla="*/ 60325 h 104"/>
              <a:gd name="T14" fmla="*/ 0 w 194"/>
              <a:gd name="T15" fmla="*/ 60325 h 104"/>
              <a:gd name="T16" fmla="*/ 6350 w 194"/>
              <a:gd name="T17" fmla="*/ 36513 h 104"/>
              <a:gd name="T18" fmla="*/ 14288 w 194"/>
              <a:gd name="T19" fmla="*/ 14288 h 104"/>
              <a:gd name="T20" fmla="*/ 30163 w 194"/>
              <a:gd name="T21" fmla="*/ 6350 h 104"/>
              <a:gd name="T22" fmla="*/ 44450 w 194"/>
              <a:gd name="T23" fmla="*/ 0 h 104"/>
              <a:gd name="T24" fmla="*/ 307975 w 194"/>
              <a:gd name="T25" fmla="*/ 44450 h 104"/>
              <a:gd name="T26" fmla="*/ 285750 w 194"/>
              <a:gd name="T27" fmla="*/ 165100 h 104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w 194"/>
              <a:gd name="T43" fmla="*/ 0 h 104"/>
              <a:gd name="T44" fmla="*/ 194 w 194"/>
              <a:gd name="T45" fmla="*/ 104 h 104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T42" t="T43" r="T44" b="T45"/>
            <a:pathLst>
              <a:path w="194" h="104">
                <a:moveTo>
                  <a:pt x="180" y="104"/>
                </a:moveTo>
                <a:lnTo>
                  <a:pt x="14" y="80"/>
                </a:lnTo>
                <a:lnTo>
                  <a:pt x="4" y="75"/>
                </a:lnTo>
                <a:lnTo>
                  <a:pt x="4" y="66"/>
                </a:lnTo>
                <a:lnTo>
                  <a:pt x="0" y="52"/>
                </a:lnTo>
                <a:lnTo>
                  <a:pt x="0" y="38"/>
                </a:lnTo>
                <a:lnTo>
                  <a:pt x="4" y="23"/>
                </a:lnTo>
                <a:lnTo>
                  <a:pt x="9" y="9"/>
                </a:lnTo>
                <a:lnTo>
                  <a:pt x="19" y="4"/>
                </a:lnTo>
                <a:lnTo>
                  <a:pt x="28" y="0"/>
                </a:lnTo>
                <a:lnTo>
                  <a:pt x="194" y="28"/>
                </a:lnTo>
                <a:lnTo>
                  <a:pt x="180" y="104"/>
                </a:lnTo>
                <a:close/>
              </a:path>
            </a:pathLst>
          </a:custGeom>
          <a:solidFill>
            <a:srgbClr val="D21009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69643" name="Freeform 68"/>
          <p:cNvSpPr>
            <a:spLocks/>
          </p:cNvSpPr>
          <p:nvPr/>
        </p:nvSpPr>
        <p:spPr bwMode="auto">
          <a:xfrm>
            <a:off x="6845300" y="4346575"/>
            <a:ext cx="361950" cy="361950"/>
          </a:xfrm>
          <a:custGeom>
            <a:avLst/>
            <a:gdLst>
              <a:gd name="T0" fmla="*/ 0 w 228"/>
              <a:gd name="T1" fmla="*/ 195262 h 228"/>
              <a:gd name="T2" fmla="*/ 0 w 228"/>
              <a:gd name="T3" fmla="*/ 195262 h 228"/>
              <a:gd name="T4" fmla="*/ 7938 w 228"/>
              <a:gd name="T5" fmla="*/ 233363 h 228"/>
              <a:gd name="T6" fmla="*/ 23812 w 228"/>
              <a:gd name="T7" fmla="*/ 263525 h 228"/>
              <a:gd name="T8" fmla="*/ 38100 w 228"/>
              <a:gd name="T9" fmla="*/ 293688 h 228"/>
              <a:gd name="T10" fmla="*/ 68263 w 228"/>
              <a:gd name="T11" fmla="*/ 315913 h 228"/>
              <a:gd name="T12" fmla="*/ 98425 w 228"/>
              <a:gd name="T13" fmla="*/ 338138 h 228"/>
              <a:gd name="T14" fmla="*/ 128588 w 228"/>
              <a:gd name="T15" fmla="*/ 354013 h 228"/>
              <a:gd name="T16" fmla="*/ 166688 w 228"/>
              <a:gd name="T17" fmla="*/ 361950 h 228"/>
              <a:gd name="T18" fmla="*/ 196850 w 228"/>
              <a:gd name="T19" fmla="*/ 361950 h 228"/>
              <a:gd name="T20" fmla="*/ 196850 w 228"/>
              <a:gd name="T21" fmla="*/ 361950 h 228"/>
              <a:gd name="T22" fmla="*/ 234950 w 228"/>
              <a:gd name="T23" fmla="*/ 354013 h 228"/>
              <a:gd name="T24" fmla="*/ 265113 w 228"/>
              <a:gd name="T25" fmla="*/ 338138 h 228"/>
              <a:gd name="T26" fmla="*/ 295275 w 228"/>
              <a:gd name="T27" fmla="*/ 323850 h 228"/>
              <a:gd name="T28" fmla="*/ 317500 w 228"/>
              <a:gd name="T29" fmla="*/ 301625 h 228"/>
              <a:gd name="T30" fmla="*/ 339725 w 228"/>
              <a:gd name="T31" fmla="*/ 271463 h 228"/>
              <a:gd name="T32" fmla="*/ 355600 w 228"/>
              <a:gd name="T33" fmla="*/ 241300 h 228"/>
              <a:gd name="T34" fmla="*/ 361950 w 228"/>
              <a:gd name="T35" fmla="*/ 203200 h 228"/>
              <a:gd name="T36" fmla="*/ 361950 w 228"/>
              <a:gd name="T37" fmla="*/ 165100 h 228"/>
              <a:gd name="T38" fmla="*/ 361950 w 228"/>
              <a:gd name="T39" fmla="*/ 165100 h 228"/>
              <a:gd name="T40" fmla="*/ 355600 w 228"/>
              <a:gd name="T41" fmla="*/ 134938 h 228"/>
              <a:gd name="T42" fmla="*/ 339725 w 228"/>
              <a:gd name="T43" fmla="*/ 96837 h 228"/>
              <a:gd name="T44" fmla="*/ 317500 w 228"/>
              <a:gd name="T45" fmla="*/ 66675 h 228"/>
              <a:gd name="T46" fmla="*/ 295275 w 228"/>
              <a:gd name="T47" fmla="*/ 44450 h 228"/>
              <a:gd name="T48" fmla="*/ 265113 w 228"/>
              <a:gd name="T49" fmla="*/ 22225 h 228"/>
              <a:gd name="T50" fmla="*/ 234950 w 228"/>
              <a:gd name="T51" fmla="*/ 7938 h 228"/>
              <a:gd name="T52" fmla="*/ 196850 w 228"/>
              <a:gd name="T53" fmla="*/ 0 h 228"/>
              <a:gd name="T54" fmla="*/ 158750 w 228"/>
              <a:gd name="T55" fmla="*/ 0 h 228"/>
              <a:gd name="T56" fmla="*/ 158750 w 228"/>
              <a:gd name="T57" fmla="*/ 0 h 228"/>
              <a:gd name="T58" fmla="*/ 120650 w 228"/>
              <a:gd name="T59" fmla="*/ 7938 h 228"/>
              <a:gd name="T60" fmla="*/ 90488 w 228"/>
              <a:gd name="T61" fmla="*/ 22225 h 228"/>
              <a:gd name="T62" fmla="*/ 60325 w 228"/>
              <a:gd name="T63" fmla="*/ 36513 h 228"/>
              <a:gd name="T64" fmla="*/ 38100 w 228"/>
              <a:gd name="T65" fmla="*/ 60325 h 228"/>
              <a:gd name="T66" fmla="*/ 23812 w 228"/>
              <a:gd name="T67" fmla="*/ 90488 h 228"/>
              <a:gd name="T68" fmla="*/ 7938 w 228"/>
              <a:gd name="T69" fmla="*/ 120650 h 228"/>
              <a:gd name="T70" fmla="*/ 0 w 228"/>
              <a:gd name="T71" fmla="*/ 157163 h 228"/>
              <a:gd name="T72" fmla="*/ 0 w 228"/>
              <a:gd name="T73" fmla="*/ 195262 h 228"/>
              <a:gd name="T74" fmla="*/ 0 w 228"/>
              <a:gd name="T75" fmla="*/ 195262 h 228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w 228"/>
              <a:gd name="T115" fmla="*/ 0 h 228"/>
              <a:gd name="T116" fmla="*/ 228 w 228"/>
              <a:gd name="T117" fmla="*/ 228 h 228"/>
            </a:gdLst>
            <a:ahLst/>
            <a:cxnLst>
              <a:cxn ang="T76">
                <a:pos x="T0" y="T1"/>
              </a:cxn>
              <a:cxn ang="T77">
                <a:pos x="T2" y="T3"/>
              </a:cxn>
              <a:cxn ang="T78">
                <a:pos x="T4" y="T5"/>
              </a:cxn>
              <a:cxn ang="T79">
                <a:pos x="T6" y="T7"/>
              </a:cxn>
              <a:cxn ang="T80">
                <a:pos x="T8" y="T9"/>
              </a:cxn>
              <a:cxn ang="T81">
                <a:pos x="T10" y="T11"/>
              </a:cxn>
              <a:cxn ang="T82">
                <a:pos x="T12" y="T13"/>
              </a:cxn>
              <a:cxn ang="T83">
                <a:pos x="T14" y="T15"/>
              </a:cxn>
              <a:cxn ang="T84">
                <a:pos x="T16" y="T17"/>
              </a:cxn>
              <a:cxn ang="T85">
                <a:pos x="T18" y="T19"/>
              </a:cxn>
              <a:cxn ang="T86">
                <a:pos x="T20" y="T21"/>
              </a:cxn>
              <a:cxn ang="T87">
                <a:pos x="T22" y="T23"/>
              </a:cxn>
              <a:cxn ang="T88">
                <a:pos x="T24" y="T25"/>
              </a:cxn>
              <a:cxn ang="T89">
                <a:pos x="T26" y="T27"/>
              </a:cxn>
              <a:cxn ang="T90">
                <a:pos x="T28" y="T29"/>
              </a:cxn>
              <a:cxn ang="T91">
                <a:pos x="T30" y="T31"/>
              </a:cxn>
              <a:cxn ang="T92">
                <a:pos x="T32" y="T33"/>
              </a:cxn>
              <a:cxn ang="T93">
                <a:pos x="T34" y="T35"/>
              </a:cxn>
              <a:cxn ang="T94">
                <a:pos x="T36" y="T37"/>
              </a:cxn>
              <a:cxn ang="T95">
                <a:pos x="T38" y="T39"/>
              </a:cxn>
              <a:cxn ang="T96">
                <a:pos x="T40" y="T41"/>
              </a:cxn>
              <a:cxn ang="T97">
                <a:pos x="T42" y="T43"/>
              </a:cxn>
              <a:cxn ang="T98">
                <a:pos x="T44" y="T45"/>
              </a:cxn>
              <a:cxn ang="T99">
                <a:pos x="T46" y="T47"/>
              </a:cxn>
              <a:cxn ang="T100">
                <a:pos x="T48" y="T49"/>
              </a:cxn>
              <a:cxn ang="T101">
                <a:pos x="T50" y="T51"/>
              </a:cxn>
              <a:cxn ang="T102">
                <a:pos x="T52" y="T53"/>
              </a:cxn>
              <a:cxn ang="T103">
                <a:pos x="T54" y="T55"/>
              </a:cxn>
              <a:cxn ang="T104">
                <a:pos x="T56" y="T57"/>
              </a:cxn>
              <a:cxn ang="T105">
                <a:pos x="T58" y="T59"/>
              </a:cxn>
              <a:cxn ang="T106">
                <a:pos x="T60" y="T61"/>
              </a:cxn>
              <a:cxn ang="T107">
                <a:pos x="T62" y="T63"/>
              </a:cxn>
              <a:cxn ang="T108">
                <a:pos x="T64" y="T65"/>
              </a:cxn>
              <a:cxn ang="T109">
                <a:pos x="T66" y="T67"/>
              </a:cxn>
              <a:cxn ang="T110">
                <a:pos x="T68" y="T69"/>
              </a:cxn>
              <a:cxn ang="T111">
                <a:pos x="T70" y="T71"/>
              </a:cxn>
              <a:cxn ang="T112">
                <a:pos x="T72" y="T73"/>
              </a:cxn>
              <a:cxn ang="T113">
                <a:pos x="T74" y="T75"/>
              </a:cxn>
            </a:cxnLst>
            <a:rect l="T114" t="T115" r="T116" b="T117"/>
            <a:pathLst>
              <a:path w="228" h="228">
                <a:moveTo>
                  <a:pt x="0" y="123"/>
                </a:moveTo>
                <a:lnTo>
                  <a:pt x="0" y="123"/>
                </a:lnTo>
                <a:lnTo>
                  <a:pt x="5" y="147"/>
                </a:lnTo>
                <a:lnTo>
                  <a:pt x="15" y="166"/>
                </a:lnTo>
                <a:lnTo>
                  <a:pt x="24" y="185"/>
                </a:lnTo>
                <a:lnTo>
                  <a:pt x="43" y="199"/>
                </a:lnTo>
                <a:lnTo>
                  <a:pt x="62" y="213"/>
                </a:lnTo>
                <a:lnTo>
                  <a:pt x="81" y="223"/>
                </a:lnTo>
                <a:lnTo>
                  <a:pt x="105" y="228"/>
                </a:lnTo>
                <a:lnTo>
                  <a:pt x="124" y="228"/>
                </a:lnTo>
                <a:lnTo>
                  <a:pt x="148" y="223"/>
                </a:lnTo>
                <a:lnTo>
                  <a:pt x="167" y="213"/>
                </a:lnTo>
                <a:lnTo>
                  <a:pt x="186" y="204"/>
                </a:lnTo>
                <a:lnTo>
                  <a:pt x="200" y="190"/>
                </a:lnTo>
                <a:lnTo>
                  <a:pt x="214" y="171"/>
                </a:lnTo>
                <a:lnTo>
                  <a:pt x="224" y="152"/>
                </a:lnTo>
                <a:lnTo>
                  <a:pt x="228" y="128"/>
                </a:lnTo>
                <a:lnTo>
                  <a:pt x="228" y="104"/>
                </a:lnTo>
                <a:lnTo>
                  <a:pt x="224" y="85"/>
                </a:lnTo>
                <a:lnTo>
                  <a:pt x="214" y="61"/>
                </a:lnTo>
                <a:lnTo>
                  <a:pt x="200" y="42"/>
                </a:lnTo>
                <a:lnTo>
                  <a:pt x="186" y="28"/>
                </a:lnTo>
                <a:lnTo>
                  <a:pt x="167" y="14"/>
                </a:lnTo>
                <a:lnTo>
                  <a:pt x="148" y="5"/>
                </a:lnTo>
                <a:lnTo>
                  <a:pt x="124" y="0"/>
                </a:lnTo>
                <a:lnTo>
                  <a:pt x="100" y="0"/>
                </a:lnTo>
                <a:lnTo>
                  <a:pt x="76" y="5"/>
                </a:lnTo>
                <a:lnTo>
                  <a:pt x="57" y="14"/>
                </a:lnTo>
                <a:lnTo>
                  <a:pt x="38" y="23"/>
                </a:lnTo>
                <a:lnTo>
                  <a:pt x="24" y="38"/>
                </a:lnTo>
                <a:lnTo>
                  <a:pt x="15" y="57"/>
                </a:lnTo>
                <a:lnTo>
                  <a:pt x="5" y="76"/>
                </a:lnTo>
                <a:lnTo>
                  <a:pt x="0" y="99"/>
                </a:lnTo>
                <a:lnTo>
                  <a:pt x="0" y="123"/>
                </a:lnTo>
                <a:close/>
              </a:path>
            </a:pathLst>
          </a:custGeom>
          <a:solidFill>
            <a:srgbClr val="FD341F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grpSp>
        <p:nvGrpSpPr>
          <p:cNvPr id="9" name="Group 69"/>
          <p:cNvGrpSpPr>
            <a:grpSpLocks/>
          </p:cNvGrpSpPr>
          <p:nvPr/>
        </p:nvGrpSpPr>
        <p:grpSpPr bwMode="auto">
          <a:xfrm>
            <a:off x="5637213" y="4643438"/>
            <a:ext cx="2478087" cy="1349375"/>
            <a:chOff x="3557" y="2925"/>
            <a:chExt cx="1561" cy="850"/>
          </a:xfrm>
        </p:grpSpPr>
        <p:sp>
          <p:nvSpPr>
            <p:cNvPr id="69645" name="Rectangle 70"/>
            <p:cNvSpPr>
              <a:spLocks noChangeArrowheads="1"/>
            </p:cNvSpPr>
            <p:nvPr/>
          </p:nvSpPr>
          <p:spPr bwMode="auto">
            <a:xfrm>
              <a:off x="3557" y="3602"/>
              <a:ext cx="1561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b="1">
                  <a:solidFill>
                    <a:srgbClr val="000000"/>
                  </a:solidFill>
                </a:rPr>
                <a:t>Radioactive substance</a:t>
              </a:r>
              <a:endParaRPr lang="en-US" b="1"/>
            </a:p>
          </p:txBody>
        </p:sp>
        <p:sp>
          <p:nvSpPr>
            <p:cNvPr id="69646" name="Line 71"/>
            <p:cNvSpPr>
              <a:spLocks noChangeShapeType="1"/>
            </p:cNvSpPr>
            <p:nvPr/>
          </p:nvSpPr>
          <p:spPr bwMode="auto">
            <a:xfrm flipV="1">
              <a:off x="4263" y="2925"/>
              <a:ext cx="142" cy="675"/>
            </a:xfrm>
            <a:prstGeom prst="line">
              <a:avLst/>
            </a:prstGeom>
            <a:noFill/>
            <a:ln w="38100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9647" name="Line 72"/>
            <p:cNvSpPr>
              <a:spLocks noChangeShapeType="1"/>
            </p:cNvSpPr>
            <p:nvPr/>
          </p:nvSpPr>
          <p:spPr bwMode="auto">
            <a:xfrm flipV="1">
              <a:off x="4261" y="2930"/>
              <a:ext cx="143" cy="674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55"/>
          <p:cNvGrpSpPr>
            <a:grpSpLocks/>
          </p:cNvGrpSpPr>
          <p:nvPr/>
        </p:nvGrpSpPr>
        <p:grpSpPr bwMode="auto">
          <a:xfrm>
            <a:off x="450850" y="641350"/>
            <a:ext cx="2328863" cy="5992813"/>
            <a:chOff x="284" y="404"/>
            <a:chExt cx="1467" cy="3775"/>
          </a:xfrm>
        </p:grpSpPr>
        <p:sp>
          <p:nvSpPr>
            <p:cNvPr id="70702" name="Freeform 56"/>
            <p:cNvSpPr>
              <a:spLocks/>
            </p:cNvSpPr>
            <p:nvPr/>
          </p:nvSpPr>
          <p:spPr bwMode="auto">
            <a:xfrm>
              <a:off x="375" y="428"/>
              <a:ext cx="1376" cy="3751"/>
            </a:xfrm>
            <a:custGeom>
              <a:avLst/>
              <a:gdLst>
                <a:gd name="T0" fmla="*/ 0 w 1376"/>
                <a:gd name="T1" fmla="*/ 3751 h 3751"/>
                <a:gd name="T2" fmla="*/ 0 w 1376"/>
                <a:gd name="T3" fmla="*/ 912 h 3751"/>
                <a:gd name="T4" fmla="*/ 1376 w 1376"/>
                <a:gd name="T5" fmla="*/ 0 h 3751"/>
                <a:gd name="T6" fmla="*/ 1376 w 1376"/>
                <a:gd name="T7" fmla="*/ 2834 h 3751"/>
                <a:gd name="T8" fmla="*/ 0 w 1376"/>
                <a:gd name="T9" fmla="*/ 3751 h 375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76"/>
                <a:gd name="T16" fmla="*/ 0 h 3751"/>
                <a:gd name="T17" fmla="*/ 1376 w 1376"/>
                <a:gd name="T18" fmla="*/ 3751 h 375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76" h="3751">
                  <a:moveTo>
                    <a:pt x="0" y="3751"/>
                  </a:moveTo>
                  <a:lnTo>
                    <a:pt x="0" y="912"/>
                  </a:lnTo>
                  <a:lnTo>
                    <a:pt x="1376" y="0"/>
                  </a:lnTo>
                  <a:lnTo>
                    <a:pt x="1376" y="2834"/>
                  </a:lnTo>
                  <a:lnTo>
                    <a:pt x="0" y="3751"/>
                  </a:lnTo>
                  <a:close/>
                </a:path>
              </a:pathLst>
            </a:custGeom>
            <a:solidFill>
              <a:srgbClr val="67AED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0703" name="Freeform 57"/>
            <p:cNvSpPr>
              <a:spLocks/>
            </p:cNvSpPr>
            <p:nvPr/>
          </p:nvSpPr>
          <p:spPr bwMode="auto">
            <a:xfrm>
              <a:off x="284" y="1321"/>
              <a:ext cx="91" cy="2858"/>
            </a:xfrm>
            <a:custGeom>
              <a:avLst/>
              <a:gdLst>
                <a:gd name="T0" fmla="*/ 91 w 91"/>
                <a:gd name="T1" fmla="*/ 2858 h 2858"/>
                <a:gd name="T2" fmla="*/ 91 w 91"/>
                <a:gd name="T3" fmla="*/ 19 h 2858"/>
                <a:gd name="T4" fmla="*/ 0 w 91"/>
                <a:gd name="T5" fmla="*/ 0 h 2858"/>
                <a:gd name="T6" fmla="*/ 0 w 91"/>
                <a:gd name="T7" fmla="*/ 2839 h 2858"/>
                <a:gd name="T8" fmla="*/ 91 w 91"/>
                <a:gd name="T9" fmla="*/ 2858 h 285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1"/>
                <a:gd name="T16" fmla="*/ 0 h 2858"/>
                <a:gd name="T17" fmla="*/ 91 w 91"/>
                <a:gd name="T18" fmla="*/ 2858 h 285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1" h="2858">
                  <a:moveTo>
                    <a:pt x="91" y="2858"/>
                  </a:moveTo>
                  <a:lnTo>
                    <a:pt x="91" y="19"/>
                  </a:lnTo>
                  <a:lnTo>
                    <a:pt x="0" y="0"/>
                  </a:lnTo>
                  <a:lnTo>
                    <a:pt x="0" y="2839"/>
                  </a:lnTo>
                  <a:lnTo>
                    <a:pt x="91" y="2858"/>
                  </a:lnTo>
                  <a:close/>
                </a:path>
              </a:pathLst>
            </a:custGeom>
            <a:solidFill>
              <a:srgbClr val="A5CEE3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0704" name="Freeform 58"/>
            <p:cNvSpPr>
              <a:spLocks/>
            </p:cNvSpPr>
            <p:nvPr/>
          </p:nvSpPr>
          <p:spPr bwMode="auto">
            <a:xfrm>
              <a:off x="284" y="404"/>
              <a:ext cx="1467" cy="936"/>
            </a:xfrm>
            <a:custGeom>
              <a:avLst/>
              <a:gdLst>
                <a:gd name="T0" fmla="*/ 1467 w 1467"/>
                <a:gd name="T1" fmla="*/ 24 h 936"/>
                <a:gd name="T2" fmla="*/ 91 w 1467"/>
                <a:gd name="T3" fmla="*/ 936 h 936"/>
                <a:gd name="T4" fmla="*/ 0 w 1467"/>
                <a:gd name="T5" fmla="*/ 917 h 936"/>
                <a:gd name="T6" fmla="*/ 1363 w 1467"/>
                <a:gd name="T7" fmla="*/ 0 h 936"/>
                <a:gd name="T8" fmla="*/ 1467 w 1467"/>
                <a:gd name="T9" fmla="*/ 24 h 9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467"/>
                <a:gd name="T16" fmla="*/ 0 h 936"/>
                <a:gd name="T17" fmla="*/ 1467 w 1467"/>
                <a:gd name="T18" fmla="*/ 936 h 9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467" h="936">
                  <a:moveTo>
                    <a:pt x="1467" y="24"/>
                  </a:moveTo>
                  <a:lnTo>
                    <a:pt x="91" y="936"/>
                  </a:lnTo>
                  <a:lnTo>
                    <a:pt x="0" y="917"/>
                  </a:lnTo>
                  <a:lnTo>
                    <a:pt x="1363" y="0"/>
                  </a:lnTo>
                  <a:lnTo>
                    <a:pt x="1467" y="24"/>
                  </a:lnTo>
                  <a:close/>
                </a:path>
              </a:pathLst>
            </a:custGeom>
            <a:solidFill>
              <a:srgbClr val="C8E0EE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0705" name="Freeform 59"/>
            <p:cNvSpPr>
              <a:spLocks/>
            </p:cNvSpPr>
            <p:nvPr/>
          </p:nvSpPr>
          <p:spPr bwMode="auto">
            <a:xfrm>
              <a:off x="375" y="428"/>
              <a:ext cx="1376" cy="3751"/>
            </a:xfrm>
            <a:custGeom>
              <a:avLst/>
              <a:gdLst>
                <a:gd name="T0" fmla="*/ 0 w 1376"/>
                <a:gd name="T1" fmla="*/ 3751 h 3751"/>
                <a:gd name="T2" fmla="*/ 0 w 1376"/>
                <a:gd name="T3" fmla="*/ 912 h 3751"/>
                <a:gd name="T4" fmla="*/ 1376 w 1376"/>
                <a:gd name="T5" fmla="*/ 0 h 3751"/>
                <a:gd name="T6" fmla="*/ 1376 w 1376"/>
                <a:gd name="T7" fmla="*/ 2834 h 3751"/>
                <a:gd name="T8" fmla="*/ 0 w 1376"/>
                <a:gd name="T9" fmla="*/ 3751 h 375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76"/>
                <a:gd name="T16" fmla="*/ 0 h 3751"/>
                <a:gd name="T17" fmla="*/ 1376 w 1376"/>
                <a:gd name="T18" fmla="*/ 3751 h 375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76" h="3751">
                  <a:moveTo>
                    <a:pt x="0" y="3751"/>
                  </a:moveTo>
                  <a:lnTo>
                    <a:pt x="0" y="912"/>
                  </a:lnTo>
                  <a:lnTo>
                    <a:pt x="1376" y="0"/>
                  </a:lnTo>
                  <a:lnTo>
                    <a:pt x="1376" y="2834"/>
                  </a:lnTo>
                  <a:lnTo>
                    <a:pt x="0" y="3751"/>
                  </a:lnTo>
                  <a:close/>
                </a:path>
              </a:pathLst>
            </a:custGeom>
            <a:solidFill>
              <a:srgbClr val="67AED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" name="Group 60"/>
          <p:cNvGrpSpPr>
            <a:grpSpLocks/>
          </p:cNvGrpSpPr>
          <p:nvPr/>
        </p:nvGrpSpPr>
        <p:grpSpPr bwMode="auto">
          <a:xfrm>
            <a:off x="3187700" y="1833563"/>
            <a:ext cx="1914525" cy="1612900"/>
            <a:chOff x="2008" y="1155"/>
            <a:chExt cx="1206" cy="1016"/>
          </a:xfrm>
        </p:grpSpPr>
        <p:sp>
          <p:nvSpPr>
            <p:cNvPr id="70697" name="Freeform 61"/>
            <p:cNvSpPr>
              <a:spLocks/>
            </p:cNvSpPr>
            <p:nvPr/>
          </p:nvSpPr>
          <p:spPr bwMode="auto">
            <a:xfrm>
              <a:off x="2008" y="1976"/>
              <a:ext cx="812" cy="195"/>
            </a:xfrm>
            <a:custGeom>
              <a:avLst/>
              <a:gdLst>
                <a:gd name="T0" fmla="*/ 812 w 812"/>
                <a:gd name="T1" fmla="*/ 195 h 195"/>
                <a:gd name="T2" fmla="*/ 812 w 812"/>
                <a:gd name="T3" fmla="*/ 142 h 195"/>
                <a:gd name="T4" fmla="*/ 0 w 812"/>
                <a:gd name="T5" fmla="*/ 0 h 195"/>
                <a:gd name="T6" fmla="*/ 5 w 812"/>
                <a:gd name="T7" fmla="*/ 52 h 195"/>
                <a:gd name="T8" fmla="*/ 812 w 812"/>
                <a:gd name="T9" fmla="*/ 195 h 19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12"/>
                <a:gd name="T16" fmla="*/ 0 h 195"/>
                <a:gd name="T17" fmla="*/ 812 w 812"/>
                <a:gd name="T18" fmla="*/ 195 h 19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12" h="195">
                  <a:moveTo>
                    <a:pt x="812" y="195"/>
                  </a:moveTo>
                  <a:lnTo>
                    <a:pt x="812" y="142"/>
                  </a:lnTo>
                  <a:lnTo>
                    <a:pt x="0" y="0"/>
                  </a:lnTo>
                  <a:lnTo>
                    <a:pt x="5" y="52"/>
                  </a:lnTo>
                  <a:lnTo>
                    <a:pt x="812" y="195"/>
                  </a:lnTo>
                  <a:close/>
                </a:path>
              </a:pathLst>
            </a:custGeom>
            <a:solidFill>
              <a:srgbClr val="34B3D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0698" name="Freeform 62"/>
            <p:cNvSpPr>
              <a:spLocks/>
            </p:cNvSpPr>
            <p:nvPr/>
          </p:nvSpPr>
          <p:spPr bwMode="auto">
            <a:xfrm>
              <a:off x="2820" y="1862"/>
              <a:ext cx="394" cy="309"/>
            </a:xfrm>
            <a:custGeom>
              <a:avLst/>
              <a:gdLst>
                <a:gd name="T0" fmla="*/ 0 w 394"/>
                <a:gd name="T1" fmla="*/ 309 h 309"/>
                <a:gd name="T2" fmla="*/ 0 w 394"/>
                <a:gd name="T3" fmla="*/ 256 h 309"/>
                <a:gd name="T4" fmla="*/ 389 w 394"/>
                <a:gd name="T5" fmla="*/ 0 h 309"/>
                <a:gd name="T6" fmla="*/ 394 w 394"/>
                <a:gd name="T7" fmla="*/ 47 h 309"/>
                <a:gd name="T8" fmla="*/ 0 w 394"/>
                <a:gd name="T9" fmla="*/ 309 h 30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94"/>
                <a:gd name="T16" fmla="*/ 0 h 309"/>
                <a:gd name="T17" fmla="*/ 394 w 394"/>
                <a:gd name="T18" fmla="*/ 309 h 30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94" h="309">
                  <a:moveTo>
                    <a:pt x="0" y="309"/>
                  </a:moveTo>
                  <a:lnTo>
                    <a:pt x="0" y="256"/>
                  </a:lnTo>
                  <a:lnTo>
                    <a:pt x="389" y="0"/>
                  </a:lnTo>
                  <a:lnTo>
                    <a:pt x="394" y="47"/>
                  </a:lnTo>
                  <a:lnTo>
                    <a:pt x="0" y="309"/>
                  </a:lnTo>
                  <a:close/>
                </a:path>
              </a:pathLst>
            </a:custGeom>
            <a:solidFill>
              <a:srgbClr val="00A0C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0699" name="Freeform 63"/>
            <p:cNvSpPr>
              <a:spLocks/>
            </p:cNvSpPr>
            <p:nvPr/>
          </p:nvSpPr>
          <p:spPr bwMode="auto">
            <a:xfrm>
              <a:off x="2008" y="1705"/>
              <a:ext cx="1201" cy="413"/>
            </a:xfrm>
            <a:custGeom>
              <a:avLst/>
              <a:gdLst>
                <a:gd name="T0" fmla="*/ 1201 w 1201"/>
                <a:gd name="T1" fmla="*/ 157 h 413"/>
                <a:gd name="T2" fmla="*/ 812 w 1201"/>
                <a:gd name="T3" fmla="*/ 413 h 413"/>
                <a:gd name="T4" fmla="*/ 0 w 1201"/>
                <a:gd name="T5" fmla="*/ 271 h 413"/>
                <a:gd name="T6" fmla="*/ 365 w 1201"/>
                <a:gd name="T7" fmla="*/ 0 h 413"/>
                <a:gd name="T8" fmla="*/ 1201 w 1201"/>
                <a:gd name="T9" fmla="*/ 157 h 41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01"/>
                <a:gd name="T16" fmla="*/ 0 h 413"/>
                <a:gd name="T17" fmla="*/ 1201 w 1201"/>
                <a:gd name="T18" fmla="*/ 413 h 41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01" h="413">
                  <a:moveTo>
                    <a:pt x="1201" y="157"/>
                  </a:moveTo>
                  <a:lnTo>
                    <a:pt x="812" y="413"/>
                  </a:lnTo>
                  <a:lnTo>
                    <a:pt x="0" y="271"/>
                  </a:lnTo>
                  <a:lnTo>
                    <a:pt x="365" y="0"/>
                  </a:lnTo>
                  <a:lnTo>
                    <a:pt x="1201" y="157"/>
                  </a:lnTo>
                  <a:close/>
                </a:path>
              </a:pathLst>
            </a:custGeom>
            <a:solidFill>
              <a:srgbClr val="80CFE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0700" name="Freeform 64"/>
            <p:cNvSpPr>
              <a:spLocks/>
            </p:cNvSpPr>
            <p:nvPr/>
          </p:nvSpPr>
          <p:spPr bwMode="auto">
            <a:xfrm>
              <a:off x="2568" y="1164"/>
              <a:ext cx="66" cy="764"/>
            </a:xfrm>
            <a:custGeom>
              <a:avLst/>
              <a:gdLst>
                <a:gd name="T0" fmla="*/ 66 w 66"/>
                <a:gd name="T1" fmla="*/ 5 h 764"/>
                <a:gd name="T2" fmla="*/ 66 w 66"/>
                <a:gd name="T3" fmla="*/ 5 h 764"/>
                <a:gd name="T4" fmla="*/ 66 w 66"/>
                <a:gd name="T5" fmla="*/ 10 h 764"/>
                <a:gd name="T6" fmla="*/ 57 w 66"/>
                <a:gd name="T7" fmla="*/ 10 h 764"/>
                <a:gd name="T8" fmla="*/ 33 w 66"/>
                <a:gd name="T9" fmla="*/ 14 h 764"/>
                <a:gd name="T10" fmla="*/ 33 w 66"/>
                <a:gd name="T11" fmla="*/ 14 h 764"/>
                <a:gd name="T12" fmla="*/ 9 w 66"/>
                <a:gd name="T13" fmla="*/ 10 h 764"/>
                <a:gd name="T14" fmla="*/ 5 w 66"/>
                <a:gd name="T15" fmla="*/ 5 h 764"/>
                <a:gd name="T16" fmla="*/ 0 w 66"/>
                <a:gd name="T17" fmla="*/ 0 h 764"/>
                <a:gd name="T18" fmla="*/ 0 w 66"/>
                <a:gd name="T19" fmla="*/ 750 h 764"/>
                <a:gd name="T20" fmla="*/ 0 w 66"/>
                <a:gd name="T21" fmla="*/ 750 h 764"/>
                <a:gd name="T22" fmla="*/ 5 w 66"/>
                <a:gd name="T23" fmla="*/ 755 h 764"/>
                <a:gd name="T24" fmla="*/ 9 w 66"/>
                <a:gd name="T25" fmla="*/ 760 h 764"/>
                <a:gd name="T26" fmla="*/ 33 w 66"/>
                <a:gd name="T27" fmla="*/ 764 h 764"/>
                <a:gd name="T28" fmla="*/ 33 w 66"/>
                <a:gd name="T29" fmla="*/ 764 h 764"/>
                <a:gd name="T30" fmla="*/ 57 w 66"/>
                <a:gd name="T31" fmla="*/ 760 h 764"/>
                <a:gd name="T32" fmla="*/ 66 w 66"/>
                <a:gd name="T33" fmla="*/ 755 h 764"/>
                <a:gd name="T34" fmla="*/ 66 w 66"/>
                <a:gd name="T35" fmla="*/ 755 h 764"/>
                <a:gd name="T36" fmla="*/ 66 w 66"/>
                <a:gd name="T37" fmla="*/ 5 h 764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66"/>
                <a:gd name="T58" fmla="*/ 0 h 764"/>
                <a:gd name="T59" fmla="*/ 66 w 66"/>
                <a:gd name="T60" fmla="*/ 764 h 764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66" h="764">
                  <a:moveTo>
                    <a:pt x="66" y="5"/>
                  </a:moveTo>
                  <a:lnTo>
                    <a:pt x="66" y="5"/>
                  </a:lnTo>
                  <a:lnTo>
                    <a:pt x="66" y="10"/>
                  </a:lnTo>
                  <a:lnTo>
                    <a:pt x="57" y="10"/>
                  </a:lnTo>
                  <a:lnTo>
                    <a:pt x="33" y="14"/>
                  </a:lnTo>
                  <a:lnTo>
                    <a:pt x="9" y="10"/>
                  </a:lnTo>
                  <a:lnTo>
                    <a:pt x="5" y="5"/>
                  </a:lnTo>
                  <a:lnTo>
                    <a:pt x="0" y="0"/>
                  </a:lnTo>
                  <a:lnTo>
                    <a:pt x="0" y="750"/>
                  </a:lnTo>
                  <a:lnTo>
                    <a:pt x="5" y="755"/>
                  </a:lnTo>
                  <a:lnTo>
                    <a:pt x="9" y="760"/>
                  </a:lnTo>
                  <a:lnTo>
                    <a:pt x="33" y="764"/>
                  </a:lnTo>
                  <a:lnTo>
                    <a:pt x="57" y="760"/>
                  </a:lnTo>
                  <a:lnTo>
                    <a:pt x="66" y="755"/>
                  </a:lnTo>
                  <a:lnTo>
                    <a:pt x="66" y="5"/>
                  </a:lnTo>
                  <a:close/>
                </a:path>
              </a:pathLst>
            </a:custGeom>
            <a:solidFill>
              <a:srgbClr val="34B3D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0701" name="Freeform 65"/>
            <p:cNvSpPr>
              <a:spLocks/>
            </p:cNvSpPr>
            <p:nvPr/>
          </p:nvSpPr>
          <p:spPr bwMode="auto">
            <a:xfrm>
              <a:off x="2568" y="1155"/>
              <a:ext cx="66" cy="23"/>
            </a:xfrm>
            <a:custGeom>
              <a:avLst/>
              <a:gdLst>
                <a:gd name="T0" fmla="*/ 33 w 66"/>
                <a:gd name="T1" fmla="*/ 23 h 23"/>
                <a:gd name="T2" fmla="*/ 33 w 66"/>
                <a:gd name="T3" fmla="*/ 23 h 23"/>
                <a:gd name="T4" fmla="*/ 9 w 66"/>
                <a:gd name="T5" fmla="*/ 19 h 23"/>
                <a:gd name="T6" fmla="*/ 5 w 66"/>
                <a:gd name="T7" fmla="*/ 14 h 23"/>
                <a:gd name="T8" fmla="*/ 0 w 66"/>
                <a:gd name="T9" fmla="*/ 9 h 23"/>
                <a:gd name="T10" fmla="*/ 0 w 66"/>
                <a:gd name="T11" fmla="*/ 9 h 23"/>
                <a:gd name="T12" fmla="*/ 5 w 66"/>
                <a:gd name="T13" fmla="*/ 4 h 23"/>
                <a:gd name="T14" fmla="*/ 9 w 66"/>
                <a:gd name="T15" fmla="*/ 4 h 23"/>
                <a:gd name="T16" fmla="*/ 33 w 66"/>
                <a:gd name="T17" fmla="*/ 0 h 23"/>
                <a:gd name="T18" fmla="*/ 33 w 66"/>
                <a:gd name="T19" fmla="*/ 0 h 23"/>
                <a:gd name="T20" fmla="*/ 57 w 66"/>
                <a:gd name="T21" fmla="*/ 4 h 23"/>
                <a:gd name="T22" fmla="*/ 66 w 66"/>
                <a:gd name="T23" fmla="*/ 9 h 23"/>
                <a:gd name="T24" fmla="*/ 66 w 66"/>
                <a:gd name="T25" fmla="*/ 9 h 23"/>
                <a:gd name="T26" fmla="*/ 66 w 66"/>
                <a:gd name="T27" fmla="*/ 9 h 23"/>
                <a:gd name="T28" fmla="*/ 66 w 66"/>
                <a:gd name="T29" fmla="*/ 14 h 23"/>
                <a:gd name="T30" fmla="*/ 57 w 66"/>
                <a:gd name="T31" fmla="*/ 19 h 23"/>
                <a:gd name="T32" fmla="*/ 33 w 66"/>
                <a:gd name="T33" fmla="*/ 23 h 23"/>
                <a:gd name="T34" fmla="*/ 33 w 66"/>
                <a:gd name="T35" fmla="*/ 23 h 23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66"/>
                <a:gd name="T55" fmla="*/ 0 h 23"/>
                <a:gd name="T56" fmla="*/ 66 w 66"/>
                <a:gd name="T57" fmla="*/ 23 h 23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66" h="23">
                  <a:moveTo>
                    <a:pt x="33" y="23"/>
                  </a:moveTo>
                  <a:lnTo>
                    <a:pt x="33" y="23"/>
                  </a:lnTo>
                  <a:lnTo>
                    <a:pt x="9" y="19"/>
                  </a:lnTo>
                  <a:lnTo>
                    <a:pt x="5" y="14"/>
                  </a:lnTo>
                  <a:lnTo>
                    <a:pt x="0" y="9"/>
                  </a:lnTo>
                  <a:lnTo>
                    <a:pt x="5" y="4"/>
                  </a:lnTo>
                  <a:lnTo>
                    <a:pt x="9" y="4"/>
                  </a:lnTo>
                  <a:lnTo>
                    <a:pt x="33" y="0"/>
                  </a:lnTo>
                  <a:lnTo>
                    <a:pt x="57" y="4"/>
                  </a:lnTo>
                  <a:lnTo>
                    <a:pt x="66" y="9"/>
                  </a:lnTo>
                  <a:lnTo>
                    <a:pt x="66" y="14"/>
                  </a:lnTo>
                  <a:lnTo>
                    <a:pt x="57" y="19"/>
                  </a:lnTo>
                  <a:lnTo>
                    <a:pt x="33" y="23"/>
                  </a:lnTo>
                  <a:close/>
                </a:path>
              </a:pathLst>
            </a:custGeom>
            <a:solidFill>
              <a:srgbClr val="80CFE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0660" name="Rectangle 66"/>
          <p:cNvSpPr>
            <a:spLocks noChangeArrowheads="1"/>
          </p:cNvSpPr>
          <p:nvPr/>
        </p:nvSpPr>
        <p:spPr bwMode="auto">
          <a:xfrm>
            <a:off x="4305300" y="2490788"/>
            <a:ext cx="127000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b="1">
                <a:solidFill>
                  <a:srgbClr val="000000"/>
                </a:solidFill>
              </a:rPr>
              <a:t>–</a:t>
            </a:r>
            <a:endParaRPr lang="en-US" b="1"/>
          </a:p>
        </p:txBody>
      </p:sp>
      <p:sp>
        <p:nvSpPr>
          <p:cNvPr id="70661" name="Rectangle 67"/>
          <p:cNvSpPr>
            <a:spLocks noChangeArrowheads="1"/>
          </p:cNvSpPr>
          <p:nvPr/>
        </p:nvSpPr>
        <p:spPr bwMode="auto">
          <a:xfrm>
            <a:off x="4298950" y="5521325"/>
            <a:ext cx="13335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b="1">
                <a:solidFill>
                  <a:srgbClr val="000000"/>
                </a:solidFill>
              </a:rPr>
              <a:t>+</a:t>
            </a:r>
            <a:endParaRPr lang="en-US" b="1"/>
          </a:p>
        </p:txBody>
      </p:sp>
      <p:grpSp>
        <p:nvGrpSpPr>
          <p:cNvPr id="4" name="Group 68"/>
          <p:cNvGrpSpPr>
            <a:grpSpLocks/>
          </p:cNvGrpSpPr>
          <p:nvPr/>
        </p:nvGrpSpPr>
        <p:grpSpPr bwMode="auto">
          <a:xfrm>
            <a:off x="3187700" y="4787900"/>
            <a:ext cx="1914525" cy="1544638"/>
            <a:chOff x="2008" y="3016"/>
            <a:chExt cx="1206" cy="973"/>
          </a:xfrm>
        </p:grpSpPr>
        <p:sp>
          <p:nvSpPr>
            <p:cNvPr id="70692" name="Freeform 69"/>
            <p:cNvSpPr>
              <a:spLocks/>
            </p:cNvSpPr>
            <p:nvPr/>
          </p:nvSpPr>
          <p:spPr bwMode="auto">
            <a:xfrm>
              <a:off x="2568" y="3225"/>
              <a:ext cx="66" cy="764"/>
            </a:xfrm>
            <a:custGeom>
              <a:avLst/>
              <a:gdLst>
                <a:gd name="T0" fmla="*/ 66 w 66"/>
                <a:gd name="T1" fmla="*/ 0 h 764"/>
                <a:gd name="T2" fmla="*/ 66 w 66"/>
                <a:gd name="T3" fmla="*/ 0 h 764"/>
                <a:gd name="T4" fmla="*/ 66 w 66"/>
                <a:gd name="T5" fmla="*/ 4 h 764"/>
                <a:gd name="T6" fmla="*/ 57 w 66"/>
                <a:gd name="T7" fmla="*/ 9 h 764"/>
                <a:gd name="T8" fmla="*/ 33 w 66"/>
                <a:gd name="T9" fmla="*/ 14 h 764"/>
                <a:gd name="T10" fmla="*/ 33 w 66"/>
                <a:gd name="T11" fmla="*/ 14 h 764"/>
                <a:gd name="T12" fmla="*/ 9 w 66"/>
                <a:gd name="T13" fmla="*/ 9 h 764"/>
                <a:gd name="T14" fmla="*/ 5 w 66"/>
                <a:gd name="T15" fmla="*/ 4 h 764"/>
                <a:gd name="T16" fmla="*/ 0 w 66"/>
                <a:gd name="T17" fmla="*/ 0 h 764"/>
                <a:gd name="T18" fmla="*/ 0 w 66"/>
                <a:gd name="T19" fmla="*/ 750 h 764"/>
                <a:gd name="T20" fmla="*/ 0 w 66"/>
                <a:gd name="T21" fmla="*/ 750 h 764"/>
                <a:gd name="T22" fmla="*/ 5 w 66"/>
                <a:gd name="T23" fmla="*/ 754 h 764"/>
                <a:gd name="T24" fmla="*/ 9 w 66"/>
                <a:gd name="T25" fmla="*/ 759 h 764"/>
                <a:gd name="T26" fmla="*/ 33 w 66"/>
                <a:gd name="T27" fmla="*/ 764 h 764"/>
                <a:gd name="T28" fmla="*/ 33 w 66"/>
                <a:gd name="T29" fmla="*/ 764 h 764"/>
                <a:gd name="T30" fmla="*/ 57 w 66"/>
                <a:gd name="T31" fmla="*/ 759 h 764"/>
                <a:gd name="T32" fmla="*/ 66 w 66"/>
                <a:gd name="T33" fmla="*/ 754 h 764"/>
                <a:gd name="T34" fmla="*/ 66 w 66"/>
                <a:gd name="T35" fmla="*/ 750 h 764"/>
                <a:gd name="T36" fmla="*/ 66 w 66"/>
                <a:gd name="T37" fmla="*/ 0 h 764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66"/>
                <a:gd name="T58" fmla="*/ 0 h 764"/>
                <a:gd name="T59" fmla="*/ 66 w 66"/>
                <a:gd name="T60" fmla="*/ 764 h 764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66" h="764">
                  <a:moveTo>
                    <a:pt x="66" y="0"/>
                  </a:moveTo>
                  <a:lnTo>
                    <a:pt x="66" y="0"/>
                  </a:lnTo>
                  <a:lnTo>
                    <a:pt x="66" y="4"/>
                  </a:lnTo>
                  <a:lnTo>
                    <a:pt x="57" y="9"/>
                  </a:lnTo>
                  <a:lnTo>
                    <a:pt x="33" y="14"/>
                  </a:lnTo>
                  <a:lnTo>
                    <a:pt x="9" y="9"/>
                  </a:lnTo>
                  <a:lnTo>
                    <a:pt x="5" y="4"/>
                  </a:lnTo>
                  <a:lnTo>
                    <a:pt x="0" y="0"/>
                  </a:lnTo>
                  <a:lnTo>
                    <a:pt x="0" y="750"/>
                  </a:lnTo>
                  <a:lnTo>
                    <a:pt x="5" y="754"/>
                  </a:lnTo>
                  <a:lnTo>
                    <a:pt x="9" y="759"/>
                  </a:lnTo>
                  <a:lnTo>
                    <a:pt x="33" y="764"/>
                  </a:lnTo>
                  <a:lnTo>
                    <a:pt x="57" y="759"/>
                  </a:lnTo>
                  <a:lnTo>
                    <a:pt x="66" y="754"/>
                  </a:lnTo>
                  <a:lnTo>
                    <a:pt x="66" y="750"/>
                  </a:lnTo>
                  <a:lnTo>
                    <a:pt x="66" y="0"/>
                  </a:lnTo>
                  <a:close/>
                </a:path>
              </a:pathLst>
            </a:custGeom>
            <a:solidFill>
              <a:srgbClr val="B62635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0693" name="Freeform 70"/>
            <p:cNvSpPr>
              <a:spLocks/>
            </p:cNvSpPr>
            <p:nvPr/>
          </p:nvSpPr>
          <p:spPr bwMode="auto">
            <a:xfrm>
              <a:off x="2568" y="3215"/>
              <a:ext cx="66" cy="19"/>
            </a:xfrm>
            <a:custGeom>
              <a:avLst/>
              <a:gdLst>
                <a:gd name="T0" fmla="*/ 33 w 66"/>
                <a:gd name="T1" fmla="*/ 19 h 19"/>
                <a:gd name="T2" fmla="*/ 33 w 66"/>
                <a:gd name="T3" fmla="*/ 19 h 19"/>
                <a:gd name="T4" fmla="*/ 9 w 66"/>
                <a:gd name="T5" fmla="*/ 19 h 19"/>
                <a:gd name="T6" fmla="*/ 5 w 66"/>
                <a:gd name="T7" fmla="*/ 14 h 19"/>
                <a:gd name="T8" fmla="*/ 0 w 66"/>
                <a:gd name="T9" fmla="*/ 10 h 19"/>
                <a:gd name="T10" fmla="*/ 0 w 66"/>
                <a:gd name="T11" fmla="*/ 10 h 19"/>
                <a:gd name="T12" fmla="*/ 5 w 66"/>
                <a:gd name="T13" fmla="*/ 5 h 19"/>
                <a:gd name="T14" fmla="*/ 9 w 66"/>
                <a:gd name="T15" fmla="*/ 0 h 19"/>
                <a:gd name="T16" fmla="*/ 33 w 66"/>
                <a:gd name="T17" fmla="*/ 0 h 19"/>
                <a:gd name="T18" fmla="*/ 33 w 66"/>
                <a:gd name="T19" fmla="*/ 0 h 19"/>
                <a:gd name="T20" fmla="*/ 57 w 66"/>
                <a:gd name="T21" fmla="*/ 5 h 19"/>
                <a:gd name="T22" fmla="*/ 66 w 66"/>
                <a:gd name="T23" fmla="*/ 5 h 19"/>
                <a:gd name="T24" fmla="*/ 66 w 66"/>
                <a:gd name="T25" fmla="*/ 10 h 19"/>
                <a:gd name="T26" fmla="*/ 66 w 66"/>
                <a:gd name="T27" fmla="*/ 10 h 19"/>
                <a:gd name="T28" fmla="*/ 66 w 66"/>
                <a:gd name="T29" fmla="*/ 14 h 19"/>
                <a:gd name="T30" fmla="*/ 57 w 66"/>
                <a:gd name="T31" fmla="*/ 19 h 19"/>
                <a:gd name="T32" fmla="*/ 33 w 66"/>
                <a:gd name="T33" fmla="*/ 19 h 19"/>
                <a:gd name="T34" fmla="*/ 33 w 66"/>
                <a:gd name="T35" fmla="*/ 19 h 19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66"/>
                <a:gd name="T55" fmla="*/ 0 h 19"/>
                <a:gd name="T56" fmla="*/ 66 w 66"/>
                <a:gd name="T57" fmla="*/ 19 h 19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66" h="19">
                  <a:moveTo>
                    <a:pt x="33" y="19"/>
                  </a:moveTo>
                  <a:lnTo>
                    <a:pt x="33" y="19"/>
                  </a:lnTo>
                  <a:lnTo>
                    <a:pt x="9" y="19"/>
                  </a:lnTo>
                  <a:lnTo>
                    <a:pt x="5" y="14"/>
                  </a:lnTo>
                  <a:lnTo>
                    <a:pt x="0" y="10"/>
                  </a:lnTo>
                  <a:lnTo>
                    <a:pt x="5" y="5"/>
                  </a:lnTo>
                  <a:lnTo>
                    <a:pt x="9" y="0"/>
                  </a:lnTo>
                  <a:lnTo>
                    <a:pt x="33" y="0"/>
                  </a:lnTo>
                  <a:lnTo>
                    <a:pt x="57" y="5"/>
                  </a:lnTo>
                  <a:lnTo>
                    <a:pt x="66" y="5"/>
                  </a:lnTo>
                  <a:lnTo>
                    <a:pt x="66" y="10"/>
                  </a:lnTo>
                  <a:lnTo>
                    <a:pt x="66" y="14"/>
                  </a:lnTo>
                  <a:lnTo>
                    <a:pt x="57" y="19"/>
                  </a:lnTo>
                  <a:lnTo>
                    <a:pt x="33" y="19"/>
                  </a:lnTo>
                  <a:close/>
                </a:path>
              </a:pathLst>
            </a:custGeom>
            <a:solidFill>
              <a:srgbClr val="E27488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0694" name="Freeform 71"/>
            <p:cNvSpPr>
              <a:spLocks/>
            </p:cNvSpPr>
            <p:nvPr/>
          </p:nvSpPr>
          <p:spPr bwMode="auto">
            <a:xfrm>
              <a:off x="2008" y="3286"/>
              <a:ext cx="812" cy="195"/>
            </a:xfrm>
            <a:custGeom>
              <a:avLst/>
              <a:gdLst>
                <a:gd name="T0" fmla="*/ 812 w 812"/>
                <a:gd name="T1" fmla="*/ 195 h 195"/>
                <a:gd name="T2" fmla="*/ 812 w 812"/>
                <a:gd name="T3" fmla="*/ 143 h 195"/>
                <a:gd name="T4" fmla="*/ 0 w 812"/>
                <a:gd name="T5" fmla="*/ 0 h 195"/>
                <a:gd name="T6" fmla="*/ 5 w 812"/>
                <a:gd name="T7" fmla="*/ 52 h 195"/>
                <a:gd name="T8" fmla="*/ 812 w 812"/>
                <a:gd name="T9" fmla="*/ 195 h 19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12"/>
                <a:gd name="T16" fmla="*/ 0 h 195"/>
                <a:gd name="T17" fmla="*/ 812 w 812"/>
                <a:gd name="T18" fmla="*/ 195 h 19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12" h="195">
                  <a:moveTo>
                    <a:pt x="812" y="195"/>
                  </a:moveTo>
                  <a:lnTo>
                    <a:pt x="812" y="143"/>
                  </a:lnTo>
                  <a:lnTo>
                    <a:pt x="0" y="0"/>
                  </a:lnTo>
                  <a:lnTo>
                    <a:pt x="5" y="52"/>
                  </a:lnTo>
                  <a:lnTo>
                    <a:pt x="812" y="195"/>
                  </a:lnTo>
                  <a:close/>
                </a:path>
              </a:pathLst>
            </a:custGeom>
            <a:solidFill>
              <a:srgbClr val="C75257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0695" name="Freeform 72"/>
            <p:cNvSpPr>
              <a:spLocks/>
            </p:cNvSpPr>
            <p:nvPr/>
          </p:nvSpPr>
          <p:spPr bwMode="auto">
            <a:xfrm>
              <a:off x="2820" y="3172"/>
              <a:ext cx="394" cy="309"/>
            </a:xfrm>
            <a:custGeom>
              <a:avLst/>
              <a:gdLst>
                <a:gd name="T0" fmla="*/ 0 w 394"/>
                <a:gd name="T1" fmla="*/ 309 h 309"/>
                <a:gd name="T2" fmla="*/ 0 w 394"/>
                <a:gd name="T3" fmla="*/ 257 h 309"/>
                <a:gd name="T4" fmla="*/ 389 w 394"/>
                <a:gd name="T5" fmla="*/ 0 h 309"/>
                <a:gd name="T6" fmla="*/ 394 w 394"/>
                <a:gd name="T7" fmla="*/ 48 h 309"/>
                <a:gd name="T8" fmla="*/ 0 w 394"/>
                <a:gd name="T9" fmla="*/ 309 h 30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94"/>
                <a:gd name="T16" fmla="*/ 0 h 309"/>
                <a:gd name="T17" fmla="*/ 394 w 394"/>
                <a:gd name="T18" fmla="*/ 309 h 30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94" h="309">
                  <a:moveTo>
                    <a:pt x="0" y="309"/>
                  </a:moveTo>
                  <a:lnTo>
                    <a:pt x="0" y="257"/>
                  </a:lnTo>
                  <a:lnTo>
                    <a:pt x="389" y="0"/>
                  </a:lnTo>
                  <a:lnTo>
                    <a:pt x="394" y="48"/>
                  </a:lnTo>
                  <a:lnTo>
                    <a:pt x="0" y="309"/>
                  </a:lnTo>
                  <a:close/>
                </a:path>
              </a:pathLst>
            </a:custGeom>
            <a:solidFill>
              <a:srgbClr val="A4001D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0696" name="Freeform 73"/>
            <p:cNvSpPr>
              <a:spLocks/>
            </p:cNvSpPr>
            <p:nvPr/>
          </p:nvSpPr>
          <p:spPr bwMode="auto">
            <a:xfrm>
              <a:off x="2008" y="3016"/>
              <a:ext cx="1201" cy="413"/>
            </a:xfrm>
            <a:custGeom>
              <a:avLst/>
              <a:gdLst>
                <a:gd name="T0" fmla="*/ 1201 w 1201"/>
                <a:gd name="T1" fmla="*/ 156 h 413"/>
                <a:gd name="T2" fmla="*/ 812 w 1201"/>
                <a:gd name="T3" fmla="*/ 413 h 413"/>
                <a:gd name="T4" fmla="*/ 0 w 1201"/>
                <a:gd name="T5" fmla="*/ 270 h 413"/>
                <a:gd name="T6" fmla="*/ 365 w 1201"/>
                <a:gd name="T7" fmla="*/ 0 h 413"/>
                <a:gd name="T8" fmla="*/ 1201 w 1201"/>
                <a:gd name="T9" fmla="*/ 156 h 41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01"/>
                <a:gd name="T16" fmla="*/ 0 h 413"/>
                <a:gd name="T17" fmla="*/ 1201 w 1201"/>
                <a:gd name="T18" fmla="*/ 413 h 41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01" h="413">
                  <a:moveTo>
                    <a:pt x="1201" y="156"/>
                  </a:moveTo>
                  <a:lnTo>
                    <a:pt x="812" y="413"/>
                  </a:lnTo>
                  <a:lnTo>
                    <a:pt x="0" y="270"/>
                  </a:lnTo>
                  <a:lnTo>
                    <a:pt x="365" y="0"/>
                  </a:lnTo>
                  <a:lnTo>
                    <a:pt x="1201" y="156"/>
                  </a:lnTo>
                  <a:close/>
                </a:path>
              </a:pathLst>
            </a:custGeom>
            <a:solidFill>
              <a:srgbClr val="D8858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0663" name="Text Box 77"/>
          <p:cNvSpPr txBox="1">
            <a:spLocks noChangeArrowheads="1"/>
          </p:cNvSpPr>
          <p:nvPr/>
        </p:nvSpPr>
        <p:spPr bwMode="auto">
          <a:xfrm>
            <a:off x="2328863" y="2871788"/>
            <a:ext cx="328612" cy="388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 i="1">
                <a:latin typeface="Symbol" pitchFamily="18" charset="2"/>
              </a:rPr>
              <a:t>a</a:t>
            </a:r>
            <a:endParaRPr lang="en-US" b="1" i="1"/>
          </a:p>
        </p:txBody>
      </p:sp>
      <p:sp>
        <p:nvSpPr>
          <p:cNvPr id="70664" name="Rectangle 81"/>
          <p:cNvSpPr>
            <a:spLocks noChangeArrowheads="1"/>
          </p:cNvSpPr>
          <p:nvPr/>
        </p:nvSpPr>
        <p:spPr bwMode="auto">
          <a:xfrm>
            <a:off x="2338388" y="4764088"/>
            <a:ext cx="309562" cy="388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 i="1">
                <a:latin typeface="Symbol" pitchFamily="18" charset="2"/>
              </a:rPr>
              <a:t>b</a:t>
            </a:r>
          </a:p>
        </p:txBody>
      </p:sp>
      <p:sp>
        <p:nvSpPr>
          <p:cNvPr id="70665" name="Rectangle 82"/>
          <p:cNvSpPr>
            <a:spLocks noChangeArrowheads="1"/>
          </p:cNvSpPr>
          <p:nvPr/>
        </p:nvSpPr>
        <p:spPr bwMode="auto">
          <a:xfrm>
            <a:off x="2352675" y="3736975"/>
            <a:ext cx="277813" cy="388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 i="1">
                <a:latin typeface="Symbol" pitchFamily="18" charset="2"/>
              </a:rPr>
              <a:t>g</a:t>
            </a:r>
          </a:p>
        </p:txBody>
      </p:sp>
      <p:grpSp>
        <p:nvGrpSpPr>
          <p:cNvPr id="5" name="Group 103"/>
          <p:cNvGrpSpPr>
            <a:grpSpLocks/>
          </p:cNvGrpSpPr>
          <p:nvPr/>
        </p:nvGrpSpPr>
        <p:grpSpPr bwMode="auto">
          <a:xfrm>
            <a:off x="1687513" y="2736850"/>
            <a:ext cx="4557712" cy="2546350"/>
            <a:chOff x="1063" y="1724"/>
            <a:chExt cx="2871" cy="1604"/>
          </a:xfrm>
        </p:grpSpPr>
        <p:grpSp>
          <p:nvGrpSpPr>
            <p:cNvPr id="6" name="Group 74"/>
            <p:cNvGrpSpPr>
              <a:grpSpLocks/>
            </p:cNvGrpSpPr>
            <p:nvPr/>
          </p:nvGrpSpPr>
          <p:grpSpPr bwMode="auto">
            <a:xfrm>
              <a:off x="1101" y="1724"/>
              <a:ext cx="1277" cy="760"/>
              <a:chOff x="1101" y="1724"/>
              <a:chExt cx="1277" cy="760"/>
            </a:xfrm>
          </p:grpSpPr>
          <p:sp>
            <p:nvSpPr>
              <p:cNvPr id="70690" name="Freeform 75"/>
              <p:cNvSpPr>
                <a:spLocks/>
              </p:cNvSpPr>
              <p:nvPr/>
            </p:nvSpPr>
            <p:spPr bwMode="auto">
              <a:xfrm>
                <a:off x="1220" y="1824"/>
                <a:ext cx="1158" cy="660"/>
              </a:xfrm>
              <a:custGeom>
                <a:avLst/>
                <a:gdLst>
                  <a:gd name="T0" fmla="*/ 0 w 1158"/>
                  <a:gd name="T1" fmla="*/ 0 h 660"/>
                  <a:gd name="T2" fmla="*/ 0 w 1158"/>
                  <a:gd name="T3" fmla="*/ 0 h 660"/>
                  <a:gd name="T4" fmla="*/ 66 w 1158"/>
                  <a:gd name="T5" fmla="*/ 66 h 660"/>
                  <a:gd name="T6" fmla="*/ 171 w 1158"/>
                  <a:gd name="T7" fmla="*/ 147 h 660"/>
                  <a:gd name="T8" fmla="*/ 308 w 1158"/>
                  <a:gd name="T9" fmla="*/ 247 h 660"/>
                  <a:gd name="T10" fmla="*/ 465 w 1158"/>
                  <a:gd name="T11" fmla="*/ 351 h 660"/>
                  <a:gd name="T12" fmla="*/ 546 w 1158"/>
                  <a:gd name="T13" fmla="*/ 404 h 660"/>
                  <a:gd name="T14" fmla="*/ 636 w 1158"/>
                  <a:gd name="T15" fmla="*/ 451 h 660"/>
                  <a:gd name="T16" fmla="*/ 721 w 1158"/>
                  <a:gd name="T17" fmla="*/ 498 h 660"/>
                  <a:gd name="T18" fmla="*/ 812 w 1158"/>
                  <a:gd name="T19" fmla="*/ 546 h 660"/>
                  <a:gd name="T20" fmla="*/ 902 w 1158"/>
                  <a:gd name="T21" fmla="*/ 584 h 660"/>
                  <a:gd name="T22" fmla="*/ 987 w 1158"/>
                  <a:gd name="T23" fmla="*/ 617 h 660"/>
                  <a:gd name="T24" fmla="*/ 1073 w 1158"/>
                  <a:gd name="T25" fmla="*/ 641 h 660"/>
                  <a:gd name="T26" fmla="*/ 1158 w 1158"/>
                  <a:gd name="T27" fmla="*/ 660 h 660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1158"/>
                  <a:gd name="T43" fmla="*/ 0 h 660"/>
                  <a:gd name="T44" fmla="*/ 1158 w 1158"/>
                  <a:gd name="T45" fmla="*/ 660 h 660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1158" h="660">
                    <a:moveTo>
                      <a:pt x="0" y="0"/>
                    </a:moveTo>
                    <a:lnTo>
                      <a:pt x="0" y="0"/>
                    </a:lnTo>
                    <a:lnTo>
                      <a:pt x="66" y="66"/>
                    </a:lnTo>
                    <a:lnTo>
                      <a:pt x="171" y="147"/>
                    </a:lnTo>
                    <a:lnTo>
                      <a:pt x="308" y="247"/>
                    </a:lnTo>
                    <a:lnTo>
                      <a:pt x="465" y="351"/>
                    </a:lnTo>
                    <a:lnTo>
                      <a:pt x="546" y="404"/>
                    </a:lnTo>
                    <a:lnTo>
                      <a:pt x="636" y="451"/>
                    </a:lnTo>
                    <a:lnTo>
                      <a:pt x="721" y="498"/>
                    </a:lnTo>
                    <a:lnTo>
                      <a:pt x="812" y="546"/>
                    </a:lnTo>
                    <a:lnTo>
                      <a:pt x="902" y="584"/>
                    </a:lnTo>
                    <a:lnTo>
                      <a:pt x="987" y="617"/>
                    </a:lnTo>
                    <a:lnTo>
                      <a:pt x="1073" y="641"/>
                    </a:lnTo>
                    <a:lnTo>
                      <a:pt x="1158" y="660"/>
                    </a:lnTo>
                  </a:path>
                </a:pathLst>
              </a:custGeom>
              <a:noFill/>
              <a:ln w="90488">
                <a:solidFill>
                  <a:srgbClr val="F0027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0691" name="Freeform 76"/>
              <p:cNvSpPr>
                <a:spLocks/>
              </p:cNvSpPr>
              <p:nvPr/>
            </p:nvSpPr>
            <p:spPr bwMode="auto">
              <a:xfrm>
                <a:off x="1101" y="1724"/>
                <a:ext cx="228" cy="214"/>
              </a:xfrm>
              <a:custGeom>
                <a:avLst/>
                <a:gdLst>
                  <a:gd name="T0" fmla="*/ 123 w 228"/>
                  <a:gd name="T1" fmla="*/ 214 h 214"/>
                  <a:gd name="T2" fmla="*/ 0 w 228"/>
                  <a:gd name="T3" fmla="*/ 0 h 214"/>
                  <a:gd name="T4" fmla="*/ 228 w 228"/>
                  <a:gd name="T5" fmla="*/ 100 h 214"/>
                  <a:gd name="T6" fmla="*/ 147 w 228"/>
                  <a:gd name="T7" fmla="*/ 128 h 214"/>
                  <a:gd name="T8" fmla="*/ 123 w 228"/>
                  <a:gd name="T9" fmla="*/ 214 h 21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8"/>
                  <a:gd name="T16" fmla="*/ 0 h 214"/>
                  <a:gd name="T17" fmla="*/ 228 w 228"/>
                  <a:gd name="T18" fmla="*/ 214 h 21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8" h="214">
                    <a:moveTo>
                      <a:pt x="123" y="214"/>
                    </a:moveTo>
                    <a:lnTo>
                      <a:pt x="0" y="0"/>
                    </a:lnTo>
                    <a:lnTo>
                      <a:pt x="228" y="100"/>
                    </a:lnTo>
                    <a:lnTo>
                      <a:pt x="147" y="128"/>
                    </a:lnTo>
                    <a:lnTo>
                      <a:pt x="123" y="214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7" name="Group 78"/>
            <p:cNvGrpSpPr>
              <a:grpSpLocks/>
            </p:cNvGrpSpPr>
            <p:nvPr/>
          </p:nvGrpSpPr>
          <p:grpSpPr bwMode="auto">
            <a:xfrm>
              <a:off x="1099" y="2583"/>
              <a:ext cx="1906" cy="745"/>
              <a:chOff x="1099" y="2579"/>
              <a:chExt cx="1906" cy="745"/>
            </a:xfrm>
          </p:grpSpPr>
          <p:sp>
            <p:nvSpPr>
              <p:cNvPr id="70688" name="Freeform 79"/>
              <p:cNvSpPr>
                <a:spLocks/>
              </p:cNvSpPr>
              <p:nvPr/>
            </p:nvSpPr>
            <p:spPr bwMode="auto">
              <a:xfrm>
                <a:off x="1243" y="2579"/>
                <a:ext cx="1762" cy="627"/>
              </a:xfrm>
              <a:custGeom>
                <a:avLst/>
                <a:gdLst>
                  <a:gd name="T0" fmla="*/ 0 w 1762"/>
                  <a:gd name="T1" fmla="*/ 627 h 627"/>
                  <a:gd name="T2" fmla="*/ 0 w 1762"/>
                  <a:gd name="T3" fmla="*/ 627 h 627"/>
                  <a:gd name="T4" fmla="*/ 105 w 1762"/>
                  <a:gd name="T5" fmla="*/ 551 h 627"/>
                  <a:gd name="T6" fmla="*/ 219 w 1762"/>
                  <a:gd name="T7" fmla="*/ 475 h 627"/>
                  <a:gd name="T8" fmla="*/ 333 w 1762"/>
                  <a:gd name="T9" fmla="*/ 403 h 627"/>
                  <a:gd name="T10" fmla="*/ 451 w 1762"/>
                  <a:gd name="T11" fmla="*/ 337 h 627"/>
                  <a:gd name="T12" fmla="*/ 570 w 1762"/>
                  <a:gd name="T13" fmla="*/ 280 h 627"/>
                  <a:gd name="T14" fmla="*/ 694 w 1762"/>
                  <a:gd name="T15" fmla="*/ 223 h 627"/>
                  <a:gd name="T16" fmla="*/ 812 w 1762"/>
                  <a:gd name="T17" fmla="*/ 176 h 627"/>
                  <a:gd name="T18" fmla="*/ 931 w 1762"/>
                  <a:gd name="T19" fmla="*/ 128 h 627"/>
                  <a:gd name="T20" fmla="*/ 1050 w 1762"/>
                  <a:gd name="T21" fmla="*/ 90 h 627"/>
                  <a:gd name="T22" fmla="*/ 1164 w 1762"/>
                  <a:gd name="T23" fmla="*/ 62 h 627"/>
                  <a:gd name="T24" fmla="*/ 1277 w 1762"/>
                  <a:gd name="T25" fmla="*/ 33 h 627"/>
                  <a:gd name="T26" fmla="*/ 1387 w 1762"/>
                  <a:gd name="T27" fmla="*/ 14 h 627"/>
                  <a:gd name="T28" fmla="*/ 1491 w 1762"/>
                  <a:gd name="T29" fmla="*/ 5 h 627"/>
                  <a:gd name="T30" fmla="*/ 1586 w 1762"/>
                  <a:gd name="T31" fmla="*/ 0 h 627"/>
                  <a:gd name="T32" fmla="*/ 1676 w 1762"/>
                  <a:gd name="T33" fmla="*/ 0 h 627"/>
                  <a:gd name="T34" fmla="*/ 1762 w 1762"/>
                  <a:gd name="T35" fmla="*/ 9 h 627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762"/>
                  <a:gd name="T55" fmla="*/ 0 h 627"/>
                  <a:gd name="T56" fmla="*/ 1762 w 1762"/>
                  <a:gd name="T57" fmla="*/ 627 h 627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762" h="627">
                    <a:moveTo>
                      <a:pt x="0" y="627"/>
                    </a:moveTo>
                    <a:lnTo>
                      <a:pt x="0" y="627"/>
                    </a:lnTo>
                    <a:lnTo>
                      <a:pt x="105" y="551"/>
                    </a:lnTo>
                    <a:lnTo>
                      <a:pt x="219" y="475"/>
                    </a:lnTo>
                    <a:lnTo>
                      <a:pt x="333" y="403"/>
                    </a:lnTo>
                    <a:lnTo>
                      <a:pt x="451" y="337"/>
                    </a:lnTo>
                    <a:lnTo>
                      <a:pt x="570" y="280"/>
                    </a:lnTo>
                    <a:lnTo>
                      <a:pt x="694" y="223"/>
                    </a:lnTo>
                    <a:lnTo>
                      <a:pt x="812" y="176"/>
                    </a:lnTo>
                    <a:lnTo>
                      <a:pt x="931" y="128"/>
                    </a:lnTo>
                    <a:lnTo>
                      <a:pt x="1050" y="90"/>
                    </a:lnTo>
                    <a:lnTo>
                      <a:pt x="1164" y="62"/>
                    </a:lnTo>
                    <a:lnTo>
                      <a:pt x="1277" y="33"/>
                    </a:lnTo>
                    <a:lnTo>
                      <a:pt x="1387" y="14"/>
                    </a:lnTo>
                    <a:lnTo>
                      <a:pt x="1491" y="5"/>
                    </a:lnTo>
                    <a:lnTo>
                      <a:pt x="1586" y="0"/>
                    </a:lnTo>
                    <a:lnTo>
                      <a:pt x="1676" y="0"/>
                    </a:lnTo>
                    <a:lnTo>
                      <a:pt x="1762" y="9"/>
                    </a:lnTo>
                  </a:path>
                </a:pathLst>
              </a:custGeom>
              <a:noFill/>
              <a:ln w="90488">
                <a:solidFill>
                  <a:srgbClr val="FF33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0689" name="Freeform 80"/>
              <p:cNvSpPr>
                <a:spLocks/>
              </p:cNvSpPr>
              <p:nvPr/>
            </p:nvSpPr>
            <p:spPr bwMode="auto">
              <a:xfrm>
                <a:off x="1099" y="3125"/>
                <a:ext cx="237" cy="199"/>
              </a:xfrm>
              <a:custGeom>
                <a:avLst/>
                <a:gdLst>
                  <a:gd name="T0" fmla="*/ 237 w 237"/>
                  <a:gd name="T1" fmla="*/ 128 h 199"/>
                  <a:gd name="T2" fmla="*/ 0 w 237"/>
                  <a:gd name="T3" fmla="*/ 199 h 199"/>
                  <a:gd name="T4" fmla="*/ 147 w 237"/>
                  <a:gd name="T5" fmla="*/ 0 h 199"/>
                  <a:gd name="T6" fmla="*/ 161 w 237"/>
                  <a:gd name="T7" fmla="*/ 85 h 199"/>
                  <a:gd name="T8" fmla="*/ 237 w 237"/>
                  <a:gd name="T9" fmla="*/ 128 h 19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37"/>
                  <a:gd name="T16" fmla="*/ 0 h 199"/>
                  <a:gd name="T17" fmla="*/ 237 w 237"/>
                  <a:gd name="T18" fmla="*/ 199 h 19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37" h="199">
                    <a:moveTo>
                      <a:pt x="237" y="128"/>
                    </a:moveTo>
                    <a:lnTo>
                      <a:pt x="0" y="199"/>
                    </a:lnTo>
                    <a:lnTo>
                      <a:pt x="147" y="0"/>
                    </a:lnTo>
                    <a:lnTo>
                      <a:pt x="161" y="85"/>
                    </a:lnTo>
                    <a:lnTo>
                      <a:pt x="237" y="128"/>
                    </a:lnTo>
                    <a:close/>
                  </a:path>
                </a:pathLst>
              </a:custGeom>
              <a:solidFill>
                <a:srgbClr val="FF33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8" name="Group 83"/>
            <p:cNvGrpSpPr>
              <a:grpSpLocks/>
            </p:cNvGrpSpPr>
            <p:nvPr/>
          </p:nvGrpSpPr>
          <p:grpSpPr bwMode="auto">
            <a:xfrm>
              <a:off x="1063" y="2229"/>
              <a:ext cx="2871" cy="519"/>
              <a:chOff x="1063" y="2229"/>
              <a:chExt cx="2871" cy="519"/>
            </a:xfrm>
          </p:grpSpPr>
          <p:sp>
            <p:nvSpPr>
              <p:cNvPr id="70686" name="Line 84"/>
              <p:cNvSpPr>
                <a:spLocks noChangeShapeType="1"/>
              </p:cNvSpPr>
              <p:nvPr/>
            </p:nvSpPr>
            <p:spPr bwMode="auto">
              <a:xfrm flipH="1" flipV="1">
                <a:off x="1229" y="2289"/>
                <a:ext cx="2705" cy="459"/>
              </a:xfrm>
              <a:prstGeom prst="line">
                <a:avLst/>
              </a:prstGeom>
              <a:noFill/>
              <a:ln w="90488">
                <a:solidFill>
                  <a:srgbClr val="E8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0687" name="Freeform 85"/>
              <p:cNvSpPr>
                <a:spLocks/>
              </p:cNvSpPr>
              <p:nvPr/>
            </p:nvSpPr>
            <p:spPr bwMode="auto">
              <a:xfrm>
                <a:off x="1063" y="2229"/>
                <a:ext cx="247" cy="156"/>
              </a:xfrm>
              <a:custGeom>
                <a:avLst/>
                <a:gdLst>
                  <a:gd name="T0" fmla="*/ 218 w 247"/>
                  <a:gd name="T1" fmla="*/ 156 h 156"/>
                  <a:gd name="T2" fmla="*/ 0 w 247"/>
                  <a:gd name="T3" fmla="*/ 38 h 156"/>
                  <a:gd name="T4" fmla="*/ 247 w 247"/>
                  <a:gd name="T5" fmla="*/ 0 h 156"/>
                  <a:gd name="T6" fmla="*/ 195 w 247"/>
                  <a:gd name="T7" fmla="*/ 71 h 156"/>
                  <a:gd name="T8" fmla="*/ 218 w 247"/>
                  <a:gd name="T9" fmla="*/ 156 h 1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47"/>
                  <a:gd name="T16" fmla="*/ 0 h 156"/>
                  <a:gd name="T17" fmla="*/ 247 w 247"/>
                  <a:gd name="T18" fmla="*/ 156 h 1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47" h="156">
                    <a:moveTo>
                      <a:pt x="218" y="156"/>
                    </a:moveTo>
                    <a:lnTo>
                      <a:pt x="0" y="38"/>
                    </a:lnTo>
                    <a:lnTo>
                      <a:pt x="247" y="0"/>
                    </a:lnTo>
                    <a:lnTo>
                      <a:pt x="195" y="71"/>
                    </a:lnTo>
                    <a:lnTo>
                      <a:pt x="218" y="156"/>
                    </a:lnTo>
                    <a:close/>
                  </a:path>
                </a:pathLst>
              </a:custGeom>
              <a:solidFill>
                <a:srgbClr val="E8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9" name="Group 86"/>
          <p:cNvGrpSpPr>
            <a:grpSpLocks/>
          </p:cNvGrpSpPr>
          <p:nvPr/>
        </p:nvGrpSpPr>
        <p:grpSpPr bwMode="auto">
          <a:xfrm>
            <a:off x="6232525" y="3740150"/>
            <a:ext cx="1906588" cy="1679575"/>
            <a:chOff x="3926" y="2356"/>
            <a:chExt cx="1201" cy="1058"/>
          </a:xfrm>
        </p:grpSpPr>
        <p:sp>
          <p:nvSpPr>
            <p:cNvPr id="70677" name="Freeform 87"/>
            <p:cNvSpPr>
              <a:spLocks/>
            </p:cNvSpPr>
            <p:nvPr/>
          </p:nvSpPr>
          <p:spPr bwMode="auto">
            <a:xfrm>
              <a:off x="3940" y="2512"/>
              <a:ext cx="783" cy="637"/>
            </a:xfrm>
            <a:custGeom>
              <a:avLst/>
              <a:gdLst>
                <a:gd name="T0" fmla="*/ 783 w 783"/>
                <a:gd name="T1" fmla="*/ 0 h 637"/>
                <a:gd name="T2" fmla="*/ 171 w 783"/>
                <a:gd name="T3" fmla="*/ 0 h 637"/>
                <a:gd name="T4" fmla="*/ 0 w 783"/>
                <a:gd name="T5" fmla="*/ 133 h 637"/>
                <a:gd name="T6" fmla="*/ 5 w 783"/>
                <a:gd name="T7" fmla="*/ 637 h 637"/>
                <a:gd name="T8" fmla="*/ 783 w 783"/>
                <a:gd name="T9" fmla="*/ 637 h 637"/>
                <a:gd name="T10" fmla="*/ 783 w 783"/>
                <a:gd name="T11" fmla="*/ 0 h 63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783"/>
                <a:gd name="T19" fmla="*/ 0 h 637"/>
                <a:gd name="T20" fmla="*/ 783 w 783"/>
                <a:gd name="T21" fmla="*/ 637 h 637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783" h="637">
                  <a:moveTo>
                    <a:pt x="783" y="0"/>
                  </a:moveTo>
                  <a:lnTo>
                    <a:pt x="171" y="0"/>
                  </a:lnTo>
                  <a:lnTo>
                    <a:pt x="0" y="133"/>
                  </a:lnTo>
                  <a:lnTo>
                    <a:pt x="5" y="637"/>
                  </a:lnTo>
                  <a:lnTo>
                    <a:pt x="783" y="637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0678" name="Freeform 88"/>
            <p:cNvSpPr>
              <a:spLocks/>
            </p:cNvSpPr>
            <p:nvPr/>
          </p:nvSpPr>
          <p:spPr bwMode="auto">
            <a:xfrm>
              <a:off x="4733" y="2498"/>
              <a:ext cx="394" cy="916"/>
            </a:xfrm>
            <a:custGeom>
              <a:avLst/>
              <a:gdLst>
                <a:gd name="T0" fmla="*/ 0 w 394"/>
                <a:gd name="T1" fmla="*/ 916 h 916"/>
                <a:gd name="T2" fmla="*/ 0 w 394"/>
                <a:gd name="T3" fmla="*/ 261 h 916"/>
                <a:gd name="T4" fmla="*/ 394 w 394"/>
                <a:gd name="T5" fmla="*/ 0 h 916"/>
                <a:gd name="T6" fmla="*/ 394 w 394"/>
                <a:gd name="T7" fmla="*/ 655 h 916"/>
                <a:gd name="T8" fmla="*/ 0 w 394"/>
                <a:gd name="T9" fmla="*/ 916 h 9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94"/>
                <a:gd name="T16" fmla="*/ 0 h 916"/>
                <a:gd name="T17" fmla="*/ 394 w 394"/>
                <a:gd name="T18" fmla="*/ 916 h 91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94" h="916">
                  <a:moveTo>
                    <a:pt x="0" y="916"/>
                  </a:moveTo>
                  <a:lnTo>
                    <a:pt x="0" y="261"/>
                  </a:lnTo>
                  <a:lnTo>
                    <a:pt x="394" y="0"/>
                  </a:lnTo>
                  <a:lnTo>
                    <a:pt x="394" y="655"/>
                  </a:lnTo>
                  <a:lnTo>
                    <a:pt x="0" y="916"/>
                  </a:lnTo>
                  <a:close/>
                </a:path>
              </a:pathLst>
            </a:custGeom>
            <a:solidFill>
              <a:srgbClr val="66666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0679" name="Freeform 89"/>
            <p:cNvSpPr>
              <a:spLocks/>
            </p:cNvSpPr>
            <p:nvPr/>
          </p:nvSpPr>
          <p:spPr bwMode="auto">
            <a:xfrm>
              <a:off x="3926" y="2356"/>
              <a:ext cx="1201" cy="403"/>
            </a:xfrm>
            <a:custGeom>
              <a:avLst/>
              <a:gdLst>
                <a:gd name="T0" fmla="*/ 807 w 1201"/>
                <a:gd name="T1" fmla="*/ 403 h 403"/>
                <a:gd name="T2" fmla="*/ 655 w 1201"/>
                <a:gd name="T3" fmla="*/ 375 h 403"/>
                <a:gd name="T4" fmla="*/ 669 w 1201"/>
                <a:gd name="T5" fmla="*/ 275 h 403"/>
                <a:gd name="T6" fmla="*/ 370 w 1201"/>
                <a:gd name="T7" fmla="*/ 270 h 403"/>
                <a:gd name="T8" fmla="*/ 275 w 1201"/>
                <a:gd name="T9" fmla="*/ 185 h 403"/>
                <a:gd name="T10" fmla="*/ 76 w 1201"/>
                <a:gd name="T11" fmla="*/ 280 h 403"/>
                <a:gd name="T12" fmla="*/ 0 w 1201"/>
                <a:gd name="T13" fmla="*/ 261 h 403"/>
                <a:gd name="T14" fmla="*/ 398 w 1201"/>
                <a:gd name="T15" fmla="*/ 0 h 403"/>
                <a:gd name="T16" fmla="*/ 1201 w 1201"/>
                <a:gd name="T17" fmla="*/ 142 h 403"/>
                <a:gd name="T18" fmla="*/ 807 w 1201"/>
                <a:gd name="T19" fmla="*/ 403 h 403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201"/>
                <a:gd name="T31" fmla="*/ 0 h 403"/>
                <a:gd name="T32" fmla="*/ 1201 w 1201"/>
                <a:gd name="T33" fmla="*/ 403 h 403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201" h="403">
                  <a:moveTo>
                    <a:pt x="807" y="403"/>
                  </a:moveTo>
                  <a:lnTo>
                    <a:pt x="655" y="375"/>
                  </a:lnTo>
                  <a:lnTo>
                    <a:pt x="669" y="275"/>
                  </a:lnTo>
                  <a:lnTo>
                    <a:pt x="370" y="270"/>
                  </a:lnTo>
                  <a:lnTo>
                    <a:pt x="275" y="185"/>
                  </a:lnTo>
                  <a:lnTo>
                    <a:pt x="76" y="280"/>
                  </a:lnTo>
                  <a:lnTo>
                    <a:pt x="0" y="261"/>
                  </a:lnTo>
                  <a:lnTo>
                    <a:pt x="398" y="0"/>
                  </a:lnTo>
                  <a:lnTo>
                    <a:pt x="1201" y="142"/>
                  </a:lnTo>
                  <a:lnTo>
                    <a:pt x="807" y="403"/>
                  </a:lnTo>
                  <a:close/>
                </a:path>
              </a:pathLst>
            </a:custGeom>
            <a:solidFill>
              <a:srgbClr val="8C8C87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0680" name="Freeform 90"/>
            <p:cNvSpPr>
              <a:spLocks/>
            </p:cNvSpPr>
            <p:nvPr/>
          </p:nvSpPr>
          <p:spPr bwMode="auto">
            <a:xfrm>
              <a:off x="3926" y="2617"/>
              <a:ext cx="807" cy="797"/>
            </a:xfrm>
            <a:custGeom>
              <a:avLst/>
              <a:gdLst>
                <a:gd name="T0" fmla="*/ 807 w 807"/>
                <a:gd name="T1" fmla="*/ 142 h 797"/>
                <a:gd name="T2" fmla="*/ 655 w 807"/>
                <a:gd name="T3" fmla="*/ 114 h 797"/>
                <a:gd name="T4" fmla="*/ 755 w 807"/>
                <a:gd name="T5" fmla="*/ 342 h 797"/>
                <a:gd name="T6" fmla="*/ 569 w 807"/>
                <a:gd name="T7" fmla="*/ 517 h 797"/>
                <a:gd name="T8" fmla="*/ 403 w 807"/>
                <a:gd name="T9" fmla="*/ 446 h 797"/>
                <a:gd name="T10" fmla="*/ 123 w 807"/>
                <a:gd name="T11" fmla="*/ 456 h 797"/>
                <a:gd name="T12" fmla="*/ 114 w 807"/>
                <a:gd name="T13" fmla="*/ 194 h 797"/>
                <a:gd name="T14" fmla="*/ 76 w 807"/>
                <a:gd name="T15" fmla="*/ 19 h 797"/>
                <a:gd name="T16" fmla="*/ 0 w 807"/>
                <a:gd name="T17" fmla="*/ 0 h 797"/>
                <a:gd name="T18" fmla="*/ 0 w 807"/>
                <a:gd name="T19" fmla="*/ 655 h 797"/>
                <a:gd name="T20" fmla="*/ 807 w 807"/>
                <a:gd name="T21" fmla="*/ 797 h 797"/>
                <a:gd name="T22" fmla="*/ 807 w 807"/>
                <a:gd name="T23" fmla="*/ 142 h 797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807"/>
                <a:gd name="T37" fmla="*/ 0 h 797"/>
                <a:gd name="T38" fmla="*/ 807 w 807"/>
                <a:gd name="T39" fmla="*/ 797 h 797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807" h="797">
                  <a:moveTo>
                    <a:pt x="807" y="142"/>
                  </a:moveTo>
                  <a:lnTo>
                    <a:pt x="655" y="114"/>
                  </a:lnTo>
                  <a:lnTo>
                    <a:pt x="755" y="342"/>
                  </a:lnTo>
                  <a:lnTo>
                    <a:pt x="569" y="517"/>
                  </a:lnTo>
                  <a:lnTo>
                    <a:pt x="403" y="446"/>
                  </a:lnTo>
                  <a:lnTo>
                    <a:pt x="123" y="456"/>
                  </a:lnTo>
                  <a:lnTo>
                    <a:pt x="114" y="194"/>
                  </a:lnTo>
                  <a:lnTo>
                    <a:pt x="76" y="19"/>
                  </a:lnTo>
                  <a:lnTo>
                    <a:pt x="0" y="0"/>
                  </a:lnTo>
                  <a:lnTo>
                    <a:pt x="0" y="655"/>
                  </a:lnTo>
                  <a:lnTo>
                    <a:pt x="807" y="797"/>
                  </a:lnTo>
                  <a:lnTo>
                    <a:pt x="807" y="142"/>
                  </a:lnTo>
                  <a:close/>
                </a:path>
              </a:pathLst>
            </a:custGeom>
            <a:solidFill>
              <a:srgbClr val="53534E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0681" name="Freeform 91"/>
            <p:cNvSpPr>
              <a:spLocks/>
            </p:cNvSpPr>
            <p:nvPr/>
          </p:nvSpPr>
          <p:spPr bwMode="auto">
            <a:xfrm>
              <a:off x="4002" y="2541"/>
              <a:ext cx="593" cy="119"/>
            </a:xfrm>
            <a:custGeom>
              <a:avLst/>
              <a:gdLst>
                <a:gd name="T0" fmla="*/ 593 w 593"/>
                <a:gd name="T1" fmla="*/ 90 h 119"/>
                <a:gd name="T2" fmla="*/ 294 w 593"/>
                <a:gd name="T3" fmla="*/ 85 h 119"/>
                <a:gd name="T4" fmla="*/ 199 w 593"/>
                <a:gd name="T5" fmla="*/ 0 h 119"/>
                <a:gd name="T6" fmla="*/ 0 w 593"/>
                <a:gd name="T7" fmla="*/ 95 h 119"/>
                <a:gd name="T8" fmla="*/ 28 w 593"/>
                <a:gd name="T9" fmla="*/ 114 h 119"/>
                <a:gd name="T10" fmla="*/ 199 w 593"/>
                <a:gd name="T11" fmla="*/ 28 h 119"/>
                <a:gd name="T12" fmla="*/ 294 w 593"/>
                <a:gd name="T13" fmla="*/ 114 h 119"/>
                <a:gd name="T14" fmla="*/ 588 w 593"/>
                <a:gd name="T15" fmla="*/ 119 h 119"/>
                <a:gd name="T16" fmla="*/ 593 w 593"/>
                <a:gd name="T17" fmla="*/ 90 h 11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593"/>
                <a:gd name="T28" fmla="*/ 0 h 119"/>
                <a:gd name="T29" fmla="*/ 593 w 593"/>
                <a:gd name="T30" fmla="*/ 119 h 119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593" h="119">
                  <a:moveTo>
                    <a:pt x="593" y="90"/>
                  </a:moveTo>
                  <a:lnTo>
                    <a:pt x="294" y="85"/>
                  </a:lnTo>
                  <a:lnTo>
                    <a:pt x="199" y="0"/>
                  </a:lnTo>
                  <a:lnTo>
                    <a:pt x="0" y="95"/>
                  </a:lnTo>
                  <a:lnTo>
                    <a:pt x="28" y="114"/>
                  </a:lnTo>
                  <a:lnTo>
                    <a:pt x="199" y="28"/>
                  </a:lnTo>
                  <a:lnTo>
                    <a:pt x="294" y="114"/>
                  </a:lnTo>
                  <a:lnTo>
                    <a:pt x="588" y="119"/>
                  </a:lnTo>
                  <a:lnTo>
                    <a:pt x="593" y="90"/>
                  </a:lnTo>
                  <a:close/>
                </a:path>
              </a:pathLst>
            </a:custGeom>
            <a:solidFill>
              <a:srgbClr val="1A1A18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0682" name="Freeform 92"/>
            <p:cNvSpPr>
              <a:spLocks/>
            </p:cNvSpPr>
            <p:nvPr/>
          </p:nvSpPr>
          <p:spPr bwMode="auto">
            <a:xfrm>
              <a:off x="4002" y="2636"/>
              <a:ext cx="512" cy="498"/>
            </a:xfrm>
            <a:custGeom>
              <a:avLst/>
              <a:gdLst>
                <a:gd name="T0" fmla="*/ 0 w 512"/>
                <a:gd name="T1" fmla="*/ 0 h 498"/>
                <a:gd name="T2" fmla="*/ 38 w 512"/>
                <a:gd name="T3" fmla="*/ 175 h 498"/>
                <a:gd name="T4" fmla="*/ 47 w 512"/>
                <a:gd name="T5" fmla="*/ 437 h 498"/>
                <a:gd name="T6" fmla="*/ 327 w 512"/>
                <a:gd name="T7" fmla="*/ 427 h 498"/>
                <a:gd name="T8" fmla="*/ 493 w 512"/>
                <a:gd name="T9" fmla="*/ 498 h 498"/>
                <a:gd name="T10" fmla="*/ 512 w 512"/>
                <a:gd name="T11" fmla="*/ 475 h 498"/>
                <a:gd name="T12" fmla="*/ 356 w 512"/>
                <a:gd name="T13" fmla="*/ 399 h 498"/>
                <a:gd name="T14" fmla="*/ 76 w 512"/>
                <a:gd name="T15" fmla="*/ 408 h 498"/>
                <a:gd name="T16" fmla="*/ 71 w 512"/>
                <a:gd name="T17" fmla="*/ 161 h 498"/>
                <a:gd name="T18" fmla="*/ 28 w 512"/>
                <a:gd name="T19" fmla="*/ 19 h 498"/>
                <a:gd name="T20" fmla="*/ 0 w 512"/>
                <a:gd name="T21" fmla="*/ 0 h 498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512"/>
                <a:gd name="T34" fmla="*/ 0 h 498"/>
                <a:gd name="T35" fmla="*/ 512 w 512"/>
                <a:gd name="T36" fmla="*/ 498 h 498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512" h="498">
                  <a:moveTo>
                    <a:pt x="0" y="0"/>
                  </a:moveTo>
                  <a:lnTo>
                    <a:pt x="38" y="175"/>
                  </a:lnTo>
                  <a:lnTo>
                    <a:pt x="47" y="437"/>
                  </a:lnTo>
                  <a:lnTo>
                    <a:pt x="327" y="427"/>
                  </a:lnTo>
                  <a:lnTo>
                    <a:pt x="493" y="498"/>
                  </a:lnTo>
                  <a:lnTo>
                    <a:pt x="512" y="475"/>
                  </a:lnTo>
                  <a:lnTo>
                    <a:pt x="356" y="399"/>
                  </a:lnTo>
                  <a:lnTo>
                    <a:pt x="76" y="408"/>
                  </a:lnTo>
                  <a:lnTo>
                    <a:pt x="71" y="161"/>
                  </a:lnTo>
                  <a:lnTo>
                    <a:pt x="28" y="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0403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" name="Group 93"/>
          <p:cNvGrpSpPr>
            <a:grpSpLocks/>
          </p:cNvGrpSpPr>
          <p:nvPr/>
        </p:nvGrpSpPr>
        <p:grpSpPr bwMode="auto">
          <a:xfrm>
            <a:off x="7064375" y="3070225"/>
            <a:ext cx="1193800" cy="971550"/>
            <a:chOff x="4450" y="1934"/>
            <a:chExt cx="752" cy="612"/>
          </a:xfrm>
        </p:grpSpPr>
        <p:sp>
          <p:nvSpPr>
            <p:cNvPr id="70675" name="Rectangle 94"/>
            <p:cNvSpPr>
              <a:spLocks noChangeArrowheads="1"/>
            </p:cNvSpPr>
            <p:nvPr/>
          </p:nvSpPr>
          <p:spPr bwMode="auto">
            <a:xfrm>
              <a:off x="4450" y="1934"/>
              <a:ext cx="752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b="1">
                  <a:solidFill>
                    <a:srgbClr val="000000"/>
                  </a:solidFill>
                </a:rPr>
                <a:t>Lead block</a:t>
              </a:r>
              <a:endParaRPr lang="en-US" b="1"/>
            </a:p>
          </p:txBody>
        </p:sp>
        <p:sp>
          <p:nvSpPr>
            <p:cNvPr id="70676" name="Line 95"/>
            <p:cNvSpPr>
              <a:spLocks noChangeShapeType="1"/>
            </p:cNvSpPr>
            <p:nvPr/>
          </p:nvSpPr>
          <p:spPr bwMode="auto">
            <a:xfrm flipV="1">
              <a:off x="4666" y="2104"/>
              <a:ext cx="100" cy="442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0669" name="Freeform 97"/>
          <p:cNvSpPr>
            <a:spLocks/>
          </p:cNvSpPr>
          <p:nvPr/>
        </p:nvSpPr>
        <p:spPr bwMode="auto">
          <a:xfrm>
            <a:off x="6596063" y="4378325"/>
            <a:ext cx="307975" cy="165100"/>
          </a:xfrm>
          <a:custGeom>
            <a:avLst/>
            <a:gdLst>
              <a:gd name="T0" fmla="*/ 285750 w 194"/>
              <a:gd name="T1" fmla="*/ 165100 h 104"/>
              <a:gd name="T2" fmla="*/ 22225 w 194"/>
              <a:gd name="T3" fmla="*/ 127000 h 104"/>
              <a:gd name="T4" fmla="*/ 22225 w 194"/>
              <a:gd name="T5" fmla="*/ 127000 h 104"/>
              <a:gd name="T6" fmla="*/ 6350 w 194"/>
              <a:gd name="T7" fmla="*/ 119063 h 104"/>
              <a:gd name="T8" fmla="*/ 6350 w 194"/>
              <a:gd name="T9" fmla="*/ 104775 h 104"/>
              <a:gd name="T10" fmla="*/ 0 w 194"/>
              <a:gd name="T11" fmla="*/ 82550 h 104"/>
              <a:gd name="T12" fmla="*/ 0 w 194"/>
              <a:gd name="T13" fmla="*/ 60325 h 104"/>
              <a:gd name="T14" fmla="*/ 0 w 194"/>
              <a:gd name="T15" fmla="*/ 60325 h 104"/>
              <a:gd name="T16" fmla="*/ 6350 w 194"/>
              <a:gd name="T17" fmla="*/ 36513 h 104"/>
              <a:gd name="T18" fmla="*/ 14288 w 194"/>
              <a:gd name="T19" fmla="*/ 14288 h 104"/>
              <a:gd name="T20" fmla="*/ 30163 w 194"/>
              <a:gd name="T21" fmla="*/ 6350 h 104"/>
              <a:gd name="T22" fmla="*/ 44450 w 194"/>
              <a:gd name="T23" fmla="*/ 0 h 104"/>
              <a:gd name="T24" fmla="*/ 307975 w 194"/>
              <a:gd name="T25" fmla="*/ 44450 h 104"/>
              <a:gd name="T26" fmla="*/ 285750 w 194"/>
              <a:gd name="T27" fmla="*/ 165100 h 104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w 194"/>
              <a:gd name="T43" fmla="*/ 0 h 104"/>
              <a:gd name="T44" fmla="*/ 194 w 194"/>
              <a:gd name="T45" fmla="*/ 104 h 104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T42" t="T43" r="T44" b="T45"/>
            <a:pathLst>
              <a:path w="194" h="104">
                <a:moveTo>
                  <a:pt x="180" y="104"/>
                </a:moveTo>
                <a:lnTo>
                  <a:pt x="14" y="80"/>
                </a:lnTo>
                <a:lnTo>
                  <a:pt x="4" y="75"/>
                </a:lnTo>
                <a:lnTo>
                  <a:pt x="4" y="66"/>
                </a:lnTo>
                <a:lnTo>
                  <a:pt x="0" y="52"/>
                </a:lnTo>
                <a:lnTo>
                  <a:pt x="0" y="38"/>
                </a:lnTo>
                <a:lnTo>
                  <a:pt x="4" y="23"/>
                </a:lnTo>
                <a:lnTo>
                  <a:pt x="9" y="9"/>
                </a:lnTo>
                <a:lnTo>
                  <a:pt x="19" y="4"/>
                </a:lnTo>
                <a:lnTo>
                  <a:pt x="28" y="0"/>
                </a:lnTo>
                <a:lnTo>
                  <a:pt x="194" y="28"/>
                </a:lnTo>
                <a:lnTo>
                  <a:pt x="180" y="104"/>
                </a:lnTo>
                <a:close/>
              </a:path>
            </a:pathLst>
          </a:custGeom>
          <a:solidFill>
            <a:srgbClr val="D21009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0670" name="Freeform 98"/>
          <p:cNvSpPr>
            <a:spLocks/>
          </p:cNvSpPr>
          <p:nvPr/>
        </p:nvSpPr>
        <p:spPr bwMode="auto">
          <a:xfrm>
            <a:off x="6845300" y="4346575"/>
            <a:ext cx="361950" cy="361950"/>
          </a:xfrm>
          <a:custGeom>
            <a:avLst/>
            <a:gdLst>
              <a:gd name="T0" fmla="*/ 0 w 228"/>
              <a:gd name="T1" fmla="*/ 195262 h 228"/>
              <a:gd name="T2" fmla="*/ 0 w 228"/>
              <a:gd name="T3" fmla="*/ 195262 h 228"/>
              <a:gd name="T4" fmla="*/ 7938 w 228"/>
              <a:gd name="T5" fmla="*/ 233363 h 228"/>
              <a:gd name="T6" fmla="*/ 23812 w 228"/>
              <a:gd name="T7" fmla="*/ 263525 h 228"/>
              <a:gd name="T8" fmla="*/ 38100 w 228"/>
              <a:gd name="T9" fmla="*/ 293688 h 228"/>
              <a:gd name="T10" fmla="*/ 68263 w 228"/>
              <a:gd name="T11" fmla="*/ 315913 h 228"/>
              <a:gd name="T12" fmla="*/ 98425 w 228"/>
              <a:gd name="T13" fmla="*/ 338138 h 228"/>
              <a:gd name="T14" fmla="*/ 128588 w 228"/>
              <a:gd name="T15" fmla="*/ 354013 h 228"/>
              <a:gd name="T16" fmla="*/ 166688 w 228"/>
              <a:gd name="T17" fmla="*/ 361950 h 228"/>
              <a:gd name="T18" fmla="*/ 196850 w 228"/>
              <a:gd name="T19" fmla="*/ 361950 h 228"/>
              <a:gd name="T20" fmla="*/ 196850 w 228"/>
              <a:gd name="T21" fmla="*/ 361950 h 228"/>
              <a:gd name="T22" fmla="*/ 234950 w 228"/>
              <a:gd name="T23" fmla="*/ 354013 h 228"/>
              <a:gd name="T24" fmla="*/ 265113 w 228"/>
              <a:gd name="T25" fmla="*/ 338138 h 228"/>
              <a:gd name="T26" fmla="*/ 295275 w 228"/>
              <a:gd name="T27" fmla="*/ 323850 h 228"/>
              <a:gd name="T28" fmla="*/ 317500 w 228"/>
              <a:gd name="T29" fmla="*/ 301625 h 228"/>
              <a:gd name="T30" fmla="*/ 339725 w 228"/>
              <a:gd name="T31" fmla="*/ 271463 h 228"/>
              <a:gd name="T32" fmla="*/ 355600 w 228"/>
              <a:gd name="T33" fmla="*/ 241300 h 228"/>
              <a:gd name="T34" fmla="*/ 361950 w 228"/>
              <a:gd name="T35" fmla="*/ 203200 h 228"/>
              <a:gd name="T36" fmla="*/ 361950 w 228"/>
              <a:gd name="T37" fmla="*/ 165100 h 228"/>
              <a:gd name="T38" fmla="*/ 361950 w 228"/>
              <a:gd name="T39" fmla="*/ 165100 h 228"/>
              <a:gd name="T40" fmla="*/ 355600 w 228"/>
              <a:gd name="T41" fmla="*/ 134938 h 228"/>
              <a:gd name="T42" fmla="*/ 339725 w 228"/>
              <a:gd name="T43" fmla="*/ 96837 h 228"/>
              <a:gd name="T44" fmla="*/ 317500 w 228"/>
              <a:gd name="T45" fmla="*/ 66675 h 228"/>
              <a:gd name="T46" fmla="*/ 295275 w 228"/>
              <a:gd name="T47" fmla="*/ 44450 h 228"/>
              <a:gd name="T48" fmla="*/ 265113 w 228"/>
              <a:gd name="T49" fmla="*/ 22225 h 228"/>
              <a:gd name="T50" fmla="*/ 234950 w 228"/>
              <a:gd name="T51" fmla="*/ 7938 h 228"/>
              <a:gd name="T52" fmla="*/ 196850 w 228"/>
              <a:gd name="T53" fmla="*/ 0 h 228"/>
              <a:gd name="T54" fmla="*/ 158750 w 228"/>
              <a:gd name="T55" fmla="*/ 0 h 228"/>
              <a:gd name="T56" fmla="*/ 158750 w 228"/>
              <a:gd name="T57" fmla="*/ 0 h 228"/>
              <a:gd name="T58" fmla="*/ 120650 w 228"/>
              <a:gd name="T59" fmla="*/ 7938 h 228"/>
              <a:gd name="T60" fmla="*/ 90488 w 228"/>
              <a:gd name="T61" fmla="*/ 22225 h 228"/>
              <a:gd name="T62" fmla="*/ 60325 w 228"/>
              <a:gd name="T63" fmla="*/ 36513 h 228"/>
              <a:gd name="T64" fmla="*/ 38100 w 228"/>
              <a:gd name="T65" fmla="*/ 60325 h 228"/>
              <a:gd name="T66" fmla="*/ 23812 w 228"/>
              <a:gd name="T67" fmla="*/ 90488 h 228"/>
              <a:gd name="T68" fmla="*/ 7938 w 228"/>
              <a:gd name="T69" fmla="*/ 120650 h 228"/>
              <a:gd name="T70" fmla="*/ 0 w 228"/>
              <a:gd name="T71" fmla="*/ 157163 h 228"/>
              <a:gd name="T72" fmla="*/ 0 w 228"/>
              <a:gd name="T73" fmla="*/ 195262 h 228"/>
              <a:gd name="T74" fmla="*/ 0 w 228"/>
              <a:gd name="T75" fmla="*/ 195262 h 228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w 228"/>
              <a:gd name="T115" fmla="*/ 0 h 228"/>
              <a:gd name="T116" fmla="*/ 228 w 228"/>
              <a:gd name="T117" fmla="*/ 228 h 228"/>
            </a:gdLst>
            <a:ahLst/>
            <a:cxnLst>
              <a:cxn ang="T76">
                <a:pos x="T0" y="T1"/>
              </a:cxn>
              <a:cxn ang="T77">
                <a:pos x="T2" y="T3"/>
              </a:cxn>
              <a:cxn ang="T78">
                <a:pos x="T4" y="T5"/>
              </a:cxn>
              <a:cxn ang="T79">
                <a:pos x="T6" y="T7"/>
              </a:cxn>
              <a:cxn ang="T80">
                <a:pos x="T8" y="T9"/>
              </a:cxn>
              <a:cxn ang="T81">
                <a:pos x="T10" y="T11"/>
              </a:cxn>
              <a:cxn ang="T82">
                <a:pos x="T12" y="T13"/>
              </a:cxn>
              <a:cxn ang="T83">
                <a:pos x="T14" y="T15"/>
              </a:cxn>
              <a:cxn ang="T84">
                <a:pos x="T16" y="T17"/>
              </a:cxn>
              <a:cxn ang="T85">
                <a:pos x="T18" y="T19"/>
              </a:cxn>
              <a:cxn ang="T86">
                <a:pos x="T20" y="T21"/>
              </a:cxn>
              <a:cxn ang="T87">
                <a:pos x="T22" y="T23"/>
              </a:cxn>
              <a:cxn ang="T88">
                <a:pos x="T24" y="T25"/>
              </a:cxn>
              <a:cxn ang="T89">
                <a:pos x="T26" y="T27"/>
              </a:cxn>
              <a:cxn ang="T90">
                <a:pos x="T28" y="T29"/>
              </a:cxn>
              <a:cxn ang="T91">
                <a:pos x="T30" y="T31"/>
              </a:cxn>
              <a:cxn ang="T92">
                <a:pos x="T32" y="T33"/>
              </a:cxn>
              <a:cxn ang="T93">
                <a:pos x="T34" y="T35"/>
              </a:cxn>
              <a:cxn ang="T94">
                <a:pos x="T36" y="T37"/>
              </a:cxn>
              <a:cxn ang="T95">
                <a:pos x="T38" y="T39"/>
              </a:cxn>
              <a:cxn ang="T96">
                <a:pos x="T40" y="T41"/>
              </a:cxn>
              <a:cxn ang="T97">
                <a:pos x="T42" y="T43"/>
              </a:cxn>
              <a:cxn ang="T98">
                <a:pos x="T44" y="T45"/>
              </a:cxn>
              <a:cxn ang="T99">
                <a:pos x="T46" y="T47"/>
              </a:cxn>
              <a:cxn ang="T100">
                <a:pos x="T48" y="T49"/>
              </a:cxn>
              <a:cxn ang="T101">
                <a:pos x="T50" y="T51"/>
              </a:cxn>
              <a:cxn ang="T102">
                <a:pos x="T52" y="T53"/>
              </a:cxn>
              <a:cxn ang="T103">
                <a:pos x="T54" y="T55"/>
              </a:cxn>
              <a:cxn ang="T104">
                <a:pos x="T56" y="T57"/>
              </a:cxn>
              <a:cxn ang="T105">
                <a:pos x="T58" y="T59"/>
              </a:cxn>
              <a:cxn ang="T106">
                <a:pos x="T60" y="T61"/>
              </a:cxn>
              <a:cxn ang="T107">
                <a:pos x="T62" y="T63"/>
              </a:cxn>
              <a:cxn ang="T108">
                <a:pos x="T64" y="T65"/>
              </a:cxn>
              <a:cxn ang="T109">
                <a:pos x="T66" y="T67"/>
              </a:cxn>
              <a:cxn ang="T110">
                <a:pos x="T68" y="T69"/>
              </a:cxn>
              <a:cxn ang="T111">
                <a:pos x="T70" y="T71"/>
              </a:cxn>
              <a:cxn ang="T112">
                <a:pos x="T72" y="T73"/>
              </a:cxn>
              <a:cxn ang="T113">
                <a:pos x="T74" y="T75"/>
              </a:cxn>
            </a:cxnLst>
            <a:rect l="T114" t="T115" r="T116" b="T117"/>
            <a:pathLst>
              <a:path w="228" h="228">
                <a:moveTo>
                  <a:pt x="0" y="123"/>
                </a:moveTo>
                <a:lnTo>
                  <a:pt x="0" y="123"/>
                </a:lnTo>
                <a:lnTo>
                  <a:pt x="5" y="147"/>
                </a:lnTo>
                <a:lnTo>
                  <a:pt x="15" y="166"/>
                </a:lnTo>
                <a:lnTo>
                  <a:pt x="24" y="185"/>
                </a:lnTo>
                <a:lnTo>
                  <a:pt x="43" y="199"/>
                </a:lnTo>
                <a:lnTo>
                  <a:pt x="62" y="213"/>
                </a:lnTo>
                <a:lnTo>
                  <a:pt x="81" y="223"/>
                </a:lnTo>
                <a:lnTo>
                  <a:pt x="105" y="228"/>
                </a:lnTo>
                <a:lnTo>
                  <a:pt x="124" y="228"/>
                </a:lnTo>
                <a:lnTo>
                  <a:pt x="148" y="223"/>
                </a:lnTo>
                <a:lnTo>
                  <a:pt x="167" y="213"/>
                </a:lnTo>
                <a:lnTo>
                  <a:pt x="186" y="204"/>
                </a:lnTo>
                <a:lnTo>
                  <a:pt x="200" y="190"/>
                </a:lnTo>
                <a:lnTo>
                  <a:pt x="214" y="171"/>
                </a:lnTo>
                <a:lnTo>
                  <a:pt x="224" y="152"/>
                </a:lnTo>
                <a:lnTo>
                  <a:pt x="228" y="128"/>
                </a:lnTo>
                <a:lnTo>
                  <a:pt x="228" y="104"/>
                </a:lnTo>
                <a:lnTo>
                  <a:pt x="224" y="85"/>
                </a:lnTo>
                <a:lnTo>
                  <a:pt x="214" y="61"/>
                </a:lnTo>
                <a:lnTo>
                  <a:pt x="200" y="42"/>
                </a:lnTo>
                <a:lnTo>
                  <a:pt x="186" y="28"/>
                </a:lnTo>
                <a:lnTo>
                  <a:pt x="167" y="14"/>
                </a:lnTo>
                <a:lnTo>
                  <a:pt x="148" y="5"/>
                </a:lnTo>
                <a:lnTo>
                  <a:pt x="124" y="0"/>
                </a:lnTo>
                <a:lnTo>
                  <a:pt x="100" y="0"/>
                </a:lnTo>
                <a:lnTo>
                  <a:pt x="76" y="5"/>
                </a:lnTo>
                <a:lnTo>
                  <a:pt x="57" y="14"/>
                </a:lnTo>
                <a:lnTo>
                  <a:pt x="38" y="23"/>
                </a:lnTo>
                <a:lnTo>
                  <a:pt x="24" y="38"/>
                </a:lnTo>
                <a:lnTo>
                  <a:pt x="15" y="57"/>
                </a:lnTo>
                <a:lnTo>
                  <a:pt x="5" y="76"/>
                </a:lnTo>
                <a:lnTo>
                  <a:pt x="0" y="99"/>
                </a:lnTo>
                <a:lnTo>
                  <a:pt x="0" y="123"/>
                </a:lnTo>
                <a:close/>
              </a:path>
            </a:pathLst>
          </a:custGeom>
          <a:solidFill>
            <a:srgbClr val="FD341F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grpSp>
        <p:nvGrpSpPr>
          <p:cNvPr id="11" name="Group 99"/>
          <p:cNvGrpSpPr>
            <a:grpSpLocks/>
          </p:cNvGrpSpPr>
          <p:nvPr/>
        </p:nvGrpSpPr>
        <p:grpSpPr bwMode="auto">
          <a:xfrm>
            <a:off x="5637213" y="4643438"/>
            <a:ext cx="2478087" cy="1349375"/>
            <a:chOff x="3557" y="2925"/>
            <a:chExt cx="1561" cy="850"/>
          </a:xfrm>
        </p:grpSpPr>
        <p:sp>
          <p:nvSpPr>
            <p:cNvPr id="70672" name="Rectangle 100"/>
            <p:cNvSpPr>
              <a:spLocks noChangeArrowheads="1"/>
            </p:cNvSpPr>
            <p:nvPr/>
          </p:nvSpPr>
          <p:spPr bwMode="auto">
            <a:xfrm>
              <a:off x="3557" y="3602"/>
              <a:ext cx="1561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b="1">
                  <a:solidFill>
                    <a:srgbClr val="000000"/>
                  </a:solidFill>
                </a:rPr>
                <a:t>Radioactive substance</a:t>
              </a:r>
              <a:endParaRPr lang="en-US" b="1"/>
            </a:p>
          </p:txBody>
        </p:sp>
        <p:sp>
          <p:nvSpPr>
            <p:cNvPr id="70673" name="Line 101"/>
            <p:cNvSpPr>
              <a:spLocks noChangeShapeType="1"/>
            </p:cNvSpPr>
            <p:nvPr/>
          </p:nvSpPr>
          <p:spPr bwMode="auto">
            <a:xfrm flipV="1">
              <a:off x="4263" y="2925"/>
              <a:ext cx="142" cy="675"/>
            </a:xfrm>
            <a:prstGeom prst="line">
              <a:avLst/>
            </a:prstGeom>
            <a:noFill/>
            <a:ln w="38100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0674" name="Line 102"/>
            <p:cNvSpPr>
              <a:spLocks noChangeShapeType="1"/>
            </p:cNvSpPr>
            <p:nvPr/>
          </p:nvSpPr>
          <p:spPr bwMode="auto">
            <a:xfrm flipV="1">
              <a:off x="4261" y="2930"/>
              <a:ext cx="143" cy="674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81000"/>
            <a:ext cx="7239000" cy="1362075"/>
          </a:xfrm>
        </p:spPr>
        <p:txBody>
          <a:bodyPr>
            <a:normAutofit fontScale="90000"/>
          </a:bodyPr>
          <a:lstStyle/>
          <a:p>
            <a:r>
              <a:rPr lang="en-US" sz="5300" dirty="0"/>
              <a:t>Types of Radiation:</a:t>
            </a:r>
            <a:br>
              <a:rPr lang="en-US" dirty="0"/>
            </a:br>
            <a:br>
              <a:rPr lang="en-US" dirty="0"/>
            </a:br>
            <a:r>
              <a:rPr lang="en-US" dirty="0"/>
              <a:t>(1)Alpha emission</a:t>
            </a:r>
            <a:br>
              <a:rPr lang="en-US" dirty="0"/>
            </a:br>
            <a:endParaRPr lang="en-US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1000" y="1633538"/>
            <a:ext cx="7467600" cy="49958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742950" lvl="1">
              <a:buClr>
                <a:srgbClr val="CAD88F"/>
              </a:buClr>
              <a:buFontTx/>
              <a:buChar char="–"/>
            </a:pPr>
            <a:r>
              <a:rPr lang="en-US" sz="2800" b="1" dirty="0">
                <a:solidFill>
                  <a:schemeClr val="tx1"/>
                </a:solidFill>
                <a:latin typeface="Arial" charset="0"/>
              </a:rPr>
              <a:t>Alpha emission</a:t>
            </a:r>
            <a:r>
              <a:rPr lang="en-US" sz="2800" dirty="0">
                <a:solidFill>
                  <a:schemeClr val="tx1"/>
                </a:solidFill>
                <a:latin typeface="Arial" charset="0"/>
              </a:rPr>
              <a:t> (abbreviated as </a:t>
            </a:r>
            <a:r>
              <a:rPr lang="el-GR" sz="2800" dirty="0">
                <a:solidFill>
                  <a:schemeClr val="tx1"/>
                </a:solidFill>
                <a:latin typeface="Arial" charset="0"/>
              </a:rPr>
              <a:t>α</a:t>
            </a:r>
            <a:r>
              <a:rPr lang="en-US" sz="2800" dirty="0">
                <a:solidFill>
                  <a:schemeClr val="tx1"/>
                </a:solidFill>
                <a:latin typeface="Arial" charset="0"/>
              </a:rPr>
              <a:t>): emission of a           nucleus, or  an alpha particle, from an unstable nucleus.</a:t>
            </a:r>
          </a:p>
          <a:p>
            <a:pPr marL="742950" lvl="1">
              <a:buClr>
                <a:srgbClr val="CAD88F"/>
              </a:buClr>
            </a:pPr>
            <a:endParaRPr lang="en-US" sz="2800" dirty="0">
              <a:solidFill>
                <a:schemeClr val="tx1"/>
              </a:solidFill>
              <a:latin typeface="Arial" charset="0"/>
            </a:endParaRPr>
          </a:p>
          <a:p>
            <a:pPr marL="742950" lvl="1">
              <a:buClr>
                <a:srgbClr val="CAD88F"/>
              </a:buClr>
              <a:buFontTx/>
              <a:buChar char="–"/>
            </a:pPr>
            <a:r>
              <a:rPr lang="en-US" sz="2800" dirty="0">
                <a:solidFill>
                  <a:schemeClr val="tx1"/>
                </a:solidFill>
                <a:latin typeface="Arial" charset="0"/>
              </a:rPr>
              <a:t>An example is the radioactive decay of radium-226</a:t>
            </a:r>
          </a:p>
          <a:p>
            <a:pPr marL="742950" lvl="1">
              <a:buClr>
                <a:srgbClr val="CAD88F"/>
              </a:buClr>
              <a:buFontTx/>
              <a:buChar char="–"/>
            </a:pPr>
            <a:endParaRPr lang="en-US" dirty="0">
              <a:solidFill>
                <a:srgbClr val="376BB3"/>
              </a:solidFill>
              <a:latin typeface="Arial" charset="0"/>
            </a:endParaRPr>
          </a:p>
        </p:txBody>
      </p:sp>
      <p:graphicFrame>
        <p:nvGraphicFramePr>
          <p:cNvPr id="6" name="Object 1025"/>
          <p:cNvGraphicFramePr>
            <a:graphicFrameLocks noChangeAspect="1"/>
          </p:cNvGraphicFramePr>
          <p:nvPr/>
        </p:nvGraphicFramePr>
        <p:xfrm>
          <a:off x="2057400" y="5486400"/>
          <a:ext cx="44704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470120" imgH="736560" progId="Equation.3">
                  <p:embed/>
                </p:oleObj>
              </mc:Choice>
              <mc:Fallback>
                <p:oleObj name="Equation" r:id="rId2" imgW="4470120" imgH="736560" progId="Equation.3">
                  <p:embed/>
                  <p:pic>
                    <p:nvPicPr>
                      <p:cNvPr id="0" name="Object 10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5486400"/>
                        <a:ext cx="4470400" cy="736600"/>
                      </a:xfrm>
                      <a:prstGeom prst="rect">
                        <a:avLst/>
                      </a:prstGeom>
                      <a:blipFill dpi="0" rotWithShape="0">
                        <a:blip r:embed="rId4"/>
                        <a:srcRect/>
                        <a:tile tx="0" ty="0" sx="100000" sy="100000" flip="none" algn="tl"/>
                      </a:blip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1024"/>
          <p:cNvGraphicFramePr>
            <a:graphicFrameLocks noChangeAspect="1"/>
          </p:cNvGraphicFramePr>
          <p:nvPr/>
        </p:nvGraphicFramePr>
        <p:xfrm>
          <a:off x="3581400" y="2057400"/>
          <a:ext cx="585788" cy="455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927000" imgH="723600" progId="Equation.3">
                  <p:embed/>
                </p:oleObj>
              </mc:Choice>
              <mc:Fallback>
                <p:oleObj name="Equation" r:id="rId5" imgW="927000" imgH="723600" progId="Equation.3">
                  <p:embed/>
                  <p:pic>
                    <p:nvPicPr>
                      <p:cNvPr id="0" name="Object 10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1400" y="2057400"/>
                        <a:ext cx="585788" cy="455613"/>
                      </a:xfrm>
                      <a:prstGeom prst="rect">
                        <a:avLst/>
                      </a:prstGeom>
                      <a:blipFill dpi="0" rotWithShape="0">
                        <a:blip r:embed="rId4"/>
                        <a:srcRect/>
                        <a:tile tx="0" ty="0" sx="100000" sy="100000" flip="none" algn="tl"/>
                      </a:blipFill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38200" y="762000"/>
            <a:ext cx="6705600" cy="525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(2)Beta radiation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1633536"/>
            <a:ext cx="8382000" cy="4767264"/>
          </a:xfrm>
        </p:spPr>
        <p:txBody>
          <a:bodyPr>
            <a:normAutofit fontScale="77500" lnSpcReduction="20000"/>
          </a:bodyPr>
          <a:lstStyle/>
          <a:p>
            <a:pPr>
              <a:buFont typeface="Wingdings" pitchFamily="2" charset="2"/>
              <a:buChar char="v"/>
            </a:pPr>
            <a:r>
              <a:rPr lang="en-US" sz="3600" b="1" dirty="0">
                <a:solidFill>
                  <a:srgbClr val="376BB3"/>
                </a:solidFill>
                <a:latin typeface="Arial" charset="0"/>
              </a:rPr>
              <a:t>Beta emission</a:t>
            </a:r>
            <a:r>
              <a:rPr lang="en-US" sz="3600" dirty="0">
                <a:solidFill>
                  <a:srgbClr val="376BB3"/>
                </a:solidFill>
                <a:latin typeface="Arial" charset="0"/>
              </a:rPr>
              <a:t> (abbreviated</a:t>
            </a:r>
            <a:r>
              <a:rPr lang="en-US" sz="3600" dirty="0">
                <a:solidFill>
                  <a:srgbClr val="376BB3"/>
                </a:solidFill>
              </a:rPr>
              <a:t> </a:t>
            </a:r>
            <a:r>
              <a:rPr lang="en-US" sz="3600" dirty="0">
                <a:solidFill>
                  <a:srgbClr val="376BB3"/>
                </a:solidFill>
                <a:latin typeface="Symbol" pitchFamily="18" charset="2"/>
              </a:rPr>
              <a:t>b </a:t>
            </a:r>
            <a:r>
              <a:rPr lang="en-US" sz="3600" dirty="0">
                <a:solidFill>
                  <a:srgbClr val="376BB3"/>
                </a:solidFill>
                <a:latin typeface="Arial" charset="0"/>
              </a:rPr>
              <a:t>or</a:t>
            </a:r>
            <a:r>
              <a:rPr lang="en-US" sz="3600" dirty="0">
                <a:solidFill>
                  <a:srgbClr val="376BB3"/>
                </a:solidFill>
              </a:rPr>
              <a:t> </a:t>
            </a:r>
            <a:r>
              <a:rPr lang="en-US" sz="3600" dirty="0">
                <a:solidFill>
                  <a:srgbClr val="376BB3"/>
                </a:solidFill>
                <a:latin typeface="Symbol" pitchFamily="18" charset="2"/>
              </a:rPr>
              <a:t>b</a:t>
            </a:r>
            <a:r>
              <a:rPr lang="en-US" sz="3600" baseline="30000" dirty="0">
                <a:solidFill>
                  <a:srgbClr val="376BB3"/>
                </a:solidFill>
                <a:latin typeface="Arial" charset="0"/>
              </a:rPr>
              <a:t>-</a:t>
            </a:r>
            <a:r>
              <a:rPr lang="en-US" sz="3600" dirty="0">
                <a:solidFill>
                  <a:srgbClr val="376BB3"/>
                </a:solidFill>
                <a:latin typeface="Arial" charset="0"/>
              </a:rPr>
              <a:t>): emission of a high speed electron from a stable nucleus.</a:t>
            </a:r>
          </a:p>
          <a:p>
            <a:pPr>
              <a:defRPr/>
            </a:pPr>
            <a:endParaRPr lang="en-US" sz="3600" dirty="0">
              <a:sym typeface="Symbol" pitchFamily="18" charset="2"/>
            </a:endParaRPr>
          </a:p>
          <a:p>
            <a:pPr>
              <a:defRPr/>
            </a:pPr>
            <a:r>
              <a:rPr lang="en-US" sz="3600" dirty="0">
                <a:sym typeface="Symbol" pitchFamily="18" charset="2"/>
              </a:rPr>
              <a:t>neutron changes into proton &amp; emits e</a:t>
            </a:r>
            <a:r>
              <a:rPr lang="en-US" sz="3600" baseline="30000" dirty="0">
                <a:sym typeface="Symbol" pitchFamily="18" charset="2"/>
              </a:rPr>
              <a:t>-</a:t>
            </a:r>
          </a:p>
          <a:p>
            <a:pPr>
              <a:defRPr/>
            </a:pPr>
            <a:r>
              <a:rPr lang="en-US" sz="3600" dirty="0">
                <a:sym typeface="Symbol" pitchFamily="18" charset="2"/>
              </a:rPr>
              <a:t>                    </a:t>
            </a:r>
            <a:r>
              <a:rPr lang="en-US" sz="3600" baseline="30000" dirty="0"/>
              <a:t>1</a:t>
            </a:r>
            <a:r>
              <a:rPr lang="en-US" sz="3600" baseline="-25000" dirty="0"/>
              <a:t>0</a:t>
            </a:r>
            <a:r>
              <a:rPr lang="en-US" sz="3600" dirty="0"/>
              <a:t>n </a:t>
            </a:r>
            <a:r>
              <a:rPr lang="en-US" sz="3600" dirty="0">
                <a:sym typeface="Symbol" pitchFamily="18" charset="2"/>
              </a:rPr>
              <a:t> </a:t>
            </a:r>
            <a:r>
              <a:rPr lang="en-US" sz="3600" baseline="30000" dirty="0"/>
              <a:t>1</a:t>
            </a:r>
            <a:r>
              <a:rPr lang="en-US" sz="3600" baseline="-25000" dirty="0"/>
              <a:t>1</a:t>
            </a:r>
            <a:r>
              <a:rPr lang="en-US" sz="3600" dirty="0"/>
              <a:t>p + </a:t>
            </a:r>
            <a:r>
              <a:rPr lang="en-US" sz="3600" baseline="30000" dirty="0"/>
              <a:t>0</a:t>
            </a:r>
            <a:r>
              <a:rPr lang="en-US" sz="3600" baseline="-25000" dirty="0"/>
              <a:t>-1</a:t>
            </a:r>
            <a:r>
              <a:rPr lang="en-US" sz="3600" dirty="0"/>
              <a:t>e</a:t>
            </a:r>
            <a:endParaRPr lang="en-US" sz="3600" dirty="0">
              <a:sym typeface="Symbol" pitchFamily="18" charset="2"/>
            </a:endParaRPr>
          </a:p>
          <a:p>
            <a:pPr>
              <a:defRPr/>
            </a:pPr>
            <a:r>
              <a:rPr lang="en-US" sz="3600" b="1" dirty="0">
                <a:sym typeface="Symbol" pitchFamily="18" charset="2"/>
              </a:rPr>
              <a:t>Daughter nuclide = parent nuclide atomic number plus 1</a:t>
            </a:r>
            <a:r>
              <a:rPr lang="en-US" sz="3600" dirty="0">
                <a:sym typeface="Symbol" pitchFamily="18" charset="2"/>
              </a:rPr>
              <a:t> </a:t>
            </a:r>
          </a:p>
          <a:p>
            <a:pPr algn="ctr">
              <a:defRPr/>
            </a:pPr>
            <a:endParaRPr lang="en-US" sz="3600" baseline="30000" dirty="0">
              <a:sym typeface="Symbol" pitchFamily="18" charset="2"/>
            </a:endParaRPr>
          </a:p>
          <a:p>
            <a:pPr algn="ctr">
              <a:defRPr/>
            </a:pPr>
            <a:r>
              <a:rPr lang="en-US" sz="3600" baseline="30000" dirty="0">
                <a:sym typeface="Symbol" pitchFamily="18" charset="2"/>
              </a:rPr>
              <a:t>137</a:t>
            </a:r>
            <a:r>
              <a:rPr lang="en-US" sz="3600" baseline="-25000" dirty="0">
                <a:sym typeface="Symbol" pitchFamily="18" charset="2"/>
              </a:rPr>
              <a:t>55</a:t>
            </a:r>
            <a:r>
              <a:rPr lang="en-US" sz="3600" dirty="0">
                <a:sym typeface="Symbol" pitchFamily="18" charset="2"/>
              </a:rPr>
              <a:t>Cs  </a:t>
            </a:r>
            <a:r>
              <a:rPr lang="en-US" sz="3600" baseline="30000" dirty="0">
                <a:sym typeface="Symbol" pitchFamily="18" charset="2"/>
              </a:rPr>
              <a:t>137</a:t>
            </a:r>
            <a:r>
              <a:rPr lang="en-US" sz="3600" baseline="-25000" dirty="0">
                <a:sym typeface="Symbol" pitchFamily="18" charset="2"/>
              </a:rPr>
              <a:t>56</a:t>
            </a:r>
            <a:r>
              <a:rPr lang="en-US" sz="3600" dirty="0">
                <a:sym typeface="Symbol" pitchFamily="18" charset="2"/>
              </a:rPr>
              <a:t>Ba + </a:t>
            </a:r>
            <a:r>
              <a:rPr lang="en-US" sz="3600" baseline="30000" dirty="0">
                <a:sym typeface="Symbol" pitchFamily="18" charset="2"/>
              </a:rPr>
              <a:t>0</a:t>
            </a:r>
            <a:r>
              <a:rPr lang="en-US" sz="3600" baseline="-25000" dirty="0">
                <a:sym typeface="Symbol" pitchFamily="18" charset="2"/>
              </a:rPr>
              <a:t>-1</a:t>
            </a:r>
            <a:r>
              <a:rPr lang="en-US" sz="3600" dirty="0">
                <a:sym typeface="Symbol" pitchFamily="18" charset="2"/>
              </a:rPr>
              <a:t>e</a:t>
            </a:r>
            <a:r>
              <a:rPr lang="en-US" sz="3600" baseline="30000" dirty="0">
                <a:sym typeface="Symbol" pitchFamily="18" charset="2"/>
              </a:rPr>
              <a:t>-</a:t>
            </a:r>
          </a:p>
          <a:p>
            <a:pPr marL="54864" lvl="1" indent="0">
              <a:buSzPct val="80000"/>
            </a:pPr>
            <a:endParaRPr lang="en-US" sz="3600" dirty="0">
              <a:solidFill>
                <a:srgbClr val="376BB3"/>
              </a:solidFill>
              <a:latin typeface="Arial" charset="0"/>
            </a:endParaRPr>
          </a:p>
          <a:p>
            <a:pPr marL="54864" lvl="1" indent="0">
              <a:buSzPct val="80000"/>
            </a:pPr>
            <a:r>
              <a:rPr lang="en-US" sz="3600" dirty="0">
                <a:solidFill>
                  <a:srgbClr val="376BB3"/>
                </a:solidFill>
                <a:latin typeface="Arial" charset="0"/>
              </a:rPr>
              <a:t>An example is the radioactive decay of carbon-14.</a:t>
            </a:r>
          </a:p>
          <a:p>
            <a:endParaRPr lang="en-US" dirty="0"/>
          </a:p>
        </p:txBody>
      </p:sp>
      <p:graphicFrame>
        <p:nvGraphicFramePr>
          <p:cNvPr id="4" name="Object 0"/>
          <p:cNvGraphicFramePr>
            <a:graphicFrameLocks noChangeAspect="1"/>
          </p:cNvGraphicFramePr>
          <p:nvPr/>
        </p:nvGraphicFramePr>
        <p:xfrm>
          <a:off x="2971800" y="6121400"/>
          <a:ext cx="32639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263760" imgH="736560" progId="Equation.3">
                  <p:embed/>
                </p:oleObj>
              </mc:Choice>
              <mc:Fallback>
                <p:oleObj name="Equation" r:id="rId2" imgW="3263760" imgH="736560" progId="Equation.3">
                  <p:embed/>
                  <p:pic>
                    <p:nvPicPr>
                      <p:cNvPr id="0" name="Object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0" y="6121400"/>
                        <a:ext cx="3263900" cy="736600"/>
                      </a:xfrm>
                      <a:prstGeom prst="rect">
                        <a:avLst/>
                      </a:prstGeom>
                      <a:blipFill dpi="0" rotWithShape="0">
                        <a:blip r:embed="rId4"/>
                        <a:srcRect/>
                        <a:tile tx="0" ty="0" sx="100000" sy="100000" flip="none" algn="tl"/>
                      </a:blipFill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6" descr="lanc2-e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" y="1096963"/>
            <a:ext cx="7848600" cy="5380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(3)Gamma radiation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1633536"/>
            <a:ext cx="7772400" cy="4995864"/>
          </a:xfrm>
        </p:spPr>
        <p:txBody>
          <a:bodyPr>
            <a:normAutofit/>
          </a:bodyPr>
          <a:lstStyle/>
          <a:p>
            <a:pPr marL="54864" lvl="1" indent="0">
              <a:buSzPct val="80000"/>
              <a:buFont typeface="Wingdings" pitchFamily="2" charset="2"/>
              <a:buChar char="v"/>
            </a:pPr>
            <a:r>
              <a:rPr lang="en-US" sz="3200" b="1" dirty="0">
                <a:solidFill>
                  <a:schemeClr val="tx1"/>
                </a:solidFill>
                <a:latin typeface="Arial" charset="0"/>
              </a:rPr>
              <a:t>Gamma rays</a:t>
            </a:r>
            <a:r>
              <a:rPr lang="en-US" sz="3200" dirty="0">
                <a:solidFill>
                  <a:schemeClr val="tx1"/>
                </a:solidFill>
                <a:latin typeface="Arial" charset="0"/>
              </a:rPr>
              <a:t> are unaffected by electric and magnetic fields.</a:t>
            </a:r>
          </a:p>
          <a:p>
            <a:pPr marL="54864" lvl="1" indent="0">
              <a:buSzPct val="80000"/>
              <a:buFont typeface="Wingdings" pitchFamily="2" charset="2"/>
              <a:buChar char="v"/>
            </a:pPr>
            <a:r>
              <a:rPr lang="en-US" sz="3200" baseline="30000" dirty="0">
                <a:solidFill>
                  <a:schemeClr val="tx1"/>
                </a:solidFill>
                <a:sym typeface="Symbol" pitchFamily="18" charset="2"/>
              </a:rPr>
              <a:t>0</a:t>
            </a:r>
            <a:r>
              <a:rPr lang="en-US" sz="3200" baseline="-25000" dirty="0">
                <a:solidFill>
                  <a:schemeClr val="tx1"/>
                </a:solidFill>
                <a:sym typeface="Symbol" pitchFamily="18" charset="2"/>
              </a:rPr>
              <a:t>0</a:t>
            </a:r>
            <a:r>
              <a:rPr lang="en-US" sz="3200" dirty="0">
                <a:solidFill>
                  <a:schemeClr val="tx1"/>
                </a:solidFill>
                <a:sym typeface="Symbol" pitchFamily="18" charset="2"/>
              </a:rPr>
              <a:t></a:t>
            </a:r>
          </a:p>
          <a:p>
            <a:pPr marL="54864" lvl="1" indent="0">
              <a:buSzPct val="80000"/>
              <a:buFont typeface="Wingdings" pitchFamily="2" charset="2"/>
              <a:buChar char="v"/>
            </a:pPr>
            <a:endParaRPr lang="en-US" sz="3200" dirty="0">
              <a:solidFill>
                <a:schemeClr val="tx1"/>
              </a:solidFill>
              <a:latin typeface="Arial" charset="0"/>
              <a:sym typeface="Symbol" pitchFamily="18" charset="2"/>
            </a:endParaRPr>
          </a:p>
          <a:p>
            <a:pPr marL="54864" lvl="1" indent="0">
              <a:buSzPct val="80000"/>
              <a:buFont typeface="Wingdings" pitchFamily="2" charset="2"/>
              <a:buChar char="v"/>
            </a:pPr>
            <a:r>
              <a:rPr lang="en-US" sz="3200" dirty="0">
                <a:solidFill>
                  <a:schemeClr val="tx1"/>
                </a:solidFill>
                <a:latin typeface="Arial" charset="0"/>
              </a:rPr>
              <a:t>They have been shown to be a form of </a:t>
            </a:r>
            <a:r>
              <a:rPr lang="en-US" sz="3200" b="1" dirty="0">
                <a:solidFill>
                  <a:schemeClr val="tx1"/>
                </a:solidFill>
                <a:latin typeface="Arial" charset="0"/>
              </a:rPr>
              <a:t>electromagnetic radiation</a:t>
            </a:r>
            <a:r>
              <a:rPr lang="en-US" sz="3200" dirty="0">
                <a:solidFill>
                  <a:schemeClr val="tx1"/>
                </a:solidFill>
                <a:latin typeface="Arial" charset="0"/>
              </a:rPr>
              <a:t> similar to x rays, but higher in energy and shorter in wavelength.</a:t>
            </a:r>
            <a:endParaRPr lang="en-US" sz="32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71465"/>
            <a:ext cx="7239000" cy="1100136"/>
          </a:xfrm>
        </p:spPr>
        <p:txBody>
          <a:bodyPr/>
          <a:lstStyle/>
          <a:p>
            <a:r>
              <a:rPr lang="en-US" dirty="0"/>
              <a:t>Properties and Comparison…</a:t>
            </a:r>
          </a:p>
        </p:txBody>
      </p:sp>
      <p:pic>
        <p:nvPicPr>
          <p:cNvPr id="25603" name="Picture 3" descr="E:\B.Sc\nuclear chemistry\Picture1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4800" y="1676400"/>
            <a:ext cx="8534400" cy="441960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85800"/>
            <a:ext cx="7239000" cy="795336"/>
          </a:xfrm>
        </p:spPr>
        <p:txBody>
          <a:bodyPr>
            <a:normAutofit fontScale="90000"/>
          </a:bodyPr>
          <a:lstStyle/>
          <a:p>
            <a:r>
              <a:rPr lang="en-US" dirty="0"/>
              <a:t>Law of Radioactive Disintegration</a:t>
            </a:r>
            <a:br>
              <a:rPr lang="en-US" dirty="0"/>
            </a:b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1633536"/>
            <a:ext cx="7848600" cy="4691064"/>
          </a:xfrm>
        </p:spPr>
        <p:txBody>
          <a:bodyPr>
            <a:normAutofit/>
          </a:bodyPr>
          <a:lstStyle/>
          <a:p>
            <a:r>
              <a:rPr lang="en-US" dirty="0"/>
              <a:t>The decay of a radioactive isotope takes place by disintegration of the atomic nucleus. It is not influenced by  any external conditions.</a:t>
            </a:r>
          </a:p>
          <a:p>
            <a:r>
              <a:rPr lang="en-US" dirty="0"/>
              <a:t> If </a:t>
            </a:r>
            <a:r>
              <a:rPr lang="en-US" i="1" dirty="0"/>
              <a:t>N be the number of undecayed atoms of an isotope</a:t>
            </a:r>
          </a:p>
          <a:p>
            <a:r>
              <a:rPr lang="en-US" dirty="0"/>
              <a:t>present in a sample of the isotope, at time </a:t>
            </a:r>
            <a:r>
              <a:rPr lang="en-US" i="1" dirty="0"/>
              <a:t>t,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   Where         means the rate of decrease in the number of radioactive atoms in the sample; </a:t>
            </a:r>
          </a:p>
          <a:p>
            <a:r>
              <a:rPr lang="en-US" dirty="0"/>
              <a:t>and λ is the proportionality factor. This is known as the </a:t>
            </a:r>
            <a:r>
              <a:rPr lang="en-US" b="1" dirty="0"/>
              <a:t>decay constant or disintegration constant. </a:t>
            </a:r>
            <a:endParaRPr lang="en-US" dirty="0"/>
          </a:p>
        </p:txBody>
      </p:sp>
      <p:pic>
        <p:nvPicPr>
          <p:cNvPr id="276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57400" y="3505200"/>
            <a:ext cx="3581400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765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637179" y="4724400"/>
            <a:ext cx="420221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extBox 5"/>
          <p:cNvSpPr txBox="1"/>
          <p:nvPr/>
        </p:nvSpPr>
        <p:spPr>
          <a:xfrm>
            <a:off x="6629400" y="4191000"/>
            <a:ext cx="7777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….(1)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1633536"/>
            <a:ext cx="8305800" cy="3852864"/>
          </a:xfrm>
        </p:spPr>
        <p:txBody>
          <a:bodyPr>
            <a:normAutofit/>
          </a:bodyPr>
          <a:lstStyle/>
          <a:p>
            <a:r>
              <a:rPr lang="en-US" b="1" dirty="0"/>
              <a:t>Putting  </a:t>
            </a:r>
            <a:r>
              <a:rPr lang="en-US" i="1" dirty="0" err="1"/>
              <a:t>dt</a:t>
            </a:r>
            <a:r>
              <a:rPr lang="en-US" i="1" dirty="0"/>
              <a:t> = 1 in equation (1) we have</a:t>
            </a:r>
            <a:endParaRPr lang="en-US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r>
              <a:rPr lang="en-US" b="1" dirty="0"/>
              <a:t>Thus decay constant may be defined as the proportion of atoms of an isotope decaying per second.</a:t>
            </a:r>
            <a:endParaRPr lang="en-US" dirty="0"/>
          </a:p>
        </p:txBody>
      </p:sp>
      <p:pic>
        <p:nvPicPr>
          <p:cNvPr id="286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90800" y="2590800"/>
            <a:ext cx="25146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Isotopes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1633536"/>
            <a:ext cx="8305800" cy="4538664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The atoms of an element which have the same number of</a:t>
            </a:r>
          </a:p>
          <a:p>
            <a:r>
              <a:rPr lang="en-US" b="1" dirty="0"/>
              <a:t>protons and different number of neutrons are called Isotopes.</a:t>
            </a:r>
          </a:p>
          <a:p>
            <a:pPr>
              <a:buFont typeface="Wingdings" pitchFamily="2" charset="2"/>
              <a:buChar char="v"/>
            </a:pPr>
            <a:endParaRPr lang="en-US" b="1" dirty="0"/>
          </a:p>
          <a:p>
            <a:pPr>
              <a:buFont typeface="Wingdings" pitchFamily="2" charset="2"/>
              <a:buChar char="v"/>
            </a:pPr>
            <a:r>
              <a:rPr lang="en-US" b="1" dirty="0"/>
              <a:t>The atoms of an element which have the same atomic</a:t>
            </a:r>
          </a:p>
          <a:p>
            <a:r>
              <a:rPr lang="en-US" b="1" dirty="0"/>
              <a:t>number but different atomic masses or mass numbers.</a:t>
            </a:r>
          </a:p>
          <a:p>
            <a:r>
              <a:rPr lang="en-US" b="1" dirty="0"/>
              <a:t> </a:t>
            </a:r>
          </a:p>
          <a:p>
            <a:r>
              <a:rPr lang="en-US" dirty="0"/>
              <a:t>Example :the isotopes of carbon (atomic number 6) having atomic masses 12 and 14 may be</a:t>
            </a:r>
          </a:p>
          <a:p>
            <a:r>
              <a:rPr lang="en-US" dirty="0"/>
              <a:t>written as</a:t>
            </a:r>
          </a:p>
          <a:p>
            <a:r>
              <a:rPr lang="en-US" dirty="0"/>
              <a:t>12      12</a:t>
            </a:r>
          </a:p>
          <a:p>
            <a:r>
              <a:rPr lang="en-US" dirty="0"/>
              <a:t>6 C or C or Carbon-12</a:t>
            </a:r>
          </a:p>
          <a:p>
            <a:r>
              <a:rPr lang="en-US" dirty="0"/>
              <a:t>14      14</a:t>
            </a:r>
          </a:p>
          <a:p>
            <a:r>
              <a:rPr lang="en-US" dirty="0"/>
              <a:t>6 C or C or Carbon-14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Isobars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1633536"/>
            <a:ext cx="8001000" cy="4995864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itchFamily="2" charset="2"/>
              <a:buChar char="v"/>
            </a:pPr>
            <a:r>
              <a:rPr lang="en-US" sz="2800" b="1" dirty="0"/>
              <a:t> The atoms which have the same mass number but different atomic numbers are called isobars.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 </a:t>
            </a:r>
            <a:r>
              <a:rPr lang="en-US" sz="2400" dirty="0"/>
              <a:t>For example,</a:t>
            </a:r>
          </a:p>
          <a:p>
            <a:r>
              <a:rPr lang="en-US" sz="2400" dirty="0"/>
              <a:t>                    40      40              40</a:t>
            </a:r>
          </a:p>
          <a:p>
            <a:r>
              <a:rPr lang="en-US" sz="2400" dirty="0"/>
              <a:t>                   18 Ar, 19K, and 20Ca are isobaric atoms. </a:t>
            </a:r>
          </a:p>
          <a:p>
            <a:endParaRPr lang="en-US" sz="2400" dirty="0"/>
          </a:p>
          <a:p>
            <a:r>
              <a:rPr lang="en-US" sz="2400" dirty="0"/>
              <a:t>Similarly, </a:t>
            </a:r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                   235     235             235</a:t>
            </a:r>
          </a:p>
          <a:p>
            <a:r>
              <a:rPr lang="en-US" sz="2400" dirty="0"/>
              <a:t>                    92 U, 93 Np, and 94 Pu are  isobars.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Isotones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1633536"/>
            <a:ext cx="7620000" cy="4995864"/>
          </a:xfrm>
        </p:spPr>
        <p:txBody>
          <a:bodyPr>
            <a:normAutofit/>
          </a:bodyPr>
          <a:lstStyle/>
          <a:p>
            <a:r>
              <a:rPr lang="en-US" sz="3200" b="1" dirty="0"/>
              <a:t>Atoms which have different atomic number and different atomic masses but the same number of neutrons are called Isotones.</a:t>
            </a:r>
          </a:p>
          <a:p>
            <a:endParaRPr lang="en-US" b="1" dirty="0"/>
          </a:p>
          <a:p>
            <a:endParaRPr lang="en-US" b="1" dirty="0"/>
          </a:p>
          <a:p>
            <a:r>
              <a:rPr lang="en-US" b="1" dirty="0"/>
              <a:t>Examples of isotones</a:t>
            </a:r>
          </a:p>
          <a:p>
            <a:pPr marL="512064" indent="-457200"/>
            <a:r>
              <a:rPr lang="en-US" dirty="0"/>
              <a:t>       14     15         16</a:t>
            </a:r>
          </a:p>
          <a:p>
            <a:pPr marL="512064" indent="-457200"/>
            <a:r>
              <a:rPr lang="en-US" dirty="0"/>
              <a:t>       6 C, 7N and 8 O are isotones since each contains eight neutrons.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Half life period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1633536"/>
            <a:ext cx="7467600" cy="4995864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v"/>
            </a:pPr>
            <a:r>
              <a:rPr lang="en-US" dirty="0"/>
              <a:t>         </a:t>
            </a:r>
            <a:r>
              <a:rPr lang="en-US" sz="3200" dirty="0"/>
              <a:t>The </a:t>
            </a:r>
            <a:r>
              <a:rPr lang="en-US" sz="3200" b="1" dirty="0"/>
              <a:t>half-life, t½</a:t>
            </a:r>
            <a:r>
              <a:rPr lang="en-US" sz="3200" dirty="0"/>
              <a:t> ,of a radioactive nucleus is the time required for one-half of the nuclei in a sample to decay.</a:t>
            </a:r>
          </a:p>
          <a:p>
            <a:pPr>
              <a:buFont typeface="Wingdings" pitchFamily="2" charset="2"/>
              <a:buChar char="v"/>
            </a:pPr>
            <a:endParaRPr lang="en-US" sz="3200" dirty="0"/>
          </a:p>
          <a:p>
            <a:pPr>
              <a:buFont typeface="Wingdings" pitchFamily="2" charset="2"/>
              <a:buChar char="v"/>
            </a:pPr>
            <a:r>
              <a:rPr lang="en-US" sz="3200" dirty="0"/>
              <a:t>Half-life period is characteristic of a radioactive element. </a:t>
            </a:r>
          </a:p>
          <a:p>
            <a:pPr>
              <a:buFont typeface="Wingdings" pitchFamily="2" charset="2"/>
              <a:buChar char="v"/>
            </a:pPr>
            <a:endParaRPr lang="en-US" sz="3200" dirty="0"/>
          </a:p>
          <a:p>
            <a:pPr>
              <a:buFont typeface="Wingdings" pitchFamily="2" charset="2"/>
              <a:buChar char="v"/>
            </a:pPr>
            <a:r>
              <a:rPr lang="en-US" sz="3200" dirty="0"/>
              <a:t>The unit of half-life period is time</a:t>
            </a:r>
            <a:r>
              <a:rPr lang="en-US" sz="3200" baseline="30000" dirty="0"/>
              <a:t>–</a:t>
            </a:r>
            <a:r>
              <a:rPr lang="en-US" sz="3200" dirty="0"/>
              <a:t> </a:t>
            </a:r>
            <a:r>
              <a:rPr lang="en-US" sz="3200" baseline="30000" dirty="0"/>
              <a:t>1</a:t>
            </a:r>
            <a:r>
              <a:rPr lang="en-US" sz="3200" dirty="0"/>
              <a:t>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1066800"/>
            <a:ext cx="7696200" cy="57912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v"/>
            </a:pPr>
            <a:r>
              <a:rPr lang="en-US" sz="2800" dirty="0"/>
              <a:t>For example, half-life of radium is 1620 years. This means that 1g of radium will be reduced to 0.5 g in 1620 years  and to 0.25g  in further 1620 years; and so on.</a:t>
            </a:r>
          </a:p>
          <a:p>
            <a:endParaRPr lang="en-US" sz="2800" dirty="0"/>
          </a:p>
          <a:p>
            <a:endParaRPr lang="en-US" sz="2800" dirty="0"/>
          </a:p>
          <a:p>
            <a:pPr>
              <a:buFont typeface="Wingdings" pitchFamily="2" charset="2"/>
              <a:buChar char="v"/>
            </a:pPr>
            <a:r>
              <a:rPr lang="en-US" sz="2800" dirty="0"/>
              <a:t> Some other radioactive elements may have half-life of  a fraction of a second and for others it may be millions of years.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990600"/>
            <a:ext cx="7467600" cy="5486400"/>
          </a:xfrm>
        </p:spPr>
        <p:txBody>
          <a:bodyPr/>
          <a:lstStyle/>
          <a:p>
            <a:r>
              <a:rPr lang="en-US" dirty="0"/>
              <a:t>Half life:</a:t>
            </a:r>
          </a:p>
          <a:p>
            <a:r>
              <a:rPr lang="en-US" dirty="0"/>
              <a:t>              </a:t>
            </a:r>
          </a:p>
          <a:p>
            <a:r>
              <a:rPr lang="en-US" dirty="0"/>
              <a:t>  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          Here, λ is decay constant.</a:t>
            </a:r>
          </a:p>
        </p:txBody>
      </p:sp>
      <p:pic>
        <p:nvPicPr>
          <p:cNvPr id="296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05000" y="1295400"/>
            <a:ext cx="2895600" cy="121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969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3400" y="4572000"/>
            <a:ext cx="8001000" cy="213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Rectangle 5"/>
          <p:cNvSpPr/>
          <p:nvPr/>
        </p:nvSpPr>
        <p:spPr>
          <a:xfrm>
            <a:off x="533400" y="3505200"/>
            <a:ext cx="70866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Example 1.Calculate the disintegration constant of cobalt 60 if its half-life to produce   nickel – 60 is 5.2 years.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Average life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1633536"/>
            <a:ext cx="7315200" cy="5072064"/>
          </a:xfrm>
        </p:spPr>
        <p:txBody>
          <a:bodyPr/>
          <a:lstStyle/>
          <a:p>
            <a:pPr>
              <a:buFont typeface="Wingdings" pitchFamily="2" charset="2"/>
              <a:buChar char="v"/>
            </a:pPr>
            <a:r>
              <a:rPr lang="en-US" sz="2400" dirty="0"/>
              <a:t>In a radioactive substance, some atoms decay earlier and others survive longer.</a:t>
            </a:r>
          </a:p>
          <a:p>
            <a:pPr>
              <a:buFont typeface="Wingdings" pitchFamily="2" charset="2"/>
              <a:buChar char="v"/>
            </a:pPr>
            <a:endParaRPr lang="en-US" sz="2400" dirty="0"/>
          </a:p>
          <a:p>
            <a:pPr>
              <a:buFont typeface="Wingdings" pitchFamily="2" charset="2"/>
              <a:buChar char="v"/>
            </a:pPr>
            <a:r>
              <a:rPr lang="en-US" sz="2400" b="1" dirty="0"/>
              <a:t>The statistical average of the lives of all atoms present at any time is called the Average life.</a:t>
            </a:r>
          </a:p>
          <a:p>
            <a:pPr>
              <a:buFont typeface="Wingdings" pitchFamily="2" charset="2"/>
              <a:buChar char="v"/>
            </a:pPr>
            <a:endParaRPr lang="en-US" sz="2400" b="1" dirty="0"/>
          </a:p>
          <a:p>
            <a:pPr>
              <a:buFont typeface="Wingdings" pitchFamily="2" charset="2"/>
              <a:buChar char="v"/>
            </a:pPr>
            <a:r>
              <a:rPr lang="en-US" sz="2400" b="1" dirty="0"/>
              <a:t> It is denoted by the </a:t>
            </a:r>
            <a:r>
              <a:rPr lang="en-US" sz="2400" dirty="0"/>
              <a:t>symbol τ and has been shown to be  reciprocal of decay constant, λ.</a:t>
            </a:r>
          </a:p>
          <a:p>
            <a:pPr>
              <a:buFont typeface="Wingdings" pitchFamily="2" charset="2"/>
              <a:buChar char="v"/>
            </a:pPr>
            <a:endParaRPr lang="en-US" dirty="0"/>
          </a:p>
          <a:p>
            <a:pPr>
              <a:buFont typeface="Wingdings" pitchFamily="2" charset="2"/>
              <a:buChar char="v"/>
            </a:pPr>
            <a:endParaRPr lang="en-US" dirty="0"/>
          </a:p>
          <a:p>
            <a:pPr>
              <a:buFont typeface="Wingdings" pitchFamily="2" charset="2"/>
              <a:buChar char="v"/>
            </a:pPr>
            <a:endParaRPr lang="en-US" dirty="0"/>
          </a:p>
          <a:p>
            <a:pPr>
              <a:buFont typeface="Wingdings" pitchFamily="2" charset="2"/>
              <a:buChar char="v"/>
            </a:pPr>
            <a:endParaRPr lang="en-US" dirty="0"/>
          </a:p>
          <a:p>
            <a:endParaRPr lang="en-US" dirty="0"/>
          </a:p>
        </p:txBody>
      </p:sp>
      <p:pic>
        <p:nvPicPr>
          <p:cNvPr id="307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19400" y="5334000"/>
            <a:ext cx="2590800" cy="121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914400"/>
            <a:ext cx="7696200" cy="5562600"/>
          </a:xfrm>
        </p:spPr>
        <p:txBody>
          <a:bodyPr/>
          <a:lstStyle/>
          <a:p>
            <a:endParaRPr lang="en-US" dirty="0"/>
          </a:p>
          <a:p>
            <a:r>
              <a:rPr lang="en-US" sz="2400" dirty="0"/>
              <a:t>The average life of a radioactive element is related to its half-life by the expression</a:t>
            </a:r>
          </a:p>
          <a:p>
            <a:endParaRPr lang="en-US" sz="2400" dirty="0"/>
          </a:p>
          <a:p>
            <a:r>
              <a:rPr lang="en-US" sz="2400" b="1" dirty="0"/>
              <a:t>                Average life = 1.44 × Half-life</a:t>
            </a:r>
          </a:p>
          <a:p>
            <a:r>
              <a:rPr lang="en-US" sz="2400" dirty="0"/>
              <a:t>                        </a:t>
            </a:r>
          </a:p>
          <a:p>
            <a:r>
              <a:rPr lang="en-US" sz="2400" dirty="0"/>
              <a:t>                         or </a:t>
            </a:r>
            <a:r>
              <a:rPr lang="el-GR" sz="2400" dirty="0"/>
              <a:t>τ = 1.44 × </a:t>
            </a:r>
            <a:r>
              <a:rPr lang="en-US" sz="2400" i="1" dirty="0"/>
              <a:t>t1/2</a:t>
            </a:r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The average life is often used to express the rate of disintegration of a radioactive element. </a:t>
            </a:r>
          </a:p>
          <a:p>
            <a:r>
              <a:rPr lang="en-US" sz="2400" dirty="0"/>
              <a:t>The  average life of radium is 2400 years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Nuclear Disintegration series</a:t>
            </a:r>
          </a:p>
        </p:txBody>
      </p:sp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38200" y="1447800"/>
            <a:ext cx="7010400" cy="541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 Box 2"/>
          <p:cNvSpPr txBox="1">
            <a:spLocks noChangeArrowheads="1"/>
          </p:cNvSpPr>
          <p:nvPr/>
        </p:nvSpPr>
        <p:spPr bwMode="auto">
          <a:xfrm>
            <a:off x="2687638" y="65088"/>
            <a:ext cx="3789362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800"/>
              <a:t>Nuclear Transmutation</a:t>
            </a:r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122238" y="1295400"/>
            <a:ext cx="4202112" cy="4687888"/>
            <a:chOff x="77" y="816"/>
            <a:chExt cx="2647" cy="2953"/>
          </a:xfrm>
        </p:grpSpPr>
        <p:pic>
          <p:nvPicPr>
            <p:cNvPr id="15363" name="Picture 3" descr="C:\Chang Powerpoint\Figures\CNG7CH23\CHA56014.JPE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96" y="816"/>
              <a:ext cx="2408" cy="2688"/>
            </a:xfrm>
            <a:prstGeom prst="rect">
              <a:avLst/>
            </a:prstGeom>
            <a:noFill/>
          </p:spPr>
        </p:pic>
        <p:sp>
          <p:nvSpPr>
            <p:cNvPr id="15364" name="Text Box 4"/>
            <p:cNvSpPr txBox="1">
              <a:spLocks noChangeArrowheads="1"/>
            </p:cNvSpPr>
            <p:nvPr/>
          </p:nvSpPr>
          <p:spPr bwMode="auto">
            <a:xfrm>
              <a:off x="77" y="3481"/>
              <a:ext cx="2647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/>
                <a:t>Cyclotron Particle Accelerator</a:t>
              </a:r>
            </a:p>
          </p:txBody>
        </p:sp>
      </p:grpSp>
      <p:grpSp>
        <p:nvGrpSpPr>
          <p:cNvPr id="3" name="Group 12"/>
          <p:cNvGrpSpPr>
            <a:grpSpLocks/>
          </p:cNvGrpSpPr>
          <p:nvPr/>
        </p:nvGrpSpPr>
        <p:grpSpPr bwMode="auto">
          <a:xfrm>
            <a:off x="5010150" y="2133600"/>
            <a:ext cx="3213100" cy="544513"/>
            <a:chOff x="3161" y="1005"/>
            <a:chExt cx="2024" cy="343"/>
          </a:xfrm>
        </p:grpSpPr>
        <p:sp>
          <p:nvSpPr>
            <p:cNvPr id="15366" name="Text Box 6"/>
            <p:cNvSpPr txBox="1">
              <a:spLocks noChangeArrowheads="1"/>
            </p:cNvSpPr>
            <p:nvPr/>
          </p:nvSpPr>
          <p:spPr bwMode="auto">
            <a:xfrm>
              <a:off x="3161" y="1005"/>
              <a:ext cx="2024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baseline="30000"/>
                <a:t>14</a:t>
              </a:r>
              <a:r>
                <a:rPr lang="en-US"/>
                <a:t>N + </a:t>
              </a:r>
              <a:r>
                <a:rPr lang="en-US" baseline="30000"/>
                <a:t>4</a:t>
              </a:r>
              <a:r>
                <a:rPr lang="en-US">
                  <a:latin typeface="Symbol" pitchFamily="18" charset="2"/>
                </a:rPr>
                <a:t>a</a:t>
              </a:r>
              <a:r>
                <a:rPr lang="en-US"/>
                <a:t>          </a:t>
              </a:r>
              <a:r>
                <a:rPr lang="en-US" baseline="30000"/>
                <a:t>17</a:t>
              </a:r>
              <a:r>
                <a:rPr lang="en-US"/>
                <a:t>O + </a:t>
              </a:r>
              <a:r>
                <a:rPr lang="en-US" baseline="30000"/>
                <a:t>1</a:t>
              </a:r>
              <a:r>
                <a:rPr lang="en-US"/>
                <a:t>p</a:t>
              </a:r>
              <a:endParaRPr lang="en-US" baseline="30000"/>
            </a:p>
          </p:txBody>
        </p:sp>
        <p:sp>
          <p:nvSpPr>
            <p:cNvPr id="15367" name="Text Box 7"/>
            <p:cNvSpPr txBox="1">
              <a:spLocks noChangeArrowheads="1"/>
            </p:cNvSpPr>
            <p:nvPr/>
          </p:nvSpPr>
          <p:spPr bwMode="auto">
            <a:xfrm>
              <a:off x="3224" y="1128"/>
              <a:ext cx="187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600"/>
                <a:t>7</a:t>
              </a:r>
            </a:p>
          </p:txBody>
        </p:sp>
        <p:sp>
          <p:nvSpPr>
            <p:cNvPr id="15368" name="Text Box 8"/>
            <p:cNvSpPr txBox="1">
              <a:spLocks noChangeArrowheads="1"/>
            </p:cNvSpPr>
            <p:nvPr/>
          </p:nvSpPr>
          <p:spPr bwMode="auto">
            <a:xfrm>
              <a:off x="3648" y="1132"/>
              <a:ext cx="187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600"/>
                <a:t>2</a:t>
              </a:r>
            </a:p>
          </p:txBody>
        </p:sp>
        <p:sp>
          <p:nvSpPr>
            <p:cNvPr id="15369" name="Text Box 9"/>
            <p:cNvSpPr txBox="1">
              <a:spLocks noChangeArrowheads="1"/>
            </p:cNvSpPr>
            <p:nvPr/>
          </p:nvSpPr>
          <p:spPr bwMode="auto">
            <a:xfrm>
              <a:off x="4456" y="1136"/>
              <a:ext cx="187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600"/>
                <a:t>8</a:t>
              </a:r>
            </a:p>
          </p:txBody>
        </p:sp>
        <p:sp>
          <p:nvSpPr>
            <p:cNvPr id="15370" name="Text Box 10"/>
            <p:cNvSpPr txBox="1">
              <a:spLocks noChangeArrowheads="1"/>
            </p:cNvSpPr>
            <p:nvPr/>
          </p:nvSpPr>
          <p:spPr bwMode="auto">
            <a:xfrm>
              <a:off x="4896" y="1132"/>
              <a:ext cx="187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600"/>
                <a:t>1</a:t>
              </a:r>
            </a:p>
          </p:txBody>
        </p:sp>
        <p:sp>
          <p:nvSpPr>
            <p:cNvPr id="15371" name="Line 11"/>
            <p:cNvSpPr>
              <a:spLocks noChangeShapeType="1"/>
            </p:cNvSpPr>
            <p:nvPr/>
          </p:nvSpPr>
          <p:spPr bwMode="auto">
            <a:xfrm>
              <a:off x="3944" y="1160"/>
              <a:ext cx="48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20"/>
          <p:cNvGrpSpPr>
            <a:grpSpLocks/>
          </p:cNvGrpSpPr>
          <p:nvPr/>
        </p:nvGrpSpPr>
        <p:grpSpPr bwMode="auto">
          <a:xfrm>
            <a:off x="5010150" y="3155950"/>
            <a:ext cx="3252788" cy="544513"/>
            <a:chOff x="3156" y="1769"/>
            <a:chExt cx="2049" cy="343"/>
          </a:xfrm>
        </p:grpSpPr>
        <p:sp>
          <p:nvSpPr>
            <p:cNvPr id="15374" name="Text Box 14"/>
            <p:cNvSpPr txBox="1">
              <a:spLocks noChangeArrowheads="1"/>
            </p:cNvSpPr>
            <p:nvPr/>
          </p:nvSpPr>
          <p:spPr bwMode="auto">
            <a:xfrm>
              <a:off x="3170" y="1769"/>
              <a:ext cx="2035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baseline="30000"/>
                <a:t>27</a:t>
              </a:r>
              <a:r>
                <a:rPr lang="en-US"/>
                <a:t>Al + </a:t>
              </a:r>
              <a:r>
                <a:rPr lang="en-US" baseline="30000"/>
                <a:t>4</a:t>
              </a:r>
              <a:r>
                <a:rPr lang="en-US">
                  <a:latin typeface="Symbol" pitchFamily="18" charset="2"/>
                </a:rPr>
                <a:t>a</a:t>
              </a:r>
              <a:r>
                <a:rPr lang="en-US"/>
                <a:t>          </a:t>
              </a:r>
              <a:r>
                <a:rPr lang="en-US" baseline="30000"/>
                <a:t>30</a:t>
              </a:r>
              <a:r>
                <a:rPr lang="en-US"/>
                <a:t>P + </a:t>
              </a:r>
              <a:r>
                <a:rPr lang="en-US" baseline="30000"/>
                <a:t>1</a:t>
              </a:r>
              <a:r>
                <a:rPr lang="en-US"/>
                <a:t>n</a:t>
              </a:r>
              <a:endParaRPr lang="en-US" baseline="30000"/>
            </a:p>
          </p:txBody>
        </p:sp>
        <p:sp>
          <p:nvSpPr>
            <p:cNvPr id="15375" name="Text Box 15"/>
            <p:cNvSpPr txBox="1">
              <a:spLocks noChangeArrowheads="1"/>
            </p:cNvSpPr>
            <p:nvPr/>
          </p:nvSpPr>
          <p:spPr bwMode="auto">
            <a:xfrm>
              <a:off x="3156" y="1892"/>
              <a:ext cx="258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600"/>
                <a:t>13</a:t>
              </a:r>
            </a:p>
          </p:txBody>
        </p:sp>
        <p:sp>
          <p:nvSpPr>
            <p:cNvPr id="15376" name="Text Box 16"/>
            <p:cNvSpPr txBox="1">
              <a:spLocks noChangeArrowheads="1"/>
            </p:cNvSpPr>
            <p:nvPr/>
          </p:nvSpPr>
          <p:spPr bwMode="auto">
            <a:xfrm>
              <a:off x="3687" y="1896"/>
              <a:ext cx="187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600"/>
                <a:t>2</a:t>
              </a:r>
            </a:p>
          </p:txBody>
        </p:sp>
        <p:sp>
          <p:nvSpPr>
            <p:cNvPr id="15377" name="Text Box 17"/>
            <p:cNvSpPr txBox="1">
              <a:spLocks noChangeArrowheads="1"/>
            </p:cNvSpPr>
            <p:nvPr/>
          </p:nvSpPr>
          <p:spPr bwMode="auto">
            <a:xfrm>
              <a:off x="4420" y="1900"/>
              <a:ext cx="258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600"/>
                <a:t>15</a:t>
              </a:r>
            </a:p>
          </p:txBody>
        </p:sp>
        <p:sp>
          <p:nvSpPr>
            <p:cNvPr id="15378" name="Text Box 18"/>
            <p:cNvSpPr txBox="1">
              <a:spLocks noChangeArrowheads="1"/>
            </p:cNvSpPr>
            <p:nvPr/>
          </p:nvSpPr>
          <p:spPr bwMode="auto">
            <a:xfrm>
              <a:off x="4903" y="1896"/>
              <a:ext cx="187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600"/>
                <a:t>0</a:t>
              </a:r>
            </a:p>
          </p:txBody>
        </p:sp>
        <p:sp>
          <p:nvSpPr>
            <p:cNvPr id="15379" name="Line 19"/>
            <p:cNvSpPr>
              <a:spLocks noChangeShapeType="1"/>
            </p:cNvSpPr>
            <p:nvPr/>
          </p:nvSpPr>
          <p:spPr bwMode="auto">
            <a:xfrm>
              <a:off x="3959" y="1924"/>
              <a:ext cx="48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" name="Group 35"/>
          <p:cNvGrpSpPr>
            <a:grpSpLocks/>
          </p:cNvGrpSpPr>
          <p:nvPr/>
        </p:nvGrpSpPr>
        <p:grpSpPr bwMode="auto">
          <a:xfrm>
            <a:off x="5010150" y="4179888"/>
            <a:ext cx="3197225" cy="544512"/>
            <a:chOff x="3173" y="2441"/>
            <a:chExt cx="2014" cy="343"/>
          </a:xfrm>
        </p:grpSpPr>
        <p:sp>
          <p:nvSpPr>
            <p:cNvPr id="15389" name="Text Box 29"/>
            <p:cNvSpPr txBox="1">
              <a:spLocks noChangeArrowheads="1"/>
            </p:cNvSpPr>
            <p:nvPr/>
          </p:nvSpPr>
          <p:spPr bwMode="auto">
            <a:xfrm>
              <a:off x="3173" y="2441"/>
              <a:ext cx="2014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baseline="30000"/>
                <a:t>14</a:t>
              </a:r>
              <a:r>
                <a:rPr lang="en-US"/>
                <a:t>N + </a:t>
              </a:r>
              <a:r>
                <a:rPr lang="en-US" baseline="30000"/>
                <a:t>1</a:t>
              </a:r>
              <a:r>
                <a:rPr lang="en-US"/>
                <a:t>p          </a:t>
              </a:r>
              <a:r>
                <a:rPr lang="en-US" baseline="30000"/>
                <a:t>11</a:t>
              </a:r>
              <a:r>
                <a:rPr lang="en-US"/>
                <a:t>C + </a:t>
              </a:r>
              <a:r>
                <a:rPr lang="en-US" baseline="30000"/>
                <a:t>4</a:t>
              </a:r>
              <a:r>
                <a:rPr lang="en-US">
                  <a:latin typeface="Symbol" pitchFamily="18" charset="2"/>
                </a:rPr>
                <a:t>a</a:t>
              </a:r>
              <a:endParaRPr lang="en-US" baseline="30000">
                <a:latin typeface="Symbol" pitchFamily="18" charset="2"/>
              </a:endParaRPr>
            </a:p>
          </p:txBody>
        </p:sp>
        <p:sp>
          <p:nvSpPr>
            <p:cNvPr id="15390" name="Text Box 30"/>
            <p:cNvSpPr txBox="1">
              <a:spLocks noChangeArrowheads="1"/>
            </p:cNvSpPr>
            <p:nvPr/>
          </p:nvSpPr>
          <p:spPr bwMode="auto">
            <a:xfrm>
              <a:off x="3231" y="2564"/>
              <a:ext cx="187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600"/>
                <a:t>7</a:t>
              </a:r>
            </a:p>
          </p:txBody>
        </p:sp>
        <p:sp>
          <p:nvSpPr>
            <p:cNvPr id="15391" name="Text Box 31"/>
            <p:cNvSpPr txBox="1">
              <a:spLocks noChangeArrowheads="1"/>
            </p:cNvSpPr>
            <p:nvPr/>
          </p:nvSpPr>
          <p:spPr bwMode="auto">
            <a:xfrm>
              <a:off x="3655" y="2568"/>
              <a:ext cx="187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600"/>
                <a:t>1</a:t>
              </a:r>
            </a:p>
          </p:txBody>
        </p:sp>
        <p:sp>
          <p:nvSpPr>
            <p:cNvPr id="15392" name="Text Box 32"/>
            <p:cNvSpPr txBox="1">
              <a:spLocks noChangeArrowheads="1"/>
            </p:cNvSpPr>
            <p:nvPr/>
          </p:nvSpPr>
          <p:spPr bwMode="auto">
            <a:xfrm>
              <a:off x="4447" y="2572"/>
              <a:ext cx="187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600"/>
                <a:t>6</a:t>
              </a:r>
            </a:p>
          </p:txBody>
        </p:sp>
        <p:sp>
          <p:nvSpPr>
            <p:cNvPr id="15393" name="Text Box 33"/>
            <p:cNvSpPr txBox="1">
              <a:spLocks noChangeArrowheads="1"/>
            </p:cNvSpPr>
            <p:nvPr/>
          </p:nvSpPr>
          <p:spPr bwMode="auto">
            <a:xfrm>
              <a:off x="4879" y="2568"/>
              <a:ext cx="187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600"/>
                <a:t>2</a:t>
              </a:r>
            </a:p>
          </p:txBody>
        </p:sp>
        <p:sp>
          <p:nvSpPr>
            <p:cNvPr id="15394" name="Line 34"/>
            <p:cNvSpPr>
              <a:spLocks noChangeShapeType="1"/>
            </p:cNvSpPr>
            <p:nvPr/>
          </p:nvSpPr>
          <p:spPr bwMode="auto">
            <a:xfrm>
              <a:off x="3951" y="2596"/>
              <a:ext cx="48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5396" name="Text Box 36"/>
          <p:cNvSpPr txBox="1">
            <a:spLocks noChangeArrowheads="1"/>
          </p:cNvSpPr>
          <p:nvPr/>
        </p:nvSpPr>
        <p:spPr bwMode="auto">
          <a:xfrm>
            <a:off x="8389938" y="6384925"/>
            <a:ext cx="677862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r"/>
            <a:r>
              <a:rPr lang="en-US" sz="2000"/>
              <a:t>23.4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9" name="Picture 5" descr="C:\Documents and Settings\RobertsonJo\My Documents\Chang\Tables\23_04.jpg"/>
          <p:cNvPicPr>
            <a:picLocks noChangeAspect="1" noChangeArrowheads="1"/>
          </p:cNvPicPr>
          <p:nvPr/>
        </p:nvPicPr>
        <p:blipFill>
          <a:blip r:embed="rId2" cstate="print"/>
          <a:srcRect t="2531"/>
          <a:stretch>
            <a:fillRect/>
          </a:stretch>
        </p:blipFill>
        <p:spPr bwMode="auto">
          <a:xfrm>
            <a:off x="838200" y="398463"/>
            <a:ext cx="7467600" cy="6197600"/>
          </a:xfrm>
          <a:prstGeom prst="rect">
            <a:avLst/>
          </a:prstGeom>
          <a:noFill/>
        </p:spPr>
      </p:pic>
      <p:sp>
        <p:nvSpPr>
          <p:cNvPr id="16386" name="Text Box 2"/>
          <p:cNvSpPr txBox="1">
            <a:spLocks noChangeArrowheads="1"/>
          </p:cNvSpPr>
          <p:nvPr/>
        </p:nvSpPr>
        <p:spPr bwMode="auto">
          <a:xfrm>
            <a:off x="2687638" y="65088"/>
            <a:ext cx="3789362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800"/>
              <a:t>Nuclear Transmutation</a:t>
            </a:r>
          </a:p>
        </p:txBody>
      </p:sp>
      <p:sp>
        <p:nvSpPr>
          <p:cNvPr id="16387" name="Text Box 3"/>
          <p:cNvSpPr txBox="1">
            <a:spLocks noChangeArrowheads="1"/>
          </p:cNvSpPr>
          <p:nvPr/>
        </p:nvSpPr>
        <p:spPr bwMode="auto">
          <a:xfrm>
            <a:off x="8389938" y="6384925"/>
            <a:ext cx="677862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r"/>
            <a:r>
              <a:rPr lang="en-US" sz="2000"/>
              <a:t>23.4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Verve">
  <a:themeElements>
    <a:clrScheme name="Verve">
      <a:dk1>
        <a:sysClr val="windowText" lastClr="000000"/>
      </a:dk1>
      <a:lt1>
        <a:sysClr val="window" lastClr="FFFFFF"/>
      </a:lt1>
      <a:dk2>
        <a:srgbClr val="666666"/>
      </a:dk2>
      <a:lt2>
        <a:srgbClr val="D2D2D2"/>
      </a:lt2>
      <a:accent1>
        <a:srgbClr val="FF388C"/>
      </a:accent1>
      <a:accent2>
        <a:srgbClr val="E40059"/>
      </a:accent2>
      <a:accent3>
        <a:srgbClr val="9C007F"/>
      </a:accent3>
      <a:accent4>
        <a:srgbClr val="68007F"/>
      </a:accent4>
      <a:accent5>
        <a:srgbClr val="005BD3"/>
      </a:accent5>
      <a:accent6>
        <a:srgbClr val="00349E"/>
      </a:accent6>
      <a:hlink>
        <a:srgbClr val="17BBFD"/>
      </a:hlink>
      <a:folHlink>
        <a:srgbClr val="FF79C2"/>
      </a:folHlink>
    </a:clrScheme>
    <a:fontScheme name="Verve">
      <a:majorFont>
        <a:latin typeface="Century Gothic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Verve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8000"/>
                <a:satMod val="230000"/>
              </a:schemeClr>
            </a:gs>
            <a:gs pos="60000">
              <a:schemeClr val="phClr">
                <a:shade val="92000"/>
                <a:satMod val="230000"/>
              </a:schemeClr>
            </a:gs>
            <a:gs pos="100000">
              <a:schemeClr val="phClr">
                <a:tint val="85000"/>
                <a:satMod val="400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1200"/>
                <a:satMod val="150000"/>
              </a:schemeClr>
              <a:schemeClr val="phClr">
                <a:tint val="90000"/>
                <a:satMod val="150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Urban</Template>
  <TotalTime>1078</TotalTime>
  <Words>1276</Words>
  <Application>Microsoft Office PowerPoint</Application>
  <PresentationFormat>On-screen Show (4:3)</PresentationFormat>
  <Paragraphs>217</Paragraphs>
  <Slides>35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35</vt:i4>
      </vt:variant>
    </vt:vector>
  </HeadingPairs>
  <TitlesOfParts>
    <vt:vector size="45" baseType="lpstr">
      <vt:lpstr>Arial</vt:lpstr>
      <vt:lpstr>Calibri</vt:lpstr>
      <vt:lpstr>Century Gothic</vt:lpstr>
      <vt:lpstr>Symbol</vt:lpstr>
      <vt:lpstr>Verdana</vt:lpstr>
      <vt:lpstr>Wingdings</vt:lpstr>
      <vt:lpstr>Wingdings 2</vt:lpstr>
      <vt:lpstr>Verve</vt:lpstr>
      <vt:lpstr>Document</vt:lpstr>
      <vt:lpstr>Equation</vt:lpstr>
      <vt:lpstr> NUCLEAR CHEMISTRY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History</vt:lpstr>
      <vt:lpstr>Radioactivity</vt:lpstr>
      <vt:lpstr>Natural Radioactivity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Types of Radiation:  (1)Alpha emission </vt:lpstr>
      <vt:lpstr>PowerPoint Presentation</vt:lpstr>
      <vt:lpstr>(2)Beta radiation</vt:lpstr>
      <vt:lpstr>PowerPoint Presentation</vt:lpstr>
      <vt:lpstr>(3)Gamma radiation</vt:lpstr>
      <vt:lpstr>Properties and Comparison…</vt:lpstr>
      <vt:lpstr>Law of Radioactive Disintegration </vt:lpstr>
      <vt:lpstr>PowerPoint Presentation</vt:lpstr>
      <vt:lpstr>Isotopes</vt:lpstr>
      <vt:lpstr>Isobars</vt:lpstr>
      <vt:lpstr>Isotones</vt:lpstr>
      <vt:lpstr>Half life period</vt:lpstr>
      <vt:lpstr>PowerPoint Presentation</vt:lpstr>
      <vt:lpstr>PowerPoint Presentation</vt:lpstr>
      <vt:lpstr>Average life</vt:lpstr>
      <vt:lpstr>PowerPoint Presentation</vt:lpstr>
      <vt:lpstr>Nuclear Disintegration series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bala</dc:creator>
  <cp:lastModifiedBy>ROWTECH</cp:lastModifiedBy>
  <cp:revision>179</cp:revision>
  <dcterms:created xsi:type="dcterms:W3CDTF">2014-06-18T04:04:02Z</dcterms:created>
  <dcterms:modified xsi:type="dcterms:W3CDTF">2023-08-30T14:43:58Z</dcterms:modified>
</cp:coreProperties>
</file>