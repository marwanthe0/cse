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519F7-3252-4567-BB95-61976DA76EC3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8F8FE-967E-439F-AE2C-928FC88255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12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C0B0FC-07C8-45FB-BC86-6DE8CAC4B6D8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7F55AC-457D-4A0A-A534-BD09BA26B650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F74F51-F2D8-4658-BA1F-59F059AF0D6B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811D52-86A2-42FB-9B95-67E4A62F9389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1E905A-5D97-40A2-B619-4922C2618013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1BFF11-E334-443B-817A-026F2BF44566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F34B61-5103-4410-AC5F-C7330B8F88C9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F69839-99FC-4668-843E-0B0662410F77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E47DB7-6E01-41B4-9890-E8E13CB69A22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8833DC-BF7C-4EA3-ABAD-57CC0B2AF0E8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96C96E-2E93-4033-8172-92473844C468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AB87CD-CA16-4BDF-BE4B-11A3E7185CDE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722936-FC82-4923-BBBD-4098F15C4E7C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B9665C-EAC7-4E5A-8065-564F6CAD024A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76A1EC-3553-4915-9666-D18C6BA251A5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371600"/>
            <a:ext cx="8686800" cy="4572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6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oleObject" Target="../embeddings/oleObject8.bin"/><Relationship Id="rId5" Type="http://schemas.openxmlformats.org/officeDocument/2006/relationships/image" Target="../media/image4.wmf"/><Relationship Id="rId10" Type="http://schemas.openxmlformats.org/officeDocument/2006/relationships/image" Target="../media/image6.wmf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1470025"/>
          </a:xfrm>
        </p:spPr>
        <p:txBody>
          <a:bodyPr/>
          <a:lstStyle/>
          <a:p>
            <a:r>
              <a:rPr lang="en-US" dirty="0" smtClean="0"/>
              <a:t>Discrete Probability Distributions</a:t>
            </a:r>
            <a:br>
              <a:rPr lang="en-US" dirty="0" smtClean="0"/>
            </a:br>
            <a:r>
              <a:rPr lang="en-US" dirty="0" smtClean="0"/>
              <a:t>part -1</a:t>
            </a:r>
            <a:endParaRPr lang="en-GB" dirty="0"/>
          </a:p>
        </p:txBody>
      </p:sp>
      <p:sp>
        <p:nvSpPr>
          <p:cNvPr id="8" name="Subtitle 2"/>
          <p:cNvSpPr>
            <a:spLocks noGrp="1"/>
          </p:cNvSpPr>
          <p:nvPr/>
        </p:nvSpPr>
        <p:spPr>
          <a:xfrm>
            <a:off x="1143000" y="3429000"/>
            <a:ext cx="6858000" cy="205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2400" b="1" dirty="0" smtClean="0">
                <a:solidFill>
                  <a:srgbClr val="C00000"/>
                </a:solidFill>
                <a:latin typeface="Georgia" pitchFamily="18" charset="0"/>
              </a:rPr>
              <a:t>Sk. Shalauddin Kabir</a:t>
            </a:r>
          </a:p>
          <a:p>
            <a:pPr algn="r"/>
            <a:r>
              <a:rPr lang="en-GB" sz="2000" b="1" dirty="0" smtClean="0">
                <a:solidFill>
                  <a:srgbClr val="C00000"/>
                </a:solidFill>
                <a:latin typeface="Georgia" pitchFamily="18" charset="0"/>
              </a:rPr>
              <a:t>Lecturer </a:t>
            </a:r>
          </a:p>
          <a:p>
            <a:pPr algn="r"/>
            <a:r>
              <a:rPr lang="en-GB" sz="2000" b="1" dirty="0" smtClean="0">
                <a:solidFill>
                  <a:srgbClr val="C00000"/>
                </a:solidFill>
                <a:latin typeface="Georgia" pitchFamily="18" charset="0"/>
              </a:rPr>
              <a:t>Department of Computer Science and Engineering,</a:t>
            </a:r>
          </a:p>
          <a:p>
            <a:pPr algn="r"/>
            <a:r>
              <a:rPr lang="en-GB" sz="2000" b="1" dirty="0" smtClean="0">
                <a:solidFill>
                  <a:srgbClr val="C00000"/>
                </a:solidFill>
                <a:latin typeface="Georgia" pitchFamily="18" charset="0"/>
              </a:rPr>
              <a:t>Jashore University of Science and Technology</a:t>
            </a:r>
            <a:endParaRPr lang="en-GB" sz="2000" b="1" dirty="0" smtClean="0">
              <a:solidFill>
                <a:srgbClr val="C00000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143000" y="1295400"/>
            <a:ext cx="586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14400" y="2590800"/>
            <a:ext cx="7239000" cy="1752600"/>
          </a:xfrm>
          <a:noFill/>
        </p:spPr>
        <p:txBody>
          <a:bodyPr>
            <a:normAutofit/>
          </a:bodyPr>
          <a:lstStyle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 dirty="0" smtClean="0">
                <a:solidFill>
                  <a:schemeClr val="tx1"/>
                </a:solidFill>
              </a:rPr>
              <a:t>Probability Distributions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 smtClean="0"/>
              <a:t>Random Variables</a:t>
            </a:r>
          </a:p>
        </p:txBody>
      </p: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228600" y="1231900"/>
            <a:ext cx="864235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/>
              <a:t>A </a:t>
            </a:r>
            <a:r>
              <a:rPr lang="en-US" sz="2000" b="1" dirty="0">
                <a:solidFill>
                  <a:srgbClr val="000099"/>
                </a:solidFill>
              </a:rPr>
              <a:t>random variable </a:t>
            </a:r>
            <a:r>
              <a:rPr lang="en-US" sz="2000" b="1" i="1" dirty="0">
                <a:solidFill>
                  <a:srgbClr val="000099"/>
                </a:solidFill>
              </a:rPr>
              <a:t>x</a:t>
            </a:r>
            <a:r>
              <a:rPr lang="en-US" sz="2000" b="1" dirty="0">
                <a:solidFill>
                  <a:srgbClr val="000099"/>
                </a:solidFill>
              </a:rPr>
              <a:t> </a:t>
            </a:r>
            <a:r>
              <a:rPr lang="en-US" sz="2000" dirty="0"/>
              <a:t>represents a numerical value associated with each outcome of a probability distribution.</a:t>
            </a:r>
          </a:p>
        </p:txBody>
      </p:sp>
      <p:sp>
        <p:nvSpPr>
          <p:cNvPr id="778312" name="Rectangle 72"/>
          <p:cNvSpPr>
            <a:spLocks noChangeArrowheads="1"/>
          </p:cNvSpPr>
          <p:nvPr/>
        </p:nvSpPr>
        <p:spPr bwMode="auto">
          <a:xfrm>
            <a:off x="228600" y="2222500"/>
            <a:ext cx="864235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/>
              <a:t>A random variable is </a:t>
            </a:r>
            <a:r>
              <a:rPr lang="en-US" sz="2000" b="1" dirty="0">
                <a:solidFill>
                  <a:srgbClr val="000099"/>
                </a:solidFill>
              </a:rPr>
              <a:t>discrete</a:t>
            </a:r>
            <a:r>
              <a:rPr lang="en-US" sz="2000" dirty="0"/>
              <a:t> if it has a finite or countable number of possible outcomes that can be listed.</a:t>
            </a:r>
          </a:p>
        </p:txBody>
      </p:sp>
      <p:grpSp>
        <p:nvGrpSpPr>
          <p:cNvPr id="2" name="Group 90"/>
          <p:cNvGrpSpPr>
            <a:grpSpLocks/>
          </p:cNvGrpSpPr>
          <p:nvPr/>
        </p:nvGrpSpPr>
        <p:grpSpPr bwMode="auto">
          <a:xfrm>
            <a:off x="2133600" y="3124200"/>
            <a:ext cx="4114800" cy="842963"/>
            <a:chOff x="1344" y="2182"/>
            <a:chExt cx="2592" cy="531"/>
          </a:xfrm>
        </p:grpSpPr>
        <p:sp>
          <p:nvSpPr>
            <p:cNvPr id="13339" name="Line 73"/>
            <p:cNvSpPr>
              <a:spLocks noChangeShapeType="1"/>
            </p:cNvSpPr>
            <p:nvPr/>
          </p:nvSpPr>
          <p:spPr bwMode="auto">
            <a:xfrm>
              <a:off x="1344" y="2360"/>
              <a:ext cx="22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0" name="Line 74"/>
            <p:cNvSpPr>
              <a:spLocks noChangeShapeType="1"/>
            </p:cNvSpPr>
            <p:nvPr/>
          </p:nvSpPr>
          <p:spPr bwMode="auto">
            <a:xfrm>
              <a:off x="2678" y="22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Text Box 75"/>
            <p:cNvSpPr txBox="1">
              <a:spLocks noChangeArrowheads="1"/>
            </p:cNvSpPr>
            <p:nvPr/>
          </p:nvSpPr>
          <p:spPr bwMode="auto">
            <a:xfrm>
              <a:off x="3648" y="218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i="1"/>
                <a:t>x</a:t>
              </a:r>
            </a:p>
          </p:txBody>
        </p:sp>
        <p:sp>
          <p:nvSpPr>
            <p:cNvPr id="13342" name="Line 76"/>
            <p:cNvSpPr>
              <a:spLocks noChangeShapeType="1"/>
            </p:cNvSpPr>
            <p:nvPr/>
          </p:nvSpPr>
          <p:spPr bwMode="auto">
            <a:xfrm>
              <a:off x="1948" y="22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Line 78"/>
            <p:cNvSpPr>
              <a:spLocks noChangeShapeType="1"/>
            </p:cNvSpPr>
            <p:nvPr/>
          </p:nvSpPr>
          <p:spPr bwMode="auto">
            <a:xfrm>
              <a:off x="1584" y="22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Line 79"/>
            <p:cNvSpPr>
              <a:spLocks noChangeShapeType="1"/>
            </p:cNvSpPr>
            <p:nvPr/>
          </p:nvSpPr>
          <p:spPr bwMode="auto">
            <a:xfrm>
              <a:off x="3043" y="22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Line 80"/>
            <p:cNvSpPr>
              <a:spLocks noChangeShapeType="1"/>
            </p:cNvSpPr>
            <p:nvPr/>
          </p:nvSpPr>
          <p:spPr bwMode="auto">
            <a:xfrm>
              <a:off x="3408" y="22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Text Box 81"/>
            <p:cNvSpPr txBox="1">
              <a:spLocks noChangeArrowheads="1"/>
            </p:cNvSpPr>
            <p:nvPr/>
          </p:nvSpPr>
          <p:spPr bwMode="auto">
            <a:xfrm>
              <a:off x="1810" y="2463"/>
              <a:ext cx="2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000"/>
                <a:t>2</a:t>
              </a:r>
            </a:p>
          </p:txBody>
        </p:sp>
        <p:sp>
          <p:nvSpPr>
            <p:cNvPr id="13347" name="Text Box 82"/>
            <p:cNvSpPr txBox="1">
              <a:spLocks noChangeArrowheads="1"/>
            </p:cNvSpPr>
            <p:nvPr/>
          </p:nvSpPr>
          <p:spPr bwMode="auto">
            <a:xfrm>
              <a:off x="3211" y="2463"/>
              <a:ext cx="39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000"/>
                <a:t>10</a:t>
              </a:r>
            </a:p>
          </p:txBody>
        </p:sp>
        <p:sp>
          <p:nvSpPr>
            <p:cNvPr id="13348" name="Line 83"/>
            <p:cNvSpPr>
              <a:spLocks noChangeShapeType="1"/>
            </p:cNvSpPr>
            <p:nvPr/>
          </p:nvSpPr>
          <p:spPr bwMode="auto">
            <a:xfrm>
              <a:off x="2313" y="2256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Text Box 84"/>
            <p:cNvSpPr txBox="1">
              <a:spLocks noChangeArrowheads="1"/>
            </p:cNvSpPr>
            <p:nvPr/>
          </p:nvSpPr>
          <p:spPr bwMode="auto">
            <a:xfrm>
              <a:off x="2537" y="2463"/>
              <a:ext cx="2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000"/>
                <a:t>6</a:t>
              </a:r>
            </a:p>
          </p:txBody>
        </p:sp>
        <p:sp>
          <p:nvSpPr>
            <p:cNvPr id="13350" name="Text Box 87"/>
            <p:cNvSpPr txBox="1">
              <a:spLocks noChangeArrowheads="1"/>
            </p:cNvSpPr>
            <p:nvPr/>
          </p:nvSpPr>
          <p:spPr bwMode="auto">
            <a:xfrm>
              <a:off x="1438" y="2463"/>
              <a:ext cx="2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000"/>
                <a:t>0</a:t>
              </a:r>
            </a:p>
          </p:txBody>
        </p:sp>
        <p:sp>
          <p:nvSpPr>
            <p:cNvPr id="13351" name="Text Box 88"/>
            <p:cNvSpPr txBox="1">
              <a:spLocks noChangeArrowheads="1"/>
            </p:cNvSpPr>
            <p:nvPr/>
          </p:nvSpPr>
          <p:spPr bwMode="auto">
            <a:xfrm>
              <a:off x="2165" y="2463"/>
              <a:ext cx="2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000"/>
                <a:t>4</a:t>
              </a:r>
            </a:p>
          </p:txBody>
        </p:sp>
        <p:sp>
          <p:nvSpPr>
            <p:cNvPr id="13352" name="Text Box 89"/>
            <p:cNvSpPr txBox="1">
              <a:spLocks noChangeArrowheads="1"/>
            </p:cNvSpPr>
            <p:nvPr/>
          </p:nvSpPr>
          <p:spPr bwMode="auto">
            <a:xfrm>
              <a:off x="2901" y="2463"/>
              <a:ext cx="2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000"/>
                <a:t>8</a:t>
              </a:r>
            </a:p>
          </p:txBody>
        </p:sp>
      </p:grpSp>
      <p:sp>
        <p:nvSpPr>
          <p:cNvPr id="778326" name="Oval 86"/>
          <p:cNvSpPr>
            <a:spLocks noChangeAspect="1" noChangeArrowheads="1"/>
          </p:cNvSpPr>
          <p:nvPr/>
        </p:nvSpPr>
        <p:spPr bwMode="auto">
          <a:xfrm>
            <a:off x="3048000" y="3365500"/>
            <a:ext cx="92075" cy="920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8331" name="Oval 91"/>
          <p:cNvSpPr>
            <a:spLocks noChangeAspect="1" noChangeArrowheads="1"/>
          </p:cNvSpPr>
          <p:nvPr/>
        </p:nvSpPr>
        <p:spPr bwMode="auto">
          <a:xfrm>
            <a:off x="3627438" y="3365500"/>
            <a:ext cx="92075" cy="920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8332" name="Oval 92"/>
          <p:cNvSpPr>
            <a:spLocks noChangeAspect="1" noChangeArrowheads="1"/>
          </p:cNvSpPr>
          <p:nvPr/>
        </p:nvSpPr>
        <p:spPr bwMode="auto">
          <a:xfrm>
            <a:off x="4198938" y="3365500"/>
            <a:ext cx="92075" cy="920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8333" name="Oval 93"/>
          <p:cNvSpPr>
            <a:spLocks noChangeAspect="1" noChangeArrowheads="1"/>
          </p:cNvSpPr>
          <p:nvPr/>
        </p:nvSpPr>
        <p:spPr bwMode="auto">
          <a:xfrm>
            <a:off x="4784725" y="3365500"/>
            <a:ext cx="92075" cy="92075"/>
          </a:xfrm>
          <a:prstGeom prst="ellipse">
            <a:avLst/>
          </a:prstGeom>
          <a:solidFill>
            <a:schemeClr val="hlink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8334" name="Rectangle 94"/>
          <p:cNvSpPr>
            <a:spLocks noChangeArrowheads="1"/>
          </p:cNvSpPr>
          <p:nvPr/>
        </p:nvSpPr>
        <p:spPr bwMode="auto">
          <a:xfrm>
            <a:off x="228600" y="4191000"/>
            <a:ext cx="864235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/>
              <a:t>A random variable is </a:t>
            </a:r>
            <a:r>
              <a:rPr lang="en-US" sz="2000" b="1" dirty="0">
                <a:solidFill>
                  <a:srgbClr val="000099"/>
                </a:solidFill>
              </a:rPr>
              <a:t>continuous</a:t>
            </a:r>
            <a:r>
              <a:rPr lang="en-US" sz="2000" dirty="0"/>
              <a:t> if it has an uncountable number or possible outcomes, represented by the intervals on a number line.</a:t>
            </a:r>
          </a:p>
        </p:txBody>
      </p: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2209800" y="5405438"/>
            <a:ext cx="4114800" cy="842962"/>
            <a:chOff x="1344" y="2182"/>
            <a:chExt cx="2592" cy="531"/>
          </a:xfrm>
        </p:grpSpPr>
        <p:sp>
          <p:nvSpPr>
            <p:cNvPr id="13325" name="Line 96"/>
            <p:cNvSpPr>
              <a:spLocks noChangeShapeType="1"/>
            </p:cNvSpPr>
            <p:nvPr/>
          </p:nvSpPr>
          <p:spPr bwMode="auto">
            <a:xfrm>
              <a:off x="1344" y="2360"/>
              <a:ext cx="22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Line 97"/>
            <p:cNvSpPr>
              <a:spLocks noChangeShapeType="1"/>
            </p:cNvSpPr>
            <p:nvPr/>
          </p:nvSpPr>
          <p:spPr bwMode="auto">
            <a:xfrm>
              <a:off x="2678" y="22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Text Box 98"/>
            <p:cNvSpPr txBox="1">
              <a:spLocks noChangeArrowheads="1"/>
            </p:cNvSpPr>
            <p:nvPr/>
          </p:nvSpPr>
          <p:spPr bwMode="auto">
            <a:xfrm>
              <a:off x="3648" y="218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i="1"/>
                <a:t>x</a:t>
              </a:r>
            </a:p>
          </p:txBody>
        </p:sp>
        <p:sp>
          <p:nvSpPr>
            <p:cNvPr id="13328" name="Line 99"/>
            <p:cNvSpPr>
              <a:spLocks noChangeShapeType="1"/>
            </p:cNvSpPr>
            <p:nvPr/>
          </p:nvSpPr>
          <p:spPr bwMode="auto">
            <a:xfrm>
              <a:off x="1948" y="22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9" name="Line 100"/>
            <p:cNvSpPr>
              <a:spLocks noChangeShapeType="1"/>
            </p:cNvSpPr>
            <p:nvPr/>
          </p:nvSpPr>
          <p:spPr bwMode="auto">
            <a:xfrm>
              <a:off x="1584" y="22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Line 101"/>
            <p:cNvSpPr>
              <a:spLocks noChangeShapeType="1"/>
            </p:cNvSpPr>
            <p:nvPr/>
          </p:nvSpPr>
          <p:spPr bwMode="auto">
            <a:xfrm>
              <a:off x="3043" y="22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Line 102"/>
            <p:cNvSpPr>
              <a:spLocks noChangeShapeType="1"/>
            </p:cNvSpPr>
            <p:nvPr/>
          </p:nvSpPr>
          <p:spPr bwMode="auto">
            <a:xfrm>
              <a:off x="3408" y="22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2" name="Text Box 103"/>
            <p:cNvSpPr txBox="1">
              <a:spLocks noChangeArrowheads="1"/>
            </p:cNvSpPr>
            <p:nvPr/>
          </p:nvSpPr>
          <p:spPr bwMode="auto">
            <a:xfrm>
              <a:off x="1810" y="2463"/>
              <a:ext cx="2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000"/>
                <a:t>2</a:t>
              </a:r>
            </a:p>
          </p:txBody>
        </p:sp>
        <p:sp>
          <p:nvSpPr>
            <p:cNvPr id="13333" name="Text Box 104"/>
            <p:cNvSpPr txBox="1">
              <a:spLocks noChangeArrowheads="1"/>
            </p:cNvSpPr>
            <p:nvPr/>
          </p:nvSpPr>
          <p:spPr bwMode="auto">
            <a:xfrm>
              <a:off x="3211" y="2463"/>
              <a:ext cx="39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000"/>
                <a:t>10</a:t>
              </a:r>
            </a:p>
          </p:txBody>
        </p:sp>
        <p:sp>
          <p:nvSpPr>
            <p:cNvPr id="13334" name="Line 105"/>
            <p:cNvSpPr>
              <a:spLocks noChangeShapeType="1"/>
            </p:cNvSpPr>
            <p:nvPr/>
          </p:nvSpPr>
          <p:spPr bwMode="auto">
            <a:xfrm>
              <a:off x="2313" y="2256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Text Box 106"/>
            <p:cNvSpPr txBox="1">
              <a:spLocks noChangeArrowheads="1"/>
            </p:cNvSpPr>
            <p:nvPr/>
          </p:nvSpPr>
          <p:spPr bwMode="auto">
            <a:xfrm>
              <a:off x="2537" y="2463"/>
              <a:ext cx="2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000"/>
                <a:t>6</a:t>
              </a:r>
            </a:p>
          </p:txBody>
        </p:sp>
        <p:sp>
          <p:nvSpPr>
            <p:cNvPr id="13336" name="Text Box 107"/>
            <p:cNvSpPr txBox="1">
              <a:spLocks noChangeArrowheads="1"/>
            </p:cNvSpPr>
            <p:nvPr/>
          </p:nvSpPr>
          <p:spPr bwMode="auto">
            <a:xfrm>
              <a:off x="1438" y="2463"/>
              <a:ext cx="2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000"/>
                <a:t>0</a:t>
              </a:r>
            </a:p>
          </p:txBody>
        </p:sp>
        <p:sp>
          <p:nvSpPr>
            <p:cNvPr id="13337" name="Text Box 108"/>
            <p:cNvSpPr txBox="1">
              <a:spLocks noChangeArrowheads="1"/>
            </p:cNvSpPr>
            <p:nvPr/>
          </p:nvSpPr>
          <p:spPr bwMode="auto">
            <a:xfrm>
              <a:off x="2165" y="2463"/>
              <a:ext cx="2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000"/>
                <a:t>4</a:t>
              </a:r>
            </a:p>
          </p:txBody>
        </p:sp>
        <p:sp>
          <p:nvSpPr>
            <p:cNvPr id="13338" name="Text Box 109"/>
            <p:cNvSpPr txBox="1">
              <a:spLocks noChangeArrowheads="1"/>
            </p:cNvSpPr>
            <p:nvPr/>
          </p:nvSpPr>
          <p:spPr bwMode="auto">
            <a:xfrm>
              <a:off x="2901" y="2463"/>
              <a:ext cx="2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000"/>
                <a:t>8</a:t>
              </a:r>
            </a:p>
          </p:txBody>
        </p:sp>
      </p:grpSp>
      <p:sp>
        <p:nvSpPr>
          <p:cNvPr id="778350" name="Line 110"/>
          <p:cNvSpPr>
            <a:spLocks noChangeShapeType="1"/>
          </p:cNvSpPr>
          <p:nvPr/>
        </p:nvSpPr>
        <p:spPr bwMode="auto">
          <a:xfrm>
            <a:off x="2200275" y="5681663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med"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7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778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77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12" grpId="0"/>
      <p:bldP spid="778326" grpId="0" animBg="1"/>
      <p:bldP spid="778331" grpId="0" animBg="1"/>
      <p:bldP spid="778332" grpId="0" animBg="1"/>
      <p:bldP spid="778333" grpId="0" animBg="1"/>
      <p:bldP spid="778334" grpId="0"/>
      <p:bldP spid="77835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 smtClean="0"/>
              <a:t>Random Variables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228600" y="1231900"/>
            <a:ext cx="864235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b="1" dirty="0"/>
              <a:t>Example</a:t>
            </a:r>
            <a:r>
              <a:rPr lang="en-US" sz="2000" dirty="0">
                <a:latin typeface="Times New Roman" pitchFamily="18" charset="0"/>
              </a:rPr>
              <a:t>: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/>
              <a:t>Decide if the random variable </a:t>
            </a:r>
            <a:r>
              <a:rPr lang="en-US" sz="2000" i="1" dirty="0"/>
              <a:t>x</a:t>
            </a:r>
            <a:r>
              <a:rPr lang="en-US" sz="2000" dirty="0"/>
              <a:t> is discrete or continuous.</a:t>
            </a:r>
          </a:p>
        </p:txBody>
      </p:sp>
      <p:sp>
        <p:nvSpPr>
          <p:cNvPr id="1056772" name="Rectangle 4"/>
          <p:cNvSpPr>
            <a:spLocks noChangeArrowheads="1"/>
          </p:cNvSpPr>
          <p:nvPr/>
        </p:nvSpPr>
        <p:spPr bwMode="auto">
          <a:xfrm>
            <a:off x="806450" y="2222500"/>
            <a:ext cx="7499350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400" dirty="0"/>
              <a:t>a.)  The distance your car travels on a tank of gas</a:t>
            </a:r>
          </a:p>
        </p:txBody>
      </p:sp>
      <p:sp>
        <p:nvSpPr>
          <p:cNvPr id="1056809" name="Rectangle 41"/>
          <p:cNvSpPr>
            <a:spLocks noChangeArrowheads="1"/>
          </p:cNvSpPr>
          <p:nvPr/>
        </p:nvSpPr>
        <p:spPr bwMode="auto">
          <a:xfrm>
            <a:off x="806450" y="4343400"/>
            <a:ext cx="7499350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400" dirty="0"/>
              <a:t>b.)  The number of students in a statistics class</a:t>
            </a:r>
          </a:p>
        </p:txBody>
      </p:sp>
      <p:sp>
        <p:nvSpPr>
          <p:cNvPr id="1056810" name="Rectangle 42"/>
          <p:cNvSpPr>
            <a:spLocks noChangeArrowheads="1"/>
          </p:cNvSpPr>
          <p:nvPr/>
        </p:nvSpPr>
        <p:spPr bwMode="auto">
          <a:xfrm>
            <a:off x="838200" y="2803525"/>
            <a:ext cx="8001000" cy="158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09588" indent="-509588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>
                <a:solidFill>
                  <a:schemeClr val="folHlink"/>
                </a:solidFill>
              </a:rPr>
              <a:t>	</a:t>
            </a:r>
            <a:r>
              <a:rPr lang="en-US" sz="2000" dirty="0">
                <a:solidFill>
                  <a:srgbClr val="C00000"/>
                </a:solidFill>
              </a:rPr>
              <a:t>The distance your car travels is a continuous random variable because it is a measurement that cannot be counted.  (All measurements are continuous random variables.)</a:t>
            </a:r>
          </a:p>
        </p:txBody>
      </p:sp>
      <p:sp>
        <p:nvSpPr>
          <p:cNvPr id="1056811" name="Rectangle 43"/>
          <p:cNvSpPr>
            <a:spLocks noChangeArrowheads="1"/>
          </p:cNvSpPr>
          <p:nvPr/>
        </p:nvSpPr>
        <p:spPr bwMode="auto">
          <a:xfrm>
            <a:off x="882650" y="4965700"/>
            <a:ext cx="749935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5138" indent="-465138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>
                <a:solidFill>
                  <a:schemeClr val="folHlink"/>
                </a:solidFill>
              </a:rPr>
              <a:t>	</a:t>
            </a:r>
            <a:r>
              <a:rPr lang="en-US" sz="2000" dirty="0">
                <a:solidFill>
                  <a:srgbClr val="C00000"/>
                </a:solidFill>
              </a:rPr>
              <a:t>The number of students is a discrete random variable because it can be counted.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5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5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72" grpId="0"/>
      <p:bldP spid="1056809" grpId="0"/>
      <p:bldP spid="1056810" grpId="0"/>
      <p:bldP spid="10568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 smtClean="0"/>
              <a:t>Discrete Probability Distributions</a:t>
            </a:r>
          </a:p>
        </p:txBody>
      </p:sp>
      <p:sp>
        <p:nvSpPr>
          <p:cNvPr id="15363" name="Rectangle 9"/>
          <p:cNvSpPr>
            <a:spLocks noChangeArrowheads="1"/>
          </p:cNvSpPr>
          <p:nvPr/>
        </p:nvSpPr>
        <p:spPr bwMode="auto">
          <a:xfrm>
            <a:off x="228600" y="1460500"/>
            <a:ext cx="8642350" cy="113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/>
              <a:t>A </a:t>
            </a:r>
            <a:r>
              <a:rPr lang="en-US" sz="2000" b="1" dirty="0">
                <a:solidFill>
                  <a:srgbClr val="000099"/>
                </a:solidFill>
              </a:rPr>
              <a:t>discrete probability distribution </a:t>
            </a:r>
            <a:r>
              <a:rPr lang="en-US" sz="2000" dirty="0"/>
              <a:t>lists each possible value the random variable can assume, together with its probability.  A probability distribution must satisfy the following conditions.  </a:t>
            </a:r>
          </a:p>
        </p:txBody>
      </p:sp>
      <p:sp>
        <p:nvSpPr>
          <p:cNvPr id="1057802" name="Text Box 10"/>
          <p:cNvSpPr txBox="1">
            <a:spLocks noChangeArrowheads="1"/>
          </p:cNvSpPr>
          <p:nvPr/>
        </p:nvSpPr>
        <p:spPr bwMode="auto">
          <a:xfrm>
            <a:off x="457200" y="3276600"/>
            <a:ext cx="19050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i="1" dirty="0">
                <a:solidFill>
                  <a:srgbClr val="C00000"/>
                </a:solidFill>
              </a:rPr>
              <a:t>In Words</a:t>
            </a:r>
          </a:p>
        </p:txBody>
      </p:sp>
      <p:sp>
        <p:nvSpPr>
          <p:cNvPr id="1057803" name="Text Box 11"/>
          <p:cNvSpPr txBox="1">
            <a:spLocks noChangeArrowheads="1"/>
          </p:cNvSpPr>
          <p:nvPr/>
        </p:nvSpPr>
        <p:spPr bwMode="auto">
          <a:xfrm>
            <a:off x="6172200" y="3276600"/>
            <a:ext cx="19050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i="1" dirty="0">
                <a:solidFill>
                  <a:srgbClr val="C00000"/>
                </a:solidFill>
              </a:rPr>
              <a:t>In Symbols</a:t>
            </a:r>
          </a:p>
        </p:txBody>
      </p:sp>
      <p:sp>
        <p:nvSpPr>
          <p:cNvPr id="1057804" name="Text Box 12"/>
          <p:cNvSpPr txBox="1">
            <a:spLocks noChangeArrowheads="1"/>
          </p:cNvSpPr>
          <p:nvPr/>
        </p:nvSpPr>
        <p:spPr bwMode="auto">
          <a:xfrm>
            <a:off x="457200" y="3886200"/>
            <a:ext cx="5105400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04813" indent="-404813"/>
            <a:r>
              <a:rPr lang="en-US" sz="2000" dirty="0"/>
              <a:t>1.  The probability of each value of the discrete random variable is between 0 and 1, inclusive.</a:t>
            </a:r>
          </a:p>
        </p:txBody>
      </p:sp>
      <p:sp>
        <p:nvSpPr>
          <p:cNvPr id="1057805" name="Text Box 13"/>
          <p:cNvSpPr txBox="1">
            <a:spLocks noChangeArrowheads="1"/>
          </p:cNvSpPr>
          <p:nvPr/>
        </p:nvSpPr>
        <p:spPr bwMode="auto">
          <a:xfrm>
            <a:off x="6172200" y="3886200"/>
            <a:ext cx="25908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0 </a:t>
            </a:r>
            <a:r>
              <a:rPr lang="en-US" sz="2000" dirty="0">
                <a:sym typeface="Symbol" pitchFamily="18" charset="2"/>
              </a:rPr>
              <a:t> </a:t>
            </a:r>
            <a:r>
              <a:rPr lang="en-US" sz="2000" i="1" dirty="0">
                <a:sym typeface="Symbol" pitchFamily="18" charset="2"/>
              </a:rPr>
              <a:t>P </a:t>
            </a:r>
            <a:r>
              <a:rPr lang="en-US" sz="2000" dirty="0">
                <a:sym typeface="Symbol" pitchFamily="18" charset="2"/>
              </a:rPr>
              <a:t>(</a:t>
            </a:r>
            <a:r>
              <a:rPr lang="en-US" sz="2000" i="1" dirty="0">
                <a:sym typeface="Symbol" pitchFamily="18" charset="2"/>
              </a:rPr>
              <a:t>x</a:t>
            </a:r>
            <a:r>
              <a:rPr lang="en-US" sz="2000" dirty="0">
                <a:sym typeface="Symbol" pitchFamily="18" charset="2"/>
              </a:rPr>
              <a:t>)  1</a:t>
            </a:r>
          </a:p>
        </p:txBody>
      </p:sp>
      <p:sp>
        <p:nvSpPr>
          <p:cNvPr id="1057806" name="Text Box 14"/>
          <p:cNvSpPr txBox="1">
            <a:spLocks noChangeArrowheads="1"/>
          </p:cNvSpPr>
          <p:nvPr/>
        </p:nvSpPr>
        <p:spPr bwMode="auto">
          <a:xfrm>
            <a:off x="457200" y="5289550"/>
            <a:ext cx="51054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04813" indent="-404813"/>
            <a:r>
              <a:rPr lang="en-US" sz="2000" dirty="0"/>
              <a:t>2.  The sum of all the probabilities is 1.</a:t>
            </a:r>
          </a:p>
        </p:txBody>
      </p:sp>
      <p:sp>
        <p:nvSpPr>
          <p:cNvPr id="1057807" name="Text Box 15"/>
          <p:cNvSpPr txBox="1">
            <a:spLocks noChangeArrowheads="1"/>
          </p:cNvSpPr>
          <p:nvPr/>
        </p:nvSpPr>
        <p:spPr bwMode="auto">
          <a:xfrm>
            <a:off x="6172200" y="5289550"/>
            <a:ext cx="25908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l-GR" sz="2000" dirty="0"/>
              <a:t>Σ</a:t>
            </a:r>
            <a:r>
              <a:rPr lang="en-US" sz="2000" i="1" dirty="0">
                <a:sym typeface="Symbol" pitchFamily="18" charset="2"/>
              </a:rPr>
              <a:t>P </a:t>
            </a:r>
            <a:r>
              <a:rPr lang="en-US" sz="2000" dirty="0">
                <a:sym typeface="Symbol" pitchFamily="18" charset="2"/>
              </a:rPr>
              <a:t>(</a:t>
            </a:r>
            <a:r>
              <a:rPr lang="en-US" sz="2000" i="1" dirty="0">
                <a:sym typeface="Symbol" pitchFamily="18" charset="2"/>
              </a:rPr>
              <a:t>x</a:t>
            </a:r>
            <a:r>
              <a:rPr lang="en-US" sz="2000" dirty="0">
                <a:sym typeface="Symbol" pitchFamily="18" charset="2"/>
              </a:rPr>
              <a:t>) =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5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5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5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5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7802" grpId="0"/>
      <p:bldP spid="1057803" grpId="0"/>
      <p:bldP spid="1057804" grpId="0"/>
      <p:bldP spid="1057805" grpId="0"/>
      <p:bldP spid="1057806" grpId="0"/>
      <p:bldP spid="105780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600" y="76200"/>
            <a:ext cx="9677400" cy="990600"/>
          </a:xfrm>
          <a:noFill/>
        </p:spPr>
        <p:txBody>
          <a:bodyPr/>
          <a:lstStyle/>
          <a:p>
            <a:pPr eaLnBrk="1" hangingPunct="1"/>
            <a:r>
              <a:rPr lang="en-US" sz="3100" b="1" dirty="0" smtClean="0"/>
              <a:t>Constructing a Discrete Probability Distribution</a:t>
            </a:r>
          </a:p>
        </p:txBody>
      </p:sp>
      <p:sp>
        <p:nvSpPr>
          <p:cNvPr id="1058819" name="Rectangle 3"/>
          <p:cNvSpPr>
            <a:spLocks noChangeArrowheads="1"/>
          </p:cNvSpPr>
          <p:nvPr/>
        </p:nvSpPr>
        <p:spPr bwMode="auto">
          <a:xfrm>
            <a:off x="228600" y="1460500"/>
            <a:ext cx="8642350" cy="4835525"/>
          </a:xfrm>
          <a:prstGeom prst="rect">
            <a:avLst/>
          </a:prstGeom>
          <a:solidFill>
            <a:schemeClr val="accent2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0" tIns="137160" bIns="137160"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400" b="1" dirty="0"/>
              <a:t>Guidelines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400" dirty="0"/>
              <a:t>Let </a:t>
            </a:r>
            <a:r>
              <a:rPr lang="en-US" sz="2400" i="1" dirty="0"/>
              <a:t>x</a:t>
            </a:r>
            <a:r>
              <a:rPr lang="en-US" sz="2400" dirty="0"/>
              <a:t> be a discrete random variable with possible outcomes </a:t>
            </a:r>
            <a:r>
              <a:rPr lang="en-US" sz="2400" i="1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, … , </a:t>
            </a:r>
            <a:r>
              <a:rPr lang="en-US" sz="2400" i="1" dirty="0"/>
              <a:t>x</a:t>
            </a:r>
            <a:r>
              <a:rPr lang="en-US" sz="2400" i="1" baseline="-25000" dirty="0"/>
              <a:t>n</a:t>
            </a:r>
            <a:r>
              <a:rPr lang="en-US" sz="2400" dirty="0"/>
              <a:t>.</a:t>
            </a:r>
          </a:p>
        </p:txBody>
      </p:sp>
      <p:sp>
        <p:nvSpPr>
          <p:cNvPr id="1058826" name="Text Box 10"/>
          <p:cNvSpPr txBox="1">
            <a:spLocks noChangeArrowheads="1"/>
          </p:cNvSpPr>
          <p:nvPr/>
        </p:nvSpPr>
        <p:spPr bwMode="auto">
          <a:xfrm>
            <a:off x="457200" y="2895600"/>
            <a:ext cx="8382000" cy="23083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65138" indent="-465138"/>
            <a:r>
              <a:rPr lang="en-US" sz="2400" dirty="0"/>
              <a:t>1.  Make a frequency distribution for the possible outcomes.</a:t>
            </a:r>
          </a:p>
          <a:p>
            <a:pPr marL="465138" indent="-465138"/>
            <a:r>
              <a:rPr lang="en-US" sz="2400" dirty="0"/>
              <a:t>2.  Find the sum of the frequencies.</a:t>
            </a:r>
          </a:p>
          <a:p>
            <a:pPr marL="465138" indent="-465138"/>
            <a:r>
              <a:rPr lang="en-US" sz="2400" dirty="0"/>
              <a:t>3.	Find the probability of each possible outcome by dividing its frequency by the sum of the frequencies.</a:t>
            </a:r>
          </a:p>
          <a:p>
            <a:pPr marL="465138" indent="-465138"/>
            <a:r>
              <a:rPr lang="en-US" sz="2400" dirty="0"/>
              <a:t>4.	Check that each probability is between 0 and 1 and that the sum is 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58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58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58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58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58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82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600" y="76200"/>
            <a:ext cx="9677400" cy="990600"/>
          </a:xfrm>
          <a:noFill/>
        </p:spPr>
        <p:txBody>
          <a:bodyPr/>
          <a:lstStyle/>
          <a:p>
            <a:pPr eaLnBrk="1" hangingPunct="1"/>
            <a:r>
              <a:rPr lang="en-US" sz="3100" b="1" dirty="0" smtClean="0"/>
              <a:t>Constructing a Discrete Probability Distribution</a:t>
            </a:r>
          </a:p>
        </p:txBody>
      </p:sp>
      <p:sp>
        <p:nvSpPr>
          <p:cNvPr id="17411" name="Rectangle 5"/>
          <p:cNvSpPr>
            <a:spLocks noChangeArrowheads="1"/>
          </p:cNvSpPr>
          <p:nvPr/>
        </p:nvSpPr>
        <p:spPr bwMode="auto">
          <a:xfrm>
            <a:off x="304800" y="1371600"/>
            <a:ext cx="86106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b="1" dirty="0"/>
              <a:t>Example</a:t>
            </a:r>
            <a:r>
              <a:rPr lang="en-US" sz="2000" dirty="0">
                <a:latin typeface="Times New Roman" pitchFamily="18" charset="0"/>
              </a:rPr>
              <a:t>: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/>
              <a:t>The spinner below is divided into two sections.  The probability of landing on the 1 is 0.25.  The probability of landing on the 2 is 0.75.  Let </a:t>
            </a:r>
            <a:r>
              <a:rPr lang="en-US" sz="2000" i="1" dirty="0"/>
              <a:t>x</a:t>
            </a:r>
            <a:r>
              <a:rPr lang="en-US" sz="2000" dirty="0"/>
              <a:t> be the number the spinner lands on.  Construct a probability distribution for the random variable </a:t>
            </a:r>
            <a:r>
              <a:rPr lang="en-US" sz="2000" i="1" dirty="0"/>
              <a:t>x</a:t>
            </a:r>
            <a:r>
              <a:rPr lang="en-US" sz="2000" dirty="0"/>
              <a:t>.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990600" y="3943350"/>
            <a:ext cx="2133600" cy="2133600"/>
            <a:chOff x="480" y="2112"/>
            <a:chExt cx="1344" cy="1344"/>
          </a:xfrm>
        </p:grpSpPr>
        <p:sp>
          <p:nvSpPr>
            <p:cNvPr id="17434" name="Oval 6"/>
            <p:cNvSpPr>
              <a:spLocks noChangeArrowheads="1"/>
            </p:cNvSpPr>
            <p:nvPr/>
          </p:nvSpPr>
          <p:spPr bwMode="auto">
            <a:xfrm>
              <a:off x="480" y="2112"/>
              <a:ext cx="1344" cy="1344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435" name="Freeform 7"/>
            <p:cNvSpPr>
              <a:spLocks/>
            </p:cNvSpPr>
            <p:nvPr/>
          </p:nvSpPr>
          <p:spPr bwMode="auto">
            <a:xfrm>
              <a:off x="480" y="2112"/>
              <a:ext cx="672" cy="672"/>
            </a:xfrm>
            <a:custGeom>
              <a:avLst/>
              <a:gdLst>
                <a:gd name="T0" fmla="*/ 0 w 672"/>
                <a:gd name="T1" fmla="*/ 672 h 672"/>
                <a:gd name="T2" fmla="*/ 672 w 672"/>
                <a:gd name="T3" fmla="*/ 672 h 672"/>
                <a:gd name="T4" fmla="*/ 672 w 672"/>
                <a:gd name="T5" fmla="*/ 0 h 672"/>
                <a:gd name="T6" fmla="*/ 0 60000 65536"/>
                <a:gd name="T7" fmla="*/ 0 60000 65536"/>
                <a:gd name="T8" fmla="*/ 0 60000 65536"/>
                <a:gd name="T9" fmla="*/ 0 w 672"/>
                <a:gd name="T10" fmla="*/ 0 h 672"/>
                <a:gd name="T11" fmla="*/ 672 w 672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672">
                  <a:moveTo>
                    <a:pt x="0" y="672"/>
                  </a:moveTo>
                  <a:lnTo>
                    <a:pt x="672" y="672"/>
                  </a:lnTo>
                  <a:lnTo>
                    <a:pt x="672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436" name="Text Box 9"/>
            <p:cNvSpPr txBox="1">
              <a:spLocks noChangeArrowheads="1"/>
            </p:cNvSpPr>
            <p:nvPr/>
          </p:nvSpPr>
          <p:spPr bwMode="auto">
            <a:xfrm>
              <a:off x="1188" y="2808"/>
              <a:ext cx="336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2</a:t>
              </a:r>
            </a:p>
          </p:txBody>
        </p:sp>
        <p:sp>
          <p:nvSpPr>
            <p:cNvPr id="17437" name="Arc 10"/>
            <p:cNvSpPr>
              <a:spLocks/>
            </p:cNvSpPr>
            <p:nvPr/>
          </p:nvSpPr>
          <p:spPr bwMode="auto">
            <a:xfrm flipH="1">
              <a:off x="480" y="2112"/>
              <a:ext cx="672" cy="672"/>
            </a:xfrm>
            <a:custGeom>
              <a:avLst/>
              <a:gdLst>
                <a:gd name="T0" fmla="*/ 0 w 21600"/>
                <a:gd name="T1" fmla="*/ 0 h 21600"/>
                <a:gd name="T2" fmla="*/ 21 w 21600"/>
                <a:gd name="T3" fmla="*/ 21 h 21600"/>
                <a:gd name="T4" fmla="*/ 0 w 21600"/>
                <a:gd name="T5" fmla="*/ 21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hlink">
                <a:alpha val="7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438" name="Text Box 8"/>
            <p:cNvSpPr txBox="1">
              <a:spLocks noChangeArrowheads="1"/>
            </p:cNvSpPr>
            <p:nvPr/>
          </p:nvSpPr>
          <p:spPr bwMode="auto">
            <a:xfrm>
              <a:off x="819" y="2352"/>
              <a:ext cx="336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1</a:t>
              </a:r>
            </a:p>
          </p:txBody>
        </p:sp>
      </p:grpSp>
      <p:sp>
        <p:nvSpPr>
          <p:cNvPr id="1059852" name="Line 12"/>
          <p:cNvSpPr>
            <a:spLocks noChangeShapeType="1"/>
          </p:cNvSpPr>
          <p:nvPr/>
        </p:nvSpPr>
        <p:spPr bwMode="auto">
          <a:xfrm flipV="1">
            <a:off x="1476375" y="4476750"/>
            <a:ext cx="1190625" cy="1076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1059960" name="Group 120"/>
          <p:cNvGraphicFramePr>
            <a:graphicFrameLocks noGrp="1"/>
          </p:cNvGraphicFramePr>
          <p:nvPr/>
        </p:nvGraphicFramePr>
        <p:xfrm>
          <a:off x="3810000" y="4171950"/>
          <a:ext cx="1676400" cy="1568450"/>
        </p:xfrm>
        <a:graphic>
          <a:graphicData uri="http://schemas.openxmlformats.org/drawingml/2006/table">
            <a:tbl>
              <a:tblPr/>
              <a:tblGrid>
                <a:gridCol w="685800"/>
                <a:gridCol w="9906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P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(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</a:t>
                      </a:r>
                      <a:endParaRPr kumimoji="0" 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" name="Group 124"/>
          <p:cNvGrpSpPr>
            <a:grpSpLocks/>
          </p:cNvGrpSpPr>
          <p:nvPr/>
        </p:nvGrpSpPr>
        <p:grpSpPr bwMode="auto">
          <a:xfrm>
            <a:off x="5562600" y="4705350"/>
            <a:ext cx="2771775" cy="990600"/>
            <a:chOff x="3840" y="2832"/>
            <a:chExt cx="1746" cy="624"/>
          </a:xfrm>
        </p:grpSpPr>
        <p:sp>
          <p:nvSpPr>
            <p:cNvPr id="17432" name="Text Box 121"/>
            <p:cNvSpPr txBox="1">
              <a:spLocks noChangeArrowheads="1"/>
            </p:cNvSpPr>
            <p:nvPr/>
          </p:nvSpPr>
          <p:spPr bwMode="auto">
            <a:xfrm>
              <a:off x="3954" y="2922"/>
              <a:ext cx="1632" cy="44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solidFill>
                    <a:schemeClr val="hlink"/>
                  </a:solidFill>
                </a:rPr>
                <a:t>Each probability is between 0 and 1.</a:t>
              </a:r>
            </a:p>
          </p:txBody>
        </p:sp>
        <p:sp>
          <p:nvSpPr>
            <p:cNvPr id="17433" name="AutoShape 123"/>
            <p:cNvSpPr>
              <a:spLocks/>
            </p:cNvSpPr>
            <p:nvPr/>
          </p:nvSpPr>
          <p:spPr bwMode="auto">
            <a:xfrm>
              <a:off x="3840" y="2832"/>
              <a:ext cx="144" cy="624"/>
            </a:xfrm>
            <a:prstGeom prst="rightBrace">
              <a:avLst>
                <a:gd name="adj1" fmla="val 36111"/>
                <a:gd name="adj2" fmla="val 50000"/>
              </a:avLst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126"/>
          <p:cNvGrpSpPr>
            <a:grpSpLocks/>
          </p:cNvGrpSpPr>
          <p:nvPr/>
        </p:nvGrpSpPr>
        <p:grpSpPr bwMode="auto">
          <a:xfrm>
            <a:off x="4876800" y="5848350"/>
            <a:ext cx="4419600" cy="476250"/>
            <a:chOff x="3072" y="3552"/>
            <a:chExt cx="2784" cy="300"/>
          </a:xfrm>
        </p:grpSpPr>
        <p:sp>
          <p:nvSpPr>
            <p:cNvPr id="17430" name="Text Box 122"/>
            <p:cNvSpPr txBox="1">
              <a:spLocks noChangeArrowheads="1"/>
            </p:cNvSpPr>
            <p:nvPr/>
          </p:nvSpPr>
          <p:spPr bwMode="auto">
            <a:xfrm>
              <a:off x="3216" y="3602"/>
              <a:ext cx="2640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solidFill>
                    <a:schemeClr val="hlink"/>
                  </a:solidFill>
                </a:rPr>
                <a:t>The sum of the probabilities is 1.</a:t>
              </a:r>
            </a:p>
          </p:txBody>
        </p:sp>
        <p:sp>
          <p:nvSpPr>
            <p:cNvPr id="17431" name="Freeform 125"/>
            <p:cNvSpPr>
              <a:spLocks/>
            </p:cNvSpPr>
            <p:nvPr/>
          </p:nvSpPr>
          <p:spPr bwMode="auto">
            <a:xfrm>
              <a:off x="3072" y="3552"/>
              <a:ext cx="192" cy="192"/>
            </a:xfrm>
            <a:custGeom>
              <a:avLst/>
              <a:gdLst>
                <a:gd name="T0" fmla="*/ 0 w 192"/>
                <a:gd name="T1" fmla="*/ 0 h 192"/>
                <a:gd name="T2" fmla="*/ 0 w 192"/>
                <a:gd name="T3" fmla="*/ 192 h 192"/>
                <a:gd name="T4" fmla="*/ 192 w 192"/>
                <a:gd name="T5" fmla="*/ 192 h 192"/>
                <a:gd name="T6" fmla="*/ 0 60000 65536"/>
                <a:gd name="T7" fmla="*/ 0 60000 65536"/>
                <a:gd name="T8" fmla="*/ 0 60000 65536"/>
                <a:gd name="T9" fmla="*/ 0 w 192"/>
                <a:gd name="T10" fmla="*/ 0 h 192"/>
                <a:gd name="T11" fmla="*/ 192 w 192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92">
                  <a:moveTo>
                    <a:pt x="0" y="0"/>
                  </a:moveTo>
                  <a:lnTo>
                    <a:pt x="0" y="192"/>
                  </a:lnTo>
                  <a:lnTo>
                    <a:pt x="192" y="192"/>
                  </a:ln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59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59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598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5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985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600" y="76200"/>
            <a:ext cx="9677400" cy="990600"/>
          </a:xfrm>
          <a:noFill/>
        </p:spPr>
        <p:txBody>
          <a:bodyPr/>
          <a:lstStyle/>
          <a:p>
            <a:pPr eaLnBrk="1" hangingPunct="1"/>
            <a:r>
              <a:rPr lang="en-US" sz="3100" b="1" dirty="0" smtClean="0"/>
              <a:t>Constructing a Discrete Probability Distribution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28600" y="1314450"/>
            <a:ext cx="864235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b="1" dirty="0"/>
              <a:t>Example</a:t>
            </a:r>
            <a:r>
              <a:rPr lang="en-US" sz="2000" dirty="0">
                <a:latin typeface="Times New Roman" pitchFamily="18" charset="0"/>
              </a:rPr>
              <a:t>: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/>
              <a:t>The spinner below is spun two times.  The probability of landing on the 1 is 0.25.  The probability of landing on the 2 is 0.75.  Let </a:t>
            </a:r>
            <a:r>
              <a:rPr lang="en-US" sz="2000" i="1" dirty="0"/>
              <a:t>x</a:t>
            </a:r>
            <a:r>
              <a:rPr lang="en-US" sz="2000" dirty="0"/>
              <a:t> be the </a:t>
            </a:r>
            <a:r>
              <a:rPr lang="en-US" sz="2000" u="sng" dirty="0"/>
              <a:t>sum</a:t>
            </a:r>
            <a:r>
              <a:rPr lang="en-US" sz="2000" dirty="0"/>
              <a:t> of the two spins.  Construct a probability distribution for the random variable </a:t>
            </a:r>
            <a:r>
              <a:rPr lang="en-US" sz="2000" i="1" dirty="0"/>
              <a:t>x</a:t>
            </a:r>
            <a:r>
              <a:rPr lang="en-US" sz="2000" dirty="0"/>
              <a:t>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33400" y="3886200"/>
            <a:ext cx="2133600" cy="2133600"/>
            <a:chOff x="480" y="2112"/>
            <a:chExt cx="1344" cy="1344"/>
          </a:xfrm>
        </p:grpSpPr>
        <p:sp>
          <p:nvSpPr>
            <p:cNvPr id="18450" name="Oval 5"/>
            <p:cNvSpPr>
              <a:spLocks noChangeArrowheads="1"/>
            </p:cNvSpPr>
            <p:nvPr/>
          </p:nvSpPr>
          <p:spPr bwMode="auto">
            <a:xfrm>
              <a:off x="480" y="2112"/>
              <a:ext cx="1344" cy="1344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451" name="Freeform 6"/>
            <p:cNvSpPr>
              <a:spLocks/>
            </p:cNvSpPr>
            <p:nvPr/>
          </p:nvSpPr>
          <p:spPr bwMode="auto">
            <a:xfrm>
              <a:off x="480" y="2112"/>
              <a:ext cx="672" cy="672"/>
            </a:xfrm>
            <a:custGeom>
              <a:avLst/>
              <a:gdLst>
                <a:gd name="T0" fmla="*/ 0 w 672"/>
                <a:gd name="T1" fmla="*/ 672 h 672"/>
                <a:gd name="T2" fmla="*/ 672 w 672"/>
                <a:gd name="T3" fmla="*/ 672 h 672"/>
                <a:gd name="T4" fmla="*/ 672 w 672"/>
                <a:gd name="T5" fmla="*/ 0 h 672"/>
                <a:gd name="T6" fmla="*/ 0 60000 65536"/>
                <a:gd name="T7" fmla="*/ 0 60000 65536"/>
                <a:gd name="T8" fmla="*/ 0 60000 65536"/>
                <a:gd name="T9" fmla="*/ 0 w 672"/>
                <a:gd name="T10" fmla="*/ 0 h 672"/>
                <a:gd name="T11" fmla="*/ 672 w 672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672">
                  <a:moveTo>
                    <a:pt x="0" y="672"/>
                  </a:moveTo>
                  <a:lnTo>
                    <a:pt x="672" y="672"/>
                  </a:lnTo>
                  <a:lnTo>
                    <a:pt x="672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452" name="Text Box 7"/>
            <p:cNvSpPr txBox="1">
              <a:spLocks noChangeArrowheads="1"/>
            </p:cNvSpPr>
            <p:nvPr/>
          </p:nvSpPr>
          <p:spPr bwMode="auto">
            <a:xfrm>
              <a:off x="1188" y="2808"/>
              <a:ext cx="336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2</a:t>
              </a:r>
            </a:p>
          </p:txBody>
        </p:sp>
        <p:sp>
          <p:nvSpPr>
            <p:cNvPr id="18453" name="Arc 8"/>
            <p:cNvSpPr>
              <a:spLocks/>
            </p:cNvSpPr>
            <p:nvPr/>
          </p:nvSpPr>
          <p:spPr bwMode="auto">
            <a:xfrm flipH="1">
              <a:off x="480" y="2112"/>
              <a:ext cx="672" cy="672"/>
            </a:xfrm>
            <a:custGeom>
              <a:avLst/>
              <a:gdLst>
                <a:gd name="T0" fmla="*/ 0 w 21600"/>
                <a:gd name="T1" fmla="*/ 0 h 21600"/>
                <a:gd name="T2" fmla="*/ 21 w 21600"/>
                <a:gd name="T3" fmla="*/ 21 h 21600"/>
                <a:gd name="T4" fmla="*/ 0 w 21600"/>
                <a:gd name="T5" fmla="*/ 21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hlink">
                <a:alpha val="7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454" name="Text Box 9"/>
            <p:cNvSpPr txBox="1">
              <a:spLocks noChangeArrowheads="1"/>
            </p:cNvSpPr>
            <p:nvPr/>
          </p:nvSpPr>
          <p:spPr bwMode="auto">
            <a:xfrm>
              <a:off x="819" y="2352"/>
              <a:ext cx="336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1</a:t>
              </a:r>
            </a:p>
          </p:txBody>
        </p:sp>
      </p:grpSp>
      <p:sp>
        <p:nvSpPr>
          <p:cNvPr id="1061898" name="Line 10"/>
          <p:cNvSpPr>
            <a:spLocks noChangeShapeType="1"/>
          </p:cNvSpPr>
          <p:nvPr/>
        </p:nvSpPr>
        <p:spPr bwMode="auto">
          <a:xfrm flipV="1">
            <a:off x="1019175" y="4419600"/>
            <a:ext cx="1190625" cy="1076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61899" name="Rectangle 11"/>
          <p:cNvSpPr>
            <a:spLocks noChangeArrowheads="1"/>
          </p:cNvSpPr>
          <p:nvPr/>
        </p:nvSpPr>
        <p:spPr bwMode="auto">
          <a:xfrm>
            <a:off x="7364413" y="6015038"/>
            <a:ext cx="17399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Continued.</a:t>
            </a:r>
          </a:p>
        </p:txBody>
      </p:sp>
      <p:sp>
        <p:nvSpPr>
          <p:cNvPr id="1061910" name="Text Box 22"/>
          <p:cNvSpPr txBox="1">
            <a:spLocks noChangeArrowheads="1"/>
          </p:cNvSpPr>
          <p:nvPr/>
        </p:nvSpPr>
        <p:spPr bwMode="auto">
          <a:xfrm>
            <a:off x="2895600" y="3505200"/>
            <a:ext cx="4953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folHlink"/>
                </a:solidFill>
              </a:rPr>
              <a:t>The possible sums are 2, 3, and 4.</a:t>
            </a:r>
          </a:p>
        </p:txBody>
      </p:sp>
      <p:sp>
        <p:nvSpPr>
          <p:cNvPr id="1061911" name="Text Box 23"/>
          <p:cNvSpPr txBox="1">
            <a:spLocks noChangeArrowheads="1"/>
          </p:cNvSpPr>
          <p:nvPr/>
        </p:nvSpPr>
        <p:spPr bwMode="auto">
          <a:xfrm>
            <a:off x="2895600" y="4114800"/>
            <a:ext cx="58674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folHlink"/>
                </a:solidFill>
              </a:rPr>
              <a:t>P</a:t>
            </a:r>
            <a:r>
              <a:rPr lang="en-US">
                <a:solidFill>
                  <a:schemeClr val="folHlink"/>
                </a:solidFill>
              </a:rPr>
              <a:t> (sum of 2) = 0.25 </a:t>
            </a:r>
            <a:r>
              <a:rPr lang="en-US">
                <a:solidFill>
                  <a:schemeClr val="folHlink"/>
                </a:solidFill>
                <a:sym typeface="Symbol" pitchFamily="18" charset="2"/>
              </a:rPr>
              <a:t></a:t>
            </a:r>
            <a:r>
              <a:rPr lang="en-US">
                <a:solidFill>
                  <a:schemeClr val="folHlink"/>
                </a:solidFill>
              </a:rPr>
              <a:t>  0.25 = 0.0625</a:t>
            </a: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4800601" y="4419600"/>
            <a:ext cx="952500" cy="866775"/>
            <a:chOff x="3024" y="2784"/>
            <a:chExt cx="600" cy="546"/>
          </a:xfrm>
        </p:grpSpPr>
        <p:sp>
          <p:nvSpPr>
            <p:cNvPr id="18448" name="Rectangle 27"/>
            <p:cNvSpPr>
              <a:spLocks noChangeArrowheads="1"/>
            </p:cNvSpPr>
            <p:nvPr/>
          </p:nvSpPr>
          <p:spPr bwMode="auto">
            <a:xfrm>
              <a:off x="3024" y="3042"/>
              <a:ext cx="600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“and”</a:t>
              </a:r>
            </a:p>
          </p:txBody>
        </p:sp>
        <p:sp>
          <p:nvSpPr>
            <p:cNvPr id="18449" name="Line 28"/>
            <p:cNvSpPr>
              <a:spLocks noChangeShapeType="1"/>
            </p:cNvSpPr>
            <p:nvPr/>
          </p:nvSpPr>
          <p:spPr bwMode="auto">
            <a:xfrm flipH="1" flipV="1">
              <a:off x="3072" y="2784"/>
              <a:ext cx="144" cy="30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2819400" y="4600575"/>
            <a:ext cx="2133600" cy="1050925"/>
            <a:chOff x="1959" y="2898"/>
            <a:chExt cx="1344" cy="662"/>
          </a:xfrm>
        </p:grpSpPr>
        <p:sp>
          <p:nvSpPr>
            <p:cNvPr id="18446" name="Text Box 25"/>
            <p:cNvSpPr txBox="1">
              <a:spLocks noChangeArrowheads="1"/>
            </p:cNvSpPr>
            <p:nvPr/>
          </p:nvSpPr>
          <p:spPr bwMode="auto">
            <a:xfrm>
              <a:off x="1959" y="3042"/>
              <a:ext cx="1344" cy="5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dirty="0"/>
                <a:t>Spin a 1 on the first spin.</a:t>
              </a:r>
            </a:p>
          </p:txBody>
        </p:sp>
        <p:sp>
          <p:nvSpPr>
            <p:cNvPr id="18447" name="Line 29"/>
            <p:cNvSpPr>
              <a:spLocks noChangeShapeType="1"/>
            </p:cNvSpPr>
            <p:nvPr/>
          </p:nvSpPr>
          <p:spPr bwMode="auto">
            <a:xfrm flipV="1">
              <a:off x="2775" y="2898"/>
              <a:ext cx="183" cy="22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5410200" y="4419600"/>
            <a:ext cx="2819400" cy="1246188"/>
            <a:chOff x="3408" y="2784"/>
            <a:chExt cx="1776" cy="785"/>
          </a:xfrm>
        </p:grpSpPr>
        <p:sp>
          <p:nvSpPr>
            <p:cNvPr id="18444" name="Text Box 26"/>
            <p:cNvSpPr txBox="1">
              <a:spLocks noChangeArrowheads="1"/>
            </p:cNvSpPr>
            <p:nvPr/>
          </p:nvSpPr>
          <p:spPr bwMode="auto">
            <a:xfrm>
              <a:off x="3552" y="3051"/>
              <a:ext cx="1632" cy="5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dirty="0"/>
                <a:t>Spin a 1 on the second spin.</a:t>
              </a:r>
            </a:p>
          </p:txBody>
        </p:sp>
        <p:sp>
          <p:nvSpPr>
            <p:cNvPr id="18445" name="Line 31"/>
            <p:cNvSpPr>
              <a:spLocks noChangeShapeType="1"/>
            </p:cNvSpPr>
            <p:nvPr/>
          </p:nvSpPr>
          <p:spPr bwMode="auto">
            <a:xfrm flipH="1" flipV="1">
              <a:off x="3408" y="2784"/>
              <a:ext cx="471" cy="321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61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61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618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6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06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898" grpId="0" animBg="1"/>
      <p:bldP spid="1061899" grpId="0"/>
      <p:bldP spid="10619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600" y="76200"/>
            <a:ext cx="9677400" cy="990600"/>
          </a:xfrm>
          <a:noFill/>
        </p:spPr>
        <p:txBody>
          <a:bodyPr/>
          <a:lstStyle/>
          <a:p>
            <a:pPr eaLnBrk="1" hangingPunct="1"/>
            <a:r>
              <a:rPr lang="en-US" sz="3100" b="1" dirty="0" smtClean="0"/>
              <a:t>Constructing a Discrete Probability Distribution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228600" y="1314450"/>
            <a:ext cx="86423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400" b="1" dirty="0"/>
              <a:t>Example continued</a:t>
            </a:r>
            <a:r>
              <a:rPr lang="en-US" sz="2400" dirty="0">
                <a:latin typeface="Times New Roman" pitchFamily="18" charset="0"/>
              </a:rPr>
              <a:t>: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1000" y="1981200"/>
            <a:ext cx="2133600" cy="2133600"/>
            <a:chOff x="480" y="2112"/>
            <a:chExt cx="1344" cy="1344"/>
          </a:xfrm>
        </p:grpSpPr>
        <p:sp>
          <p:nvSpPr>
            <p:cNvPr id="19505" name="Oval 5"/>
            <p:cNvSpPr>
              <a:spLocks noChangeArrowheads="1"/>
            </p:cNvSpPr>
            <p:nvPr/>
          </p:nvSpPr>
          <p:spPr bwMode="auto">
            <a:xfrm>
              <a:off x="480" y="2112"/>
              <a:ext cx="1344" cy="1344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506" name="Freeform 6"/>
            <p:cNvSpPr>
              <a:spLocks/>
            </p:cNvSpPr>
            <p:nvPr/>
          </p:nvSpPr>
          <p:spPr bwMode="auto">
            <a:xfrm>
              <a:off x="480" y="2112"/>
              <a:ext cx="672" cy="672"/>
            </a:xfrm>
            <a:custGeom>
              <a:avLst/>
              <a:gdLst>
                <a:gd name="T0" fmla="*/ 0 w 672"/>
                <a:gd name="T1" fmla="*/ 672 h 672"/>
                <a:gd name="T2" fmla="*/ 672 w 672"/>
                <a:gd name="T3" fmla="*/ 672 h 672"/>
                <a:gd name="T4" fmla="*/ 672 w 672"/>
                <a:gd name="T5" fmla="*/ 0 h 672"/>
                <a:gd name="T6" fmla="*/ 0 60000 65536"/>
                <a:gd name="T7" fmla="*/ 0 60000 65536"/>
                <a:gd name="T8" fmla="*/ 0 60000 65536"/>
                <a:gd name="T9" fmla="*/ 0 w 672"/>
                <a:gd name="T10" fmla="*/ 0 h 672"/>
                <a:gd name="T11" fmla="*/ 672 w 672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672">
                  <a:moveTo>
                    <a:pt x="0" y="672"/>
                  </a:moveTo>
                  <a:lnTo>
                    <a:pt x="672" y="672"/>
                  </a:lnTo>
                  <a:lnTo>
                    <a:pt x="672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507" name="Text Box 7"/>
            <p:cNvSpPr txBox="1">
              <a:spLocks noChangeArrowheads="1"/>
            </p:cNvSpPr>
            <p:nvPr/>
          </p:nvSpPr>
          <p:spPr bwMode="auto">
            <a:xfrm>
              <a:off x="1188" y="2808"/>
              <a:ext cx="336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2</a:t>
              </a:r>
            </a:p>
          </p:txBody>
        </p:sp>
        <p:sp>
          <p:nvSpPr>
            <p:cNvPr id="19508" name="Arc 8"/>
            <p:cNvSpPr>
              <a:spLocks/>
            </p:cNvSpPr>
            <p:nvPr/>
          </p:nvSpPr>
          <p:spPr bwMode="auto">
            <a:xfrm flipH="1">
              <a:off x="480" y="2112"/>
              <a:ext cx="672" cy="672"/>
            </a:xfrm>
            <a:custGeom>
              <a:avLst/>
              <a:gdLst>
                <a:gd name="T0" fmla="*/ 0 w 21600"/>
                <a:gd name="T1" fmla="*/ 0 h 21600"/>
                <a:gd name="T2" fmla="*/ 21 w 21600"/>
                <a:gd name="T3" fmla="*/ 21 h 21600"/>
                <a:gd name="T4" fmla="*/ 0 w 21600"/>
                <a:gd name="T5" fmla="*/ 21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hlink">
                <a:alpha val="7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509" name="Text Box 9"/>
            <p:cNvSpPr txBox="1">
              <a:spLocks noChangeArrowheads="1"/>
            </p:cNvSpPr>
            <p:nvPr/>
          </p:nvSpPr>
          <p:spPr bwMode="auto">
            <a:xfrm>
              <a:off x="819" y="2352"/>
              <a:ext cx="336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1</a:t>
              </a:r>
            </a:p>
          </p:txBody>
        </p:sp>
      </p:grpSp>
      <p:sp>
        <p:nvSpPr>
          <p:cNvPr id="19461" name="Line 10"/>
          <p:cNvSpPr>
            <a:spLocks noChangeShapeType="1"/>
          </p:cNvSpPr>
          <p:nvPr/>
        </p:nvSpPr>
        <p:spPr bwMode="auto">
          <a:xfrm flipV="1">
            <a:off x="866775" y="2514600"/>
            <a:ext cx="1190625" cy="1076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64973" name="Text Box 13"/>
          <p:cNvSpPr txBox="1">
            <a:spLocks noChangeArrowheads="1"/>
          </p:cNvSpPr>
          <p:nvPr/>
        </p:nvSpPr>
        <p:spPr bwMode="auto">
          <a:xfrm>
            <a:off x="2895600" y="1981200"/>
            <a:ext cx="58674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folHlink"/>
                </a:solidFill>
              </a:rPr>
              <a:t>P</a:t>
            </a:r>
            <a:r>
              <a:rPr lang="en-US">
                <a:solidFill>
                  <a:schemeClr val="folHlink"/>
                </a:solidFill>
              </a:rPr>
              <a:t> (sum of 3) = 0.25 </a:t>
            </a:r>
            <a:r>
              <a:rPr lang="en-US">
                <a:solidFill>
                  <a:schemeClr val="folHlink"/>
                </a:solidFill>
                <a:sym typeface="Symbol" pitchFamily="18" charset="2"/>
              </a:rPr>
              <a:t></a:t>
            </a:r>
            <a:r>
              <a:rPr lang="en-US">
                <a:solidFill>
                  <a:schemeClr val="folHlink"/>
                </a:solidFill>
              </a:rPr>
              <a:t>  0.75 = 0.1875</a:t>
            </a: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4876800" y="2286000"/>
            <a:ext cx="1181100" cy="866775"/>
            <a:chOff x="3207" y="2784"/>
            <a:chExt cx="744" cy="546"/>
          </a:xfrm>
        </p:grpSpPr>
        <p:sp>
          <p:nvSpPr>
            <p:cNvPr id="19503" name="Rectangle 15"/>
            <p:cNvSpPr>
              <a:spLocks noChangeArrowheads="1"/>
            </p:cNvSpPr>
            <p:nvPr/>
          </p:nvSpPr>
          <p:spPr bwMode="auto">
            <a:xfrm>
              <a:off x="3351" y="3042"/>
              <a:ext cx="600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“and”</a:t>
              </a:r>
            </a:p>
          </p:txBody>
        </p:sp>
        <p:sp>
          <p:nvSpPr>
            <p:cNvPr id="19504" name="Line 16"/>
            <p:cNvSpPr>
              <a:spLocks noChangeShapeType="1"/>
            </p:cNvSpPr>
            <p:nvPr/>
          </p:nvSpPr>
          <p:spPr bwMode="auto">
            <a:xfrm flipH="1" flipV="1">
              <a:off x="3207" y="2784"/>
              <a:ext cx="336" cy="3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3109913" y="2362200"/>
            <a:ext cx="2133600" cy="1155700"/>
            <a:chOff x="1959" y="2832"/>
            <a:chExt cx="1344" cy="728"/>
          </a:xfrm>
        </p:grpSpPr>
        <p:sp>
          <p:nvSpPr>
            <p:cNvPr id="19501" name="Text Box 18"/>
            <p:cNvSpPr txBox="1">
              <a:spLocks noChangeArrowheads="1"/>
            </p:cNvSpPr>
            <p:nvPr/>
          </p:nvSpPr>
          <p:spPr bwMode="auto">
            <a:xfrm>
              <a:off x="1959" y="3042"/>
              <a:ext cx="1344" cy="5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Spin a 1 on the first spin.</a:t>
              </a:r>
            </a:p>
          </p:txBody>
        </p:sp>
        <p:sp>
          <p:nvSpPr>
            <p:cNvPr id="19502" name="Line 19"/>
            <p:cNvSpPr>
              <a:spLocks noChangeShapeType="1"/>
            </p:cNvSpPr>
            <p:nvPr/>
          </p:nvSpPr>
          <p:spPr bwMode="auto">
            <a:xfrm flipV="1">
              <a:off x="2592" y="2832"/>
              <a:ext cx="192" cy="2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5334000" y="2286000"/>
            <a:ext cx="2971800" cy="1241425"/>
            <a:chOff x="3801" y="2787"/>
            <a:chExt cx="1872" cy="782"/>
          </a:xfrm>
        </p:grpSpPr>
        <p:sp>
          <p:nvSpPr>
            <p:cNvPr id="19499" name="Text Box 21"/>
            <p:cNvSpPr txBox="1">
              <a:spLocks noChangeArrowheads="1"/>
            </p:cNvSpPr>
            <p:nvPr/>
          </p:nvSpPr>
          <p:spPr bwMode="auto">
            <a:xfrm>
              <a:off x="4041" y="3051"/>
              <a:ext cx="1632" cy="5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Spin a 2 on the second spin.</a:t>
              </a:r>
            </a:p>
          </p:txBody>
        </p:sp>
        <p:sp>
          <p:nvSpPr>
            <p:cNvPr id="19500" name="Line 22"/>
            <p:cNvSpPr>
              <a:spLocks noChangeShapeType="1"/>
            </p:cNvSpPr>
            <p:nvPr/>
          </p:nvSpPr>
          <p:spPr bwMode="auto">
            <a:xfrm flipH="1" flipV="1">
              <a:off x="3801" y="2787"/>
              <a:ext cx="462" cy="31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sp>
        <p:nvSpPr>
          <p:cNvPr id="1064983" name="Text Box 23"/>
          <p:cNvSpPr txBox="1">
            <a:spLocks noChangeArrowheads="1"/>
          </p:cNvSpPr>
          <p:nvPr/>
        </p:nvSpPr>
        <p:spPr bwMode="auto">
          <a:xfrm>
            <a:off x="5362575" y="3495675"/>
            <a:ext cx="9144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>
                <a:solidFill>
                  <a:schemeClr val="folHlink"/>
                </a:solidFill>
              </a:rPr>
              <a:t>“or”</a:t>
            </a:r>
          </a:p>
        </p:txBody>
      </p:sp>
      <p:sp>
        <p:nvSpPr>
          <p:cNvPr id="1064984" name="Text Box 24"/>
          <p:cNvSpPr txBox="1">
            <a:spLocks noChangeArrowheads="1"/>
          </p:cNvSpPr>
          <p:nvPr/>
        </p:nvSpPr>
        <p:spPr bwMode="auto">
          <a:xfrm>
            <a:off x="3033713" y="4262438"/>
            <a:ext cx="58674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folHlink"/>
                </a:solidFill>
              </a:rPr>
              <a:t>P</a:t>
            </a:r>
            <a:r>
              <a:rPr lang="en-US">
                <a:solidFill>
                  <a:schemeClr val="folHlink"/>
                </a:solidFill>
              </a:rPr>
              <a:t> (sum of 3) = 0.75 </a:t>
            </a:r>
            <a:r>
              <a:rPr lang="en-US">
                <a:solidFill>
                  <a:schemeClr val="folHlink"/>
                </a:solidFill>
                <a:sym typeface="Symbol" pitchFamily="18" charset="2"/>
              </a:rPr>
              <a:t></a:t>
            </a:r>
            <a:r>
              <a:rPr lang="en-US">
                <a:solidFill>
                  <a:schemeClr val="folHlink"/>
                </a:solidFill>
              </a:rPr>
              <a:t>  0.25 = 0.1875</a:t>
            </a: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5029200" y="4572003"/>
            <a:ext cx="952500" cy="862013"/>
            <a:chOff x="3081" y="2787"/>
            <a:chExt cx="600" cy="543"/>
          </a:xfrm>
        </p:grpSpPr>
        <p:sp>
          <p:nvSpPr>
            <p:cNvPr id="19497" name="Rectangle 26"/>
            <p:cNvSpPr>
              <a:spLocks noChangeArrowheads="1"/>
            </p:cNvSpPr>
            <p:nvPr/>
          </p:nvSpPr>
          <p:spPr bwMode="auto">
            <a:xfrm>
              <a:off x="3081" y="3042"/>
              <a:ext cx="600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“and”</a:t>
              </a:r>
            </a:p>
          </p:txBody>
        </p:sp>
        <p:sp>
          <p:nvSpPr>
            <p:cNvPr id="19498" name="Line 27"/>
            <p:cNvSpPr>
              <a:spLocks noChangeShapeType="1"/>
            </p:cNvSpPr>
            <p:nvPr/>
          </p:nvSpPr>
          <p:spPr bwMode="auto">
            <a:xfrm flipH="1" flipV="1">
              <a:off x="3081" y="2787"/>
              <a:ext cx="144" cy="303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2895600" y="4748213"/>
            <a:ext cx="2133600" cy="1050925"/>
            <a:chOff x="1737" y="2898"/>
            <a:chExt cx="1344" cy="662"/>
          </a:xfrm>
        </p:grpSpPr>
        <p:sp>
          <p:nvSpPr>
            <p:cNvPr id="19495" name="Text Box 29"/>
            <p:cNvSpPr txBox="1">
              <a:spLocks noChangeArrowheads="1"/>
            </p:cNvSpPr>
            <p:nvPr/>
          </p:nvSpPr>
          <p:spPr bwMode="auto">
            <a:xfrm>
              <a:off x="1737" y="3042"/>
              <a:ext cx="1344" cy="5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dirty="0"/>
                <a:t>Spin a 2 on the first spin.</a:t>
              </a:r>
            </a:p>
          </p:txBody>
        </p:sp>
        <p:sp>
          <p:nvSpPr>
            <p:cNvPr id="19496" name="Line 30"/>
            <p:cNvSpPr>
              <a:spLocks noChangeShapeType="1"/>
            </p:cNvSpPr>
            <p:nvPr/>
          </p:nvSpPr>
          <p:spPr bwMode="auto">
            <a:xfrm flipV="1">
              <a:off x="2601" y="2898"/>
              <a:ext cx="183" cy="22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5486400" y="4572000"/>
            <a:ext cx="3048000" cy="1241425"/>
            <a:chOff x="3369" y="2787"/>
            <a:chExt cx="1920" cy="782"/>
          </a:xfrm>
        </p:grpSpPr>
        <p:sp>
          <p:nvSpPr>
            <p:cNvPr id="19493" name="Text Box 32"/>
            <p:cNvSpPr txBox="1">
              <a:spLocks noChangeArrowheads="1"/>
            </p:cNvSpPr>
            <p:nvPr/>
          </p:nvSpPr>
          <p:spPr bwMode="auto">
            <a:xfrm>
              <a:off x="3657" y="3051"/>
              <a:ext cx="1632" cy="5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dirty="0"/>
                <a:t>Spin a 1 on the second spin.</a:t>
              </a:r>
            </a:p>
          </p:txBody>
        </p:sp>
        <p:sp>
          <p:nvSpPr>
            <p:cNvPr id="19494" name="Line 33"/>
            <p:cNvSpPr>
              <a:spLocks noChangeShapeType="1"/>
            </p:cNvSpPr>
            <p:nvPr/>
          </p:nvSpPr>
          <p:spPr bwMode="auto">
            <a:xfrm flipH="1" flipV="1">
              <a:off x="3369" y="2787"/>
              <a:ext cx="519" cy="31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1065037" name="Group 77"/>
          <p:cNvGraphicFramePr>
            <a:graphicFrameLocks noGrp="1"/>
          </p:cNvGraphicFramePr>
          <p:nvPr>
            <p:ph idx="1"/>
          </p:nvPr>
        </p:nvGraphicFramePr>
        <p:xfrm>
          <a:off x="361950" y="4495800"/>
          <a:ext cx="2381250" cy="1676400"/>
        </p:xfrm>
        <a:graphic>
          <a:graphicData uri="http://schemas.openxmlformats.org/drawingml/2006/table">
            <a:tbl>
              <a:tblPr/>
              <a:tblGrid>
                <a:gridCol w="1295400"/>
                <a:gridCol w="108585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Sum of spins,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x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P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(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</a:t>
                      </a:r>
                      <a:endParaRPr kumimoji="0" lang="en-US" sz="22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150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0.0625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0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3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4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65028" name="Rectangle 68"/>
          <p:cNvSpPr>
            <a:spLocks noChangeArrowheads="1"/>
          </p:cNvSpPr>
          <p:nvPr/>
        </p:nvSpPr>
        <p:spPr bwMode="auto">
          <a:xfrm>
            <a:off x="7392988" y="6029325"/>
            <a:ext cx="17399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Continued.</a:t>
            </a:r>
          </a:p>
        </p:txBody>
      </p:sp>
      <p:sp>
        <p:nvSpPr>
          <p:cNvPr id="1065029" name="Rectangle 69"/>
          <p:cNvSpPr>
            <a:spLocks noChangeArrowheads="1"/>
          </p:cNvSpPr>
          <p:nvPr/>
        </p:nvSpPr>
        <p:spPr bwMode="auto">
          <a:xfrm>
            <a:off x="1657350" y="5443538"/>
            <a:ext cx="884238" cy="427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sz="2200">
                <a:solidFill>
                  <a:schemeClr val="folHlink"/>
                </a:solidFill>
              </a:rPr>
              <a:t>0.375</a:t>
            </a:r>
          </a:p>
        </p:txBody>
      </p:sp>
      <p:grpSp>
        <p:nvGrpSpPr>
          <p:cNvPr id="9" name="Group 72"/>
          <p:cNvGrpSpPr>
            <a:grpSpLocks/>
          </p:cNvGrpSpPr>
          <p:nvPr/>
        </p:nvGrpSpPr>
        <p:grpSpPr bwMode="auto">
          <a:xfrm>
            <a:off x="2693988" y="5715000"/>
            <a:ext cx="2868612" cy="685800"/>
            <a:chOff x="1632" y="3600"/>
            <a:chExt cx="1807" cy="432"/>
          </a:xfrm>
        </p:grpSpPr>
        <p:sp>
          <p:nvSpPr>
            <p:cNvPr id="19491" name="Rectangle 70"/>
            <p:cNvSpPr>
              <a:spLocks noChangeArrowheads="1"/>
            </p:cNvSpPr>
            <p:nvPr/>
          </p:nvSpPr>
          <p:spPr bwMode="auto">
            <a:xfrm>
              <a:off x="1872" y="3744"/>
              <a:ext cx="1567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folHlink"/>
                  </a:solidFill>
                </a:rPr>
                <a:t>0.1875 + 0.1875 </a:t>
              </a:r>
            </a:p>
          </p:txBody>
        </p:sp>
        <p:sp>
          <p:nvSpPr>
            <p:cNvPr id="19492" name="Freeform 71"/>
            <p:cNvSpPr>
              <a:spLocks/>
            </p:cNvSpPr>
            <p:nvPr/>
          </p:nvSpPr>
          <p:spPr bwMode="auto">
            <a:xfrm>
              <a:off x="1632" y="3600"/>
              <a:ext cx="240" cy="288"/>
            </a:xfrm>
            <a:custGeom>
              <a:avLst/>
              <a:gdLst>
                <a:gd name="T0" fmla="*/ 0 w 240"/>
                <a:gd name="T1" fmla="*/ 0 h 288"/>
                <a:gd name="T2" fmla="*/ 144 w 240"/>
                <a:gd name="T3" fmla="*/ 0 h 288"/>
                <a:gd name="T4" fmla="*/ 144 w 240"/>
                <a:gd name="T5" fmla="*/ 288 h 288"/>
                <a:gd name="T6" fmla="*/ 240 w 240"/>
                <a:gd name="T7" fmla="*/ 288 h 2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288"/>
                <a:gd name="T14" fmla="*/ 240 w 240"/>
                <a:gd name="T15" fmla="*/ 288 h 2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288">
                  <a:moveTo>
                    <a:pt x="0" y="0"/>
                  </a:moveTo>
                  <a:lnTo>
                    <a:pt x="144" y="0"/>
                  </a:lnTo>
                  <a:lnTo>
                    <a:pt x="144" y="288"/>
                  </a:lnTo>
                  <a:lnTo>
                    <a:pt x="240" y="288"/>
                  </a:ln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06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83" grpId="0"/>
      <p:bldP spid="1065028" grpId="0"/>
      <p:bldP spid="10650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600" y="76200"/>
            <a:ext cx="9677400" cy="990600"/>
          </a:xfrm>
          <a:noFill/>
        </p:spPr>
        <p:txBody>
          <a:bodyPr/>
          <a:lstStyle/>
          <a:p>
            <a:pPr eaLnBrk="1" hangingPunct="1"/>
            <a:r>
              <a:rPr lang="en-US" sz="3100" b="1" dirty="0" smtClean="0"/>
              <a:t>Constructing a Discrete Probability Distribution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228600" y="1314450"/>
            <a:ext cx="86423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400" b="1" dirty="0"/>
              <a:t>Example continued</a:t>
            </a:r>
            <a:r>
              <a:rPr lang="en-US" sz="2400" dirty="0">
                <a:latin typeface="Times New Roman" pitchFamily="18" charset="0"/>
              </a:rPr>
              <a:t>: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1000" y="1981200"/>
            <a:ext cx="2133600" cy="2133600"/>
            <a:chOff x="480" y="2112"/>
            <a:chExt cx="1344" cy="1344"/>
          </a:xfrm>
        </p:grpSpPr>
        <p:sp>
          <p:nvSpPr>
            <p:cNvPr id="20515" name="Oval 5"/>
            <p:cNvSpPr>
              <a:spLocks noChangeArrowheads="1"/>
            </p:cNvSpPr>
            <p:nvPr/>
          </p:nvSpPr>
          <p:spPr bwMode="auto">
            <a:xfrm>
              <a:off x="480" y="2112"/>
              <a:ext cx="1344" cy="1344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516" name="Freeform 6"/>
            <p:cNvSpPr>
              <a:spLocks/>
            </p:cNvSpPr>
            <p:nvPr/>
          </p:nvSpPr>
          <p:spPr bwMode="auto">
            <a:xfrm>
              <a:off x="480" y="2112"/>
              <a:ext cx="672" cy="672"/>
            </a:xfrm>
            <a:custGeom>
              <a:avLst/>
              <a:gdLst>
                <a:gd name="T0" fmla="*/ 0 w 672"/>
                <a:gd name="T1" fmla="*/ 672 h 672"/>
                <a:gd name="T2" fmla="*/ 672 w 672"/>
                <a:gd name="T3" fmla="*/ 672 h 672"/>
                <a:gd name="T4" fmla="*/ 672 w 672"/>
                <a:gd name="T5" fmla="*/ 0 h 672"/>
                <a:gd name="T6" fmla="*/ 0 60000 65536"/>
                <a:gd name="T7" fmla="*/ 0 60000 65536"/>
                <a:gd name="T8" fmla="*/ 0 60000 65536"/>
                <a:gd name="T9" fmla="*/ 0 w 672"/>
                <a:gd name="T10" fmla="*/ 0 h 672"/>
                <a:gd name="T11" fmla="*/ 672 w 672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2" h="672">
                  <a:moveTo>
                    <a:pt x="0" y="672"/>
                  </a:moveTo>
                  <a:lnTo>
                    <a:pt x="672" y="672"/>
                  </a:lnTo>
                  <a:lnTo>
                    <a:pt x="672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517" name="Text Box 7"/>
            <p:cNvSpPr txBox="1">
              <a:spLocks noChangeArrowheads="1"/>
            </p:cNvSpPr>
            <p:nvPr/>
          </p:nvSpPr>
          <p:spPr bwMode="auto">
            <a:xfrm>
              <a:off x="1188" y="2808"/>
              <a:ext cx="336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2</a:t>
              </a:r>
            </a:p>
          </p:txBody>
        </p:sp>
        <p:sp>
          <p:nvSpPr>
            <p:cNvPr id="20518" name="Arc 8"/>
            <p:cNvSpPr>
              <a:spLocks/>
            </p:cNvSpPr>
            <p:nvPr/>
          </p:nvSpPr>
          <p:spPr bwMode="auto">
            <a:xfrm flipH="1">
              <a:off x="480" y="2112"/>
              <a:ext cx="672" cy="672"/>
            </a:xfrm>
            <a:custGeom>
              <a:avLst/>
              <a:gdLst>
                <a:gd name="T0" fmla="*/ 0 w 21600"/>
                <a:gd name="T1" fmla="*/ 0 h 21600"/>
                <a:gd name="T2" fmla="*/ 21 w 21600"/>
                <a:gd name="T3" fmla="*/ 21 h 21600"/>
                <a:gd name="T4" fmla="*/ 0 w 21600"/>
                <a:gd name="T5" fmla="*/ 21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hlink">
                <a:alpha val="7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519" name="Text Box 9"/>
            <p:cNvSpPr txBox="1">
              <a:spLocks noChangeArrowheads="1"/>
            </p:cNvSpPr>
            <p:nvPr/>
          </p:nvSpPr>
          <p:spPr bwMode="auto">
            <a:xfrm>
              <a:off x="819" y="2352"/>
              <a:ext cx="336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1</a:t>
              </a:r>
            </a:p>
          </p:txBody>
        </p:sp>
      </p:grpSp>
      <p:sp>
        <p:nvSpPr>
          <p:cNvPr id="20485" name="Line 10"/>
          <p:cNvSpPr>
            <a:spLocks noChangeShapeType="1"/>
          </p:cNvSpPr>
          <p:nvPr/>
        </p:nvSpPr>
        <p:spPr bwMode="auto">
          <a:xfrm flipV="1">
            <a:off x="866775" y="2514600"/>
            <a:ext cx="1190625" cy="1076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65995" name="Text Box 11"/>
          <p:cNvSpPr txBox="1">
            <a:spLocks noChangeArrowheads="1"/>
          </p:cNvSpPr>
          <p:nvPr/>
        </p:nvSpPr>
        <p:spPr bwMode="auto">
          <a:xfrm>
            <a:off x="2895600" y="2487613"/>
            <a:ext cx="58674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folHlink"/>
                </a:solidFill>
              </a:rPr>
              <a:t>P</a:t>
            </a:r>
            <a:r>
              <a:rPr lang="en-US">
                <a:solidFill>
                  <a:schemeClr val="folHlink"/>
                </a:solidFill>
              </a:rPr>
              <a:t> (sum of 4) = 0.75 </a:t>
            </a:r>
            <a:r>
              <a:rPr lang="en-US">
                <a:solidFill>
                  <a:schemeClr val="folHlink"/>
                </a:solidFill>
                <a:sym typeface="Symbol" pitchFamily="18" charset="2"/>
              </a:rPr>
              <a:t></a:t>
            </a:r>
            <a:r>
              <a:rPr lang="en-US">
                <a:solidFill>
                  <a:schemeClr val="folHlink"/>
                </a:solidFill>
              </a:rPr>
              <a:t>  0.75 = 0.5625</a:t>
            </a: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876801" y="2819403"/>
            <a:ext cx="990600" cy="839788"/>
            <a:chOff x="3072" y="2801"/>
            <a:chExt cx="624" cy="529"/>
          </a:xfrm>
        </p:grpSpPr>
        <p:sp>
          <p:nvSpPr>
            <p:cNvPr id="20513" name="Rectangle 13"/>
            <p:cNvSpPr>
              <a:spLocks noChangeArrowheads="1"/>
            </p:cNvSpPr>
            <p:nvPr/>
          </p:nvSpPr>
          <p:spPr bwMode="auto">
            <a:xfrm>
              <a:off x="3096" y="3042"/>
              <a:ext cx="600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“and”</a:t>
              </a:r>
            </a:p>
          </p:txBody>
        </p:sp>
        <p:sp>
          <p:nvSpPr>
            <p:cNvPr id="20514" name="Line 14"/>
            <p:cNvSpPr>
              <a:spLocks noChangeShapeType="1"/>
            </p:cNvSpPr>
            <p:nvPr/>
          </p:nvSpPr>
          <p:spPr bwMode="auto">
            <a:xfrm flipH="1" flipV="1">
              <a:off x="3072" y="2801"/>
              <a:ext cx="96" cy="289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2819400" y="2973388"/>
            <a:ext cx="2133600" cy="1050925"/>
            <a:chOff x="1776" y="2898"/>
            <a:chExt cx="1344" cy="662"/>
          </a:xfrm>
        </p:grpSpPr>
        <p:sp>
          <p:nvSpPr>
            <p:cNvPr id="20511" name="Text Box 16"/>
            <p:cNvSpPr txBox="1">
              <a:spLocks noChangeArrowheads="1"/>
            </p:cNvSpPr>
            <p:nvPr/>
          </p:nvSpPr>
          <p:spPr bwMode="auto">
            <a:xfrm>
              <a:off x="1776" y="3042"/>
              <a:ext cx="1344" cy="5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dirty="0"/>
                <a:t>Spin a 2 on the first spin.</a:t>
              </a:r>
            </a:p>
          </p:txBody>
        </p:sp>
        <p:sp>
          <p:nvSpPr>
            <p:cNvPr id="20512" name="Line 17"/>
            <p:cNvSpPr>
              <a:spLocks noChangeShapeType="1"/>
            </p:cNvSpPr>
            <p:nvPr/>
          </p:nvSpPr>
          <p:spPr bwMode="auto">
            <a:xfrm flipV="1">
              <a:off x="2592" y="2898"/>
              <a:ext cx="183" cy="22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5334000" y="2819400"/>
            <a:ext cx="2895600" cy="1219200"/>
            <a:chOff x="3849" y="2801"/>
            <a:chExt cx="1824" cy="768"/>
          </a:xfrm>
        </p:grpSpPr>
        <p:sp>
          <p:nvSpPr>
            <p:cNvPr id="20509" name="Text Box 19"/>
            <p:cNvSpPr txBox="1">
              <a:spLocks noChangeArrowheads="1"/>
            </p:cNvSpPr>
            <p:nvPr/>
          </p:nvSpPr>
          <p:spPr bwMode="auto">
            <a:xfrm>
              <a:off x="4041" y="3051"/>
              <a:ext cx="1632" cy="5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dirty="0"/>
                <a:t>Spin a 2 on the second spin.</a:t>
              </a:r>
            </a:p>
          </p:txBody>
        </p:sp>
        <p:sp>
          <p:nvSpPr>
            <p:cNvPr id="20510" name="Line 20"/>
            <p:cNvSpPr>
              <a:spLocks noChangeShapeType="1"/>
            </p:cNvSpPr>
            <p:nvPr/>
          </p:nvSpPr>
          <p:spPr bwMode="auto">
            <a:xfrm flipH="1" flipV="1">
              <a:off x="3849" y="2801"/>
              <a:ext cx="414" cy="30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1066039" name="Group 55"/>
          <p:cNvGraphicFramePr>
            <a:graphicFrameLocks noGrp="1"/>
          </p:cNvGraphicFramePr>
          <p:nvPr>
            <p:ph idx="1"/>
          </p:nvPr>
        </p:nvGraphicFramePr>
        <p:xfrm>
          <a:off x="361950" y="4495800"/>
          <a:ext cx="2457450" cy="1676400"/>
        </p:xfrm>
        <a:graphic>
          <a:graphicData uri="http://schemas.openxmlformats.org/drawingml/2006/table">
            <a:tbl>
              <a:tblPr/>
              <a:tblGrid>
                <a:gridCol w="1295400"/>
                <a:gridCol w="116205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Sum of spins,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x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P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(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</a:t>
                      </a:r>
                      <a:endParaRPr kumimoji="0" lang="en-US" sz="22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150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0.0625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0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3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0.375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4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66034" name="Rectangle 50"/>
          <p:cNvSpPr>
            <a:spLocks noChangeArrowheads="1"/>
          </p:cNvSpPr>
          <p:nvPr/>
        </p:nvSpPr>
        <p:spPr bwMode="auto">
          <a:xfrm>
            <a:off x="1662113" y="5776913"/>
            <a:ext cx="1039812" cy="427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sz="2200">
                <a:solidFill>
                  <a:schemeClr val="folHlink"/>
                </a:solidFill>
              </a:rPr>
              <a:t>0.5625</a:t>
            </a:r>
          </a:p>
        </p:txBody>
      </p:sp>
      <p:sp>
        <p:nvSpPr>
          <p:cNvPr id="1066040" name="Text Box 56"/>
          <p:cNvSpPr txBox="1">
            <a:spLocks noChangeArrowheads="1"/>
          </p:cNvSpPr>
          <p:nvPr/>
        </p:nvSpPr>
        <p:spPr bwMode="auto">
          <a:xfrm>
            <a:off x="3200400" y="5029200"/>
            <a:ext cx="4267200" cy="11874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Each probability is between 0 and 1, and the sum of the probabilities is 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66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60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z="3200" b="1" dirty="0" smtClean="0"/>
              <a:t>Graphing a Discrete Probability Distribution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228600" y="1314450"/>
            <a:ext cx="86423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b="1" dirty="0"/>
              <a:t>Example</a:t>
            </a:r>
            <a:r>
              <a:rPr lang="en-US" sz="2000" dirty="0">
                <a:latin typeface="Times New Roman" pitchFamily="18" charset="0"/>
              </a:rPr>
              <a:t>: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>
                <a:latin typeface="Times New Roman" pitchFamily="18" charset="0"/>
              </a:rPr>
              <a:t>Graph the following probability distribution using a histogram.</a:t>
            </a:r>
          </a:p>
        </p:txBody>
      </p:sp>
      <p:graphicFrame>
        <p:nvGraphicFramePr>
          <p:cNvPr id="1069077" name="Group 21"/>
          <p:cNvGraphicFramePr>
            <a:graphicFrameLocks noGrp="1"/>
          </p:cNvGraphicFramePr>
          <p:nvPr>
            <p:ph idx="1"/>
          </p:nvPr>
        </p:nvGraphicFramePr>
        <p:xfrm>
          <a:off x="438150" y="2363788"/>
          <a:ext cx="2457450" cy="1676400"/>
        </p:xfrm>
        <a:graphic>
          <a:graphicData uri="http://schemas.openxmlformats.org/drawingml/2006/table">
            <a:tbl>
              <a:tblPr/>
              <a:tblGrid>
                <a:gridCol w="1295400"/>
                <a:gridCol w="116205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Sum of spins,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x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P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(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</a:t>
                      </a:r>
                      <a:endParaRPr kumimoji="0" lang="en-US" sz="22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150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0.0625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0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3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0.375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4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0.5625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103"/>
          <p:cNvGrpSpPr>
            <a:grpSpLocks/>
          </p:cNvGrpSpPr>
          <p:nvPr/>
        </p:nvGrpSpPr>
        <p:grpSpPr bwMode="auto">
          <a:xfrm>
            <a:off x="3124200" y="2206625"/>
            <a:ext cx="5645150" cy="4194175"/>
            <a:chOff x="1968" y="1390"/>
            <a:chExt cx="3556" cy="2642"/>
          </a:xfrm>
        </p:grpSpPr>
        <p:grpSp>
          <p:nvGrpSpPr>
            <p:cNvPr id="3" name="Group 101"/>
            <p:cNvGrpSpPr>
              <a:grpSpLocks/>
            </p:cNvGrpSpPr>
            <p:nvPr/>
          </p:nvGrpSpPr>
          <p:grpSpPr bwMode="auto">
            <a:xfrm>
              <a:off x="1968" y="1526"/>
              <a:ext cx="3556" cy="2506"/>
              <a:chOff x="1968" y="1440"/>
              <a:chExt cx="3556" cy="2506"/>
            </a:xfrm>
          </p:grpSpPr>
          <p:grpSp>
            <p:nvGrpSpPr>
              <p:cNvPr id="4" name="Group 100"/>
              <p:cNvGrpSpPr>
                <a:grpSpLocks/>
              </p:cNvGrpSpPr>
              <p:nvPr/>
            </p:nvGrpSpPr>
            <p:grpSpPr bwMode="auto">
              <a:xfrm>
                <a:off x="1968" y="1440"/>
                <a:ext cx="3556" cy="2256"/>
                <a:chOff x="1968" y="1440"/>
                <a:chExt cx="3556" cy="2256"/>
              </a:xfrm>
            </p:grpSpPr>
            <p:sp>
              <p:nvSpPr>
                <p:cNvPr id="21530" name="Rectangle 47"/>
                <p:cNvSpPr>
                  <a:spLocks noChangeArrowheads="1"/>
                </p:cNvSpPr>
                <p:nvPr/>
              </p:nvSpPr>
              <p:spPr bwMode="auto">
                <a:xfrm>
                  <a:off x="4216" y="1881"/>
                  <a:ext cx="686" cy="1557"/>
                </a:xfrm>
                <a:prstGeom prst="rect">
                  <a:avLst/>
                </a:prstGeom>
                <a:solidFill>
                  <a:schemeClr val="folHlink">
                    <a:alpha val="50195"/>
                  </a:schemeClr>
                </a:solidFill>
                <a:ln w="11176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31" name="Rectangle 50"/>
                <p:cNvSpPr>
                  <a:spLocks noChangeArrowheads="1"/>
                </p:cNvSpPr>
                <p:nvPr/>
              </p:nvSpPr>
              <p:spPr bwMode="auto">
                <a:xfrm>
                  <a:off x="3542" y="2410"/>
                  <a:ext cx="674" cy="1028"/>
                </a:xfrm>
                <a:prstGeom prst="rect">
                  <a:avLst/>
                </a:prstGeom>
                <a:solidFill>
                  <a:schemeClr val="folHlink">
                    <a:alpha val="50195"/>
                  </a:schemeClr>
                </a:solidFill>
                <a:ln w="11176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32" name="Rectangle 53"/>
                <p:cNvSpPr>
                  <a:spLocks noChangeArrowheads="1"/>
                </p:cNvSpPr>
                <p:nvPr/>
              </p:nvSpPr>
              <p:spPr bwMode="auto">
                <a:xfrm>
                  <a:off x="2867" y="3263"/>
                  <a:ext cx="675" cy="175"/>
                </a:xfrm>
                <a:prstGeom prst="rect">
                  <a:avLst/>
                </a:prstGeom>
                <a:solidFill>
                  <a:schemeClr val="folHlink">
                    <a:alpha val="50195"/>
                  </a:schemeClr>
                </a:solidFill>
                <a:ln w="11176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33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3456" y="1440"/>
                  <a:ext cx="2005" cy="288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0"/>
                    </a:spcBef>
                  </a:pPr>
                  <a:r>
                    <a:rPr lang="en-US" altLang="en-US" b="1">
                      <a:solidFill>
                        <a:srgbClr val="000000"/>
                      </a:solidFill>
                    </a:rPr>
                    <a:t>Sum of Two Spins</a:t>
                  </a:r>
                </a:p>
              </p:txBody>
            </p:sp>
            <p:sp>
              <p:nvSpPr>
                <p:cNvPr id="21534" name="Rectangle 65"/>
                <p:cNvSpPr>
                  <a:spLocks noChangeArrowheads="1"/>
                </p:cNvSpPr>
                <p:nvPr/>
              </p:nvSpPr>
              <p:spPr bwMode="auto">
                <a:xfrm>
                  <a:off x="2357" y="3329"/>
                  <a:ext cx="71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r" eaLnBrk="0" hangingPunct="0">
                    <a:spcBef>
                      <a:spcPct val="0"/>
                    </a:spcBef>
                  </a:pPr>
                  <a:r>
                    <a:rPr lang="en-US" altLang="en-US" sz="1600">
                      <a:solidFill>
                        <a:srgbClr val="000000"/>
                      </a:solidFill>
                    </a:rPr>
                    <a:t>0</a:t>
                  </a:r>
                  <a:endParaRPr lang="en-US" altLang="en-US" sz="1600"/>
                </a:p>
              </p:txBody>
            </p:sp>
            <p:grpSp>
              <p:nvGrpSpPr>
                <p:cNvPr id="5" name="Group 94"/>
                <p:cNvGrpSpPr>
                  <a:grpSpLocks/>
                </p:cNvGrpSpPr>
                <p:nvPr/>
              </p:nvGrpSpPr>
              <p:grpSpPr bwMode="auto">
                <a:xfrm>
                  <a:off x="2226" y="2235"/>
                  <a:ext cx="386" cy="154"/>
                  <a:chOff x="2082" y="2682"/>
                  <a:chExt cx="386" cy="154"/>
                </a:xfrm>
              </p:grpSpPr>
              <p:sp>
                <p:nvSpPr>
                  <p:cNvPr id="21564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2082" y="2682"/>
                    <a:ext cx="202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r" eaLnBrk="0" hangingPunct="0">
                      <a:spcBef>
                        <a:spcPct val="0"/>
                      </a:spcBef>
                    </a:pPr>
                    <a:r>
                      <a:rPr lang="en-US" altLang="en-US" sz="1600">
                        <a:solidFill>
                          <a:srgbClr val="000000"/>
                        </a:solidFill>
                      </a:rPr>
                      <a:t>0.4</a:t>
                    </a:r>
                    <a:endParaRPr lang="en-US" altLang="en-US" sz="1600"/>
                  </a:p>
                </p:txBody>
              </p:sp>
              <p:sp>
                <p:nvSpPr>
                  <p:cNvPr id="21565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2347" y="2767"/>
                    <a:ext cx="121" cy="1"/>
                  </a:xfrm>
                  <a:prstGeom prst="line">
                    <a:avLst/>
                  </a:prstGeom>
                  <a:noFill/>
                  <a:ln w="11113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" name="Group 95"/>
                <p:cNvGrpSpPr>
                  <a:grpSpLocks/>
                </p:cNvGrpSpPr>
                <p:nvPr/>
              </p:nvGrpSpPr>
              <p:grpSpPr bwMode="auto">
                <a:xfrm>
                  <a:off x="2226" y="2520"/>
                  <a:ext cx="386" cy="154"/>
                  <a:chOff x="2082" y="2915"/>
                  <a:chExt cx="386" cy="154"/>
                </a:xfrm>
              </p:grpSpPr>
              <p:sp>
                <p:nvSpPr>
                  <p:cNvPr id="21562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2082" y="2915"/>
                    <a:ext cx="202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r" eaLnBrk="0" hangingPunct="0">
                      <a:spcBef>
                        <a:spcPct val="0"/>
                      </a:spcBef>
                    </a:pPr>
                    <a:r>
                      <a:rPr lang="en-US" altLang="en-US" sz="1600">
                        <a:solidFill>
                          <a:srgbClr val="000000"/>
                        </a:solidFill>
                      </a:rPr>
                      <a:t>0.3</a:t>
                    </a:r>
                    <a:endParaRPr lang="en-US" altLang="en-US" sz="1600"/>
                  </a:p>
                </p:txBody>
              </p:sp>
              <p:sp>
                <p:nvSpPr>
                  <p:cNvPr id="21563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2347" y="3000"/>
                    <a:ext cx="121" cy="1"/>
                  </a:xfrm>
                  <a:prstGeom prst="line">
                    <a:avLst/>
                  </a:prstGeom>
                  <a:noFill/>
                  <a:ln w="11113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" name="Group 96"/>
                <p:cNvGrpSpPr>
                  <a:grpSpLocks/>
                </p:cNvGrpSpPr>
                <p:nvPr/>
              </p:nvGrpSpPr>
              <p:grpSpPr bwMode="auto">
                <a:xfrm>
                  <a:off x="2226" y="2806"/>
                  <a:ext cx="386" cy="154"/>
                  <a:chOff x="2082" y="3149"/>
                  <a:chExt cx="386" cy="154"/>
                </a:xfrm>
              </p:grpSpPr>
              <p:sp>
                <p:nvSpPr>
                  <p:cNvPr id="21560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2082" y="3149"/>
                    <a:ext cx="202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r" eaLnBrk="0" hangingPunct="0">
                      <a:spcBef>
                        <a:spcPct val="0"/>
                      </a:spcBef>
                    </a:pPr>
                    <a:r>
                      <a:rPr lang="en-US" altLang="en-US" sz="1600">
                        <a:solidFill>
                          <a:srgbClr val="000000"/>
                        </a:solidFill>
                      </a:rPr>
                      <a:t>0.2</a:t>
                    </a:r>
                    <a:endParaRPr lang="en-US" altLang="en-US" sz="1600"/>
                  </a:p>
                </p:txBody>
              </p:sp>
              <p:sp>
                <p:nvSpPr>
                  <p:cNvPr id="21561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2347" y="3234"/>
                    <a:ext cx="121" cy="1"/>
                  </a:xfrm>
                  <a:prstGeom prst="line">
                    <a:avLst/>
                  </a:prstGeom>
                  <a:noFill/>
                  <a:ln w="11113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1538" name="Line 71"/>
                <p:cNvSpPr>
                  <a:spLocks noChangeShapeType="1"/>
                </p:cNvSpPr>
                <p:nvPr/>
              </p:nvSpPr>
              <p:spPr bwMode="auto">
                <a:xfrm>
                  <a:off x="2491" y="3431"/>
                  <a:ext cx="121" cy="3"/>
                </a:xfrm>
                <a:prstGeom prst="line">
                  <a:avLst/>
                </a:prstGeom>
                <a:noFill/>
                <a:ln w="1111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39" name="Line 72"/>
                <p:cNvSpPr>
                  <a:spLocks noChangeShapeType="1"/>
                </p:cNvSpPr>
                <p:nvPr/>
              </p:nvSpPr>
              <p:spPr bwMode="auto">
                <a:xfrm>
                  <a:off x="2612" y="1538"/>
                  <a:ext cx="1" cy="1950"/>
                </a:xfrm>
                <a:prstGeom prst="line">
                  <a:avLst/>
                </a:prstGeom>
                <a:noFill/>
                <a:ln w="11113">
                  <a:solidFill>
                    <a:srgbClr val="000000"/>
                  </a:solidFill>
                  <a:round/>
                  <a:headEnd type="triangle" w="med" len="med"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40" name="Line 73"/>
                <p:cNvSpPr>
                  <a:spLocks noChangeShapeType="1"/>
                </p:cNvSpPr>
                <p:nvPr/>
              </p:nvSpPr>
              <p:spPr bwMode="auto">
                <a:xfrm flipH="1" flipV="1">
                  <a:off x="2573" y="3436"/>
                  <a:ext cx="2737" cy="4"/>
                </a:xfrm>
                <a:prstGeom prst="line">
                  <a:avLst/>
                </a:prstGeom>
                <a:noFill/>
                <a:ln w="11113">
                  <a:solidFill>
                    <a:srgbClr val="000000"/>
                  </a:solidFill>
                  <a:round/>
                  <a:headEnd type="triangle" w="med" len="med"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41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5313" y="3299"/>
                  <a:ext cx="211" cy="269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>
                    <a:spcBef>
                      <a:spcPct val="0"/>
                    </a:spcBef>
                  </a:pPr>
                  <a:r>
                    <a:rPr lang="en-US" altLang="en-US" sz="2200" i="1">
                      <a:solidFill>
                        <a:srgbClr val="000000"/>
                      </a:solidFill>
                    </a:rPr>
                    <a:t>x</a:t>
                  </a:r>
                </a:p>
              </p:txBody>
            </p:sp>
            <p:sp>
              <p:nvSpPr>
                <p:cNvPr id="21542" name="Text Box 75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1589" y="2443"/>
                  <a:ext cx="1008" cy="250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eaLnBrk="0" hangingPunct="0"/>
                  <a:r>
                    <a:rPr kumimoji="1" lang="en-US" sz="2000"/>
                    <a:t>Probability</a:t>
                  </a:r>
                </a:p>
              </p:txBody>
            </p:sp>
            <p:grpSp>
              <p:nvGrpSpPr>
                <p:cNvPr id="8" name="Group 92"/>
                <p:cNvGrpSpPr>
                  <a:grpSpLocks/>
                </p:cNvGrpSpPr>
                <p:nvPr/>
              </p:nvGrpSpPr>
              <p:grpSpPr bwMode="auto">
                <a:xfrm>
                  <a:off x="2024" y="1664"/>
                  <a:ext cx="588" cy="154"/>
                  <a:chOff x="1880" y="2214"/>
                  <a:chExt cx="588" cy="154"/>
                </a:xfrm>
              </p:grpSpPr>
              <p:sp>
                <p:nvSpPr>
                  <p:cNvPr id="21558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2347" y="2308"/>
                    <a:ext cx="121" cy="2"/>
                  </a:xfrm>
                  <a:prstGeom prst="line">
                    <a:avLst/>
                  </a:prstGeom>
                  <a:noFill/>
                  <a:ln w="11113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1559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1880" y="2214"/>
                    <a:ext cx="404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r" eaLnBrk="0" hangingPunct="0">
                      <a:spcBef>
                        <a:spcPct val="0"/>
                      </a:spcBef>
                    </a:pPr>
                    <a:r>
                      <a:rPr lang="en-US" altLang="en-US" sz="1600">
                        <a:solidFill>
                          <a:srgbClr val="000000"/>
                        </a:solidFill>
                      </a:rPr>
                      <a:t>0.6</a:t>
                    </a:r>
                    <a:endParaRPr lang="en-US" altLang="en-US" sz="1600"/>
                  </a:p>
                </p:txBody>
              </p:sp>
            </p:grpSp>
            <p:grpSp>
              <p:nvGrpSpPr>
                <p:cNvPr id="9" name="Group 97"/>
                <p:cNvGrpSpPr>
                  <a:grpSpLocks/>
                </p:cNvGrpSpPr>
                <p:nvPr/>
              </p:nvGrpSpPr>
              <p:grpSpPr bwMode="auto">
                <a:xfrm>
                  <a:off x="2226" y="3091"/>
                  <a:ext cx="391" cy="154"/>
                  <a:chOff x="2082" y="3383"/>
                  <a:chExt cx="391" cy="154"/>
                </a:xfrm>
              </p:grpSpPr>
              <p:sp>
                <p:nvSpPr>
                  <p:cNvPr id="21556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2082" y="3383"/>
                    <a:ext cx="202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r" eaLnBrk="0" hangingPunct="0">
                      <a:spcBef>
                        <a:spcPct val="0"/>
                      </a:spcBef>
                    </a:pPr>
                    <a:r>
                      <a:rPr lang="en-US" altLang="en-US" sz="1600">
                        <a:solidFill>
                          <a:srgbClr val="000000"/>
                        </a:solidFill>
                      </a:rPr>
                      <a:t>0.1</a:t>
                    </a:r>
                    <a:endParaRPr lang="en-US" altLang="en-US" sz="1600"/>
                  </a:p>
                </p:txBody>
              </p:sp>
              <p:sp>
                <p:nvSpPr>
                  <p:cNvPr id="21557" name="Line 78"/>
                  <p:cNvSpPr>
                    <a:spLocks noChangeShapeType="1"/>
                  </p:cNvSpPr>
                  <p:nvPr/>
                </p:nvSpPr>
                <p:spPr bwMode="auto">
                  <a:xfrm>
                    <a:off x="2352" y="3476"/>
                    <a:ext cx="121" cy="1"/>
                  </a:xfrm>
                  <a:prstGeom prst="line">
                    <a:avLst/>
                  </a:prstGeom>
                  <a:noFill/>
                  <a:ln w="11113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" name="Group 93"/>
                <p:cNvGrpSpPr>
                  <a:grpSpLocks/>
                </p:cNvGrpSpPr>
                <p:nvPr/>
              </p:nvGrpSpPr>
              <p:grpSpPr bwMode="auto">
                <a:xfrm>
                  <a:off x="2024" y="1949"/>
                  <a:ext cx="593" cy="154"/>
                  <a:chOff x="1880" y="2448"/>
                  <a:chExt cx="593" cy="154"/>
                </a:xfrm>
              </p:grpSpPr>
              <p:sp>
                <p:nvSpPr>
                  <p:cNvPr id="21554" name="Rectangle 60"/>
                  <p:cNvSpPr>
                    <a:spLocks noChangeArrowheads="1"/>
                  </p:cNvSpPr>
                  <p:nvPr/>
                </p:nvSpPr>
                <p:spPr bwMode="auto">
                  <a:xfrm>
                    <a:off x="1880" y="2448"/>
                    <a:ext cx="404" cy="1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r" eaLnBrk="0" hangingPunct="0">
                      <a:spcBef>
                        <a:spcPct val="0"/>
                      </a:spcBef>
                    </a:pPr>
                    <a:r>
                      <a:rPr lang="en-US" altLang="en-US" sz="1600">
                        <a:solidFill>
                          <a:srgbClr val="000000"/>
                        </a:solidFill>
                      </a:rPr>
                      <a:t>0.5</a:t>
                    </a:r>
                    <a:endParaRPr lang="en-US" altLang="en-US" sz="1600"/>
                  </a:p>
                </p:txBody>
              </p:sp>
              <p:sp>
                <p:nvSpPr>
                  <p:cNvPr id="21555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2352" y="2542"/>
                    <a:ext cx="121" cy="1"/>
                  </a:xfrm>
                  <a:prstGeom prst="line">
                    <a:avLst/>
                  </a:prstGeom>
                  <a:noFill/>
                  <a:ln w="11113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1546" name="Line 80"/>
                <p:cNvSpPr>
                  <a:spLocks noChangeShapeType="1"/>
                </p:cNvSpPr>
                <p:nvPr/>
              </p:nvSpPr>
              <p:spPr bwMode="auto">
                <a:xfrm flipH="1">
                  <a:off x="2640" y="3335"/>
                  <a:ext cx="96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547" name="Line 81"/>
                <p:cNvSpPr>
                  <a:spLocks noChangeShapeType="1"/>
                </p:cNvSpPr>
                <p:nvPr/>
              </p:nvSpPr>
              <p:spPr bwMode="auto">
                <a:xfrm flipH="1">
                  <a:off x="2688" y="3341"/>
                  <a:ext cx="96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548" name="Rectangle 82"/>
                <p:cNvSpPr>
                  <a:spLocks noChangeArrowheads="1"/>
                </p:cNvSpPr>
                <p:nvPr/>
              </p:nvSpPr>
              <p:spPr bwMode="auto">
                <a:xfrm>
                  <a:off x="3165" y="3532"/>
                  <a:ext cx="71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>
                    <a:spcBef>
                      <a:spcPct val="0"/>
                    </a:spcBef>
                  </a:pPr>
                  <a:r>
                    <a:rPr lang="en-US" altLang="en-US" sz="1600">
                      <a:solidFill>
                        <a:srgbClr val="000000"/>
                      </a:solidFill>
                    </a:rPr>
                    <a:t>2</a:t>
                  </a:r>
                  <a:endParaRPr lang="en-US" altLang="en-US" sz="1600"/>
                </a:p>
              </p:txBody>
            </p:sp>
            <p:sp>
              <p:nvSpPr>
                <p:cNvPr id="21549" name="Rectangle 83"/>
                <p:cNvSpPr>
                  <a:spLocks noChangeArrowheads="1"/>
                </p:cNvSpPr>
                <p:nvPr/>
              </p:nvSpPr>
              <p:spPr bwMode="auto">
                <a:xfrm>
                  <a:off x="3828" y="3542"/>
                  <a:ext cx="71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>
                    <a:spcBef>
                      <a:spcPct val="0"/>
                    </a:spcBef>
                  </a:pPr>
                  <a:r>
                    <a:rPr lang="en-US" altLang="en-US" sz="1600">
                      <a:solidFill>
                        <a:srgbClr val="000000"/>
                      </a:solidFill>
                    </a:rPr>
                    <a:t>3</a:t>
                  </a:r>
                  <a:endParaRPr lang="en-US" altLang="en-US" sz="1600"/>
                </a:p>
              </p:txBody>
            </p:sp>
            <p:sp>
              <p:nvSpPr>
                <p:cNvPr id="21550" name="Rectangle 84"/>
                <p:cNvSpPr>
                  <a:spLocks noChangeArrowheads="1"/>
                </p:cNvSpPr>
                <p:nvPr/>
              </p:nvSpPr>
              <p:spPr bwMode="auto">
                <a:xfrm>
                  <a:off x="4500" y="3542"/>
                  <a:ext cx="71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>
                    <a:spcBef>
                      <a:spcPct val="0"/>
                    </a:spcBef>
                  </a:pPr>
                  <a:r>
                    <a:rPr lang="en-US" altLang="en-US" sz="1600">
                      <a:solidFill>
                        <a:srgbClr val="000000"/>
                      </a:solidFill>
                    </a:rPr>
                    <a:t>4</a:t>
                  </a:r>
                  <a:endParaRPr lang="en-US" altLang="en-US" sz="1600"/>
                </a:p>
              </p:txBody>
            </p:sp>
            <p:sp>
              <p:nvSpPr>
                <p:cNvPr id="21551" name="Line 88"/>
                <p:cNvSpPr>
                  <a:spLocks noChangeShapeType="1"/>
                </p:cNvSpPr>
                <p:nvPr/>
              </p:nvSpPr>
              <p:spPr bwMode="auto">
                <a:xfrm>
                  <a:off x="3204" y="3357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552" name="Line 89"/>
                <p:cNvSpPr>
                  <a:spLocks noChangeShapeType="1"/>
                </p:cNvSpPr>
                <p:nvPr/>
              </p:nvSpPr>
              <p:spPr bwMode="auto">
                <a:xfrm>
                  <a:off x="4560" y="3357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553" name="Line 90"/>
                <p:cNvSpPr>
                  <a:spLocks noChangeShapeType="1"/>
                </p:cNvSpPr>
                <p:nvPr/>
              </p:nvSpPr>
              <p:spPr bwMode="auto">
                <a:xfrm>
                  <a:off x="3870" y="3357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1529" name="Text Box 99"/>
              <p:cNvSpPr txBox="1">
                <a:spLocks noChangeArrowheads="1"/>
              </p:cNvSpPr>
              <p:nvPr/>
            </p:nvSpPr>
            <p:spPr bwMode="auto">
              <a:xfrm>
                <a:off x="3408" y="3696"/>
                <a:ext cx="1008" cy="250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 eaLnBrk="0" hangingPunct="0"/>
                <a:r>
                  <a:rPr kumimoji="1" lang="en-US" sz="2000"/>
                  <a:t>Sum</a:t>
                </a:r>
              </a:p>
            </p:txBody>
          </p:sp>
        </p:grpSp>
        <p:sp>
          <p:nvSpPr>
            <p:cNvPr id="21527" name="Text Box 102"/>
            <p:cNvSpPr txBox="1">
              <a:spLocks noChangeArrowheads="1"/>
            </p:cNvSpPr>
            <p:nvPr/>
          </p:nvSpPr>
          <p:spPr bwMode="auto">
            <a:xfrm>
              <a:off x="2410" y="1390"/>
              <a:ext cx="500" cy="26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en-US" sz="2200" i="1">
                  <a:solidFill>
                    <a:srgbClr val="000000"/>
                  </a:solidFill>
                </a:rPr>
                <a:t>P</a:t>
              </a:r>
              <a:r>
                <a:rPr lang="en-US" altLang="en-US" sz="2200">
                  <a:solidFill>
                    <a:srgbClr val="000000"/>
                  </a:solidFill>
                </a:rPr>
                <a:t>(</a:t>
              </a:r>
              <a:r>
                <a:rPr lang="en-US" altLang="en-US" sz="2200" i="1">
                  <a:solidFill>
                    <a:srgbClr val="000000"/>
                  </a:solidFill>
                </a:rPr>
                <a:t>x</a:t>
              </a:r>
              <a:r>
                <a:rPr lang="en-US" altLang="en-US" sz="2200">
                  <a:solidFill>
                    <a:srgbClr val="000000"/>
                  </a:solidFill>
                </a:rPr>
                <a:t>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en-US" b="1" dirty="0" smtClean="0"/>
              <a:t>Mean</a:t>
            </a:r>
          </a:p>
        </p:txBody>
      </p:sp>
      <p:sp>
        <p:nvSpPr>
          <p:cNvPr id="1067049" name="Rectangle 41"/>
          <p:cNvSpPr>
            <a:spLocks noChangeArrowheads="1"/>
          </p:cNvSpPr>
          <p:nvPr/>
        </p:nvSpPr>
        <p:spPr bwMode="auto">
          <a:xfrm>
            <a:off x="304800" y="1219200"/>
            <a:ext cx="8610600" cy="196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000099"/>
                </a:solidFill>
              </a:rPr>
              <a:t>mean </a:t>
            </a:r>
            <a:r>
              <a:rPr lang="en-US" sz="2400" dirty="0"/>
              <a:t>of a discrete random variable is given </a:t>
            </a:r>
            <a:r>
              <a:rPr lang="en-US" sz="2400" dirty="0" smtClean="0"/>
              <a:t>by</a:t>
            </a:r>
            <a:endParaRPr lang="en-US" sz="2400" dirty="0"/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400" i="1" dirty="0"/>
              <a:t>	</a:t>
            </a:r>
            <a:r>
              <a:rPr lang="el-GR" sz="2400" i="1" dirty="0"/>
              <a:t>μ</a:t>
            </a:r>
            <a:r>
              <a:rPr lang="en-US" sz="2400" i="1" dirty="0"/>
              <a:t> = </a:t>
            </a:r>
            <a:r>
              <a:rPr lang="el-GR" sz="2400" dirty="0"/>
              <a:t>Σ</a:t>
            </a:r>
            <a:r>
              <a:rPr lang="en-US" sz="2400" i="1" dirty="0"/>
              <a:t>xP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 smtClean="0"/>
              <a:t>).</a:t>
            </a:r>
            <a:endParaRPr lang="el-GR" sz="2400" dirty="0"/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400" dirty="0"/>
              <a:t>Each value of </a:t>
            </a:r>
            <a:r>
              <a:rPr lang="en-US" sz="2400" i="1" dirty="0"/>
              <a:t>x</a:t>
            </a:r>
            <a:r>
              <a:rPr lang="en-US" sz="2400" dirty="0"/>
              <a:t> is multiplied by its corresponding probability and the products are added.</a:t>
            </a:r>
          </a:p>
        </p:txBody>
      </p:sp>
      <p:graphicFrame>
        <p:nvGraphicFramePr>
          <p:cNvPr id="1067229" name="Group 221"/>
          <p:cNvGraphicFramePr>
            <a:graphicFrameLocks noGrp="1"/>
          </p:cNvGraphicFramePr>
          <p:nvPr>
            <p:ph sz="half" idx="2"/>
          </p:nvPr>
        </p:nvGraphicFramePr>
        <p:xfrm>
          <a:off x="762000" y="4649788"/>
          <a:ext cx="1752600" cy="1706880"/>
        </p:xfrm>
        <a:graphic>
          <a:graphicData uri="http://schemas.openxmlformats.org/drawingml/2006/table">
            <a:tbl>
              <a:tblPr/>
              <a:tblGrid>
                <a:gridCol w="609600"/>
                <a:gridCol w="11430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P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(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</a:t>
                      </a:r>
                      <a:endParaRPr kumimoji="0" lang="en-US" sz="22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0.0625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0.375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0.5625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67146" name="Rectangle 138"/>
          <p:cNvSpPr>
            <a:spLocks noChangeArrowheads="1"/>
          </p:cNvSpPr>
          <p:nvPr/>
        </p:nvSpPr>
        <p:spPr bwMode="auto">
          <a:xfrm>
            <a:off x="304800" y="3276600"/>
            <a:ext cx="86423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b="1" dirty="0"/>
              <a:t>Example</a:t>
            </a:r>
            <a:r>
              <a:rPr lang="en-US" sz="2000" dirty="0">
                <a:latin typeface="Times New Roman" pitchFamily="18" charset="0"/>
              </a:rPr>
              <a:t>: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/>
              <a:t>Find the mean of the probability distribution for the sum of the two spins.</a:t>
            </a:r>
          </a:p>
        </p:txBody>
      </p:sp>
      <p:graphicFrame>
        <p:nvGraphicFramePr>
          <p:cNvPr id="1067225" name="Group 217"/>
          <p:cNvGraphicFramePr>
            <a:graphicFrameLocks noGrp="1"/>
          </p:cNvGraphicFramePr>
          <p:nvPr/>
        </p:nvGraphicFramePr>
        <p:xfrm>
          <a:off x="2524125" y="4643438"/>
          <a:ext cx="2657475" cy="1706880"/>
        </p:xfrm>
        <a:graphic>
          <a:graphicData uri="http://schemas.openxmlformats.org/drawingml/2006/table">
            <a:tbl>
              <a:tblPr/>
              <a:tblGrid>
                <a:gridCol w="2657475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xP</a:t>
                      </a:r>
                      <a:r>
                        <a:rPr kumimoji="0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(</a:t>
                      </a:r>
                      <a:r>
                        <a:rPr kumimoji="0" lang="en-US" sz="2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  <a:r>
                        <a:rPr kumimoji="0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</a:t>
                      </a:r>
                      <a:endParaRPr kumimoji="0" lang="en-US" sz="22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2(0.0625) = 0.125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3(0.375)   = 1.125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4(0.5625) = 2.25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67198" name="Rectangle 190"/>
          <p:cNvSpPr>
            <a:spLocks noChangeArrowheads="1"/>
          </p:cNvSpPr>
          <p:nvPr/>
        </p:nvSpPr>
        <p:spPr bwMode="auto">
          <a:xfrm>
            <a:off x="5649913" y="5029200"/>
            <a:ext cx="18796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l-GR">
                <a:solidFill>
                  <a:schemeClr val="folHlink"/>
                </a:solidFill>
              </a:rPr>
              <a:t>Σ</a:t>
            </a:r>
            <a:r>
              <a:rPr lang="en-US" i="1">
                <a:solidFill>
                  <a:schemeClr val="folHlink"/>
                </a:solidFill>
              </a:rPr>
              <a:t>xP</a:t>
            </a:r>
            <a:r>
              <a:rPr lang="en-US">
                <a:solidFill>
                  <a:schemeClr val="folHlink"/>
                </a:solidFill>
              </a:rPr>
              <a:t>(</a:t>
            </a:r>
            <a:r>
              <a:rPr lang="en-US" i="1">
                <a:solidFill>
                  <a:schemeClr val="folHlink"/>
                </a:solidFill>
              </a:rPr>
              <a:t>x</a:t>
            </a:r>
            <a:r>
              <a:rPr lang="en-US">
                <a:solidFill>
                  <a:schemeClr val="folHlink"/>
                </a:solidFill>
              </a:rPr>
              <a:t>) = 3.5</a:t>
            </a:r>
          </a:p>
        </p:txBody>
      </p:sp>
      <p:sp>
        <p:nvSpPr>
          <p:cNvPr id="1067199" name="AutoShape 191"/>
          <p:cNvSpPr>
            <a:spLocks/>
          </p:cNvSpPr>
          <p:nvPr/>
        </p:nvSpPr>
        <p:spPr bwMode="auto">
          <a:xfrm>
            <a:off x="5257800" y="5105400"/>
            <a:ext cx="228600" cy="1219200"/>
          </a:xfrm>
          <a:prstGeom prst="rightBrace">
            <a:avLst>
              <a:gd name="adj1" fmla="val 44444"/>
              <a:gd name="adj2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67200" name="Rectangle 192"/>
          <p:cNvSpPr>
            <a:spLocks noChangeArrowheads="1"/>
          </p:cNvSpPr>
          <p:nvPr/>
        </p:nvSpPr>
        <p:spPr bwMode="auto">
          <a:xfrm>
            <a:off x="5715000" y="5562600"/>
            <a:ext cx="2805113" cy="822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folHlink"/>
                </a:solidFill>
              </a:rPr>
              <a:t>The mean for the two spins is 3.5.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67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670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6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106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6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06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6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7049" grpId="0" build="p"/>
      <p:bldP spid="1067146" grpId="0"/>
      <p:bldP spid="1067198" grpId="0"/>
      <p:bldP spid="1067199" grpId="0" animBg="1"/>
      <p:bldP spid="106720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en-US" b="1" dirty="0" smtClean="0"/>
              <a:t>Variance</a:t>
            </a:r>
          </a:p>
        </p:txBody>
      </p:sp>
      <p:sp>
        <p:nvSpPr>
          <p:cNvPr id="1070083" name="Rectangle 3"/>
          <p:cNvSpPr>
            <a:spLocks noChangeArrowheads="1"/>
          </p:cNvSpPr>
          <p:nvPr/>
        </p:nvSpPr>
        <p:spPr bwMode="auto">
          <a:xfrm>
            <a:off x="304800" y="1219200"/>
            <a:ext cx="8610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800" dirty="0"/>
              <a:t>The </a:t>
            </a:r>
            <a:r>
              <a:rPr lang="en-US" sz="2800" b="1" dirty="0">
                <a:solidFill>
                  <a:srgbClr val="000099"/>
                </a:solidFill>
              </a:rPr>
              <a:t>variance </a:t>
            </a:r>
            <a:r>
              <a:rPr lang="en-US" sz="2800" dirty="0"/>
              <a:t>of a discrete random variable is given by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endParaRPr lang="en-US" sz="900" dirty="0"/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800" i="1" dirty="0"/>
              <a:t>		</a:t>
            </a:r>
            <a:r>
              <a:rPr lang="en-US" sz="2800" i="1" dirty="0">
                <a:sym typeface="Symbol" pitchFamily="18" charset="2"/>
              </a:rPr>
              <a:t></a:t>
            </a:r>
            <a:r>
              <a:rPr lang="en-US" sz="2800" baseline="30000" dirty="0">
                <a:sym typeface="Symbol" pitchFamily="18" charset="2"/>
              </a:rPr>
              <a:t>2 </a:t>
            </a:r>
            <a:r>
              <a:rPr lang="en-US" sz="2800" dirty="0">
                <a:sym typeface="Symbol" pitchFamily="18" charset="2"/>
              </a:rPr>
              <a:t>= </a:t>
            </a:r>
            <a:r>
              <a:rPr lang="el-GR" sz="2800" dirty="0"/>
              <a:t>Σ</a:t>
            </a:r>
            <a:r>
              <a:rPr lang="en-US" sz="2800" dirty="0"/>
              <a:t>(</a:t>
            </a:r>
            <a:r>
              <a:rPr lang="en-US" sz="2800" i="1" dirty="0"/>
              <a:t>x – </a:t>
            </a:r>
            <a:r>
              <a:rPr lang="el-GR" sz="2800" i="1" dirty="0"/>
              <a:t>μ</a:t>
            </a:r>
            <a:r>
              <a:rPr lang="en-US" sz="2800" dirty="0"/>
              <a:t>)</a:t>
            </a:r>
            <a:r>
              <a:rPr lang="en-US" sz="2800" baseline="30000" dirty="0"/>
              <a:t>2</a:t>
            </a:r>
            <a:r>
              <a:rPr lang="en-US" sz="2800" i="1" dirty="0"/>
              <a:t>P </a:t>
            </a:r>
            <a:r>
              <a:rPr lang="en-US" sz="2800" dirty="0"/>
              <a:t>(</a:t>
            </a:r>
            <a:r>
              <a:rPr lang="en-US" sz="2800" i="1" dirty="0"/>
              <a:t>x</a:t>
            </a:r>
            <a:r>
              <a:rPr lang="en-US" sz="2800" dirty="0"/>
              <a:t>).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endParaRPr lang="el-GR" sz="900" dirty="0"/>
          </a:p>
        </p:txBody>
      </p:sp>
      <p:graphicFrame>
        <p:nvGraphicFramePr>
          <p:cNvPr id="1070084" name="Group 4"/>
          <p:cNvGraphicFramePr>
            <a:graphicFrameLocks noGrp="1"/>
          </p:cNvGraphicFramePr>
          <p:nvPr>
            <p:ph sz="half" idx="2"/>
          </p:nvPr>
        </p:nvGraphicFramePr>
        <p:xfrm>
          <a:off x="381000" y="4165600"/>
          <a:ext cx="1752600" cy="1706880"/>
        </p:xfrm>
        <a:graphic>
          <a:graphicData uri="http://schemas.openxmlformats.org/drawingml/2006/table">
            <a:tbl>
              <a:tblPr/>
              <a:tblGrid>
                <a:gridCol w="609600"/>
                <a:gridCol w="11430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P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(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</a:t>
                      </a:r>
                      <a:endParaRPr kumimoji="0" lang="en-US" sz="22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0.0625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0.375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0.5625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70102" name="Rectangle 22"/>
          <p:cNvSpPr>
            <a:spLocks noChangeArrowheads="1"/>
          </p:cNvSpPr>
          <p:nvPr/>
        </p:nvSpPr>
        <p:spPr bwMode="auto">
          <a:xfrm>
            <a:off x="304800" y="2546350"/>
            <a:ext cx="86423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b="1" dirty="0"/>
              <a:t>Example</a:t>
            </a:r>
            <a:r>
              <a:rPr lang="en-US" sz="2000" dirty="0">
                <a:latin typeface="Times New Roman" pitchFamily="18" charset="0"/>
              </a:rPr>
              <a:t>: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/>
              <a:t>Find the variance of the probability distribution for the sum of the two spins.  The mean is 3.5.</a:t>
            </a:r>
          </a:p>
        </p:txBody>
      </p:sp>
      <p:graphicFrame>
        <p:nvGraphicFramePr>
          <p:cNvPr id="1070127" name="Group 47"/>
          <p:cNvGraphicFramePr>
            <a:graphicFrameLocks noGrp="1"/>
          </p:cNvGraphicFramePr>
          <p:nvPr/>
        </p:nvGraphicFramePr>
        <p:xfrm>
          <a:off x="2143125" y="4159250"/>
          <a:ext cx="981075" cy="1706880"/>
        </p:xfrm>
        <a:graphic>
          <a:graphicData uri="http://schemas.openxmlformats.org/drawingml/2006/table">
            <a:tbl>
              <a:tblPr/>
              <a:tblGrid>
                <a:gridCol w="981075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 – </a:t>
                      </a:r>
                      <a:r>
                        <a:rPr kumimoji="0" lang="el-GR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μ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–1.5</a:t>
                      </a:r>
                    </a:p>
                  </a:txBody>
                  <a:tcPr marR="3200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–0.5</a:t>
                      </a:r>
                    </a:p>
                  </a:txBody>
                  <a:tcPr marR="3200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0.5</a:t>
                      </a:r>
                    </a:p>
                  </a:txBody>
                  <a:tcPr marR="3200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0159" name="Group 79"/>
          <p:cNvGraphicFramePr>
            <a:graphicFrameLocks noGrp="1"/>
          </p:cNvGraphicFramePr>
          <p:nvPr/>
        </p:nvGraphicFramePr>
        <p:xfrm>
          <a:off x="3128963" y="4159250"/>
          <a:ext cx="1138237" cy="1706880"/>
        </p:xfrm>
        <a:graphic>
          <a:graphicData uri="http://schemas.openxmlformats.org/drawingml/2006/table">
            <a:tbl>
              <a:tblPr/>
              <a:tblGrid>
                <a:gridCol w="1138237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(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 – </a:t>
                      </a:r>
                      <a:r>
                        <a:rPr kumimoji="0" lang="el-GR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μ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</a:t>
                      </a:r>
                      <a:r>
                        <a:rPr kumimoji="0" lang="en-US" sz="2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2.25</a:t>
                      </a:r>
                    </a:p>
                  </a:txBody>
                  <a:tcPr marR="3200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0.25</a:t>
                      </a:r>
                    </a:p>
                  </a:txBody>
                  <a:tcPr marR="3200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0.25</a:t>
                      </a:r>
                    </a:p>
                  </a:txBody>
                  <a:tcPr marR="3200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0180" name="Group 100"/>
          <p:cNvGraphicFramePr>
            <a:graphicFrameLocks noGrp="1"/>
          </p:cNvGraphicFramePr>
          <p:nvPr/>
        </p:nvGraphicFramePr>
        <p:xfrm>
          <a:off x="4286250" y="4159250"/>
          <a:ext cx="1809750" cy="1706880"/>
        </p:xfrm>
        <a:graphic>
          <a:graphicData uri="http://schemas.openxmlformats.org/drawingml/2006/table">
            <a:tbl>
              <a:tblPr/>
              <a:tblGrid>
                <a:gridCol w="180975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P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(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)(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 – </a:t>
                      </a:r>
                      <a:r>
                        <a:rPr kumimoji="0" lang="el-GR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μ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</a:t>
                      </a:r>
                      <a:r>
                        <a:rPr kumimoji="0" lang="en-US" sz="2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sym typeface="Symbol" pitchFamily="18" charset="2"/>
                        </a:rPr>
                        <a:t> 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0.141</a:t>
                      </a:r>
                    </a:p>
                  </a:txBody>
                  <a:tcPr marR="5486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sym typeface="Symbol" pitchFamily="18" charset="2"/>
                        </a:rPr>
                        <a:t>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0.094</a:t>
                      </a:r>
                    </a:p>
                  </a:txBody>
                  <a:tcPr marR="5486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sym typeface="Symbol" pitchFamily="18" charset="2"/>
                        </a:rPr>
                        <a:t>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0.141</a:t>
                      </a:r>
                    </a:p>
                  </a:txBody>
                  <a:tcPr marR="5486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70181" name="Rectangle 101"/>
          <p:cNvSpPr>
            <a:spLocks noChangeArrowheads="1"/>
          </p:cNvSpPr>
          <p:nvPr/>
        </p:nvSpPr>
        <p:spPr bwMode="auto">
          <a:xfrm>
            <a:off x="6219825" y="4070350"/>
            <a:ext cx="19272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l-GR">
                <a:solidFill>
                  <a:schemeClr val="folHlink"/>
                </a:solidFill>
              </a:rPr>
              <a:t>Σ</a:t>
            </a:r>
            <a:r>
              <a:rPr lang="en-US" i="1">
                <a:solidFill>
                  <a:schemeClr val="folHlink"/>
                </a:solidFill>
              </a:rPr>
              <a:t>P</a:t>
            </a:r>
            <a:r>
              <a:rPr lang="en-US">
                <a:solidFill>
                  <a:schemeClr val="folHlink"/>
                </a:solidFill>
              </a:rPr>
              <a:t>(</a:t>
            </a:r>
            <a:r>
              <a:rPr lang="en-US" i="1">
                <a:solidFill>
                  <a:schemeClr val="folHlink"/>
                </a:solidFill>
              </a:rPr>
              <a:t>x</a:t>
            </a:r>
            <a:r>
              <a:rPr lang="en-US">
                <a:solidFill>
                  <a:schemeClr val="folHlink"/>
                </a:solidFill>
              </a:rPr>
              <a:t>)(</a:t>
            </a:r>
            <a:r>
              <a:rPr lang="en-US" i="1">
                <a:solidFill>
                  <a:schemeClr val="folHlink"/>
                </a:solidFill>
              </a:rPr>
              <a:t>x</a:t>
            </a:r>
            <a:r>
              <a:rPr lang="en-US">
                <a:solidFill>
                  <a:schemeClr val="folHlink"/>
                </a:solidFill>
              </a:rPr>
              <a:t> – 2)</a:t>
            </a:r>
            <a:r>
              <a:rPr lang="en-US" baseline="30000">
                <a:solidFill>
                  <a:schemeClr val="folHlink"/>
                </a:solidFill>
              </a:rPr>
              <a:t>2</a:t>
            </a:r>
            <a:endParaRPr lang="en-US">
              <a:solidFill>
                <a:schemeClr val="folHlink"/>
              </a:solidFill>
            </a:endParaRPr>
          </a:p>
        </p:txBody>
      </p:sp>
      <p:sp>
        <p:nvSpPr>
          <p:cNvPr id="1070182" name="Rectangle 102"/>
          <p:cNvSpPr>
            <a:spLocks noChangeArrowheads="1"/>
          </p:cNvSpPr>
          <p:nvPr/>
        </p:nvSpPr>
        <p:spPr bwMode="auto">
          <a:xfrm>
            <a:off x="6219825" y="5211763"/>
            <a:ext cx="2849563" cy="1096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200">
                <a:solidFill>
                  <a:schemeClr val="folHlink"/>
                </a:solidFill>
              </a:rPr>
              <a:t>The variance for the two spins is approximately 0.376</a:t>
            </a:r>
          </a:p>
        </p:txBody>
      </p:sp>
      <p:sp>
        <p:nvSpPr>
          <p:cNvPr id="1070183" name="Rectangle 103"/>
          <p:cNvSpPr>
            <a:spLocks noChangeArrowheads="1"/>
          </p:cNvSpPr>
          <p:nvPr/>
        </p:nvSpPr>
        <p:spPr bwMode="auto">
          <a:xfrm>
            <a:off x="7164388" y="4524375"/>
            <a:ext cx="119856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folHlink"/>
                </a:solidFill>
                <a:sym typeface="Symbol" pitchFamily="18" charset="2"/>
              </a:rPr>
              <a:t></a:t>
            </a:r>
            <a:r>
              <a:rPr lang="en-US">
                <a:solidFill>
                  <a:schemeClr val="folHlink"/>
                </a:solidFill>
              </a:rPr>
              <a:t> 0.376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7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7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07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070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07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07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07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7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083" grpId="0" build="p"/>
      <p:bldP spid="1070102" grpId="0"/>
      <p:bldP spid="1070181" grpId="0"/>
      <p:bldP spid="1070182" grpId="0"/>
      <p:bldP spid="107018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en-US" b="1" dirty="0" smtClean="0"/>
              <a:t>Standard Deviation</a:t>
            </a:r>
          </a:p>
        </p:txBody>
      </p:sp>
      <p:graphicFrame>
        <p:nvGraphicFramePr>
          <p:cNvPr id="1072132" name="Group 4"/>
          <p:cNvGraphicFramePr>
            <a:graphicFrameLocks noGrp="1"/>
          </p:cNvGraphicFramePr>
          <p:nvPr>
            <p:ph sz="half" idx="2"/>
          </p:nvPr>
        </p:nvGraphicFramePr>
        <p:xfrm>
          <a:off x="457200" y="4318000"/>
          <a:ext cx="1752600" cy="1706880"/>
        </p:xfrm>
        <a:graphic>
          <a:graphicData uri="http://schemas.openxmlformats.org/drawingml/2006/table">
            <a:tbl>
              <a:tblPr/>
              <a:tblGrid>
                <a:gridCol w="609600"/>
                <a:gridCol w="11430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P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(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</a:t>
                      </a:r>
                      <a:endParaRPr kumimoji="0" lang="en-US" sz="22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0.0625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0.375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0.5625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7" name="Rectangle 3"/>
          <p:cNvSpPr>
            <a:spLocks noChangeArrowheads="1"/>
          </p:cNvSpPr>
          <p:nvPr/>
        </p:nvSpPr>
        <p:spPr bwMode="auto">
          <a:xfrm>
            <a:off x="304800" y="1219200"/>
            <a:ext cx="8610600" cy="196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endParaRPr lang="el-GR" sz="800" dirty="0"/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000099"/>
                </a:solidFill>
              </a:rPr>
              <a:t>standard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99"/>
                </a:solidFill>
              </a:rPr>
              <a:t>deviation</a:t>
            </a:r>
            <a:r>
              <a:rPr lang="en-US" sz="2400" dirty="0"/>
              <a:t> of a discrete random variable is given by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endParaRPr lang="en-US" sz="800" dirty="0"/>
          </a:p>
        </p:txBody>
      </p:sp>
      <p:sp>
        <p:nvSpPr>
          <p:cNvPr id="1072149" name="Rectangle 21"/>
          <p:cNvSpPr>
            <a:spLocks noChangeArrowheads="1"/>
          </p:cNvSpPr>
          <p:nvPr/>
        </p:nvSpPr>
        <p:spPr bwMode="auto">
          <a:xfrm>
            <a:off x="304800" y="2743200"/>
            <a:ext cx="86423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b="1" dirty="0"/>
              <a:t>Example</a:t>
            </a:r>
            <a:r>
              <a:rPr lang="en-US" sz="2000" dirty="0">
                <a:latin typeface="Times New Roman" pitchFamily="18" charset="0"/>
              </a:rPr>
              <a:t>: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/>
              <a:t>Find the standard deviation of the probability distribution for the sum of the two spins.  The variance is 0.376.</a:t>
            </a:r>
          </a:p>
        </p:txBody>
      </p:sp>
      <p:graphicFrame>
        <p:nvGraphicFramePr>
          <p:cNvPr id="1072150" name="Group 22"/>
          <p:cNvGraphicFramePr>
            <a:graphicFrameLocks noGrp="1"/>
          </p:cNvGraphicFramePr>
          <p:nvPr/>
        </p:nvGraphicFramePr>
        <p:xfrm>
          <a:off x="2219325" y="4311650"/>
          <a:ext cx="981075" cy="1706880"/>
        </p:xfrm>
        <a:graphic>
          <a:graphicData uri="http://schemas.openxmlformats.org/drawingml/2006/table">
            <a:tbl>
              <a:tblPr/>
              <a:tblGrid>
                <a:gridCol w="981075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 – </a:t>
                      </a:r>
                      <a:r>
                        <a:rPr kumimoji="0" lang="el-GR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μ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–1.5</a:t>
                      </a:r>
                    </a:p>
                  </a:txBody>
                  <a:tcPr marR="3200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–0.5</a:t>
                      </a:r>
                    </a:p>
                  </a:txBody>
                  <a:tcPr marR="3200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0.5</a:t>
                      </a:r>
                    </a:p>
                  </a:txBody>
                  <a:tcPr marR="3200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2164" name="Object 36"/>
          <p:cNvGraphicFramePr>
            <a:graphicFrameLocks noChangeAspect="1"/>
          </p:cNvGraphicFramePr>
          <p:nvPr/>
        </p:nvGraphicFramePr>
        <p:xfrm>
          <a:off x="2057400" y="2085975"/>
          <a:ext cx="1181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4" imgW="1180800" imgH="444240" progId="">
                  <p:embed/>
                </p:oleObj>
              </mc:Choice>
              <mc:Fallback>
                <p:oleObj name="Equation" r:id="rId4" imgW="1180800" imgH="444240" progId="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85975"/>
                        <a:ext cx="11811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2165" name="Group 37"/>
          <p:cNvGraphicFramePr>
            <a:graphicFrameLocks noGrp="1"/>
          </p:cNvGraphicFramePr>
          <p:nvPr/>
        </p:nvGraphicFramePr>
        <p:xfrm>
          <a:off x="3205163" y="4311650"/>
          <a:ext cx="1138237" cy="1706880"/>
        </p:xfrm>
        <a:graphic>
          <a:graphicData uri="http://schemas.openxmlformats.org/drawingml/2006/table">
            <a:tbl>
              <a:tblPr/>
              <a:tblGrid>
                <a:gridCol w="1138237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(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 – </a:t>
                      </a:r>
                      <a:r>
                        <a:rPr kumimoji="0" lang="el-GR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μ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</a:t>
                      </a:r>
                      <a:r>
                        <a:rPr kumimoji="0" lang="en-US" sz="2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2.25</a:t>
                      </a:r>
                    </a:p>
                  </a:txBody>
                  <a:tcPr marR="3200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0.25</a:t>
                      </a:r>
                    </a:p>
                  </a:txBody>
                  <a:tcPr marR="3200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0.25</a:t>
                      </a:r>
                    </a:p>
                  </a:txBody>
                  <a:tcPr marR="3200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2179" name="Group 51"/>
          <p:cNvGraphicFramePr>
            <a:graphicFrameLocks noGrp="1"/>
          </p:cNvGraphicFramePr>
          <p:nvPr/>
        </p:nvGraphicFramePr>
        <p:xfrm>
          <a:off x="4362450" y="4311650"/>
          <a:ext cx="1809750" cy="1706880"/>
        </p:xfrm>
        <a:graphic>
          <a:graphicData uri="http://schemas.openxmlformats.org/drawingml/2006/table">
            <a:tbl>
              <a:tblPr/>
              <a:tblGrid>
                <a:gridCol w="180975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P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(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)(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 – </a:t>
                      </a:r>
                      <a:r>
                        <a:rPr kumimoji="0" lang="el-GR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μ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</a:t>
                      </a:r>
                      <a:r>
                        <a:rPr kumimoji="0" lang="en-US" sz="2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2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0.141</a:t>
                      </a:r>
                    </a:p>
                  </a:txBody>
                  <a:tcPr marR="5486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0.094</a:t>
                      </a:r>
                    </a:p>
                  </a:txBody>
                  <a:tcPr marR="5486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0.141</a:t>
                      </a:r>
                    </a:p>
                  </a:txBody>
                  <a:tcPr marR="54864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72194" name="Rectangle 66"/>
          <p:cNvSpPr>
            <a:spLocks noChangeArrowheads="1"/>
          </p:cNvSpPr>
          <p:nvPr/>
        </p:nvSpPr>
        <p:spPr bwMode="auto">
          <a:xfrm>
            <a:off x="6438900" y="4967288"/>
            <a:ext cx="2805113" cy="1431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200">
                <a:solidFill>
                  <a:schemeClr val="folHlink"/>
                </a:solidFill>
              </a:rPr>
              <a:t>Most of the sums differ from the mean by no more than 0.6 points.</a:t>
            </a:r>
          </a:p>
        </p:txBody>
      </p:sp>
      <p:graphicFrame>
        <p:nvGraphicFramePr>
          <p:cNvPr id="1072195" name="Object 67"/>
          <p:cNvGraphicFramePr>
            <a:graphicFrameLocks noGrp="1" noChangeAspect="1"/>
          </p:cNvGraphicFramePr>
          <p:nvPr>
            <p:ph sz="half" idx="1"/>
          </p:nvPr>
        </p:nvGraphicFramePr>
        <p:xfrm>
          <a:off x="6672263" y="4086225"/>
          <a:ext cx="10064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6" imgW="1091880" imgH="444240" progId="">
                  <p:embed/>
                </p:oleObj>
              </mc:Choice>
              <mc:Fallback>
                <p:oleObj name="Equation" r:id="rId6" imgW="1091880" imgH="444240" progId="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4086225"/>
                        <a:ext cx="1006475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2197" name="Object 69"/>
          <p:cNvGraphicFramePr>
            <a:graphicFrameLocks noChangeAspect="1"/>
          </p:cNvGraphicFramePr>
          <p:nvPr/>
        </p:nvGraphicFramePr>
        <p:xfrm>
          <a:off x="6918325" y="4572000"/>
          <a:ext cx="21209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8" imgW="2311200" imgH="393480" progId="">
                  <p:embed/>
                </p:oleObj>
              </mc:Choice>
              <mc:Fallback>
                <p:oleObj name="Equation" r:id="rId8" imgW="2311200" imgH="393480" progId="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325" y="4572000"/>
                        <a:ext cx="2120900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7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7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7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07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07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149" grpId="0"/>
      <p:bldP spid="107219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en-US" b="1" dirty="0" smtClean="0"/>
              <a:t>Expected Value</a:t>
            </a:r>
          </a:p>
        </p:txBody>
      </p:sp>
      <p:sp>
        <p:nvSpPr>
          <p:cNvPr id="1073155" name="Rectangle 3"/>
          <p:cNvSpPr>
            <a:spLocks noChangeArrowheads="1"/>
          </p:cNvSpPr>
          <p:nvPr/>
        </p:nvSpPr>
        <p:spPr bwMode="auto">
          <a:xfrm>
            <a:off x="304800" y="1219200"/>
            <a:ext cx="8610600" cy="150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000099"/>
                </a:solidFill>
              </a:rPr>
              <a:t>expected value </a:t>
            </a:r>
            <a:r>
              <a:rPr lang="en-US" sz="2400" dirty="0"/>
              <a:t>of a discrete random variable is equal to the mean of the random variable.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endParaRPr lang="en-US" sz="800" dirty="0"/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400" i="1" dirty="0"/>
              <a:t>	</a:t>
            </a:r>
            <a:r>
              <a:rPr lang="en-US" sz="2400" dirty="0"/>
              <a:t>Expected Value = </a:t>
            </a:r>
            <a:r>
              <a:rPr lang="en-US" sz="2400" i="1" dirty="0"/>
              <a:t>E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) = </a:t>
            </a:r>
            <a:r>
              <a:rPr lang="el-GR" sz="2400" i="1" dirty="0"/>
              <a:t>μ</a:t>
            </a:r>
            <a:r>
              <a:rPr lang="en-US" sz="2400" i="1" dirty="0"/>
              <a:t> </a:t>
            </a:r>
            <a:r>
              <a:rPr lang="en-US" sz="2400" dirty="0"/>
              <a:t>=</a:t>
            </a:r>
            <a:r>
              <a:rPr lang="en-US" sz="2400" i="1" dirty="0"/>
              <a:t> </a:t>
            </a:r>
            <a:r>
              <a:rPr lang="el-GR" sz="2400" dirty="0"/>
              <a:t>Σ</a:t>
            </a:r>
            <a:r>
              <a:rPr lang="en-US" sz="2400" i="1" dirty="0"/>
              <a:t>xP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).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endParaRPr lang="el-GR" sz="800" dirty="0"/>
          </a:p>
        </p:txBody>
      </p:sp>
      <p:sp>
        <p:nvSpPr>
          <p:cNvPr id="1073173" name="Rectangle 21"/>
          <p:cNvSpPr>
            <a:spLocks noChangeArrowheads="1"/>
          </p:cNvSpPr>
          <p:nvPr/>
        </p:nvSpPr>
        <p:spPr bwMode="auto">
          <a:xfrm>
            <a:off x="304800" y="2819400"/>
            <a:ext cx="86423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b="1" dirty="0"/>
              <a:t>Example</a:t>
            </a:r>
            <a:r>
              <a:rPr lang="en-US" sz="2000" dirty="0">
                <a:latin typeface="Times New Roman" pitchFamily="18" charset="0"/>
              </a:rPr>
              <a:t>: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dirty="0"/>
              <a:t>At a raffle, 500 tickets are sold for $1 each for two prizes of $100 and $50.  What is the expected value of your gain?</a:t>
            </a:r>
          </a:p>
        </p:txBody>
      </p:sp>
      <p:sp>
        <p:nvSpPr>
          <p:cNvPr id="1073190" name="Rectangle 38"/>
          <p:cNvSpPr>
            <a:spLocks noChangeArrowheads="1"/>
          </p:cNvSpPr>
          <p:nvPr/>
        </p:nvSpPr>
        <p:spPr bwMode="auto">
          <a:xfrm>
            <a:off x="762000" y="4267200"/>
            <a:ext cx="76962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Your gain for the $100 prize is $100 – $1 = $99.</a:t>
            </a:r>
          </a:p>
        </p:txBody>
      </p:sp>
      <p:sp>
        <p:nvSpPr>
          <p:cNvPr id="1073192" name="Rectangle 40"/>
          <p:cNvSpPr>
            <a:spLocks noChangeArrowheads="1"/>
          </p:cNvSpPr>
          <p:nvPr/>
        </p:nvSpPr>
        <p:spPr bwMode="auto">
          <a:xfrm>
            <a:off x="762000" y="4838700"/>
            <a:ext cx="76962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Your gain for the $50 prize is $50 – $1 = $49.</a:t>
            </a:r>
          </a:p>
        </p:txBody>
      </p:sp>
      <p:sp>
        <p:nvSpPr>
          <p:cNvPr id="1073193" name="Rectangle 41"/>
          <p:cNvSpPr>
            <a:spLocks noChangeArrowheads="1"/>
          </p:cNvSpPr>
          <p:nvPr/>
        </p:nvSpPr>
        <p:spPr bwMode="auto">
          <a:xfrm>
            <a:off x="762000" y="5410200"/>
            <a:ext cx="7696200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Write a probability distribution for the possible gains (or outcomes).</a:t>
            </a:r>
          </a:p>
        </p:txBody>
      </p:sp>
      <p:sp>
        <p:nvSpPr>
          <p:cNvPr id="1073194" name="Rectangle 42"/>
          <p:cNvSpPr>
            <a:spLocks noChangeArrowheads="1"/>
          </p:cNvSpPr>
          <p:nvPr/>
        </p:nvSpPr>
        <p:spPr bwMode="auto">
          <a:xfrm>
            <a:off x="7392988" y="6029325"/>
            <a:ext cx="17399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Continued.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73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7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07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3155" grpId="0" build="p"/>
      <p:bldP spid="1073173" grpId="0"/>
      <p:bldP spid="1073190" grpId="0"/>
      <p:bldP spid="1073192" grpId="0"/>
      <p:bldP spid="1073193" grpId="0"/>
      <p:bldP spid="107319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en-US" b="1" dirty="0" smtClean="0"/>
              <a:t>Expected Value</a:t>
            </a:r>
          </a:p>
        </p:txBody>
      </p:sp>
      <p:graphicFrame>
        <p:nvGraphicFramePr>
          <p:cNvPr id="1074231" name="Group 55"/>
          <p:cNvGraphicFramePr>
            <a:graphicFrameLocks noGrp="1"/>
          </p:cNvGraphicFramePr>
          <p:nvPr>
            <p:ph sz="half" idx="2"/>
          </p:nvPr>
        </p:nvGraphicFramePr>
        <p:xfrm>
          <a:off x="1295400" y="2743200"/>
          <a:ext cx="2286000" cy="252984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Gain,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P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 (</a:t>
                      </a:r>
                      <a:r>
                        <a:rPr kumimoji="0" lang="en-US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x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</a:rPr>
                        <a:t>)</a:t>
                      </a:r>
                      <a:endParaRPr kumimoji="0" lang="en-US" sz="22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marR="365760" marT="182880" marB="1828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marR="0" marT="182880" marB="1828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marR="365760" marT="182880" marB="1828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marR="0" marT="182880" marB="1828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marR="365760" marT="182880" marB="1828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</a:endParaRPr>
                    </a:p>
                  </a:txBody>
                  <a:tcPr marR="0" marT="182880" marB="1828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73" name="Rectangle 21"/>
          <p:cNvSpPr>
            <a:spLocks noChangeArrowheads="1"/>
          </p:cNvSpPr>
          <p:nvPr/>
        </p:nvSpPr>
        <p:spPr bwMode="auto">
          <a:xfrm>
            <a:off x="304800" y="1295400"/>
            <a:ext cx="86423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000" b="1" dirty="0"/>
              <a:t>Example continued</a:t>
            </a:r>
            <a:r>
              <a:rPr lang="en-US" sz="2000" dirty="0">
                <a:latin typeface="Times New Roman" pitchFamily="18" charset="0"/>
              </a:rPr>
              <a:t>: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sz="2400" dirty="0"/>
              <a:t>At a raffle, 500 tickets are sold for $1 each for two prizes of $100 and $50.  What is the expected value of your gain?</a:t>
            </a:r>
          </a:p>
        </p:txBody>
      </p:sp>
      <p:sp>
        <p:nvSpPr>
          <p:cNvPr id="1074214" name="Rectangle 38"/>
          <p:cNvSpPr>
            <a:spLocks noChangeArrowheads="1"/>
          </p:cNvSpPr>
          <p:nvPr/>
        </p:nvSpPr>
        <p:spPr bwMode="auto">
          <a:xfrm>
            <a:off x="3962400" y="5105400"/>
            <a:ext cx="4800600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Because the expected value is negative, you can expect to lose $0.70 for each ticket you buy.</a:t>
            </a:r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304800" y="5105400"/>
            <a:ext cx="1666875" cy="1000125"/>
            <a:chOff x="192" y="3216"/>
            <a:chExt cx="1050" cy="630"/>
          </a:xfrm>
        </p:grpSpPr>
        <p:sp>
          <p:nvSpPr>
            <p:cNvPr id="2080" name="Text Box 56"/>
            <p:cNvSpPr txBox="1">
              <a:spLocks noChangeArrowheads="1"/>
            </p:cNvSpPr>
            <p:nvPr/>
          </p:nvSpPr>
          <p:spPr bwMode="auto">
            <a:xfrm>
              <a:off x="192" y="3404"/>
              <a:ext cx="912" cy="44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solidFill>
                    <a:schemeClr val="hlink"/>
                  </a:solidFill>
                </a:rPr>
                <a:t>Winning no prize</a:t>
              </a:r>
            </a:p>
          </p:txBody>
        </p:sp>
        <p:sp>
          <p:nvSpPr>
            <p:cNvPr id="2081" name="Arc 57"/>
            <p:cNvSpPr>
              <a:spLocks/>
            </p:cNvSpPr>
            <p:nvPr/>
          </p:nvSpPr>
          <p:spPr bwMode="auto">
            <a:xfrm flipV="1">
              <a:off x="960" y="3216"/>
              <a:ext cx="282" cy="440"/>
            </a:xfrm>
            <a:custGeom>
              <a:avLst/>
              <a:gdLst>
                <a:gd name="T0" fmla="*/ 0 w 21600"/>
                <a:gd name="T1" fmla="*/ 0 h 21600"/>
                <a:gd name="T2" fmla="*/ 4 w 21600"/>
                <a:gd name="T3" fmla="*/ 9 h 21600"/>
                <a:gd name="T4" fmla="*/ 0 w 21600"/>
                <a:gd name="T5" fmla="*/ 9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1074235" name="Object 59"/>
          <p:cNvGraphicFramePr>
            <a:graphicFrameLocks noChangeAspect="1"/>
          </p:cNvGraphicFramePr>
          <p:nvPr/>
        </p:nvGraphicFramePr>
        <p:xfrm>
          <a:off x="2752725" y="3262313"/>
          <a:ext cx="4270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4" imgW="558720" imgH="647640" progId="">
                  <p:embed/>
                </p:oleObj>
              </mc:Choice>
              <mc:Fallback>
                <p:oleObj name="Equation" r:id="rId4" imgW="558720" imgH="647640" progId="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3262313"/>
                        <a:ext cx="427038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236" name="Object 60"/>
          <p:cNvGraphicFramePr>
            <a:graphicFrameLocks noChangeAspect="1"/>
          </p:cNvGraphicFramePr>
          <p:nvPr/>
        </p:nvGraphicFramePr>
        <p:xfrm>
          <a:off x="2752725" y="3962400"/>
          <a:ext cx="4270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6" imgW="558720" imgH="647640" progId="">
                  <p:embed/>
                </p:oleObj>
              </mc:Choice>
              <mc:Fallback>
                <p:oleObj name="Equation" r:id="rId6" imgW="558720" imgH="647640" progId="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3962400"/>
                        <a:ext cx="427038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237" name="Object 61"/>
          <p:cNvGraphicFramePr>
            <a:graphicFrameLocks noChangeAspect="1"/>
          </p:cNvGraphicFramePr>
          <p:nvPr/>
        </p:nvGraphicFramePr>
        <p:xfrm>
          <a:off x="2752725" y="4676775"/>
          <a:ext cx="4270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7" imgW="558720" imgH="647640" progId="">
                  <p:embed/>
                </p:oleObj>
              </mc:Choice>
              <mc:Fallback>
                <p:oleObj name="Equation" r:id="rId7" imgW="558720" imgH="647640" progId="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4676775"/>
                        <a:ext cx="427038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4238" name="Rectangle 62"/>
          <p:cNvSpPr>
            <a:spLocks noChangeArrowheads="1"/>
          </p:cNvSpPr>
          <p:nvPr/>
        </p:nvSpPr>
        <p:spPr bwMode="auto">
          <a:xfrm>
            <a:off x="1566863" y="3352800"/>
            <a:ext cx="650875" cy="4270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/>
              <a:t>$99</a:t>
            </a:r>
          </a:p>
        </p:txBody>
      </p:sp>
      <p:sp>
        <p:nvSpPr>
          <p:cNvPr id="1074239" name="Rectangle 63"/>
          <p:cNvSpPr>
            <a:spLocks noChangeArrowheads="1"/>
          </p:cNvSpPr>
          <p:nvPr/>
        </p:nvSpPr>
        <p:spPr bwMode="auto">
          <a:xfrm>
            <a:off x="1524000" y="3984625"/>
            <a:ext cx="69373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$49</a:t>
            </a:r>
          </a:p>
        </p:txBody>
      </p:sp>
      <p:sp>
        <p:nvSpPr>
          <p:cNvPr id="1074240" name="Rectangle 64"/>
          <p:cNvSpPr>
            <a:spLocks noChangeArrowheads="1"/>
          </p:cNvSpPr>
          <p:nvPr/>
        </p:nvSpPr>
        <p:spPr bwMode="auto">
          <a:xfrm>
            <a:off x="1524000" y="4648200"/>
            <a:ext cx="69373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–$1</a:t>
            </a:r>
          </a:p>
        </p:txBody>
      </p:sp>
      <p:sp>
        <p:nvSpPr>
          <p:cNvPr id="1074241" name="Rectangle 65"/>
          <p:cNvSpPr>
            <a:spLocks noChangeArrowheads="1"/>
          </p:cNvSpPr>
          <p:nvPr/>
        </p:nvSpPr>
        <p:spPr bwMode="auto">
          <a:xfrm>
            <a:off x="3810000" y="2895600"/>
            <a:ext cx="21272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folHlink"/>
                </a:solidFill>
              </a:rPr>
              <a:t>E</a:t>
            </a:r>
            <a:r>
              <a:rPr lang="en-US">
                <a:solidFill>
                  <a:schemeClr val="folHlink"/>
                </a:solidFill>
              </a:rPr>
              <a:t>(</a:t>
            </a:r>
            <a:r>
              <a:rPr lang="en-US" i="1">
                <a:solidFill>
                  <a:schemeClr val="folHlink"/>
                </a:solidFill>
              </a:rPr>
              <a:t>x</a:t>
            </a:r>
            <a:r>
              <a:rPr lang="en-US">
                <a:solidFill>
                  <a:schemeClr val="folHlink"/>
                </a:solidFill>
              </a:rPr>
              <a:t>) =</a:t>
            </a:r>
            <a:r>
              <a:rPr lang="en-US" i="1">
                <a:solidFill>
                  <a:schemeClr val="folHlink"/>
                </a:solidFill>
              </a:rPr>
              <a:t> </a:t>
            </a:r>
            <a:r>
              <a:rPr lang="el-GR">
                <a:solidFill>
                  <a:schemeClr val="folHlink"/>
                </a:solidFill>
              </a:rPr>
              <a:t>Σ</a:t>
            </a:r>
            <a:r>
              <a:rPr lang="en-US" i="1">
                <a:solidFill>
                  <a:schemeClr val="folHlink"/>
                </a:solidFill>
              </a:rPr>
              <a:t>xP</a:t>
            </a:r>
            <a:r>
              <a:rPr lang="en-US">
                <a:solidFill>
                  <a:schemeClr val="folHlink"/>
                </a:solidFill>
              </a:rPr>
              <a:t>(</a:t>
            </a:r>
            <a:r>
              <a:rPr lang="en-US" i="1">
                <a:solidFill>
                  <a:schemeClr val="folHlink"/>
                </a:solidFill>
              </a:rPr>
              <a:t>x</a:t>
            </a:r>
            <a:r>
              <a:rPr lang="en-US">
                <a:solidFill>
                  <a:schemeClr val="folHlink"/>
                </a:solidFill>
              </a:rPr>
              <a:t>).</a:t>
            </a:r>
          </a:p>
        </p:txBody>
      </p:sp>
      <p:graphicFrame>
        <p:nvGraphicFramePr>
          <p:cNvPr id="1074243" name="Object 67"/>
          <p:cNvGraphicFramePr>
            <a:graphicFrameLocks noChangeAspect="1"/>
          </p:cNvGraphicFramePr>
          <p:nvPr/>
        </p:nvGraphicFramePr>
        <p:xfrm>
          <a:off x="4619625" y="3509963"/>
          <a:ext cx="428148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9" imgW="4584600" imgH="647640" progId="">
                  <p:embed/>
                </p:oleObj>
              </mc:Choice>
              <mc:Fallback>
                <p:oleObj name="Equation" r:id="rId9" imgW="4584600" imgH="647640" progId="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25" y="3509963"/>
                        <a:ext cx="4281488" cy="60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244" name="Object 68"/>
          <p:cNvGraphicFramePr>
            <a:graphicFrameLocks noChangeAspect="1"/>
          </p:cNvGraphicFramePr>
          <p:nvPr/>
        </p:nvGraphicFramePr>
        <p:xfrm>
          <a:off x="4633913" y="4343400"/>
          <a:ext cx="112712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11" imgW="1206360" imgH="330120" progId="">
                  <p:embed/>
                </p:oleObj>
              </mc:Choice>
              <mc:Fallback>
                <p:oleObj name="Equation" r:id="rId11" imgW="1206360" imgH="330120" progId="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913" y="4343400"/>
                        <a:ext cx="1127125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074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4238" grpId="0"/>
      <p:bldP spid="1074239" grpId="0"/>
      <p:bldP spid="1074240" grpId="0"/>
      <p:bldP spid="10742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143000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n w="18000">
                  <a:solidFill>
                    <a:srgbClr val="FFFF00"/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Thank you All</a:t>
            </a:r>
            <a:endParaRPr lang="en-US" sz="6600" b="1" dirty="0">
              <a:ln w="18000">
                <a:solidFill>
                  <a:srgbClr val="FFFF00"/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1112</Words>
  <Application>Microsoft Office PowerPoint</Application>
  <PresentationFormat>On-screen Show (4:3)</PresentationFormat>
  <Paragraphs>247</Paragraphs>
  <Slides>17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Office Theme</vt:lpstr>
      <vt:lpstr>Equation</vt:lpstr>
      <vt:lpstr>Discrete Probability Distributions part -1</vt:lpstr>
      <vt:lpstr>PowerPoint Presentation</vt:lpstr>
      <vt:lpstr>Random Variables</vt:lpstr>
      <vt:lpstr>Random Variables</vt:lpstr>
      <vt:lpstr>Discrete Probability Distributions</vt:lpstr>
      <vt:lpstr>Constructing a Discrete Probability Distribution</vt:lpstr>
      <vt:lpstr>Constructing a Discrete Probability Distribution</vt:lpstr>
      <vt:lpstr>Constructing a Discrete Probability Distribution</vt:lpstr>
      <vt:lpstr>Constructing a Discrete Probability Distribution</vt:lpstr>
      <vt:lpstr>Constructing a Discrete Probability Distribution</vt:lpstr>
      <vt:lpstr>Graphing a Discrete Probability Distribution</vt:lpstr>
      <vt:lpstr>Mean</vt:lpstr>
      <vt:lpstr>Variance</vt:lpstr>
      <vt:lpstr>Standard Deviation</vt:lpstr>
      <vt:lpstr>Expected Value</vt:lpstr>
      <vt:lpstr>Expected Value</vt:lpstr>
      <vt:lpstr>Thank you All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Probability Distributions part -1</dc:title>
  <dc:creator>Shalauddin</dc:creator>
  <cp:lastModifiedBy>User</cp:lastModifiedBy>
  <cp:revision>10</cp:revision>
  <dcterms:created xsi:type="dcterms:W3CDTF">2006-08-16T00:00:00Z</dcterms:created>
  <dcterms:modified xsi:type="dcterms:W3CDTF">2023-12-05T06:49:41Z</dcterms:modified>
</cp:coreProperties>
</file>