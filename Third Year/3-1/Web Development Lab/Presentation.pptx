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6" r:id="rId6"/>
    <p:sldId id="264" r:id="rId7"/>
    <p:sldId id="265" r:id="rId8"/>
    <p:sldId id="260" r:id="rId9"/>
    <p:sldId id="262" r:id="rId10"/>
    <p:sldId id="263" r:id="rId11"/>
    <p:sldId id="261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embeddedFontLst>
    <p:embeddedFont>
      <p:font typeface="IBM Plex Sans" panose="020B0503050203000203" pitchFamily="34" charset="0"/>
      <p:regular r:id="rId20"/>
      <p:bold r:id="rId21"/>
    </p:embeddedFont>
    <p:embeddedFont>
      <p:font typeface="Outfit Medium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B9F9"/>
    <a:srgbClr val="FCFAFD"/>
    <a:srgbClr val="90C7D6"/>
    <a:srgbClr val="375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10"/>
  </p:normalViewPr>
  <p:slideViewPr>
    <p:cSldViewPr snapToGrid="0" snapToObjects="1">
      <p:cViewPr>
        <p:scale>
          <a:sx n="68" d="100"/>
          <a:sy n="68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377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>
            <a:extLst>
              <a:ext uri="{FF2B5EF4-FFF2-40B4-BE49-F238E27FC236}">
                <a16:creationId xmlns:a16="http://schemas.microsoft.com/office/drawing/2014/main" id="{577BD2AE-FF39-C5D9-67AD-7594143C3432}"/>
              </a:ext>
            </a:extLst>
          </p:cNvPr>
          <p:cNvSpPr/>
          <p:nvPr/>
        </p:nvSpPr>
        <p:spPr>
          <a:xfrm>
            <a:off x="2856182" y="5097185"/>
            <a:ext cx="2144799" cy="362903"/>
          </a:xfrm>
          <a:prstGeom prst="roundRect">
            <a:avLst>
              <a:gd name="adj" fmla="val 38315"/>
            </a:avLst>
          </a:prstGeom>
          <a:solidFill>
            <a:srgbClr val="90C7D6"/>
          </a:solidFill>
          <a:ln/>
        </p:spPr>
      </p:sp>
      <p:sp>
        <p:nvSpPr>
          <p:cNvPr id="3" name="Text 0"/>
          <p:cNvSpPr/>
          <p:nvPr/>
        </p:nvSpPr>
        <p:spPr>
          <a:xfrm>
            <a:off x="793790" y="27061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Insurance Premium Prediction Web Application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638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A Full-Stack Web 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pplication Integrating Machine Learning</a:t>
            </a:r>
          </a:p>
        </p:txBody>
      </p:sp>
      <p:sp>
        <p:nvSpPr>
          <p:cNvPr id="5" name="Shape 2"/>
          <p:cNvSpPr/>
          <p:nvPr/>
        </p:nvSpPr>
        <p:spPr>
          <a:xfrm>
            <a:off x="793790" y="5089565"/>
            <a:ext cx="1950958" cy="426244"/>
          </a:xfrm>
          <a:prstGeom prst="roundRect">
            <a:avLst>
              <a:gd name="adj" fmla="val 38315"/>
            </a:avLst>
          </a:prstGeom>
          <a:solidFill>
            <a:srgbClr val="90C7D6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5157549"/>
            <a:ext cx="167878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WEB DEVELOPMENT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992272" y="5157549"/>
            <a:ext cx="18554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STREAMLIT + FASTAPI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EA8BE2-4E70-8125-47E1-2FBCB8D09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735" y="0"/>
            <a:ext cx="603266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25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Problem Solved by this Project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2021"/>
            <a:ext cx="4740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Insurance Decision Support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2651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Insurance providers and customers need quick, accurate premium estimates. Manual assessment is slow and inconsistent. Our web application automates this process through a modern client-server architecture and ML Model.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507468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Instant premium category predictions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Standardized evaluation criteria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User-friendly web interface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Separate modules for health and car insurance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E8C73-8A18-601A-6E5F-A9CE37AAE54E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4628" y="459343"/>
            <a:ext cx="4007644" cy="50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3F6FF3"/>
                </a:solidFill>
                <a:latin typeface="Outfit Medium" panose="020B0604020202020204" charset="0"/>
                <a:ea typeface="Outfit Medium" pitchFamily="34" charset="-122"/>
                <a:cs typeface="Arial" panose="020B0604020202020204" pitchFamily="34" charset="0"/>
              </a:rPr>
              <a:t>System Architecture</a:t>
            </a:r>
            <a:endParaRPr lang="en-US" sz="3150" dirty="0">
              <a:latin typeface="Outfit Medium" panose="020B060402020202020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832" y="1186815"/>
            <a:ext cx="7800618" cy="60184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4929" y="3546926"/>
            <a:ext cx="1360487" cy="124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Outfit Medium" panose="020B0604020202020204" charset="0"/>
                <a:ea typeface="Outfit Medium" pitchFamily="34" charset="-122"/>
                <a:cs typeface="Arial" panose="020B0604020202020204" pitchFamily="34" charset="0"/>
              </a:rPr>
              <a:t>Three-tier Web Architecture</a:t>
            </a:r>
            <a:endParaRPr lang="en-US" dirty="0">
              <a:latin typeface="Outfit Medium" panose="020B060402020202020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63293" y="5753396"/>
            <a:ext cx="2023967" cy="31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FastAPI Backend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63293" y="6152970"/>
            <a:ext cx="2023967" cy="42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Handles business logic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738042" y="3606896"/>
            <a:ext cx="2068210" cy="622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Predictions Returned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38042" y="4317557"/>
            <a:ext cx="2068210" cy="42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Results sent back to user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89729" y="5597853"/>
            <a:ext cx="2023966" cy="622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ML Model Processing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89729" y="6308514"/>
            <a:ext cx="2023966" cy="42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Data inference and transformation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803919" y="3751379"/>
            <a:ext cx="2068210" cy="31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HTTP Requests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03919" y="4150953"/>
            <a:ext cx="2068210" cy="42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RESTful API calls to backend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26737" y="1628038"/>
            <a:ext cx="2079270" cy="622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User Browser (Streamlit)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26737" y="2338699"/>
            <a:ext cx="2079270" cy="212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Interactive frontend UI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735859" y="7251543"/>
            <a:ext cx="11061025" cy="43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This application follows a modern client-server architecture. The Streamlit frontend provides an intuitive multi-page interface, communicating with a FastAPI backend via RESTful API calls. The backend handles business logic, data processing, and ML-powered predictions.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EDF5BB-789F-E241-7B96-949EB64A859C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6718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Frontend Design with Streamlit - Navigation Bar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29595"/>
            <a:ext cx="2367558" cy="3128129"/>
          </a:xfrm>
          <a:prstGeom prst="roundRect">
            <a:avLst>
              <a:gd name="adj" fmla="val 8623"/>
            </a:avLst>
          </a:prstGeom>
          <a:solidFill>
            <a:srgbClr val="A2B9F9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14624" y="3664029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Multi-Page Navigation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14624" y="4508778"/>
            <a:ext cx="18986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Intuitive sidebar for modules like health, car, analytics.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874562" y="3429595"/>
            <a:ext cx="2367558" cy="3128129"/>
          </a:xfrm>
          <a:prstGeom prst="roundRect">
            <a:avLst>
              <a:gd name="adj" fmla="val 8623"/>
            </a:avLst>
          </a:prstGeom>
          <a:solidFill>
            <a:srgbClr val="A2B9F9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08996" y="3664029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Interactive Forms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08996" y="4508778"/>
            <a:ext cx="18986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Dynamic validation using sliders, dropdowns, number fields.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468933" y="3429595"/>
            <a:ext cx="2367558" cy="3128129"/>
          </a:xfrm>
          <a:prstGeom prst="roundRect">
            <a:avLst>
              <a:gd name="adj" fmla="val 8623"/>
            </a:avLst>
          </a:prstGeom>
          <a:solidFill>
            <a:srgbClr val="A2B9F9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703368" y="3664029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Responsive Design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703368" y="4508778"/>
            <a:ext cx="1898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Clean, dark-theme interface, adapts to all screen sizes.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D8251B-3884-E02D-1BE9-D1A6B2836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419" y="0"/>
            <a:ext cx="5785258" cy="82296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252B3B5-6839-53FB-D724-D9EE5A7B53B1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D75E19-20B8-869B-4DE9-E077BFF50EAD}"/>
              </a:ext>
            </a:extLst>
          </p:cNvPr>
          <p:cNvSpPr/>
          <p:nvPr/>
        </p:nvSpPr>
        <p:spPr>
          <a:xfrm>
            <a:off x="6280189" y="2120775"/>
            <a:ext cx="7932521" cy="5077746"/>
          </a:xfrm>
          <a:prstGeom prst="roundRect">
            <a:avLst/>
          </a:prstGeom>
          <a:solidFill>
            <a:srgbClr val="A2B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5023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Health Insurance Prediction and Results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656289" y="2512137"/>
            <a:ext cx="7556421" cy="485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Interactive form interface for collecting health insurance applicant data with real-time validation and user-friendly input controls.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000" dirty="0">
              <a:latin typeface="Arial" panose="020B0604020202020204" pitchFamily="34" charset="0"/>
              <a:ea typeface="IBM Plex Sans" pitchFamily="34" charset="-122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Simple form for health and lifestyle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Automatic premium category prediction Using ML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Output: Low / Medium / High Category of Users for Insurance.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Usability: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Easy to use input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Instant result after submission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Suitable for general users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000" dirty="0">
              <a:latin typeface="Arial" panose="020B0604020202020204" pitchFamily="34" charset="0"/>
              <a:ea typeface="IBM Plex San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000" dirty="0">
              <a:latin typeface="Arial" panose="020B0604020202020204" pitchFamily="34" charset="0"/>
              <a:ea typeface="IBM Plex San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6AC86-B31A-B6D2-77BF-203798361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62133" cy="83086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0B8BBE-EB82-6D31-A02C-2948A9D76D8E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4" name="Text 1"/>
          <p:cNvSpPr/>
          <p:nvPr/>
        </p:nvSpPr>
        <p:spPr>
          <a:xfrm>
            <a:off x="6280189" y="3902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Health Insurance Prediction Dataset and Distributions.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88" y="18078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8B3BCF-8D2E-E569-A786-AB80EDB13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892801" cy="82296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A9E90E-FECE-80FE-6F84-7684ABA7735B}"/>
              </a:ext>
            </a:extLst>
          </p:cNvPr>
          <p:cNvSpPr/>
          <p:nvPr/>
        </p:nvSpPr>
        <p:spPr>
          <a:xfrm>
            <a:off x="6265332" y="1989260"/>
            <a:ext cx="7571278" cy="4569584"/>
          </a:xfrm>
          <a:prstGeom prst="roundRect">
            <a:avLst/>
          </a:prstGeom>
          <a:solidFill>
            <a:srgbClr val="A2B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5739B5-DF10-ED41-8C2B-E168C371BE6E}"/>
              </a:ext>
            </a:extLst>
          </p:cNvPr>
          <p:cNvSpPr txBox="1"/>
          <p:nvPr/>
        </p:nvSpPr>
        <p:spPr>
          <a:xfrm>
            <a:off x="6541909" y="2901245"/>
            <a:ext cx="70329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Dataset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Displays an overview of the health insurance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shows how user age is distributed across the dataset and Helps understand the diversity of user profiles Which is Useful for validating data before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Age distribution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shows balanced coverage across age groups, allowing the model to generalize well.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A93E08-1143-A81C-DDCA-E36412AFFA20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88279" y="1870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Health Insurance Dataset Features Analytics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088279" y="18657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B3FF55-1B7C-C09E-BB8A-A1E44D426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3691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8C469C-662E-669D-867E-CF18DCBEF93E}"/>
              </a:ext>
            </a:extLst>
          </p:cNvPr>
          <p:cNvSpPr/>
          <p:nvPr/>
        </p:nvSpPr>
        <p:spPr>
          <a:xfrm>
            <a:off x="6088279" y="1624756"/>
            <a:ext cx="7740610" cy="4739095"/>
          </a:xfrm>
          <a:prstGeom prst="roundRect">
            <a:avLst/>
          </a:prstGeom>
          <a:solidFill>
            <a:srgbClr val="A2B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FD4C7-A887-B892-F95A-BED8FE27271E}"/>
              </a:ext>
            </a:extLst>
          </p:cNvPr>
          <p:cNvSpPr txBox="1"/>
          <p:nvPr/>
        </p:nvSpPr>
        <p:spPr>
          <a:xfrm>
            <a:off x="6299199" y="2342637"/>
            <a:ext cx="67733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BMI vs Premium Category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shows that higher BMI values are more common in the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premium group, indicating increased health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Smoker vs Premium Category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highlights smoking as a major risk factor, with smokers dominating higher premium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Income vs Premium Category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suggests that premium categories are not solely income-based but strongly influenced by health conditions.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25D37E-3DEF-228A-9E10-AB4C213AB644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0F0252-70D1-7090-2832-CCC0BF1B9011}"/>
              </a:ext>
            </a:extLst>
          </p:cNvPr>
          <p:cNvSpPr/>
          <p:nvPr/>
        </p:nvSpPr>
        <p:spPr>
          <a:xfrm>
            <a:off x="7091673" y="1919498"/>
            <a:ext cx="7357725" cy="4739095"/>
          </a:xfrm>
          <a:prstGeom prst="roundRect">
            <a:avLst/>
          </a:prstGeom>
          <a:solidFill>
            <a:srgbClr val="A2B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29911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Car Insurance Prediction Form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992326" y="178665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3F401C-3247-94DF-B2D4-8CDE70618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604000" cy="822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2784B2-833C-74BC-AA06-FFAE5DB12EF1}"/>
              </a:ext>
            </a:extLst>
          </p:cNvPr>
          <p:cNvSpPr txBox="1"/>
          <p:nvPr/>
        </p:nvSpPr>
        <p:spPr>
          <a:xfrm>
            <a:off x="7416420" y="2442385"/>
            <a:ext cx="69317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Interactive form interface for collecting Car insurance applicant data with real-time validation and user-friendly input controls.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Inputs based on car insurance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Direct premium category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Output: Low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Medium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Category of Car for insurance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Usability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Minimal and relevant inputs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Quick and clear prediction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estimate insurance risk easily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BA28-CCA7-3F57-939D-13CC8D1EFF1B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4" name="Text 1"/>
          <p:cNvSpPr/>
          <p:nvPr/>
        </p:nvSpPr>
        <p:spPr>
          <a:xfrm>
            <a:off x="6280189" y="16447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Car Insurance Prediction Dataset and Distributions.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4BD0F6-7D9D-B994-3DC6-942AF7EC8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5700889" cy="824690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6771B4-B51A-F29E-B102-ADF5A707FED1}"/>
              </a:ext>
            </a:extLst>
          </p:cNvPr>
          <p:cNvSpPr/>
          <p:nvPr/>
        </p:nvSpPr>
        <p:spPr>
          <a:xfrm>
            <a:off x="6189879" y="1775438"/>
            <a:ext cx="8169588" cy="5438162"/>
          </a:xfrm>
          <a:prstGeom prst="roundRect">
            <a:avLst/>
          </a:prstGeom>
          <a:solidFill>
            <a:srgbClr val="A2B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EC18A-7C5A-168C-48C8-9A9E859FD5A1}"/>
              </a:ext>
            </a:extLst>
          </p:cNvPr>
          <p:cNvSpPr txBox="1"/>
          <p:nvPr/>
        </p:nvSpPr>
        <p:spPr>
          <a:xfrm>
            <a:off x="6615289" y="2404533"/>
            <a:ext cx="722132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section provides an overview of the car insurance dataset structure and premium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Dataset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includes key attributes such as driver age, experience, accident history, mileage, and car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Insurance premium Distribution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values follow a near-normal distribution, making them suitable for predictive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Driver Age Vs Target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Chart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Shows A visible trend shows that younger drivers often pay higher premiums, while experienced drivers tend to have lower costs.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018DB5-DA05-6410-787B-0B84B8A699BD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4" name="Text 1"/>
          <p:cNvSpPr/>
          <p:nvPr/>
        </p:nvSpPr>
        <p:spPr>
          <a:xfrm>
            <a:off x="6280190" y="4805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Car Insurance Dataset Features Analytics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5F06D6-B387-D57F-77DC-366B7A373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1743" y="0"/>
            <a:ext cx="5753609" cy="832862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66D380-CE9E-5448-D75A-0BF889D580B7}"/>
              </a:ext>
            </a:extLst>
          </p:cNvPr>
          <p:cNvSpPr/>
          <p:nvPr/>
        </p:nvSpPr>
        <p:spPr>
          <a:xfrm>
            <a:off x="6088279" y="2171651"/>
            <a:ext cx="8067988" cy="5120971"/>
          </a:xfrm>
          <a:prstGeom prst="roundRect">
            <a:avLst/>
          </a:prstGeom>
          <a:solidFill>
            <a:srgbClr val="A2B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F94F83-C70A-0150-7A4A-23FF9A900CE1}"/>
              </a:ext>
            </a:extLst>
          </p:cNvPr>
          <p:cNvSpPr txBox="1"/>
          <p:nvPr/>
        </p:nvSpPr>
        <p:spPr>
          <a:xfrm>
            <a:off x="6521117" y="2608477"/>
            <a:ext cx="72023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section analyzes how different driver and vehicle-related features influence car insurance premiums.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Driver Experience vs Previous Accidents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Less experienced drivers tend to have a higher number of previous accidents, indicating higher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Annual Mileage vs Insurance Premium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annual mileage generally leads to increased insurance premiums due to greater exposure to road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Previous Accidents vs Insurance Premium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Insurance premium clearly increases as the number of previous accidents rises, showing strong risk-based pricing.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617DD3-2D6B-F1C7-D882-A1BC8843F136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4557" y="202005"/>
            <a:ext cx="60156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FastAPI Documentation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264557" y="436487"/>
            <a:ext cx="143658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666666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 err="1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FastApi</a:t>
            </a: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Provides Built-in Documentation Using Swagger UI. Here is the Interactive API documentation with request and response examples for all prediction endpoints.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FEE82A-4111-6FF2-36E5-AC7475DBF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2667"/>
            <a:ext cx="14630400" cy="62683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60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Backend API Design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256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FastAPI Endpoints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200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The backend exposes RESTful API endpoints for prediction and health checks: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238149"/>
            <a:ext cx="1304282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/predict/health</a:t>
            </a: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- Health insurance premium prediction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/predict/car</a:t>
            </a: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- Car insurance premium prediction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/health</a:t>
            </a: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- API health check endpoint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5820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Endpoints accept JSON payloads, validate input, apply business logic, and return structured prediction results.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8EF1D-72EC-D59F-0316-E8D265D8863E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4670"/>
            <a:ext cx="78532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 Handling &amp; Business Logic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24175"/>
            <a:ext cx="3535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Health Insurance 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186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Accepts demographic data and lifestyle factors. Backend computes BMI from height/weight, determines age groups, and evaluates risk levels based on smoking status and occupation.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684633"/>
            <a:ext cx="31638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Car Insurance Processing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3791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Processes driver and vehicle characteristics including experience level, accident history, annual mileage, and car age to assess risk factors comprehensively.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43305-92BD-14B7-43D0-F069F7BE25AB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89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Prediction Workflow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91320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User Input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61580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fills web form with insurance details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91320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API Request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61580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 sends HTTP POST to FastAPI backend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205526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3395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ML Prediction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5830014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scikit-learn model processes features and predicts category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05526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3395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Result Display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583001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Premium category shown on web interface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70377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entire request-response cycle completes in under one second, providing real-time feedback to users.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946916-8D18-D14E-2408-782127A6DED7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Machine Learning Algorithms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</a:rPr>
              <a:t>And preprocessing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3103602" y="6278166"/>
            <a:ext cx="17560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99829" y="6278166"/>
            <a:ext cx="14264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871298" y="1941725"/>
            <a:ext cx="34713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ML Model: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71298" y="2296055"/>
            <a:ext cx="5126924" cy="4561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 Forest Classifier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for predicting insurance premium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Suitable for handling mixed input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Provides stable and accurate classification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cs typeface="Arial" panose="020B0604020202020204" pitchFamily="34" charset="0"/>
              </a:rPr>
              <a:t>ML Workflow Includes: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 loading and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 selection and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preprocessing using pipelines (scaling &amp; encoding)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 training and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 integration with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backend</a:t>
            </a:r>
          </a:p>
        </p:txBody>
      </p:sp>
      <p:sp>
        <p:nvSpPr>
          <p:cNvPr id="10" name="Text 7"/>
          <p:cNvSpPr/>
          <p:nvPr/>
        </p:nvSpPr>
        <p:spPr>
          <a:xfrm>
            <a:off x="9638943" y="5043130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155465-16E9-BECC-5FDB-7950CFF97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89" y="2825953"/>
            <a:ext cx="7294854" cy="384303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BB5EBE7-7C25-0ADD-9F20-7E994C38A42F}"/>
              </a:ext>
            </a:extLst>
          </p:cNvPr>
          <p:cNvSpPr/>
          <p:nvPr/>
        </p:nvSpPr>
        <p:spPr>
          <a:xfrm>
            <a:off x="12891911" y="7755467"/>
            <a:ext cx="1603022" cy="383822"/>
          </a:xfrm>
          <a:prstGeom prst="rect">
            <a:avLst/>
          </a:prstGeom>
          <a:solidFill>
            <a:srgbClr val="FC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1396"/>
            <a:ext cx="67510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anose="020B0604020202020204" charset="0"/>
                <a:ea typeface="Outfit Medium" pitchFamily="34" charset="-122"/>
                <a:cs typeface="Arial" panose="020B0604020202020204" pitchFamily="34" charset="0"/>
              </a:rPr>
              <a:t>Application Modules Demo</a:t>
            </a:r>
            <a:endParaRPr lang="en-US" sz="4450" dirty="0">
              <a:latin typeface="Outfit Medium" panose="020B060402020202020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853803"/>
            <a:ext cx="13042821" cy="2728793"/>
          </a:xfrm>
          <a:prstGeom prst="roundRect">
            <a:avLst>
              <a:gd name="adj" fmla="val 748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4270" y="1884283"/>
            <a:ext cx="907256" cy="2667833"/>
          </a:xfrm>
          <a:prstGeom prst="roundRect">
            <a:avLst>
              <a:gd name="adj" fmla="val 18470"/>
            </a:avLst>
          </a:prstGeom>
          <a:solidFill>
            <a:srgbClr val="CFDBFC"/>
          </a:solidFill>
          <a:ln/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03948" y="300549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1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58340" y="2111097"/>
            <a:ext cx="31043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Health Insurance Module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58340" y="2601516"/>
            <a:ext cx="116209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Inputs:</a:t>
            </a: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Age (25-70), Weight (kg), Height (cm), Annual Income, Smoker Status (Yes/No), City Type (Urban/Rural), Occupation Category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58340" y="3463409"/>
            <a:ext cx="116209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Derived Values:</a:t>
            </a: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BMI calculation, Risk level assessment, Age group classification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58340" y="3962400"/>
            <a:ext cx="116209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Output:</a:t>
            </a: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Premium Category with confidence score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3790" y="4809411"/>
            <a:ext cx="13042821" cy="2728793"/>
          </a:xfrm>
          <a:prstGeom prst="roundRect">
            <a:avLst>
              <a:gd name="adj" fmla="val 748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4270" y="4839891"/>
            <a:ext cx="907256" cy="2667833"/>
          </a:xfrm>
          <a:prstGeom prst="roundRect">
            <a:avLst>
              <a:gd name="adj" fmla="val 18470"/>
            </a:avLst>
          </a:prstGeom>
          <a:solidFill>
            <a:srgbClr val="CFDBFC"/>
          </a:solidFill>
          <a:ln/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03948" y="59611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2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58340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Car Insurance Module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58340" y="5557123"/>
            <a:ext cx="116209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Inputs:</a:t>
            </a: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Driver Age, Years of Driving Experience, Number of Previous Accidents, Annual Mileage (×1000 km), Car Manufacturing Year, Car Age (years)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58340" y="6419017"/>
            <a:ext cx="116209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Processing:</a:t>
            </a: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Risk factor calculation based on driver history and vehicle condition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58340" y="6918008"/>
            <a:ext cx="116209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Output:</a:t>
            </a: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 Premium Category recommendation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EC235702-09A8-849E-B75F-4E6548086096}"/>
              </a:ext>
            </a:extLst>
          </p:cNvPr>
          <p:cNvSpPr/>
          <p:nvPr/>
        </p:nvSpPr>
        <p:spPr>
          <a:xfrm>
            <a:off x="4625070" y="2678588"/>
            <a:ext cx="3828217" cy="4470559"/>
          </a:xfrm>
          <a:prstGeom prst="roundRect">
            <a:avLst>
              <a:gd name="adj" fmla="val 8532"/>
            </a:avLst>
          </a:prstGeom>
          <a:solidFill>
            <a:srgbClr val="95CCDA">
              <a:alpha val="95000"/>
            </a:srgbClr>
          </a:solidFill>
          <a:ln/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10006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anose="020B0604020202020204" charset="0"/>
                <a:ea typeface="Outfit Medium" pitchFamily="34" charset="-122"/>
                <a:cs typeface="Arial" panose="020B0604020202020204" pitchFamily="34" charset="0"/>
              </a:rPr>
              <a:t>Conclusion &amp; Future Enhancements</a:t>
            </a:r>
            <a:endParaRPr lang="en-US" sz="4450" dirty="0">
              <a:latin typeface="Outfit Medium" panose="020B0604020202020204" charset="0"/>
              <a:cs typeface="Arial" panose="020B0604020202020204" pitchFamily="34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630436" y="2758321"/>
            <a:ext cx="3828217" cy="4470559"/>
          </a:xfrm>
          <a:prstGeom prst="roundRect">
            <a:avLst>
              <a:gd name="adj" fmla="val 8532"/>
            </a:avLst>
          </a:prstGeom>
          <a:solidFill>
            <a:srgbClr val="95CCDA">
              <a:alpha val="95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857250" y="2985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Project </a:t>
            </a:r>
            <a:r>
              <a:rPr lang="en-US" sz="2200" dirty="0" err="1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achievments</a:t>
            </a:r>
            <a:endParaRPr lang="en-US" sz="2200" dirty="0">
              <a:solidFill>
                <a:srgbClr val="3F6FF3"/>
              </a:solidFill>
              <a:latin typeface="Arial" panose="020B0604020202020204" pitchFamily="34" charset="0"/>
              <a:ea typeface="Outfit Medium" pitchFamily="34" charset="-122"/>
              <a:cs typeface="Arial" panose="020B0604020202020204" pitchFamily="34" charset="0"/>
            </a:endParaRPr>
          </a:p>
          <a:p>
            <a:pPr>
              <a:lnSpc>
                <a:spcPts val="2750"/>
              </a:lnSpc>
            </a:pPr>
            <a:endParaRPr lang="en-US" sz="2200" dirty="0">
              <a:solidFill>
                <a:srgbClr val="3F6FF3"/>
              </a:solidFill>
              <a:latin typeface="Arial" panose="020B0604020202020204" pitchFamily="34" charset="0"/>
              <a:ea typeface="Outfit Medium" pitchFamily="34" charset="-122"/>
              <a:cs typeface="Arial" panose="020B0604020202020204" pitchFamily="34" charset="0"/>
            </a:endParaRPr>
          </a:p>
          <a:p>
            <a:pPr>
              <a:lnSpc>
                <a:spcPts val="275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57250" y="3566279"/>
            <a:ext cx="337458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Successfully built a production ready web application demonstrating modern full-stack development practices with clean separation of concerns.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56321" y="2985135"/>
            <a:ext cx="33282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Future Web Improvements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856321" y="3566279"/>
            <a:ext cx="3501509" cy="326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User authentication and session management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Database integration for prediction history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Real-time WebSocket updates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Mobile-responsive progressive web app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A/B testing framework for UI variations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DC68F0D3-7465-D07F-3722-73B932627250}"/>
              </a:ext>
            </a:extLst>
          </p:cNvPr>
          <p:cNvSpPr/>
          <p:nvPr/>
        </p:nvSpPr>
        <p:spPr>
          <a:xfrm>
            <a:off x="8684538" y="2678588"/>
            <a:ext cx="3828217" cy="4470559"/>
          </a:xfrm>
          <a:prstGeom prst="roundRect">
            <a:avLst>
              <a:gd name="adj" fmla="val 8532"/>
            </a:avLst>
          </a:prstGeom>
          <a:solidFill>
            <a:srgbClr val="95CCDA">
              <a:alpha val="9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AF1D5-A724-CA46-8E78-1111323228FA}"/>
              </a:ext>
            </a:extLst>
          </p:cNvPr>
          <p:cNvSpPr txBox="1"/>
          <p:nvPr/>
        </p:nvSpPr>
        <p:spPr>
          <a:xfrm>
            <a:off x="8817292" y="2975134"/>
            <a:ext cx="3695463" cy="374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3F6FF3"/>
                </a:solidFill>
                <a:latin typeface="Arial" panose="020B0604020202020204" pitchFamily="34" charset="0"/>
                <a:ea typeface="Outfit Medium" pitchFamily="34" charset="-122"/>
                <a:cs typeface="Arial" panose="020B0604020202020204" pitchFamily="34" charset="0"/>
              </a:rPr>
              <a:t>Future ML Improvements</a:t>
            </a:r>
          </a:p>
          <a:p>
            <a:pPr>
              <a:lnSpc>
                <a:spcPts val="275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Use larger and More diverse datasets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IBM Plex Sans" pitchFamily="34" charset="-122"/>
                <a:cs typeface="Arial" panose="020B0604020202020204" pitchFamily="34" charset="0"/>
              </a:rPr>
              <a:t>Improve feature selection and risk scoring Logic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Add Model performance monitoring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Enable periodic model training with new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1097</Words>
  <Application>Microsoft Office PowerPoint</Application>
  <PresentationFormat>Custom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Outfit Medium</vt:lpstr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Marwan Ahmed</cp:lastModifiedBy>
  <cp:revision>2</cp:revision>
  <dcterms:created xsi:type="dcterms:W3CDTF">2026-02-06T19:40:17Z</dcterms:created>
  <dcterms:modified xsi:type="dcterms:W3CDTF">2026-02-06T21:16:17Z</dcterms:modified>
</cp:coreProperties>
</file>