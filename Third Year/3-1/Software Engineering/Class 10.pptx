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05"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5EB88F-0E1E-E349-BC80-F916567D4FB9}" type="doc">
      <dgm:prSet loTypeId="urn:microsoft.com/office/officeart/2005/8/layout/hierarchy1" loCatId="" qsTypeId="urn:microsoft.com/office/officeart/2005/8/quickstyle/3D4" qsCatId="3D" csTypeId="urn:microsoft.com/office/officeart/2005/8/colors/colorful2" csCatId="colorful" phldr="1"/>
      <dgm:spPr/>
      <dgm:t>
        <a:bodyPr/>
        <a:lstStyle/>
        <a:p>
          <a:endParaRPr lang="en-US"/>
        </a:p>
      </dgm:t>
    </dgm:pt>
    <dgm:pt modelId="{18BAE1E0-2043-FE4E-8714-0DF34C88BEE6}">
      <dgm:prSet phldrT="[Text]"/>
      <dgm:spPr/>
      <dgm:t>
        <a:bodyPr/>
        <a:lstStyle/>
        <a:p>
          <a:r>
            <a:rPr lang="en-US" dirty="0"/>
            <a:t>Views of Testing</a:t>
          </a:r>
        </a:p>
      </dgm:t>
    </dgm:pt>
    <dgm:pt modelId="{C7328ECC-8E7E-7342-A05C-E45E1C7D49C4}" type="parTrans" cxnId="{2C8D792D-6F65-734C-BE72-498AC8300E22}">
      <dgm:prSet/>
      <dgm:spPr/>
      <dgm:t>
        <a:bodyPr/>
        <a:lstStyle/>
        <a:p>
          <a:endParaRPr lang="en-US"/>
        </a:p>
      </dgm:t>
    </dgm:pt>
    <dgm:pt modelId="{BE704B2E-FBB9-BD42-91C0-B4FA9FA94B9A}" type="sibTrans" cxnId="{2C8D792D-6F65-734C-BE72-498AC8300E22}">
      <dgm:prSet/>
      <dgm:spPr/>
      <dgm:t>
        <a:bodyPr/>
        <a:lstStyle/>
        <a:p>
          <a:endParaRPr lang="en-US"/>
        </a:p>
      </dgm:t>
    </dgm:pt>
    <dgm:pt modelId="{682708EE-6B66-AA44-B7C3-88200BADB4BD}">
      <dgm:prSet phldrT="[Text]"/>
      <dgm:spPr/>
      <dgm:t>
        <a:bodyPr/>
        <a:lstStyle/>
        <a:p>
          <a:r>
            <a:rPr lang="en-US" dirty="0"/>
            <a:t>Black Box Testing</a:t>
          </a:r>
        </a:p>
      </dgm:t>
    </dgm:pt>
    <dgm:pt modelId="{32DE1487-3DF9-A448-99AB-1040DE03CB14}" type="parTrans" cxnId="{6D97A56B-0750-8C4E-8AB7-798DCC2E9820}">
      <dgm:prSet/>
      <dgm:spPr/>
      <dgm:t>
        <a:bodyPr/>
        <a:lstStyle/>
        <a:p>
          <a:endParaRPr lang="en-US"/>
        </a:p>
      </dgm:t>
    </dgm:pt>
    <dgm:pt modelId="{1ED98610-57DF-7543-8855-678721E3E2BB}" type="sibTrans" cxnId="{6D97A56B-0750-8C4E-8AB7-798DCC2E9820}">
      <dgm:prSet/>
      <dgm:spPr/>
      <dgm:t>
        <a:bodyPr/>
        <a:lstStyle/>
        <a:p>
          <a:endParaRPr lang="en-US"/>
        </a:p>
      </dgm:t>
    </dgm:pt>
    <dgm:pt modelId="{17CC1D3E-8A05-FA4E-BDDF-4C3CAEA8FC4D}">
      <dgm:prSet phldrT="[Text]"/>
      <dgm:spPr/>
      <dgm:t>
        <a:bodyPr/>
        <a:lstStyle/>
        <a:p>
          <a:r>
            <a:rPr lang="en-US" dirty="0"/>
            <a:t>White Box Testing</a:t>
          </a:r>
        </a:p>
      </dgm:t>
    </dgm:pt>
    <dgm:pt modelId="{74BDAAAB-045A-F343-B56A-059F0F2978BD}" type="sibTrans" cxnId="{9B8218FB-4E47-3D46-9401-F7EC0F411C87}">
      <dgm:prSet/>
      <dgm:spPr/>
      <dgm:t>
        <a:bodyPr/>
        <a:lstStyle/>
        <a:p>
          <a:endParaRPr lang="en-US"/>
        </a:p>
      </dgm:t>
    </dgm:pt>
    <dgm:pt modelId="{B60DF92B-31C7-684C-9862-9094BF5D1674}" type="parTrans" cxnId="{9B8218FB-4E47-3D46-9401-F7EC0F411C87}">
      <dgm:prSet/>
      <dgm:spPr/>
      <dgm:t>
        <a:bodyPr/>
        <a:lstStyle/>
        <a:p>
          <a:endParaRPr lang="en-US"/>
        </a:p>
      </dgm:t>
    </dgm:pt>
    <dgm:pt modelId="{E2265407-A7EF-CD43-964E-390C8413F45A}" type="pres">
      <dgm:prSet presAssocID="{215EB88F-0E1E-E349-BC80-F916567D4FB9}" presName="hierChild1" presStyleCnt="0">
        <dgm:presLayoutVars>
          <dgm:chPref val="1"/>
          <dgm:dir/>
          <dgm:animOne val="branch"/>
          <dgm:animLvl val="lvl"/>
          <dgm:resizeHandles/>
        </dgm:presLayoutVars>
      </dgm:prSet>
      <dgm:spPr/>
    </dgm:pt>
    <dgm:pt modelId="{C66251D5-089B-104B-8513-5ABA7E78C52B}" type="pres">
      <dgm:prSet presAssocID="{18BAE1E0-2043-FE4E-8714-0DF34C88BEE6}" presName="hierRoot1" presStyleCnt="0"/>
      <dgm:spPr/>
    </dgm:pt>
    <dgm:pt modelId="{CE68FD44-22E4-EE48-8D49-4F343353BA54}" type="pres">
      <dgm:prSet presAssocID="{18BAE1E0-2043-FE4E-8714-0DF34C88BEE6}" presName="composite" presStyleCnt="0"/>
      <dgm:spPr/>
    </dgm:pt>
    <dgm:pt modelId="{69BEF586-F10B-4844-B1A1-8768E49D9744}" type="pres">
      <dgm:prSet presAssocID="{18BAE1E0-2043-FE4E-8714-0DF34C88BEE6}" presName="background" presStyleLbl="node0" presStyleIdx="0" presStyleCnt="1"/>
      <dgm:spPr/>
    </dgm:pt>
    <dgm:pt modelId="{BE2C9A02-C666-254C-A98F-F0F1E5C1F505}" type="pres">
      <dgm:prSet presAssocID="{18BAE1E0-2043-FE4E-8714-0DF34C88BEE6}" presName="text" presStyleLbl="fgAcc0" presStyleIdx="0" presStyleCnt="1">
        <dgm:presLayoutVars>
          <dgm:chPref val="3"/>
        </dgm:presLayoutVars>
      </dgm:prSet>
      <dgm:spPr/>
    </dgm:pt>
    <dgm:pt modelId="{34CF1D5B-3C54-144A-BE58-582F36950B89}" type="pres">
      <dgm:prSet presAssocID="{18BAE1E0-2043-FE4E-8714-0DF34C88BEE6}" presName="hierChild2" presStyleCnt="0"/>
      <dgm:spPr/>
    </dgm:pt>
    <dgm:pt modelId="{12853773-B180-6746-AD5E-1E0B393F4352}" type="pres">
      <dgm:prSet presAssocID="{B60DF92B-31C7-684C-9862-9094BF5D1674}" presName="Name10" presStyleLbl="parChTrans1D2" presStyleIdx="0" presStyleCnt="2"/>
      <dgm:spPr/>
    </dgm:pt>
    <dgm:pt modelId="{A46FA8A2-7615-B141-821B-5C7AE192A34C}" type="pres">
      <dgm:prSet presAssocID="{17CC1D3E-8A05-FA4E-BDDF-4C3CAEA8FC4D}" presName="hierRoot2" presStyleCnt="0"/>
      <dgm:spPr/>
    </dgm:pt>
    <dgm:pt modelId="{3286E70B-EC6C-3B45-A2D6-177B9B84EA37}" type="pres">
      <dgm:prSet presAssocID="{17CC1D3E-8A05-FA4E-BDDF-4C3CAEA8FC4D}" presName="composite2" presStyleCnt="0"/>
      <dgm:spPr/>
    </dgm:pt>
    <dgm:pt modelId="{B3EE14F9-8837-7148-BD6C-B0587BBD1B55}" type="pres">
      <dgm:prSet presAssocID="{17CC1D3E-8A05-FA4E-BDDF-4C3CAEA8FC4D}" presName="background2" presStyleLbl="node2" presStyleIdx="0" presStyleCnt="2"/>
      <dgm:spPr/>
    </dgm:pt>
    <dgm:pt modelId="{4E587C6A-2699-9E44-9AA8-71FEA60A0FC3}" type="pres">
      <dgm:prSet presAssocID="{17CC1D3E-8A05-FA4E-BDDF-4C3CAEA8FC4D}" presName="text2" presStyleLbl="fgAcc2" presStyleIdx="0" presStyleCnt="2">
        <dgm:presLayoutVars>
          <dgm:chPref val="3"/>
        </dgm:presLayoutVars>
      </dgm:prSet>
      <dgm:spPr/>
    </dgm:pt>
    <dgm:pt modelId="{36C54939-7AAA-F34E-80D3-4EA66D5E789E}" type="pres">
      <dgm:prSet presAssocID="{17CC1D3E-8A05-FA4E-BDDF-4C3CAEA8FC4D}" presName="hierChild3" presStyleCnt="0"/>
      <dgm:spPr/>
    </dgm:pt>
    <dgm:pt modelId="{29C4C85E-52D3-0742-8E26-267B456C69B8}" type="pres">
      <dgm:prSet presAssocID="{32DE1487-3DF9-A448-99AB-1040DE03CB14}" presName="Name10" presStyleLbl="parChTrans1D2" presStyleIdx="1" presStyleCnt="2"/>
      <dgm:spPr/>
    </dgm:pt>
    <dgm:pt modelId="{E071A7E7-E8E5-E148-9841-B87B1EC6CC84}" type="pres">
      <dgm:prSet presAssocID="{682708EE-6B66-AA44-B7C3-88200BADB4BD}" presName="hierRoot2" presStyleCnt="0"/>
      <dgm:spPr/>
    </dgm:pt>
    <dgm:pt modelId="{B5E6FCBA-24D2-BC4E-809D-51A53254A879}" type="pres">
      <dgm:prSet presAssocID="{682708EE-6B66-AA44-B7C3-88200BADB4BD}" presName="composite2" presStyleCnt="0"/>
      <dgm:spPr/>
    </dgm:pt>
    <dgm:pt modelId="{D93372AD-F557-3D47-8CB0-D74B3D18B6C8}" type="pres">
      <dgm:prSet presAssocID="{682708EE-6B66-AA44-B7C3-88200BADB4BD}" presName="background2" presStyleLbl="node2" presStyleIdx="1" presStyleCnt="2"/>
      <dgm:spPr/>
    </dgm:pt>
    <dgm:pt modelId="{FFECE841-C12C-074A-8B00-83E2E37F12B0}" type="pres">
      <dgm:prSet presAssocID="{682708EE-6B66-AA44-B7C3-88200BADB4BD}" presName="text2" presStyleLbl="fgAcc2" presStyleIdx="1" presStyleCnt="2">
        <dgm:presLayoutVars>
          <dgm:chPref val="3"/>
        </dgm:presLayoutVars>
      </dgm:prSet>
      <dgm:spPr/>
    </dgm:pt>
    <dgm:pt modelId="{C5743591-8B81-994B-9FC9-FA7F4BAACEEE}" type="pres">
      <dgm:prSet presAssocID="{682708EE-6B66-AA44-B7C3-88200BADB4BD}" presName="hierChild3" presStyleCnt="0"/>
      <dgm:spPr/>
    </dgm:pt>
  </dgm:ptLst>
  <dgm:cxnLst>
    <dgm:cxn modelId="{3285A925-43EF-E740-AED4-02110B92CC34}" type="presOf" srcId="{18BAE1E0-2043-FE4E-8714-0DF34C88BEE6}" destId="{BE2C9A02-C666-254C-A98F-F0F1E5C1F505}" srcOrd="0" destOrd="0" presId="urn:microsoft.com/office/officeart/2005/8/layout/hierarchy1"/>
    <dgm:cxn modelId="{8D3E6627-AC03-844B-A4FA-4680B6A4D04F}" type="presOf" srcId="{17CC1D3E-8A05-FA4E-BDDF-4C3CAEA8FC4D}" destId="{4E587C6A-2699-9E44-9AA8-71FEA60A0FC3}" srcOrd="0" destOrd="0" presId="urn:microsoft.com/office/officeart/2005/8/layout/hierarchy1"/>
    <dgm:cxn modelId="{2C8D792D-6F65-734C-BE72-498AC8300E22}" srcId="{215EB88F-0E1E-E349-BC80-F916567D4FB9}" destId="{18BAE1E0-2043-FE4E-8714-0DF34C88BEE6}" srcOrd="0" destOrd="0" parTransId="{C7328ECC-8E7E-7342-A05C-E45E1C7D49C4}" sibTransId="{BE704B2E-FBB9-BD42-91C0-B4FA9FA94B9A}"/>
    <dgm:cxn modelId="{A5B58646-BBDD-9744-9243-99F8F8CE2E3E}" type="presOf" srcId="{682708EE-6B66-AA44-B7C3-88200BADB4BD}" destId="{FFECE841-C12C-074A-8B00-83E2E37F12B0}" srcOrd="0" destOrd="0" presId="urn:microsoft.com/office/officeart/2005/8/layout/hierarchy1"/>
    <dgm:cxn modelId="{6D97A56B-0750-8C4E-8AB7-798DCC2E9820}" srcId="{18BAE1E0-2043-FE4E-8714-0DF34C88BEE6}" destId="{682708EE-6B66-AA44-B7C3-88200BADB4BD}" srcOrd="1" destOrd="0" parTransId="{32DE1487-3DF9-A448-99AB-1040DE03CB14}" sibTransId="{1ED98610-57DF-7543-8855-678721E3E2BB}"/>
    <dgm:cxn modelId="{196AE99C-8E31-E14E-A6FC-E0744E3E69DC}" type="presOf" srcId="{32DE1487-3DF9-A448-99AB-1040DE03CB14}" destId="{29C4C85E-52D3-0742-8E26-267B456C69B8}" srcOrd="0" destOrd="0" presId="urn:microsoft.com/office/officeart/2005/8/layout/hierarchy1"/>
    <dgm:cxn modelId="{5420C8B9-61B9-AF46-B696-D2A2BB77E9DC}" type="presOf" srcId="{B60DF92B-31C7-684C-9862-9094BF5D1674}" destId="{12853773-B180-6746-AD5E-1E0B393F4352}" srcOrd="0" destOrd="0" presId="urn:microsoft.com/office/officeart/2005/8/layout/hierarchy1"/>
    <dgm:cxn modelId="{1E31FAF7-5656-2C4B-BCA8-850C8BA96290}" type="presOf" srcId="{215EB88F-0E1E-E349-BC80-F916567D4FB9}" destId="{E2265407-A7EF-CD43-964E-390C8413F45A}" srcOrd="0" destOrd="0" presId="urn:microsoft.com/office/officeart/2005/8/layout/hierarchy1"/>
    <dgm:cxn modelId="{9B8218FB-4E47-3D46-9401-F7EC0F411C87}" srcId="{18BAE1E0-2043-FE4E-8714-0DF34C88BEE6}" destId="{17CC1D3E-8A05-FA4E-BDDF-4C3CAEA8FC4D}" srcOrd="0" destOrd="0" parTransId="{B60DF92B-31C7-684C-9862-9094BF5D1674}" sibTransId="{74BDAAAB-045A-F343-B56A-059F0F2978BD}"/>
    <dgm:cxn modelId="{150D2C16-01F6-8844-B66A-69624CAEC5D5}" type="presParOf" srcId="{E2265407-A7EF-CD43-964E-390C8413F45A}" destId="{C66251D5-089B-104B-8513-5ABA7E78C52B}" srcOrd="0" destOrd="0" presId="urn:microsoft.com/office/officeart/2005/8/layout/hierarchy1"/>
    <dgm:cxn modelId="{7EA93F4B-8249-BA46-AEB5-C618D83A98D6}" type="presParOf" srcId="{C66251D5-089B-104B-8513-5ABA7E78C52B}" destId="{CE68FD44-22E4-EE48-8D49-4F343353BA54}" srcOrd="0" destOrd="0" presId="urn:microsoft.com/office/officeart/2005/8/layout/hierarchy1"/>
    <dgm:cxn modelId="{8AD8F14F-8999-5E4C-922C-74AA32A652BA}" type="presParOf" srcId="{CE68FD44-22E4-EE48-8D49-4F343353BA54}" destId="{69BEF586-F10B-4844-B1A1-8768E49D9744}" srcOrd="0" destOrd="0" presId="urn:microsoft.com/office/officeart/2005/8/layout/hierarchy1"/>
    <dgm:cxn modelId="{04964B77-4FAF-F34F-9A46-F4A937ABBFE9}" type="presParOf" srcId="{CE68FD44-22E4-EE48-8D49-4F343353BA54}" destId="{BE2C9A02-C666-254C-A98F-F0F1E5C1F505}" srcOrd="1" destOrd="0" presId="urn:microsoft.com/office/officeart/2005/8/layout/hierarchy1"/>
    <dgm:cxn modelId="{4D37C2F9-5632-AE4B-A343-A2998BE83455}" type="presParOf" srcId="{C66251D5-089B-104B-8513-5ABA7E78C52B}" destId="{34CF1D5B-3C54-144A-BE58-582F36950B89}" srcOrd="1" destOrd="0" presId="urn:microsoft.com/office/officeart/2005/8/layout/hierarchy1"/>
    <dgm:cxn modelId="{7FDDEAB5-70A1-CA45-AF53-B35BBB78B75C}" type="presParOf" srcId="{34CF1D5B-3C54-144A-BE58-582F36950B89}" destId="{12853773-B180-6746-AD5E-1E0B393F4352}" srcOrd="0" destOrd="0" presId="urn:microsoft.com/office/officeart/2005/8/layout/hierarchy1"/>
    <dgm:cxn modelId="{7303DE1E-3C40-5040-91B9-10B158B04000}" type="presParOf" srcId="{34CF1D5B-3C54-144A-BE58-582F36950B89}" destId="{A46FA8A2-7615-B141-821B-5C7AE192A34C}" srcOrd="1" destOrd="0" presId="urn:microsoft.com/office/officeart/2005/8/layout/hierarchy1"/>
    <dgm:cxn modelId="{3390AFFC-4F00-B14C-A30B-1655B09A27AB}" type="presParOf" srcId="{A46FA8A2-7615-B141-821B-5C7AE192A34C}" destId="{3286E70B-EC6C-3B45-A2D6-177B9B84EA37}" srcOrd="0" destOrd="0" presId="urn:microsoft.com/office/officeart/2005/8/layout/hierarchy1"/>
    <dgm:cxn modelId="{1DE7142E-ADD3-E44D-9A92-2D31E3F7FAE3}" type="presParOf" srcId="{3286E70B-EC6C-3B45-A2D6-177B9B84EA37}" destId="{B3EE14F9-8837-7148-BD6C-B0587BBD1B55}" srcOrd="0" destOrd="0" presId="urn:microsoft.com/office/officeart/2005/8/layout/hierarchy1"/>
    <dgm:cxn modelId="{AA2DC3B1-FD95-6841-9134-5C14AD0AFE2D}" type="presParOf" srcId="{3286E70B-EC6C-3B45-A2D6-177B9B84EA37}" destId="{4E587C6A-2699-9E44-9AA8-71FEA60A0FC3}" srcOrd="1" destOrd="0" presId="urn:microsoft.com/office/officeart/2005/8/layout/hierarchy1"/>
    <dgm:cxn modelId="{A542A095-503B-FD45-9CE9-1609B3BD5578}" type="presParOf" srcId="{A46FA8A2-7615-B141-821B-5C7AE192A34C}" destId="{36C54939-7AAA-F34E-80D3-4EA66D5E789E}" srcOrd="1" destOrd="0" presId="urn:microsoft.com/office/officeart/2005/8/layout/hierarchy1"/>
    <dgm:cxn modelId="{AE0A431A-5E66-894D-B48C-1D64203F4A49}" type="presParOf" srcId="{34CF1D5B-3C54-144A-BE58-582F36950B89}" destId="{29C4C85E-52D3-0742-8E26-267B456C69B8}" srcOrd="2" destOrd="0" presId="urn:microsoft.com/office/officeart/2005/8/layout/hierarchy1"/>
    <dgm:cxn modelId="{8E94F994-9BD3-924B-95ED-6B2C8BA6D8CE}" type="presParOf" srcId="{34CF1D5B-3C54-144A-BE58-582F36950B89}" destId="{E071A7E7-E8E5-E148-9841-B87B1EC6CC84}" srcOrd="3" destOrd="0" presId="urn:microsoft.com/office/officeart/2005/8/layout/hierarchy1"/>
    <dgm:cxn modelId="{AB2E91D1-0CAF-CC4D-BA1E-672BDDD9B3BE}" type="presParOf" srcId="{E071A7E7-E8E5-E148-9841-B87B1EC6CC84}" destId="{B5E6FCBA-24D2-BC4E-809D-51A53254A879}" srcOrd="0" destOrd="0" presId="urn:microsoft.com/office/officeart/2005/8/layout/hierarchy1"/>
    <dgm:cxn modelId="{12F94B6A-8FEF-364D-B18A-D639305861D5}" type="presParOf" srcId="{B5E6FCBA-24D2-BC4E-809D-51A53254A879}" destId="{D93372AD-F557-3D47-8CB0-D74B3D18B6C8}" srcOrd="0" destOrd="0" presId="urn:microsoft.com/office/officeart/2005/8/layout/hierarchy1"/>
    <dgm:cxn modelId="{BA2B6702-58AE-494C-BB78-1F13E1EA53C9}" type="presParOf" srcId="{B5E6FCBA-24D2-BC4E-809D-51A53254A879}" destId="{FFECE841-C12C-074A-8B00-83E2E37F12B0}" srcOrd="1" destOrd="0" presId="urn:microsoft.com/office/officeart/2005/8/layout/hierarchy1"/>
    <dgm:cxn modelId="{565D2075-BFD7-294A-A41C-687DE8AA4DA6}" type="presParOf" srcId="{E071A7E7-E8E5-E148-9841-B87B1EC6CC84}" destId="{C5743591-8B81-994B-9FC9-FA7F4BAACEE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C4C85E-52D3-0742-8E26-267B456C69B8}">
      <dsp:nvSpPr>
        <dsp:cNvPr id="0" name=""/>
        <dsp:cNvSpPr/>
      </dsp:nvSpPr>
      <dsp:spPr>
        <a:xfrm>
          <a:off x="3896909" y="1761841"/>
          <a:ext cx="1692708" cy="805575"/>
        </a:xfrm>
        <a:custGeom>
          <a:avLst/>
          <a:gdLst/>
          <a:ahLst/>
          <a:cxnLst/>
          <a:rect l="0" t="0" r="0" b="0"/>
          <a:pathLst>
            <a:path>
              <a:moveTo>
                <a:pt x="0" y="0"/>
              </a:moveTo>
              <a:lnTo>
                <a:pt x="0" y="548976"/>
              </a:lnTo>
              <a:lnTo>
                <a:pt x="1692708" y="548976"/>
              </a:lnTo>
              <a:lnTo>
                <a:pt x="1692708" y="805575"/>
              </a:lnTo>
            </a:path>
          </a:pathLst>
        </a:custGeom>
        <a:noFill/>
        <a:ln w="12700" cap="flat" cmpd="sng" algn="ctr">
          <a:solidFill>
            <a:schemeClr val="accent3">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12853773-B180-6746-AD5E-1E0B393F4352}">
      <dsp:nvSpPr>
        <dsp:cNvPr id="0" name=""/>
        <dsp:cNvSpPr/>
      </dsp:nvSpPr>
      <dsp:spPr>
        <a:xfrm>
          <a:off x="2204200" y="1761841"/>
          <a:ext cx="1692708" cy="805575"/>
        </a:xfrm>
        <a:custGeom>
          <a:avLst/>
          <a:gdLst/>
          <a:ahLst/>
          <a:cxnLst/>
          <a:rect l="0" t="0" r="0" b="0"/>
          <a:pathLst>
            <a:path>
              <a:moveTo>
                <a:pt x="1692708" y="0"/>
              </a:moveTo>
              <a:lnTo>
                <a:pt x="1692708" y="548976"/>
              </a:lnTo>
              <a:lnTo>
                <a:pt x="0" y="548976"/>
              </a:lnTo>
              <a:lnTo>
                <a:pt x="0" y="805575"/>
              </a:lnTo>
            </a:path>
          </a:pathLst>
        </a:custGeom>
        <a:noFill/>
        <a:ln w="12700" cap="flat" cmpd="sng" algn="ctr">
          <a:solidFill>
            <a:schemeClr val="accent3">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69BEF586-F10B-4844-B1A1-8768E49D9744}">
      <dsp:nvSpPr>
        <dsp:cNvPr id="0" name=""/>
        <dsp:cNvSpPr/>
      </dsp:nvSpPr>
      <dsp:spPr>
        <a:xfrm>
          <a:off x="2511965" y="2962"/>
          <a:ext cx="2769887" cy="1758878"/>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BE2C9A02-C666-254C-A98F-F0F1E5C1F505}">
      <dsp:nvSpPr>
        <dsp:cNvPr id="0" name=""/>
        <dsp:cNvSpPr/>
      </dsp:nvSpPr>
      <dsp:spPr>
        <a:xfrm>
          <a:off x="2819730" y="295339"/>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Views of Testing</a:t>
          </a:r>
        </a:p>
      </dsp:txBody>
      <dsp:txXfrm>
        <a:off x="2871246" y="346855"/>
        <a:ext cx="2666855" cy="1655846"/>
      </dsp:txXfrm>
    </dsp:sp>
    <dsp:sp modelId="{B3EE14F9-8837-7148-BD6C-B0587BBD1B55}">
      <dsp:nvSpPr>
        <dsp:cNvPr id="0" name=""/>
        <dsp:cNvSpPr/>
      </dsp:nvSpPr>
      <dsp:spPr>
        <a:xfrm>
          <a:off x="819256" y="2567416"/>
          <a:ext cx="2769887" cy="1758878"/>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E587C6A-2699-9E44-9AA8-71FEA60A0FC3}">
      <dsp:nvSpPr>
        <dsp:cNvPr id="0" name=""/>
        <dsp:cNvSpPr/>
      </dsp:nvSpPr>
      <dsp:spPr>
        <a:xfrm>
          <a:off x="1127022" y="2859793"/>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White Box Testing</a:t>
          </a:r>
        </a:p>
      </dsp:txBody>
      <dsp:txXfrm>
        <a:off x="1178538" y="2911309"/>
        <a:ext cx="2666855" cy="1655846"/>
      </dsp:txXfrm>
    </dsp:sp>
    <dsp:sp modelId="{D93372AD-F557-3D47-8CB0-D74B3D18B6C8}">
      <dsp:nvSpPr>
        <dsp:cNvPr id="0" name=""/>
        <dsp:cNvSpPr/>
      </dsp:nvSpPr>
      <dsp:spPr>
        <a:xfrm>
          <a:off x="4204674" y="2567416"/>
          <a:ext cx="2769887" cy="1758878"/>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FECE841-C12C-074A-8B00-83E2E37F12B0}">
      <dsp:nvSpPr>
        <dsp:cNvPr id="0" name=""/>
        <dsp:cNvSpPr/>
      </dsp:nvSpPr>
      <dsp:spPr>
        <a:xfrm>
          <a:off x="4512439" y="2859793"/>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Black Box Testing</a:t>
          </a:r>
        </a:p>
      </dsp:txBody>
      <dsp:txXfrm>
        <a:off x="4563955" y="2911309"/>
        <a:ext cx="2666855" cy="165584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A163A-3570-89D7-0F07-22B750F5B0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7A3B5C-46E2-4635-EAAC-2E7A5DE6F7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ED6BA3-A160-6073-0DD1-240AD85DCD22}"/>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8EE4EE12-9235-1EA8-9F18-99061879C5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D9A01F-1FCD-8C5F-BE5A-1B1ADE51F0CD}"/>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30203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341B-6F54-7835-0C83-63530613F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1823C-C250-173F-9A42-023E54CED6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30084E-9A3C-0CF3-0645-C3BA1A26E523}"/>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BA4AB883-2D72-76E0-852D-E370EA90F5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7E2419-942C-52A8-67C6-B0662764BD57}"/>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35850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9A683-C40E-7CCB-1FBA-08BCAA0D70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8BE00E-756E-3156-5982-C0194AE7BC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A6DE21-9FE5-C719-7D57-E292283A2BFA}"/>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0E5673D4-122F-56C6-978E-850DB8C04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FFB8FD-A9F3-E2B3-EB71-BED7F3752DB4}"/>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75534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E59A-06E9-8301-B7FA-56E6F7C85E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0A01-7B6E-6B3B-0248-F8127D82F7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95D889-08C3-DC14-B43F-09045C7BF3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5FA2D2-42EB-DB05-B7FC-F03B5E8FC825}"/>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6" name="Footer Placeholder 5">
            <a:extLst>
              <a:ext uri="{FF2B5EF4-FFF2-40B4-BE49-F238E27FC236}">
                <a16:creationId xmlns:a16="http://schemas.microsoft.com/office/drawing/2014/main" id="{967A8F76-361C-6890-E9E0-E1D9A1F431E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9B73F39-8A74-09AC-B750-EBB5F9AF2970}"/>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15916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96BC-C36F-0AB7-A27D-AE788336C7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5523F-7DE9-0241-7D9A-12E127492F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BE0257-6E00-40A9-2DBD-3EF65D71E5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CFAB4B-5B3D-9817-F764-B1086247E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E71EC6-AFC6-7AC5-E8AC-31CDE29232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1DD474-EE9E-4EE6-5DC2-90ABEEA06DDC}"/>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8" name="Footer Placeholder 7">
            <a:extLst>
              <a:ext uri="{FF2B5EF4-FFF2-40B4-BE49-F238E27FC236}">
                <a16:creationId xmlns:a16="http://schemas.microsoft.com/office/drawing/2014/main" id="{14AC6458-83C0-0786-717A-F40820FB41E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0C78BAB-B337-0F14-A241-6019CD731ACD}"/>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573691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04602-2513-7D72-4654-CAD9124E64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19486-2ED0-BA6B-7DAA-C1007EB51DB5}"/>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4" name="Footer Placeholder 3">
            <a:extLst>
              <a:ext uri="{FF2B5EF4-FFF2-40B4-BE49-F238E27FC236}">
                <a16:creationId xmlns:a16="http://schemas.microsoft.com/office/drawing/2014/main" id="{06096BBD-4F00-3791-92A4-301A6C171F9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C6DB411-EC61-8098-855F-5E123FD859E3}"/>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669606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DB5C41-B481-E296-1D00-8FEB1AA19712}"/>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3" name="Footer Placeholder 2">
            <a:extLst>
              <a:ext uri="{FF2B5EF4-FFF2-40B4-BE49-F238E27FC236}">
                <a16:creationId xmlns:a16="http://schemas.microsoft.com/office/drawing/2014/main" id="{A5E98CC0-2D0C-E3EB-9EBD-8973359CA11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B7DE930-4EF4-76B3-5585-7C3C702582D0}"/>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126901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64BF-E145-BF80-CAEB-590117C97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4C53BA-3A65-377C-ACAD-E12D2717F5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454435-C055-5A86-D17D-9E7EF99161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F959E-8CCD-A13C-77B6-F8742F78D141}"/>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6" name="Footer Placeholder 5">
            <a:extLst>
              <a:ext uri="{FF2B5EF4-FFF2-40B4-BE49-F238E27FC236}">
                <a16:creationId xmlns:a16="http://schemas.microsoft.com/office/drawing/2014/main" id="{D3AE8EC3-90A1-AA0B-89C1-E5210CFC2F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427019-6BBB-1C97-4FF3-91F2C72A9C6E}"/>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80634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B3221-8532-CA47-D086-DC9DF67EE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34212A-0C72-3700-1AF4-C2894147B8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93E07BC-ED72-ED2A-828E-A65DEB738F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612D0-E930-CB57-53EE-8C55FDA03B4A}"/>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6" name="Footer Placeholder 5">
            <a:extLst>
              <a:ext uri="{FF2B5EF4-FFF2-40B4-BE49-F238E27FC236}">
                <a16:creationId xmlns:a16="http://schemas.microsoft.com/office/drawing/2014/main" id="{6A39E44E-30F4-98A8-963B-032C035EB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E5A8E3-3631-5CEF-8412-B18336473741}"/>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22337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1730-CC68-AB20-673A-7B9C32B1FC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E00BA3-6075-692D-D3B6-8005F83DC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D299B-596A-307C-F736-C2FD83F34799}"/>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5E0BBF6D-D67F-19BA-E282-87560954E75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C97A1F-2E70-93EB-0EC4-41340A3791C6}"/>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40893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165C81-EA94-9B32-930F-AA618AD525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7D10D6-53D0-D553-4CE1-22B6F61568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39357-1747-33D9-8F02-5362C92C2101}"/>
              </a:ext>
            </a:extLst>
          </p:cNvPr>
          <p:cNvSpPr>
            <a:spLocks noGrp="1"/>
          </p:cNvSpPr>
          <p:nvPr>
            <p:ph type="dt" sz="half" idx="10"/>
          </p:nvPr>
        </p:nvSpPr>
        <p:spPr/>
        <p:txBody>
          <a:body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C888BFCA-0EDE-F191-76D2-A3936FA992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733B31-6D70-70FF-506C-7906E2BA457F}"/>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893553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788004-3EE5-FA15-D8FE-C7F17A0BC9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954CBF-CF63-24CF-5A95-8A74174015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3E5868-E661-8BE5-2D64-14FA49615B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658684-FF6E-4869-8732-BC990DF3D601}" type="datetimeFigureOut">
              <a:rPr lang="en-US" smtClean="0"/>
              <a:t>12/9/2025</a:t>
            </a:fld>
            <a:endParaRPr lang="en-US" dirty="0"/>
          </a:p>
        </p:txBody>
      </p:sp>
      <p:sp>
        <p:nvSpPr>
          <p:cNvPr id="5" name="Footer Placeholder 4">
            <a:extLst>
              <a:ext uri="{FF2B5EF4-FFF2-40B4-BE49-F238E27FC236}">
                <a16:creationId xmlns:a16="http://schemas.microsoft.com/office/drawing/2014/main" id="{324F9B56-0562-2EFF-CAD4-E240B4287C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16E238C-1075-32CE-64D1-B340BCCA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50B84D-C093-491D-97A3-78FF8ED35091}" type="slidenum">
              <a:rPr lang="en-US" smtClean="0"/>
              <a:t>‹#›</a:t>
            </a:fld>
            <a:endParaRPr lang="en-US" dirty="0"/>
          </a:p>
        </p:txBody>
      </p:sp>
    </p:spTree>
    <p:extLst>
      <p:ext uri="{BB962C8B-B14F-4D97-AF65-F5344CB8AC3E}">
        <p14:creationId xmlns:p14="http://schemas.microsoft.com/office/powerpoint/2010/main" val="365554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0B39-85C3-040E-419F-C07ED4FF13C6}"/>
              </a:ext>
            </a:extLst>
          </p:cNvPr>
          <p:cNvSpPr>
            <a:spLocks noGrp="1"/>
          </p:cNvSpPr>
          <p:nvPr>
            <p:ph type="ctrTitle"/>
          </p:nvPr>
        </p:nvSpPr>
        <p:spPr/>
        <p:txBody>
          <a:bodyPr/>
          <a:lstStyle/>
          <a:p>
            <a:r>
              <a:rPr lang="en-US" dirty="0"/>
              <a:t>Software Engineering</a:t>
            </a:r>
          </a:p>
        </p:txBody>
      </p:sp>
      <p:sp>
        <p:nvSpPr>
          <p:cNvPr id="3" name="Subtitle 2">
            <a:extLst>
              <a:ext uri="{FF2B5EF4-FFF2-40B4-BE49-F238E27FC236}">
                <a16:creationId xmlns:a16="http://schemas.microsoft.com/office/drawing/2014/main" id="{48F27142-EC5C-AECB-C4BB-3FBED841B102}"/>
              </a:ext>
            </a:extLst>
          </p:cNvPr>
          <p:cNvSpPr>
            <a:spLocks noGrp="1"/>
          </p:cNvSpPr>
          <p:nvPr>
            <p:ph type="subTitle" idx="1"/>
          </p:nvPr>
        </p:nvSpPr>
        <p:spPr/>
        <p:txBody>
          <a:bodyPr/>
          <a:lstStyle/>
          <a:p>
            <a:r>
              <a:rPr lang="en-US" dirty="0"/>
              <a:t>Dr. Md. Nasim Adnan</a:t>
            </a:r>
          </a:p>
        </p:txBody>
      </p:sp>
    </p:spTree>
    <p:extLst>
      <p:ext uri="{BB962C8B-B14F-4D97-AF65-F5344CB8AC3E}">
        <p14:creationId xmlns:p14="http://schemas.microsoft.com/office/powerpoint/2010/main" val="2268490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FD19-7174-6CED-9E00-3B98E594C9AF}"/>
              </a:ext>
            </a:extLst>
          </p:cNvPr>
          <p:cNvSpPr>
            <a:spLocks noGrp="1"/>
          </p:cNvSpPr>
          <p:nvPr>
            <p:ph type="title"/>
          </p:nvPr>
        </p:nvSpPr>
        <p:spPr/>
        <p:txBody>
          <a:bodyPr/>
          <a:lstStyle/>
          <a:p>
            <a:r>
              <a:rPr lang="en-US" dirty="0"/>
              <a:t>Internal and External Views of Testing</a:t>
            </a:r>
          </a:p>
        </p:txBody>
      </p:sp>
      <p:sp>
        <p:nvSpPr>
          <p:cNvPr id="3" name="Content Placeholder 2">
            <a:extLst>
              <a:ext uri="{FF2B5EF4-FFF2-40B4-BE49-F238E27FC236}">
                <a16:creationId xmlns:a16="http://schemas.microsoft.com/office/drawing/2014/main" id="{EB4E765B-B0DC-1C4C-18B9-CEFFD77758F5}"/>
              </a:ext>
            </a:extLst>
          </p:cNvPr>
          <p:cNvSpPr>
            <a:spLocks noGrp="1"/>
          </p:cNvSpPr>
          <p:nvPr>
            <p:ph idx="1"/>
          </p:nvPr>
        </p:nvSpPr>
        <p:spPr/>
        <p:txBody>
          <a:bodyPr>
            <a:normAutofit fontScale="92500" lnSpcReduction="20000"/>
          </a:bodyPr>
          <a:lstStyle/>
          <a:p>
            <a:pPr algn="just"/>
            <a:r>
              <a:rPr lang="en-US" dirty="0"/>
              <a:t>Any engineered product (and most other things) can be tested in one of two ways:</a:t>
            </a:r>
          </a:p>
          <a:p>
            <a:pPr algn="just"/>
            <a:r>
              <a:rPr lang="en-US" dirty="0"/>
              <a:t> (1) Knowing the specified functions that a product has been designed to perform, tests can be conducted that demonstrate each function is fully operational while at the same time searching for errors in each function. </a:t>
            </a:r>
          </a:p>
          <a:p>
            <a:pPr algn="just"/>
            <a:r>
              <a:rPr lang="en-US" dirty="0"/>
              <a:t>(2) Knowing the internal workings of a product, tests can be conducted to ensure that “all gears mesh,” that is, internal operations are performed according to design specifications and all internal components have been adequately exercised.</a:t>
            </a:r>
          </a:p>
          <a:p>
            <a:pPr algn="just"/>
            <a:r>
              <a:rPr lang="en-US" dirty="0"/>
              <a:t>The first test approach takes an external view and is called black-box testing.</a:t>
            </a:r>
          </a:p>
          <a:p>
            <a:pPr algn="just"/>
            <a:r>
              <a:rPr lang="en-US" dirty="0"/>
              <a:t>The second requires an internal view and is termed white-box testing.</a:t>
            </a:r>
          </a:p>
        </p:txBody>
      </p:sp>
    </p:spTree>
    <p:extLst>
      <p:ext uri="{BB962C8B-B14F-4D97-AF65-F5344CB8AC3E}">
        <p14:creationId xmlns:p14="http://schemas.microsoft.com/office/powerpoint/2010/main" val="1096517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E20BD-7D7E-52FE-097A-3AB57CC6AD2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E10EB03-8312-AE33-775C-C74D89E06ED0}"/>
              </a:ext>
            </a:extLst>
          </p:cNvPr>
          <p:cNvSpPr>
            <a:spLocks noGrp="1"/>
          </p:cNvSpPr>
          <p:nvPr>
            <p:ph idx="1"/>
          </p:nvPr>
        </p:nvSpPr>
        <p:spPr/>
        <p:txBody>
          <a:bodyPr/>
          <a:lstStyle/>
          <a:p>
            <a:endParaRPr lang="en-US" dirty="0"/>
          </a:p>
        </p:txBody>
      </p:sp>
      <p:graphicFrame>
        <p:nvGraphicFramePr>
          <p:cNvPr id="4" name="Content Placeholder 4">
            <a:extLst>
              <a:ext uri="{FF2B5EF4-FFF2-40B4-BE49-F238E27FC236}">
                <a16:creationId xmlns:a16="http://schemas.microsoft.com/office/drawing/2014/main" id="{A2847DB2-D1E5-BAB7-7CBB-309B4840AEB8}"/>
              </a:ext>
            </a:extLst>
          </p:cNvPr>
          <p:cNvGraphicFramePr>
            <a:graphicFrameLocks/>
          </p:cNvGraphicFramePr>
          <p:nvPr>
            <p:extLst>
              <p:ext uri="{D42A27DB-BD31-4B8C-83A1-F6EECF244321}">
                <p14:modId xmlns:p14="http://schemas.microsoft.com/office/powerpoint/2010/main" val="3436673478"/>
              </p:ext>
            </p:extLst>
          </p:nvPr>
        </p:nvGraphicFramePr>
        <p:xfrm>
          <a:off x="2236937" y="1009983"/>
          <a:ext cx="8101584" cy="4621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776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CBB5-C5A3-86DC-00A3-D065AE71824B}"/>
              </a:ext>
            </a:extLst>
          </p:cNvPr>
          <p:cNvSpPr>
            <a:spLocks noGrp="1"/>
          </p:cNvSpPr>
          <p:nvPr>
            <p:ph type="title"/>
          </p:nvPr>
        </p:nvSpPr>
        <p:spPr/>
        <p:txBody>
          <a:bodyPr/>
          <a:lstStyle/>
          <a:p>
            <a:r>
              <a:rPr lang="en-US" dirty="0"/>
              <a:t>Black-box testing</a:t>
            </a:r>
          </a:p>
        </p:txBody>
      </p:sp>
      <p:sp>
        <p:nvSpPr>
          <p:cNvPr id="3" name="Content Placeholder 2">
            <a:extLst>
              <a:ext uri="{FF2B5EF4-FFF2-40B4-BE49-F238E27FC236}">
                <a16:creationId xmlns:a16="http://schemas.microsoft.com/office/drawing/2014/main" id="{8A5E41FE-8085-5697-D28E-2EFC5F54318C}"/>
              </a:ext>
            </a:extLst>
          </p:cNvPr>
          <p:cNvSpPr>
            <a:spLocks noGrp="1"/>
          </p:cNvSpPr>
          <p:nvPr>
            <p:ph idx="1"/>
          </p:nvPr>
        </p:nvSpPr>
        <p:spPr/>
        <p:txBody>
          <a:bodyPr/>
          <a:lstStyle/>
          <a:p>
            <a:pPr algn="just"/>
            <a:r>
              <a:rPr lang="en-US" dirty="0"/>
              <a:t>Black-box testing alludes to tests that are conducted at the software interface. A black-box test examines some fundamental aspect of a system with little or no regard for the internal logical structure of the software.</a:t>
            </a:r>
          </a:p>
          <a:p>
            <a:pPr algn="just"/>
            <a:endParaRPr lang="en-US" dirty="0"/>
          </a:p>
          <a:p>
            <a:pPr algn="just"/>
            <a:endParaRPr lang="en-US" dirty="0"/>
          </a:p>
        </p:txBody>
      </p:sp>
      <p:sp>
        <p:nvSpPr>
          <p:cNvPr id="4" name="Rounded Rectangle 3"/>
          <p:cNvSpPr/>
          <p:nvPr/>
        </p:nvSpPr>
        <p:spPr>
          <a:xfrm>
            <a:off x="4793804" y="3730518"/>
            <a:ext cx="3000788" cy="2004790"/>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t>Internal Logical Structure</a:t>
            </a:r>
            <a:endParaRPr lang="en-US" dirty="0">
              <a:latin typeface="Cambria"/>
              <a:cs typeface="Cambria"/>
            </a:endParaRPr>
          </a:p>
        </p:txBody>
      </p:sp>
      <p:sp>
        <p:nvSpPr>
          <p:cNvPr id="5" name="Right Arrow 4"/>
          <p:cNvSpPr/>
          <p:nvPr/>
        </p:nvSpPr>
        <p:spPr>
          <a:xfrm>
            <a:off x="2042043" y="4054273"/>
            <a:ext cx="2751761" cy="1382184"/>
          </a:xfrm>
          <a:prstGeom prst="rightArrow">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mbria"/>
                <a:cs typeface="Cambria"/>
              </a:rPr>
              <a:t>Test Case Input</a:t>
            </a:r>
          </a:p>
        </p:txBody>
      </p:sp>
      <p:sp>
        <p:nvSpPr>
          <p:cNvPr id="6" name="Right Arrow 5"/>
          <p:cNvSpPr/>
          <p:nvPr/>
        </p:nvSpPr>
        <p:spPr>
          <a:xfrm>
            <a:off x="7794592" y="4054273"/>
            <a:ext cx="2411292" cy="1382184"/>
          </a:xfrm>
          <a:prstGeom prst="rightArrow">
            <a:avLst/>
          </a:prstGeom>
          <a:solidFill>
            <a:srgbClr val="29293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mbria"/>
                <a:cs typeface="Cambria"/>
              </a:rPr>
              <a:t>Test Case Output</a:t>
            </a:r>
          </a:p>
        </p:txBody>
      </p:sp>
    </p:spTree>
    <p:extLst>
      <p:ext uri="{BB962C8B-B14F-4D97-AF65-F5344CB8AC3E}">
        <p14:creationId xmlns:p14="http://schemas.microsoft.com/office/powerpoint/2010/main" val="2494037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64E7-1CA7-0CC4-E552-96C65F44B542}"/>
              </a:ext>
            </a:extLst>
          </p:cNvPr>
          <p:cNvSpPr>
            <a:spLocks noGrp="1"/>
          </p:cNvSpPr>
          <p:nvPr>
            <p:ph type="title"/>
          </p:nvPr>
        </p:nvSpPr>
        <p:spPr>
          <a:xfrm>
            <a:off x="720213" y="380462"/>
            <a:ext cx="10515600" cy="1325563"/>
          </a:xfrm>
        </p:spPr>
        <p:txBody>
          <a:bodyPr/>
          <a:lstStyle/>
          <a:p>
            <a:r>
              <a:rPr lang="en-US" dirty="0"/>
              <a:t>White-box testing</a:t>
            </a:r>
          </a:p>
        </p:txBody>
      </p:sp>
      <p:sp>
        <p:nvSpPr>
          <p:cNvPr id="3" name="Content Placeholder 2">
            <a:extLst>
              <a:ext uri="{FF2B5EF4-FFF2-40B4-BE49-F238E27FC236}">
                <a16:creationId xmlns:a16="http://schemas.microsoft.com/office/drawing/2014/main" id="{DB012B24-DBC0-B16A-4C1D-F27F6AE34A0D}"/>
              </a:ext>
            </a:extLst>
          </p:cNvPr>
          <p:cNvSpPr>
            <a:spLocks noGrp="1"/>
          </p:cNvSpPr>
          <p:nvPr>
            <p:ph idx="1"/>
          </p:nvPr>
        </p:nvSpPr>
        <p:spPr>
          <a:xfrm>
            <a:off x="589935" y="1825625"/>
            <a:ext cx="3832761" cy="4351338"/>
          </a:xfrm>
        </p:spPr>
        <p:txBody>
          <a:bodyPr>
            <a:normAutofit lnSpcReduction="10000"/>
          </a:bodyPr>
          <a:lstStyle/>
          <a:p>
            <a:pPr algn="just"/>
            <a:r>
              <a:rPr lang="en-US" dirty="0"/>
              <a:t>White-box testing of software is predicated on close examination of procedural detail.</a:t>
            </a:r>
          </a:p>
          <a:p>
            <a:pPr algn="just"/>
            <a:r>
              <a:rPr lang="en-US" dirty="0"/>
              <a:t>Logical paths through the software and collaborations between components are tested by exercising specific sets of conditions and/or loops.</a:t>
            </a:r>
          </a:p>
        </p:txBody>
      </p:sp>
      <p:sp>
        <p:nvSpPr>
          <p:cNvPr id="4" name="Right Arrow 2"/>
          <p:cNvSpPr/>
          <p:nvPr/>
        </p:nvSpPr>
        <p:spPr>
          <a:xfrm>
            <a:off x="4551117" y="4499551"/>
            <a:ext cx="2452927" cy="114559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Test Case Input</a:t>
            </a:r>
          </a:p>
        </p:txBody>
      </p:sp>
      <p:sp>
        <p:nvSpPr>
          <p:cNvPr id="5" name="Rounded Rectangle 3"/>
          <p:cNvSpPr/>
          <p:nvPr/>
        </p:nvSpPr>
        <p:spPr>
          <a:xfrm>
            <a:off x="7004044" y="3864493"/>
            <a:ext cx="2726857" cy="24157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Internal Logical Structure</a:t>
            </a:r>
            <a:endParaRPr lang="en-US" dirty="0">
              <a:latin typeface="Cambria"/>
              <a:cs typeface="Cambria"/>
            </a:endParaRPr>
          </a:p>
        </p:txBody>
      </p:sp>
      <p:sp>
        <p:nvSpPr>
          <p:cNvPr id="6" name="Right Arrow 4"/>
          <p:cNvSpPr/>
          <p:nvPr/>
        </p:nvSpPr>
        <p:spPr>
          <a:xfrm>
            <a:off x="9730902" y="4375030"/>
            <a:ext cx="2461098" cy="1270115"/>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Test Case Output</a:t>
            </a:r>
          </a:p>
        </p:txBody>
      </p:sp>
      <p:sp>
        <p:nvSpPr>
          <p:cNvPr id="7" name="Oval 6"/>
          <p:cNvSpPr>
            <a:spLocks noChangeArrowheads="1"/>
          </p:cNvSpPr>
          <p:nvPr/>
        </p:nvSpPr>
        <p:spPr bwMode="auto">
          <a:xfrm>
            <a:off x="9108858" y="1835406"/>
            <a:ext cx="63500" cy="101600"/>
          </a:xfrm>
          <a:prstGeom prst="ellipse">
            <a:avLst/>
          </a:prstGeom>
          <a:solidFill>
            <a:srgbClr val="FFFFFF"/>
          </a:solidFill>
          <a:ln w="25400">
            <a:solidFill>
              <a:schemeClr val="tx1"/>
            </a:solidFill>
            <a:round/>
            <a:headEnd/>
            <a:tailEnd/>
          </a:ln>
        </p:spPr>
        <p:txBody>
          <a:bodyPr wrap="none" anchor="ctr"/>
          <a:lstStyle/>
          <a:p>
            <a:endParaRPr lang="en-US" dirty="0"/>
          </a:p>
        </p:txBody>
      </p:sp>
      <p:sp>
        <p:nvSpPr>
          <p:cNvPr id="8" name="Oval 7"/>
          <p:cNvSpPr>
            <a:spLocks noChangeArrowheads="1"/>
          </p:cNvSpPr>
          <p:nvPr/>
        </p:nvSpPr>
        <p:spPr bwMode="auto">
          <a:xfrm>
            <a:off x="9096158" y="1822706"/>
            <a:ext cx="88900" cy="127000"/>
          </a:xfrm>
          <a:prstGeom prst="ellipse">
            <a:avLst/>
          </a:prstGeom>
          <a:noFill/>
          <a:ln w="25400">
            <a:solidFill>
              <a:schemeClr val="tx1"/>
            </a:solidFill>
            <a:round/>
            <a:headEnd/>
            <a:tailEnd/>
          </a:ln>
        </p:spPr>
        <p:txBody>
          <a:bodyPr wrap="none" anchor="ctr"/>
          <a:lstStyle/>
          <a:p>
            <a:endParaRPr lang="en-US" dirty="0"/>
          </a:p>
        </p:txBody>
      </p:sp>
      <p:sp>
        <p:nvSpPr>
          <p:cNvPr id="9" name="Line 5"/>
          <p:cNvSpPr>
            <a:spLocks noChangeShapeType="1"/>
          </p:cNvSpPr>
          <p:nvPr/>
        </p:nvSpPr>
        <p:spPr bwMode="auto">
          <a:xfrm>
            <a:off x="9146958" y="1962406"/>
            <a:ext cx="0" cy="76200"/>
          </a:xfrm>
          <a:prstGeom prst="line">
            <a:avLst/>
          </a:prstGeom>
          <a:noFill/>
          <a:ln w="25400">
            <a:solidFill>
              <a:schemeClr val="tx1"/>
            </a:solidFill>
            <a:round/>
            <a:headEnd/>
            <a:tailEnd/>
          </a:ln>
        </p:spPr>
        <p:txBody>
          <a:bodyPr wrap="none" anchor="ctr"/>
          <a:lstStyle/>
          <a:p>
            <a:endParaRPr lang="en-US" dirty="0"/>
          </a:p>
        </p:txBody>
      </p:sp>
      <p:sp>
        <p:nvSpPr>
          <p:cNvPr id="10" name="Rectangle 9"/>
          <p:cNvSpPr>
            <a:spLocks noChangeArrowheads="1"/>
          </p:cNvSpPr>
          <p:nvPr/>
        </p:nvSpPr>
        <p:spPr bwMode="auto">
          <a:xfrm>
            <a:off x="8969158" y="20894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1" name="Rectangle 10"/>
          <p:cNvSpPr>
            <a:spLocks noChangeArrowheads="1"/>
          </p:cNvSpPr>
          <p:nvPr/>
        </p:nvSpPr>
        <p:spPr bwMode="auto">
          <a:xfrm>
            <a:off x="8956458" y="20767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2" name="Line 8"/>
          <p:cNvSpPr>
            <a:spLocks noChangeShapeType="1"/>
          </p:cNvSpPr>
          <p:nvPr/>
        </p:nvSpPr>
        <p:spPr bwMode="auto">
          <a:xfrm>
            <a:off x="9146958" y="2292606"/>
            <a:ext cx="0" cy="63500"/>
          </a:xfrm>
          <a:prstGeom prst="line">
            <a:avLst/>
          </a:prstGeom>
          <a:noFill/>
          <a:ln w="25400">
            <a:solidFill>
              <a:schemeClr val="tx1"/>
            </a:solidFill>
            <a:round/>
            <a:headEnd/>
            <a:tailEnd/>
          </a:ln>
        </p:spPr>
        <p:txBody>
          <a:bodyPr wrap="none" anchor="ctr"/>
          <a:lstStyle/>
          <a:p>
            <a:endParaRPr lang="en-US" dirty="0"/>
          </a:p>
        </p:txBody>
      </p:sp>
      <p:sp>
        <p:nvSpPr>
          <p:cNvPr id="13" name="Line 9"/>
          <p:cNvSpPr>
            <a:spLocks noChangeShapeType="1"/>
          </p:cNvSpPr>
          <p:nvPr/>
        </p:nvSpPr>
        <p:spPr bwMode="auto">
          <a:xfrm flipH="1">
            <a:off x="8575458" y="2457706"/>
            <a:ext cx="355600" cy="0"/>
          </a:xfrm>
          <a:prstGeom prst="line">
            <a:avLst/>
          </a:prstGeom>
          <a:noFill/>
          <a:ln w="25400">
            <a:solidFill>
              <a:schemeClr val="tx1"/>
            </a:solidFill>
            <a:round/>
            <a:headEnd/>
            <a:tailEnd/>
          </a:ln>
        </p:spPr>
        <p:txBody>
          <a:bodyPr wrap="none" anchor="ctr"/>
          <a:lstStyle/>
          <a:p>
            <a:endParaRPr lang="en-US" dirty="0"/>
          </a:p>
        </p:txBody>
      </p:sp>
      <p:sp>
        <p:nvSpPr>
          <p:cNvPr id="14" name="Rectangle 13"/>
          <p:cNvSpPr>
            <a:spLocks noChangeArrowheads="1"/>
          </p:cNvSpPr>
          <p:nvPr/>
        </p:nvSpPr>
        <p:spPr bwMode="auto">
          <a:xfrm>
            <a:off x="8410358" y="26355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5" name="Rectangle 14"/>
          <p:cNvSpPr>
            <a:spLocks noChangeArrowheads="1"/>
          </p:cNvSpPr>
          <p:nvPr/>
        </p:nvSpPr>
        <p:spPr bwMode="auto">
          <a:xfrm>
            <a:off x="8397658" y="26228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6" name="Rectangle 15"/>
          <p:cNvSpPr>
            <a:spLocks noChangeArrowheads="1"/>
          </p:cNvSpPr>
          <p:nvPr/>
        </p:nvSpPr>
        <p:spPr bwMode="auto">
          <a:xfrm>
            <a:off x="9527958" y="26609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7" name="Rectangle 16"/>
          <p:cNvSpPr>
            <a:spLocks noChangeArrowheads="1"/>
          </p:cNvSpPr>
          <p:nvPr/>
        </p:nvSpPr>
        <p:spPr bwMode="auto">
          <a:xfrm>
            <a:off x="9515258" y="26482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8" name="Line 14"/>
          <p:cNvSpPr>
            <a:spLocks noChangeShapeType="1"/>
          </p:cNvSpPr>
          <p:nvPr/>
        </p:nvSpPr>
        <p:spPr bwMode="auto">
          <a:xfrm>
            <a:off x="8588158" y="2457706"/>
            <a:ext cx="0" cy="152400"/>
          </a:xfrm>
          <a:prstGeom prst="line">
            <a:avLst/>
          </a:prstGeom>
          <a:noFill/>
          <a:ln w="25400">
            <a:solidFill>
              <a:schemeClr val="tx1"/>
            </a:solidFill>
            <a:round/>
            <a:headEnd/>
            <a:tailEnd/>
          </a:ln>
        </p:spPr>
        <p:txBody>
          <a:bodyPr wrap="none" anchor="ctr"/>
          <a:lstStyle/>
          <a:p>
            <a:endParaRPr lang="en-US" dirty="0"/>
          </a:p>
        </p:txBody>
      </p:sp>
      <p:sp>
        <p:nvSpPr>
          <p:cNvPr id="19" name="Line 15"/>
          <p:cNvSpPr>
            <a:spLocks noChangeShapeType="1"/>
          </p:cNvSpPr>
          <p:nvPr/>
        </p:nvSpPr>
        <p:spPr bwMode="auto">
          <a:xfrm flipH="1">
            <a:off x="9350158" y="2457706"/>
            <a:ext cx="355600" cy="0"/>
          </a:xfrm>
          <a:prstGeom prst="line">
            <a:avLst/>
          </a:prstGeom>
          <a:noFill/>
          <a:ln w="25400">
            <a:solidFill>
              <a:schemeClr val="tx1"/>
            </a:solidFill>
            <a:round/>
            <a:headEnd/>
            <a:tailEnd/>
          </a:ln>
        </p:spPr>
        <p:txBody>
          <a:bodyPr wrap="none" anchor="ctr"/>
          <a:lstStyle/>
          <a:p>
            <a:endParaRPr lang="en-US" dirty="0"/>
          </a:p>
        </p:txBody>
      </p:sp>
      <p:sp>
        <p:nvSpPr>
          <p:cNvPr id="20" name="Line 16"/>
          <p:cNvSpPr>
            <a:spLocks noChangeShapeType="1"/>
          </p:cNvSpPr>
          <p:nvPr/>
        </p:nvSpPr>
        <p:spPr bwMode="auto">
          <a:xfrm>
            <a:off x="9705758" y="2457706"/>
            <a:ext cx="0" cy="152400"/>
          </a:xfrm>
          <a:prstGeom prst="line">
            <a:avLst/>
          </a:prstGeom>
          <a:noFill/>
          <a:ln w="25400">
            <a:solidFill>
              <a:schemeClr val="tx1"/>
            </a:solidFill>
            <a:round/>
            <a:headEnd/>
            <a:tailEnd/>
          </a:ln>
        </p:spPr>
        <p:txBody>
          <a:bodyPr wrap="none" anchor="ctr"/>
          <a:lstStyle/>
          <a:p>
            <a:endParaRPr lang="en-US" dirty="0"/>
          </a:p>
        </p:txBody>
      </p:sp>
      <p:sp>
        <p:nvSpPr>
          <p:cNvPr id="21" name="Line 17"/>
          <p:cNvSpPr>
            <a:spLocks noChangeShapeType="1"/>
          </p:cNvSpPr>
          <p:nvPr/>
        </p:nvSpPr>
        <p:spPr bwMode="auto">
          <a:xfrm>
            <a:off x="8588158" y="2838706"/>
            <a:ext cx="0" cy="101600"/>
          </a:xfrm>
          <a:prstGeom prst="line">
            <a:avLst/>
          </a:prstGeom>
          <a:noFill/>
          <a:ln w="25400">
            <a:solidFill>
              <a:schemeClr val="tx1"/>
            </a:solidFill>
            <a:round/>
            <a:headEnd/>
            <a:tailEnd/>
          </a:ln>
        </p:spPr>
        <p:txBody>
          <a:bodyPr wrap="none" anchor="ctr"/>
          <a:lstStyle/>
          <a:p>
            <a:endParaRPr lang="en-US" dirty="0"/>
          </a:p>
        </p:txBody>
      </p:sp>
      <p:sp>
        <p:nvSpPr>
          <p:cNvPr id="22" name="Line 18"/>
          <p:cNvSpPr>
            <a:spLocks noChangeShapeType="1"/>
          </p:cNvSpPr>
          <p:nvPr/>
        </p:nvSpPr>
        <p:spPr bwMode="auto">
          <a:xfrm>
            <a:off x="9705758" y="2864106"/>
            <a:ext cx="0" cy="101600"/>
          </a:xfrm>
          <a:prstGeom prst="line">
            <a:avLst/>
          </a:prstGeom>
          <a:noFill/>
          <a:ln w="25400">
            <a:solidFill>
              <a:schemeClr val="tx1"/>
            </a:solidFill>
            <a:round/>
            <a:headEnd/>
            <a:tailEnd/>
          </a:ln>
        </p:spPr>
        <p:txBody>
          <a:bodyPr wrap="none" anchor="ctr"/>
          <a:lstStyle/>
          <a:p>
            <a:endParaRPr lang="en-US" dirty="0"/>
          </a:p>
        </p:txBody>
      </p:sp>
      <p:sp>
        <p:nvSpPr>
          <p:cNvPr id="23" name="Line 19"/>
          <p:cNvSpPr>
            <a:spLocks noChangeShapeType="1"/>
          </p:cNvSpPr>
          <p:nvPr/>
        </p:nvSpPr>
        <p:spPr bwMode="auto">
          <a:xfrm>
            <a:off x="8588158" y="2978406"/>
            <a:ext cx="1104900" cy="0"/>
          </a:xfrm>
          <a:prstGeom prst="line">
            <a:avLst/>
          </a:prstGeom>
          <a:noFill/>
          <a:ln w="25400">
            <a:solidFill>
              <a:schemeClr val="tx1"/>
            </a:solidFill>
            <a:round/>
            <a:headEnd/>
            <a:tailEnd/>
          </a:ln>
        </p:spPr>
        <p:txBody>
          <a:bodyPr wrap="none" anchor="ctr"/>
          <a:lstStyle/>
          <a:p>
            <a:endParaRPr lang="en-US" dirty="0"/>
          </a:p>
        </p:txBody>
      </p:sp>
      <p:sp>
        <p:nvSpPr>
          <p:cNvPr id="24" name="Line 20"/>
          <p:cNvSpPr>
            <a:spLocks noChangeShapeType="1"/>
          </p:cNvSpPr>
          <p:nvPr/>
        </p:nvSpPr>
        <p:spPr bwMode="auto">
          <a:xfrm>
            <a:off x="9146958" y="2978406"/>
            <a:ext cx="0" cy="152400"/>
          </a:xfrm>
          <a:prstGeom prst="line">
            <a:avLst/>
          </a:prstGeom>
          <a:noFill/>
          <a:ln w="25400">
            <a:solidFill>
              <a:schemeClr val="tx1"/>
            </a:solidFill>
            <a:round/>
            <a:headEnd/>
            <a:tailEnd/>
          </a:ln>
        </p:spPr>
        <p:txBody>
          <a:bodyPr wrap="none" anchor="ctr"/>
          <a:lstStyle/>
          <a:p>
            <a:endParaRPr lang="en-US" dirty="0"/>
          </a:p>
        </p:txBody>
      </p:sp>
      <p:sp>
        <p:nvSpPr>
          <p:cNvPr id="25" name="Rectangle 24"/>
          <p:cNvSpPr>
            <a:spLocks noChangeArrowheads="1"/>
          </p:cNvSpPr>
          <p:nvPr/>
        </p:nvSpPr>
        <p:spPr bwMode="auto">
          <a:xfrm>
            <a:off x="8969158" y="31816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26" name="Rectangle 25"/>
          <p:cNvSpPr>
            <a:spLocks noChangeArrowheads="1"/>
          </p:cNvSpPr>
          <p:nvPr/>
        </p:nvSpPr>
        <p:spPr bwMode="auto">
          <a:xfrm>
            <a:off x="8956458" y="31689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27" name="Line 23"/>
          <p:cNvSpPr>
            <a:spLocks noChangeShapeType="1"/>
          </p:cNvSpPr>
          <p:nvPr/>
        </p:nvSpPr>
        <p:spPr bwMode="auto">
          <a:xfrm>
            <a:off x="9146958" y="3384806"/>
            <a:ext cx="0" cy="190500"/>
          </a:xfrm>
          <a:prstGeom prst="line">
            <a:avLst/>
          </a:prstGeom>
          <a:noFill/>
          <a:ln w="25400">
            <a:solidFill>
              <a:schemeClr val="tx1"/>
            </a:solidFill>
            <a:round/>
            <a:headEnd/>
            <a:tailEnd/>
          </a:ln>
        </p:spPr>
        <p:txBody>
          <a:bodyPr wrap="none" anchor="ctr"/>
          <a:lstStyle/>
          <a:p>
            <a:endParaRPr lang="en-US" dirty="0"/>
          </a:p>
        </p:txBody>
      </p:sp>
      <p:sp>
        <p:nvSpPr>
          <p:cNvPr id="28" name="Line 24"/>
          <p:cNvSpPr>
            <a:spLocks noChangeShapeType="1"/>
          </p:cNvSpPr>
          <p:nvPr/>
        </p:nvSpPr>
        <p:spPr bwMode="auto">
          <a:xfrm>
            <a:off x="9146958" y="3689606"/>
            <a:ext cx="0" cy="63500"/>
          </a:xfrm>
          <a:prstGeom prst="line">
            <a:avLst/>
          </a:prstGeom>
          <a:noFill/>
          <a:ln w="25400">
            <a:solidFill>
              <a:schemeClr val="tx1"/>
            </a:solidFill>
            <a:round/>
            <a:headEnd/>
            <a:tailEnd/>
          </a:ln>
        </p:spPr>
        <p:txBody>
          <a:bodyPr wrap="none" anchor="ctr"/>
          <a:lstStyle/>
          <a:p>
            <a:endParaRPr lang="en-US" dirty="0"/>
          </a:p>
        </p:txBody>
      </p:sp>
      <p:sp>
        <p:nvSpPr>
          <p:cNvPr id="29" name="Line 25"/>
          <p:cNvSpPr>
            <a:spLocks noChangeShapeType="1"/>
          </p:cNvSpPr>
          <p:nvPr/>
        </p:nvSpPr>
        <p:spPr bwMode="auto">
          <a:xfrm>
            <a:off x="9146958" y="2013206"/>
            <a:ext cx="863600" cy="0"/>
          </a:xfrm>
          <a:prstGeom prst="line">
            <a:avLst/>
          </a:prstGeom>
          <a:noFill/>
          <a:ln w="25400">
            <a:solidFill>
              <a:schemeClr val="tx1"/>
            </a:solidFill>
            <a:round/>
            <a:headEnd/>
            <a:tailEnd/>
          </a:ln>
        </p:spPr>
        <p:txBody>
          <a:bodyPr wrap="none" anchor="ctr"/>
          <a:lstStyle/>
          <a:p>
            <a:endParaRPr lang="en-US" dirty="0"/>
          </a:p>
        </p:txBody>
      </p:sp>
      <p:sp>
        <p:nvSpPr>
          <p:cNvPr id="30" name="Line 26"/>
          <p:cNvSpPr>
            <a:spLocks noChangeShapeType="1"/>
          </p:cNvSpPr>
          <p:nvPr/>
        </p:nvSpPr>
        <p:spPr bwMode="auto">
          <a:xfrm>
            <a:off x="9146958" y="3740406"/>
            <a:ext cx="863600" cy="0"/>
          </a:xfrm>
          <a:prstGeom prst="line">
            <a:avLst/>
          </a:prstGeom>
          <a:noFill/>
          <a:ln w="25400">
            <a:solidFill>
              <a:schemeClr val="tx1"/>
            </a:solidFill>
            <a:round/>
            <a:headEnd/>
            <a:tailEnd/>
          </a:ln>
        </p:spPr>
        <p:txBody>
          <a:bodyPr wrap="none" anchor="ctr"/>
          <a:lstStyle/>
          <a:p>
            <a:endParaRPr lang="en-US" dirty="0"/>
          </a:p>
        </p:txBody>
      </p:sp>
      <p:sp>
        <p:nvSpPr>
          <p:cNvPr id="31" name="Line 27"/>
          <p:cNvSpPr>
            <a:spLocks noChangeShapeType="1"/>
          </p:cNvSpPr>
          <p:nvPr/>
        </p:nvSpPr>
        <p:spPr bwMode="auto">
          <a:xfrm>
            <a:off x="10023258" y="2013206"/>
            <a:ext cx="0" cy="1714500"/>
          </a:xfrm>
          <a:prstGeom prst="line">
            <a:avLst/>
          </a:prstGeom>
          <a:noFill/>
          <a:ln w="25400">
            <a:solidFill>
              <a:schemeClr val="tx1"/>
            </a:solidFill>
            <a:round/>
            <a:headEnd/>
            <a:tailEnd/>
          </a:ln>
        </p:spPr>
        <p:txBody>
          <a:bodyPr wrap="none" anchor="ctr"/>
          <a:lstStyle/>
          <a:p>
            <a:endParaRPr lang="en-US" dirty="0"/>
          </a:p>
        </p:txBody>
      </p:sp>
      <p:sp>
        <p:nvSpPr>
          <p:cNvPr id="32" name="AutoShape 31"/>
          <p:cNvSpPr>
            <a:spLocks noChangeArrowheads="1"/>
          </p:cNvSpPr>
          <p:nvPr/>
        </p:nvSpPr>
        <p:spPr bwMode="auto">
          <a:xfrm>
            <a:off x="8918358" y="2343406"/>
            <a:ext cx="444500" cy="241300"/>
          </a:xfrm>
          <a:prstGeom prst="diamond">
            <a:avLst/>
          </a:prstGeom>
          <a:solidFill>
            <a:schemeClr val="tx2"/>
          </a:solidFill>
          <a:ln w="25400">
            <a:solidFill>
              <a:schemeClr val="tx1"/>
            </a:solidFill>
            <a:miter lim="800000"/>
            <a:headEnd/>
            <a:tailEnd/>
          </a:ln>
        </p:spPr>
        <p:txBody>
          <a:bodyPr wrap="none" anchor="ctr"/>
          <a:lstStyle/>
          <a:p>
            <a:endParaRPr lang="en-US" dirty="0"/>
          </a:p>
        </p:txBody>
      </p:sp>
      <p:sp>
        <p:nvSpPr>
          <p:cNvPr id="33" name="AutoShape 32"/>
          <p:cNvSpPr>
            <a:spLocks noChangeArrowheads="1"/>
          </p:cNvSpPr>
          <p:nvPr/>
        </p:nvSpPr>
        <p:spPr bwMode="auto">
          <a:xfrm>
            <a:off x="8918358" y="3600706"/>
            <a:ext cx="444500" cy="241300"/>
          </a:xfrm>
          <a:prstGeom prst="diamond">
            <a:avLst/>
          </a:prstGeom>
          <a:solidFill>
            <a:schemeClr val="tx2"/>
          </a:solidFill>
          <a:ln w="25400">
            <a:solidFill>
              <a:schemeClr val="tx1"/>
            </a:solidFill>
            <a:miter lim="800000"/>
            <a:headEnd/>
            <a:tailEnd/>
          </a:ln>
        </p:spPr>
        <p:txBody>
          <a:bodyPr wrap="none" anchor="ctr"/>
          <a:lstStyle/>
          <a:p>
            <a:endParaRPr lang="en-US" dirty="0"/>
          </a:p>
        </p:txBody>
      </p:sp>
      <p:sp>
        <p:nvSpPr>
          <p:cNvPr id="34" name="Line 33"/>
          <p:cNvSpPr>
            <a:spLocks noChangeShapeType="1"/>
          </p:cNvSpPr>
          <p:nvPr/>
        </p:nvSpPr>
        <p:spPr bwMode="auto">
          <a:xfrm>
            <a:off x="9146958" y="3880106"/>
            <a:ext cx="0" cy="317500"/>
          </a:xfrm>
          <a:prstGeom prst="line">
            <a:avLst/>
          </a:prstGeom>
          <a:noFill/>
          <a:ln w="25400">
            <a:solidFill>
              <a:schemeClr val="tx1"/>
            </a:solidFill>
            <a:round/>
            <a:headEnd/>
            <a:tailEnd type="triangle" w="med" len="med"/>
          </a:ln>
        </p:spPr>
        <p:txBody>
          <a:bodyPr wrap="none" anchor="ctr"/>
          <a:lstStyle/>
          <a:p>
            <a:endParaRPr lang="en-US" dirty="0"/>
          </a:p>
        </p:txBody>
      </p:sp>
      <p:pic>
        <p:nvPicPr>
          <p:cNvPr id="35" name="Picture 34"/>
          <p:cNvPicPr>
            <a:picLocks noChangeArrowheads="1"/>
          </p:cNvPicPr>
          <p:nvPr/>
        </p:nvPicPr>
        <p:blipFill>
          <a:blip r:embed="rId2"/>
          <a:srcRect/>
          <a:stretch>
            <a:fillRect/>
          </a:stretch>
        </p:blipFill>
        <p:spPr bwMode="auto">
          <a:xfrm>
            <a:off x="6703796" y="1316293"/>
            <a:ext cx="2068512" cy="2505075"/>
          </a:xfrm>
          <a:prstGeom prst="rect">
            <a:avLst/>
          </a:prstGeom>
          <a:noFill/>
          <a:ln w="12700">
            <a:noFill/>
            <a:miter lim="800000"/>
            <a:headEnd/>
            <a:tailEnd/>
          </a:ln>
        </p:spPr>
      </p:pic>
    </p:spTree>
    <p:extLst>
      <p:ext uri="{BB962C8B-B14F-4D97-AF65-F5344CB8AC3E}">
        <p14:creationId xmlns:p14="http://schemas.microsoft.com/office/powerpoint/2010/main" val="1838476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C4B8-A841-DDCD-1EA4-C4F21E214E2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A05DC33-D7E6-2577-B637-C37B7236C306}"/>
              </a:ext>
            </a:extLst>
          </p:cNvPr>
          <p:cNvSpPr>
            <a:spLocks noGrp="1"/>
          </p:cNvSpPr>
          <p:nvPr>
            <p:ph idx="1"/>
          </p:nvPr>
        </p:nvSpPr>
        <p:spPr/>
        <p:txBody>
          <a:bodyPr>
            <a:normAutofit lnSpcReduction="10000"/>
          </a:bodyPr>
          <a:lstStyle/>
          <a:p>
            <a:pPr algn="just"/>
            <a:r>
              <a:rPr lang="en-US" dirty="0"/>
              <a:t>At first glance it would seem that very thorough white-box testing would lead to “100 percent correct programs.” All we need do is define all logical paths, develop test cases to exercise them, and evaluate results, that is, </a:t>
            </a:r>
            <a:r>
              <a:rPr lang="en-US" b="1" i="1" dirty="0"/>
              <a:t>generate test cases to exercise program logic exhaustively</a:t>
            </a:r>
            <a:r>
              <a:rPr lang="en-US" dirty="0"/>
              <a:t>.</a:t>
            </a:r>
          </a:p>
          <a:p>
            <a:pPr algn="just"/>
            <a:r>
              <a:rPr lang="en-US" dirty="0"/>
              <a:t>Unfortunately, exhaustive testing presents certain logistical problems. For even small programs, the number of possible logical paths can be very large. White-box testing should not, however, be dismissed as impractical. A limited number of important logical paths can be selected and exercised. Important data structures can be probed for validity.</a:t>
            </a:r>
          </a:p>
        </p:txBody>
      </p:sp>
    </p:spTree>
    <p:extLst>
      <p:ext uri="{BB962C8B-B14F-4D97-AF65-F5344CB8AC3E}">
        <p14:creationId xmlns:p14="http://schemas.microsoft.com/office/powerpoint/2010/main" val="179308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3376-6232-C2F9-46B9-4E5AA2265545}"/>
              </a:ext>
            </a:extLst>
          </p:cNvPr>
          <p:cNvSpPr>
            <a:spLocks noGrp="1"/>
          </p:cNvSpPr>
          <p:nvPr>
            <p:ph type="title"/>
          </p:nvPr>
        </p:nvSpPr>
        <p:spPr/>
        <p:txBody>
          <a:bodyPr/>
          <a:lstStyle/>
          <a:p>
            <a:r>
              <a:rPr lang="en-US" b="1" i="1" dirty="0"/>
              <a:t>White-Box Testing</a:t>
            </a:r>
          </a:p>
        </p:txBody>
      </p:sp>
      <p:sp>
        <p:nvSpPr>
          <p:cNvPr id="3" name="Content Placeholder 2">
            <a:extLst>
              <a:ext uri="{FF2B5EF4-FFF2-40B4-BE49-F238E27FC236}">
                <a16:creationId xmlns:a16="http://schemas.microsoft.com/office/drawing/2014/main" id="{C91274DF-6ABE-69F4-AC2D-F51B69C1E22F}"/>
              </a:ext>
            </a:extLst>
          </p:cNvPr>
          <p:cNvSpPr>
            <a:spLocks noGrp="1"/>
          </p:cNvSpPr>
          <p:nvPr>
            <p:ph idx="1"/>
          </p:nvPr>
        </p:nvSpPr>
        <p:spPr/>
        <p:txBody>
          <a:bodyPr>
            <a:normAutofit lnSpcReduction="10000"/>
          </a:bodyPr>
          <a:lstStyle/>
          <a:p>
            <a:pPr algn="just"/>
            <a:r>
              <a:rPr lang="en-US" dirty="0"/>
              <a:t>White-box testing, sometimes called glass-box testing, clear box testing, transparent box testing, and structural testing, is a test-case design philosophy that </a:t>
            </a:r>
            <a:r>
              <a:rPr lang="en-US" b="1" i="1" dirty="0"/>
              <a:t>uses the control structure to derive test cases</a:t>
            </a:r>
            <a:r>
              <a:rPr lang="en-US" dirty="0"/>
              <a:t>.</a:t>
            </a:r>
          </a:p>
          <a:p>
            <a:pPr algn="just"/>
            <a:r>
              <a:rPr lang="en-US" dirty="0"/>
              <a:t>Using white-box testing methods, you can derive test cases that</a:t>
            </a:r>
          </a:p>
          <a:p>
            <a:pPr algn="just"/>
            <a:r>
              <a:rPr lang="en-US" dirty="0"/>
              <a:t>(1) guarantee that all independent paths within a module have been exercised at least once</a:t>
            </a:r>
          </a:p>
          <a:p>
            <a:pPr algn="just"/>
            <a:r>
              <a:rPr lang="en-US" dirty="0"/>
              <a:t>(2) exercise all logical decisions on their true and false sides</a:t>
            </a:r>
          </a:p>
          <a:p>
            <a:pPr algn="just"/>
            <a:r>
              <a:rPr lang="en-US" dirty="0"/>
              <a:t>(3) execute all loops at their boundaries and within their operational bounds</a:t>
            </a:r>
          </a:p>
          <a:p>
            <a:pPr algn="just"/>
            <a:r>
              <a:rPr lang="en-US" dirty="0"/>
              <a:t>(4) exercise internal data structures to ensure their validity</a:t>
            </a:r>
          </a:p>
        </p:txBody>
      </p:sp>
    </p:spTree>
    <p:extLst>
      <p:ext uri="{BB962C8B-B14F-4D97-AF65-F5344CB8AC3E}">
        <p14:creationId xmlns:p14="http://schemas.microsoft.com/office/powerpoint/2010/main" val="822568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4FBC-DD92-3FA1-F1C2-EB2BE5164AD6}"/>
              </a:ext>
            </a:extLst>
          </p:cNvPr>
          <p:cNvSpPr>
            <a:spLocks noGrp="1"/>
          </p:cNvSpPr>
          <p:nvPr>
            <p:ph type="title"/>
          </p:nvPr>
        </p:nvSpPr>
        <p:spPr>
          <a:xfrm>
            <a:off x="838200" y="55958"/>
            <a:ext cx="10515600" cy="1325563"/>
          </a:xfrm>
        </p:spPr>
        <p:txBody>
          <a:bodyPr/>
          <a:lstStyle/>
          <a:p>
            <a:r>
              <a:rPr lang="en-US" i="1" dirty="0"/>
              <a:t>Basis Path Testing</a:t>
            </a:r>
          </a:p>
        </p:txBody>
      </p:sp>
      <p:sp>
        <p:nvSpPr>
          <p:cNvPr id="3" name="Content Placeholder 2">
            <a:extLst>
              <a:ext uri="{FF2B5EF4-FFF2-40B4-BE49-F238E27FC236}">
                <a16:creationId xmlns:a16="http://schemas.microsoft.com/office/drawing/2014/main" id="{3851FCE4-B2FF-6732-F618-D937AA7D09C2}"/>
              </a:ext>
            </a:extLst>
          </p:cNvPr>
          <p:cNvSpPr>
            <a:spLocks noGrp="1"/>
          </p:cNvSpPr>
          <p:nvPr>
            <p:ph idx="1"/>
          </p:nvPr>
        </p:nvSpPr>
        <p:spPr>
          <a:xfrm>
            <a:off x="838200" y="1157184"/>
            <a:ext cx="10515600" cy="4351338"/>
          </a:xfrm>
        </p:spPr>
        <p:txBody>
          <a:bodyPr/>
          <a:lstStyle/>
          <a:p>
            <a:r>
              <a:rPr lang="en-US" dirty="0"/>
              <a:t>Before we consider the basis path testing, a simple notation for the representation of control flow, called a </a:t>
            </a:r>
            <a:r>
              <a:rPr lang="en-US" b="1" i="1" dirty="0"/>
              <a:t>flow graph</a:t>
            </a:r>
            <a:r>
              <a:rPr lang="en-US" dirty="0"/>
              <a:t> (or program graph) must be introduced.</a:t>
            </a:r>
          </a:p>
          <a:p>
            <a:r>
              <a:rPr lang="en-US" dirty="0"/>
              <a:t>The flow graph depicts logical control flow using the notation illustrated in the next figure.</a:t>
            </a:r>
          </a:p>
          <a:p>
            <a:endParaRPr lang="en-US" dirty="0"/>
          </a:p>
        </p:txBody>
      </p:sp>
      <p:pic>
        <p:nvPicPr>
          <p:cNvPr id="5" name="Picture 4">
            <a:extLst>
              <a:ext uri="{FF2B5EF4-FFF2-40B4-BE49-F238E27FC236}">
                <a16:creationId xmlns:a16="http://schemas.microsoft.com/office/drawing/2014/main" id="{AA7B4CB5-F2C7-8352-6696-2893BFFCE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12192000" cy="3342383"/>
          </a:xfrm>
          <a:prstGeom prst="rect">
            <a:avLst/>
          </a:prstGeom>
        </p:spPr>
      </p:pic>
    </p:spTree>
    <p:extLst>
      <p:ext uri="{BB962C8B-B14F-4D97-AF65-F5344CB8AC3E}">
        <p14:creationId xmlns:p14="http://schemas.microsoft.com/office/powerpoint/2010/main" val="2643638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955E-03D6-FCB3-C9AA-A15432AF8CD0}"/>
              </a:ext>
            </a:extLst>
          </p:cNvPr>
          <p:cNvSpPr>
            <a:spLocks noGrp="1"/>
          </p:cNvSpPr>
          <p:nvPr>
            <p:ph type="title"/>
          </p:nvPr>
        </p:nvSpPr>
        <p:spPr/>
        <p:txBody>
          <a:bodyPr/>
          <a:lstStyle/>
          <a:p>
            <a:r>
              <a:rPr lang="en-US" dirty="0"/>
              <a:t>Flow Graph Notation</a:t>
            </a:r>
          </a:p>
        </p:txBody>
      </p:sp>
      <p:pic>
        <p:nvPicPr>
          <p:cNvPr id="5" name="Content Placeholder 4">
            <a:extLst>
              <a:ext uri="{FF2B5EF4-FFF2-40B4-BE49-F238E27FC236}">
                <a16:creationId xmlns:a16="http://schemas.microsoft.com/office/drawing/2014/main" id="{381162C0-8897-05A5-F4FD-7D715768DB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3204"/>
            <a:ext cx="10515600" cy="4651118"/>
          </a:xfrm>
        </p:spPr>
      </p:pic>
    </p:spTree>
    <p:extLst>
      <p:ext uri="{BB962C8B-B14F-4D97-AF65-F5344CB8AC3E}">
        <p14:creationId xmlns:p14="http://schemas.microsoft.com/office/powerpoint/2010/main" val="76981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17D75-B47D-B4FB-8099-257680A655DD}"/>
              </a:ext>
            </a:extLst>
          </p:cNvPr>
          <p:cNvSpPr>
            <a:spLocks noGrp="1"/>
          </p:cNvSpPr>
          <p:nvPr>
            <p:ph type="title"/>
          </p:nvPr>
        </p:nvSpPr>
        <p:spPr/>
        <p:txBody>
          <a:bodyPr/>
          <a:lstStyle/>
          <a:p>
            <a:r>
              <a:rPr lang="en-US" dirty="0"/>
              <a:t>Independent Program Paths</a:t>
            </a:r>
          </a:p>
        </p:txBody>
      </p:sp>
      <p:sp>
        <p:nvSpPr>
          <p:cNvPr id="3" name="Content Placeholder 2">
            <a:extLst>
              <a:ext uri="{FF2B5EF4-FFF2-40B4-BE49-F238E27FC236}">
                <a16:creationId xmlns:a16="http://schemas.microsoft.com/office/drawing/2014/main" id="{7FD0C7E3-28BE-193A-4292-91E1F3EDA130}"/>
              </a:ext>
            </a:extLst>
          </p:cNvPr>
          <p:cNvSpPr>
            <a:spLocks noGrp="1"/>
          </p:cNvSpPr>
          <p:nvPr>
            <p:ph idx="1"/>
          </p:nvPr>
        </p:nvSpPr>
        <p:spPr/>
        <p:txBody>
          <a:bodyPr>
            <a:normAutofit fontScale="92500" lnSpcReduction="10000"/>
          </a:bodyPr>
          <a:lstStyle/>
          <a:p>
            <a:pPr algn="just"/>
            <a:r>
              <a:rPr lang="en-US" dirty="0"/>
              <a:t>An independent path is any path through the program that introduces at least one new set of processing statement. </a:t>
            </a:r>
          </a:p>
          <a:p>
            <a:pPr algn="just"/>
            <a:r>
              <a:rPr lang="en-US" dirty="0"/>
              <a:t>When stated in terms of a </a:t>
            </a:r>
            <a:r>
              <a:rPr lang="en-US" b="1" i="1" dirty="0"/>
              <a:t>flow graph</a:t>
            </a:r>
            <a:r>
              <a:rPr lang="en-US" dirty="0"/>
              <a:t>, an independent path must move along at least one edge that has not been traversed before the path is defined.</a:t>
            </a:r>
          </a:p>
          <a:p>
            <a:pPr algn="just"/>
            <a:r>
              <a:rPr lang="en-US" dirty="0"/>
              <a:t>For example, a set of independent paths for the flow graph illustrated in the previous figure is:</a:t>
            </a:r>
          </a:p>
          <a:p>
            <a:pPr algn="just"/>
            <a:r>
              <a:rPr lang="en-US" dirty="0"/>
              <a:t>Path 1: 1-11</a:t>
            </a:r>
          </a:p>
          <a:p>
            <a:pPr algn="just"/>
            <a:r>
              <a:rPr lang="en-US" dirty="0"/>
              <a:t>Path 2: 1-2-3-4-5-10-1-11</a:t>
            </a:r>
          </a:p>
          <a:p>
            <a:pPr algn="just"/>
            <a:r>
              <a:rPr lang="en-US" dirty="0"/>
              <a:t>Path 3: 1-2-3-6-8-9-10-1-11</a:t>
            </a:r>
          </a:p>
          <a:p>
            <a:pPr algn="just"/>
            <a:r>
              <a:rPr lang="en-US" dirty="0"/>
              <a:t>Path 4: 1-2-3-6-7-9-10-1-11</a:t>
            </a:r>
          </a:p>
        </p:txBody>
      </p:sp>
    </p:spTree>
    <p:extLst>
      <p:ext uri="{BB962C8B-B14F-4D97-AF65-F5344CB8AC3E}">
        <p14:creationId xmlns:p14="http://schemas.microsoft.com/office/powerpoint/2010/main" val="136873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C8F46-35BE-BF70-F598-5BC91B9E884B}"/>
              </a:ext>
            </a:extLst>
          </p:cNvPr>
          <p:cNvSpPr>
            <a:spLocks noGrp="1"/>
          </p:cNvSpPr>
          <p:nvPr>
            <p:ph idx="1"/>
          </p:nvPr>
        </p:nvSpPr>
        <p:spPr>
          <a:xfrm>
            <a:off x="838200" y="1150374"/>
            <a:ext cx="10515600" cy="5026589"/>
          </a:xfrm>
        </p:spPr>
        <p:txBody>
          <a:bodyPr>
            <a:normAutofit lnSpcReduction="10000"/>
          </a:bodyPr>
          <a:lstStyle/>
          <a:p>
            <a:pPr algn="just"/>
            <a:r>
              <a:rPr lang="en-US" dirty="0"/>
              <a:t>Note that each new path introduces a new edge.</a:t>
            </a:r>
          </a:p>
          <a:p>
            <a:pPr algn="just"/>
            <a:r>
              <a:rPr lang="en-US" dirty="0"/>
              <a:t>The path 1-2-3-4-5-10-1-2-3-6-8-9-10-1-11 is not considered to be an independent path because it is simply a combination of already specified paths and does not traverse any new edges.</a:t>
            </a:r>
          </a:p>
          <a:p>
            <a:pPr algn="just"/>
            <a:r>
              <a:rPr lang="en-US" dirty="0"/>
              <a:t>Paths 1 through 4 constitute a </a:t>
            </a:r>
            <a:r>
              <a:rPr lang="en-US" b="1" i="1" dirty="0"/>
              <a:t>basis set</a:t>
            </a:r>
            <a:r>
              <a:rPr lang="en-US" dirty="0"/>
              <a:t> for the flow graph in the previous figure.</a:t>
            </a:r>
          </a:p>
          <a:p>
            <a:pPr algn="just"/>
            <a:r>
              <a:rPr lang="en-US" dirty="0"/>
              <a:t>That is, if you can </a:t>
            </a:r>
            <a:r>
              <a:rPr lang="en-US" b="1" i="1" dirty="0"/>
              <a:t>design tests</a:t>
            </a:r>
            <a:r>
              <a:rPr lang="en-US" dirty="0"/>
              <a:t> to </a:t>
            </a:r>
            <a:r>
              <a:rPr lang="en-US" b="1" i="1" dirty="0"/>
              <a:t>force execution of these paths</a:t>
            </a:r>
            <a:r>
              <a:rPr lang="en-US" dirty="0"/>
              <a:t> (a basis set), </a:t>
            </a:r>
            <a:r>
              <a:rPr lang="en-US" b="1" dirty="0"/>
              <a:t>every statement in the program will have been guaranteed to be executed at least one time</a:t>
            </a:r>
            <a:r>
              <a:rPr lang="en-US" dirty="0"/>
              <a:t> and </a:t>
            </a:r>
            <a:r>
              <a:rPr lang="en-US" b="1" dirty="0"/>
              <a:t>every condition will have been executed on its true and false sides</a:t>
            </a:r>
            <a:r>
              <a:rPr lang="en-US" dirty="0"/>
              <a:t>.</a:t>
            </a:r>
          </a:p>
          <a:p>
            <a:pPr algn="just"/>
            <a:r>
              <a:rPr lang="en-US" dirty="0"/>
              <a:t>It should be noted that the basis set is not unique. In fact, a number of different basis sets can be derived for a given procedural design.</a:t>
            </a:r>
          </a:p>
        </p:txBody>
      </p:sp>
    </p:spTree>
    <p:extLst>
      <p:ext uri="{BB962C8B-B14F-4D97-AF65-F5344CB8AC3E}">
        <p14:creationId xmlns:p14="http://schemas.microsoft.com/office/powerpoint/2010/main" val="3361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524C-DC91-6AF7-B4BC-40D203A286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8C389DC-DC1D-A64A-C4CA-3BC72B61FFAD}"/>
              </a:ext>
            </a:extLst>
          </p:cNvPr>
          <p:cNvSpPr>
            <a:spLocks noGrp="1"/>
          </p:cNvSpPr>
          <p:nvPr>
            <p:ph idx="1"/>
          </p:nvPr>
        </p:nvSpPr>
        <p:spPr/>
        <p:txBody>
          <a:bodyPr/>
          <a:lstStyle/>
          <a:p>
            <a:pPr algn="just"/>
            <a:r>
              <a:rPr lang="en-US" dirty="0"/>
              <a:t>How do you know how many paths to look for? The computation of </a:t>
            </a:r>
            <a:r>
              <a:rPr lang="en-US" b="1" i="1" dirty="0"/>
              <a:t>cyclomatic complexity</a:t>
            </a:r>
            <a:r>
              <a:rPr lang="en-US" dirty="0"/>
              <a:t> provides the answer.</a:t>
            </a:r>
          </a:p>
          <a:p>
            <a:pPr algn="just"/>
            <a:r>
              <a:rPr lang="en-US" dirty="0"/>
              <a:t>Cyclomatic complexity is a software metric that provides a quantitative measure of the logical complexity of a program.</a:t>
            </a:r>
          </a:p>
          <a:p>
            <a:pPr algn="just"/>
            <a:r>
              <a:rPr lang="en-US" dirty="0"/>
              <a:t>When used in the context of the basis path testing method, the value computed for cyclomatic complexity defines the number of independent paths in the basis set of a program and provides you with an upper bound for the number of tests that must be conducted to ensure that all statements have been executed at least once.</a:t>
            </a:r>
          </a:p>
        </p:txBody>
      </p:sp>
    </p:spTree>
    <p:extLst>
      <p:ext uri="{BB962C8B-B14F-4D97-AF65-F5344CB8AC3E}">
        <p14:creationId xmlns:p14="http://schemas.microsoft.com/office/powerpoint/2010/main" val="639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13A4-2A15-3CC3-C4FA-46D62DCC613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C25CCEB-FF7C-E1D5-DB85-C91D7E33E868}"/>
              </a:ext>
            </a:extLst>
          </p:cNvPr>
          <p:cNvSpPr>
            <a:spLocks noGrp="1"/>
          </p:cNvSpPr>
          <p:nvPr>
            <p:ph idx="1"/>
          </p:nvPr>
        </p:nvSpPr>
        <p:spPr/>
        <p:txBody>
          <a:bodyPr>
            <a:normAutofit lnSpcReduction="10000"/>
          </a:bodyPr>
          <a:lstStyle/>
          <a:p>
            <a:pPr algn="just"/>
            <a:r>
              <a:rPr lang="en-US" dirty="0"/>
              <a:t>Cyclomatic complexity has a foundation in graph theory and provides you with an extremely useful software metric. Complexity is computed in one of three ways:</a:t>
            </a:r>
          </a:p>
          <a:p>
            <a:pPr algn="just"/>
            <a:r>
              <a:rPr lang="en-US" dirty="0"/>
              <a:t>1. The number of regions of the flow graph corresponds to the cyclomatic complexity.</a:t>
            </a:r>
          </a:p>
          <a:p>
            <a:pPr algn="just"/>
            <a:r>
              <a:rPr lang="en-US" dirty="0"/>
              <a:t>2. Cyclomatic complexity V(G) for a flow graph G is defined as </a:t>
            </a:r>
          </a:p>
          <a:p>
            <a:pPr lvl="1" algn="just"/>
            <a:r>
              <a:rPr lang="en-US" dirty="0"/>
              <a:t>V(G) = E – N + 2 where E is the number of flow graph edges and N is the number of flow graph nodes.</a:t>
            </a:r>
          </a:p>
          <a:p>
            <a:pPr algn="just"/>
            <a:r>
              <a:rPr lang="en-US" dirty="0"/>
              <a:t>3. Cyclomatic complexity V(G) for a flow graph G is also defined as V(G) = P + 1 where P is the number of predicate nodes contained in the flow graph G.</a:t>
            </a:r>
          </a:p>
        </p:txBody>
      </p:sp>
    </p:spTree>
    <p:extLst>
      <p:ext uri="{BB962C8B-B14F-4D97-AF65-F5344CB8AC3E}">
        <p14:creationId xmlns:p14="http://schemas.microsoft.com/office/powerpoint/2010/main" val="83815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09C2-712D-D0C7-F75A-E799125B6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EDD0-774A-B3EF-9653-4A0164F61E7F}"/>
              </a:ext>
            </a:extLst>
          </p:cNvPr>
          <p:cNvSpPr>
            <a:spLocks noGrp="1"/>
          </p:cNvSpPr>
          <p:nvPr>
            <p:ph type="title"/>
          </p:nvPr>
        </p:nvSpPr>
        <p:spPr/>
        <p:txBody>
          <a:bodyPr/>
          <a:lstStyle/>
          <a:p>
            <a:r>
              <a:rPr lang="en-US" dirty="0"/>
              <a:t>Flow Graph Notation</a:t>
            </a:r>
          </a:p>
        </p:txBody>
      </p:sp>
      <p:pic>
        <p:nvPicPr>
          <p:cNvPr id="5" name="Content Placeholder 4">
            <a:extLst>
              <a:ext uri="{FF2B5EF4-FFF2-40B4-BE49-F238E27FC236}">
                <a16:creationId xmlns:a16="http://schemas.microsoft.com/office/drawing/2014/main" id="{7102C509-EE96-36F8-1E05-99942AA4D8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3204"/>
            <a:ext cx="10515600" cy="4651118"/>
          </a:xfrm>
        </p:spPr>
      </p:pic>
    </p:spTree>
    <p:extLst>
      <p:ext uri="{BB962C8B-B14F-4D97-AF65-F5344CB8AC3E}">
        <p14:creationId xmlns:p14="http://schemas.microsoft.com/office/powerpoint/2010/main" val="4136313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476D0-AABE-58FB-B8E4-4892215127C9}"/>
              </a:ext>
            </a:extLst>
          </p:cNvPr>
          <p:cNvSpPr>
            <a:spLocks noGrp="1"/>
          </p:cNvSpPr>
          <p:nvPr>
            <p:ph idx="1"/>
          </p:nvPr>
        </p:nvSpPr>
        <p:spPr>
          <a:xfrm>
            <a:off x="838200" y="825910"/>
            <a:ext cx="10515600" cy="5351053"/>
          </a:xfrm>
        </p:spPr>
        <p:txBody>
          <a:bodyPr>
            <a:normAutofit/>
          </a:bodyPr>
          <a:lstStyle/>
          <a:p>
            <a:pPr algn="just"/>
            <a:r>
              <a:rPr lang="en-US" dirty="0"/>
              <a:t>Referring once more to the flow graph in the previous figure, the cyclomatic complexity can be computed using each of the algorithms just noted:</a:t>
            </a:r>
          </a:p>
          <a:p>
            <a:pPr algn="just"/>
            <a:r>
              <a:rPr lang="en-US" dirty="0"/>
              <a:t>1. The flow graph has four regions.</a:t>
            </a:r>
          </a:p>
          <a:p>
            <a:pPr algn="just"/>
            <a:r>
              <a:rPr lang="en-US" dirty="0"/>
              <a:t>2. V(G) = 11 edges - 9 nodes + 2 = 4.</a:t>
            </a:r>
          </a:p>
          <a:p>
            <a:pPr algn="just"/>
            <a:r>
              <a:rPr lang="en-US" dirty="0"/>
              <a:t>3. V(G) = 3 predicate nodes + 1 = 4.</a:t>
            </a:r>
          </a:p>
          <a:p>
            <a:pPr algn="just"/>
            <a:r>
              <a:rPr lang="en-US" dirty="0"/>
              <a:t>Therefore, the cyclomatic complexity of the flow graph for the previous figure is 4.</a:t>
            </a:r>
          </a:p>
        </p:txBody>
      </p:sp>
    </p:spTree>
    <p:extLst>
      <p:ext uri="{BB962C8B-B14F-4D97-AF65-F5344CB8AC3E}">
        <p14:creationId xmlns:p14="http://schemas.microsoft.com/office/powerpoint/2010/main" val="193263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090CF-919F-A0D8-7F66-BF69473FAA47}"/>
              </a:ext>
            </a:extLst>
          </p:cNvPr>
          <p:cNvSpPr>
            <a:spLocks noGrp="1"/>
          </p:cNvSpPr>
          <p:nvPr>
            <p:ph type="title"/>
          </p:nvPr>
        </p:nvSpPr>
        <p:spPr/>
        <p:txBody>
          <a:bodyPr/>
          <a:lstStyle/>
          <a:p>
            <a:r>
              <a:rPr lang="en-US" dirty="0"/>
              <a:t>Deriving Test Cases</a:t>
            </a:r>
          </a:p>
        </p:txBody>
      </p:sp>
      <p:sp>
        <p:nvSpPr>
          <p:cNvPr id="3" name="Content Placeholder 2">
            <a:extLst>
              <a:ext uri="{FF2B5EF4-FFF2-40B4-BE49-F238E27FC236}">
                <a16:creationId xmlns:a16="http://schemas.microsoft.com/office/drawing/2014/main" id="{774782E1-99DE-742F-E772-736F7A2F608A}"/>
              </a:ext>
            </a:extLst>
          </p:cNvPr>
          <p:cNvSpPr>
            <a:spLocks noGrp="1"/>
          </p:cNvSpPr>
          <p:nvPr>
            <p:ph idx="1"/>
          </p:nvPr>
        </p:nvSpPr>
        <p:spPr/>
        <p:txBody>
          <a:bodyPr/>
          <a:lstStyle/>
          <a:p>
            <a:pPr algn="just"/>
            <a:r>
              <a:rPr lang="en-US" dirty="0"/>
              <a:t>Here we present basis path testing as a series of steps. The procedure </a:t>
            </a:r>
            <a:r>
              <a:rPr lang="en-US" i="1" dirty="0"/>
              <a:t>average</a:t>
            </a:r>
            <a:r>
              <a:rPr lang="en-US" dirty="0"/>
              <a:t>, depicted in the next figure, will be used as an example to illustrate each step in the test-case design method.</a:t>
            </a:r>
          </a:p>
          <a:p>
            <a:pPr algn="just"/>
            <a:r>
              <a:rPr lang="en-US" dirty="0"/>
              <a:t>Note that </a:t>
            </a:r>
            <a:r>
              <a:rPr lang="en-US" i="1" dirty="0"/>
              <a:t>average</a:t>
            </a:r>
            <a:r>
              <a:rPr lang="en-US" dirty="0"/>
              <a:t>, although an extremely simple algorithm, contains compound conditions and loops.</a:t>
            </a:r>
          </a:p>
          <a:p>
            <a:pPr algn="just"/>
            <a:r>
              <a:rPr lang="en-US" dirty="0"/>
              <a:t>The following steps can be applied to derive the </a:t>
            </a:r>
            <a:r>
              <a:rPr lang="en-US" b="1" i="1" dirty="0"/>
              <a:t>basis set</a:t>
            </a:r>
            <a:r>
              <a:rPr lang="en-US" dirty="0"/>
              <a:t>:</a:t>
            </a:r>
          </a:p>
          <a:p>
            <a:pPr lvl="1" algn="just"/>
            <a:r>
              <a:rPr lang="en-US" dirty="0"/>
              <a:t>Using the design or code as a foundation, draw a corresponding </a:t>
            </a:r>
            <a:r>
              <a:rPr lang="en-US" b="1" i="1" dirty="0"/>
              <a:t>flow graph</a:t>
            </a:r>
          </a:p>
          <a:p>
            <a:pPr lvl="1" algn="just"/>
            <a:r>
              <a:rPr lang="en-US" dirty="0"/>
              <a:t>Determine the </a:t>
            </a:r>
            <a:r>
              <a:rPr lang="en-US" b="1" i="1" dirty="0"/>
              <a:t>cyclomatic complexity</a:t>
            </a:r>
            <a:r>
              <a:rPr lang="en-US" dirty="0"/>
              <a:t> of the resultant </a:t>
            </a:r>
            <a:r>
              <a:rPr lang="en-US" b="1" i="1" dirty="0"/>
              <a:t>flow graph</a:t>
            </a:r>
          </a:p>
          <a:p>
            <a:pPr lvl="1" algn="just"/>
            <a:r>
              <a:rPr lang="en-US" dirty="0"/>
              <a:t>Determine a </a:t>
            </a:r>
            <a:r>
              <a:rPr lang="en-US" b="1" i="1" dirty="0"/>
              <a:t>basis set</a:t>
            </a:r>
            <a:r>
              <a:rPr lang="en-US" dirty="0"/>
              <a:t> of linearly independent paths</a:t>
            </a:r>
          </a:p>
        </p:txBody>
      </p:sp>
    </p:spTree>
    <p:extLst>
      <p:ext uri="{BB962C8B-B14F-4D97-AF65-F5344CB8AC3E}">
        <p14:creationId xmlns:p14="http://schemas.microsoft.com/office/powerpoint/2010/main" val="2326470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37DC9-0E84-92A3-9D5A-079F49FD6FAB}"/>
              </a:ext>
            </a:extLst>
          </p:cNvPr>
          <p:cNvSpPr>
            <a:spLocks noGrp="1"/>
          </p:cNvSpPr>
          <p:nvPr>
            <p:ph type="title"/>
          </p:nvPr>
        </p:nvSpPr>
        <p:spPr>
          <a:xfrm>
            <a:off x="1" y="0"/>
            <a:ext cx="1828799" cy="3141405"/>
          </a:xfrm>
        </p:spPr>
        <p:txBody>
          <a:bodyPr>
            <a:noAutofit/>
          </a:bodyPr>
          <a:lstStyle/>
          <a:p>
            <a:r>
              <a:rPr lang="en-US" sz="2400" dirty="0"/>
              <a:t>Using the design or code as a foundation, draw a corresponding flow graph</a:t>
            </a:r>
          </a:p>
        </p:txBody>
      </p:sp>
      <p:pic>
        <p:nvPicPr>
          <p:cNvPr id="5" name="Content Placeholder 4">
            <a:extLst>
              <a:ext uri="{FF2B5EF4-FFF2-40B4-BE49-F238E27FC236}">
                <a16:creationId xmlns:a16="http://schemas.microsoft.com/office/drawing/2014/main" id="{889A980F-1209-32D8-105A-803BCAFAA1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
            <a:ext cx="5707626" cy="6858001"/>
          </a:xfrm>
        </p:spPr>
      </p:pic>
      <p:pic>
        <p:nvPicPr>
          <p:cNvPr id="7" name="Picture 6">
            <a:extLst>
              <a:ext uri="{FF2B5EF4-FFF2-40B4-BE49-F238E27FC236}">
                <a16:creationId xmlns:a16="http://schemas.microsoft.com/office/drawing/2014/main" id="{46AEC137-F31D-690C-9356-6C604A1DD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6427" y="22123"/>
            <a:ext cx="4655574" cy="6835877"/>
          </a:xfrm>
          <a:prstGeom prst="rect">
            <a:avLst/>
          </a:prstGeom>
        </p:spPr>
      </p:pic>
    </p:spTree>
    <p:extLst>
      <p:ext uri="{BB962C8B-B14F-4D97-AF65-F5344CB8AC3E}">
        <p14:creationId xmlns:p14="http://schemas.microsoft.com/office/powerpoint/2010/main" val="350437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7BAD9-EA49-E4AB-95E6-5F96DA5803FA}"/>
              </a:ext>
            </a:extLst>
          </p:cNvPr>
          <p:cNvSpPr>
            <a:spLocks noGrp="1"/>
          </p:cNvSpPr>
          <p:nvPr>
            <p:ph type="title"/>
          </p:nvPr>
        </p:nvSpPr>
        <p:spPr/>
        <p:txBody>
          <a:bodyPr>
            <a:normAutofit/>
          </a:bodyPr>
          <a:lstStyle/>
          <a:p>
            <a:r>
              <a:rPr lang="en-US" dirty="0"/>
              <a:t>Determine the cyclomatic complexity of the resultant flow graph</a:t>
            </a:r>
          </a:p>
        </p:txBody>
      </p:sp>
      <p:sp>
        <p:nvSpPr>
          <p:cNvPr id="3" name="Content Placeholder 2">
            <a:extLst>
              <a:ext uri="{FF2B5EF4-FFF2-40B4-BE49-F238E27FC236}">
                <a16:creationId xmlns:a16="http://schemas.microsoft.com/office/drawing/2014/main" id="{23F8EA1A-1F37-DF56-F444-3EFC45D3F87D}"/>
              </a:ext>
            </a:extLst>
          </p:cNvPr>
          <p:cNvSpPr>
            <a:spLocks noGrp="1"/>
          </p:cNvSpPr>
          <p:nvPr>
            <p:ph idx="1"/>
          </p:nvPr>
        </p:nvSpPr>
        <p:spPr/>
        <p:txBody>
          <a:bodyPr/>
          <a:lstStyle/>
          <a:p>
            <a:r>
              <a:rPr lang="en-US" dirty="0"/>
              <a:t>The cyclomatic complexity V(G) is determined by applying the algorithms described in the previous figure.</a:t>
            </a:r>
          </a:p>
          <a:p>
            <a:r>
              <a:rPr lang="en-US" dirty="0"/>
              <a:t>V(G) = 6 regions</a:t>
            </a:r>
          </a:p>
          <a:p>
            <a:r>
              <a:rPr lang="en-US" dirty="0"/>
              <a:t>V(G) = 17 edges - 13 nodes + 2 = 6</a:t>
            </a:r>
          </a:p>
          <a:p>
            <a:r>
              <a:rPr lang="en-US" dirty="0"/>
              <a:t>V(G) = 5 predicate nodes + 1 = 6 </a:t>
            </a:r>
          </a:p>
        </p:txBody>
      </p:sp>
    </p:spTree>
    <p:extLst>
      <p:ext uri="{BB962C8B-B14F-4D97-AF65-F5344CB8AC3E}">
        <p14:creationId xmlns:p14="http://schemas.microsoft.com/office/powerpoint/2010/main" val="165559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D77D8-5AD2-AD21-3716-427CD9C19554}"/>
              </a:ext>
            </a:extLst>
          </p:cNvPr>
          <p:cNvSpPr>
            <a:spLocks noGrp="1"/>
          </p:cNvSpPr>
          <p:nvPr>
            <p:ph type="title"/>
          </p:nvPr>
        </p:nvSpPr>
        <p:spPr/>
        <p:txBody>
          <a:bodyPr/>
          <a:lstStyle/>
          <a:p>
            <a:r>
              <a:rPr lang="en-US" dirty="0"/>
              <a:t>Determine a basis set of linearly independent paths</a:t>
            </a:r>
          </a:p>
        </p:txBody>
      </p:sp>
      <p:sp>
        <p:nvSpPr>
          <p:cNvPr id="3" name="Content Placeholder 2">
            <a:extLst>
              <a:ext uri="{FF2B5EF4-FFF2-40B4-BE49-F238E27FC236}">
                <a16:creationId xmlns:a16="http://schemas.microsoft.com/office/drawing/2014/main" id="{440D9104-57C9-7045-F572-652030A6D5C1}"/>
              </a:ext>
            </a:extLst>
          </p:cNvPr>
          <p:cNvSpPr>
            <a:spLocks noGrp="1"/>
          </p:cNvSpPr>
          <p:nvPr>
            <p:ph idx="1"/>
          </p:nvPr>
        </p:nvSpPr>
        <p:spPr/>
        <p:txBody>
          <a:bodyPr/>
          <a:lstStyle/>
          <a:p>
            <a:r>
              <a:rPr lang="en-US" dirty="0"/>
              <a:t>The value of V(G) provides the upper bound on the number of linearly independent paths through the program control structure. In the case of procedure </a:t>
            </a:r>
            <a:r>
              <a:rPr lang="en-US" i="1" dirty="0"/>
              <a:t>average</a:t>
            </a:r>
            <a:r>
              <a:rPr lang="en-US" dirty="0"/>
              <a:t>, we expect to specify six paths:</a:t>
            </a:r>
          </a:p>
          <a:p>
            <a:r>
              <a:rPr lang="en-US" dirty="0"/>
              <a:t>Path 1: 1-2-10-11-13</a:t>
            </a:r>
          </a:p>
          <a:p>
            <a:r>
              <a:rPr lang="en-US" dirty="0"/>
              <a:t>Path 2: 1-2-10-12-13</a:t>
            </a:r>
          </a:p>
          <a:p>
            <a:r>
              <a:rPr lang="en-US" dirty="0"/>
              <a:t>Path 3: 1-2-3-10-11-13</a:t>
            </a:r>
          </a:p>
          <a:p>
            <a:r>
              <a:rPr lang="en-US" dirty="0"/>
              <a:t>Path 4: 1-2-3-4-5-8-9-2-. . .</a:t>
            </a:r>
          </a:p>
          <a:p>
            <a:r>
              <a:rPr lang="en-US" dirty="0"/>
              <a:t>Path 5: 1-2-3-4-5-6-8-9-2-. . .</a:t>
            </a:r>
          </a:p>
          <a:p>
            <a:r>
              <a:rPr lang="en-US" dirty="0"/>
              <a:t>Path 6: 1-2-3-4-5-6-7-8-9-2-. . .</a:t>
            </a:r>
          </a:p>
        </p:txBody>
      </p:sp>
    </p:spTree>
    <p:extLst>
      <p:ext uri="{BB962C8B-B14F-4D97-AF65-F5344CB8AC3E}">
        <p14:creationId xmlns:p14="http://schemas.microsoft.com/office/powerpoint/2010/main" val="3192554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4DAB8-DF97-BDF9-DD12-9BA1F8A3148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1F8C75-AC60-A763-0583-069E275D17A7}"/>
              </a:ext>
            </a:extLst>
          </p:cNvPr>
          <p:cNvSpPr>
            <a:spLocks noGrp="1"/>
          </p:cNvSpPr>
          <p:nvPr>
            <p:ph idx="1"/>
          </p:nvPr>
        </p:nvSpPr>
        <p:spPr/>
        <p:txBody>
          <a:bodyPr/>
          <a:lstStyle/>
          <a:p>
            <a:pPr algn="just"/>
            <a:r>
              <a:rPr lang="en-US" dirty="0"/>
              <a:t>The ellipsis (. . .) following paths 4, 5, and 6 indicates that any path through the remainder of the control structure is acceptable.</a:t>
            </a:r>
          </a:p>
          <a:p>
            <a:pPr algn="just"/>
            <a:r>
              <a:rPr lang="en-US" dirty="0"/>
              <a:t>It is often worthwhile to </a:t>
            </a:r>
            <a:r>
              <a:rPr lang="en-US" b="1" i="1" dirty="0"/>
              <a:t>identify predicate nodes as an aid in the derivation of test cases</a:t>
            </a:r>
            <a:r>
              <a:rPr lang="en-US" dirty="0"/>
              <a:t>. In this case, nodes 2, 3, 5, 6, and 10 are predicate nodes.</a:t>
            </a:r>
          </a:p>
        </p:txBody>
      </p:sp>
    </p:spTree>
    <p:extLst>
      <p:ext uri="{BB962C8B-B14F-4D97-AF65-F5344CB8AC3E}">
        <p14:creationId xmlns:p14="http://schemas.microsoft.com/office/powerpoint/2010/main" val="2492440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25018-6E9C-8714-8A9F-EFB23ED292CF}"/>
              </a:ext>
            </a:extLst>
          </p:cNvPr>
          <p:cNvSpPr>
            <a:spLocks noGrp="1"/>
          </p:cNvSpPr>
          <p:nvPr>
            <p:ph type="title"/>
          </p:nvPr>
        </p:nvSpPr>
        <p:spPr/>
        <p:txBody>
          <a:bodyPr/>
          <a:lstStyle/>
          <a:p>
            <a:r>
              <a:rPr lang="en-US" dirty="0"/>
              <a:t>Prepare test cases that will force execution of each path in the basis set</a:t>
            </a:r>
          </a:p>
        </p:txBody>
      </p:sp>
      <p:sp>
        <p:nvSpPr>
          <p:cNvPr id="3" name="Content Placeholder 2">
            <a:extLst>
              <a:ext uri="{FF2B5EF4-FFF2-40B4-BE49-F238E27FC236}">
                <a16:creationId xmlns:a16="http://schemas.microsoft.com/office/drawing/2014/main" id="{D32DA6A7-2883-02B0-1A79-F40C8C6D0C15}"/>
              </a:ext>
            </a:extLst>
          </p:cNvPr>
          <p:cNvSpPr>
            <a:spLocks noGrp="1"/>
          </p:cNvSpPr>
          <p:nvPr>
            <p:ph idx="1"/>
          </p:nvPr>
        </p:nvSpPr>
        <p:spPr/>
        <p:txBody>
          <a:bodyPr/>
          <a:lstStyle/>
          <a:p>
            <a:pPr algn="just"/>
            <a:r>
              <a:rPr lang="en-US" dirty="0"/>
              <a:t>Data should be chosen so that </a:t>
            </a:r>
            <a:r>
              <a:rPr lang="en-US" b="1" i="1" dirty="0"/>
              <a:t>conditions at the predicate nodes</a:t>
            </a:r>
            <a:r>
              <a:rPr lang="en-US" dirty="0"/>
              <a:t> is tested. Each test case is executed and compared to expected results.</a:t>
            </a:r>
          </a:p>
          <a:p>
            <a:pPr algn="just"/>
            <a:r>
              <a:rPr lang="en-US" dirty="0"/>
              <a:t>Once all test cases have been completed, the tester can be sure that all statements in the program have been executed at least once.</a:t>
            </a:r>
          </a:p>
        </p:txBody>
      </p:sp>
    </p:spTree>
    <p:extLst>
      <p:ext uri="{BB962C8B-B14F-4D97-AF65-F5344CB8AC3E}">
        <p14:creationId xmlns:p14="http://schemas.microsoft.com/office/powerpoint/2010/main" val="315026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F98A-791D-9DAC-A9FF-B07467C0DFE8}"/>
              </a:ext>
            </a:extLst>
          </p:cNvPr>
          <p:cNvSpPr>
            <a:spLocks noGrp="1"/>
          </p:cNvSpPr>
          <p:nvPr>
            <p:ph type="title"/>
          </p:nvPr>
        </p:nvSpPr>
        <p:spPr/>
        <p:txBody>
          <a:bodyPr/>
          <a:lstStyle/>
          <a:p>
            <a:r>
              <a:rPr lang="en-US" dirty="0"/>
              <a:t>Graph Matrices</a:t>
            </a:r>
          </a:p>
        </p:txBody>
      </p:sp>
      <p:sp>
        <p:nvSpPr>
          <p:cNvPr id="3" name="Content Placeholder 2">
            <a:extLst>
              <a:ext uri="{FF2B5EF4-FFF2-40B4-BE49-F238E27FC236}">
                <a16:creationId xmlns:a16="http://schemas.microsoft.com/office/drawing/2014/main" id="{258011C7-921B-3D00-45AE-EDF4B77CD5CB}"/>
              </a:ext>
            </a:extLst>
          </p:cNvPr>
          <p:cNvSpPr>
            <a:spLocks noGrp="1"/>
          </p:cNvSpPr>
          <p:nvPr>
            <p:ph idx="1"/>
          </p:nvPr>
        </p:nvSpPr>
        <p:spPr/>
        <p:txBody>
          <a:bodyPr/>
          <a:lstStyle/>
          <a:p>
            <a:pPr algn="just"/>
            <a:r>
              <a:rPr lang="en-US" dirty="0"/>
              <a:t>The procedure for deriving the flow graph and even determining a set of basis paths is amenable to mechanization. A data structure, called a graph matrix, can be quite useful for developing a software tool that assists in basis path testing.</a:t>
            </a:r>
          </a:p>
          <a:p>
            <a:pPr algn="just"/>
            <a:r>
              <a:rPr lang="en-US" dirty="0"/>
              <a:t>A graph matrix is a square matrix whose size (i.e., number of rows and columns) is equal to the number of nodes on the flow graph. Each row and column corresponds to an identified node, and matrix entries correspond to connections (an edge) between nodes. A simple example of a flow graph and its corresponding graph matrix is shown in the next figure.</a:t>
            </a:r>
          </a:p>
        </p:txBody>
      </p:sp>
    </p:spTree>
    <p:extLst>
      <p:ext uri="{BB962C8B-B14F-4D97-AF65-F5344CB8AC3E}">
        <p14:creationId xmlns:p14="http://schemas.microsoft.com/office/powerpoint/2010/main" val="322290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A2CB-145B-78F1-6257-FA2FBBE5CF11}"/>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88A1192-2969-9597-CEAB-68871BFC3C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7639" y="820392"/>
            <a:ext cx="10191135" cy="5217216"/>
          </a:xfrm>
        </p:spPr>
      </p:pic>
    </p:spTree>
    <p:extLst>
      <p:ext uri="{BB962C8B-B14F-4D97-AF65-F5344CB8AC3E}">
        <p14:creationId xmlns:p14="http://schemas.microsoft.com/office/powerpoint/2010/main" val="2201114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F8AD8-3B4A-1060-32C7-6E0FAD54C55C}"/>
              </a:ext>
            </a:extLst>
          </p:cNvPr>
          <p:cNvSpPr>
            <a:spLocks noGrp="1"/>
          </p:cNvSpPr>
          <p:nvPr>
            <p:ph idx="1"/>
          </p:nvPr>
        </p:nvSpPr>
        <p:spPr>
          <a:xfrm>
            <a:off x="838200" y="988142"/>
            <a:ext cx="10515600" cy="5188821"/>
          </a:xfrm>
        </p:spPr>
        <p:txBody>
          <a:bodyPr>
            <a:normAutofit/>
          </a:bodyPr>
          <a:lstStyle/>
          <a:p>
            <a:pPr algn="just"/>
            <a:r>
              <a:rPr lang="en-US" dirty="0"/>
              <a:t>To this point, the graph matrix is nothing more than a tabular representation of a flow graph. However, by adding a link weight to each matrix entry, the graph matrix can become a powerful tool for evaluating program control structure during testing.</a:t>
            </a:r>
          </a:p>
          <a:p>
            <a:pPr algn="just"/>
            <a:r>
              <a:rPr lang="en-US" dirty="0"/>
              <a:t>The link weight provides additional information about control flow. In its simplest form, the link weight is 1 (a connection exists) or 0 (a connection does not exist).</a:t>
            </a:r>
          </a:p>
          <a:p>
            <a:pPr algn="just"/>
            <a:r>
              <a:rPr lang="en-US" dirty="0"/>
              <a:t>But link weights can be assigned other, more interesting properties:</a:t>
            </a:r>
          </a:p>
          <a:p>
            <a:pPr lvl="1" algn="just"/>
            <a:r>
              <a:rPr lang="en-US" dirty="0"/>
              <a:t>The probability that a link (edge) will be execute</a:t>
            </a:r>
          </a:p>
          <a:p>
            <a:pPr lvl="1" algn="just"/>
            <a:r>
              <a:rPr lang="en-US" dirty="0"/>
              <a:t>The processing time expended during traversal of a link</a:t>
            </a:r>
          </a:p>
          <a:p>
            <a:pPr lvl="1" algn="just"/>
            <a:r>
              <a:rPr lang="en-US" dirty="0"/>
              <a:t>The memory required during traversal of a link</a:t>
            </a:r>
          </a:p>
          <a:p>
            <a:pPr lvl="1" algn="just"/>
            <a:r>
              <a:rPr lang="en-US" dirty="0"/>
              <a:t>The resources required during traversal of a link</a:t>
            </a:r>
          </a:p>
        </p:txBody>
      </p:sp>
    </p:spTree>
    <p:extLst>
      <p:ext uri="{BB962C8B-B14F-4D97-AF65-F5344CB8AC3E}">
        <p14:creationId xmlns:p14="http://schemas.microsoft.com/office/powerpoint/2010/main" val="4292645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1D1B-19AB-0E01-429A-4C68CAC364E7}"/>
              </a:ext>
            </a:extLst>
          </p:cNvPr>
          <p:cNvSpPr>
            <a:spLocks noGrp="1"/>
          </p:cNvSpPr>
          <p:nvPr>
            <p:ph type="title"/>
          </p:nvPr>
        </p:nvSpPr>
        <p:spPr/>
        <p:txBody>
          <a:bodyPr/>
          <a:lstStyle/>
          <a:p>
            <a:r>
              <a:rPr lang="en-US" i="1" dirty="0"/>
              <a:t>Control Structure Testing</a:t>
            </a:r>
            <a:endParaRPr lang="en-US" dirty="0"/>
          </a:p>
        </p:txBody>
      </p:sp>
      <p:sp>
        <p:nvSpPr>
          <p:cNvPr id="3" name="Content Placeholder 2">
            <a:extLst>
              <a:ext uri="{FF2B5EF4-FFF2-40B4-BE49-F238E27FC236}">
                <a16:creationId xmlns:a16="http://schemas.microsoft.com/office/drawing/2014/main" id="{54BD1CB4-7BFA-A978-907B-7F62BC5B0E37}"/>
              </a:ext>
            </a:extLst>
          </p:cNvPr>
          <p:cNvSpPr>
            <a:spLocks noGrp="1"/>
          </p:cNvSpPr>
          <p:nvPr>
            <p:ph idx="1"/>
          </p:nvPr>
        </p:nvSpPr>
        <p:spPr/>
        <p:txBody>
          <a:bodyPr/>
          <a:lstStyle/>
          <a:p>
            <a:pPr algn="just"/>
            <a:r>
              <a:rPr lang="en-US" dirty="0"/>
              <a:t>The basis path testing technique described previously is one of a number of techniques for control structure testing.</a:t>
            </a:r>
          </a:p>
          <a:p>
            <a:pPr algn="just"/>
            <a:r>
              <a:rPr lang="en-US" dirty="0"/>
              <a:t>Although basis path testing is simple and highly effective, it is not sufficient in itself.</a:t>
            </a:r>
          </a:p>
          <a:p>
            <a:pPr algn="just"/>
            <a:r>
              <a:rPr lang="en-US" dirty="0"/>
              <a:t>Here, other variations on control structure testing are discussed. These broaden testing coverage and improve the quality of white-box testing.</a:t>
            </a:r>
          </a:p>
        </p:txBody>
      </p:sp>
    </p:spTree>
    <p:extLst>
      <p:ext uri="{BB962C8B-B14F-4D97-AF65-F5344CB8AC3E}">
        <p14:creationId xmlns:p14="http://schemas.microsoft.com/office/powerpoint/2010/main" val="1363344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33B8B-B2BA-5CE4-A107-585E0CE202AF}"/>
              </a:ext>
            </a:extLst>
          </p:cNvPr>
          <p:cNvSpPr>
            <a:spLocks noGrp="1"/>
          </p:cNvSpPr>
          <p:nvPr>
            <p:ph type="title"/>
          </p:nvPr>
        </p:nvSpPr>
        <p:spPr/>
        <p:txBody>
          <a:bodyPr/>
          <a:lstStyle/>
          <a:p>
            <a:r>
              <a:rPr lang="en-US" dirty="0"/>
              <a:t>Condition Testing</a:t>
            </a:r>
          </a:p>
        </p:txBody>
      </p:sp>
      <p:sp>
        <p:nvSpPr>
          <p:cNvPr id="3" name="Content Placeholder 2">
            <a:extLst>
              <a:ext uri="{FF2B5EF4-FFF2-40B4-BE49-F238E27FC236}">
                <a16:creationId xmlns:a16="http://schemas.microsoft.com/office/drawing/2014/main" id="{83A05680-8BEE-F5C2-FB73-98E765BB6B2C}"/>
              </a:ext>
            </a:extLst>
          </p:cNvPr>
          <p:cNvSpPr>
            <a:spLocks noGrp="1"/>
          </p:cNvSpPr>
          <p:nvPr>
            <p:ph idx="1"/>
          </p:nvPr>
        </p:nvSpPr>
        <p:spPr>
          <a:xfrm>
            <a:off x="838200" y="1690688"/>
            <a:ext cx="10515600" cy="4621621"/>
          </a:xfrm>
        </p:spPr>
        <p:txBody>
          <a:bodyPr>
            <a:normAutofit fontScale="85000" lnSpcReduction="10000"/>
          </a:bodyPr>
          <a:lstStyle/>
          <a:p>
            <a:pPr algn="just"/>
            <a:r>
              <a:rPr lang="en-US" dirty="0"/>
              <a:t>Condition testing is a test-case design method that exercises the logical conditions contained in a program module.</a:t>
            </a:r>
          </a:p>
          <a:p>
            <a:pPr algn="just"/>
            <a:r>
              <a:rPr lang="en-US" dirty="0"/>
              <a:t>A simple condition is a Boolean variable or a relational expression, possibly preceded with one NOT (¬) operator.</a:t>
            </a:r>
          </a:p>
          <a:p>
            <a:pPr algn="just"/>
            <a:r>
              <a:rPr lang="en-US" dirty="0"/>
              <a:t>A relational expression takes the form</a:t>
            </a:r>
          </a:p>
          <a:p>
            <a:pPr lvl="1" algn="just"/>
            <a:r>
              <a:rPr lang="en-US" dirty="0"/>
              <a:t>E1 &lt;relational-operator&gt; E2</a:t>
            </a:r>
          </a:p>
          <a:p>
            <a:pPr algn="just"/>
            <a:r>
              <a:rPr lang="en-US" dirty="0"/>
              <a:t>If a condition is incorrect, then at least one component of the condition is incorrect.</a:t>
            </a:r>
          </a:p>
          <a:p>
            <a:pPr algn="just"/>
            <a:r>
              <a:rPr lang="en-US" dirty="0"/>
              <a:t>Therefore, types of errors in a condition include Boolean operator errors (incorrect/missing/extra Boolean operators), Boolean variable errors, Boolean parenthesis errors, relational operator errors, and arithmetic expression errors.</a:t>
            </a:r>
          </a:p>
          <a:p>
            <a:pPr algn="just"/>
            <a:r>
              <a:rPr lang="en-US" dirty="0"/>
              <a:t>The condition testing method focuses on testing each condition in the program to ensure that it does not contain errors.</a:t>
            </a:r>
          </a:p>
        </p:txBody>
      </p:sp>
    </p:spTree>
    <p:extLst>
      <p:ext uri="{BB962C8B-B14F-4D97-AF65-F5344CB8AC3E}">
        <p14:creationId xmlns:p14="http://schemas.microsoft.com/office/powerpoint/2010/main" val="1009134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F0B3-7399-504F-5253-D2B448EFBCE5}"/>
              </a:ext>
            </a:extLst>
          </p:cNvPr>
          <p:cNvSpPr>
            <a:spLocks noGrp="1"/>
          </p:cNvSpPr>
          <p:nvPr>
            <p:ph type="title"/>
          </p:nvPr>
        </p:nvSpPr>
        <p:spPr/>
        <p:txBody>
          <a:bodyPr/>
          <a:lstStyle/>
          <a:p>
            <a:r>
              <a:rPr lang="en-US" dirty="0"/>
              <a:t>Data Flow Testing</a:t>
            </a:r>
          </a:p>
        </p:txBody>
      </p:sp>
      <p:sp>
        <p:nvSpPr>
          <p:cNvPr id="3" name="Content Placeholder 2">
            <a:extLst>
              <a:ext uri="{FF2B5EF4-FFF2-40B4-BE49-F238E27FC236}">
                <a16:creationId xmlns:a16="http://schemas.microsoft.com/office/drawing/2014/main" id="{E73AF127-402B-E554-670A-7E4353F6BE9D}"/>
              </a:ext>
            </a:extLst>
          </p:cNvPr>
          <p:cNvSpPr>
            <a:spLocks noGrp="1"/>
          </p:cNvSpPr>
          <p:nvPr>
            <p:ph idx="1"/>
          </p:nvPr>
        </p:nvSpPr>
        <p:spPr/>
        <p:txBody>
          <a:bodyPr/>
          <a:lstStyle/>
          <a:p>
            <a:pPr algn="just"/>
            <a:r>
              <a:rPr lang="en-US" dirty="0"/>
              <a:t>The data flow testing method selects test paths of a program according to the locations of definitions and uses of variables in the program.</a:t>
            </a:r>
          </a:p>
          <a:p>
            <a:pPr algn="just"/>
            <a:r>
              <a:rPr lang="en-US" dirty="0"/>
              <a:t>To illustrate the data flow testing approach, assume that each statement in a program is assigned a unique statement. For a statement with S as its statement number,</a:t>
            </a:r>
          </a:p>
          <a:p>
            <a:pPr lvl="1" algn="just"/>
            <a:r>
              <a:rPr lang="en-US" dirty="0"/>
              <a:t>DEF(S) {X | statement S contains a definition of X}</a:t>
            </a:r>
          </a:p>
          <a:p>
            <a:pPr lvl="1" algn="just"/>
            <a:r>
              <a:rPr lang="en-US" dirty="0"/>
              <a:t>USE(S) {X | statement S contains a use of X}</a:t>
            </a:r>
          </a:p>
        </p:txBody>
      </p:sp>
    </p:spTree>
    <p:extLst>
      <p:ext uri="{BB962C8B-B14F-4D97-AF65-F5344CB8AC3E}">
        <p14:creationId xmlns:p14="http://schemas.microsoft.com/office/powerpoint/2010/main" val="1291048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CE2B-01F2-0FC0-F1D4-8C8430BCBDB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3BD2084-8072-51AA-B170-D28D99853A75}"/>
              </a:ext>
            </a:extLst>
          </p:cNvPr>
          <p:cNvSpPr>
            <a:spLocks noGrp="1"/>
          </p:cNvSpPr>
          <p:nvPr>
            <p:ph idx="1"/>
          </p:nvPr>
        </p:nvSpPr>
        <p:spPr/>
        <p:txBody>
          <a:bodyPr>
            <a:normAutofit lnSpcReduction="10000"/>
          </a:bodyPr>
          <a:lstStyle/>
          <a:p>
            <a:pPr algn="just"/>
            <a:r>
              <a:rPr lang="en-US" dirty="0"/>
              <a:t>If statement S is an </a:t>
            </a:r>
            <a:r>
              <a:rPr lang="en-US" i="1" dirty="0"/>
              <a:t>if</a:t>
            </a:r>
            <a:r>
              <a:rPr lang="en-US" dirty="0"/>
              <a:t> or </a:t>
            </a:r>
            <a:r>
              <a:rPr lang="en-US" i="1" dirty="0"/>
              <a:t>loop</a:t>
            </a:r>
            <a:r>
              <a:rPr lang="en-US" dirty="0"/>
              <a:t> statement, its DEF set is empty and its USE set is based on the condition of statement S. The definition of variable X at statement S is said to be live at statement S’ if there exists a path from statement S to statement S’ that contains no other definition of X.</a:t>
            </a:r>
          </a:p>
          <a:p>
            <a:pPr algn="just"/>
            <a:r>
              <a:rPr lang="en-US" dirty="0"/>
              <a:t>A definition-use (DU) chain of variable X is of the form [X, S, S’], where S and S’ are statement numbers, X is in DEF(S) and USE(S’), and the definition of X in statement S is live at statement S’.</a:t>
            </a:r>
          </a:p>
          <a:p>
            <a:pPr algn="just"/>
            <a:r>
              <a:rPr lang="en-US" dirty="0"/>
              <a:t>One simple data flow testing strategy is to require that every DU chain be covered at least once. We refer to this strategy as the DU testing strategy.</a:t>
            </a:r>
          </a:p>
        </p:txBody>
      </p:sp>
    </p:spTree>
    <p:extLst>
      <p:ext uri="{BB962C8B-B14F-4D97-AF65-F5344CB8AC3E}">
        <p14:creationId xmlns:p14="http://schemas.microsoft.com/office/powerpoint/2010/main" val="3202727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F7C0-1FB4-19E4-B49E-8D5D9797F984}"/>
              </a:ext>
            </a:extLst>
          </p:cNvPr>
          <p:cNvSpPr>
            <a:spLocks noGrp="1"/>
          </p:cNvSpPr>
          <p:nvPr>
            <p:ph type="title"/>
          </p:nvPr>
        </p:nvSpPr>
        <p:spPr/>
        <p:txBody>
          <a:bodyPr/>
          <a:lstStyle/>
          <a:p>
            <a:r>
              <a:rPr lang="en-US" dirty="0"/>
              <a:t>Loop Testing</a:t>
            </a:r>
          </a:p>
        </p:txBody>
      </p:sp>
      <p:sp>
        <p:nvSpPr>
          <p:cNvPr id="3" name="Content Placeholder 2">
            <a:extLst>
              <a:ext uri="{FF2B5EF4-FFF2-40B4-BE49-F238E27FC236}">
                <a16:creationId xmlns:a16="http://schemas.microsoft.com/office/drawing/2014/main" id="{BB36CBC2-21BD-AC37-683F-21743867D254}"/>
              </a:ext>
            </a:extLst>
          </p:cNvPr>
          <p:cNvSpPr>
            <a:spLocks noGrp="1"/>
          </p:cNvSpPr>
          <p:nvPr>
            <p:ph idx="1"/>
          </p:nvPr>
        </p:nvSpPr>
        <p:spPr/>
        <p:txBody>
          <a:bodyPr/>
          <a:lstStyle/>
          <a:p>
            <a:pPr algn="just"/>
            <a:r>
              <a:rPr lang="en-US" dirty="0"/>
              <a:t>Loops are the cornerstone for the vast majority of all algorithms implemented in software. And yet, we often pay them little heed while conducting software tests.</a:t>
            </a:r>
          </a:p>
          <a:p>
            <a:pPr algn="just"/>
            <a:r>
              <a:rPr lang="en-US" dirty="0"/>
              <a:t>Loop testing is a white-box testing technique that focuses exclusively on the validity of loop constructs.</a:t>
            </a:r>
          </a:p>
          <a:p>
            <a:pPr algn="just"/>
            <a:r>
              <a:rPr lang="en-US" dirty="0"/>
              <a:t>Four different classes of loops can be defined:</a:t>
            </a:r>
          </a:p>
          <a:p>
            <a:pPr lvl="1" algn="just"/>
            <a:r>
              <a:rPr lang="en-US" dirty="0"/>
              <a:t>simple loops</a:t>
            </a:r>
          </a:p>
          <a:p>
            <a:pPr lvl="1" algn="just"/>
            <a:r>
              <a:rPr lang="en-US" dirty="0"/>
              <a:t>concatenated loops</a:t>
            </a:r>
          </a:p>
          <a:p>
            <a:pPr lvl="1" algn="just"/>
            <a:r>
              <a:rPr lang="en-US" dirty="0"/>
              <a:t>nested loops</a:t>
            </a:r>
          </a:p>
          <a:p>
            <a:pPr lvl="1" algn="just"/>
            <a:r>
              <a:rPr lang="en-US" dirty="0"/>
              <a:t>unstructured loops</a:t>
            </a:r>
          </a:p>
        </p:txBody>
      </p:sp>
    </p:spTree>
    <p:extLst>
      <p:ext uri="{BB962C8B-B14F-4D97-AF65-F5344CB8AC3E}">
        <p14:creationId xmlns:p14="http://schemas.microsoft.com/office/powerpoint/2010/main" val="638756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6D4C-ECC2-8B11-7FCB-F65E9452EB17}"/>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765C1705-532D-81AC-2A66-080F1B2BB3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3484" y="365125"/>
            <a:ext cx="7270955" cy="6127750"/>
          </a:xfrm>
        </p:spPr>
      </p:pic>
    </p:spTree>
    <p:extLst>
      <p:ext uri="{BB962C8B-B14F-4D97-AF65-F5344CB8AC3E}">
        <p14:creationId xmlns:p14="http://schemas.microsoft.com/office/powerpoint/2010/main" val="1096507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F50B-B070-D3F3-6CB8-E2DA29732C2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BE46F24-8E6F-2C3A-24ED-6BBFA0DC501C}"/>
              </a:ext>
            </a:extLst>
          </p:cNvPr>
          <p:cNvSpPr>
            <a:spLocks noGrp="1"/>
          </p:cNvSpPr>
          <p:nvPr>
            <p:ph idx="1"/>
          </p:nvPr>
        </p:nvSpPr>
        <p:spPr/>
        <p:txBody>
          <a:bodyPr/>
          <a:lstStyle/>
          <a:p>
            <a:pPr algn="just"/>
            <a:r>
              <a:rPr lang="en-US" dirty="0"/>
              <a:t>Simple loops: the following set of tests can be applied to simple loops, where n is the maximum number of allowable passes through the loop.</a:t>
            </a:r>
          </a:p>
          <a:p>
            <a:pPr lvl="1" algn="just"/>
            <a:r>
              <a:rPr lang="en-US" dirty="0"/>
              <a:t>1. Skip the loop entirely</a:t>
            </a:r>
          </a:p>
          <a:p>
            <a:pPr lvl="1" algn="just"/>
            <a:r>
              <a:rPr lang="en-US" dirty="0"/>
              <a:t>2. Only one pass through the loop</a:t>
            </a:r>
          </a:p>
          <a:p>
            <a:pPr lvl="1" algn="just"/>
            <a:r>
              <a:rPr lang="en-US" dirty="0"/>
              <a:t>3. Two passes through the loop</a:t>
            </a:r>
          </a:p>
          <a:p>
            <a:pPr lvl="1" algn="just"/>
            <a:r>
              <a:rPr lang="en-US" dirty="0"/>
              <a:t>4. m passes through the loop where m &lt; n</a:t>
            </a:r>
          </a:p>
          <a:p>
            <a:pPr lvl="1" algn="just"/>
            <a:r>
              <a:rPr lang="en-US" dirty="0"/>
              <a:t>5. n - 1, n, n + 1 passes through the loop</a:t>
            </a:r>
          </a:p>
        </p:txBody>
      </p:sp>
    </p:spTree>
    <p:extLst>
      <p:ext uri="{BB962C8B-B14F-4D97-AF65-F5344CB8AC3E}">
        <p14:creationId xmlns:p14="http://schemas.microsoft.com/office/powerpoint/2010/main" val="2881925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D57A-4D57-A5CF-51EF-BB9AB834272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63DF172-71E8-4F43-8AF7-C27FC1A08BB5}"/>
              </a:ext>
            </a:extLst>
          </p:cNvPr>
          <p:cNvSpPr>
            <a:spLocks noGrp="1"/>
          </p:cNvSpPr>
          <p:nvPr>
            <p:ph idx="1"/>
          </p:nvPr>
        </p:nvSpPr>
        <p:spPr/>
        <p:txBody>
          <a:bodyPr>
            <a:normAutofit lnSpcReduction="10000"/>
          </a:bodyPr>
          <a:lstStyle/>
          <a:p>
            <a:pPr algn="just"/>
            <a:r>
              <a:rPr lang="en-US" dirty="0"/>
              <a:t>Nested loops: if we were to extend the test approach for simple loops to nested loops, the number of possible tests would grow geometrically as the level of nesting increases.</a:t>
            </a:r>
          </a:p>
          <a:p>
            <a:pPr algn="just"/>
            <a:r>
              <a:rPr lang="en-US" dirty="0"/>
              <a:t>This would result in an impractical number of tests. Following approaches are suggested to reduce the number of tests.</a:t>
            </a:r>
          </a:p>
          <a:p>
            <a:pPr lvl="1" algn="just"/>
            <a:r>
              <a:rPr lang="en-US" dirty="0"/>
              <a:t>1. Start at the innermost loop. Set all other loops to minimum values</a:t>
            </a:r>
          </a:p>
          <a:p>
            <a:pPr lvl="1" algn="just"/>
            <a:r>
              <a:rPr lang="en-US" dirty="0"/>
              <a:t>2. Conduct simple loop tests for the innermost loop while holding the outer loops at their minimum iteration parameter (e.g., loop counter) values. Add other tests for out-of-range or excluded values.</a:t>
            </a:r>
          </a:p>
          <a:p>
            <a:pPr lvl="1" algn="just"/>
            <a:r>
              <a:rPr lang="en-US" dirty="0"/>
              <a:t>3. Work outward, conducting tests for the next loop, but keeping all other outer loops at minimum values and other nested loops to “typical” values</a:t>
            </a:r>
          </a:p>
          <a:p>
            <a:pPr lvl="1" algn="just"/>
            <a:r>
              <a:rPr lang="en-US" dirty="0"/>
              <a:t>4. Continue until all loops have been tested</a:t>
            </a:r>
          </a:p>
        </p:txBody>
      </p:sp>
    </p:spTree>
    <p:extLst>
      <p:ext uri="{BB962C8B-B14F-4D97-AF65-F5344CB8AC3E}">
        <p14:creationId xmlns:p14="http://schemas.microsoft.com/office/powerpoint/2010/main" val="1162766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170D-BE9A-915E-49D9-6DB173642F7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1556727-4B6D-10BF-BFA3-BA18AA68ED65}"/>
              </a:ext>
            </a:extLst>
          </p:cNvPr>
          <p:cNvSpPr>
            <a:spLocks noGrp="1"/>
          </p:cNvSpPr>
          <p:nvPr>
            <p:ph idx="1"/>
          </p:nvPr>
        </p:nvSpPr>
        <p:spPr/>
        <p:txBody>
          <a:bodyPr/>
          <a:lstStyle/>
          <a:p>
            <a:pPr algn="just"/>
            <a:r>
              <a:rPr lang="en-US" dirty="0"/>
              <a:t>Concatenated loops: concatenated loops can be tested using the approach defined for simple loops, if each of the loops is independent of the other. However, if two loops are concatenated and the loop counter for loop 1 is used as the initial value for loop 2, then the loops are not independent. When the loops are not independent, the approach applied to nested loops is recommended.</a:t>
            </a:r>
          </a:p>
          <a:p>
            <a:pPr algn="just"/>
            <a:r>
              <a:rPr lang="en-US" dirty="0"/>
              <a:t>Unstructured loops: whenever possible, this class of loops should be redesigned to reflect the use of the structured programming constructs. </a:t>
            </a:r>
          </a:p>
        </p:txBody>
      </p:sp>
    </p:spTree>
    <p:extLst>
      <p:ext uri="{BB962C8B-B14F-4D97-AF65-F5344CB8AC3E}">
        <p14:creationId xmlns:p14="http://schemas.microsoft.com/office/powerpoint/2010/main" val="1598612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0108-3172-117C-F566-E1F2DE63B782}"/>
              </a:ext>
            </a:extLst>
          </p:cNvPr>
          <p:cNvSpPr>
            <a:spLocks noGrp="1"/>
          </p:cNvSpPr>
          <p:nvPr>
            <p:ph type="title"/>
          </p:nvPr>
        </p:nvSpPr>
        <p:spPr/>
        <p:txBody>
          <a:bodyPr/>
          <a:lstStyle/>
          <a:p>
            <a:r>
              <a:rPr lang="en-US" b="1" i="1" dirty="0"/>
              <a:t>Black-Box Testing</a:t>
            </a:r>
          </a:p>
        </p:txBody>
      </p:sp>
      <p:sp>
        <p:nvSpPr>
          <p:cNvPr id="3" name="Content Placeholder 2">
            <a:extLst>
              <a:ext uri="{FF2B5EF4-FFF2-40B4-BE49-F238E27FC236}">
                <a16:creationId xmlns:a16="http://schemas.microsoft.com/office/drawing/2014/main" id="{EEB3F423-CD39-C6F9-C865-9397EE3EFFF4}"/>
              </a:ext>
            </a:extLst>
          </p:cNvPr>
          <p:cNvSpPr>
            <a:spLocks noGrp="1"/>
          </p:cNvSpPr>
          <p:nvPr>
            <p:ph idx="1"/>
          </p:nvPr>
        </p:nvSpPr>
        <p:spPr/>
        <p:txBody>
          <a:bodyPr/>
          <a:lstStyle/>
          <a:p>
            <a:pPr algn="just"/>
            <a:r>
              <a:rPr lang="en-US" dirty="0"/>
              <a:t>Black-box testing, also called behavioral testing, focuses on the functional requirements of the software.</a:t>
            </a:r>
          </a:p>
          <a:p>
            <a:pPr algn="just"/>
            <a:r>
              <a:rPr lang="en-US" dirty="0"/>
              <a:t>That is, black-box testing techniques enable you to derive sets of input conditions that will fully exercise all functional requirements for a program.</a:t>
            </a:r>
          </a:p>
          <a:p>
            <a:pPr algn="just"/>
            <a:r>
              <a:rPr lang="en-US" dirty="0"/>
              <a:t>Black-box testing is not an alternative to white-box techniques. Rather, it is a complementary approach that is likely to uncover a different class of errors than white box methods.</a:t>
            </a:r>
          </a:p>
        </p:txBody>
      </p:sp>
    </p:spTree>
    <p:extLst>
      <p:ext uri="{BB962C8B-B14F-4D97-AF65-F5344CB8AC3E}">
        <p14:creationId xmlns:p14="http://schemas.microsoft.com/office/powerpoint/2010/main" val="958523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47F3-28E3-25B6-9DE5-C371E6F1C22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71DB4A-ACE0-E998-AED7-C5FC85DA5BFD}"/>
              </a:ext>
            </a:extLst>
          </p:cNvPr>
          <p:cNvSpPr>
            <a:spLocks noGrp="1"/>
          </p:cNvSpPr>
          <p:nvPr>
            <p:ph idx="1"/>
          </p:nvPr>
        </p:nvSpPr>
        <p:spPr/>
        <p:txBody>
          <a:bodyPr>
            <a:normAutofit/>
          </a:bodyPr>
          <a:lstStyle/>
          <a:p>
            <a:pPr algn="just"/>
            <a:r>
              <a:rPr lang="en-US" dirty="0"/>
              <a:t>Black-box testing attempts to find errors in the following categories: </a:t>
            </a:r>
          </a:p>
          <a:p>
            <a:pPr algn="just"/>
            <a:r>
              <a:rPr lang="en-US" dirty="0"/>
              <a:t>(1) incorrect or missing functions</a:t>
            </a:r>
          </a:p>
          <a:p>
            <a:pPr algn="just"/>
            <a:r>
              <a:rPr lang="en-US" dirty="0"/>
              <a:t>(2) interface errors</a:t>
            </a:r>
          </a:p>
          <a:p>
            <a:pPr algn="just"/>
            <a:r>
              <a:rPr lang="en-US" dirty="0"/>
              <a:t>(3) errors in data structures or external database access</a:t>
            </a:r>
          </a:p>
          <a:p>
            <a:pPr algn="just"/>
            <a:r>
              <a:rPr lang="en-US" dirty="0"/>
              <a:t>(4) behavior or performance errors</a:t>
            </a:r>
          </a:p>
          <a:p>
            <a:pPr algn="just"/>
            <a:r>
              <a:rPr lang="en-US" dirty="0"/>
              <a:t>(5) initialization and termination errors</a:t>
            </a:r>
          </a:p>
          <a:p>
            <a:pPr algn="just"/>
            <a:r>
              <a:rPr lang="en-US" dirty="0"/>
              <a:t>Because black-box testing purposely disregards control structure, attention is focused on the information domain.</a:t>
            </a:r>
          </a:p>
        </p:txBody>
      </p:sp>
    </p:spTree>
    <p:extLst>
      <p:ext uri="{BB962C8B-B14F-4D97-AF65-F5344CB8AC3E}">
        <p14:creationId xmlns:p14="http://schemas.microsoft.com/office/powerpoint/2010/main" val="311039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E0A0-81D5-4254-96CC-28A6DF24F1CA}"/>
              </a:ext>
            </a:extLst>
          </p:cNvPr>
          <p:cNvSpPr>
            <a:spLocks noGrp="1"/>
          </p:cNvSpPr>
          <p:nvPr>
            <p:ph type="title"/>
          </p:nvPr>
        </p:nvSpPr>
        <p:spPr/>
        <p:txBody>
          <a:bodyPr/>
          <a:lstStyle/>
          <a:p>
            <a:r>
              <a:rPr lang="en-US" i="1" dirty="0"/>
              <a:t>Graph-Based Testing Methods</a:t>
            </a:r>
          </a:p>
        </p:txBody>
      </p:sp>
      <p:sp>
        <p:nvSpPr>
          <p:cNvPr id="3" name="Content Placeholder 2">
            <a:extLst>
              <a:ext uri="{FF2B5EF4-FFF2-40B4-BE49-F238E27FC236}">
                <a16:creationId xmlns:a16="http://schemas.microsoft.com/office/drawing/2014/main" id="{F9A0F11E-65C9-8EAA-A096-B6896AEEF56A}"/>
              </a:ext>
            </a:extLst>
          </p:cNvPr>
          <p:cNvSpPr>
            <a:spLocks noGrp="1"/>
          </p:cNvSpPr>
          <p:nvPr>
            <p:ph idx="1"/>
          </p:nvPr>
        </p:nvSpPr>
        <p:spPr/>
        <p:txBody>
          <a:bodyPr/>
          <a:lstStyle/>
          <a:p>
            <a:pPr algn="just"/>
            <a:r>
              <a:rPr lang="en-US" dirty="0"/>
              <a:t>The first step in black-box testing is to understand the objects that are modeled in software and the relationships that connect these objects. Once this has been accomplished, the next step is to define a series of tests that verify “all objects have the expected relationship to one another”.</a:t>
            </a:r>
          </a:p>
          <a:p>
            <a:pPr algn="just"/>
            <a:r>
              <a:rPr lang="en-US" dirty="0"/>
              <a:t>Stated in another way, software testing begins by creating a graph of important objects and their relationships and then devising a series of tests that will cover the graph so that each object and relationship is exercised and errors are uncovered.</a:t>
            </a:r>
          </a:p>
        </p:txBody>
      </p:sp>
    </p:spTree>
    <p:extLst>
      <p:ext uri="{BB962C8B-B14F-4D97-AF65-F5344CB8AC3E}">
        <p14:creationId xmlns:p14="http://schemas.microsoft.com/office/powerpoint/2010/main" val="2212078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D4E38-C612-BA48-C312-6E0DD85D844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6C09AF-43E7-5A63-ED7C-CCB3DF766048}"/>
              </a:ext>
            </a:extLst>
          </p:cNvPr>
          <p:cNvSpPr>
            <a:spLocks noGrp="1"/>
          </p:cNvSpPr>
          <p:nvPr>
            <p:ph idx="1"/>
          </p:nvPr>
        </p:nvSpPr>
        <p:spPr/>
        <p:txBody>
          <a:bodyPr>
            <a:normAutofit fontScale="92500" lnSpcReduction="10000"/>
          </a:bodyPr>
          <a:lstStyle/>
          <a:p>
            <a:pPr algn="just"/>
            <a:r>
              <a:rPr lang="en-US" dirty="0"/>
              <a:t>To accomplish these steps, you begin by creating a graph—a collection of nodes that represent objects, links that represent the relationships between objects, node weights that describe the properties of a node (e.g., a specific data value or state), and link weights that describe some characteristic of a link.</a:t>
            </a:r>
          </a:p>
          <a:p>
            <a:pPr algn="just"/>
            <a:r>
              <a:rPr lang="en-US" dirty="0"/>
              <a:t>The symbolic representation of a graph is shown in the next figure. Nodes are represented as circles connected by links that take a number of different forms. A directed link (represented by an arrow) indicates that a relationship moves in only one direction. A bidirectional link, also called a symmetric link, implies that the relationship applies in both directions. Parallel links are used when a number of different relationships are established between graph nodes.</a:t>
            </a:r>
          </a:p>
        </p:txBody>
      </p:sp>
    </p:spTree>
    <p:extLst>
      <p:ext uri="{BB962C8B-B14F-4D97-AF65-F5344CB8AC3E}">
        <p14:creationId xmlns:p14="http://schemas.microsoft.com/office/powerpoint/2010/main" val="3965392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5A3-227F-84EE-C7B2-AC3FD7DDE855}"/>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174483F2-E2D9-E086-A9CD-B860F920F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5213" y="313506"/>
            <a:ext cx="7300452" cy="6179369"/>
          </a:xfrm>
        </p:spPr>
      </p:pic>
    </p:spTree>
    <p:extLst>
      <p:ext uri="{BB962C8B-B14F-4D97-AF65-F5344CB8AC3E}">
        <p14:creationId xmlns:p14="http://schemas.microsoft.com/office/powerpoint/2010/main" val="4014802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3A9D-71FB-BFD2-D945-58DFC4830714}"/>
              </a:ext>
            </a:extLst>
          </p:cNvPr>
          <p:cNvSpPr>
            <a:spLocks noGrp="1"/>
          </p:cNvSpPr>
          <p:nvPr>
            <p:ph type="title"/>
          </p:nvPr>
        </p:nvSpPr>
        <p:spPr/>
        <p:txBody>
          <a:bodyPr/>
          <a:lstStyle/>
          <a:p>
            <a:r>
              <a:rPr lang="en-US" dirty="0"/>
              <a:t>Equivalence Partitioning</a:t>
            </a:r>
          </a:p>
        </p:txBody>
      </p:sp>
      <p:sp>
        <p:nvSpPr>
          <p:cNvPr id="3" name="Content Placeholder 2">
            <a:extLst>
              <a:ext uri="{FF2B5EF4-FFF2-40B4-BE49-F238E27FC236}">
                <a16:creationId xmlns:a16="http://schemas.microsoft.com/office/drawing/2014/main" id="{9531D1B4-7E8D-A0F0-45BB-3613D450F774}"/>
              </a:ext>
            </a:extLst>
          </p:cNvPr>
          <p:cNvSpPr>
            <a:spLocks noGrp="1"/>
          </p:cNvSpPr>
          <p:nvPr>
            <p:ph idx="1"/>
          </p:nvPr>
        </p:nvSpPr>
        <p:spPr/>
        <p:txBody>
          <a:bodyPr/>
          <a:lstStyle/>
          <a:p>
            <a:pPr algn="just"/>
            <a:r>
              <a:rPr lang="en-US" dirty="0"/>
              <a:t>Test-case design for equivalence partitioning is based on an evaluation of equivalence classes for an input condition. Using concepts introduced in the preceding section, if a set of objects can be linked by relationships that are </a:t>
            </a:r>
            <a:r>
              <a:rPr lang="en-US" b="1" i="1" dirty="0"/>
              <a:t>symmetric, transitive, and reflexive</a:t>
            </a:r>
            <a:r>
              <a:rPr lang="en-US" dirty="0"/>
              <a:t>, an equivalence class is present.</a:t>
            </a:r>
          </a:p>
          <a:p>
            <a:pPr algn="just"/>
            <a:r>
              <a:rPr lang="en-US" dirty="0"/>
              <a:t>An equivalence class represents a set of valid or invalid states for input conditions. Typically, an input condition is either a specific numeric value, a range of values, a set of related values, or a Boolean condition.</a:t>
            </a:r>
          </a:p>
        </p:txBody>
      </p:sp>
    </p:spTree>
    <p:extLst>
      <p:ext uri="{BB962C8B-B14F-4D97-AF65-F5344CB8AC3E}">
        <p14:creationId xmlns:p14="http://schemas.microsoft.com/office/powerpoint/2010/main" val="1251429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A651-D486-DB79-27F2-9AC7D02DF62A}"/>
              </a:ext>
            </a:extLst>
          </p:cNvPr>
          <p:cNvSpPr>
            <a:spLocks noGrp="1"/>
          </p:cNvSpPr>
          <p:nvPr>
            <p:ph type="title"/>
          </p:nvPr>
        </p:nvSpPr>
        <p:spPr/>
        <p:txBody>
          <a:bodyPr/>
          <a:lstStyle/>
          <a:p>
            <a:r>
              <a:rPr lang="en-US" dirty="0"/>
              <a:t>Boundary Value Analysis</a:t>
            </a:r>
          </a:p>
        </p:txBody>
      </p:sp>
      <p:sp>
        <p:nvSpPr>
          <p:cNvPr id="3" name="Content Placeholder 2">
            <a:extLst>
              <a:ext uri="{FF2B5EF4-FFF2-40B4-BE49-F238E27FC236}">
                <a16:creationId xmlns:a16="http://schemas.microsoft.com/office/drawing/2014/main" id="{5E726831-03C9-8AB6-C60A-139F6A1E4D02}"/>
              </a:ext>
            </a:extLst>
          </p:cNvPr>
          <p:cNvSpPr>
            <a:spLocks noGrp="1"/>
          </p:cNvSpPr>
          <p:nvPr>
            <p:ph idx="1"/>
          </p:nvPr>
        </p:nvSpPr>
        <p:spPr/>
        <p:txBody>
          <a:bodyPr/>
          <a:lstStyle/>
          <a:p>
            <a:pPr algn="just"/>
            <a:r>
              <a:rPr lang="en-US" dirty="0"/>
              <a:t>A greater number of errors occurs at the boundaries of the input domain rather than in the “center.”</a:t>
            </a:r>
          </a:p>
          <a:p>
            <a:pPr algn="just"/>
            <a:r>
              <a:rPr lang="en-US" dirty="0"/>
              <a:t>It is for this reason that boundary value analysis (BVA) has been developed as a testing technique.</a:t>
            </a:r>
          </a:p>
          <a:p>
            <a:pPr algn="just"/>
            <a:r>
              <a:rPr lang="en-US" dirty="0"/>
              <a:t>Boundary value analysis leads to a selection of test cases that exercise bounding values.</a:t>
            </a:r>
          </a:p>
          <a:p>
            <a:pPr algn="just"/>
            <a:endParaRPr lang="en-US" dirty="0"/>
          </a:p>
        </p:txBody>
      </p:sp>
    </p:spTree>
    <p:extLst>
      <p:ext uri="{BB962C8B-B14F-4D97-AF65-F5344CB8AC3E}">
        <p14:creationId xmlns:p14="http://schemas.microsoft.com/office/powerpoint/2010/main" val="952574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35F6-F015-65EF-F325-B9C1F3EFC535}"/>
              </a:ext>
            </a:extLst>
          </p:cNvPr>
          <p:cNvSpPr>
            <a:spLocks noGrp="1"/>
          </p:cNvSpPr>
          <p:nvPr>
            <p:ph type="title"/>
          </p:nvPr>
        </p:nvSpPr>
        <p:spPr/>
        <p:txBody>
          <a:bodyPr/>
          <a:lstStyle/>
          <a:p>
            <a:r>
              <a:rPr lang="en-US" dirty="0"/>
              <a:t>Orthogonal Array Testing</a:t>
            </a:r>
          </a:p>
        </p:txBody>
      </p:sp>
      <p:sp>
        <p:nvSpPr>
          <p:cNvPr id="3" name="Content Placeholder 2">
            <a:extLst>
              <a:ext uri="{FF2B5EF4-FFF2-40B4-BE49-F238E27FC236}">
                <a16:creationId xmlns:a16="http://schemas.microsoft.com/office/drawing/2014/main" id="{7423BD47-CBFF-B5C8-435A-5353986730F4}"/>
              </a:ext>
            </a:extLst>
          </p:cNvPr>
          <p:cNvSpPr>
            <a:spLocks noGrp="1"/>
          </p:cNvSpPr>
          <p:nvPr>
            <p:ph idx="1"/>
          </p:nvPr>
        </p:nvSpPr>
        <p:spPr/>
        <p:txBody>
          <a:bodyPr/>
          <a:lstStyle/>
          <a:p>
            <a:pPr algn="just"/>
            <a:r>
              <a:rPr lang="en-US" dirty="0"/>
              <a:t>There are many applications in which the input domain is relatively limited. That is, the number of input parameters is small and the values that each of the parameters may take are clearly bounded. </a:t>
            </a:r>
          </a:p>
          <a:p>
            <a:pPr algn="just"/>
            <a:r>
              <a:rPr lang="en-US" dirty="0"/>
              <a:t>When these numbers are very small (e.g., three input parameters taking on three discrete values each), it is possible to consider every input permutation and exhaustively test the input domain.</a:t>
            </a:r>
          </a:p>
          <a:p>
            <a:pPr algn="just"/>
            <a:r>
              <a:rPr lang="en-US" dirty="0"/>
              <a:t>However, as the number of input values grows and the number of discrete values for each data item increases, exhaustive testing becomes impractical or impossible.</a:t>
            </a:r>
          </a:p>
        </p:txBody>
      </p:sp>
    </p:spTree>
    <p:extLst>
      <p:ext uri="{BB962C8B-B14F-4D97-AF65-F5344CB8AC3E}">
        <p14:creationId xmlns:p14="http://schemas.microsoft.com/office/powerpoint/2010/main" val="3327431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D6F9-37E5-ED7F-2C62-9F257CC98DF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1FB90E8-75B2-5D14-383D-9704A5163166}"/>
              </a:ext>
            </a:extLst>
          </p:cNvPr>
          <p:cNvSpPr>
            <a:spLocks noGrp="1"/>
          </p:cNvSpPr>
          <p:nvPr>
            <p:ph idx="1"/>
          </p:nvPr>
        </p:nvSpPr>
        <p:spPr/>
        <p:txBody>
          <a:bodyPr>
            <a:normAutofit fontScale="85000" lnSpcReduction="10000"/>
          </a:bodyPr>
          <a:lstStyle/>
          <a:p>
            <a:pPr algn="just"/>
            <a:r>
              <a:rPr lang="en-US" dirty="0"/>
              <a:t>Orthogonal array testing can be applied to problems in which the input domain is relatively small but too large to accommodate exhaustive testing. The orthogonal array testing method is particularly useful in finding region faults—an error category associated with faulty logic within a software component.</a:t>
            </a:r>
          </a:p>
          <a:p>
            <a:pPr algn="just"/>
            <a:r>
              <a:rPr lang="en-US" dirty="0"/>
              <a:t>To illustrate the difference between orthogonal array testing and more conventional “one input item at a time” approaches, consider a system that has three input items, X, Y, and Z. Each of these input items has three discrete values associated with it. There are 3</a:t>
            </a:r>
            <a:r>
              <a:rPr lang="en-US" baseline="30000" dirty="0"/>
              <a:t>3</a:t>
            </a:r>
            <a:r>
              <a:rPr lang="en-US" dirty="0"/>
              <a:t>=27 possible test cases. </a:t>
            </a:r>
          </a:p>
          <a:p>
            <a:pPr algn="just"/>
            <a:r>
              <a:rPr lang="en-US" dirty="0"/>
              <a:t>The next figure suggests a geometric view of the possible test cases associated with X, Y, and Z.</a:t>
            </a:r>
          </a:p>
          <a:p>
            <a:pPr algn="just"/>
            <a:r>
              <a:rPr lang="en-US" dirty="0"/>
              <a:t>Referring to the figure, one input item at a time may be varied in sequence along each input axis. This results in relatively limited coverage of the input domain (represented by the left-hand cube in the figure).</a:t>
            </a:r>
          </a:p>
        </p:txBody>
      </p:sp>
    </p:spTree>
    <p:extLst>
      <p:ext uri="{BB962C8B-B14F-4D97-AF65-F5344CB8AC3E}">
        <p14:creationId xmlns:p14="http://schemas.microsoft.com/office/powerpoint/2010/main" val="2603776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4BDD-75B3-317E-4A05-2DAEC5443041}"/>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E47637D-BF83-6626-9044-B4978B9701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4230" y="1486412"/>
            <a:ext cx="9212598" cy="4351338"/>
          </a:xfrm>
        </p:spPr>
      </p:pic>
    </p:spTree>
    <p:extLst>
      <p:ext uri="{BB962C8B-B14F-4D97-AF65-F5344CB8AC3E}">
        <p14:creationId xmlns:p14="http://schemas.microsoft.com/office/powerpoint/2010/main" val="315985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E3A2-0B1E-1A6E-9301-436DBE33308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A573260-0DC5-17DA-CB85-7FFAF0434B6E}"/>
              </a:ext>
            </a:extLst>
          </p:cNvPr>
          <p:cNvSpPr>
            <a:spLocks noGrp="1"/>
          </p:cNvSpPr>
          <p:nvPr>
            <p:ph idx="1"/>
          </p:nvPr>
        </p:nvSpPr>
        <p:spPr/>
        <p:txBody>
          <a:bodyPr/>
          <a:lstStyle/>
          <a:p>
            <a:pPr algn="just"/>
            <a:r>
              <a:rPr lang="en-US" dirty="0"/>
              <a:t>When orthogonal array testing occurs, an L9 orthogonal array of test cases is created. The L9 orthogonal array has a “balancing property”. </a:t>
            </a:r>
          </a:p>
          <a:p>
            <a:pPr algn="just"/>
            <a:r>
              <a:rPr lang="en-US" dirty="0"/>
              <a:t>That is, test cases (represented by dark dots in the figure) are “dispersed uniformly throughout the test domain,” as illustrated in the right-hand cube in the previous figure.</a:t>
            </a:r>
          </a:p>
          <a:p>
            <a:pPr algn="just"/>
            <a:r>
              <a:rPr lang="en-US" dirty="0"/>
              <a:t>Test coverage across the input domain is more complete.</a:t>
            </a:r>
          </a:p>
          <a:p>
            <a:pPr algn="just"/>
            <a:endParaRPr lang="en-US" dirty="0"/>
          </a:p>
        </p:txBody>
      </p:sp>
    </p:spTree>
    <p:extLst>
      <p:ext uri="{BB962C8B-B14F-4D97-AF65-F5344CB8AC3E}">
        <p14:creationId xmlns:p14="http://schemas.microsoft.com/office/powerpoint/2010/main" val="2496723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32252B-4E3B-ED14-50F1-A9FB55D56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852" y="365124"/>
            <a:ext cx="11014296" cy="6127751"/>
          </a:xfrm>
        </p:spPr>
      </p:pic>
    </p:spTree>
    <p:extLst>
      <p:ext uri="{BB962C8B-B14F-4D97-AF65-F5344CB8AC3E}">
        <p14:creationId xmlns:p14="http://schemas.microsoft.com/office/powerpoint/2010/main" val="3637130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4C2E-F39D-0517-B56E-7D111B98466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066BE71-432A-0422-2B45-58C9F4D76EFB}"/>
              </a:ext>
            </a:extLst>
          </p:cNvPr>
          <p:cNvSpPr>
            <a:spLocks noGrp="1"/>
          </p:cNvSpPr>
          <p:nvPr>
            <p:ph idx="1"/>
          </p:nvPr>
        </p:nvSpPr>
        <p:spPr/>
        <p:txBody>
          <a:bodyPr>
            <a:normAutofit fontScale="92500"/>
          </a:bodyPr>
          <a:lstStyle/>
          <a:p>
            <a:pPr algn="just"/>
            <a:r>
              <a:rPr lang="en-US" dirty="0"/>
              <a:t>Such test cases are useful </a:t>
            </a:r>
            <a:r>
              <a:rPr lang="en-US" b="1" i="1" dirty="0"/>
              <a:t>only when one is certain that these test parameters do not interact</a:t>
            </a:r>
            <a:r>
              <a:rPr lang="en-US" dirty="0"/>
              <a:t>. They can </a:t>
            </a:r>
            <a:r>
              <a:rPr lang="en-US" b="1" i="1" dirty="0"/>
              <a:t>detect logic faults where a single parameter value makes the software malfunction</a:t>
            </a:r>
            <a:r>
              <a:rPr lang="en-US" dirty="0"/>
              <a:t>. These faults are called single mode faults.</a:t>
            </a:r>
          </a:p>
          <a:p>
            <a:pPr algn="just"/>
            <a:r>
              <a:rPr lang="en-US" dirty="0"/>
              <a:t>This method cannot detect logic faults that cause malfunction when two or more parameters simultaneously take certain values; that is, it cannot detect any interactions. Thus its ability to detect faults is limited.</a:t>
            </a:r>
          </a:p>
          <a:p>
            <a:pPr algn="just"/>
            <a:r>
              <a:rPr lang="en-US" dirty="0"/>
              <a:t>Given the relatively small number of input parameters and discrete values, exhaustive testing is possible. The number of tests required is 3</a:t>
            </a:r>
            <a:r>
              <a:rPr lang="en-US" baseline="30000" dirty="0"/>
              <a:t>4</a:t>
            </a:r>
            <a:r>
              <a:rPr lang="en-US" dirty="0"/>
              <a:t> = 81, large but manageable. All faults associated with data item permutation would be found, but the effort required is relatively high.</a:t>
            </a:r>
          </a:p>
        </p:txBody>
      </p:sp>
    </p:spTree>
    <p:extLst>
      <p:ext uri="{BB962C8B-B14F-4D97-AF65-F5344CB8AC3E}">
        <p14:creationId xmlns:p14="http://schemas.microsoft.com/office/powerpoint/2010/main" val="1289737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B2DA-99E7-D8DC-DC02-70775AA3A06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84A4493-823C-22AC-A819-EDA4B2AE941A}"/>
              </a:ext>
            </a:extLst>
          </p:cNvPr>
          <p:cNvSpPr>
            <a:spLocks noGrp="1"/>
          </p:cNvSpPr>
          <p:nvPr>
            <p:ph idx="1"/>
          </p:nvPr>
        </p:nvSpPr>
        <p:spPr/>
        <p:txBody>
          <a:bodyPr/>
          <a:lstStyle/>
          <a:p>
            <a:r>
              <a:rPr lang="en-US" dirty="0"/>
              <a:t>The orthogonal array testing approach enables you to provide good test coverage with far fewer test cases than the exhaustive strategy. An L9 orthogonal array for the fax send function is illustrated in the next figure.</a:t>
            </a:r>
          </a:p>
          <a:p>
            <a:r>
              <a:rPr lang="en-US" dirty="0"/>
              <a:t>The result of tests using the L9 orthogonal array can be assessed in the following manner.</a:t>
            </a:r>
          </a:p>
          <a:p>
            <a:pPr lvl="1"/>
            <a:r>
              <a:rPr lang="en-US" dirty="0"/>
              <a:t>Detect and isolate all single mode faults</a:t>
            </a:r>
          </a:p>
          <a:p>
            <a:pPr lvl="1"/>
            <a:r>
              <a:rPr lang="en-US" b="1" i="1" dirty="0"/>
              <a:t>Detect all double mode faults</a:t>
            </a:r>
          </a:p>
        </p:txBody>
      </p:sp>
    </p:spTree>
    <p:extLst>
      <p:ext uri="{BB962C8B-B14F-4D97-AF65-F5344CB8AC3E}">
        <p14:creationId xmlns:p14="http://schemas.microsoft.com/office/powerpoint/2010/main" val="3874678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E8AAF-B19E-54DD-D945-74750C6ED67F}"/>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E7403D0C-AE91-C0D5-738D-4904C088B9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8452" y="365125"/>
            <a:ext cx="6489290" cy="6127750"/>
          </a:xfrm>
        </p:spPr>
      </p:pic>
    </p:spTree>
    <p:extLst>
      <p:ext uri="{BB962C8B-B14F-4D97-AF65-F5344CB8AC3E}">
        <p14:creationId xmlns:p14="http://schemas.microsoft.com/office/powerpoint/2010/main" val="1554424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216E-CD41-CC47-4EC9-59F5F0F3C2A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8546258-2CEE-E65A-DF66-8E8CCDDAF81E}"/>
              </a:ext>
            </a:extLst>
          </p:cNvPr>
          <p:cNvSpPr>
            <a:spLocks noGrp="1"/>
          </p:cNvSpPr>
          <p:nvPr>
            <p:ph idx="1"/>
          </p:nvPr>
        </p:nvSpPr>
        <p:spPr/>
        <p:txBody>
          <a:bodyPr/>
          <a:lstStyle/>
          <a:p>
            <a:endParaRPr lang="en-US" dirty="0"/>
          </a:p>
        </p:txBody>
      </p:sp>
      <p:pic>
        <p:nvPicPr>
          <p:cNvPr id="4" name="Content Placeholder 3" descr="1vq1V.png">
            <a:extLst>
              <a:ext uri="{FF2B5EF4-FFF2-40B4-BE49-F238E27FC236}">
                <a16:creationId xmlns:a16="http://schemas.microsoft.com/office/drawing/2014/main" id="{7CAC2874-48CC-ED15-92A8-51D10D551ED5}"/>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2907263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3367</TotalTime>
  <Words>3565</Words>
  <Application>Microsoft Office PowerPoint</Application>
  <PresentationFormat>Widescreen</PresentationFormat>
  <Paragraphs>181</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Cambria</vt:lpstr>
      <vt:lpstr>Office Theme</vt:lpstr>
      <vt:lpstr>Software Engineering</vt:lpstr>
      <vt:lpstr>Internal and External Views of Testing</vt:lpstr>
      <vt:lpstr>PowerPoint Presentation</vt:lpstr>
      <vt:lpstr>Black-box testing</vt:lpstr>
      <vt:lpstr>White-box testing</vt:lpstr>
      <vt:lpstr>PowerPoint Presentation</vt:lpstr>
      <vt:lpstr>White-Box Testing</vt:lpstr>
      <vt:lpstr>Basis Path Testing</vt:lpstr>
      <vt:lpstr>Flow Graph Notation</vt:lpstr>
      <vt:lpstr>Independent Program Paths</vt:lpstr>
      <vt:lpstr>PowerPoint Presentation</vt:lpstr>
      <vt:lpstr>PowerPoint Presentation</vt:lpstr>
      <vt:lpstr>PowerPoint Presentation</vt:lpstr>
      <vt:lpstr>Flow Graph Notation</vt:lpstr>
      <vt:lpstr>PowerPoint Presentation</vt:lpstr>
      <vt:lpstr>Deriving Test Cases</vt:lpstr>
      <vt:lpstr>Using the design or code as a foundation, draw a corresponding flow graph</vt:lpstr>
      <vt:lpstr>Determine the cyclomatic complexity of the resultant flow graph</vt:lpstr>
      <vt:lpstr>Determine a basis set of linearly independent paths</vt:lpstr>
      <vt:lpstr>PowerPoint Presentation</vt:lpstr>
      <vt:lpstr>Prepare test cases that will force execution of each path in the basis set</vt:lpstr>
      <vt:lpstr>Graph Matrices</vt:lpstr>
      <vt:lpstr>PowerPoint Presentation</vt:lpstr>
      <vt:lpstr>PowerPoint Presentation</vt:lpstr>
      <vt:lpstr>Control Structure Testing</vt:lpstr>
      <vt:lpstr>Condition Testing</vt:lpstr>
      <vt:lpstr>Data Flow Testing</vt:lpstr>
      <vt:lpstr>PowerPoint Presentation</vt:lpstr>
      <vt:lpstr>Loop Testing</vt:lpstr>
      <vt:lpstr>PowerPoint Presentation</vt:lpstr>
      <vt:lpstr>PowerPoint Presentation</vt:lpstr>
      <vt:lpstr>PowerPoint Presentation</vt:lpstr>
      <vt:lpstr>PowerPoint Presentation</vt:lpstr>
      <vt:lpstr>Black-Box Testing</vt:lpstr>
      <vt:lpstr>PowerPoint Presentation</vt:lpstr>
      <vt:lpstr>Graph-Based Testing Methods</vt:lpstr>
      <vt:lpstr>PowerPoint Presentation</vt:lpstr>
      <vt:lpstr>PowerPoint Presentation</vt:lpstr>
      <vt:lpstr>Equivalence Partitioning</vt:lpstr>
      <vt:lpstr>Boundary Value Analysis</vt:lpstr>
      <vt:lpstr>Orthogonal Array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48</cp:revision>
  <dcterms:created xsi:type="dcterms:W3CDTF">2025-06-03T13:58:59Z</dcterms:created>
  <dcterms:modified xsi:type="dcterms:W3CDTF">2025-12-09T05:15:31Z</dcterms:modified>
</cp:coreProperties>
</file>