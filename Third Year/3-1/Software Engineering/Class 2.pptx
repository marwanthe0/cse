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Dr. Md. </a:t>
            </a:r>
            <a:r>
              <a:rPr lang="en-US" dirty="0" err="1"/>
              <a:t>Nasim</a:t>
            </a:r>
            <a:r>
              <a:rPr lang="en-US" dirty="0"/>
              <a:t> </a:t>
            </a:r>
            <a:r>
              <a:rPr lang="en-US" dirty="0" err="1"/>
              <a:t>Adnan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3982-EF1D-0D53-2FAA-DA5338DB2EE9}"/>
              </a:ext>
            </a:extLst>
          </p:cNvPr>
          <p:cNvSpPr>
            <a:spLocks noGrp="1"/>
          </p:cNvSpPr>
          <p:nvPr>
            <p:ph type="title"/>
          </p:nvPr>
        </p:nvSpPr>
        <p:spPr/>
        <p:txBody>
          <a:bodyPr/>
          <a:lstStyle/>
          <a:p>
            <a:r>
              <a:rPr lang="en-GB" dirty="0"/>
              <a:t>A Generic Process Model</a:t>
            </a:r>
            <a:endParaRPr lang="en-US" dirty="0"/>
          </a:p>
        </p:txBody>
      </p:sp>
      <p:sp>
        <p:nvSpPr>
          <p:cNvPr id="3" name="Content Placeholder 2">
            <a:extLst>
              <a:ext uri="{FF2B5EF4-FFF2-40B4-BE49-F238E27FC236}">
                <a16:creationId xmlns:a16="http://schemas.microsoft.com/office/drawing/2014/main" id="{C93FCCBC-7F31-EFDD-96C8-1434ACA42E69}"/>
              </a:ext>
            </a:extLst>
          </p:cNvPr>
          <p:cNvSpPr>
            <a:spLocks noGrp="1"/>
          </p:cNvSpPr>
          <p:nvPr>
            <p:ph idx="1"/>
          </p:nvPr>
        </p:nvSpPr>
        <p:spPr/>
        <p:txBody>
          <a:bodyPr>
            <a:normAutofit fontScale="92500"/>
          </a:bodyPr>
          <a:lstStyle/>
          <a:p>
            <a:pPr algn="just"/>
            <a:r>
              <a:rPr lang="en-GB" dirty="0"/>
              <a:t>As I discussed in Chapter 1, a generic process framework for software engineering defines </a:t>
            </a:r>
            <a:r>
              <a:rPr lang="en-GB" b="1" i="1" dirty="0"/>
              <a:t>five framework activities</a:t>
            </a:r>
            <a:r>
              <a:rPr lang="en-GB" dirty="0"/>
              <a:t>—communication, planning, </a:t>
            </a:r>
            <a:r>
              <a:rPr lang="en-GB" dirty="0" err="1"/>
              <a:t>modeling</a:t>
            </a:r>
            <a:r>
              <a:rPr lang="en-GB" dirty="0"/>
              <a:t>, construction, and deployment.</a:t>
            </a:r>
          </a:p>
          <a:p>
            <a:pPr algn="just"/>
            <a:r>
              <a:rPr lang="en-GB" dirty="0"/>
              <a:t>In addition, a set of umbrella activities—project tracking and control, risk management, quality assurance, configuration management, technical reviews, and others—are applied throughout the process.</a:t>
            </a:r>
            <a:endParaRPr lang="en-US" dirty="0"/>
          </a:p>
        </p:txBody>
      </p:sp>
    </p:spTree>
    <p:extLst>
      <p:ext uri="{BB962C8B-B14F-4D97-AF65-F5344CB8AC3E}">
        <p14:creationId xmlns:p14="http://schemas.microsoft.com/office/powerpoint/2010/main" val="303141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191BE-8D02-ACEA-FA73-B8B6082991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57CA40-DE77-6307-1F9C-818A6C79F6CD}"/>
              </a:ext>
            </a:extLst>
          </p:cNvPr>
          <p:cNvSpPr>
            <a:spLocks noGrp="1"/>
          </p:cNvSpPr>
          <p:nvPr>
            <p:ph idx="1"/>
          </p:nvPr>
        </p:nvSpPr>
        <p:spPr/>
        <p:txBody>
          <a:bodyPr>
            <a:normAutofit/>
          </a:bodyPr>
          <a:lstStyle/>
          <a:p>
            <a:pPr algn="just"/>
            <a:r>
              <a:rPr lang="en-GB" dirty="0"/>
              <a:t> You should note that one </a:t>
            </a:r>
            <a:r>
              <a:rPr lang="en-GB" b="1" i="1" dirty="0"/>
              <a:t>important aspect</a:t>
            </a:r>
            <a:r>
              <a:rPr lang="en-GB" dirty="0"/>
              <a:t> of the software process has not yet been discussed.</a:t>
            </a:r>
          </a:p>
          <a:p>
            <a:pPr algn="just"/>
            <a:r>
              <a:rPr lang="en-GB" dirty="0"/>
              <a:t>This aspect—called </a:t>
            </a:r>
            <a:r>
              <a:rPr lang="en-GB" b="1" i="1" dirty="0"/>
              <a:t>process flow</a:t>
            </a:r>
            <a:r>
              <a:rPr lang="en-GB" dirty="0"/>
              <a:t>—describes </a:t>
            </a:r>
            <a:r>
              <a:rPr lang="en-GB" b="1" i="1" dirty="0"/>
              <a:t>how the framework activities are organized </a:t>
            </a:r>
            <a:r>
              <a:rPr lang="en-GB" dirty="0"/>
              <a:t>with respect to sequence and time and is illustrated in</a:t>
            </a:r>
            <a:r>
              <a:rPr lang="en-US" dirty="0"/>
              <a:t> the next figure.</a:t>
            </a:r>
            <a:endParaRPr lang="en-GB" dirty="0"/>
          </a:p>
        </p:txBody>
      </p:sp>
    </p:spTree>
    <p:extLst>
      <p:ext uri="{BB962C8B-B14F-4D97-AF65-F5344CB8AC3E}">
        <p14:creationId xmlns:p14="http://schemas.microsoft.com/office/powerpoint/2010/main" val="3500588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2935F-703D-EEF8-4C8E-AFA8C35A80D3}"/>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0837B59E-2C27-FAFA-C30E-AF2713E258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76400"/>
            <a:ext cx="9144000" cy="4114800"/>
          </a:xfrm>
        </p:spPr>
      </p:pic>
    </p:spTree>
    <p:extLst>
      <p:ext uri="{BB962C8B-B14F-4D97-AF65-F5344CB8AC3E}">
        <p14:creationId xmlns:p14="http://schemas.microsoft.com/office/powerpoint/2010/main" val="4237438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87566-4610-AB76-87E3-DDCA26CE52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891C9A-E502-0B0E-9705-6E70F20B3DA2}"/>
              </a:ext>
            </a:extLst>
          </p:cNvPr>
          <p:cNvSpPr>
            <a:spLocks noGrp="1"/>
          </p:cNvSpPr>
          <p:nvPr>
            <p:ph idx="1"/>
          </p:nvPr>
        </p:nvSpPr>
        <p:spPr>
          <a:xfrm>
            <a:off x="457200" y="1066800"/>
            <a:ext cx="8229600" cy="5562600"/>
          </a:xfrm>
        </p:spPr>
        <p:txBody>
          <a:bodyPr>
            <a:normAutofit fontScale="85000" lnSpcReduction="20000"/>
          </a:bodyPr>
          <a:lstStyle/>
          <a:p>
            <a:pPr algn="just"/>
            <a:r>
              <a:rPr lang="en-GB" dirty="0"/>
              <a:t>A linear process flow executes each of the five framework activities in sequence, beginning with communication and culminating with deployment (Figure a).</a:t>
            </a:r>
          </a:p>
          <a:p>
            <a:pPr algn="just"/>
            <a:r>
              <a:rPr lang="en-GB" dirty="0"/>
              <a:t>An iterative process flow repeats one or more of the activities before proceeding to the next (Figure b).</a:t>
            </a:r>
          </a:p>
          <a:p>
            <a:pPr algn="just"/>
            <a:r>
              <a:rPr lang="en-GB" dirty="0"/>
              <a:t>An evolutionary process flow executes the activities in a “circular” manner. Each circuit through the five activities leads to a more complete version of the software (Figure c).</a:t>
            </a:r>
          </a:p>
          <a:p>
            <a:pPr algn="just"/>
            <a:r>
              <a:rPr lang="en-GB" dirty="0"/>
              <a:t>A parallel process flow (Figure d) executes one or more activities in parallel with other activities (e.g., </a:t>
            </a:r>
            <a:r>
              <a:rPr lang="en-GB" dirty="0" err="1"/>
              <a:t>modeling</a:t>
            </a:r>
            <a:r>
              <a:rPr lang="en-GB" dirty="0"/>
              <a:t> for one aspect of the software might be executed in parallel with construction of another aspect of the software).</a:t>
            </a:r>
          </a:p>
          <a:p>
            <a:pPr algn="just"/>
            <a:endParaRPr lang="en-US" dirty="0"/>
          </a:p>
        </p:txBody>
      </p:sp>
    </p:spTree>
    <p:extLst>
      <p:ext uri="{BB962C8B-B14F-4D97-AF65-F5344CB8AC3E}">
        <p14:creationId xmlns:p14="http://schemas.microsoft.com/office/powerpoint/2010/main" val="2031166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B5F58-57B9-5685-41AF-28ACAD1F4EC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EAC8E6D-4DAB-7F14-33B0-C210514D9C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17638"/>
            <a:ext cx="9067800" cy="4602162"/>
          </a:xfrm>
        </p:spPr>
      </p:pic>
    </p:spTree>
    <p:extLst>
      <p:ext uri="{BB962C8B-B14F-4D97-AF65-F5344CB8AC3E}">
        <p14:creationId xmlns:p14="http://schemas.microsoft.com/office/powerpoint/2010/main" val="757213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9942C-65E8-B291-6AAF-2D37F3B6E36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0042313-0CD1-3529-0E1D-FD4F42DB56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2454" y="1600200"/>
            <a:ext cx="8099091" cy="4525963"/>
          </a:xfrm>
        </p:spPr>
      </p:pic>
    </p:spTree>
    <p:extLst>
      <p:ext uri="{BB962C8B-B14F-4D97-AF65-F5344CB8AC3E}">
        <p14:creationId xmlns:p14="http://schemas.microsoft.com/office/powerpoint/2010/main" val="2899449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DFB25-3ECB-F97B-A847-C76B802AA564}"/>
              </a:ext>
            </a:extLst>
          </p:cNvPr>
          <p:cNvSpPr>
            <a:spLocks noGrp="1"/>
          </p:cNvSpPr>
          <p:nvPr>
            <p:ph type="title"/>
          </p:nvPr>
        </p:nvSpPr>
        <p:spPr/>
        <p:txBody>
          <a:bodyPr/>
          <a:lstStyle/>
          <a:p>
            <a:r>
              <a:rPr lang="en-GB" dirty="0"/>
              <a:t>Perspective Process Models</a:t>
            </a:r>
            <a:endParaRPr lang="en-US" dirty="0"/>
          </a:p>
        </p:txBody>
      </p:sp>
      <p:sp>
        <p:nvSpPr>
          <p:cNvPr id="3" name="Content Placeholder 2">
            <a:extLst>
              <a:ext uri="{FF2B5EF4-FFF2-40B4-BE49-F238E27FC236}">
                <a16:creationId xmlns:a16="http://schemas.microsoft.com/office/drawing/2014/main" id="{6CBE7CCB-ECCB-DD49-96D1-0DF5730A8E30}"/>
              </a:ext>
            </a:extLst>
          </p:cNvPr>
          <p:cNvSpPr>
            <a:spLocks noGrp="1"/>
          </p:cNvSpPr>
          <p:nvPr>
            <p:ph idx="1"/>
          </p:nvPr>
        </p:nvSpPr>
        <p:spPr/>
        <p:txBody>
          <a:bodyPr>
            <a:normAutofit/>
          </a:bodyPr>
          <a:lstStyle/>
          <a:p>
            <a:pPr algn="just"/>
            <a:r>
              <a:rPr lang="en-GB" dirty="0"/>
              <a:t>Prescriptive process models were originally proposed </a:t>
            </a:r>
            <a:r>
              <a:rPr lang="en-GB" b="1" i="1" dirty="0"/>
              <a:t>to bring order to the chaos of software development</a:t>
            </a:r>
            <a:r>
              <a:rPr lang="en-GB" dirty="0"/>
              <a:t>.</a:t>
            </a:r>
          </a:p>
          <a:p>
            <a:pPr algn="just"/>
            <a:r>
              <a:rPr lang="en-GB" dirty="0"/>
              <a:t>History has indicated that these traditional models have brought a certain amount of useful structure to software engineering work and have provided a reasonably effective road map for software teams.</a:t>
            </a:r>
          </a:p>
        </p:txBody>
      </p:sp>
    </p:spTree>
    <p:extLst>
      <p:ext uri="{BB962C8B-B14F-4D97-AF65-F5344CB8AC3E}">
        <p14:creationId xmlns:p14="http://schemas.microsoft.com/office/powerpoint/2010/main" val="2597469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7A64D-5635-CD19-DB97-2B5889DCB703}"/>
              </a:ext>
            </a:extLst>
          </p:cNvPr>
          <p:cNvSpPr>
            <a:spLocks noGrp="1"/>
          </p:cNvSpPr>
          <p:nvPr>
            <p:ph type="title"/>
          </p:nvPr>
        </p:nvSpPr>
        <p:spPr/>
        <p:txBody>
          <a:bodyPr/>
          <a:lstStyle/>
          <a:p>
            <a:r>
              <a:rPr lang="en-US" dirty="0"/>
              <a:t>The Waterfall Model</a:t>
            </a:r>
          </a:p>
        </p:txBody>
      </p:sp>
      <p:sp>
        <p:nvSpPr>
          <p:cNvPr id="3" name="Content Placeholder 2">
            <a:extLst>
              <a:ext uri="{FF2B5EF4-FFF2-40B4-BE49-F238E27FC236}">
                <a16:creationId xmlns:a16="http://schemas.microsoft.com/office/drawing/2014/main" id="{5CE07F39-C3B9-C27B-D9A9-850D6DBE5EC3}"/>
              </a:ext>
            </a:extLst>
          </p:cNvPr>
          <p:cNvSpPr>
            <a:spLocks noGrp="1"/>
          </p:cNvSpPr>
          <p:nvPr>
            <p:ph idx="1"/>
          </p:nvPr>
        </p:nvSpPr>
        <p:spPr/>
        <p:txBody>
          <a:bodyPr>
            <a:normAutofit fontScale="85000" lnSpcReduction="20000"/>
          </a:bodyPr>
          <a:lstStyle/>
          <a:p>
            <a:pPr algn="just"/>
            <a:r>
              <a:rPr lang="en-GB" dirty="0"/>
              <a:t>There are times when the requirements for a problem are </a:t>
            </a:r>
            <a:r>
              <a:rPr lang="en-GB" b="1" i="1" dirty="0"/>
              <a:t>well understood</a:t>
            </a:r>
            <a:r>
              <a:rPr lang="en-GB" dirty="0"/>
              <a:t>—when work flows from communication through deployment in a reasonably linear fashion.</a:t>
            </a:r>
          </a:p>
          <a:p>
            <a:pPr algn="just"/>
            <a:r>
              <a:rPr lang="en-GB" dirty="0"/>
              <a:t>This situation is sometimes encountered when well-defined adaptations or enhancements to an existing system must be made (e.g., an adaptation to accounting software that has been mandated because of changes to government regulations).</a:t>
            </a:r>
          </a:p>
          <a:p>
            <a:pPr algn="just"/>
            <a:r>
              <a:rPr lang="en-GB" dirty="0"/>
              <a:t>It may also occur in a limited number of new development efforts, but only when requirements are well defined and reasonably stable.</a:t>
            </a:r>
            <a:endParaRPr lang="en-US" dirty="0"/>
          </a:p>
        </p:txBody>
      </p:sp>
    </p:spTree>
    <p:extLst>
      <p:ext uri="{BB962C8B-B14F-4D97-AF65-F5344CB8AC3E}">
        <p14:creationId xmlns:p14="http://schemas.microsoft.com/office/powerpoint/2010/main" val="2768636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8FB7-1219-1289-1EAF-8959C0E24C7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487E8D0-A8A5-B056-992F-8117143DBB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1905000"/>
            <a:ext cx="8991600" cy="2743200"/>
          </a:xfrm>
        </p:spPr>
      </p:pic>
    </p:spTree>
    <p:extLst>
      <p:ext uri="{BB962C8B-B14F-4D97-AF65-F5344CB8AC3E}">
        <p14:creationId xmlns:p14="http://schemas.microsoft.com/office/powerpoint/2010/main" val="3238900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F413-BA52-DBF1-7671-A01E30666A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DEAFC9-EE3D-5EF3-8074-3554DBB58A71}"/>
              </a:ext>
            </a:extLst>
          </p:cNvPr>
          <p:cNvSpPr>
            <a:spLocks noGrp="1"/>
          </p:cNvSpPr>
          <p:nvPr>
            <p:ph idx="1"/>
          </p:nvPr>
        </p:nvSpPr>
        <p:spPr/>
        <p:txBody>
          <a:bodyPr/>
          <a:lstStyle/>
          <a:p>
            <a:pPr algn="just"/>
            <a:r>
              <a:rPr lang="en-GB" dirty="0"/>
              <a:t>A variation in the representation of the waterfall model is called the V-model.</a:t>
            </a:r>
          </a:p>
          <a:p>
            <a:pPr algn="just"/>
            <a:r>
              <a:rPr lang="en-GB" dirty="0"/>
              <a:t>Represented in next figure, the V-model depicts the relationship of quality assurance actions to the actions associated with communication, </a:t>
            </a:r>
            <a:r>
              <a:rPr lang="en-GB" dirty="0" err="1"/>
              <a:t>modeling</a:t>
            </a:r>
            <a:r>
              <a:rPr lang="en-GB" dirty="0"/>
              <a:t>, and early construction activities.</a:t>
            </a:r>
            <a:endParaRPr lang="en-US" dirty="0"/>
          </a:p>
        </p:txBody>
      </p:sp>
    </p:spTree>
    <p:extLst>
      <p:ext uri="{BB962C8B-B14F-4D97-AF65-F5344CB8AC3E}">
        <p14:creationId xmlns:p14="http://schemas.microsoft.com/office/powerpoint/2010/main" val="521965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D88F-1A7E-EF7E-D969-470E2EC25CA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6FA213D-0F10-4841-BF43-E0E3985CC8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0"/>
            <a:ext cx="6248400" cy="6781800"/>
          </a:xfrm>
        </p:spPr>
      </p:pic>
    </p:spTree>
    <p:extLst>
      <p:ext uri="{BB962C8B-B14F-4D97-AF65-F5344CB8AC3E}">
        <p14:creationId xmlns:p14="http://schemas.microsoft.com/office/powerpoint/2010/main" val="2336175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A1F1-87A0-2942-EA30-7AB30BCDDE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F16833-E018-3603-D0AE-296FFA1EF4D9}"/>
              </a:ext>
            </a:extLst>
          </p:cNvPr>
          <p:cNvSpPr>
            <a:spLocks noGrp="1"/>
          </p:cNvSpPr>
          <p:nvPr>
            <p:ph idx="1"/>
          </p:nvPr>
        </p:nvSpPr>
        <p:spPr>
          <a:xfrm>
            <a:off x="457200" y="1600200"/>
            <a:ext cx="8229600" cy="4876800"/>
          </a:xfrm>
        </p:spPr>
        <p:txBody>
          <a:bodyPr>
            <a:normAutofit fontScale="85000" lnSpcReduction="20000"/>
          </a:bodyPr>
          <a:lstStyle/>
          <a:p>
            <a:pPr algn="just"/>
            <a:r>
              <a:rPr lang="en-GB" dirty="0"/>
              <a:t>As a software team moves down the left side of the V, basic problem requirements are refined into progressively more detailed technical representations of the problem and its solution.</a:t>
            </a:r>
          </a:p>
          <a:p>
            <a:pPr algn="just"/>
            <a:r>
              <a:rPr lang="en-GB" dirty="0"/>
              <a:t>Once code has been generated, the team moves up the right side of the V, essentially performing a series of tests (quality assurance actions) that validate each of the models created as the team moved down the left side.</a:t>
            </a:r>
          </a:p>
          <a:p>
            <a:pPr algn="just"/>
            <a:r>
              <a:rPr lang="en-GB" dirty="0"/>
              <a:t>In reality, there is no fundamental difference between the classic life cycle and the V-model. The V-model provides a way of visualizing how verification and validation actions are applied to earlier engineering work.</a:t>
            </a:r>
            <a:endParaRPr lang="en-US" dirty="0"/>
          </a:p>
        </p:txBody>
      </p:sp>
    </p:spTree>
    <p:extLst>
      <p:ext uri="{BB962C8B-B14F-4D97-AF65-F5344CB8AC3E}">
        <p14:creationId xmlns:p14="http://schemas.microsoft.com/office/powerpoint/2010/main" val="2353781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99DE-D5B4-CAE9-F0D0-C30458B6923E}"/>
              </a:ext>
            </a:extLst>
          </p:cNvPr>
          <p:cNvSpPr>
            <a:spLocks noGrp="1"/>
          </p:cNvSpPr>
          <p:nvPr>
            <p:ph type="title"/>
          </p:nvPr>
        </p:nvSpPr>
        <p:spPr/>
        <p:txBody>
          <a:bodyPr/>
          <a:lstStyle/>
          <a:p>
            <a:r>
              <a:rPr lang="en-US" dirty="0"/>
              <a:t>Incremental Process Models</a:t>
            </a:r>
          </a:p>
        </p:txBody>
      </p:sp>
      <p:sp>
        <p:nvSpPr>
          <p:cNvPr id="3" name="Content Placeholder 2">
            <a:extLst>
              <a:ext uri="{FF2B5EF4-FFF2-40B4-BE49-F238E27FC236}">
                <a16:creationId xmlns:a16="http://schemas.microsoft.com/office/drawing/2014/main" id="{1094B3FA-49E2-1031-7BEA-2E2F29D28DEB}"/>
              </a:ext>
            </a:extLst>
          </p:cNvPr>
          <p:cNvSpPr>
            <a:spLocks noGrp="1"/>
          </p:cNvSpPr>
          <p:nvPr>
            <p:ph idx="1"/>
          </p:nvPr>
        </p:nvSpPr>
        <p:spPr/>
        <p:txBody>
          <a:bodyPr>
            <a:normAutofit fontScale="92500" lnSpcReduction="20000"/>
          </a:bodyPr>
          <a:lstStyle/>
          <a:p>
            <a:pPr algn="just"/>
            <a:r>
              <a:rPr lang="en-GB" dirty="0"/>
              <a:t>There may be a compelling need to </a:t>
            </a:r>
            <a:r>
              <a:rPr lang="en-GB" b="1" i="1" dirty="0"/>
              <a:t>provide a limited set of software functionality to users quickly and then refine and expand on that functionality in later software releases</a:t>
            </a:r>
            <a:r>
              <a:rPr lang="en-GB" dirty="0"/>
              <a:t>.</a:t>
            </a:r>
          </a:p>
          <a:p>
            <a:pPr algn="just"/>
            <a:r>
              <a:rPr lang="en-GB" dirty="0"/>
              <a:t>In such cases, you can choose a process model that is designed to produce the software in increments.</a:t>
            </a:r>
          </a:p>
          <a:p>
            <a:pPr algn="just"/>
            <a:r>
              <a:rPr lang="en-GB" dirty="0"/>
              <a:t>The incremental model applies linear sequences in an independent fashion as calendar time progresses and each linear sequence produces deliverable “increments” of the software.</a:t>
            </a:r>
            <a:endParaRPr lang="en-US" dirty="0"/>
          </a:p>
        </p:txBody>
      </p:sp>
    </p:spTree>
    <p:extLst>
      <p:ext uri="{BB962C8B-B14F-4D97-AF65-F5344CB8AC3E}">
        <p14:creationId xmlns:p14="http://schemas.microsoft.com/office/powerpoint/2010/main" val="1479728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4536B-3A1E-F72F-93B6-1C63B28162B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90D9C7E-77E5-C4A4-3FEA-2F6ECFA406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74638"/>
            <a:ext cx="9144000" cy="6583362"/>
          </a:xfrm>
        </p:spPr>
      </p:pic>
    </p:spTree>
    <p:extLst>
      <p:ext uri="{BB962C8B-B14F-4D97-AF65-F5344CB8AC3E}">
        <p14:creationId xmlns:p14="http://schemas.microsoft.com/office/powerpoint/2010/main" val="1984616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2A8D5-A95B-9135-92CD-AE0A50372C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9208DF-0A81-1C4B-926C-E24D73F0D285}"/>
              </a:ext>
            </a:extLst>
          </p:cNvPr>
          <p:cNvSpPr>
            <a:spLocks noGrp="1"/>
          </p:cNvSpPr>
          <p:nvPr>
            <p:ph idx="1"/>
          </p:nvPr>
        </p:nvSpPr>
        <p:spPr>
          <a:xfrm>
            <a:off x="457200" y="1219200"/>
            <a:ext cx="8229600" cy="5181600"/>
          </a:xfrm>
        </p:spPr>
        <p:txBody>
          <a:bodyPr>
            <a:normAutofit fontScale="85000" lnSpcReduction="20000"/>
          </a:bodyPr>
          <a:lstStyle/>
          <a:p>
            <a:pPr algn="just"/>
            <a:r>
              <a:rPr lang="en-GB" dirty="0"/>
              <a:t>When an incremental model is used, the first increment is often a core product.</a:t>
            </a:r>
          </a:p>
          <a:p>
            <a:pPr algn="just"/>
            <a:r>
              <a:rPr lang="en-GB" dirty="0"/>
              <a:t>That is, basic requirements are addressed but many supplementary features (some known, others unknown) remain undelivered. The core product is used by the customer (or undergoes detailed evaluation).</a:t>
            </a:r>
          </a:p>
          <a:p>
            <a:pPr algn="just"/>
            <a:r>
              <a:rPr lang="en-GB" dirty="0"/>
              <a:t>As a result of use and/or evaluation, a plan is developed for the next increment.</a:t>
            </a:r>
          </a:p>
          <a:p>
            <a:pPr algn="just"/>
            <a:r>
              <a:rPr lang="en-GB" dirty="0"/>
              <a:t>The plan addresses the modification of the core product to better meet the needs of the customer and the delivery of additional features and functionality.</a:t>
            </a:r>
          </a:p>
          <a:p>
            <a:pPr algn="just"/>
            <a:r>
              <a:rPr lang="en-GB" dirty="0"/>
              <a:t>This process is repeated following the delivery of each increment, until the complete product is produced.</a:t>
            </a:r>
            <a:endParaRPr lang="en-US" dirty="0"/>
          </a:p>
        </p:txBody>
      </p:sp>
    </p:spTree>
    <p:extLst>
      <p:ext uri="{BB962C8B-B14F-4D97-AF65-F5344CB8AC3E}">
        <p14:creationId xmlns:p14="http://schemas.microsoft.com/office/powerpoint/2010/main" val="1224793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E6D26-B1F6-9520-1D92-FD6FFECB30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8FED90-2A85-8EC9-80A9-41C0F1EC9FDD}"/>
              </a:ext>
            </a:extLst>
          </p:cNvPr>
          <p:cNvSpPr>
            <a:spLocks noGrp="1"/>
          </p:cNvSpPr>
          <p:nvPr>
            <p:ph idx="1"/>
          </p:nvPr>
        </p:nvSpPr>
        <p:spPr>
          <a:xfrm>
            <a:off x="457200" y="1295400"/>
            <a:ext cx="8229600" cy="5029200"/>
          </a:xfrm>
        </p:spPr>
        <p:txBody>
          <a:bodyPr>
            <a:normAutofit fontScale="92500" lnSpcReduction="20000"/>
          </a:bodyPr>
          <a:lstStyle/>
          <a:p>
            <a:pPr algn="just"/>
            <a:r>
              <a:rPr lang="en-GB" dirty="0"/>
              <a:t>Early increments are </a:t>
            </a:r>
            <a:r>
              <a:rPr lang="en-GB" b="1" i="1" dirty="0"/>
              <a:t>stripped-down versions of the final product</a:t>
            </a:r>
            <a:r>
              <a:rPr lang="en-GB" dirty="0"/>
              <a:t>, but they do provide capability that serves the user and also provide a platform for evaluation by the user.</a:t>
            </a:r>
          </a:p>
          <a:p>
            <a:pPr algn="just"/>
            <a:r>
              <a:rPr lang="en-GB" dirty="0"/>
              <a:t>Incremental development is particularly useful when staffing is unavailable for a complete implementation by the business deadline that has been established for the project.</a:t>
            </a:r>
          </a:p>
          <a:p>
            <a:pPr algn="just"/>
            <a:r>
              <a:rPr lang="en-GB" dirty="0"/>
              <a:t>Early increments can be implemented with fewer people. If the core product is well received, then additional staff (if required) can be added to implement the next increment.</a:t>
            </a:r>
            <a:endParaRPr lang="en-US" dirty="0"/>
          </a:p>
        </p:txBody>
      </p:sp>
    </p:spTree>
    <p:extLst>
      <p:ext uri="{BB962C8B-B14F-4D97-AF65-F5344CB8AC3E}">
        <p14:creationId xmlns:p14="http://schemas.microsoft.com/office/powerpoint/2010/main" val="2768040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931A-BAD3-4700-4200-2A4EEC113BD7}"/>
              </a:ext>
            </a:extLst>
          </p:cNvPr>
          <p:cNvSpPr>
            <a:spLocks noGrp="1"/>
          </p:cNvSpPr>
          <p:nvPr>
            <p:ph type="title"/>
          </p:nvPr>
        </p:nvSpPr>
        <p:spPr/>
        <p:txBody>
          <a:bodyPr/>
          <a:lstStyle/>
          <a:p>
            <a:r>
              <a:rPr lang="en-US" dirty="0"/>
              <a:t>Evolutionary Process Models</a:t>
            </a:r>
          </a:p>
        </p:txBody>
      </p:sp>
      <p:sp>
        <p:nvSpPr>
          <p:cNvPr id="3" name="Content Placeholder 2">
            <a:extLst>
              <a:ext uri="{FF2B5EF4-FFF2-40B4-BE49-F238E27FC236}">
                <a16:creationId xmlns:a16="http://schemas.microsoft.com/office/drawing/2014/main" id="{39170478-D088-C2B0-389C-32A53D5B2B03}"/>
              </a:ext>
            </a:extLst>
          </p:cNvPr>
          <p:cNvSpPr>
            <a:spLocks noGrp="1"/>
          </p:cNvSpPr>
          <p:nvPr>
            <p:ph idx="1"/>
          </p:nvPr>
        </p:nvSpPr>
        <p:spPr/>
        <p:txBody>
          <a:bodyPr>
            <a:normAutofit fontScale="85000" lnSpcReduction="10000"/>
          </a:bodyPr>
          <a:lstStyle/>
          <a:p>
            <a:pPr algn="just"/>
            <a:r>
              <a:rPr lang="en-GB" dirty="0"/>
              <a:t>Software, like all complex systems, evolves over a period of time.</a:t>
            </a:r>
          </a:p>
          <a:p>
            <a:pPr algn="just"/>
            <a:r>
              <a:rPr lang="en-GB" dirty="0"/>
              <a:t>Business and product requirements often change as development proceeds, making a straight line path to an end product unrealistic; tight market deadlines make completion of a comprehensive software product impossible, </a:t>
            </a:r>
            <a:r>
              <a:rPr lang="en-GB" b="1" i="1" dirty="0"/>
              <a:t>but a limited version must be introduced</a:t>
            </a:r>
            <a:r>
              <a:rPr lang="en-GB" dirty="0"/>
              <a:t> to meet competitive or business pressure; a set of core product or system requirements is well understood, but the details of product or system extensions have yet to be defined. (Bonus product)</a:t>
            </a:r>
            <a:endParaRPr lang="en-US" dirty="0"/>
          </a:p>
        </p:txBody>
      </p:sp>
    </p:spTree>
    <p:extLst>
      <p:ext uri="{BB962C8B-B14F-4D97-AF65-F5344CB8AC3E}">
        <p14:creationId xmlns:p14="http://schemas.microsoft.com/office/powerpoint/2010/main" val="1588605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3383-C4B7-2ECB-493F-21B9BF5527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9D8F32-FAE2-A8DA-1DEF-C62DDE82706D}"/>
              </a:ext>
            </a:extLst>
          </p:cNvPr>
          <p:cNvSpPr>
            <a:spLocks noGrp="1"/>
          </p:cNvSpPr>
          <p:nvPr>
            <p:ph idx="1"/>
          </p:nvPr>
        </p:nvSpPr>
        <p:spPr/>
        <p:txBody>
          <a:bodyPr/>
          <a:lstStyle/>
          <a:p>
            <a:pPr algn="just"/>
            <a:r>
              <a:rPr lang="en-GB" dirty="0"/>
              <a:t>Evolutionary models are iterative. They are characterized in a manner that enables you to develop increasingly more complete versions of the software.</a:t>
            </a:r>
          </a:p>
          <a:p>
            <a:pPr algn="just"/>
            <a:r>
              <a:rPr lang="en-GB" dirty="0"/>
              <a:t>In the paragraphs that follow, I present two common evolutionary process models.</a:t>
            </a:r>
            <a:endParaRPr lang="en-US" dirty="0"/>
          </a:p>
        </p:txBody>
      </p:sp>
    </p:spTree>
    <p:extLst>
      <p:ext uri="{BB962C8B-B14F-4D97-AF65-F5344CB8AC3E}">
        <p14:creationId xmlns:p14="http://schemas.microsoft.com/office/powerpoint/2010/main" val="1215582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3DC34-D61F-F75C-C134-DA6E9CACD2BA}"/>
              </a:ext>
            </a:extLst>
          </p:cNvPr>
          <p:cNvSpPr>
            <a:spLocks noGrp="1"/>
          </p:cNvSpPr>
          <p:nvPr>
            <p:ph type="title"/>
          </p:nvPr>
        </p:nvSpPr>
        <p:spPr/>
        <p:txBody>
          <a:bodyPr/>
          <a:lstStyle/>
          <a:p>
            <a:r>
              <a:rPr lang="en-GB" dirty="0"/>
              <a:t>Prototyping</a:t>
            </a:r>
            <a:endParaRPr lang="en-US" dirty="0"/>
          </a:p>
        </p:txBody>
      </p:sp>
      <p:sp>
        <p:nvSpPr>
          <p:cNvPr id="3" name="Content Placeholder 2">
            <a:extLst>
              <a:ext uri="{FF2B5EF4-FFF2-40B4-BE49-F238E27FC236}">
                <a16:creationId xmlns:a16="http://schemas.microsoft.com/office/drawing/2014/main" id="{08E84A12-9D59-B60E-647B-FC6968DA572C}"/>
              </a:ext>
            </a:extLst>
          </p:cNvPr>
          <p:cNvSpPr>
            <a:spLocks noGrp="1"/>
          </p:cNvSpPr>
          <p:nvPr>
            <p:ph idx="1"/>
          </p:nvPr>
        </p:nvSpPr>
        <p:spPr/>
        <p:txBody>
          <a:bodyPr>
            <a:normAutofit fontScale="92500" lnSpcReduction="20000"/>
          </a:bodyPr>
          <a:lstStyle/>
          <a:p>
            <a:pPr algn="just"/>
            <a:r>
              <a:rPr lang="en-GB" dirty="0"/>
              <a:t>Often, a customer defines a set of general objectives for software, but does not identify detailed requirements for functions and features.</a:t>
            </a:r>
          </a:p>
          <a:p>
            <a:pPr algn="just"/>
            <a:r>
              <a:rPr lang="en-GB" dirty="0"/>
              <a:t>The prototyping paradigm (next Figure) begins with communication.</a:t>
            </a:r>
          </a:p>
          <a:p>
            <a:pPr algn="just"/>
            <a:r>
              <a:rPr lang="en-GB" dirty="0"/>
              <a:t>You meet with other stakeholders to define the overall objectives for the software, identify whatever requirements are known, and outline areas where further definition is mandatory.</a:t>
            </a:r>
          </a:p>
          <a:p>
            <a:pPr algn="just"/>
            <a:r>
              <a:rPr lang="en-GB" dirty="0"/>
              <a:t>A prototyping iteration is planned and </a:t>
            </a:r>
            <a:r>
              <a:rPr lang="en-GB" dirty="0" err="1"/>
              <a:t>modeling</a:t>
            </a:r>
            <a:r>
              <a:rPr lang="en-GB" dirty="0"/>
              <a:t> (in the form of a “quick design”) occurs.</a:t>
            </a:r>
            <a:endParaRPr lang="en-US" dirty="0"/>
          </a:p>
        </p:txBody>
      </p:sp>
    </p:spTree>
    <p:extLst>
      <p:ext uri="{BB962C8B-B14F-4D97-AF65-F5344CB8AC3E}">
        <p14:creationId xmlns:p14="http://schemas.microsoft.com/office/powerpoint/2010/main" val="38190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489C-3302-3544-7058-B77DF3F721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F501E0-7781-BD7E-D6CD-21545F580F5A}"/>
              </a:ext>
            </a:extLst>
          </p:cNvPr>
          <p:cNvSpPr>
            <a:spLocks noGrp="1"/>
          </p:cNvSpPr>
          <p:nvPr>
            <p:ph idx="1"/>
          </p:nvPr>
        </p:nvSpPr>
        <p:spPr/>
        <p:txBody>
          <a:bodyPr>
            <a:normAutofit lnSpcReduction="10000"/>
          </a:bodyPr>
          <a:lstStyle/>
          <a:p>
            <a:pPr algn="just"/>
            <a:r>
              <a:rPr lang="en-GB" dirty="0"/>
              <a:t>The quick design leads to the construction of a prototype.</a:t>
            </a:r>
          </a:p>
          <a:p>
            <a:pPr algn="just"/>
            <a:r>
              <a:rPr lang="en-GB" dirty="0"/>
              <a:t>The prototype is </a:t>
            </a:r>
            <a:r>
              <a:rPr lang="en-GB" b="1" i="1" dirty="0"/>
              <a:t>deployed and evaluated by stakeholders, who provide feedback that is used to further refine requirements</a:t>
            </a:r>
            <a:r>
              <a:rPr lang="en-GB" dirty="0"/>
              <a:t>.</a:t>
            </a:r>
          </a:p>
          <a:p>
            <a:pPr algn="just"/>
            <a:r>
              <a:rPr lang="en-GB" dirty="0"/>
              <a:t>Iteration occurs as the prototype is tuned to satisfy the needs of various stakeholders, while at the same time enabling you to better understand what needs to be done.</a:t>
            </a:r>
            <a:endParaRPr lang="en-US" dirty="0"/>
          </a:p>
        </p:txBody>
      </p:sp>
    </p:spTree>
    <p:extLst>
      <p:ext uri="{BB962C8B-B14F-4D97-AF65-F5344CB8AC3E}">
        <p14:creationId xmlns:p14="http://schemas.microsoft.com/office/powerpoint/2010/main" val="3538629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50E5-E8E7-6966-07B4-8DBF2C7912A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65FCAB8-CE9D-ACB5-FF65-6B6E4DD330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274638"/>
            <a:ext cx="6019800" cy="6049962"/>
          </a:xfrm>
        </p:spPr>
      </p:pic>
    </p:spTree>
    <p:extLst>
      <p:ext uri="{BB962C8B-B14F-4D97-AF65-F5344CB8AC3E}">
        <p14:creationId xmlns:p14="http://schemas.microsoft.com/office/powerpoint/2010/main" val="2820582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C0D13-1133-CD7B-B34E-54B478010D9A}"/>
              </a:ext>
            </a:extLst>
          </p:cNvPr>
          <p:cNvSpPr>
            <a:spLocks noGrp="1"/>
          </p:cNvSpPr>
          <p:nvPr>
            <p:ph type="title"/>
          </p:nvPr>
        </p:nvSpPr>
        <p:spPr/>
        <p:txBody>
          <a:bodyPr/>
          <a:lstStyle/>
          <a:p>
            <a:r>
              <a:rPr lang="en-US" dirty="0"/>
              <a:t>The Spiral Model</a:t>
            </a:r>
          </a:p>
        </p:txBody>
      </p:sp>
      <p:sp>
        <p:nvSpPr>
          <p:cNvPr id="3" name="Content Placeholder 2">
            <a:extLst>
              <a:ext uri="{FF2B5EF4-FFF2-40B4-BE49-F238E27FC236}">
                <a16:creationId xmlns:a16="http://schemas.microsoft.com/office/drawing/2014/main" id="{B7FD61B0-DD4E-414B-6DCE-EC20CBF7ED04}"/>
              </a:ext>
            </a:extLst>
          </p:cNvPr>
          <p:cNvSpPr>
            <a:spLocks noGrp="1"/>
          </p:cNvSpPr>
          <p:nvPr>
            <p:ph idx="1"/>
          </p:nvPr>
        </p:nvSpPr>
        <p:spPr/>
        <p:txBody>
          <a:bodyPr>
            <a:normAutofit/>
          </a:bodyPr>
          <a:lstStyle/>
          <a:p>
            <a:pPr algn="just"/>
            <a:r>
              <a:rPr lang="en-GB" dirty="0"/>
              <a:t>Originally proposed by Barry Boehm, the spiral model is an evolutionary software process model that couples the iterative nature of prototyping with the controlled and systematic aspects of the waterfall model.</a:t>
            </a:r>
          </a:p>
          <a:p>
            <a:pPr algn="just"/>
            <a:r>
              <a:rPr lang="en-GB" dirty="0"/>
              <a:t>It provides the </a:t>
            </a:r>
            <a:r>
              <a:rPr lang="en-GB" b="1" i="1" dirty="0"/>
              <a:t>potential for rapid development of increasingly more complete versions of the software</a:t>
            </a:r>
            <a:r>
              <a:rPr lang="en-GB" dirty="0"/>
              <a:t>.</a:t>
            </a:r>
            <a:endParaRPr lang="en-US" dirty="0"/>
          </a:p>
        </p:txBody>
      </p:sp>
    </p:spTree>
    <p:extLst>
      <p:ext uri="{BB962C8B-B14F-4D97-AF65-F5344CB8AC3E}">
        <p14:creationId xmlns:p14="http://schemas.microsoft.com/office/powerpoint/2010/main" val="994001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AB580-D408-45E4-FE72-833287D0B5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0A6AFA-3DDF-BCF3-32FA-4CE3D51CBB45}"/>
              </a:ext>
            </a:extLst>
          </p:cNvPr>
          <p:cNvSpPr>
            <a:spLocks noGrp="1"/>
          </p:cNvSpPr>
          <p:nvPr>
            <p:ph idx="1"/>
          </p:nvPr>
        </p:nvSpPr>
        <p:spPr/>
        <p:txBody>
          <a:bodyPr/>
          <a:lstStyle/>
          <a:p>
            <a:pPr algn="just"/>
            <a:r>
              <a:rPr lang="en-GB" dirty="0"/>
              <a:t>Using the spiral model, software is developed in a series of evolutionary releases. </a:t>
            </a:r>
            <a:r>
              <a:rPr lang="en-GB" b="1" i="1" dirty="0"/>
              <a:t>During early iterations, the release might be a model or prototype</a:t>
            </a:r>
            <a:r>
              <a:rPr lang="en-GB" dirty="0"/>
              <a:t>.</a:t>
            </a:r>
          </a:p>
          <a:p>
            <a:pPr algn="just"/>
            <a:r>
              <a:rPr lang="en-GB" dirty="0"/>
              <a:t>During later iterations, increasingly more complete versions of the engineered system are produced.</a:t>
            </a:r>
            <a:endParaRPr lang="en-US" dirty="0"/>
          </a:p>
        </p:txBody>
      </p:sp>
    </p:spTree>
    <p:extLst>
      <p:ext uri="{BB962C8B-B14F-4D97-AF65-F5344CB8AC3E}">
        <p14:creationId xmlns:p14="http://schemas.microsoft.com/office/powerpoint/2010/main" val="2528168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87D0D-06E0-F0AB-2093-5004D806DC1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FD8D39A-E481-F096-66FC-8B7759F34C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33400"/>
            <a:ext cx="9067799" cy="5562600"/>
          </a:xfrm>
        </p:spPr>
      </p:pic>
    </p:spTree>
    <p:extLst>
      <p:ext uri="{BB962C8B-B14F-4D97-AF65-F5344CB8AC3E}">
        <p14:creationId xmlns:p14="http://schemas.microsoft.com/office/powerpoint/2010/main" val="2887859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1A4F-352C-52D8-BE34-48AD028D35E9}"/>
              </a:ext>
            </a:extLst>
          </p:cNvPr>
          <p:cNvSpPr>
            <a:spLocks noGrp="1"/>
          </p:cNvSpPr>
          <p:nvPr>
            <p:ph type="title"/>
          </p:nvPr>
        </p:nvSpPr>
        <p:spPr/>
        <p:txBody>
          <a:bodyPr/>
          <a:lstStyle/>
          <a:p>
            <a:r>
              <a:rPr lang="en-US" dirty="0"/>
              <a:t>Concurrent Models</a:t>
            </a:r>
          </a:p>
        </p:txBody>
      </p:sp>
      <p:sp>
        <p:nvSpPr>
          <p:cNvPr id="3" name="Content Placeholder 2">
            <a:extLst>
              <a:ext uri="{FF2B5EF4-FFF2-40B4-BE49-F238E27FC236}">
                <a16:creationId xmlns:a16="http://schemas.microsoft.com/office/drawing/2014/main" id="{D945D0B5-BD9A-6DA8-E28B-B15B1CC3AC0B}"/>
              </a:ext>
            </a:extLst>
          </p:cNvPr>
          <p:cNvSpPr>
            <a:spLocks noGrp="1"/>
          </p:cNvSpPr>
          <p:nvPr>
            <p:ph idx="1"/>
          </p:nvPr>
        </p:nvSpPr>
        <p:spPr/>
        <p:txBody>
          <a:bodyPr/>
          <a:lstStyle/>
          <a:p>
            <a:pPr algn="just"/>
            <a:r>
              <a:rPr lang="en-GB" dirty="0"/>
              <a:t> The concurrent development model, sometimes called concurrent engineering, allows a software team to represent iterative and concurrent elements of any of the process models.</a:t>
            </a:r>
            <a:endParaRPr lang="en-US" dirty="0"/>
          </a:p>
        </p:txBody>
      </p:sp>
    </p:spTree>
    <p:extLst>
      <p:ext uri="{BB962C8B-B14F-4D97-AF65-F5344CB8AC3E}">
        <p14:creationId xmlns:p14="http://schemas.microsoft.com/office/powerpoint/2010/main" val="2425292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F19B0-DF71-DCE6-2DE1-2C6E004D458D}"/>
              </a:ext>
            </a:extLst>
          </p:cNvPr>
          <p:cNvSpPr>
            <a:spLocks noGrp="1"/>
          </p:cNvSpPr>
          <p:nvPr>
            <p:ph type="title"/>
          </p:nvPr>
        </p:nvSpPr>
        <p:spPr/>
        <p:txBody>
          <a:bodyPr>
            <a:normAutofit fontScale="90000"/>
          </a:bodyPr>
          <a:lstStyle/>
          <a:p>
            <a:r>
              <a:rPr lang="en-GB" dirty="0"/>
              <a:t>Specialized Process Models:</a:t>
            </a:r>
            <a:br>
              <a:rPr lang="en-GB" dirty="0"/>
            </a:br>
            <a:r>
              <a:rPr lang="en-US" dirty="0"/>
              <a:t>Component-Based Development</a:t>
            </a:r>
          </a:p>
        </p:txBody>
      </p:sp>
      <p:sp>
        <p:nvSpPr>
          <p:cNvPr id="3" name="Content Placeholder 2">
            <a:extLst>
              <a:ext uri="{FF2B5EF4-FFF2-40B4-BE49-F238E27FC236}">
                <a16:creationId xmlns:a16="http://schemas.microsoft.com/office/drawing/2014/main" id="{2F95C046-B724-93B6-72D3-7DA45D8BDEDE}"/>
              </a:ext>
            </a:extLst>
          </p:cNvPr>
          <p:cNvSpPr>
            <a:spLocks noGrp="1"/>
          </p:cNvSpPr>
          <p:nvPr>
            <p:ph idx="1"/>
          </p:nvPr>
        </p:nvSpPr>
        <p:spPr/>
        <p:txBody>
          <a:bodyPr>
            <a:normAutofit fontScale="92500" lnSpcReduction="20000"/>
          </a:bodyPr>
          <a:lstStyle/>
          <a:p>
            <a:pPr algn="just"/>
            <a:r>
              <a:rPr lang="en-GB" dirty="0"/>
              <a:t>Commercial off-the-shelf (COTS) software components, developed by vendors who offer them as products, provide targeted functionality with well-defined interfaces that enable the component to be integrated into the software that is to be built.</a:t>
            </a:r>
          </a:p>
          <a:p>
            <a:pPr algn="just"/>
            <a:r>
              <a:rPr lang="en-GB" dirty="0"/>
              <a:t>The component-based development model incorporates many of the characteristics of the spiral model. It is evolutionary in nature, demanding an iterative approach to the creation of software.</a:t>
            </a:r>
            <a:endParaRPr lang="en-US" dirty="0"/>
          </a:p>
        </p:txBody>
      </p:sp>
    </p:spTree>
    <p:extLst>
      <p:ext uri="{BB962C8B-B14F-4D97-AF65-F5344CB8AC3E}">
        <p14:creationId xmlns:p14="http://schemas.microsoft.com/office/powerpoint/2010/main" val="531661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9C5D4-AA4C-1363-749E-0C503AF3B255}"/>
              </a:ext>
            </a:extLst>
          </p:cNvPr>
          <p:cNvSpPr>
            <a:spLocks noGrp="1"/>
          </p:cNvSpPr>
          <p:nvPr>
            <p:ph type="title"/>
          </p:nvPr>
        </p:nvSpPr>
        <p:spPr/>
        <p:txBody>
          <a:bodyPr/>
          <a:lstStyle/>
          <a:p>
            <a:r>
              <a:rPr lang="en-US" dirty="0"/>
              <a:t>The Formal Methods Model</a:t>
            </a:r>
          </a:p>
        </p:txBody>
      </p:sp>
      <p:sp>
        <p:nvSpPr>
          <p:cNvPr id="3" name="Content Placeholder 2">
            <a:extLst>
              <a:ext uri="{FF2B5EF4-FFF2-40B4-BE49-F238E27FC236}">
                <a16:creationId xmlns:a16="http://schemas.microsoft.com/office/drawing/2014/main" id="{877DD2CE-E5F2-285B-F842-9BC4C0779E7F}"/>
              </a:ext>
            </a:extLst>
          </p:cNvPr>
          <p:cNvSpPr>
            <a:spLocks noGrp="1"/>
          </p:cNvSpPr>
          <p:nvPr>
            <p:ph idx="1"/>
          </p:nvPr>
        </p:nvSpPr>
        <p:spPr/>
        <p:txBody>
          <a:bodyPr/>
          <a:lstStyle/>
          <a:p>
            <a:pPr algn="just"/>
            <a:r>
              <a:rPr lang="en-GB" dirty="0"/>
              <a:t>The formal methods model encompasses a set of activities that leads to formal mathematical specification of computer software.</a:t>
            </a:r>
          </a:p>
          <a:p>
            <a:pPr algn="just"/>
            <a:r>
              <a:rPr lang="en-GB" dirty="0"/>
              <a:t>Formal methods enable you to specify, develop, and verify a computer-based system by applying a rigorous, mathematical notation.</a:t>
            </a:r>
            <a:endParaRPr lang="en-US" dirty="0"/>
          </a:p>
        </p:txBody>
      </p:sp>
    </p:spTree>
    <p:extLst>
      <p:ext uri="{BB962C8B-B14F-4D97-AF65-F5344CB8AC3E}">
        <p14:creationId xmlns:p14="http://schemas.microsoft.com/office/powerpoint/2010/main" val="3188642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5A6F-3D8A-9D3A-7878-F9735994B737}"/>
              </a:ext>
            </a:extLst>
          </p:cNvPr>
          <p:cNvSpPr>
            <a:spLocks noGrp="1"/>
          </p:cNvSpPr>
          <p:nvPr>
            <p:ph type="title"/>
          </p:nvPr>
        </p:nvSpPr>
        <p:spPr/>
        <p:txBody>
          <a:bodyPr>
            <a:normAutofit fontScale="90000"/>
          </a:bodyPr>
          <a:lstStyle/>
          <a:p>
            <a:r>
              <a:rPr lang="en-US" dirty="0"/>
              <a:t>Aspect-Oriented Software Development</a:t>
            </a:r>
          </a:p>
        </p:txBody>
      </p:sp>
      <p:sp>
        <p:nvSpPr>
          <p:cNvPr id="3" name="Content Placeholder 2">
            <a:extLst>
              <a:ext uri="{FF2B5EF4-FFF2-40B4-BE49-F238E27FC236}">
                <a16:creationId xmlns:a16="http://schemas.microsoft.com/office/drawing/2014/main" id="{C7C6511C-25D8-13EE-545B-A19952BCA742}"/>
              </a:ext>
            </a:extLst>
          </p:cNvPr>
          <p:cNvSpPr>
            <a:spLocks noGrp="1"/>
          </p:cNvSpPr>
          <p:nvPr>
            <p:ph idx="1"/>
          </p:nvPr>
        </p:nvSpPr>
        <p:spPr>
          <a:xfrm>
            <a:off x="457200" y="1600200"/>
            <a:ext cx="8229600" cy="4724400"/>
          </a:xfrm>
        </p:spPr>
        <p:txBody>
          <a:bodyPr>
            <a:normAutofit fontScale="85000" lnSpcReduction="20000"/>
          </a:bodyPr>
          <a:lstStyle/>
          <a:p>
            <a:pPr algn="just"/>
            <a:r>
              <a:rPr lang="en-GB" dirty="0"/>
              <a:t>When concerns cut across multiple system functions, features, and information, they are often referred to as crosscutting concerns.</a:t>
            </a:r>
          </a:p>
          <a:p>
            <a:pPr algn="just"/>
            <a:r>
              <a:rPr lang="en-GB" dirty="0"/>
              <a:t>Aspectual requirements define those crosscutting concerns that have an impact across the software architecture (such as </a:t>
            </a:r>
            <a:r>
              <a:rPr lang="en-US" dirty="0"/>
              <a:t>logging, security, error handling etc.</a:t>
            </a:r>
            <a:r>
              <a:rPr lang="en-GB" dirty="0"/>
              <a:t>).</a:t>
            </a:r>
          </a:p>
          <a:p>
            <a:pPr algn="just"/>
            <a:r>
              <a:rPr lang="en-GB" dirty="0"/>
              <a:t>Aspect-oriented software development (AOSD), often referred to as aspect-oriented programming (AOP), is a relatively new software engineering paradigm that provides a process and methodological approach for defining, specifying, designing, and constructing aspects.</a:t>
            </a:r>
            <a:endParaRPr lang="en-US" dirty="0"/>
          </a:p>
        </p:txBody>
      </p:sp>
    </p:spTree>
    <p:extLst>
      <p:ext uri="{BB962C8B-B14F-4D97-AF65-F5344CB8AC3E}">
        <p14:creationId xmlns:p14="http://schemas.microsoft.com/office/powerpoint/2010/main" val="2040362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47841-E7D0-28B1-73D0-5CD369FC506C}"/>
              </a:ext>
            </a:extLst>
          </p:cNvPr>
          <p:cNvSpPr>
            <a:spLocks noGrp="1"/>
          </p:cNvSpPr>
          <p:nvPr>
            <p:ph type="title"/>
          </p:nvPr>
        </p:nvSpPr>
        <p:spPr/>
        <p:txBody>
          <a:bodyPr/>
          <a:lstStyle/>
          <a:p>
            <a:r>
              <a:rPr lang="en-GB" dirty="0"/>
              <a:t>The Unified Process Model</a:t>
            </a:r>
            <a:endParaRPr lang="en-US" dirty="0"/>
          </a:p>
        </p:txBody>
      </p:sp>
      <p:sp>
        <p:nvSpPr>
          <p:cNvPr id="3" name="Content Placeholder 2">
            <a:extLst>
              <a:ext uri="{FF2B5EF4-FFF2-40B4-BE49-F238E27FC236}">
                <a16:creationId xmlns:a16="http://schemas.microsoft.com/office/drawing/2014/main" id="{66C500DA-F050-F558-FB8D-3CB3C9A9F06F}"/>
              </a:ext>
            </a:extLst>
          </p:cNvPr>
          <p:cNvSpPr>
            <a:spLocks noGrp="1"/>
          </p:cNvSpPr>
          <p:nvPr>
            <p:ph idx="1"/>
          </p:nvPr>
        </p:nvSpPr>
        <p:spPr/>
        <p:txBody>
          <a:bodyPr/>
          <a:lstStyle/>
          <a:p>
            <a:pPr algn="just"/>
            <a:r>
              <a:rPr lang="en-GB" dirty="0"/>
              <a:t>This model uses UML—a Unified </a:t>
            </a:r>
            <a:r>
              <a:rPr lang="en-GB" dirty="0" err="1"/>
              <a:t>Modeling</a:t>
            </a:r>
            <a:r>
              <a:rPr lang="en-GB" dirty="0"/>
              <a:t> Language that </a:t>
            </a:r>
            <a:r>
              <a:rPr lang="en-GB" b="1" i="1" dirty="0"/>
              <a:t>contains a robust notation for the </a:t>
            </a:r>
            <a:r>
              <a:rPr lang="en-GB" b="1" i="1" dirty="0" err="1"/>
              <a:t>modeling</a:t>
            </a:r>
            <a:r>
              <a:rPr lang="en-GB" b="1" i="1" dirty="0"/>
              <a:t> and development of object-oriented systems</a:t>
            </a:r>
            <a:r>
              <a:rPr lang="en-GB" dirty="0"/>
              <a:t>.</a:t>
            </a:r>
          </a:p>
          <a:p>
            <a:pPr algn="just"/>
            <a:r>
              <a:rPr lang="en-GB" dirty="0"/>
              <a:t>By 1997, UML became a de facto industry standard for object-oriented software development.</a:t>
            </a:r>
            <a:endParaRPr lang="en-US" dirty="0"/>
          </a:p>
        </p:txBody>
      </p:sp>
    </p:spTree>
    <p:extLst>
      <p:ext uri="{BB962C8B-B14F-4D97-AF65-F5344CB8AC3E}">
        <p14:creationId xmlns:p14="http://schemas.microsoft.com/office/powerpoint/2010/main" val="207981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AC082-C7A4-E21A-F009-FF164E6B12D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1C09A07-5975-C8DE-71E9-B7023CE2D6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457200"/>
            <a:ext cx="7391400" cy="6248400"/>
          </a:xfrm>
        </p:spPr>
      </p:pic>
    </p:spTree>
    <p:extLst>
      <p:ext uri="{BB962C8B-B14F-4D97-AF65-F5344CB8AC3E}">
        <p14:creationId xmlns:p14="http://schemas.microsoft.com/office/powerpoint/2010/main" val="1211510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650B-BF29-79C0-EC5B-2980F5734914}"/>
              </a:ext>
            </a:extLst>
          </p:cNvPr>
          <p:cNvSpPr>
            <a:spLocks noGrp="1"/>
          </p:cNvSpPr>
          <p:nvPr>
            <p:ph type="title"/>
          </p:nvPr>
        </p:nvSpPr>
        <p:spPr/>
        <p:txBody>
          <a:bodyPr/>
          <a:lstStyle/>
          <a:p>
            <a:r>
              <a:rPr lang="en-GB" dirty="0"/>
              <a:t>Personal and Team Process Models</a:t>
            </a:r>
            <a:endParaRPr lang="en-US" dirty="0"/>
          </a:p>
        </p:txBody>
      </p:sp>
      <p:sp>
        <p:nvSpPr>
          <p:cNvPr id="3" name="Content Placeholder 2">
            <a:extLst>
              <a:ext uri="{FF2B5EF4-FFF2-40B4-BE49-F238E27FC236}">
                <a16:creationId xmlns:a16="http://schemas.microsoft.com/office/drawing/2014/main" id="{AA2ACD86-00D9-443B-2A14-06CBD3783718}"/>
              </a:ext>
            </a:extLst>
          </p:cNvPr>
          <p:cNvSpPr>
            <a:spLocks noGrp="1"/>
          </p:cNvSpPr>
          <p:nvPr>
            <p:ph idx="1"/>
          </p:nvPr>
        </p:nvSpPr>
        <p:spPr/>
        <p:txBody>
          <a:bodyPr>
            <a:normAutofit fontScale="92500" lnSpcReduction="20000"/>
          </a:bodyPr>
          <a:lstStyle/>
          <a:p>
            <a:pPr algn="just"/>
            <a:r>
              <a:rPr lang="en-GB" dirty="0"/>
              <a:t>The best software process is one that is close to the people who will be doing the work.</a:t>
            </a:r>
          </a:p>
          <a:p>
            <a:pPr algn="just"/>
            <a:r>
              <a:rPr lang="en-GB" dirty="0"/>
              <a:t>If a software process model has been developed at a corporate or organizational level, it can be effective only if it is amenable to significant adaptation to meet the needs of the project team that is actually doing software engineering work. </a:t>
            </a:r>
          </a:p>
          <a:p>
            <a:pPr algn="just"/>
            <a:r>
              <a:rPr lang="en-GB" dirty="0"/>
              <a:t>In an ideal setting, you would </a:t>
            </a:r>
            <a:r>
              <a:rPr lang="en-GB" b="1" i="1" dirty="0"/>
              <a:t>create a process that best fits your needs, and at the same time, meets the broader needs of the team and the organization</a:t>
            </a:r>
            <a:r>
              <a:rPr lang="en-GB" dirty="0"/>
              <a:t>.</a:t>
            </a:r>
            <a:endParaRPr lang="en-US" dirty="0"/>
          </a:p>
        </p:txBody>
      </p:sp>
    </p:spTree>
    <p:extLst>
      <p:ext uri="{BB962C8B-B14F-4D97-AF65-F5344CB8AC3E}">
        <p14:creationId xmlns:p14="http://schemas.microsoft.com/office/powerpoint/2010/main" val="3205567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E314-A413-87C4-E28C-5C6B75714A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E0DDB9-4C50-B96A-430A-291322AE7BFF}"/>
              </a:ext>
            </a:extLst>
          </p:cNvPr>
          <p:cNvSpPr>
            <a:spLocks noGrp="1"/>
          </p:cNvSpPr>
          <p:nvPr>
            <p:ph idx="1"/>
          </p:nvPr>
        </p:nvSpPr>
        <p:spPr/>
        <p:txBody>
          <a:bodyPr>
            <a:normAutofit/>
          </a:bodyPr>
          <a:lstStyle/>
          <a:p>
            <a:pPr algn="just"/>
            <a:r>
              <a:rPr lang="en-GB" dirty="0"/>
              <a:t>Alternatively, the team itself can create its own process, and at the same time meet the narrower needs of individuals and the broader needs of the organization.</a:t>
            </a:r>
          </a:p>
          <a:p>
            <a:pPr algn="just"/>
            <a:r>
              <a:rPr lang="en-GB" dirty="0"/>
              <a:t>It is possible to create a “personal software process” and/or a “team software process.” </a:t>
            </a:r>
          </a:p>
          <a:p>
            <a:pPr algn="just"/>
            <a:r>
              <a:rPr lang="en-GB" dirty="0"/>
              <a:t>Both require hard work, training, and coordination, but both are achievable.</a:t>
            </a:r>
            <a:endParaRPr lang="en-US" dirty="0"/>
          </a:p>
        </p:txBody>
      </p:sp>
    </p:spTree>
    <p:extLst>
      <p:ext uri="{BB962C8B-B14F-4D97-AF65-F5344CB8AC3E}">
        <p14:creationId xmlns:p14="http://schemas.microsoft.com/office/powerpoint/2010/main" val="24218882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746B2-DB21-4DBB-829B-6FBBFDDB42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451AF6-35F5-B920-6F54-3AC20D714EDA}"/>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B38F694B-95C6-B13D-A073-C1A0370F18B6}"/>
              </a:ext>
            </a:extLst>
          </p:cNvPr>
          <p:cNvPicPr>
            <a:picLocks noChangeAspect="1"/>
          </p:cNvPicPr>
          <p:nvPr/>
        </p:nvPicPr>
        <p:blipFill>
          <a:blip r:embed="rId2" cstate="print"/>
          <a:stretch>
            <a:fillRect/>
          </a:stretch>
        </p:blipFill>
        <p:spPr>
          <a:xfrm>
            <a:off x="2278846" y="1481138"/>
            <a:ext cx="4586308" cy="4525962"/>
          </a:xfrm>
          <a:prstGeom prst="rect">
            <a:avLst/>
          </a:prstGeom>
        </p:spPr>
      </p:pic>
    </p:spTree>
    <p:extLst>
      <p:ext uri="{BB962C8B-B14F-4D97-AF65-F5344CB8AC3E}">
        <p14:creationId xmlns:p14="http://schemas.microsoft.com/office/powerpoint/2010/main" val="1510189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3498</TotalTime>
  <Words>1643</Words>
  <Application>Microsoft Office PowerPoint</Application>
  <PresentationFormat>On-screen Show (4:3)</PresentationFormat>
  <Paragraphs>75</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Software Engineering</vt:lpstr>
      <vt:lpstr>A Generic Process Model</vt:lpstr>
      <vt:lpstr>PowerPoint Presentation</vt:lpstr>
      <vt:lpstr>PowerPoint Presentation</vt:lpstr>
      <vt:lpstr>PowerPoint Presentation</vt:lpstr>
      <vt:lpstr>PowerPoint Presentation</vt:lpstr>
      <vt:lpstr>PowerPoint Presentation</vt:lpstr>
      <vt:lpstr>Perspective Process Models</vt:lpstr>
      <vt:lpstr>The Waterfall Model</vt:lpstr>
      <vt:lpstr>PowerPoint Presentation</vt:lpstr>
      <vt:lpstr>PowerPoint Presentation</vt:lpstr>
      <vt:lpstr>PowerPoint Presentation</vt:lpstr>
      <vt:lpstr>PowerPoint Presentation</vt:lpstr>
      <vt:lpstr>Incremental Process Models</vt:lpstr>
      <vt:lpstr>PowerPoint Presentation</vt:lpstr>
      <vt:lpstr>PowerPoint Presentation</vt:lpstr>
      <vt:lpstr>PowerPoint Presentation</vt:lpstr>
      <vt:lpstr>Evolutionary Process Models</vt:lpstr>
      <vt:lpstr>PowerPoint Presentation</vt:lpstr>
      <vt:lpstr>Prototyping</vt:lpstr>
      <vt:lpstr>PowerPoint Presentation</vt:lpstr>
      <vt:lpstr>PowerPoint Presentation</vt:lpstr>
      <vt:lpstr>The Spiral Model</vt:lpstr>
      <vt:lpstr>PowerPoint Presentation</vt:lpstr>
      <vt:lpstr>PowerPoint Presentation</vt:lpstr>
      <vt:lpstr>Concurrent Models</vt:lpstr>
      <vt:lpstr>Specialized Process Models: Component-Based Development</vt:lpstr>
      <vt:lpstr>The Formal Methods Model</vt:lpstr>
      <vt:lpstr>Aspect-Oriented Software Development</vt:lpstr>
      <vt:lpstr>The Unified Process Model</vt:lpstr>
      <vt:lpstr>PowerPoint Presentation</vt:lpstr>
      <vt:lpstr>Personal and Team Process Models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Nasim</dc:creator>
  <cp:lastModifiedBy>Md. Nasim Adnan</cp:lastModifiedBy>
  <cp:revision>41</cp:revision>
  <dcterms:created xsi:type="dcterms:W3CDTF">2006-08-16T00:00:00Z</dcterms:created>
  <dcterms:modified xsi:type="dcterms:W3CDTF">2025-10-27T06:36:56Z</dcterms:modified>
</cp:coreProperties>
</file>