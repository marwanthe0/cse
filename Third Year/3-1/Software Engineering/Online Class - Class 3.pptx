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5" r:id="rId19"/>
    <p:sldId id="276" r:id="rId20"/>
    <p:sldId id="277" r:id="rId21"/>
    <p:sldId id="278" r:id="rId22"/>
    <p:sldId id="280" r:id="rId23"/>
    <p:sldId id="281" r:id="rId24"/>
    <p:sldId id="282" r:id="rId25"/>
    <p:sldId id="283" r:id="rId26"/>
    <p:sldId id="327" r:id="rId27"/>
    <p:sldId id="284" r:id="rId28"/>
    <p:sldId id="285" r:id="rId29"/>
    <p:sldId id="286" r:id="rId30"/>
    <p:sldId id="326" r:id="rId31"/>
    <p:sldId id="32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0F57D-3615-431C-80C4-55B295ABF2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E67DEF6-8EDB-4D4F-9285-11242ECBCF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0D615BB-5E18-4A54-AFA7-2CA6D620B382}"/>
              </a:ext>
            </a:extLst>
          </p:cNvPr>
          <p:cNvSpPr>
            <a:spLocks noGrp="1"/>
          </p:cNvSpPr>
          <p:nvPr>
            <p:ph type="dt" sz="half" idx="10"/>
          </p:nvPr>
        </p:nvSpPr>
        <p:spPr/>
        <p:txBody>
          <a:bodyPr/>
          <a:lstStyle/>
          <a:p>
            <a:fld id="{8577599B-3671-4B78-80F9-B5B8FBA4E309}" type="datetimeFigureOut">
              <a:rPr lang="en-US" smtClean="0"/>
              <a:t>1/3/2026</a:t>
            </a:fld>
            <a:endParaRPr lang="en-US"/>
          </a:p>
        </p:txBody>
      </p:sp>
      <p:sp>
        <p:nvSpPr>
          <p:cNvPr id="5" name="Footer Placeholder 4">
            <a:extLst>
              <a:ext uri="{FF2B5EF4-FFF2-40B4-BE49-F238E27FC236}">
                <a16:creationId xmlns:a16="http://schemas.microsoft.com/office/drawing/2014/main" id="{F9285596-6A28-4F01-BA62-8CDC7BFA93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8E696E-DF46-4535-8793-8A2A672E1BDC}"/>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486619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1D966-05FE-4F48-9492-7A7D4FE6A7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AC99B2-CEE5-4DD8-B7C2-38A4A69574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B40652-10E3-4D83-9111-A6097835955B}"/>
              </a:ext>
            </a:extLst>
          </p:cNvPr>
          <p:cNvSpPr>
            <a:spLocks noGrp="1"/>
          </p:cNvSpPr>
          <p:nvPr>
            <p:ph type="dt" sz="half" idx="10"/>
          </p:nvPr>
        </p:nvSpPr>
        <p:spPr/>
        <p:txBody>
          <a:bodyPr/>
          <a:lstStyle/>
          <a:p>
            <a:fld id="{8577599B-3671-4B78-80F9-B5B8FBA4E309}" type="datetimeFigureOut">
              <a:rPr lang="en-US" smtClean="0"/>
              <a:t>1/3/2026</a:t>
            </a:fld>
            <a:endParaRPr lang="en-US"/>
          </a:p>
        </p:txBody>
      </p:sp>
      <p:sp>
        <p:nvSpPr>
          <p:cNvPr id="5" name="Footer Placeholder 4">
            <a:extLst>
              <a:ext uri="{FF2B5EF4-FFF2-40B4-BE49-F238E27FC236}">
                <a16:creationId xmlns:a16="http://schemas.microsoft.com/office/drawing/2014/main" id="{73F02C13-BA66-449B-A37B-22503EB3C5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E2B058-A9CD-47C8-8A8E-7C47499B243E}"/>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4108974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4EE3D-E895-4521-B2FA-9AA5FA219A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A45BEB-6AE8-4B4A-925F-9B2DBEDC74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5A530C-4106-4E51-81E9-CCBFAE14573F}"/>
              </a:ext>
            </a:extLst>
          </p:cNvPr>
          <p:cNvSpPr>
            <a:spLocks noGrp="1"/>
          </p:cNvSpPr>
          <p:nvPr>
            <p:ph type="dt" sz="half" idx="10"/>
          </p:nvPr>
        </p:nvSpPr>
        <p:spPr/>
        <p:txBody>
          <a:bodyPr/>
          <a:lstStyle/>
          <a:p>
            <a:fld id="{8577599B-3671-4B78-80F9-B5B8FBA4E309}" type="datetimeFigureOut">
              <a:rPr lang="en-US" smtClean="0"/>
              <a:t>1/3/2026</a:t>
            </a:fld>
            <a:endParaRPr lang="en-US"/>
          </a:p>
        </p:txBody>
      </p:sp>
      <p:sp>
        <p:nvSpPr>
          <p:cNvPr id="5" name="Footer Placeholder 4">
            <a:extLst>
              <a:ext uri="{FF2B5EF4-FFF2-40B4-BE49-F238E27FC236}">
                <a16:creationId xmlns:a16="http://schemas.microsoft.com/office/drawing/2014/main" id="{2CC9902B-ECF5-420D-B410-AEBB0B1395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C887CE-FF35-4F3E-9E91-FC3D3FEDB4D3}"/>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214873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D38D1-C356-4CA4-BEC4-6C43D972F3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316F3D-B19C-4066-9BF2-273972A6B5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59E70D-14C3-4B63-B05F-C81170EF8F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998B8F-5D15-4E2A-8C08-DA395357B60A}"/>
              </a:ext>
            </a:extLst>
          </p:cNvPr>
          <p:cNvSpPr>
            <a:spLocks noGrp="1"/>
          </p:cNvSpPr>
          <p:nvPr>
            <p:ph type="dt" sz="half" idx="10"/>
          </p:nvPr>
        </p:nvSpPr>
        <p:spPr/>
        <p:txBody>
          <a:bodyPr/>
          <a:lstStyle/>
          <a:p>
            <a:fld id="{8577599B-3671-4B78-80F9-B5B8FBA4E309}" type="datetimeFigureOut">
              <a:rPr lang="en-US" smtClean="0"/>
              <a:t>1/3/2026</a:t>
            </a:fld>
            <a:endParaRPr lang="en-US"/>
          </a:p>
        </p:txBody>
      </p:sp>
      <p:sp>
        <p:nvSpPr>
          <p:cNvPr id="6" name="Footer Placeholder 5">
            <a:extLst>
              <a:ext uri="{FF2B5EF4-FFF2-40B4-BE49-F238E27FC236}">
                <a16:creationId xmlns:a16="http://schemas.microsoft.com/office/drawing/2014/main" id="{82272889-8A6F-4737-B713-3D0BB181F8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4C891D-D352-4F43-9240-CC498A3187FA}"/>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3536932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DCE37-023A-4F97-93F9-D25DCABBE3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6DB8A5-25D7-443B-BC39-90FF9CE71F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289BE7-CF81-46CE-AC91-4DDA54BD59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900C15-6687-4161-9482-5417946415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898CE7-9762-4E84-8F3C-E7ED7B0BD8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A2BDE1-AE3E-41F1-B6A1-18D1CE05A651}"/>
              </a:ext>
            </a:extLst>
          </p:cNvPr>
          <p:cNvSpPr>
            <a:spLocks noGrp="1"/>
          </p:cNvSpPr>
          <p:nvPr>
            <p:ph type="dt" sz="half" idx="10"/>
          </p:nvPr>
        </p:nvSpPr>
        <p:spPr/>
        <p:txBody>
          <a:bodyPr/>
          <a:lstStyle/>
          <a:p>
            <a:fld id="{8577599B-3671-4B78-80F9-B5B8FBA4E309}" type="datetimeFigureOut">
              <a:rPr lang="en-US" smtClean="0"/>
              <a:t>1/3/2026</a:t>
            </a:fld>
            <a:endParaRPr lang="en-US"/>
          </a:p>
        </p:txBody>
      </p:sp>
      <p:sp>
        <p:nvSpPr>
          <p:cNvPr id="8" name="Footer Placeholder 7">
            <a:extLst>
              <a:ext uri="{FF2B5EF4-FFF2-40B4-BE49-F238E27FC236}">
                <a16:creationId xmlns:a16="http://schemas.microsoft.com/office/drawing/2014/main" id="{6AFE2184-0712-4D17-AFBB-3ABCE719EB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123DAC-15EF-4AE1-9D9A-DB6752541C69}"/>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1840519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C1400-0955-43E9-9E98-D93D09E5CF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4EDB5E-4D00-4FC2-BB04-69E7B4D91A81}"/>
              </a:ext>
            </a:extLst>
          </p:cNvPr>
          <p:cNvSpPr>
            <a:spLocks noGrp="1"/>
          </p:cNvSpPr>
          <p:nvPr>
            <p:ph type="dt" sz="half" idx="10"/>
          </p:nvPr>
        </p:nvSpPr>
        <p:spPr/>
        <p:txBody>
          <a:bodyPr/>
          <a:lstStyle/>
          <a:p>
            <a:fld id="{8577599B-3671-4B78-80F9-B5B8FBA4E309}" type="datetimeFigureOut">
              <a:rPr lang="en-US" smtClean="0"/>
              <a:t>1/3/2026</a:t>
            </a:fld>
            <a:endParaRPr lang="en-US"/>
          </a:p>
        </p:txBody>
      </p:sp>
      <p:sp>
        <p:nvSpPr>
          <p:cNvPr id="4" name="Footer Placeholder 3">
            <a:extLst>
              <a:ext uri="{FF2B5EF4-FFF2-40B4-BE49-F238E27FC236}">
                <a16:creationId xmlns:a16="http://schemas.microsoft.com/office/drawing/2014/main" id="{ABB0F33F-E7F1-4304-B772-8B94E969B3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71422AE-1619-4CB7-879A-FB401C616F9A}"/>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172875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96FD8E-DA29-49F8-AB8B-EA4D3581E090}"/>
              </a:ext>
            </a:extLst>
          </p:cNvPr>
          <p:cNvSpPr>
            <a:spLocks noGrp="1"/>
          </p:cNvSpPr>
          <p:nvPr>
            <p:ph type="dt" sz="half" idx="10"/>
          </p:nvPr>
        </p:nvSpPr>
        <p:spPr/>
        <p:txBody>
          <a:bodyPr/>
          <a:lstStyle/>
          <a:p>
            <a:fld id="{8577599B-3671-4B78-80F9-B5B8FBA4E309}" type="datetimeFigureOut">
              <a:rPr lang="en-US" smtClean="0"/>
              <a:t>1/3/2026</a:t>
            </a:fld>
            <a:endParaRPr lang="en-US"/>
          </a:p>
        </p:txBody>
      </p:sp>
      <p:sp>
        <p:nvSpPr>
          <p:cNvPr id="3" name="Footer Placeholder 2">
            <a:extLst>
              <a:ext uri="{FF2B5EF4-FFF2-40B4-BE49-F238E27FC236}">
                <a16:creationId xmlns:a16="http://schemas.microsoft.com/office/drawing/2014/main" id="{EB757DA0-B020-453B-88C9-40DC3AA258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8A65BD-9365-45E1-9048-7994AA254677}"/>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2355679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0198E-9A50-44A7-82D4-C1EBA7273F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704BB7-1DF6-47A0-B429-5EF54D1102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FD12A0-31F0-4FDB-B897-9B94FAAAE4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80666D-BD42-40BE-B48E-7A93EBCC8E8D}"/>
              </a:ext>
            </a:extLst>
          </p:cNvPr>
          <p:cNvSpPr>
            <a:spLocks noGrp="1"/>
          </p:cNvSpPr>
          <p:nvPr>
            <p:ph type="dt" sz="half" idx="10"/>
          </p:nvPr>
        </p:nvSpPr>
        <p:spPr/>
        <p:txBody>
          <a:bodyPr/>
          <a:lstStyle/>
          <a:p>
            <a:fld id="{8577599B-3671-4B78-80F9-B5B8FBA4E309}" type="datetimeFigureOut">
              <a:rPr lang="en-US" smtClean="0"/>
              <a:t>1/3/2026</a:t>
            </a:fld>
            <a:endParaRPr lang="en-US"/>
          </a:p>
        </p:txBody>
      </p:sp>
      <p:sp>
        <p:nvSpPr>
          <p:cNvPr id="6" name="Footer Placeholder 5">
            <a:extLst>
              <a:ext uri="{FF2B5EF4-FFF2-40B4-BE49-F238E27FC236}">
                <a16:creationId xmlns:a16="http://schemas.microsoft.com/office/drawing/2014/main" id="{6C12E7FA-ABF8-4326-B92E-825A0EDCE1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81ACB4-FB2E-4458-B42C-5371EA11E0EE}"/>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1806828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E6061-EB6B-4D11-ADA5-2C9E27C23D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11AA2-6D53-4846-971F-445B4C697A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D25F2C-A6E6-420B-B430-AF17820CC8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37D2B4-C2BF-4937-9023-380407296C34}"/>
              </a:ext>
            </a:extLst>
          </p:cNvPr>
          <p:cNvSpPr>
            <a:spLocks noGrp="1"/>
          </p:cNvSpPr>
          <p:nvPr>
            <p:ph type="dt" sz="half" idx="10"/>
          </p:nvPr>
        </p:nvSpPr>
        <p:spPr/>
        <p:txBody>
          <a:bodyPr/>
          <a:lstStyle/>
          <a:p>
            <a:fld id="{8577599B-3671-4B78-80F9-B5B8FBA4E309}" type="datetimeFigureOut">
              <a:rPr lang="en-US" smtClean="0"/>
              <a:t>1/3/2026</a:t>
            </a:fld>
            <a:endParaRPr lang="en-US"/>
          </a:p>
        </p:txBody>
      </p:sp>
      <p:sp>
        <p:nvSpPr>
          <p:cNvPr id="6" name="Footer Placeholder 5">
            <a:extLst>
              <a:ext uri="{FF2B5EF4-FFF2-40B4-BE49-F238E27FC236}">
                <a16:creationId xmlns:a16="http://schemas.microsoft.com/office/drawing/2014/main" id="{555FAC44-4E44-4947-88CF-79B5A308D5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B2EF82-F1B7-4287-AAD3-ECF89EF8049C}"/>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1599814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C1B1D-89A0-4FB6-948D-62EF8DFA45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1F0456-B644-495E-BD30-E822BD41C4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783FEC-F7D8-4D45-8146-50DDB0D4268A}"/>
              </a:ext>
            </a:extLst>
          </p:cNvPr>
          <p:cNvSpPr>
            <a:spLocks noGrp="1"/>
          </p:cNvSpPr>
          <p:nvPr>
            <p:ph type="dt" sz="half" idx="10"/>
          </p:nvPr>
        </p:nvSpPr>
        <p:spPr/>
        <p:txBody>
          <a:bodyPr/>
          <a:lstStyle/>
          <a:p>
            <a:fld id="{8577599B-3671-4B78-80F9-B5B8FBA4E309}" type="datetimeFigureOut">
              <a:rPr lang="en-US" smtClean="0"/>
              <a:t>1/3/2026</a:t>
            </a:fld>
            <a:endParaRPr lang="en-US"/>
          </a:p>
        </p:txBody>
      </p:sp>
      <p:sp>
        <p:nvSpPr>
          <p:cNvPr id="5" name="Footer Placeholder 4">
            <a:extLst>
              <a:ext uri="{FF2B5EF4-FFF2-40B4-BE49-F238E27FC236}">
                <a16:creationId xmlns:a16="http://schemas.microsoft.com/office/drawing/2014/main" id="{065474A9-C6A2-430E-83C3-B5F0893B91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DDE10B-426B-4083-87A6-C9433280F6C8}"/>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1038481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630004-D7A3-4336-B11D-4A152A9329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8EBD99-5B93-4182-9283-3439E3F5F5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EAC31B-DA57-4B08-A389-76393209A294}"/>
              </a:ext>
            </a:extLst>
          </p:cNvPr>
          <p:cNvSpPr>
            <a:spLocks noGrp="1"/>
          </p:cNvSpPr>
          <p:nvPr>
            <p:ph type="dt" sz="half" idx="10"/>
          </p:nvPr>
        </p:nvSpPr>
        <p:spPr/>
        <p:txBody>
          <a:bodyPr/>
          <a:lstStyle/>
          <a:p>
            <a:fld id="{8577599B-3671-4B78-80F9-B5B8FBA4E309}" type="datetimeFigureOut">
              <a:rPr lang="en-US" smtClean="0"/>
              <a:t>1/3/2026</a:t>
            </a:fld>
            <a:endParaRPr lang="en-US"/>
          </a:p>
        </p:txBody>
      </p:sp>
      <p:sp>
        <p:nvSpPr>
          <p:cNvPr id="5" name="Footer Placeholder 4">
            <a:extLst>
              <a:ext uri="{FF2B5EF4-FFF2-40B4-BE49-F238E27FC236}">
                <a16:creationId xmlns:a16="http://schemas.microsoft.com/office/drawing/2014/main" id="{606FBDFC-E077-42A4-B289-202D7D04C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B2A508-7A66-4725-84C4-7F5FBA9BC9DE}"/>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3835291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F10F8A-3CD7-4656-B2D2-12E8B28DBD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8FA4B4-3EC4-4141-A23D-58573BEC19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338860-3039-4960-BB04-F13E125024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77599B-3671-4B78-80F9-B5B8FBA4E309}" type="datetimeFigureOut">
              <a:rPr lang="en-US" smtClean="0"/>
              <a:t>1/3/2026</a:t>
            </a:fld>
            <a:endParaRPr lang="en-US"/>
          </a:p>
        </p:txBody>
      </p:sp>
      <p:sp>
        <p:nvSpPr>
          <p:cNvPr id="5" name="Footer Placeholder 4">
            <a:extLst>
              <a:ext uri="{FF2B5EF4-FFF2-40B4-BE49-F238E27FC236}">
                <a16:creationId xmlns:a16="http://schemas.microsoft.com/office/drawing/2014/main" id="{9DD0BAB5-FEEC-4D2D-905A-B8CE886951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DF3EF6-6616-4F35-B4D5-0E8ED1580B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096850-BBCF-49BD-AF00-CC4D54A85737}" type="slidenum">
              <a:rPr lang="en-US" smtClean="0"/>
              <a:t>‹#›</a:t>
            </a:fld>
            <a:endParaRPr lang="en-US"/>
          </a:p>
        </p:txBody>
      </p:sp>
    </p:spTree>
    <p:extLst>
      <p:ext uri="{BB962C8B-B14F-4D97-AF65-F5344CB8AC3E}">
        <p14:creationId xmlns:p14="http://schemas.microsoft.com/office/powerpoint/2010/main" val="3995647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76B1E-874F-449A-946B-5471010E548E}"/>
              </a:ext>
            </a:extLst>
          </p:cNvPr>
          <p:cNvSpPr>
            <a:spLocks noGrp="1"/>
          </p:cNvSpPr>
          <p:nvPr>
            <p:ph type="ctrTitle"/>
          </p:nvPr>
        </p:nvSpPr>
        <p:spPr/>
        <p:txBody>
          <a:bodyPr/>
          <a:lstStyle/>
          <a:p>
            <a:r>
              <a:rPr lang="en-US" dirty="0"/>
              <a:t>Software Project Management</a:t>
            </a:r>
          </a:p>
        </p:txBody>
      </p:sp>
      <p:sp>
        <p:nvSpPr>
          <p:cNvPr id="3" name="Subtitle 2">
            <a:extLst>
              <a:ext uri="{FF2B5EF4-FFF2-40B4-BE49-F238E27FC236}">
                <a16:creationId xmlns:a16="http://schemas.microsoft.com/office/drawing/2014/main" id="{71511594-E05F-4F91-80C5-6F20CE57E428}"/>
              </a:ext>
            </a:extLst>
          </p:cNvPr>
          <p:cNvSpPr>
            <a:spLocks noGrp="1"/>
          </p:cNvSpPr>
          <p:nvPr>
            <p:ph type="subTitle" idx="1"/>
          </p:nvPr>
        </p:nvSpPr>
        <p:spPr/>
        <p:txBody>
          <a:bodyPr/>
          <a:lstStyle/>
          <a:p>
            <a:r>
              <a:rPr lang="en-GB" dirty="0" err="1"/>
              <a:t>Dr.</a:t>
            </a:r>
            <a:r>
              <a:rPr lang="en-GB" dirty="0"/>
              <a:t> Md. Nasim Adnan</a:t>
            </a:r>
            <a:endParaRPr lang="en-US" dirty="0"/>
          </a:p>
        </p:txBody>
      </p:sp>
    </p:spTree>
    <p:extLst>
      <p:ext uri="{BB962C8B-B14F-4D97-AF65-F5344CB8AC3E}">
        <p14:creationId xmlns:p14="http://schemas.microsoft.com/office/powerpoint/2010/main" val="2911705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EDA41-111D-4375-BEB3-AF63203ACA06}"/>
              </a:ext>
            </a:extLst>
          </p:cNvPr>
          <p:cNvSpPr>
            <a:spLocks noGrp="1"/>
          </p:cNvSpPr>
          <p:nvPr>
            <p:ph type="title"/>
          </p:nvPr>
        </p:nvSpPr>
        <p:spPr/>
        <p:txBody>
          <a:bodyPr>
            <a:noAutofit/>
          </a:bodyPr>
          <a:lstStyle/>
          <a:p>
            <a:r>
              <a:rPr lang="en-GB" sz="8000" b="1" i="1" dirty="0"/>
              <a:t>Before You Start: Assessing Value and Risks</a:t>
            </a:r>
            <a:endParaRPr lang="en-US" sz="8000" b="1" i="1" dirty="0"/>
          </a:p>
        </p:txBody>
      </p:sp>
      <p:sp>
        <p:nvSpPr>
          <p:cNvPr id="3" name="Content Placeholder 2">
            <a:extLst>
              <a:ext uri="{FF2B5EF4-FFF2-40B4-BE49-F238E27FC236}">
                <a16:creationId xmlns:a16="http://schemas.microsoft.com/office/drawing/2014/main" id="{AD5367A1-3D70-44A7-9388-5080381017A2}"/>
              </a:ext>
            </a:extLst>
          </p:cNvPr>
          <p:cNvSpPr>
            <a:spLocks noGrp="1"/>
          </p:cNvSpPr>
          <p:nvPr>
            <p:ph idx="1"/>
          </p:nvPr>
        </p:nvSpPr>
        <p:spPr>
          <a:xfrm>
            <a:off x="838200" y="2322785"/>
            <a:ext cx="10515600" cy="3854177"/>
          </a:xfrm>
        </p:spPr>
        <p:txBody>
          <a:bodyPr>
            <a:normAutofit/>
          </a:bodyPr>
          <a:lstStyle/>
          <a:p>
            <a:pPr algn="just"/>
            <a:r>
              <a:rPr lang="en-GB" dirty="0"/>
              <a:t>Projects create new products, new services, or new capabilities. The first step of a sound management process is to understand whether the new products, services, or capabilities are worth our effort.</a:t>
            </a:r>
          </a:p>
          <a:p>
            <a:pPr algn="just"/>
            <a:r>
              <a:rPr lang="en-GB" dirty="0"/>
              <a:t>The relevance of a project depends, in general, upon two main factors:</a:t>
            </a:r>
          </a:p>
          <a:p>
            <a:pPr lvl="1" algn="just"/>
            <a:r>
              <a:rPr lang="en-GB" dirty="0"/>
              <a:t>The </a:t>
            </a:r>
            <a:r>
              <a:rPr lang="en-GB" b="1" dirty="0"/>
              <a:t>value</a:t>
            </a:r>
            <a:r>
              <a:rPr lang="en-GB" dirty="0"/>
              <a:t> generated by the project</a:t>
            </a:r>
          </a:p>
          <a:p>
            <a:pPr lvl="1" algn="just"/>
            <a:r>
              <a:rPr lang="en-GB" dirty="0"/>
              <a:t>The </a:t>
            </a:r>
            <a:r>
              <a:rPr lang="en-GB" b="1" dirty="0"/>
              <a:t>risks</a:t>
            </a:r>
            <a:r>
              <a:rPr lang="en-GB" dirty="0"/>
              <a:t> associated with the project</a:t>
            </a:r>
            <a:endParaRPr lang="en-US" dirty="0"/>
          </a:p>
        </p:txBody>
      </p:sp>
    </p:spTree>
    <p:extLst>
      <p:ext uri="{BB962C8B-B14F-4D97-AF65-F5344CB8AC3E}">
        <p14:creationId xmlns:p14="http://schemas.microsoft.com/office/powerpoint/2010/main" val="609907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B68AF-6794-42D4-9A06-EFB67F60490C}"/>
              </a:ext>
            </a:extLst>
          </p:cNvPr>
          <p:cNvSpPr>
            <a:spLocks noGrp="1"/>
          </p:cNvSpPr>
          <p:nvPr>
            <p:ph type="title"/>
          </p:nvPr>
        </p:nvSpPr>
        <p:spPr/>
        <p:txBody>
          <a:bodyPr/>
          <a:lstStyle/>
          <a:p>
            <a:r>
              <a:rPr lang="en-GB" dirty="0"/>
              <a:t> Project Value: Aspects to Consider</a:t>
            </a:r>
            <a:endParaRPr lang="en-US" dirty="0"/>
          </a:p>
        </p:txBody>
      </p:sp>
      <p:sp>
        <p:nvSpPr>
          <p:cNvPr id="3" name="Content Placeholder 2">
            <a:extLst>
              <a:ext uri="{FF2B5EF4-FFF2-40B4-BE49-F238E27FC236}">
                <a16:creationId xmlns:a16="http://schemas.microsoft.com/office/drawing/2014/main" id="{FC18159F-9353-422F-AFC9-8175FEFDF6D8}"/>
              </a:ext>
            </a:extLst>
          </p:cNvPr>
          <p:cNvSpPr>
            <a:spLocks noGrp="1"/>
          </p:cNvSpPr>
          <p:nvPr>
            <p:ph idx="1"/>
          </p:nvPr>
        </p:nvSpPr>
        <p:spPr>
          <a:xfrm>
            <a:off x="838200" y="1786760"/>
            <a:ext cx="10515600" cy="4624550"/>
          </a:xfrm>
        </p:spPr>
        <p:txBody>
          <a:bodyPr>
            <a:normAutofit/>
          </a:bodyPr>
          <a:lstStyle/>
          <a:p>
            <a:pPr algn="just"/>
            <a:r>
              <a:rPr lang="en-GB" dirty="0"/>
              <a:t>Three main factors determine the value generated by a project:</a:t>
            </a:r>
          </a:p>
          <a:p>
            <a:pPr lvl="1" algn="just"/>
            <a:r>
              <a:rPr lang="en-GB" b="1" dirty="0"/>
              <a:t>Direct and indirect value</a:t>
            </a:r>
            <a:r>
              <a:rPr lang="en-GB" dirty="0"/>
              <a:t>. As mentioned earlier, the value of a project does not refer necessarily and only to the revenues it generates directly and through its outputs. Considerations relative to the social and environmental impact, image and publicity, entering a new market, and know-how acquired are some of the considerations that could add or subtract value from a project.</a:t>
            </a:r>
          </a:p>
          <a:p>
            <a:pPr lvl="1" algn="just"/>
            <a:r>
              <a:rPr lang="en-GB" b="1" dirty="0"/>
              <a:t>Sustainability</a:t>
            </a:r>
            <a:r>
              <a:rPr lang="en-GB" dirty="0"/>
              <a:t>. Many IT projects start without an idea or a strategy to sustain their outputs. Thus, the outputs of a project might not live long after a project and its resources end. Taking into account the operational costs of a project’s outputs and the way in which the project outputs will survive after a project ends is an important consideration to understand whether a project is worth doing</a:t>
            </a:r>
            <a:r>
              <a:rPr lang="en-US" dirty="0"/>
              <a:t>. (apps…)</a:t>
            </a:r>
            <a:endParaRPr lang="en-GB" dirty="0"/>
          </a:p>
        </p:txBody>
      </p:sp>
    </p:spTree>
    <p:extLst>
      <p:ext uri="{BB962C8B-B14F-4D97-AF65-F5344CB8AC3E}">
        <p14:creationId xmlns:p14="http://schemas.microsoft.com/office/powerpoint/2010/main" val="3185295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47D38-18CB-4DA5-AA52-E0BE641792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EAB26C-8CE4-4B7B-A83D-63D082F68B22}"/>
              </a:ext>
            </a:extLst>
          </p:cNvPr>
          <p:cNvSpPr>
            <a:spLocks noGrp="1"/>
          </p:cNvSpPr>
          <p:nvPr>
            <p:ph idx="1"/>
          </p:nvPr>
        </p:nvSpPr>
        <p:spPr/>
        <p:txBody>
          <a:bodyPr/>
          <a:lstStyle/>
          <a:p>
            <a:pPr lvl="1" algn="just"/>
            <a:r>
              <a:rPr lang="en-GB" b="1" dirty="0"/>
              <a:t>Alignment with the strategic objectives of the organization</a:t>
            </a:r>
            <a:r>
              <a:rPr lang="en-GB" dirty="0"/>
              <a:t>. Ensuring that the project aligns with the goals of an organization is an essential point to consider before a project is worth starting. Alignment with the strategic objectives can determine the priority of a project.</a:t>
            </a:r>
            <a:endParaRPr lang="en-US" dirty="0"/>
          </a:p>
        </p:txBody>
      </p:sp>
    </p:spTree>
    <p:extLst>
      <p:ext uri="{BB962C8B-B14F-4D97-AF65-F5344CB8AC3E}">
        <p14:creationId xmlns:p14="http://schemas.microsoft.com/office/powerpoint/2010/main" val="1834366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5F611-B4D7-477D-A696-1B805848633A}"/>
              </a:ext>
            </a:extLst>
          </p:cNvPr>
          <p:cNvSpPr>
            <a:spLocks noGrp="1"/>
          </p:cNvSpPr>
          <p:nvPr>
            <p:ph type="title"/>
          </p:nvPr>
        </p:nvSpPr>
        <p:spPr/>
        <p:txBody>
          <a:bodyPr/>
          <a:lstStyle/>
          <a:p>
            <a:r>
              <a:rPr lang="en-GB" dirty="0"/>
              <a:t>Project Risks: Aspects to Consider</a:t>
            </a:r>
            <a:endParaRPr lang="en-US" dirty="0"/>
          </a:p>
        </p:txBody>
      </p:sp>
      <p:sp>
        <p:nvSpPr>
          <p:cNvPr id="3" name="Content Placeholder 2">
            <a:extLst>
              <a:ext uri="{FF2B5EF4-FFF2-40B4-BE49-F238E27FC236}">
                <a16:creationId xmlns:a16="http://schemas.microsoft.com/office/drawing/2014/main" id="{A0C7AFC7-8239-46FE-BB13-79ABB3F09934}"/>
              </a:ext>
            </a:extLst>
          </p:cNvPr>
          <p:cNvSpPr>
            <a:spLocks noGrp="1"/>
          </p:cNvSpPr>
          <p:nvPr>
            <p:ph idx="1"/>
          </p:nvPr>
        </p:nvSpPr>
        <p:spPr/>
        <p:txBody>
          <a:bodyPr/>
          <a:lstStyle/>
          <a:p>
            <a:pPr algn="just"/>
            <a:r>
              <a:rPr lang="en-GB" dirty="0"/>
              <a:t>Various factors determine the risk profile of a project. Among them are:</a:t>
            </a:r>
          </a:p>
          <a:p>
            <a:pPr lvl="1" algn="just"/>
            <a:r>
              <a:rPr lang="en-GB" b="1" dirty="0"/>
              <a:t>Resource availability</a:t>
            </a:r>
            <a:r>
              <a:rPr lang="en-GB" dirty="0"/>
              <a:t>. Projects require the availability of resources—human, financial, and technical—in specific time frames.</a:t>
            </a:r>
          </a:p>
          <a:p>
            <a:pPr lvl="1" algn="just"/>
            <a:r>
              <a:rPr lang="en-GB" b="1" dirty="0"/>
              <a:t>Timing</a:t>
            </a:r>
            <a:r>
              <a:rPr lang="en-GB" dirty="0"/>
              <a:t>. Many projects have specific time windows for the delivery of their outputs. Deliver too early or too late and the outputs of the project might be useless. Consider, for instance, a project to build a rocket to reach another planet. The actual launch can occur only on a specific time frame, to take advantage of the relative position of planets. (sling shot)</a:t>
            </a:r>
          </a:p>
          <a:p>
            <a:pPr lvl="1" algn="just"/>
            <a:r>
              <a:rPr lang="en-GB" b="1" dirty="0"/>
              <a:t>Technical difficulty or uncertainty</a:t>
            </a:r>
            <a:r>
              <a:rPr lang="en-GB" dirty="0"/>
              <a:t>. The success of many projects relies on the actual capability of solving various technical challenges.</a:t>
            </a:r>
            <a:endParaRPr lang="en-US" dirty="0"/>
          </a:p>
        </p:txBody>
      </p:sp>
    </p:spTree>
    <p:extLst>
      <p:ext uri="{BB962C8B-B14F-4D97-AF65-F5344CB8AC3E}">
        <p14:creationId xmlns:p14="http://schemas.microsoft.com/office/powerpoint/2010/main" val="1507531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6D72E-E794-4371-A01D-84C21DF388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ADD779F-9378-420C-82C4-95C6FC87A48A}"/>
              </a:ext>
            </a:extLst>
          </p:cNvPr>
          <p:cNvSpPr>
            <a:spLocks noGrp="1"/>
          </p:cNvSpPr>
          <p:nvPr>
            <p:ph idx="1"/>
          </p:nvPr>
        </p:nvSpPr>
        <p:spPr/>
        <p:txBody>
          <a:bodyPr/>
          <a:lstStyle/>
          <a:p>
            <a:pPr lvl="1" algn="just"/>
            <a:r>
              <a:rPr lang="en-GB" b="1" dirty="0"/>
              <a:t>Project environment and constraints</a:t>
            </a:r>
            <a:r>
              <a:rPr lang="en-GB" dirty="0"/>
              <a:t>. Projects are influenced by various constraints, both internal and external. Various internal and external stakeholders will have an interest in positively or negatively influencing a project. Regulations and standards can severely limit what can be done on a project.</a:t>
            </a:r>
            <a:endParaRPr lang="en-US" dirty="0"/>
          </a:p>
        </p:txBody>
      </p:sp>
    </p:spTree>
    <p:extLst>
      <p:ext uri="{BB962C8B-B14F-4D97-AF65-F5344CB8AC3E}">
        <p14:creationId xmlns:p14="http://schemas.microsoft.com/office/powerpoint/2010/main" val="1586025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85DAB-317D-4611-B8B1-54B70774EB45}"/>
              </a:ext>
            </a:extLst>
          </p:cNvPr>
          <p:cNvSpPr>
            <a:spLocks noGrp="1"/>
          </p:cNvSpPr>
          <p:nvPr>
            <p:ph type="title"/>
          </p:nvPr>
        </p:nvSpPr>
        <p:spPr/>
        <p:txBody>
          <a:bodyPr/>
          <a:lstStyle/>
          <a:p>
            <a:r>
              <a:rPr lang="en-GB" dirty="0"/>
              <a:t>Techniques to Assess Value and Risks: </a:t>
            </a:r>
            <a:r>
              <a:rPr lang="en-US" dirty="0"/>
              <a:t>Financial Methods</a:t>
            </a:r>
          </a:p>
        </p:txBody>
      </p:sp>
      <p:sp>
        <p:nvSpPr>
          <p:cNvPr id="3" name="Content Placeholder 2">
            <a:extLst>
              <a:ext uri="{FF2B5EF4-FFF2-40B4-BE49-F238E27FC236}">
                <a16:creationId xmlns:a16="http://schemas.microsoft.com/office/drawing/2014/main" id="{038691B2-665B-4ECD-A60C-822DCB4D1993}"/>
              </a:ext>
            </a:extLst>
          </p:cNvPr>
          <p:cNvSpPr>
            <a:spLocks noGrp="1"/>
          </p:cNvSpPr>
          <p:nvPr>
            <p:ph idx="1"/>
          </p:nvPr>
        </p:nvSpPr>
        <p:spPr/>
        <p:txBody>
          <a:bodyPr>
            <a:normAutofit fontScale="92500" lnSpcReduction="10000"/>
          </a:bodyPr>
          <a:lstStyle/>
          <a:p>
            <a:pPr algn="just"/>
            <a:r>
              <a:rPr lang="en-GB" b="1" dirty="0"/>
              <a:t>Payback</a:t>
            </a:r>
            <a:r>
              <a:rPr lang="en-GB" dirty="0"/>
              <a:t>: The simplest financial evaluation is the payback method, which measures how long it will take to return a project’s investment. When using the payback method, an estimation of the project expenses and incomes determines the profits and losses at the end of each project year. The payback is the year at which the project covers all expenses and starts earning. The shorter the payback, the better.</a:t>
            </a:r>
          </a:p>
          <a:p>
            <a:pPr algn="just"/>
            <a:r>
              <a:rPr lang="en-US" b="1" dirty="0"/>
              <a:t>Return of Investment</a:t>
            </a:r>
            <a:r>
              <a:rPr lang="en-GB" dirty="0"/>
              <a:t>: To overcome some of the limitations of the payback method, another technique that is often employed is the return of investment (</a:t>
            </a:r>
            <a:r>
              <a:rPr lang="en-GB" b="1" dirty="0"/>
              <a:t>ROI</a:t>
            </a:r>
            <a:r>
              <a:rPr lang="en-GB" dirty="0"/>
              <a:t>), which measures how much we get back for each dollar invested. ROI is calculated from the annual profit, defined as the average profit per year and computed by dividing the profit by the duration of a project:</a:t>
            </a:r>
            <a:endParaRPr lang="en-US" dirty="0"/>
          </a:p>
        </p:txBody>
      </p:sp>
    </p:spTree>
    <p:extLst>
      <p:ext uri="{BB962C8B-B14F-4D97-AF65-F5344CB8AC3E}">
        <p14:creationId xmlns:p14="http://schemas.microsoft.com/office/powerpoint/2010/main" val="3313139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7E523-2D4A-4657-BA58-4872D103F25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9AA8943-E3B3-444E-A0F4-BF8CAA4CA2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222015"/>
            <a:ext cx="10515600" cy="3558557"/>
          </a:xfrm>
        </p:spPr>
      </p:pic>
    </p:spTree>
    <p:extLst>
      <p:ext uri="{BB962C8B-B14F-4D97-AF65-F5344CB8AC3E}">
        <p14:creationId xmlns:p14="http://schemas.microsoft.com/office/powerpoint/2010/main" val="3609383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BBB9D-78AC-4064-9495-4E5F08B500D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5C58760-7A35-45FC-8526-9353532A9908}"/>
              </a:ext>
            </a:extLst>
          </p:cNvPr>
          <p:cNvSpPr>
            <a:spLocks noGrp="1"/>
          </p:cNvSpPr>
          <p:nvPr>
            <p:ph idx="1"/>
          </p:nvPr>
        </p:nvSpPr>
        <p:spPr/>
        <p:txBody>
          <a:bodyPr>
            <a:normAutofit lnSpcReduction="10000"/>
          </a:bodyPr>
          <a:lstStyle/>
          <a:p>
            <a:pPr algn="just"/>
            <a:r>
              <a:rPr lang="en-GB" b="1" dirty="0"/>
              <a:t>Net Present Value and Internal Rate of Return</a:t>
            </a:r>
            <a:r>
              <a:rPr lang="en-GB" dirty="0"/>
              <a:t>: Payback and ROI do not take into account the effects of inflation, namely, the fact that an amount of money in the future has a lower value than the same amount available now.</a:t>
            </a:r>
          </a:p>
          <a:p>
            <a:pPr algn="just"/>
            <a:r>
              <a:rPr lang="en-GB" dirty="0"/>
              <a:t>The net present value technique (or NPR for short) overcomes this issue by taking into account the inflation rate. Thus, if a reliable estimation of the inflation rate can be provided, the value of future expenses and incomes for a project can be recomputed in terms of their actual value.</a:t>
            </a:r>
          </a:p>
          <a:p>
            <a:pPr algn="just"/>
            <a:r>
              <a:rPr lang="en-GB" dirty="0"/>
              <a:t>In particular, when using NPR, profit and losses are computed using the following formula:</a:t>
            </a:r>
            <a:endParaRPr lang="en-US" dirty="0"/>
          </a:p>
        </p:txBody>
      </p:sp>
    </p:spTree>
    <p:extLst>
      <p:ext uri="{BB962C8B-B14F-4D97-AF65-F5344CB8AC3E}">
        <p14:creationId xmlns:p14="http://schemas.microsoft.com/office/powerpoint/2010/main" val="3297190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D721D-015E-4723-A3E1-2CCEA63D22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FA5B49D-AC63-4F07-9333-1F512CCA1EDD}"/>
              </a:ext>
            </a:extLst>
          </p:cNvPr>
          <p:cNvSpPr>
            <a:spLocks noGrp="1"/>
          </p:cNvSpPr>
          <p:nvPr>
            <p:ph idx="1"/>
          </p:nvPr>
        </p:nvSpPr>
        <p:spPr/>
        <p:txBody>
          <a:bodyPr/>
          <a:lstStyle/>
          <a:p>
            <a:pPr algn="just"/>
            <a:endParaRPr lang="en-GB" dirty="0"/>
          </a:p>
          <a:p>
            <a:pPr algn="just"/>
            <a:endParaRPr lang="en-US" dirty="0"/>
          </a:p>
          <a:p>
            <a:pPr algn="just"/>
            <a:endParaRPr lang="en-US" dirty="0"/>
          </a:p>
          <a:p>
            <a:pPr algn="just"/>
            <a:endParaRPr lang="en-US" dirty="0"/>
          </a:p>
          <a:p>
            <a:pPr algn="just"/>
            <a:r>
              <a:rPr lang="en-GB" dirty="0"/>
              <a:t>Where r is the inflation rate, amount is the net profit at year </a:t>
            </a:r>
            <a:r>
              <a:rPr lang="en-GB" dirty="0" err="1"/>
              <a:t>i</a:t>
            </a:r>
            <a:r>
              <a:rPr lang="en-GB" dirty="0"/>
              <a:t>, and value is the current value of amount. Note that the first project year is year 0.</a:t>
            </a:r>
            <a:endParaRPr lang="en-US" dirty="0"/>
          </a:p>
        </p:txBody>
      </p:sp>
      <p:pic>
        <p:nvPicPr>
          <p:cNvPr id="5" name="Picture 4">
            <a:extLst>
              <a:ext uri="{FF2B5EF4-FFF2-40B4-BE49-F238E27FC236}">
                <a16:creationId xmlns:a16="http://schemas.microsoft.com/office/drawing/2014/main" id="{E1399454-FF69-4FED-A7BD-614A752B50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5521" y="1972879"/>
            <a:ext cx="7270750" cy="1651000"/>
          </a:xfrm>
          <a:prstGeom prst="rect">
            <a:avLst/>
          </a:prstGeom>
        </p:spPr>
      </p:pic>
    </p:spTree>
    <p:extLst>
      <p:ext uri="{BB962C8B-B14F-4D97-AF65-F5344CB8AC3E}">
        <p14:creationId xmlns:p14="http://schemas.microsoft.com/office/powerpoint/2010/main" val="963412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39BDA-3D2C-434E-B428-3324A242CC52}"/>
              </a:ext>
            </a:extLst>
          </p:cNvPr>
          <p:cNvSpPr>
            <a:spLocks noGrp="1"/>
          </p:cNvSpPr>
          <p:nvPr>
            <p:ph type="title"/>
          </p:nvPr>
        </p:nvSpPr>
        <p:spPr/>
        <p:txBody>
          <a:bodyPr/>
          <a:lstStyle/>
          <a:p>
            <a:r>
              <a:rPr lang="en-GB" dirty="0"/>
              <a:t>Applying Financial Methods: An Example</a:t>
            </a:r>
            <a:endParaRPr lang="en-US" dirty="0"/>
          </a:p>
        </p:txBody>
      </p:sp>
      <p:pic>
        <p:nvPicPr>
          <p:cNvPr id="5" name="Content Placeholder 4">
            <a:extLst>
              <a:ext uri="{FF2B5EF4-FFF2-40B4-BE49-F238E27FC236}">
                <a16:creationId xmlns:a16="http://schemas.microsoft.com/office/drawing/2014/main" id="{10F4DD76-8519-4B36-A024-7CEF84CD633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06625" y="2655094"/>
            <a:ext cx="7778750" cy="2692400"/>
          </a:xfrm>
        </p:spPr>
      </p:pic>
    </p:spTree>
    <p:extLst>
      <p:ext uri="{BB962C8B-B14F-4D97-AF65-F5344CB8AC3E}">
        <p14:creationId xmlns:p14="http://schemas.microsoft.com/office/powerpoint/2010/main" val="3407519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597E8-B493-4D35-B94B-09484FAD4B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012B88-8D28-4503-A4A3-55F9D26E9A7D}"/>
              </a:ext>
            </a:extLst>
          </p:cNvPr>
          <p:cNvSpPr>
            <a:spLocks noGrp="1"/>
          </p:cNvSpPr>
          <p:nvPr>
            <p:ph idx="1"/>
          </p:nvPr>
        </p:nvSpPr>
        <p:spPr/>
        <p:txBody>
          <a:bodyPr/>
          <a:lstStyle/>
          <a:p>
            <a:pPr algn="just"/>
            <a:r>
              <a:rPr lang="en-GB" dirty="0"/>
              <a:t>If we use the payback method, we select Project A, since it has a shorter payback period. In fact, year 0 is forecast to end with losses, for Project A. So will year 1. At the end of year 2, however, the financial statement will show earnings of EUR 10, 000.</a:t>
            </a:r>
            <a:endParaRPr lang="en-US" dirty="0"/>
          </a:p>
        </p:txBody>
      </p:sp>
    </p:spTree>
    <p:extLst>
      <p:ext uri="{BB962C8B-B14F-4D97-AF65-F5344CB8AC3E}">
        <p14:creationId xmlns:p14="http://schemas.microsoft.com/office/powerpoint/2010/main" val="1867167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5CEB-AF5E-4296-B1CB-CB2841D6C27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4BFB865-7FB7-4897-8F3E-BFCA7F9BB6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004122"/>
            <a:ext cx="10515600" cy="3994344"/>
          </a:xfrm>
        </p:spPr>
      </p:pic>
    </p:spTree>
    <p:extLst>
      <p:ext uri="{BB962C8B-B14F-4D97-AF65-F5344CB8AC3E}">
        <p14:creationId xmlns:p14="http://schemas.microsoft.com/office/powerpoint/2010/main" val="262762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92A43-0BE0-4DDB-90E9-1B42E491EC71}"/>
              </a:ext>
            </a:extLst>
          </p:cNvPr>
          <p:cNvSpPr>
            <a:spLocks noGrp="1"/>
          </p:cNvSpPr>
          <p:nvPr>
            <p:ph type="title"/>
          </p:nvPr>
        </p:nvSpPr>
        <p:spPr/>
        <p:txBody>
          <a:bodyPr/>
          <a:lstStyle/>
          <a:p>
            <a:r>
              <a:rPr lang="en-US" dirty="0"/>
              <a:t>Score Matrices</a:t>
            </a:r>
          </a:p>
        </p:txBody>
      </p:sp>
      <p:sp>
        <p:nvSpPr>
          <p:cNvPr id="3" name="Content Placeholder 2">
            <a:extLst>
              <a:ext uri="{FF2B5EF4-FFF2-40B4-BE49-F238E27FC236}">
                <a16:creationId xmlns:a16="http://schemas.microsoft.com/office/drawing/2014/main" id="{80E174FD-2E16-4278-B556-10767EA0758B}"/>
              </a:ext>
            </a:extLst>
          </p:cNvPr>
          <p:cNvSpPr>
            <a:spLocks noGrp="1"/>
          </p:cNvSpPr>
          <p:nvPr>
            <p:ph idx="1"/>
          </p:nvPr>
        </p:nvSpPr>
        <p:spPr/>
        <p:txBody>
          <a:bodyPr>
            <a:normAutofit/>
          </a:bodyPr>
          <a:lstStyle/>
          <a:p>
            <a:pPr algn="just"/>
            <a:r>
              <a:rPr lang="en-GB" dirty="0"/>
              <a:t>Financial methods help determine the financial viability of a project, but tell nothing about the project characteristics that are not measurable with profits and losses.</a:t>
            </a:r>
          </a:p>
          <a:p>
            <a:pPr algn="just"/>
            <a:r>
              <a:rPr lang="en-GB" dirty="0"/>
              <a:t>Therefore, other methods have been proposed to assess a project. </a:t>
            </a:r>
          </a:p>
          <a:p>
            <a:pPr algn="just"/>
            <a:r>
              <a:rPr lang="en-GB" dirty="0"/>
              <a:t>One of the simplest is the </a:t>
            </a:r>
            <a:r>
              <a:rPr lang="en-GB" b="1" dirty="0"/>
              <a:t>score matrix</a:t>
            </a:r>
            <a:r>
              <a:rPr lang="en-GB" dirty="0"/>
              <a:t>, which allows one to measure a project along several dimensions and assign it a value.</a:t>
            </a:r>
          </a:p>
          <a:p>
            <a:pPr algn="just"/>
            <a:r>
              <a:rPr lang="en-GB" dirty="0"/>
              <a:t>A score matrix is a list of project criteria, each of which is assigned a weight, which measures the importance the criteria for the organization we work for.</a:t>
            </a:r>
            <a:endParaRPr lang="en-US" dirty="0"/>
          </a:p>
        </p:txBody>
      </p:sp>
    </p:spTree>
    <p:extLst>
      <p:ext uri="{BB962C8B-B14F-4D97-AF65-F5344CB8AC3E}">
        <p14:creationId xmlns:p14="http://schemas.microsoft.com/office/powerpoint/2010/main" val="3552984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70113-A9E7-4AF6-B400-C8658CFF80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2A9A9D-346A-4078-8681-2B8BC71C9E5D}"/>
              </a:ext>
            </a:extLst>
          </p:cNvPr>
          <p:cNvSpPr>
            <a:spLocks noGrp="1"/>
          </p:cNvSpPr>
          <p:nvPr>
            <p:ph idx="1"/>
          </p:nvPr>
        </p:nvSpPr>
        <p:spPr/>
        <p:txBody>
          <a:bodyPr>
            <a:normAutofit/>
          </a:bodyPr>
          <a:lstStyle/>
          <a:p>
            <a:pPr algn="just"/>
            <a:r>
              <a:rPr lang="en-GB" dirty="0"/>
              <a:t>When we evaluate a project using a score matrix, we measure how well the project satisfies each criterion, by assigning a number from 1 (very low) to 5 (very high).</a:t>
            </a:r>
          </a:p>
          <a:p>
            <a:pPr algn="just"/>
            <a:r>
              <a:rPr lang="en-GB" dirty="0"/>
              <a:t>We then multiply the scores with the weights and sum all values. Projects scoring a higher value are more desirable than projects with a lower score.</a:t>
            </a:r>
          </a:p>
          <a:p>
            <a:pPr algn="just"/>
            <a:r>
              <a:rPr lang="en-GB" dirty="0"/>
              <a:t>Projects can also be compared side by side; hence, the use of the term “matrix” in the name of the technique.</a:t>
            </a:r>
            <a:endParaRPr lang="en-US" dirty="0"/>
          </a:p>
        </p:txBody>
      </p:sp>
    </p:spTree>
    <p:extLst>
      <p:ext uri="{BB962C8B-B14F-4D97-AF65-F5344CB8AC3E}">
        <p14:creationId xmlns:p14="http://schemas.microsoft.com/office/powerpoint/2010/main" val="3417952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E38BD-7052-445B-8432-14EA6EC879B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7D01FB4-B5A3-47AA-9194-3AD15CA4D8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21875" y="365125"/>
            <a:ext cx="7157545" cy="6014654"/>
          </a:xfrm>
        </p:spPr>
      </p:pic>
    </p:spTree>
    <p:extLst>
      <p:ext uri="{BB962C8B-B14F-4D97-AF65-F5344CB8AC3E}">
        <p14:creationId xmlns:p14="http://schemas.microsoft.com/office/powerpoint/2010/main" val="873966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D5194-F5E9-462F-82A0-0A0373200F17}"/>
              </a:ext>
            </a:extLst>
          </p:cNvPr>
          <p:cNvSpPr>
            <a:spLocks noGrp="1"/>
          </p:cNvSpPr>
          <p:nvPr>
            <p:ph type="title"/>
          </p:nvPr>
        </p:nvSpPr>
        <p:spPr/>
        <p:txBody>
          <a:bodyPr/>
          <a:lstStyle/>
          <a:p>
            <a:r>
              <a:rPr lang="en-US" dirty="0"/>
              <a:t>Stakeholder Analysis</a:t>
            </a:r>
          </a:p>
        </p:txBody>
      </p:sp>
      <p:sp>
        <p:nvSpPr>
          <p:cNvPr id="3" name="Content Placeholder 2">
            <a:extLst>
              <a:ext uri="{FF2B5EF4-FFF2-40B4-BE49-F238E27FC236}">
                <a16:creationId xmlns:a16="http://schemas.microsoft.com/office/drawing/2014/main" id="{FFC76C17-1F9F-4B77-ADD4-7CBCE1962AB8}"/>
              </a:ext>
            </a:extLst>
          </p:cNvPr>
          <p:cNvSpPr>
            <a:spLocks noGrp="1"/>
          </p:cNvSpPr>
          <p:nvPr>
            <p:ph idx="1"/>
          </p:nvPr>
        </p:nvSpPr>
        <p:spPr/>
        <p:txBody>
          <a:bodyPr>
            <a:normAutofit/>
          </a:bodyPr>
          <a:lstStyle/>
          <a:p>
            <a:pPr algn="just"/>
            <a:r>
              <a:rPr lang="en-GB" dirty="0"/>
              <a:t>Stakeholders can exert quite a lot of influence on a project and determine the success or failure of a project.</a:t>
            </a:r>
          </a:p>
          <a:p>
            <a:pPr algn="just"/>
            <a:r>
              <a:rPr lang="en-GB" dirty="0"/>
              <a:t>Understanding how stakeholders can influence (positively or negatively) a project, is good practice to assess the project’s chances of success and to define a stakeholder management policy.</a:t>
            </a:r>
          </a:p>
          <a:p>
            <a:pPr algn="just"/>
            <a:r>
              <a:rPr lang="en-GB" dirty="0"/>
              <a:t>Various ways have been proposed to classify stakeholders. In general, stakeholders are classified in two dimensions:</a:t>
            </a:r>
          </a:p>
          <a:p>
            <a:pPr marL="914400" lvl="1" indent="-457200" algn="just">
              <a:buFont typeface="+mj-lt"/>
              <a:buAutoNum type="arabicPeriod"/>
            </a:pPr>
            <a:r>
              <a:rPr lang="en-GB" dirty="0"/>
              <a:t>The </a:t>
            </a:r>
            <a:r>
              <a:rPr lang="en-GB" b="1" dirty="0"/>
              <a:t>power</a:t>
            </a:r>
            <a:r>
              <a:rPr lang="en-GB" dirty="0"/>
              <a:t> they can exert in the project</a:t>
            </a:r>
          </a:p>
          <a:p>
            <a:pPr marL="914400" lvl="1" indent="-457200" algn="just">
              <a:buFont typeface="+mj-lt"/>
              <a:buAutoNum type="arabicPeriod"/>
            </a:pPr>
            <a:r>
              <a:rPr lang="en-GB" dirty="0"/>
              <a:t>The </a:t>
            </a:r>
            <a:r>
              <a:rPr lang="en-GB" b="1" dirty="0"/>
              <a:t>interest</a:t>
            </a:r>
            <a:r>
              <a:rPr lang="en-GB" dirty="0"/>
              <a:t> they have in the project</a:t>
            </a:r>
            <a:endParaRPr lang="en-US" dirty="0"/>
          </a:p>
        </p:txBody>
      </p:sp>
    </p:spTree>
    <p:extLst>
      <p:ext uri="{BB962C8B-B14F-4D97-AF65-F5344CB8AC3E}">
        <p14:creationId xmlns:p14="http://schemas.microsoft.com/office/powerpoint/2010/main" val="201838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FA531-CBFA-4B1E-A002-26D1A4DC62FC}"/>
              </a:ext>
            </a:extLst>
          </p:cNvPr>
          <p:cNvSpPr>
            <a:spLocks noGrp="1"/>
          </p:cNvSpPr>
          <p:nvPr>
            <p:ph type="title"/>
          </p:nvPr>
        </p:nvSpPr>
        <p:spPr/>
        <p:txBody>
          <a:bodyPr/>
          <a:lstStyle/>
          <a:p>
            <a:r>
              <a:rPr lang="en-US" dirty="0"/>
              <a:t>Assessing Sustainability</a:t>
            </a:r>
          </a:p>
        </p:txBody>
      </p:sp>
      <p:sp>
        <p:nvSpPr>
          <p:cNvPr id="3" name="Content Placeholder 2">
            <a:extLst>
              <a:ext uri="{FF2B5EF4-FFF2-40B4-BE49-F238E27FC236}">
                <a16:creationId xmlns:a16="http://schemas.microsoft.com/office/drawing/2014/main" id="{AD4295DC-2E33-4A18-B9E0-94F63C268E45}"/>
              </a:ext>
            </a:extLst>
          </p:cNvPr>
          <p:cNvSpPr>
            <a:spLocks noGrp="1"/>
          </p:cNvSpPr>
          <p:nvPr>
            <p:ph idx="1"/>
          </p:nvPr>
        </p:nvSpPr>
        <p:spPr/>
        <p:txBody>
          <a:bodyPr/>
          <a:lstStyle/>
          <a:p>
            <a:pPr algn="just"/>
            <a:r>
              <a:rPr lang="en-GB" dirty="0"/>
              <a:t>Evaluating the operational cost of a project outputs helps assess the long-term benefits of a project and what additional actions a project should include to ensure that its results will live after the project ends.</a:t>
            </a:r>
          </a:p>
          <a:p>
            <a:pPr algn="just"/>
            <a:r>
              <a:rPr lang="en-GB" dirty="0"/>
              <a:t>This analysis is relevant in several high risk or highly constrained projects, such as projects to start new companies, research projects, and projects to foster economic development.</a:t>
            </a:r>
          </a:p>
          <a:p>
            <a:pPr algn="just"/>
            <a:r>
              <a:rPr lang="en-GB" dirty="0"/>
              <a:t>Often, in fact, these projects deliver benefits as long as steady financing is available; little or nothing survives when the project ends.</a:t>
            </a:r>
            <a:endParaRPr lang="en-US" dirty="0"/>
          </a:p>
        </p:txBody>
      </p:sp>
    </p:spTree>
    <p:extLst>
      <p:ext uri="{BB962C8B-B14F-4D97-AF65-F5344CB8AC3E}">
        <p14:creationId xmlns:p14="http://schemas.microsoft.com/office/powerpoint/2010/main" val="179230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6F142-D2F7-4242-883A-1195163D239A}"/>
              </a:ext>
            </a:extLst>
          </p:cNvPr>
          <p:cNvSpPr>
            <a:spLocks noGrp="1"/>
          </p:cNvSpPr>
          <p:nvPr>
            <p:ph type="title"/>
          </p:nvPr>
        </p:nvSpPr>
        <p:spPr/>
        <p:txBody>
          <a:bodyPr/>
          <a:lstStyle/>
          <a:p>
            <a:r>
              <a:rPr lang="en-US" dirty="0"/>
              <a:t>The Project Feasibility Document</a:t>
            </a:r>
          </a:p>
        </p:txBody>
      </p:sp>
      <p:sp>
        <p:nvSpPr>
          <p:cNvPr id="3" name="Content Placeholder 2">
            <a:extLst>
              <a:ext uri="{FF2B5EF4-FFF2-40B4-BE49-F238E27FC236}">
                <a16:creationId xmlns:a16="http://schemas.microsoft.com/office/drawing/2014/main" id="{30701CB1-6E91-4CFB-9679-2D869788EDAC}"/>
              </a:ext>
            </a:extLst>
          </p:cNvPr>
          <p:cNvSpPr>
            <a:spLocks noGrp="1"/>
          </p:cNvSpPr>
          <p:nvPr>
            <p:ph idx="1"/>
          </p:nvPr>
        </p:nvSpPr>
        <p:spPr/>
        <p:txBody>
          <a:bodyPr>
            <a:normAutofit/>
          </a:bodyPr>
          <a:lstStyle/>
          <a:p>
            <a:pPr algn="just"/>
            <a:r>
              <a:rPr lang="en-GB" dirty="0"/>
              <a:t>The project feasibility document closes the assessment phase by describing the main characteristics of a project and by </a:t>
            </a:r>
            <a:r>
              <a:rPr lang="en-GB" dirty="0" err="1"/>
              <a:t>analyzing</a:t>
            </a:r>
            <a:r>
              <a:rPr lang="en-GB" dirty="0"/>
              <a:t>, using techniques presented earlier, the value and risks of a project. </a:t>
            </a:r>
          </a:p>
          <a:p>
            <a:pPr algn="just"/>
            <a:r>
              <a:rPr lang="en-GB" dirty="0"/>
              <a:t>The document can be used to formally authorize the start of a project.</a:t>
            </a:r>
          </a:p>
          <a:p>
            <a:pPr algn="just"/>
            <a:r>
              <a:rPr lang="en-GB" dirty="0"/>
              <a:t>Thus, a feasibility document contains at least the following information:</a:t>
            </a:r>
          </a:p>
          <a:p>
            <a:pPr lvl="1" algn="just"/>
            <a:r>
              <a:rPr lang="en-GB" dirty="0"/>
              <a:t>A </a:t>
            </a:r>
            <a:r>
              <a:rPr lang="en-GB" b="1" dirty="0"/>
              <a:t>statement of work</a:t>
            </a:r>
            <a:r>
              <a:rPr lang="en-GB" dirty="0"/>
              <a:t>, which describes the scope of the project</a:t>
            </a:r>
          </a:p>
          <a:p>
            <a:pPr lvl="1" algn="just"/>
            <a:r>
              <a:rPr lang="en-GB" dirty="0"/>
              <a:t>The </a:t>
            </a:r>
            <a:r>
              <a:rPr lang="en-GB" b="1" dirty="0"/>
              <a:t>business objectives</a:t>
            </a:r>
            <a:r>
              <a:rPr lang="en-GB" dirty="0"/>
              <a:t> of the project -&gt; impact of its outputs</a:t>
            </a:r>
          </a:p>
          <a:p>
            <a:pPr lvl="1" algn="just"/>
            <a:r>
              <a:rPr lang="en-GB" dirty="0"/>
              <a:t>A summary of the </a:t>
            </a:r>
            <a:r>
              <a:rPr lang="en-GB" b="1" dirty="0"/>
              <a:t>project budget</a:t>
            </a:r>
            <a:r>
              <a:rPr lang="en-GB" dirty="0"/>
              <a:t>, which forecasts expenses and incomes</a:t>
            </a:r>
            <a:endParaRPr lang="en-US" dirty="0"/>
          </a:p>
        </p:txBody>
      </p:sp>
    </p:spTree>
    <p:extLst>
      <p:ext uri="{BB962C8B-B14F-4D97-AF65-F5344CB8AC3E}">
        <p14:creationId xmlns:p14="http://schemas.microsoft.com/office/powerpoint/2010/main" val="2378307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70BE2-FE84-4721-A964-BE93303E4D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A3EE6C0-B075-472B-93F8-810DFAFF6D5B}"/>
              </a:ext>
            </a:extLst>
          </p:cNvPr>
          <p:cNvSpPr>
            <a:spLocks noGrp="1"/>
          </p:cNvSpPr>
          <p:nvPr>
            <p:ph idx="1"/>
          </p:nvPr>
        </p:nvSpPr>
        <p:spPr/>
        <p:txBody>
          <a:bodyPr/>
          <a:lstStyle/>
          <a:p>
            <a:pPr lvl="1" algn="just"/>
            <a:r>
              <a:rPr lang="en-GB" dirty="0"/>
              <a:t>A summary of the project </a:t>
            </a:r>
            <a:r>
              <a:rPr lang="en-GB" b="1" dirty="0"/>
              <a:t>milestones</a:t>
            </a:r>
            <a:r>
              <a:rPr lang="en-GB" dirty="0"/>
              <a:t>, which is a rough schedule of the project identifying the most important events </a:t>
            </a:r>
          </a:p>
          <a:p>
            <a:pPr lvl="1" algn="just"/>
            <a:r>
              <a:rPr lang="en-GB" dirty="0"/>
              <a:t>An analysis of the </a:t>
            </a:r>
            <a:r>
              <a:rPr lang="en-GB" b="1" dirty="0"/>
              <a:t>stakeholders</a:t>
            </a:r>
            <a:endParaRPr lang="en-GB" dirty="0"/>
          </a:p>
          <a:p>
            <a:pPr lvl="1" algn="just"/>
            <a:r>
              <a:rPr lang="en-GB" dirty="0"/>
              <a:t>The project </a:t>
            </a:r>
            <a:r>
              <a:rPr lang="en-GB" b="1" dirty="0"/>
              <a:t>risks</a:t>
            </a:r>
          </a:p>
          <a:p>
            <a:pPr lvl="1" algn="just"/>
            <a:r>
              <a:rPr lang="en-GB" dirty="0"/>
              <a:t>Possible </a:t>
            </a:r>
            <a:r>
              <a:rPr lang="en-GB" b="1" dirty="0"/>
              <a:t>alternatives</a:t>
            </a:r>
            <a:r>
              <a:rPr lang="en-GB" dirty="0"/>
              <a:t> to the project, such as a make-or-buy decision</a:t>
            </a:r>
          </a:p>
          <a:p>
            <a:pPr lvl="1" algn="just"/>
            <a:r>
              <a:rPr lang="en-GB" dirty="0"/>
              <a:t>An </a:t>
            </a:r>
            <a:r>
              <a:rPr lang="en-GB" b="1" dirty="0"/>
              <a:t>evaluation</a:t>
            </a:r>
            <a:r>
              <a:rPr lang="en-GB" dirty="0"/>
              <a:t> of the project and alternatives, using the techniques described above</a:t>
            </a:r>
            <a:endParaRPr lang="en-US" dirty="0"/>
          </a:p>
        </p:txBody>
      </p:sp>
    </p:spTree>
    <p:extLst>
      <p:ext uri="{BB962C8B-B14F-4D97-AF65-F5344CB8AC3E}">
        <p14:creationId xmlns:p14="http://schemas.microsoft.com/office/powerpoint/2010/main" val="295824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4BD79-4927-40A5-B721-56E351E8F718}"/>
              </a:ext>
            </a:extLst>
          </p:cNvPr>
          <p:cNvSpPr>
            <a:spLocks noGrp="1"/>
          </p:cNvSpPr>
          <p:nvPr>
            <p:ph type="title"/>
          </p:nvPr>
        </p:nvSpPr>
        <p:spPr/>
        <p:txBody>
          <a:bodyPr/>
          <a:lstStyle/>
          <a:p>
            <a:r>
              <a:rPr lang="en-US" dirty="0"/>
              <a:t> Formalizing process…</a:t>
            </a:r>
          </a:p>
        </p:txBody>
      </p:sp>
      <p:sp>
        <p:nvSpPr>
          <p:cNvPr id="3" name="Content Placeholder 2">
            <a:extLst>
              <a:ext uri="{FF2B5EF4-FFF2-40B4-BE49-F238E27FC236}">
                <a16:creationId xmlns:a16="http://schemas.microsoft.com/office/drawing/2014/main" id="{F203B724-F500-4C8E-9F2B-6EF2F2CAF5F3}"/>
              </a:ext>
            </a:extLst>
          </p:cNvPr>
          <p:cNvSpPr>
            <a:spLocks noGrp="1"/>
          </p:cNvSpPr>
          <p:nvPr>
            <p:ph idx="1"/>
          </p:nvPr>
        </p:nvSpPr>
        <p:spPr/>
        <p:txBody>
          <a:bodyPr>
            <a:normAutofit/>
          </a:bodyPr>
          <a:lstStyle/>
          <a:p>
            <a:pPr algn="just"/>
            <a:r>
              <a:rPr lang="en-GB" dirty="0"/>
              <a:t>After assessing Value and Risks, one of the first activities is fixing and having stakeholders agree on the project scope.</a:t>
            </a:r>
          </a:p>
          <a:p>
            <a:pPr algn="just"/>
            <a:r>
              <a:rPr lang="en-GB" dirty="0"/>
              <a:t>This, in fact, constitutes the basis for any further management activity, namely, the definition of the work to be performed, schedule and budget, and the skills required by the team that will perform the work.</a:t>
            </a:r>
          </a:p>
          <a:p>
            <a:pPr algn="just"/>
            <a:r>
              <a:rPr lang="en-GB" dirty="0"/>
              <a:t>Project goals, together with the schedule and the budget, are also the basis for contractual agreements with the clients.</a:t>
            </a:r>
            <a:endParaRPr lang="en-US" dirty="0"/>
          </a:p>
        </p:txBody>
      </p:sp>
    </p:spTree>
    <p:extLst>
      <p:ext uri="{BB962C8B-B14F-4D97-AF65-F5344CB8AC3E}">
        <p14:creationId xmlns:p14="http://schemas.microsoft.com/office/powerpoint/2010/main" val="1838673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071BC-C300-4315-BF98-150081F94A86}"/>
              </a:ext>
            </a:extLst>
          </p:cNvPr>
          <p:cNvSpPr>
            <a:spLocks noGrp="1"/>
          </p:cNvSpPr>
          <p:nvPr>
            <p:ph type="title"/>
          </p:nvPr>
        </p:nvSpPr>
        <p:spPr/>
        <p:txBody>
          <a:bodyPr/>
          <a:lstStyle/>
          <a:p>
            <a:r>
              <a:rPr lang="en-US" dirty="0"/>
              <a:t>Deciding the Work</a:t>
            </a:r>
          </a:p>
        </p:txBody>
      </p:sp>
      <p:sp>
        <p:nvSpPr>
          <p:cNvPr id="3" name="Content Placeholder 2">
            <a:extLst>
              <a:ext uri="{FF2B5EF4-FFF2-40B4-BE49-F238E27FC236}">
                <a16:creationId xmlns:a16="http://schemas.microsoft.com/office/drawing/2014/main" id="{4DDACF12-8229-4BE8-9CD0-2B7235D314A2}"/>
              </a:ext>
            </a:extLst>
          </p:cNvPr>
          <p:cNvSpPr>
            <a:spLocks noGrp="1"/>
          </p:cNvSpPr>
          <p:nvPr>
            <p:ph idx="1"/>
          </p:nvPr>
        </p:nvSpPr>
        <p:spPr/>
        <p:txBody>
          <a:bodyPr/>
          <a:lstStyle/>
          <a:p>
            <a:pPr algn="just"/>
            <a:r>
              <a:rPr lang="en-GB" dirty="0"/>
              <a:t>Now that we have properly described the main goals and the boundaries of our project; we can start identifying the activities that we need to carry out in the project.</a:t>
            </a:r>
          </a:p>
          <a:p>
            <a:pPr algn="just"/>
            <a:r>
              <a:rPr lang="en-GB" dirty="0"/>
              <a:t>This is very often accomplished with a </a:t>
            </a:r>
            <a:r>
              <a:rPr lang="en-GB" b="1" dirty="0"/>
              <a:t>work breakdown structure</a:t>
            </a:r>
            <a:r>
              <a:rPr lang="en-GB" dirty="0"/>
              <a:t> or WBS from now on.</a:t>
            </a:r>
          </a:p>
          <a:p>
            <a:pPr algn="just"/>
            <a:r>
              <a:rPr lang="en-GB" dirty="0"/>
              <a:t>The notation, developed in the 1960s alongside the program evaluation and review technique (PERT), is defined in Project Management Institute (2004) as “a (deliverable-oriented) hierarchical decomposition of the work to be executed by the project team to accomplish projects objectives and create the required deliverable.”</a:t>
            </a:r>
            <a:endParaRPr lang="en-US" dirty="0"/>
          </a:p>
        </p:txBody>
      </p:sp>
    </p:spTree>
    <p:extLst>
      <p:ext uri="{BB962C8B-B14F-4D97-AF65-F5344CB8AC3E}">
        <p14:creationId xmlns:p14="http://schemas.microsoft.com/office/powerpoint/2010/main" val="3124208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7D7F3-E727-47A4-A86A-D65278DE78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05F18AF-B365-4443-9159-BE911F9E872A}"/>
              </a:ext>
            </a:extLst>
          </p:cNvPr>
          <p:cNvSpPr>
            <a:spLocks noGrp="1"/>
          </p:cNvSpPr>
          <p:nvPr>
            <p:ph idx="1"/>
          </p:nvPr>
        </p:nvSpPr>
        <p:spPr/>
        <p:txBody>
          <a:bodyPr>
            <a:normAutofit lnSpcReduction="10000"/>
          </a:bodyPr>
          <a:lstStyle/>
          <a:p>
            <a:pPr algn="just"/>
            <a:r>
              <a:rPr lang="en-GB" dirty="0"/>
              <a:t>Today, the technique is widely adopted and many project management and process standards make us require a WBS to be built for each major program or project and suggest its use in any project, big or small, when it can be practically done so.</a:t>
            </a:r>
          </a:p>
          <a:p>
            <a:pPr algn="just"/>
            <a:r>
              <a:rPr lang="en-GB" dirty="0"/>
              <a:t>A WBS establishes the basis for:</a:t>
            </a:r>
          </a:p>
          <a:p>
            <a:pPr lvl="1" algn="just"/>
            <a:r>
              <a:rPr lang="en-GB" dirty="0"/>
              <a:t>Defining the work to be performed in a project</a:t>
            </a:r>
          </a:p>
          <a:p>
            <a:pPr lvl="1" algn="just"/>
            <a:r>
              <a:rPr lang="en-GB" dirty="0"/>
              <a:t>Showing how various activities are related to the project objectives</a:t>
            </a:r>
          </a:p>
          <a:p>
            <a:pPr lvl="1" algn="just"/>
            <a:r>
              <a:rPr lang="en-GB" dirty="0"/>
              <a:t>Establishing a framework for defining, assigning, and monitoring work and costs</a:t>
            </a:r>
          </a:p>
          <a:p>
            <a:pPr lvl="1" algn="just"/>
            <a:r>
              <a:rPr lang="en-GB" dirty="0"/>
              <a:t>Identifying the organizational elements responsible for accomplishing the work.</a:t>
            </a:r>
            <a:endParaRPr lang="en-US" dirty="0"/>
          </a:p>
        </p:txBody>
      </p:sp>
    </p:spTree>
    <p:extLst>
      <p:ext uri="{BB962C8B-B14F-4D97-AF65-F5344CB8AC3E}">
        <p14:creationId xmlns:p14="http://schemas.microsoft.com/office/powerpoint/2010/main" val="2922254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2FBB8-6709-47B4-AE75-EA585C51D610}"/>
              </a:ext>
            </a:extLst>
          </p:cNvPr>
          <p:cNvSpPr>
            <a:spLocks noGrp="1"/>
          </p:cNvSpPr>
          <p:nvPr>
            <p:ph type="title"/>
          </p:nvPr>
        </p:nvSpPr>
        <p:spPr/>
        <p:txBody>
          <a:bodyPr/>
          <a:lstStyle/>
          <a:p>
            <a:r>
              <a:rPr lang="en-US" dirty="0"/>
              <a:t>Building a WBS</a:t>
            </a:r>
          </a:p>
        </p:txBody>
      </p:sp>
      <p:sp>
        <p:nvSpPr>
          <p:cNvPr id="3" name="Content Placeholder 2">
            <a:extLst>
              <a:ext uri="{FF2B5EF4-FFF2-40B4-BE49-F238E27FC236}">
                <a16:creationId xmlns:a16="http://schemas.microsoft.com/office/drawing/2014/main" id="{D9C3DE32-23B0-4AF8-B89B-4AB431891E7D}"/>
              </a:ext>
            </a:extLst>
          </p:cNvPr>
          <p:cNvSpPr>
            <a:spLocks noGrp="1"/>
          </p:cNvSpPr>
          <p:nvPr>
            <p:ph idx="1"/>
          </p:nvPr>
        </p:nvSpPr>
        <p:spPr/>
        <p:txBody>
          <a:bodyPr/>
          <a:lstStyle/>
          <a:p>
            <a:pPr algn="just"/>
            <a:r>
              <a:rPr lang="en-GB" dirty="0"/>
              <a:t>A WBS is a tree in which the root node represents a project or its main output. Each level of decomposition shows how a node of the tree can be structured and organized in more elementary work components.</a:t>
            </a:r>
          </a:p>
          <a:p>
            <a:pPr algn="just"/>
            <a:r>
              <a:rPr lang="en-GB" dirty="0"/>
              <a:t>WBSs come in two different notations. The first is graphical: the WBS is shown as a tree unfolding from top to bottom. The second is textual and similar to the table of contents of a book.</a:t>
            </a:r>
          </a:p>
          <a:p>
            <a:pPr algn="just"/>
            <a:endParaRPr lang="en-US" dirty="0"/>
          </a:p>
        </p:txBody>
      </p:sp>
    </p:spTree>
    <p:extLst>
      <p:ext uri="{BB962C8B-B14F-4D97-AF65-F5344CB8AC3E}">
        <p14:creationId xmlns:p14="http://schemas.microsoft.com/office/powerpoint/2010/main" val="7616228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98762-F4C9-4ED8-9E63-C9190FAAAC2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709E3FB-171E-4E04-B1E7-A4782AA600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0704" y="1825625"/>
            <a:ext cx="6650591" cy="4351338"/>
          </a:xfrm>
        </p:spPr>
      </p:pic>
    </p:spTree>
    <p:extLst>
      <p:ext uri="{BB962C8B-B14F-4D97-AF65-F5344CB8AC3E}">
        <p14:creationId xmlns:p14="http://schemas.microsoft.com/office/powerpoint/2010/main" val="1557446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26B6F-9D8A-4696-8EE3-CE3D6D13017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1B6980-02D7-4A3D-A655-012EAFEE3E3E}"/>
              </a:ext>
            </a:extLst>
          </p:cNvPr>
          <p:cNvSpPr>
            <a:spLocks noGrp="1"/>
          </p:cNvSpPr>
          <p:nvPr>
            <p:ph idx="1"/>
          </p:nvPr>
        </p:nvSpPr>
        <p:spPr/>
        <p:txBody>
          <a:bodyPr/>
          <a:lstStyle/>
          <a:p>
            <a:r>
              <a:rPr lang="en-US" dirty="0"/>
              <a:t>The Project Feasibility Document -&gt; Deciding the Work -&gt; WBS</a:t>
            </a:r>
          </a:p>
        </p:txBody>
      </p:sp>
    </p:spTree>
    <p:extLst>
      <p:ext uri="{BB962C8B-B14F-4D97-AF65-F5344CB8AC3E}">
        <p14:creationId xmlns:p14="http://schemas.microsoft.com/office/powerpoint/2010/main" val="1163164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E8FF-BF0A-4627-B6B2-6A9C6AA05B67}"/>
              </a:ext>
            </a:extLst>
          </p:cNvPr>
          <p:cNvSpPr>
            <a:spLocks noGrp="1"/>
          </p:cNvSpPr>
          <p:nvPr>
            <p:ph type="title"/>
          </p:nvPr>
        </p:nvSpPr>
        <p:spPr/>
        <p:txBody>
          <a:bodyPr/>
          <a:lstStyle/>
          <a:p>
            <a:r>
              <a:rPr lang="en-US" dirty="0"/>
              <a:t>WBS Decomposition Styles</a:t>
            </a:r>
          </a:p>
        </p:txBody>
      </p:sp>
      <p:sp>
        <p:nvSpPr>
          <p:cNvPr id="3" name="Content Placeholder 2">
            <a:extLst>
              <a:ext uri="{FF2B5EF4-FFF2-40B4-BE49-F238E27FC236}">
                <a16:creationId xmlns:a16="http://schemas.microsoft.com/office/drawing/2014/main" id="{ACAC303E-1679-4831-B033-CF0B907DDA7D}"/>
              </a:ext>
            </a:extLst>
          </p:cNvPr>
          <p:cNvSpPr>
            <a:spLocks noGrp="1"/>
          </p:cNvSpPr>
          <p:nvPr>
            <p:ph idx="1"/>
          </p:nvPr>
        </p:nvSpPr>
        <p:spPr/>
        <p:txBody>
          <a:bodyPr>
            <a:normAutofit lnSpcReduction="10000"/>
          </a:bodyPr>
          <a:lstStyle/>
          <a:p>
            <a:pPr algn="just"/>
            <a:r>
              <a:rPr lang="en-GB" dirty="0"/>
              <a:t>Different decomposition styles allow one to build a WBS.</a:t>
            </a:r>
          </a:p>
          <a:p>
            <a:pPr algn="just"/>
            <a:r>
              <a:rPr lang="en-GB" dirty="0"/>
              <a:t>In a </a:t>
            </a:r>
            <a:r>
              <a:rPr lang="en-GB" b="1" dirty="0"/>
              <a:t>product-oriented</a:t>
            </a:r>
            <a:r>
              <a:rPr lang="en-GB" dirty="0"/>
              <a:t> WBS, the decomposition proceeds by identifying the items that must be developed to build deliverables.</a:t>
            </a:r>
          </a:p>
          <a:p>
            <a:pPr algn="just"/>
            <a:r>
              <a:rPr lang="en-GB" dirty="0"/>
              <a:t>In a </a:t>
            </a:r>
            <a:r>
              <a:rPr lang="en-GB" b="1" dirty="0"/>
              <a:t>process-oriented</a:t>
            </a:r>
            <a:r>
              <a:rPr lang="en-GB" dirty="0"/>
              <a:t> WBS, the decomposition proceeds by taking into account the activities that are necessary to carry out the project. One advantage of the process-oriented decomposition is that it can include activities, such as management, which are not directly related to the development of a product, but which are still necessary in a project.</a:t>
            </a:r>
          </a:p>
          <a:p>
            <a:pPr algn="just"/>
            <a:r>
              <a:rPr lang="en-GB" dirty="0"/>
              <a:t>To get the best of both worlds, one can use a hybrid WBS. A hybrid WBS contains both process- and product-oriented nodes.</a:t>
            </a:r>
          </a:p>
        </p:txBody>
      </p:sp>
    </p:spTree>
    <p:extLst>
      <p:ext uri="{BB962C8B-B14F-4D97-AF65-F5344CB8AC3E}">
        <p14:creationId xmlns:p14="http://schemas.microsoft.com/office/powerpoint/2010/main" val="2402671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7DCBB-1DB8-4A58-A19D-2E9B78C5C27D}"/>
              </a:ext>
            </a:extLst>
          </p:cNvPr>
          <p:cNvSpPr>
            <a:spLocks noGrp="1"/>
          </p:cNvSpPr>
          <p:nvPr>
            <p:ph type="title"/>
          </p:nvPr>
        </p:nvSpPr>
        <p:spPr/>
        <p:txBody>
          <a:bodyPr/>
          <a:lstStyle/>
          <a:p>
            <a:r>
              <a:rPr lang="en-US" dirty="0"/>
              <a:t>WBS Dictionary</a:t>
            </a:r>
          </a:p>
        </p:txBody>
      </p:sp>
      <p:sp>
        <p:nvSpPr>
          <p:cNvPr id="3" name="Content Placeholder 2">
            <a:extLst>
              <a:ext uri="{FF2B5EF4-FFF2-40B4-BE49-F238E27FC236}">
                <a16:creationId xmlns:a16="http://schemas.microsoft.com/office/drawing/2014/main" id="{87DB5D32-86B2-4556-8CAC-E592FA6CA367}"/>
              </a:ext>
            </a:extLst>
          </p:cNvPr>
          <p:cNvSpPr>
            <a:spLocks noGrp="1"/>
          </p:cNvSpPr>
          <p:nvPr>
            <p:ph idx="1"/>
          </p:nvPr>
        </p:nvSpPr>
        <p:spPr/>
        <p:txBody>
          <a:bodyPr/>
          <a:lstStyle/>
          <a:p>
            <a:pPr algn="just"/>
            <a:r>
              <a:rPr lang="en-GB" dirty="0"/>
              <a:t>A WBS dictionary helps to annotate each element of the WBS with more detailed and structured information, such as </a:t>
            </a:r>
          </a:p>
          <a:p>
            <a:pPr algn="just"/>
            <a:r>
              <a:rPr lang="en-GB" dirty="0"/>
              <a:t>Title and item number, to connect the description to an element of the WBS</a:t>
            </a:r>
          </a:p>
          <a:p>
            <a:pPr algn="just"/>
            <a:r>
              <a:rPr lang="en-GB" dirty="0"/>
              <a:t>Detailed description of the element, including, for instance, quantities, relevant associated work, and contractual items, where applicable…</a:t>
            </a:r>
            <a:endParaRPr lang="en-US" dirty="0"/>
          </a:p>
        </p:txBody>
      </p:sp>
    </p:spTree>
    <p:extLst>
      <p:ext uri="{BB962C8B-B14F-4D97-AF65-F5344CB8AC3E}">
        <p14:creationId xmlns:p14="http://schemas.microsoft.com/office/powerpoint/2010/main" val="776628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FC54C-2710-4D8D-8FBA-7997F3719B29}"/>
              </a:ext>
            </a:extLst>
          </p:cNvPr>
          <p:cNvSpPr>
            <a:spLocks noGrp="1"/>
          </p:cNvSpPr>
          <p:nvPr>
            <p:ph type="title"/>
          </p:nvPr>
        </p:nvSpPr>
        <p:spPr/>
        <p:txBody>
          <a:bodyPr/>
          <a:lstStyle/>
          <a:p>
            <a:r>
              <a:rPr lang="en-US" dirty="0"/>
              <a:t>WBS Construction Methodologies</a:t>
            </a:r>
          </a:p>
        </p:txBody>
      </p:sp>
      <p:sp>
        <p:nvSpPr>
          <p:cNvPr id="3" name="Content Placeholder 2">
            <a:extLst>
              <a:ext uri="{FF2B5EF4-FFF2-40B4-BE49-F238E27FC236}">
                <a16:creationId xmlns:a16="http://schemas.microsoft.com/office/drawing/2014/main" id="{3BB15F70-E621-4929-BDB5-61F7141F910A}"/>
              </a:ext>
            </a:extLst>
          </p:cNvPr>
          <p:cNvSpPr>
            <a:spLocks noGrp="1"/>
          </p:cNvSpPr>
          <p:nvPr>
            <p:ph idx="1"/>
          </p:nvPr>
        </p:nvSpPr>
        <p:spPr/>
        <p:txBody>
          <a:bodyPr>
            <a:normAutofit fontScale="92500" lnSpcReduction="10000"/>
          </a:bodyPr>
          <a:lstStyle/>
          <a:p>
            <a:pPr algn="just"/>
            <a:r>
              <a:rPr lang="en-GB" dirty="0"/>
              <a:t>WBSs can be built </a:t>
            </a:r>
            <a:r>
              <a:rPr lang="en-GB" b="1" dirty="0"/>
              <a:t>top-down</a:t>
            </a:r>
            <a:r>
              <a:rPr lang="en-GB" dirty="0"/>
              <a:t>, </a:t>
            </a:r>
            <a:r>
              <a:rPr lang="en-GB" b="1" dirty="0"/>
              <a:t>bottom-up</a:t>
            </a:r>
            <a:r>
              <a:rPr lang="en-GB" dirty="0"/>
              <a:t>, or by </a:t>
            </a:r>
            <a:r>
              <a:rPr lang="en-GB" b="1" dirty="0"/>
              <a:t>analogy</a:t>
            </a:r>
            <a:r>
              <a:rPr lang="en-GB" dirty="0"/>
              <a:t>.</a:t>
            </a:r>
          </a:p>
          <a:p>
            <a:pPr algn="just"/>
            <a:r>
              <a:rPr lang="en-GB" dirty="0"/>
              <a:t>In the </a:t>
            </a:r>
            <a:r>
              <a:rPr lang="en-GB" b="1" dirty="0"/>
              <a:t>top-down</a:t>
            </a:r>
            <a:r>
              <a:rPr lang="en-GB" dirty="0"/>
              <a:t> approach, the construction of the WBS proceeds from the top level down to the leaves. It is usually best suited for projects that are well known or whose structure is clear.</a:t>
            </a:r>
          </a:p>
          <a:p>
            <a:pPr algn="just"/>
            <a:r>
              <a:rPr lang="en-GB" dirty="0"/>
              <a:t>In the </a:t>
            </a:r>
            <a:r>
              <a:rPr lang="en-GB" b="1" dirty="0"/>
              <a:t>bottom-up</a:t>
            </a:r>
            <a:r>
              <a:rPr lang="en-GB" dirty="0"/>
              <a:t> approach, the process proceeds in the opposite way. First, the leaves of the WBS are identified and then these are grouped in homogeneous items, thus giving structure to the WBS. It is best suited for projects that are new for a company.</a:t>
            </a:r>
          </a:p>
          <a:p>
            <a:pPr algn="just"/>
            <a:r>
              <a:rPr lang="en-GB" dirty="0"/>
              <a:t>The third option, construction by </a:t>
            </a:r>
            <a:r>
              <a:rPr lang="en-GB" b="1" dirty="0"/>
              <a:t>analogy</a:t>
            </a:r>
            <a:r>
              <a:rPr lang="en-GB" dirty="0"/>
              <a:t>, starts from an existing WBS, which is adapted and customized for the project at hand. It can be very effective when an organization standardizes the structure of its projects.</a:t>
            </a:r>
            <a:endParaRPr lang="en-US" dirty="0"/>
          </a:p>
        </p:txBody>
      </p:sp>
    </p:spTree>
    <p:extLst>
      <p:ext uri="{BB962C8B-B14F-4D97-AF65-F5344CB8AC3E}">
        <p14:creationId xmlns:p14="http://schemas.microsoft.com/office/powerpoint/2010/main" val="39348607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98762-F4C9-4ED8-9E63-C9190FAAAC2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709E3FB-171E-4E04-B1E7-A4782AA600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0704" y="1825625"/>
            <a:ext cx="6650591" cy="4351338"/>
          </a:xfrm>
        </p:spPr>
      </p:pic>
    </p:spTree>
    <p:extLst>
      <p:ext uri="{BB962C8B-B14F-4D97-AF65-F5344CB8AC3E}">
        <p14:creationId xmlns:p14="http://schemas.microsoft.com/office/powerpoint/2010/main" val="3614699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D8242-7F52-4586-A8D4-4EBCFF7203E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0F1DE87-EB26-42EE-981F-0EE8CFE7CD65}"/>
              </a:ext>
            </a:extLst>
          </p:cNvPr>
          <p:cNvSpPr>
            <a:spLocks noGrp="1"/>
          </p:cNvSpPr>
          <p:nvPr>
            <p:ph idx="1"/>
          </p:nvPr>
        </p:nvSpPr>
        <p:spPr/>
        <p:txBody>
          <a:bodyPr/>
          <a:lstStyle/>
          <a:p>
            <a:endParaRPr lang="en-US" dirty="0"/>
          </a:p>
        </p:txBody>
      </p:sp>
      <p:pic>
        <p:nvPicPr>
          <p:cNvPr id="4" name="Content Placeholder 3" descr="1vq1V.png">
            <a:extLst>
              <a:ext uri="{FF2B5EF4-FFF2-40B4-BE49-F238E27FC236}">
                <a16:creationId xmlns:a16="http://schemas.microsoft.com/office/drawing/2014/main" id="{14C5E453-1E03-455A-9A2C-5E6C573BF298}"/>
              </a:ext>
            </a:extLst>
          </p:cNvPr>
          <p:cNvPicPr>
            <a:picLocks noGrp="1" noChangeAspect="1"/>
          </p:cNvPicPr>
          <p:nvPr/>
        </p:nvPicPr>
        <p:blipFill>
          <a:blip r:embed="rId2" cstate="print"/>
          <a:stretch>
            <a:fillRect/>
          </a:stretch>
        </p:blipFill>
        <p:spPr>
          <a:xfrm>
            <a:off x="3802846" y="1166019"/>
            <a:ext cx="4586308" cy="4525962"/>
          </a:xfrm>
          <a:prstGeom prst="rect">
            <a:avLst/>
          </a:prstGeom>
        </p:spPr>
      </p:pic>
    </p:spTree>
    <p:extLst>
      <p:ext uri="{BB962C8B-B14F-4D97-AF65-F5344CB8AC3E}">
        <p14:creationId xmlns:p14="http://schemas.microsoft.com/office/powerpoint/2010/main" val="29406265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12038</TotalTime>
  <Words>2074</Words>
  <Application>Microsoft Office PowerPoint</Application>
  <PresentationFormat>Widescreen</PresentationFormat>
  <Paragraphs>93</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Calibri Light</vt:lpstr>
      <vt:lpstr>Office Theme</vt:lpstr>
      <vt:lpstr>Software Project Management</vt:lpstr>
      <vt:lpstr>Before You Start: Assessing Value and Risks</vt:lpstr>
      <vt:lpstr> Project Value: Aspects to Consider</vt:lpstr>
      <vt:lpstr>PowerPoint Presentation</vt:lpstr>
      <vt:lpstr>Project Risks: Aspects to Consider</vt:lpstr>
      <vt:lpstr>PowerPoint Presentation</vt:lpstr>
      <vt:lpstr>Techniques to Assess Value and Risks: Financial Methods</vt:lpstr>
      <vt:lpstr>PowerPoint Presentation</vt:lpstr>
      <vt:lpstr>PowerPoint Presentation</vt:lpstr>
      <vt:lpstr>PowerPoint Presentation</vt:lpstr>
      <vt:lpstr>Applying Financial Methods: An Example</vt:lpstr>
      <vt:lpstr>PowerPoint Presentation</vt:lpstr>
      <vt:lpstr>PowerPoint Presentation</vt:lpstr>
      <vt:lpstr>Score Matrices</vt:lpstr>
      <vt:lpstr>PowerPoint Presentation</vt:lpstr>
      <vt:lpstr>PowerPoint Presentation</vt:lpstr>
      <vt:lpstr>Stakeholder Analysis</vt:lpstr>
      <vt:lpstr>Assessing Sustainability</vt:lpstr>
      <vt:lpstr>The Project Feasibility Document</vt:lpstr>
      <vt:lpstr>PowerPoint Presentation</vt:lpstr>
      <vt:lpstr> Formalizing process…</vt:lpstr>
      <vt:lpstr>Deciding the Work</vt:lpstr>
      <vt:lpstr>PowerPoint Presentation</vt:lpstr>
      <vt:lpstr>Building a WBS</vt:lpstr>
      <vt:lpstr>PowerPoint Presentation</vt:lpstr>
      <vt:lpstr>PowerPoint Presentation</vt:lpstr>
      <vt:lpstr>WBS Decomposition Styles</vt:lpstr>
      <vt:lpstr>WBS Dictionary</vt:lpstr>
      <vt:lpstr>WBS Construction Methodologies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Project Management</dc:title>
  <dc:creator>Md. Nasim Adnan</dc:creator>
  <cp:lastModifiedBy>Md. Nasim Adnan</cp:lastModifiedBy>
  <cp:revision>122</cp:revision>
  <dcterms:created xsi:type="dcterms:W3CDTF">2024-01-22T06:38:03Z</dcterms:created>
  <dcterms:modified xsi:type="dcterms:W3CDTF">2026-01-03T12:22:25Z</dcterms:modified>
</cp:coreProperties>
</file>